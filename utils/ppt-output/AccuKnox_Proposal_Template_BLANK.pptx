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Thin"/>
      <p:regular r:id="rId26"/>
      <p:bold r:id="rId27"/>
      <p:italic r:id="rId28"/>
      <p:boldItalic r:id="rId29"/>
    </p:embeddedFont>
    <p:embeddedFont>
      <p:font typeface="Montserrat SemiBold"/>
      <p:regular r:id="rId30"/>
      <p:bold r:id="rId31"/>
      <p:italic r:id="rId32"/>
      <p:boldItalic r:id="rId33"/>
    </p:embeddedFont>
    <p:embeddedFont>
      <p:font typeface="Roboto"/>
      <p:regular r:id="rId34"/>
      <p:bold r:id="rId35"/>
      <p:italic r:id="rId36"/>
      <p:boldItalic r:id="rId37"/>
    </p:embeddedFont>
    <p:embeddedFont>
      <p:font typeface="Montserrat"/>
      <p:regular r:id="rId38"/>
      <p:bold r:id="rId39"/>
      <p:italic r:id="rId40"/>
      <p:boldItalic r:id="rId41"/>
    </p:embeddedFont>
    <p:embeddedFont>
      <p:font typeface="Montserrat Medium"/>
      <p:regular r:id="rId42"/>
      <p:bold r:id="rId43"/>
      <p:italic r:id="rId44"/>
      <p:boldItalic r:id="rId45"/>
    </p:embeddedFont>
    <p:embeddedFont>
      <p:font typeface="Space Grotesk Medium"/>
      <p:regular r:id="rId46"/>
      <p:bold r:id="rId47"/>
    </p:embeddedFont>
    <p:embeddedFont>
      <p:font typeface="Space Grotesk SemiBold"/>
      <p:regular r:id="rId48"/>
      <p:bold r:id="rId49"/>
    </p:embeddedFont>
    <p:embeddedFont>
      <p:font typeface="Space Grotesk"/>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F8EC7F-7D29-441C-9CC0-1E95C7AD3B7F}">
  <a:tblStyle styleId="{8AF8EC7F-7D29-441C-9CC0-1E95C7AD3B7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font" Target="fonts/RobotoThin-regular.fntdata"/><Relationship Id="rId27" Type="http://schemas.openxmlformats.org/officeDocument/2006/relationships/font" Target="fonts/RobotoThin-bold.fntdata"/><Relationship Id="rId28" Type="http://schemas.openxmlformats.org/officeDocument/2006/relationships/font" Target="fonts/RobotoThin-italic.fntdata"/><Relationship Id="rId29" Type="http://schemas.openxmlformats.org/officeDocument/2006/relationships/font" Target="fonts/RobotoThin-boldItalic.fntdata"/><Relationship Id="rId30" Type="http://schemas.openxmlformats.org/officeDocument/2006/relationships/font" Target="fonts/MontserratSemiBold-regular.fntdata"/><Relationship Id="rId31" Type="http://schemas.openxmlformats.org/officeDocument/2006/relationships/font" Target="fonts/MontserratSemiBold-bold.fntdata"/><Relationship Id="rId32" Type="http://schemas.openxmlformats.org/officeDocument/2006/relationships/font" Target="fonts/MontserratSemiBold-italic.fntdata"/><Relationship Id="rId33" Type="http://schemas.openxmlformats.org/officeDocument/2006/relationships/font" Target="fonts/MontserratSemiBold-boldItalic.fntdata"/><Relationship Id="rId34" Type="http://schemas.openxmlformats.org/officeDocument/2006/relationships/font" Target="fonts/Roboto-regular.fntdata"/><Relationship Id="rId35" Type="http://schemas.openxmlformats.org/officeDocument/2006/relationships/font" Target="fonts/Roboto-bold.fntdata"/><Relationship Id="rId36" Type="http://schemas.openxmlformats.org/officeDocument/2006/relationships/font" Target="fonts/Roboto-italic.fntdata"/><Relationship Id="rId37" Type="http://schemas.openxmlformats.org/officeDocument/2006/relationships/font" Target="fonts/Roboto-boldItalic.fntdata"/><Relationship Id="rId38" Type="http://schemas.openxmlformats.org/officeDocument/2006/relationships/font" Target="fonts/Montserrat-regular.fntdata"/><Relationship Id="rId39" Type="http://schemas.openxmlformats.org/officeDocument/2006/relationships/font" Target="fonts/Montserrat-bold.fntdata"/><Relationship Id="rId40" Type="http://schemas.openxmlformats.org/officeDocument/2006/relationships/font" Target="fonts/Montserrat-italic.fntdata"/><Relationship Id="rId41" Type="http://schemas.openxmlformats.org/officeDocument/2006/relationships/font" Target="fonts/Montserrat-boldItalic.fntdata"/><Relationship Id="rId42" Type="http://schemas.openxmlformats.org/officeDocument/2006/relationships/font" Target="fonts/MontserratMedium-regular.fntdata"/><Relationship Id="rId43" Type="http://schemas.openxmlformats.org/officeDocument/2006/relationships/font" Target="fonts/MontserratMedium-bold.fntdata"/><Relationship Id="rId44" Type="http://schemas.openxmlformats.org/officeDocument/2006/relationships/font" Target="fonts/MontserratMedium-italic.fntdata"/><Relationship Id="rId45" Type="http://schemas.openxmlformats.org/officeDocument/2006/relationships/font" Target="fonts/MontserratMedium-boldItalic.fntdata"/><Relationship Id="rId46" Type="http://schemas.openxmlformats.org/officeDocument/2006/relationships/font" Target="fonts/SpaceGroteskMedium-regular.fntdata"/><Relationship Id="rId47" Type="http://schemas.openxmlformats.org/officeDocument/2006/relationships/font" Target="fonts/SpaceGroteskMedium-bold.fntdata"/><Relationship Id="rId48" Type="http://schemas.openxmlformats.org/officeDocument/2006/relationships/font" Target="fonts/SpaceGroteskSemiBold-regular.fntdata"/><Relationship Id="rId49" Type="http://schemas.openxmlformats.org/officeDocument/2006/relationships/font" Target="fonts/SpaceGroteskSemiBold-bold.fntdata"/><Relationship Id="rId50" Type="http://schemas.openxmlformats.org/officeDocument/2006/relationships/font" Target="fonts/SpaceGrotesk-regular.fntdata"/><Relationship Id="rId51" Type="http://schemas.openxmlformats.org/officeDocument/2006/relationships/font" Target="fonts/SpaceGrotes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73bc03a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73bc03a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a8d6adb3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a8d6adb3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a8d6adb3f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a8d6adb3f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a8d6adb3f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ea8d6adb3f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ea8d6adb3f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ea8d6adb3f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a8d6adb3f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a8d6adb3f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ea8d6adb3f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ea8d6adb3f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a8d6adb3f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ea8d6adb3f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ea8d6adb3f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ea8d6adb3f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a8d6adb3f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ea8d6adb3f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a8d6adb3f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ea8d6adb3f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ea8d6adb3f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ea8d6adb3f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ae1abef6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ae1abef6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ea8d6adb3f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ea8d6adb3f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ea8d6adb3f_0_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ea8d6adb3f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ea8d6adb3f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ea8d6adb3f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673994abd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673994abd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
    <p:bg>
      <p:bgPr>
        <a:solidFill>
          <a:srgbClr val="11206D"/>
        </a:solidFill>
      </p:bgPr>
    </p:bg>
    <p:spTree>
      <p:nvGrpSpPr>
        <p:cNvPr id="7" name="Shape 7"/>
        <p:cNvGrpSpPr/>
        <p:nvPr/>
      </p:nvGrpSpPr>
      <p:grpSpPr>
        <a:xfrm>
          <a:off x="0" y="0"/>
          <a:ext cx="0" cy="0"/>
          <a:chOff x="0" y="0"/>
          <a:chExt cx="0" cy="0"/>
        </a:xfrm>
      </p:grpSpPr>
      <p:pic>
        <p:nvPicPr>
          <p:cNvPr id="8" name="Google Shape;8;p2"/>
          <p:cNvPicPr preferRelativeResize="0"/>
          <p:nvPr/>
        </p:nvPicPr>
        <p:blipFill rotWithShape="1">
          <a:blip r:embed="rId2">
            <a:alphaModFix/>
          </a:blip>
          <a:srcRect b="0" l="0" r="0" t="0"/>
          <a:stretch/>
        </p:blipFill>
        <p:spPr>
          <a:xfrm>
            <a:off x="5346618" y="2321312"/>
            <a:ext cx="3797381" cy="2435571"/>
          </a:xfrm>
          <a:prstGeom prst="rect">
            <a:avLst/>
          </a:prstGeom>
          <a:noFill/>
          <a:ln>
            <a:noFill/>
          </a:ln>
          <a:effectLst>
            <a:outerShdw blurRad="714375" rotWithShape="0" algn="bl" dir="5400000" dist="152400">
              <a:srgbClr val="000000">
                <a:alpha val="49800"/>
              </a:srgbClr>
            </a:outerShdw>
          </a:effectLst>
        </p:spPr>
      </p:pic>
      <p:pic>
        <p:nvPicPr>
          <p:cNvPr id="9" name="Google Shape;9;p2"/>
          <p:cNvPicPr preferRelativeResize="0"/>
          <p:nvPr/>
        </p:nvPicPr>
        <p:blipFill rotWithShape="1">
          <a:blip r:embed="rId3">
            <a:alphaModFix/>
          </a:blip>
          <a:srcRect b="0" l="0" r="0" t="0"/>
          <a:stretch/>
        </p:blipFill>
        <p:spPr>
          <a:xfrm>
            <a:off x="5271975" y="1221088"/>
            <a:ext cx="3872020" cy="2435572"/>
          </a:xfrm>
          <a:prstGeom prst="rect">
            <a:avLst/>
          </a:prstGeom>
          <a:noFill/>
          <a:ln>
            <a:noFill/>
          </a:ln>
          <a:effectLst>
            <a:outerShdw blurRad="714375" rotWithShape="0" algn="bl" dir="5400000" dist="152400">
              <a:srgbClr val="000000">
                <a:alpha val="49800"/>
              </a:srgbClr>
            </a:outerShdw>
          </a:effectLst>
        </p:spPr>
      </p:pic>
      <p:pic>
        <p:nvPicPr>
          <p:cNvPr id="10" name="Google Shape;10;p2"/>
          <p:cNvPicPr preferRelativeResize="0"/>
          <p:nvPr/>
        </p:nvPicPr>
        <p:blipFill rotWithShape="1">
          <a:blip r:embed="rId4">
            <a:alphaModFix/>
          </a:blip>
          <a:srcRect b="0" l="0" r="0" t="0"/>
          <a:stretch/>
        </p:blipFill>
        <p:spPr>
          <a:xfrm>
            <a:off x="5346617" y="365100"/>
            <a:ext cx="3797381" cy="2138819"/>
          </a:xfrm>
          <a:prstGeom prst="rect">
            <a:avLst/>
          </a:prstGeom>
          <a:noFill/>
          <a:ln>
            <a:noFill/>
          </a:ln>
          <a:effectLst>
            <a:outerShdw blurRad="714375" rotWithShape="0" algn="bl" dir="5400000" dist="152400">
              <a:srgbClr val="000000">
                <a:alpha val="49800"/>
              </a:srgbClr>
            </a:outerShdw>
          </a:effectLst>
        </p:spPr>
      </p:pic>
      <p:pic>
        <p:nvPicPr>
          <p:cNvPr id="11" name="Google Shape;11;p2" title="footer.png"/>
          <p:cNvPicPr preferRelativeResize="0"/>
          <p:nvPr/>
        </p:nvPicPr>
        <p:blipFill>
          <a:blip r:embed="rId5">
            <a:alphaModFix/>
          </a:blip>
          <a:stretch>
            <a:fillRect/>
          </a:stretch>
        </p:blipFill>
        <p:spPr>
          <a:xfrm>
            <a:off x="281750" y="3592000"/>
            <a:ext cx="5216674" cy="1225675"/>
          </a:xfrm>
          <a:prstGeom prst="rect">
            <a:avLst/>
          </a:prstGeom>
          <a:noFill/>
          <a:ln>
            <a:noFill/>
          </a:ln>
        </p:spPr>
      </p:pic>
      <p:sp>
        <p:nvSpPr>
          <p:cNvPr id="12" name="Google Shape;12;p2"/>
          <p:cNvSpPr txBox="1"/>
          <p:nvPr>
            <p:ph type="title"/>
          </p:nvPr>
        </p:nvSpPr>
        <p:spPr>
          <a:xfrm>
            <a:off x="692538" y="1770900"/>
            <a:ext cx="4499100" cy="1104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Space Grotesk"/>
              <a:buNone/>
              <a:defRPr b="1" sz="24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9pPr>
          </a:lstStyle>
          <a:p/>
        </p:txBody>
      </p:sp>
      <p:sp>
        <p:nvSpPr>
          <p:cNvPr id="13" name="Google Shape;13;p2"/>
          <p:cNvSpPr txBox="1"/>
          <p:nvPr>
            <p:ph idx="2" type="title"/>
          </p:nvPr>
        </p:nvSpPr>
        <p:spPr>
          <a:xfrm>
            <a:off x="1878138" y="2707150"/>
            <a:ext cx="2127900" cy="458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Space Grotesk"/>
              <a:buNone/>
              <a:defRPr b="1" sz="16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9pPr>
          </a:lstStyle>
          <a:p/>
        </p:txBody>
      </p:sp>
      <p:sp>
        <p:nvSpPr>
          <p:cNvPr id="14" name="Google Shape;14;p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lt1"/>
                </a:solidFill>
                <a:latin typeface="Space Grotesk"/>
                <a:ea typeface="Space Grotesk"/>
                <a:cs typeface="Space Grotesk"/>
                <a:sym typeface="Space Grotesk"/>
              </a:defRPr>
            </a:lvl1pPr>
            <a:lvl2pPr lvl="1">
              <a:buNone/>
              <a:defRPr sz="1300">
                <a:solidFill>
                  <a:schemeClr val="lt1"/>
                </a:solidFill>
                <a:latin typeface="Space Grotesk"/>
                <a:ea typeface="Space Grotesk"/>
                <a:cs typeface="Space Grotesk"/>
                <a:sym typeface="Space Grotesk"/>
              </a:defRPr>
            </a:lvl2pPr>
            <a:lvl3pPr lvl="2">
              <a:buNone/>
              <a:defRPr sz="1300">
                <a:solidFill>
                  <a:schemeClr val="lt1"/>
                </a:solidFill>
                <a:latin typeface="Space Grotesk"/>
                <a:ea typeface="Space Grotesk"/>
                <a:cs typeface="Space Grotesk"/>
                <a:sym typeface="Space Grotesk"/>
              </a:defRPr>
            </a:lvl3pPr>
            <a:lvl4pPr lvl="3">
              <a:buNone/>
              <a:defRPr sz="1300">
                <a:solidFill>
                  <a:schemeClr val="lt1"/>
                </a:solidFill>
                <a:latin typeface="Space Grotesk"/>
                <a:ea typeface="Space Grotesk"/>
                <a:cs typeface="Space Grotesk"/>
                <a:sym typeface="Space Grotesk"/>
              </a:defRPr>
            </a:lvl4pPr>
            <a:lvl5pPr lvl="4">
              <a:buNone/>
              <a:defRPr sz="1300">
                <a:solidFill>
                  <a:schemeClr val="lt1"/>
                </a:solidFill>
                <a:latin typeface="Space Grotesk"/>
                <a:ea typeface="Space Grotesk"/>
                <a:cs typeface="Space Grotesk"/>
                <a:sym typeface="Space Grotesk"/>
              </a:defRPr>
            </a:lvl5pPr>
            <a:lvl6pPr lvl="5">
              <a:buNone/>
              <a:defRPr sz="1300">
                <a:solidFill>
                  <a:schemeClr val="lt1"/>
                </a:solidFill>
                <a:latin typeface="Space Grotesk"/>
                <a:ea typeface="Space Grotesk"/>
                <a:cs typeface="Space Grotesk"/>
                <a:sym typeface="Space Grotesk"/>
              </a:defRPr>
            </a:lvl6pPr>
            <a:lvl7pPr lvl="6">
              <a:buNone/>
              <a:defRPr sz="1300">
                <a:solidFill>
                  <a:schemeClr val="lt1"/>
                </a:solidFill>
                <a:latin typeface="Space Grotesk"/>
                <a:ea typeface="Space Grotesk"/>
                <a:cs typeface="Space Grotesk"/>
                <a:sym typeface="Space Grotesk"/>
              </a:defRPr>
            </a:lvl7pPr>
            <a:lvl8pPr lvl="7">
              <a:buNone/>
              <a:defRPr sz="1300">
                <a:solidFill>
                  <a:schemeClr val="lt1"/>
                </a:solidFill>
                <a:latin typeface="Space Grotesk"/>
                <a:ea typeface="Space Grotesk"/>
                <a:cs typeface="Space Grotesk"/>
                <a:sym typeface="Space Grotesk"/>
              </a:defRPr>
            </a:lvl8pPr>
            <a:lvl9pPr lvl="8">
              <a:buNone/>
              <a:defRPr sz="1300">
                <a:solidFill>
                  <a:schemeClr val="lt1"/>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USTOM_2">
    <p:bg>
      <p:bgPr>
        <a:solidFill>
          <a:srgbClr val="11206D"/>
        </a:solidFill>
      </p:bgPr>
    </p:bg>
    <p:spTree>
      <p:nvGrpSpPr>
        <p:cNvPr id="15" name="Shape 15"/>
        <p:cNvGrpSpPr/>
        <p:nvPr/>
      </p:nvGrpSpPr>
      <p:grpSpPr>
        <a:xfrm>
          <a:off x="0" y="0"/>
          <a:ext cx="0" cy="0"/>
          <a:chOff x="0" y="0"/>
          <a:chExt cx="0" cy="0"/>
        </a:xfrm>
      </p:grpSpPr>
      <p:pic>
        <p:nvPicPr>
          <p:cNvPr id="16" name="Google Shape;16;p3" title="logo-dark-back.png"/>
          <p:cNvPicPr preferRelativeResize="0"/>
          <p:nvPr/>
        </p:nvPicPr>
        <p:blipFill>
          <a:blip r:embed="rId2">
            <a:alphaModFix/>
          </a:blip>
          <a:stretch>
            <a:fillRect/>
          </a:stretch>
        </p:blipFill>
        <p:spPr>
          <a:xfrm>
            <a:off x="2881551" y="653075"/>
            <a:ext cx="3380849" cy="837250"/>
          </a:xfrm>
          <a:prstGeom prst="rect">
            <a:avLst/>
          </a:prstGeom>
          <a:noFill/>
          <a:ln>
            <a:noFill/>
          </a:ln>
        </p:spPr>
      </p:pic>
      <p:sp>
        <p:nvSpPr>
          <p:cNvPr id="17" name="Google Shape;17;p3"/>
          <p:cNvSpPr txBox="1"/>
          <p:nvPr>
            <p:ph type="title"/>
          </p:nvPr>
        </p:nvSpPr>
        <p:spPr>
          <a:xfrm>
            <a:off x="1644425" y="1845000"/>
            <a:ext cx="5855100" cy="541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9pPr>
          </a:lstStyle>
          <a:p/>
        </p:txBody>
      </p:sp>
      <p:sp>
        <p:nvSpPr>
          <p:cNvPr id="18" name="Google Shape;18;p3"/>
          <p:cNvSpPr txBox="1"/>
          <p:nvPr>
            <p:ph idx="2" type="title"/>
          </p:nvPr>
        </p:nvSpPr>
        <p:spPr>
          <a:xfrm>
            <a:off x="2667275" y="2386488"/>
            <a:ext cx="3809400" cy="458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Space Grotesk"/>
              <a:buNone/>
              <a:defRPr>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9pPr>
          </a:lstStyle>
          <a:p/>
        </p:txBody>
      </p:sp>
      <p:pic>
        <p:nvPicPr>
          <p:cNvPr id="19" name="Google Shape;19;p3"/>
          <p:cNvPicPr preferRelativeResize="0"/>
          <p:nvPr/>
        </p:nvPicPr>
        <p:blipFill>
          <a:blip r:embed="rId3">
            <a:alphaModFix/>
          </a:blip>
          <a:stretch>
            <a:fillRect/>
          </a:stretch>
        </p:blipFill>
        <p:spPr>
          <a:xfrm>
            <a:off x="2452674" y="3803025"/>
            <a:ext cx="4238602" cy="666400"/>
          </a:xfrm>
          <a:prstGeom prst="rect">
            <a:avLst/>
          </a:prstGeom>
          <a:noFill/>
          <a:ln>
            <a:noFill/>
          </a:ln>
        </p:spPr>
      </p:pic>
      <p:grpSp>
        <p:nvGrpSpPr>
          <p:cNvPr id="20" name="Google Shape;20;p3"/>
          <p:cNvGrpSpPr/>
          <p:nvPr/>
        </p:nvGrpSpPr>
        <p:grpSpPr>
          <a:xfrm>
            <a:off x="2534075" y="3276900"/>
            <a:ext cx="4075800" cy="369300"/>
            <a:chOff x="2534150" y="3276900"/>
            <a:chExt cx="4075800" cy="369300"/>
          </a:xfrm>
        </p:grpSpPr>
        <p:sp>
          <p:nvSpPr>
            <p:cNvPr id="21" name="Google Shape;21;p3"/>
            <p:cNvSpPr txBox="1"/>
            <p:nvPr/>
          </p:nvSpPr>
          <p:spPr>
            <a:xfrm>
              <a:off x="4004450" y="3276900"/>
              <a:ext cx="1135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Space Grotesk Medium"/>
                  <a:ea typeface="Space Grotesk Medium"/>
                  <a:cs typeface="Space Grotesk Medium"/>
                  <a:sym typeface="Space Grotesk Medium"/>
                </a:rPr>
                <a:t>Certified by</a:t>
              </a:r>
              <a:endParaRPr sz="1200">
                <a:solidFill>
                  <a:srgbClr val="FFFFFF"/>
                </a:solidFill>
                <a:latin typeface="Space Grotesk Medium"/>
                <a:ea typeface="Space Grotesk Medium"/>
                <a:cs typeface="Space Grotesk Medium"/>
                <a:sym typeface="Space Grotesk Medium"/>
              </a:endParaRPr>
            </a:p>
          </p:txBody>
        </p:sp>
        <p:cxnSp>
          <p:nvCxnSpPr>
            <p:cNvPr id="22" name="Google Shape;22;p3"/>
            <p:cNvCxnSpPr>
              <a:stCxn id="21" idx="1"/>
            </p:cNvCxnSpPr>
            <p:nvPr/>
          </p:nvCxnSpPr>
          <p:spPr>
            <a:xfrm rot="10800000">
              <a:off x="2534150" y="3461550"/>
              <a:ext cx="1470300" cy="0"/>
            </a:xfrm>
            <a:prstGeom prst="straightConnector1">
              <a:avLst/>
            </a:prstGeom>
            <a:noFill/>
            <a:ln cap="flat" cmpd="sng" w="9525">
              <a:solidFill>
                <a:srgbClr val="FFFFFF"/>
              </a:solidFill>
              <a:prstDash val="solid"/>
              <a:round/>
              <a:headEnd len="med" w="med" type="none"/>
              <a:tailEnd len="med" w="med" type="none"/>
            </a:ln>
          </p:spPr>
        </p:cxnSp>
        <p:cxnSp>
          <p:nvCxnSpPr>
            <p:cNvPr id="23" name="Google Shape;23;p3"/>
            <p:cNvCxnSpPr>
              <a:endCxn id="21" idx="3"/>
            </p:cNvCxnSpPr>
            <p:nvPr/>
          </p:nvCxnSpPr>
          <p:spPr>
            <a:xfrm rot="10800000">
              <a:off x="5139650" y="3461550"/>
              <a:ext cx="1470300" cy="0"/>
            </a:xfrm>
            <a:prstGeom prst="straightConnector1">
              <a:avLst/>
            </a:prstGeom>
            <a:noFill/>
            <a:ln cap="flat" cmpd="sng" w="9525">
              <a:solidFill>
                <a:srgbClr val="FFFFFF"/>
              </a:solidFill>
              <a:prstDash val="solid"/>
              <a:round/>
              <a:headEnd len="med" w="med" type="none"/>
              <a:tailEnd len="med" w="med" type="none"/>
            </a:ln>
          </p:spPr>
        </p:cxnSp>
      </p:grpSp>
      <p:sp>
        <p:nvSpPr>
          <p:cNvPr id="24" name="Google Shape;24;p3"/>
          <p:cNvSpPr txBox="1"/>
          <p:nvPr/>
        </p:nvSpPr>
        <p:spPr>
          <a:xfrm>
            <a:off x="2452675" y="4679450"/>
            <a:ext cx="4402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lt1"/>
                </a:solidFill>
                <a:latin typeface="Space Grotesk"/>
                <a:ea typeface="Space Grotesk"/>
                <a:cs typeface="Space Grotesk"/>
                <a:sym typeface="Space Grotesk"/>
              </a:rPr>
              <a:t>www.accuknox.com</a:t>
            </a:r>
            <a:endParaRPr sz="800">
              <a:solidFill>
                <a:schemeClr val="lt1"/>
              </a:solidFill>
              <a:latin typeface="Space Grotesk"/>
              <a:ea typeface="Space Grotesk"/>
              <a:cs typeface="Space Grotesk"/>
              <a:sym typeface="Space Grotesk"/>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ackground - Title Only">
  <p:cSld name="CUSTOM_1">
    <p:spTree>
      <p:nvGrpSpPr>
        <p:cNvPr id="25" name="Shape 25"/>
        <p:cNvGrpSpPr/>
        <p:nvPr/>
      </p:nvGrpSpPr>
      <p:grpSpPr>
        <a:xfrm>
          <a:off x="0" y="0"/>
          <a:ext cx="0" cy="0"/>
          <a:chOff x="0" y="0"/>
          <a:chExt cx="0" cy="0"/>
        </a:xfrm>
      </p:grpSpPr>
      <p:sp>
        <p:nvSpPr>
          <p:cNvPr id="26" name="Google Shape;26;p4"/>
          <p:cNvSpPr/>
          <p:nvPr/>
        </p:nvSpPr>
        <p:spPr>
          <a:xfrm>
            <a:off x="-24300" y="-9750"/>
            <a:ext cx="9168300" cy="708000"/>
          </a:xfrm>
          <a:prstGeom prst="rect">
            <a:avLst/>
          </a:prstGeom>
          <a:solidFill>
            <a:srgbClr val="11206D"/>
          </a:solidFill>
          <a:ln>
            <a:noFill/>
          </a:ln>
        </p:spPr>
        <p:txBody>
          <a:bodyPr anchorCtr="0" anchor="ctr" bIns="91425" lIns="457200"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Montserrat"/>
              <a:ea typeface="Montserrat"/>
              <a:cs typeface="Montserrat"/>
              <a:sym typeface="Montserrat"/>
            </a:endParaRPr>
          </a:p>
        </p:txBody>
      </p:sp>
      <p:sp>
        <p:nvSpPr>
          <p:cNvPr id="27" name="Google Shape;27;p4"/>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chemeClr val="lt1"/>
              </a:buClr>
              <a:buSzPts val="2400"/>
              <a:buFont typeface="Space Grotesk SemiBold"/>
              <a:buNone/>
              <a:defRPr b="0" sz="240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28" name="Google Shape;28;p4" title="logo-dark-back.png"/>
          <p:cNvPicPr preferRelativeResize="0"/>
          <p:nvPr/>
        </p:nvPicPr>
        <p:blipFill>
          <a:blip r:embed="rId2">
            <a:alphaModFix/>
          </a:blip>
          <a:stretch>
            <a:fillRect/>
          </a:stretch>
        </p:blipFill>
        <p:spPr>
          <a:xfrm>
            <a:off x="7504102" y="173626"/>
            <a:ext cx="1444050" cy="341250"/>
          </a:xfrm>
          <a:prstGeom prst="rect">
            <a:avLst/>
          </a:prstGeom>
          <a:noFill/>
          <a:ln>
            <a:noFill/>
          </a:ln>
        </p:spPr>
      </p:pic>
      <p:sp>
        <p:nvSpPr>
          <p:cNvPr id="29" name="Google Shape;29;p4"/>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ackground - With Content">
  <p:cSld name="CUSTOM_1_1">
    <p:spTree>
      <p:nvGrpSpPr>
        <p:cNvPr id="30" name="Shape 30"/>
        <p:cNvGrpSpPr/>
        <p:nvPr/>
      </p:nvGrpSpPr>
      <p:grpSpPr>
        <a:xfrm>
          <a:off x="0" y="0"/>
          <a:ext cx="0" cy="0"/>
          <a:chOff x="0" y="0"/>
          <a:chExt cx="0" cy="0"/>
        </a:xfrm>
      </p:grpSpPr>
      <p:sp>
        <p:nvSpPr>
          <p:cNvPr id="31" name="Google Shape;31;p5"/>
          <p:cNvSpPr/>
          <p:nvPr/>
        </p:nvSpPr>
        <p:spPr>
          <a:xfrm>
            <a:off x="-24300" y="-9750"/>
            <a:ext cx="9168300" cy="708000"/>
          </a:xfrm>
          <a:prstGeom prst="rect">
            <a:avLst/>
          </a:prstGeom>
          <a:solidFill>
            <a:srgbClr val="11206D"/>
          </a:solidFill>
          <a:ln>
            <a:noFill/>
          </a:ln>
        </p:spPr>
        <p:txBody>
          <a:bodyPr anchorCtr="0" anchor="ctr" bIns="91425" lIns="457200"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Montserrat"/>
              <a:ea typeface="Montserrat"/>
              <a:cs typeface="Montserrat"/>
              <a:sym typeface="Montserrat"/>
            </a:endParaRPr>
          </a:p>
        </p:txBody>
      </p:sp>
      <p:sp>
        <p:nvSpPr>
          <p:cNvPr id="32" name="Google Shape;32;p5"/>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chemeClr val="lt1"/>
              </a:buClr>
              <a:buSzPts val="2400"/>
              <a:buFont typeface="Space Grotesk SemiBold"/>
              <a:buNone/>
              <a:defRPr b="0" sz="240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33" name="Google Shape;33;p5" title="logo-dark-back.png"/>
          <p:cNvPicPr preferRelativeResize="0"/>
          <p:nvPr/>
        </p:nvPicPr>
        <p:blipFill>
          <a:blip r:embed="rId2">
            <a:alphaModFix/>
          </a:blip>
          <a:stretch>
            <a:fillRect/>
          </a:stretch>
        </p:blipFill>
        <p:spPr>
          <a:xfrm>
            <a:off x="7504102" y="173626"/>
            <a:ext cx="1444050" cy="341250"/>
          </a:xfrm>
          <a:prstGeom prst="rect">
            <a:avLst/>
          </a:prstGeom>
          <a:noFill/>
          <a:ln>
            <a:noFill/>
          </a:ln>
        </p:spPr>
      </p:pic>
      <p:sp>
        <p:nvSpPr>
          <p:cNvPr id="34" name="Google Shape;34;p5"/>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5"/>
          <p:cNvSpPr txBox="1"/>
          <p:nvPr>
            <p:ph idx="1" type="body"/>
          </p:nvPr>
        </p:nvSpPr>
        <p:spPr>
          <a:xfrm>
            <a:off x="276875" y="880925"/>
            <a:ext cx="8337300" cy="3890400"/>
          </a:xfrm>
          <a:prstGeom prst="rect">
            <a:avLst/>
          </a:prstGeom>
          <a:noFill/>
          <a:ln>
            <a:noFill/>
          </a:ln>
        </p:spPr>
        <p:txBody>
          <a:bodyPr anchorCtr="0" anchor="t" bIns="91425" lIns="91425" spcFirstLastPara="1" rIns="91425" wrap="square" tIns="91425">
            <a:noAutofit/>
          </a:bodyPr>
          <a:lstStyle>
            <a:lvl1pPr indent="-381000" lvl="0" marL="457200">
              <a:spcBef>
                <a:spcPts val="0"/>
              </a:spcBef>
              <a:spcAft>
                <a:spcPts val="0"/>
              </a:spcAft>
              <a:buSzPts val="2400"/>
              <a:buFont typeface="Space Grotesk"/>
              <a:buChar char="●"/>
              <a:defRPr sz="2400">
                <a:latin typeface="Space Grotesk"/>
                <a:ea typeface="Space Grotesk"/>
                <a:cs typeface="Space Grotesk"/>
                <a:sym typeface="Space Grotesk"/>
              </a:defRPr>
            </a:lvl1pPr>
            <a:lvl2pPr indent="-381000" lvl="1" marL="914400">
              <a:spcBef>
                <a:spcPts val="0"/>
              </a:spcBef>
              <a:spcAft>
                <a:spcPts val="0"/>
              </a:spcAft>
              <a:buSzPts val="2400"/>
              <a:buFont typeface="Space Grotesk"/>
              <a:buChar char="○"/>
              <a:defRPr sz="2400">
                <a:latin typeface="Space Grotesk"/>
                <a:ea typeface="Space Grotesk"/>
                <a:cs typeface="Space Grotesk"/>
                <a:sym typeface="Space Grotesk"/>
              </a:defRPr>
            </a:lvl2pPr>
            <a:lvl3pPr indent="-381000" lvl="2" marL="1371600">
              <a:spcBef>
                <a:spcPts val="0"/>
              </a:spcBef>
              <a:spcAft>
                <a:spcPts val="0"/>
              </a:spcAft>
              <a:buSzPts val="2400"/>
              <a:buFont typeface="Space Grotesk"/>
              <a:buChar char="■"/>
              <a:defRPr sz="2400">
                <a:latin typeface="Space Grotesk"/>
                <a:ea typeface="Space Grotesk"/>
                <a:cs typeface="Space Grotesk"/>
                <a:sym typeface="Space Grotesk"/>
              </a:defRPr>
            </a:lvl3pPr>
            <a:lvl4pPr indent="-381000" lvl="3" marL="1828800">
              <a:spcBef>
                <a:spcPts val="0"/>
              </a:spcBef>
              <a:spcAft>
                <a:spcPts val="0"/>
              </a:spcAft>
              <a:buSzPts val="2400"/>
              <a:buFont typeface="Space Grotesk"/>
              <a:buChar char="●"/>
              <a:defRPr sz="2400">
                <a:latin typeface="Space Grotesk"/>
                <a:ea typeface="Space Grotesk"/>
                <a:cs typeface="Space Grotesk"/>
                <a:sym typeface="Space Grotesk"/>
              </a:defRPr>
            </a:lvl4pPr>
            <a:lvl5pPr indent="-381000" lvl="4" marL="2286000">
              <a:spcBef>
                <a:spcPts val="0"/>
              </a:spcBef>
              <a:spcAft>
                <a:spcPts val="0"/>
              </a:spcAft>
              <a:buSzPts val="2400"/>
              <a:buFont typeface="Space Grotesk"/>
              <a:buChar char="○"/>
              <a:defRPr sz="2400">
                <a:latin typeface="Space Grotesk"/>
                <a:ea typeface="Space Grotesk"/>
                <a:cs typeface="Space Grotesk"/>
                <a:sym typeface="Space Grotesk"/>
              </a:defRPr>
            </a:lvl5pPr>
            <a:lvl6pPr indent="-381000" lvl="5" marL="2743200">
              <a:spcBef>
                <a:spcPts val="0"/>
              </a:spcBef>
              <a:spcAft>
                <a:spcPts val="0"/>
              </a:spcAft>
              <a:buSzPts val="2400"/>
              <a:buFont typeface="Space Grotesk"/>
              <a:buChar char="■"/>
              <a:defRPr sz="2400">
                <a:latin typeface="Space Grotesk"/>
                <a:ea typeface="Space Grotesk"/>
                <a:cs typeface="Space Grotesk"/>
                <a:sym typeface="Space Grotesk"/>
              </a:defRPr>
            </a:lvl6pPr>
            <a:lvl7pPr indent="-381000" lvl="6" marL="3200400">
              <a:spcBef>
                <a:spcPts val="0"/>
              </a:spcBef>
              <a:spcAft>
                <a:spcPts val="0"/>
              </a:spcAft>
              <a:buSzPts val="2400"/>
              <a:buFont typeface="Space Grotesk"/>
              <a:buChar char="●"/>
              <a:defRPr sz="2400">
                <a:latin typeface="Space Grotesk"/>
                <a:ea typeface="Space Grotesk"/>
                <a:cs typeface="Space Grotesk"/>
                <a:sym typeface="Space Grotesk"/>
              </a:defRPr>
            </a:lvl7pPr>
            <a:lvl8pPr indent="-381000" lvl="7" marL="3657600">
              <a:spcBef>
                <a:spcPts val="0"/>
              </a:spcBef>
              <a:spcAft>
                <a:spcPts val="0"/>
              </a:spcAft>
              <a:buSzPts val="2400"/>
              <a:buFont typeface="Space Grotesk"/>
              <a:buChar char="○"/>
              <a:defRPr sz="2400">
                <a:latin typeface="Space Grotesk"/>
                <a:ea typeface="Space Grotesk"/>
                <a:cs typeface="Space Grotesk"/>
                <a:sym typeface="Space Grotesk"/>
              </a:defRPr>
            </a:lvl8pPr>
            <a:lvl9pPr indent="-381000" lvl="8" marL="4114800">
              <a:spcBef>
                <a:spcPts val="0"/>
              </a:spcBef>
              <a:spcAft>
                <a:spcPts val="0"/>
              </a:spcAft>
              <a:buSzPts val="2400"/>
              <a:buFont typeface="Space Grotesk"/>
              <a:buChar char="■"/>
              <a:defRPr sz="2400">
                <a:latin typeface="Space Grotesk"/>
                <a:ea typeface="Space Grotesk"/>
                <a:cs typeface="Space Grotesk"/>
                <a:sym typeface="Space Grotesk"/>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ackground" showMasterSp="0">
  <p:cSld name="Small Title Only BLACK">
    <p:bg>
      <p:bgPr>
        <a:solidFill>
          <a:schemeClr val="lt2"/>
        </a:solidFill>
      </p:bgPr>
    </p:bg>
    <p:spTree>
      <p:nvGrpSpPr>
        <p:cNvPr id="36" name="Shape 36"/>
        <p:cNvGrpSpPr/>
        <p:nvPr/>
      </p:nvGrpSpPr>
      <p:grpSpPr>
        <a:xfrm>
          <a:off x="0" y="0"/>
          <a:ext cx="0" cy="0"/>
          <a:chOff x="0" y="0"/>
          <a:chExt cx="0" cy="0"/>
        </a:xfrm>
      </p:grpSpPr>
      <p:pic>
        <p:nvPicPr>
          <p:cNvPr descr="abstract background" id="37" name="Google Shape;37;p6"/>
          <p:cNvPicPr preferRelativeResize="0"/>
          <p:nvPr/>
        </p:nvPicPr>
        <p:blipFill rotWithShape="1">
          <a:blip r:embed="rId2">
            <a:alphaModFix/>
          </a:blip>
          <a:srcRect b="0" l="0" r="0" t="0"/>
          <a:stretch/>
        </p:blipFill>
        <p:spPr>
          <a:xfrm>
            <a:off x="200" y="-1"/>
            <a:ext cx="9143597" cy="5143501"/>
          </a:xfrm>
          <a:prstGeom prst="rect">
            <a:avLst/>
          </a:prstGeom>
          <a:noFill/>
          <a:ln>
            <a:noFill/>
          </a:ln>
        </p:spPr>
      </p:pic>
      <p:sp>
        <p:nvSpPr>
          <p:cNvPr id="38" name="Google Shape;38;p6"/>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6"/>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chemeClr val="lt1"/>
              </a:buClr>
              <a:buSzPts val="2400"/>
              <a:buFont typeface="Space Grotesk SemiBold"/>
              <a:buNone/>
              <a:defRPr b="0" sz="240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40" name="Google Shape;40;p6"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ackground 1" showMasterSp="0">
  <p:cSld name="Small Title Only BLACK_1">
    <p:bg>
      <p:bgPr>
        <a:solidFill>
          <a:schemeClr val="lt2"/>
        </a:solidFill>
      </p:bgPr>
    </p:bg>
    <p:spTree>
      <p:nvGrpSpPr>
        <p:cNvPr id="41" name="Shape 41"/>
        <p:cNvGrpSpPr/>
        <p:nvPr/>
      </p:nvGrpSpPr>
      <p:grpSpPr>
        <a:xfrm>
          <a:off x="0" y="0"/>
          <a:ext cx="0" cy="0"/>
          <a:chOff x="0" y="0"/>
          <a:chExt cx="0" cy="0"/>
        </a:xfrm>
      </p:grpSpPr>
      <p:pic>
        <p:nvPicPr>
          <p:cNvPr descr="abstract background" id="42" name="Google Shape;42;p7"/>
          <p:cNvPicPr preferRelativeResize="0"/>
          <p:nvPr/>
        </p:nvPicPr>
        <p:blipFill rotWithShape="1">
          <a:blip r:embed="rId2">
            <a:alphaModFix/>
          </a:blip>
          <a:srcRect b="0" l="0" r="0" t="0"/>
          <a:stretch/>
        </p:blipFill>
        <p:spPr>
          <a:xfrm>
            <a:off x="200" y="-1"/>
            <a:ext cx="9143597" cy="5143501"/>
          </a:xfrm>
          <a:prstGeom prst="rect">
            <a:avLst/>
          </a:prstGeom>
          <a:noFill/>
          <a:ln>
            <a:noFill/>
          </a:ln>
        </p:spPr>
      </p:pic>
      <p:sp>
        <p:nvSpPr>
          <p:cNvPr id="43" name="Google Shape;43;p7"/>
          <p:cNvSpPr txBox="1"/>
          <p:nvPr>
            <p:ph type="title"/>
          </p:nvPr>
        </p:nvSpPr>
        <p:spPr>
          <a:xfrm>
            <a:off x="873450" y="1761775"/>
            <a:ext cx="7397100" cy="1204800"/>
          </a:xfrm>
          <a:prstGeom prst="rect">
            <a:avLst/>
          </a:prstGeom>
          <a:noFill/>
          <a:ln>
            <a:noFill/>
          </a:ln>
        </p:spPr>
        <p:txBody>
          <a:bodyPr anchorCtr="0" anchor="ctr" bIns="91425" lIns="365750" spcFirstLastPara="1" rIns="91425" wrap="square" tIns="91425">
            <a:normAutofit/>
          </a:bodyPr>
          <a:lstStyle>
            <a:lvl1pPr lvl="0" algn="ctr">
              <a:lnSpc>
                <a:spcPct val="100000"/>
              </a:lnSpc>
              <a:spcBef>
                <a:spcPts val="0"/>
              </a:spcBef>
              <a:spcAft>
                <a:spcPts val="0"/>
              </a:spcAft>
              <a:buClr>
                <a:schemeClr val="lt1"/>
              </a:buClr>
              <a:buSzPts val="3200"/>
              <a:buFont typeface="Space Grotesk SemiBold"/>
              <a:buNone/>
              <a:defRPr b="0" sz="3200">
                <a:solidFill>
                  <a:schemeClr val="lt1"/>
                </a:solidFill>
                <a:latin typeface="Space Grotesk SemiBold"/>
                <a:ea typeface="Space Grotesk SemiBold"/>
                <a:cs typeface="Space Grotesk SemiBold"/>
                <a:sym typeface="Space Grotesk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pic>
        <p:nvPicPr>
          <p:cNvPr id="44" name="Google Shape;44;p7"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
        <p:nvSpPr>
          <p:cNvPr id="45" name="Google Shape;45;p7"/>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2" type="sldNum"/>
          </p:nvPr>
        </p:nvSpPr>
        <p:spPr>
          <a:xfrm>
            <a:off x="8518383" y="4749892"/>
            <a:ext cx="548700" cy="393600"/>
          </a:xfrm>
          <a:prstGeom prst="rect">
            <a:avLst/>
          </a:prstGeom>
        </p:spPr>
        <p:txBody>
          <a:bodyPr anchorCtr="0" anchor="ctr" bIns="91425" lIns="91425" spcFirstLastPara="1" rIns="91425" wrap="square" tIns="91425">
            <a:normAutofit/>
          </a:bodyPr>
          <a:lstStyle>
            <a:lvl1pPr lvl="0">
              <a:buNone/>
              <a:defRPr sz="700">
                <a:latin typeface="Space Grotesk"/>
                <a:ea typeface="Space Grotesk"/>
                <a:cs typeface="Space Grotesk"/>
                <a:sym typeface="Space Grotesk"/>
              </a:defRPr>
            </a:lvl1pPr>
            <a:lvl2pPr lvl="1">
              <a:buNone/>
              <a:defRPr sz="700">
                <a:latin typeface="Space Grotesk"/>
                <a:ea typeface="Space Grotesk"/>
                <a:cs typeface="Space Grotesk"/>
                <a:sym typeface="Space Grotesk"/>
              </a:defRPr>
            </a:lvl2pPr>
            <a:lvl3pPr lvl="2">
              <a:buNone/>
              <a:defRPr sz="700">
                <a:latin typeface="Space Grotesk"/>
                <a:ea typeface="Space Grotesk"/>
                <a:cs typeface="Space Grotesk"/>
                <a:sym typeface="Space Grotesk"/>
              </a:defRPr>
            </a:lvl3pPr>
            <a:lvl4pPr lvl="3">
              <a:buNone/>
              <a:defRPr sz="700">
                <a:latin typeface="Space Grotesk"/>
                <a:ea typeface="Space Grotesk"/>
                <a:cs typeface="Space Grotesk"/>
                <a:sym typeface="Space Grotesk"/>
              </a:defRPr>
            </a:lvl4pPr>
            <a:lvl5pPr lvl="4">
              <a:buNone/>
              <a:defRPr sz="700">
                <a:latin typeface="Space Grotesk"/>
                <a:ea typeface="Space Grotesk"/>
                <a:cs typeface="Space Grotesk"/>
                <a:sym typeface="Space Grotesk"/>
              </a:defRPr>
            </a:lvl5pPr>
            <a:lvl6pPr lvl="5">
              <a:buNone/>
              <a:defRPr sz="700">
                <a:latin typeface="Space Grotesk"/>
                <a:ea typeface="Space Grotesk"/>
                <a:cs typeface="Space Grotesk"/>
                <a:sym typeface="Space Grotesk"/>
              </a:defRPr>
            </a:lvl6pPr>
            <a:lvl7pPr lvl="6">
              <a:buNone/>
              <a:defRPr sz="700">
                <a:latin typeface="Space Grotesk"/>
                <a:ea typeface="Space Grotesk"/>
                <a:cs typeface="Space Grotesk"/>
                <a:sym typeface="Space Grotesk"/>
              </a:defRPr>
            </a:lvl7pPr>
            <a:lvl8pPr lvl="7">
              <a:buNone/>
              <a:defRPr sz="700">
                <a:latin typeface="Space Grotesk"/>
                <a:ea typeface="Space Grotesk"/>
                <a:cs typeface="Space Grotesk"/>
                <a:sym typeface="Space Grotesk"/>
              </a:defRPr>
            </a:lvl8pPr>
            <a:lvl9pPr lvl="8">
              <a:buNone/>
              <a:defRPr sz="700">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pic>
        <p:nvPicPr>
          <p:cNvPr id="48" name="Google Shape;48;p8" title="logo-light-back.png"/>
          <p:cNvPicPr preferRelativeResize="0"/>
          <p:nvPr/>
        </p:nvPicPr>
        <p:blipFill>
          <a:blip r:embed="rId2">
            <a:alphaModFix/>
          </a:blip>
          <a:stretch>
            <a:fillRect/>
          </a:stretch>
        </p:blipFill>
        <p:spPr>
          <a:xfrm>
            <a:off x="7504148" y="173626"/>
            <a:ext cx="1443968" cy="341250"/>
          </a:xfrm>
          <a:prstGeom prst="rect">
            <a:avLst/>
          </a:prstGeom>
          <a:noFill/>
          <a:ln>
            <a:noFill/>
          </a:ln>
        </p:spPr>
      </p:pic>
      <p:sp>
        <p:nvSpPr>
          <p:cNvPr id="49" name="Google Shape;49;p8"/>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rgbClr val="04053E"/>
              </a:buClr>
              <a:buSzPts val="2400"/>
              <a:buFont typeface="Space Grotesk SemiBold"/>
              <a:buNone/>
              <a:defRPr b="0" sz="2400">
                <a:solidFill>
                  <a:srgbClr val="04053E"/>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rgbClr val="04053E"/>
              </a:buClr>
              <a:buSzPts val="3000"/>
              <a:buNone/>
              <a:defRPr>
                <a:solidFill>
                  <a:srgbClr val="04053E"/>
                </a:solidFill>
              </a:defRPr>
            </a:lvl2pPr>
            <a:lvl3pPr lvl="2" algn="l">
              <a:lnSpc>
                <a:spcPct val="100000"/>
              </a:lnSpc>
              <a:spcBef>
                <a:spcPts val="0"/>
              </a:spcBef>
              <a:spcAft>
                <a:spcPts val="0"/>
              </a:spcAft>
              <a:buClr>
                <a:srgbClr val="04053E"/>
              </a:buClr>
              <a:buSzPts val="3000"/>
              <a:buNone/>
              <a:defRPr>
                <a:solidFill>
                  <a:srgbClr val="04053E"/>
                </a:solidFill>
              </a:defRPr>
            </a:lvl3pPr>
            <a:lvl4pPr lvl="3" algn="l">
              <a:lnSpc>
                <a:spcPct val="100000"/>
              </a:lnSpc>
              <a:spcBef>
                <a:spcPts val="0"/>
              </a:spcBef>
              <a:spcAft>
                <a:spcPts val="0"/>
              </a:spcAft>
              <a:buClr>
                <a:srgbClr val="04053E"/>
              </a:buClr>
              <a:buSzPts val="3000"/>
              <a:buNone/>
              <a:defRPr>
                <a:solidFill>
                  <a:srgbClr val="04053E"/>
                </a:solidFill>
              </a:defRPr>
            </a:lvl4pPr>
            <a:lvl5pPr lvl="4" algn="l">
              <a:lnSpc>
                <a:spcPct val="100000"/>
              </a:lnSpc>
              <a:spcBef>
                <a:spcPts val="0"/>
              </a:spcBef>
              <a:spcAft>
                <a:spcPts val="0"/>
              </a:spcAft>
              <a:buClr>
                <a:srgbClr val="04053E"/>
              </a:buClr>
              <a:buSzPts val="3000"/>
              <a:buNone/>
              <a:defRPr>
                <a:solidFill>
                  <a:srgbClr val="04053E"/>
                </a:solidFill>
              </a:defRPr>
            </a:lvl5pPr>
            <a:lvl6pPr lvl="5" algn="l">
              <a:lnSpc>
                <a:spcPct val="100000"/>
              </a:lnSpc>
              <a:spcBef>
                <a:spcPts val="0"/>
              </a:spcBef>
              <a:spcAft>
                <a:spcPts val="0"/>
              </a:spcAft>
              <a:buClr>
                <a:srgbClr val="04053E"/>
              </a:buClr>
              <a:buSzPts val="3000"/>
              <a:buNone/>
              <a:defRPr>
                <a:solidFill>
                  <a:srgbClr val="04053E"/>
                </a:solidFill>
              </a:defRPr>
            </a:lvl6pPr>
            <a:lvl7pPr lvl="6" algn="l">
              <a:lnSpc>
                <a:spcPct val="100000"/>
              </a:lnSpc>
              <a:spcBef>
                <a:spcPts val="0"/>
              </a:spcBef>
              <a:spcAft>
                <a:spcPts val="0"/>
              </a:spcAft>
              <a:buClr>
                <a:srgbClr val="04053E"/>
              </a:buClr>
              <a:buSzPts val="3000"/>
              <a:buNone/>
              <a:defRPr>
                <a:solidFill>
                  <a:srgbClr val="04053E"/>
                </a:solidFill>
              </a:defRPr>
            </a:lvl7pPr>
            <a:lvl8pPr lvl="7" algn="l">
              <a:lnSpc>
                <a:spcPct val="100000"/>
              </a:lnSpc>
              <a:spcBef>
                <a:spcPts val="0"/>
              </a:spcBef>
              <a:spcAft>
                <a:spcPts val="0"/>
              </a:spcAft>
              <a:buClr>
                <a:srgbClr val="04053E"/>
              </a:buClr>
              <a:buSzPts val="3000"/>
              <a:buNone/>
              <a:defRPr>
                <a:solidFill>
                  <a:srgbClr val="04053E"/>
                </a:solidFill>
              </a:defRPr>
            </a:lvl8pPr>
            <a:lvl9pPr lvl="8" algn="l">
              <a:lnSpc>
                <a:spcPct val="100000"/>
              </a:lnSpc>
              <a:spcBef>
                <a:spcPts val="0"/>
              </a:spcBef>
              <a:spcAft>
                <a:spcPts val="0"/>
              </a:spcAft>
              <a:buClr>
                <a:srgbClr val="04053E"/>
              </a:buClr>
              <a:buSzPts val="3000"/>
              <a:buNone/>
              <a:defRPr>
                <a:solidFill>
                  <a:srgbClr val="04053E"/>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
    <p:bg>
      <p:bgPr>
        <a:solidFill>
          <a:srgbClr val="11206D"/>
        </a:solidFill>
      </p:bgPr>
    </p:bg>
    <p:spTree>
      <p:nvGrpSpPr>
        <p:cNvPr id="54" name="Shape 54"/>
        <p:cNvGrpSpPr/>
        <p:nvPr/>
      </p:nvGrpSpPr>
      <p:grpSpPr>
        <a:xfrm>
          <a:off x="0" y="0"/>
          <a:ext cx="0" cy="0"/>
          <a:chOff x="0" y="0"/>
          <a:chExt cx="0" cy="0"/>
        </a:xfrm>
      </p:grpSpPr>
      <p:pic>
        <p:nvPicPr>
          <p:cNvPr id="55" name="Google Shape;55;p10"/>
          <p:cNvPicPr preferRelativeResize="0"/>
          <p:nvPr/>
        </p:nvPicPr>
        <p:blipFill rotWithShape="1">
          <a:blip r:embed="rId2">
            <a:alphaModFix/>
          </a:blip>
          <a:srcRect b="0" l="0" r="0" t="0"/>
          <a:stretch/>
        </p:blipFill>
        <p:spPr>
          <a:xfrm>
            <a:off x="5346618" y="2321312"/>
            <a:ext cx="3797381" cy="2435571"/>
          </a:xfrm>
          <a:prstGeom prst="rect">
            <a:avLst/>
          </a:prstGeom>
          <a:noFill/>
          <a:ln>
            <a:noFill/>
          </a:ln>
          <a:effectLst>
            <a:outerShdw blurRad="714375" rotWithShape="0" algn="bl" dir="5400000" dist="152400">
              <a:srgbClr val="000000">
                <a:alpha val="47450"/>
              </a:srgbClr>
            </a:outerShdw>
          </a:effectLst>
        </p:spPr>
      </p:pic>
      <p:pic>
        <p:nvPicPr>
          <p:cNvPr id="56" name="Google Shape;56;p10"/>
          <p:cNvPicPr preferRelativeResize="0"/>
          <p:nvPr/>
        </p:nvPicPr>
        <p:blipFill rotWithShape="1">
          <a:blip r:embed="rId3">
            <a:alphaModFix/>
          </a:blip>
          <a:srcRect b="0" l="0" r="0" t="0"/>
          <a:stretch/>
        </p:blipFill>
        <p:spPr>
          <a:xfrm>
            <a:off x="5271975" y="1221088"/>
            <a:ext cx="3872020" cy="2435572"/>
          </a:xfrm>
          <a:prstGeom prst="rect">
            <a:avLst/>
          </a:prstGeom>
          <a:noFill/>
          <a:ln>
            <a:noFill/>
          </a:ln>
          <a:effectLst>
            <a:outerShdw blurRad="714375" rotWithShape="0" algn="bl" dir="5400000" dist="152400">
              <a:srgbClr val="000000">
                <a:alpha val="47450"/>
              </a:srgbClr>
            </a:outerShdw>
          </a:effectLst>
        </p:spPr>
      </p:pic>
      <p:pic>
        <p:nvPicPr>
          <p:cNvPr id="57" name="Google Shape;57;p10"/>
          <p:cNvPicPr preferRelativeResize="0"/>
          <p:nvPr/>
        </p:nvPicPr>
        <p:blipFill rotWithShape="1">
          <a:blip r:embed="rId4">
            <a:alphaModFix/>
          </a:blip>
          <a:srcRect b="0" l="0" r="0" t="0"/>
          <a:stretch/>
        </p:blipFill>
        <p:spPr>
          <a:xfrm>
            <a:off x="5346617" y="365100"/>
            <a:ext cx="3797381" cy="2138819"/>
          </a:xfrm>
          <a:prstGeom prst="rect">
            <a:avLst/>
          </a:prstGeom>
          <a:noFill/>
          <a:ln>
            <a:noFill/>
          </a:ln>
          <a:effectLst>
            <a:outerShdw blurRad="714375" rotWithShape="0" algn="bl" dir="5400000" dist="152400">
              <a:srgbClr val="000000">
                <a:alpha val="47450"/>
              </a:srgbClr>
            </a:outerShdw>
          </a:effectLst>
        </p:spPr>
      </p:pic>
      <p:pic>
        <p:nvPicPr>
          <p:cNvPr id="58" name="Google Shape;58;p10" title="footer.png"/>
          <p:cNvPicPr preferRelativeResize="0"/>
          <p:nvPr/>
        </p:nvPicPr>
        <p:blipFill rotWithShape="1">
          <a:blip r:embed="rId5">
            <a:alphaModFix/>
          </a:blip>
          <a:srcRect b="0" l="0" r="0" t="0"/>
          <a:stretch/>
        </p:blipFill>
        <p:spPr>
          <a:xfrm>
            <a:off x="281750" y="3592000"/>
            <a:ext cx="5216674" cy="1225675"/>
          </a:xfrm>
          <a:prstGeom prst="rect">
            <a:avLst/>
          </a:prstGeom>
          <a:noFill/>
          <a:ln>
            <a:noFill/>
          </a:ln>
        </p:spPr>
      </p:pic>
      <p:pic>
        <p:nvPicPr>
          <p:cNvPr id="59" name="Google Shape;59;p10" title="logo-dark-back.png"/>
          <p:cNvPicPr preferRelativeResize="0"/>
          <p:nvPr/>
        </p:nvPicPr>
        <p:blipFill rotWithShape="1">
          <a:blip r:embed="rId6">
            <a:alphaModFix/>
          </a:blip>
          <a:srcRect b="0" l="0" r="0" t="0"/>
          <a:stretch/>
        </p:blipFill>
        <p:spPr>
          <a:xfrm>
            <a:off x="1564013" y="730425"/>
            <a:ext cx="2756148" cy="682550"/>
          </a:xfrm>
          <a:prstGeom prst="rect">
            <a:avLst/>
          </a:prstGeom>
          <a:noFill/>
          <a:ln>
            <a:noFill/>
          </a:ln>
        </p:spPr>
      </p:pic>
      <p:sp>
        <p:nvSpPr>
          <p:cNvPr id="60" name="Google Shape;60;p10"/>
          <p:cNvSpPr txBox="1"/>
          <p:nvPr>
            <p:ph type="title"/>
          </p:nvPr>
        </p:nvSpPr>
        <p:spPr>
          <a:xfrm>
            <a:off x="692538" y="1770900"/>
            <a:ext cx="4499100" cy="11046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1pPr>
            <a:lvl2pPr lvl="1"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2pPr>
            <a:lvl3pPr lvl="2"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3pPr>
            <a:lvl4pPr lvl="3"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4pPr>
            <a:lvl5pPr lvl="4"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5pPr>
            <a:lvl6pPr lvl="5"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6pPr>
            <a:lvl7pPr lvl="6"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7pPr>
            <a:lvl8pPr lvl="7"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8pPr>
            <a:lvl9pPr lvl="8"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9pPr>
          </a:lstStyle>
          <a:p/>
        </p:txBody>
      </p:sp>
      <p:sp>
        <p:nvSpPr>
          <p:cNvPr id="61" name="Google Shape;61;p10"/>
          <p:cNvSpPr txBox="1"/>
          <p:nvPr>
            <p:ph idx="2" type="title"/>
          </p:nvPr>
        </p:nvSpPr>
        <p:spPr>
          <a:xfrm>
            <a:off x="1878138" y="2707150"/>
            <a:ext cx="2127900" cy="4584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lt1"/>
              </a:buClr>
              <a:buSzPts val="1400"/>
              <a:buFont typeface="Space Grotesk"/>
              <a:buNone/>
              <a:defRPr b="1" i="0" sz="1400" u="none" cap="none" strike="noStrike">
                <a:solidFill>
                  <a:schemeClr val="lt1"/>
                </a:solidFill>
                <a:latin typeface="Space Grotesk"/>
                <a:ea typeface="Space Grotesk"/>
                <a:cs typeface="Space Grotesk"/>
                <a:sym typeface="Space Grotesk"/>
              </a:defRPr>
            </a:lvl1pPr>
            <a:lvl2pPr lvl="1"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2pPr>
            <a:lvl3pPr lvl="2"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3pPr>
            <a:lvl4pPr lvl="3"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4pPr>
            <a:lvl5pPr lvl="4"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5pPr>
            <a:lvl6pPr lvl="5"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6pPr>
            <a:lvl7pPr lvl="6"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7pPr>
            <a:lvl8pPr lvl="7"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8pPr>
            <a:lvl9pPr lvl="8" marR="0" algn="ctr">
              <a:lnSpc>
                <a:spcPct val="100000"/>
              </a:lnSpc>
              <a:spcBef>
                <a:spcPts val="0"/>
              </a:spcBef>
              <a:spcAft>
                <a:spcPts val="0"/>
              </a:spcAft>
              <a:buClr>
                <a:schemeClr val="lt1"/>
              </a:buClr>
              <a:buSzPts val="2000"/>
              <a:buFont typeface="Space Grotesk"/>
              <a:buNone/>
              <a:defRPr b="1" i="0" sz="2000" u="none" cap="none" strike="noStrike">
                <a:solidFill>
                  <a:schemeClr val="lt1"/>
                </a:solidFill>
                <a:latin typeface="Space Grotesk"/>
                <a:ea typeface="Space Grotesk"/>
                <a:cs typeface="Space Grotesk"/>
                <a:sym typeface="Space Grotesk"/>
              </a:defRPr>
            </a:lvl9pPr>
          </a:lstStyle>
          <a:p/>
        </p:txBody>
      </p:sp>
      <p:sp>
        <p:nvSpPr>
          <p:cNvPr id="62" name="Google Shape;62;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TITLE_1">
    <p:bg>
      <p:bgPr>
        <a:solidFill>
          <a:srgbClr val="11206D"/>
        </a:solidFill>
      </p:bgPr>
    </p:bg>
    <p:spTree>
      <p:nvGrpSpPr>
        <p:cNvPr id="63" name="Shape 63"/>
        <p:cNvGrpSpPr/>
        <p:nvPr/>
      </p:nvGrpSpPr>
      <p:grpSpPr>
        <a:xfrm>
          <a:off x="0" y="0"/>
          <a:ext cx="0" cy="0"/>
          <a:chOff x="0" y="0"/>
          <a:chExt cx="0" cy="0"/>
        </a:xfrm>
      </p:grpSpPr>
      <p:sp>
        <p:nvSpPr>
          <p:cNvPr id="64" name="Google Shape;64;p11"/>
          <p:cNvSpPr txBox="1"/>
          <p:nvPr>
            <p:ph type="ctrTitle"/>
          </p:nvPr>
        </p:nvSpPr>
        <p:spPr>
          <a:xfrm>
            <a:off x="657325" y="1606650"/>
            <a:ext cx="4359300" cy="9651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0"/>
              </a:spcBef>
              <a:spcAft>
                <a:spcPts val="0"/>
              </a:spcAft>
              <a:buClr>
                <a:schemeClr val="lt1"/>
              </a:buClr>
              <a:buSzPts val="3200"/>
              <a:buFont typeface="Space Grotesk"/>
              <a:buNone/>
              <a:defRPr b="1" i="0" sz="3200">
                <a:solidFill>
                  <a:schemeClr val="lt1"/>
                </a:solidFill>
                <a:latin typeface="Space Grotesk"/>
                <a:ea typeface="Space Grotesk"/>
                <a:cs typeface="Space Grotesk"/>
                <a:sym typeface="Space Grotesk"/>
              </a:defRPr>
            </a:lvl1pPr>
            <a:lvl2pPr lvl="1" algn="ctr">
              <a:spcBef>
                <a:spcPts val="0"/>
              </a:spcBef>
              <a:spcAft>
                <a:spcPts val="0"/>
              </a:spcAft>
              <a:buSzPts val="2800"/>
              <a:buFont typeface="Space Grotesk"/>
              <a:buNone/>
              <a:defRPr b="1">
                <a:latin typeface="Space Grotesk"/>
                <a:ea typeface="Space Grotesk"/>
                <a:cs typeface="Space Grotesk"/>
                <a:sym typeface="Space Grotesk"/>
              </a:defRPr>
            </a:lvl2pPr>
            <a:lvl3pPr lvl="2" algn="ctr">
              <a:spcBef>
                <a:spcPts val="0"/>
              </a:spcBef>
              <a:spcAft>
                <a:spcPts val="0"/>
              </a:spcAft>
              <a:buSzPts val="2800"/>
              <a:buFont typeface="Space Grotesk"/>
              <a:buNone/>
              <a:defRPr b="1">
                <a:latin typeface="Space Grotesk"/>
                <a:ea typeface="Space Grotesk"/>
                <a:cs typeface="Space Grotesk"/>
                <a:sym typeface="Space Grotesk"/>
              </a:defRPr>
            </a:lvl3pPr>
            <a:lvl4pPr lvl="3" algn="ctr">
              <a:spcBef>
                <a:spcPts val="0"/>
              </a:spcBef>
              <a:spcAft>
                <a:spcPts val="0"/>
              </a:spcAft>
              <a:buSzPts val="2800"/>
              <a:buFont typeface="Space Grotesk"/>
              <a:buNone/>
              <a:defRPr b="1">
                <a:latin typeface="Space Grotesk"/>
                <a:ea typeface="Space Grotesk"/>
                <a:cs typeface="Space Grotesk"/>
                <a:sym typeface="Space Grotesk"/>
              </a:defRPr>
            </a:lvl4pPr>
            <a:lvl5pPr lvl="4" algn="ctr">
              <a:spcBef>
                <a:spcPts val="0"/>
              </a:spcBef>
              <a:spcAft>
                <a:spcPts val="0"/>
              </a:spcAft>
              <a:buSzPts val="2800"/>
              <a:buFont typeface="Space Grotesk"/>
              <a:buNone/>
              <a:defRPr b="1">
                <a:latin typeface="Space Grotesk"/>
                <a:ea typeface="Space Grotesk"/>
                <a:cs typeface="Space Grotesk"/>
                <a:sym typeface="Space Grotesk"/>
              </a:defRPr>
            </a:lvl5pPr>
            <a:lvl6pPr lvl="5" algn="ctr">
              <a:spcBef>
                <a:spcPts val="0"/>
              </a:spcBef>
              <a:spcAft>
                <a:spcPts val="0"/>
              </a:spcAft>
              <a:buSzPts val="2800"/>
              <a:buFont typeface="Space Grotesk"/>
              <a:buNone/>
              <a:defRPr b="1">
                <a:latin typeface="Space Grotesk"/>
                <a:ea typeface="Space Grotesk"/>
                <a:cs typeface="Space Grotesk"/>
                <a:sym typeface="Space Grotesk"/>
              </a:defRPr>
            </a:lvl6pPr>
            <a:lvl7pPr lvl="6" algn="ctr">
              <a:spcBef>
                <a:spcPts val="0"/>
              </a:spcBef>
              <a:spcAft>
                <a:spcPts val="0"/>
              </a:spcAft>
              <a:buSzPts val="2800"/>
              <a:buFont typeface="Space Grotesk"/>
              <a:buNone/>
              <a:defRPr b="1">
                <a:latin typeface="Space Grotesk"/>
                <a:ea typeface="Space Grotesk"/>
                <a:cs typeface="Space Grotesk"/>
                <a:sym typeface="Space Grotesk"/>
              </a:defRPr>
            </a:lvl7pPr>
            <a:lvl8pPr lvl="7" algn="ctr">
              <a:spcBef>
                <a:spcPts val="0"/>
              </a:spcBef>
              <a:spcAft>
                <a:spcPts val="0"/>
              </a:spcAft>
              <a:buSzPts val="2800"/>
              <a:buFont typeface="Space Grotesk"/>
              <a:buNone/>
              <a:defRPr b="1">
                <a:latin typeface="Space Grotesk"/>
                <a:ea typeface="Space Grotesk"/>
                <a:cs typeface="Space Grotesk"/>
                <a:sym typeface="Space Grotesk"/>
              </a:defRPr>
            </a:lvl8pPr>
            <a:lvl9pPr lvl="8" algn="ctr">
              <a:spcBef>
                <a:spcPts val="0"/>
              </a:spcBef>
              <a:spcAft>
                <a:spcPts val="0"/>
              </a:spcAft>
              <a:buSzPts val="2800"/>
              <a:buFont typeface="Space Grotesk"/>
              <a:buNone/>
              <a:defRPr b="1">
                <a:latin typeface="Space Grotesk"/>
                <a:ea typeface="Space Grotesk"/>
                <a:cs typeface="Space Grotesk"/>
                <a:sym typeface="Space Grotesk"/>
              </a:defRPr>
            </a:lvl9pPr>
          </a:lstStyle>
          <a:p/>
        </p:txBody>
      </p:sp>
      <p:sp>
        <p:nvSpPr>
          <p:cNvPr id="65" name="Google Shape;65;p11"/>
          <p:cNvSpPr txBox="1"/>
          <p:nvPr>
            <p:ph idx="1" type="subTitle"/>
          </p:nvPr>
        </p:nvSpPr>
        <p:spPr>
          <a:xfrm>
            <a:off x="657313" y="2749430"/>
            <a:ext cx="4788600" cy="10131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1"/>
              </a:buClr>
              <a:buSzPts val="2100"/>
              <a:buFont typeface="Space Grotesk"/>
              <a:buNone/>
              <a:defRPr b="1" sz="2100">
                <a:solidFill>
                  <a:schemeClr val="lt1"/>
                </a:solidFill>
                <a:latin typeface="Space Grotesk"/>
                <a:ea typeface="Space Grotesk"/>
                <a:cs typeface="Space Grotesk"/>
                <a:sym typeface="Space Grotesk"/>
              </a:defRPr>
            </a:lvl1pPr>
            <a:lvl2pPr lvl="1" algn="ctr">
              <a:lnSpc>
                <a:spcPct val="90000"/>
              </a:lnSpc>
              <a:spcBef>
                <a:spcPts val="1200"/>
              </a:spcBef>
              <a:spcAft>
                <a:spcPts val="0"/>
              </a:spcAft>
              <a:buClr>
                <a:schemeClr val="dk1"/>
              </a:buClr>
              <a:buSzPts val="1500"/>
              <a:buFont typeface="Space Grotesk"/>
              <a:buNone/>
              <a:defRPr b="1" sz="1500">
                <a:latin typeface="Space Grotesk"/>
                <a:ea typeface="Space Grotesk"/>
                <a:cs typeface="Space Grotesk"/>
                <a:sym typeface="Space Grotesk"/>
              </a:defRPr>
            </a:lvl2pPr>
            <a:lvl3pPr lvl="2" algn="ctr">
              <a:lnSpc>
                <a:spcPct val="90000"/>
              </a:lnSpc>
              <a:spcBef>
                <a:spcPts val="1200"/>
              </a:spcBef>
              <a:spcAft>
                <a:spcPts val="0"/>
              </a:spcAft>
              <a:buClr>
                <a:schemeClr val="dk1"/>
              </a:buClr>
              <a:buSzPts val="1400"/>
              <a:buFont typeface="Space Grotesk"/>
              <a:buNone/>
              <a:defRPr b="1" sz="1400">
                <a:latin typeface="Space Grotesk"/>
                <a:ea typeface="Space Grotesk"/>
                <a:cs typeface="Space Grotesk"/>
                <a:sym typeface="Space Grotesk"/>
              </a:defRPr>
            </a:lvl3pPr>
            <a:lvl4pPr lvl="3" algn="ctr">
              <a:lnSpc>
                <a:spcPct val="90000"/>
              </a:lnSpc>
              <a:spcBef>
                <a:spcPts val="1200"/>
              </a:spcBef>
              <a:spcAft>
                <a:spcPts val="0"/>
              </a:spcAft>
              <a:buClr>
                <a:schemeClr val="dk1"/>
              </a:buClr>
              <a:buSzPts val="1200"/>
              <a:buFont typeface="Space Grotesk"/>
              <a:buNone/>
              <a:defRPr b="1" sz="1200">
                <a:latin typeface="Space Grotesk"/>
                <a:ea typeface="Space Grotesk"/>
                <a:cs typeface="Space Grotesk"/>
                <a:sym typeface="Space Grotesk"/>
              </a:defRPr>
            </a:lvl4pPr>
            <a:lvl5pPr lvl="4" algn="ctr">
              <a:lnSpc>
                <a:spcPct val="90000"/>
              </a:lnSpc>
              <a:spcBef>
                <a:spcPts val="1200"/>
              </a:spcBef>
              <a:spcAft>
                <a:spcPts val="0"/>
              </a:spcAft>
              <a:buClr>
                <a:schemeClr val="dk1"/>
              </a:buClr>
              <a:buSzPts val="1200"/>
              <a:buFont typeface="Space Grotesk"/>
              <a:buNone/>
              <a:defRPr b="1" sz="1200">
                <a:latin typeface="Space Grotesk"/>
                <a:ea typeface="Space Grotesk"/>
                <a:cs typeface="Space Grotesk"/>
                <a:sym typeface="Space Grotesk"/>
              </a:defRPr>
            </a:lvl5pPr>
            <a:lvl6pPr lvl="5" algn="ctr">
              <a:lnSpc>
                <a:spcPct val="90000"/>
              </a:lnSpc>
              <a:spcBef>
                <a:spcPts val="1200"/>
              </a:spcBef>
              <a:spcAft>
                <a:spcPts val="0"/>
              </a:spcAft>
              <a:buClr>
                <a:schemeClr val="dk1"/>
              </a:buClr>
              <a:buSzPts val="1200"/>
              <a:buFont typeface="Space Grotesk"/>
              <a:buNone/>
              <a:defRPr b="1" sz="1200">
                <a:latin typeface="Space Grotesk"/>
                <a:ea typeface="Space Grotesk"/>
                <a:cs typeface="Space Grotesk"/>
                <a:sym typeface="Space Grotesk"/>
              </a:defRPr>
            </a:lvl6pPr>
            <a:lvl7pPr lvl="6" algn="ctr">
              <a:lnSpc>
                <a:spcPct val="90000"/>
              </a:lnSpc>
              <a:spcBef>
                <a:spcPts val="1200"/>
              </a:spcBef>
              <a:spcAft>
                <a:spcPts val="0"/>
              </a:spcAft>
              <a:buClr>
                <a:schemeClr val="dk1"/>
              </a:buClr>
              <a:buSzPts val="1200"/>
              <a:buFont typeface="Space Grotesk"/>
              <a:buNone/>
              <a:defRPr b="1" sz="1200">
                <a:latin typeface="Space Grotesk"/>
                <a:ea typeface="Space Grotesk"/>
                <a:cs typeface="Space Grotesk"/>
                <a:sym typeface="Space Grotesk"/>
              </a:defRPr>
            </a:lvl7pPr>
            <a:lvl8pPr lvl="7" algn="ctr">
              <a:lnSpc>
                <a:spcPct val="90000"/>
              </a:lnSpc>
              <a:spcBef>
                <a:spcPts val="1200"/>
              </a:spcBef>
              <a:spcAft>
                <a:spcPts val="0"/>
              </a:spcAft>
              <a:buClr>
                <a:schemeClr val="dk1"/>
              </a:buClr>
              <a:buSzPts val="1200"/>
              <a:buFont typeface="Space Grotesk"/>
              <a:buNone/>
              <a:defRPr b="1" sz="1200">
                <a:latin typeface="Space Grotesk"/>
                <a:ea typeface="Space Grotesk"/>
                <a:cs typeface="Space Grotesk"/>
                <a:sym typeface="Space Grotesk"/>
              </a:defRPr>
            </a:lvl8pPr>
            <a:lvl9pPr lvl="8" algn="ctr">
              <a:lnSpc>
                <a:spcPct val="90000"/>
              </a:lnSpc>
              <a:spcBef>
                <a:spcPts val="1200"/>
              </a:spcBef>
              <a:spcAft>
                <a:spcPts val="1200"/>
              </a:spcAft>
              <a:buClr>
                <a:schemeClr val="dk1"/>
              </a:buClr>
              <a:buSzPts val="1200"/>
              <a:buFont typeface="Space Grotesk"/>
              <a:buNone/>
              <a:defRPr b="1" sz="1200">
                <a:latin typeface="Space Grotesk"/>
                <a:ea typeface="Space Grotesk"/>
                <a:cs typeface="Space Grotesk"/>
                <a:sym typeface="Space Grotesk"/>
              </a:defRPr>
            </a:lvl9pPr>
          </a:lstStyle>
          <a:p/>
        </p:txBody>
      </p:sp>
      <p:sp>
        <p:nvSpPr>
          <p:cNvPr id="66" name="Google Shape;66;p1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2520">
          <p15:clr>
            <a:srgbClr val="FBAE40"/>
          </p15:clr>
        </p15:guide>
        <p15:guide id="4" orient="horz" pos="11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1">
  <p:cSld name="CUSTOM_3">
    <p:bg>
      <p:bgPr>
        <a:solidFill>
          <a:srgbClr val="11206D"/>
        </a:solidFill>
      </p:bgPr>
    </p:bg>
    <p:spTree>
      <p:nvGrpSpPr>
        <p:cNvPr id="67" name="Shape 67"/>
        <p:cNvGrpSpPr/>
        <p:nvPr/>
      </p:nvGrpSpPr>
      <p:grpSpPr>
        <a:xfrm>
          <a:off x="0" y="0"/>
          <a:ext cx="0" cy="0"/>
          <a:chOff x="0" y="0"/>
          <a:chExt cx="0" cy="0"/>
        </a:xfrm>
      </p:grpSpPr>
      <p:pic>
        <p:nvPicPr>
          <p:cNvPr id="68" name="Google Shape;68;p12"/>
          <p:cNvPicPr preferRelativeResize="0"/>
          <p:nvPr/>
        </p:nvPicPr>
        <p:blipFill rotWithShape="1">
          <a:blip r:embed="rId2">
            <a:alphaModFix/>
          </a:blip>
          <a:srcRect b="0" l="0" r="0" t="0"/>
          <a:stretch/>
        </p:blipFill>
        <p:spPr>
          <a:xfrm>
            <a:off x="5346618" y="2321312"/>
            <a:ext cx="3797381" cy="2435571"/>
          </a:xfrm>
          <a:prstGeom prst="rect">
            <a:avLst/>
          </a:prstGeom>
          <a:noFill/>
          <a:ln>
            <a:noFill/>
          </a:ln>
          <a:effectLst>
            <a:outerShdw blurRad="714375" rotWithShape="0" algn="bl" dir="5400000" dist="152400">
              <a:srgbClr val="000000">
                <a:alpha val="49800"/>
              </a:srgbClr>
            </a:outerShdw>
          </a:effectLst>
        </p:spPr>
      </p:pic>
      <p:pic>
        <p:nvPicPr>
          <p:cNvPr id="69" name="Google Shape;69;p12"/>
          <p:cNvPicPr preferRelativeResize="0"/>
          <p:nvPr/>
        </p:nvPicPr>
        <p:blipFill rotWithShape="1">
          <a:blip r:embed="rId3">
            <a:alphaModFix/>
          </a:blip>
          <a:srcRect b="0" l="0" r="0" t="0"/>
          <a:stretch/>
        </p:blipFill>
        <p:spPr>
          <a:xfrm>
            <a:off x="5271975" y="1221088"/>
            <a:ext cx="3872020" cy="2435572"/>
          </a:xfrm>
          <a:prstGeom prst="rect">
            <a:avLst/>
          </a:prstGeom>
          <a:noFill/>
          <a:ln>
            <a:noFill/>
          </a:ln>
          <a:effectLst>
            <a:outerShdw blurRad="714375" rotWithShape="0" algn="bl" dir="5400000" dist="152400">
              <a:srgbClr val="000000">
                <a:alpha val="49800"/>
              </a:srgbClr>
            </a:outerShdw>
          </a:effectLst>
        </p:spPr>
      </p:pic>
      <p:pic>
        <p:nvPicPr>
          <p:cNvPr id="70" name="Google Shape;70;p12"/>
          <p:cNvPicPr preferRelativeResize="0"/>
          <p:nvPr/>
        </p:nvPicPr>
        <p:blipFill rotWithShape="1">
          <a:blip r:embed="rId4">
            <a:alphaModFix/>
          </a:blip>
          <a:srcRect b="0" l="0" r="0" t="0"/>
          <a:stretch/>
        </p:blipFill>
        <p:spPr>
          <a:xfrm>
            <a:off x="5346617" y="365100"/>
            <a:ext cx="3797381" cy="2138819"/>
          </a:xfrm>
          <a:prstGeom prst="rect">
            <a:avLst/>
          </a:prstGeom>
          <a:noFill/>
          <a:ln>
            <a:noFill/>
          </a:ln>
          <a:effectLst>
            <a:outerShdw blurRad="714375" rotWithShape="0" algn="bl" dir="5400000" dist="152400">
              <a:srgbClr val="000000">
                <a:alpha val="49800"/>
              </a:srgbClr>
            </a:outerShdw>
          </a:effectLst>
        </p:spPr>
      </p:pic>
      <p:pic>
        <p:nvPicPr>
          <p:cNvPr id="71" name="Google Shape;71;p12" title="footer.png"/>
          <p:cNvPicPr preferRelativeResize="0"/>
          <p:nvPr/>
        </p:nvPicPr>
        <p:blipFill>
          <a:blip r:embed="rId5">
            <a:alphaModFix/>
          </a:blip>
          <a:stretch>
            <a:fillRect/>
          </a:stretch>
        </p:blipFill>
        <p:spPr>
          <a:xfrm>
            <a:off x="281750" y="3592000"/>
            <a:ext cx="5216674" cy="1225675"/>
          </a:xfrm>
          <a:prstGeom prst="rect">
            <a:avLst/>
          </a:prstGeom>
          <a:noFill/>
          <a:ln>
            <a:noFill/>
          </a:ln>
        </p:spPr>
      </p:pic>
      <p:pic>
        <p:nvPicPr>
          <p:cNvPr id="72" name="Google Shape;72;p12" title="logo-dark-back.png"/>
          <p:cNvPicPr preferRelativeResize="0"/>
          <p:nvPr/>
        </p:nvPicPr>
        <p:blipFill>
          <a:blip r:embed="rId6">
            <a:alphaModFix/>
          </a:blip>
          <a:stretch>
            <a:fillRect/>
          </a:stretch>
        </p:blipFill>
        <p:spPr>
          <a:xfrm>
            <a:off x="1564013" y="730425"/>
            <a:ext cx="2756148" cy="682550"/>
          </a:xfrm>
          <a:prstGeom prst="rect">
            <a:avLst/>
          </a:prstGeom>
          <a:noFill/>
          <a:ln>
            <a:noFill/>
          </a:ln>
        </p:spPr>
      </p:pic>
      <p:sp>
        <p:nvSpPr>
          <p:cNvPr id="73" name="Google Shape;73;p12"/>
          <p:cNvSpPr txBox="1"/>
          <p:nvPr>
            <p:ph type="title"/>
          </p:nvPr>
        </p:nvSpPr>
        <p:spPr>
          <a:xfrm>
            <a:off x="692538" y="1770900"/>
            <a:ext cx="4499100" cy="11046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400"/>
              <a:buFont typeface="Space Grotesk"/>
              <a:buNone/>
              <a:defRPr b="1" sz="24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9pPr>
          </a:lstStyle>
          <a:p/>
        </p:txBody>
      </p:sp>
      <p:sp>
        <p:nvSpPr>
          <p:cNvPr id="74" name="Google Shape;74;p12"/>
          <p:cNvSpPr txBox="1"/>
          <p:nvPr>
            <p:ph idx="2" type="title"/>
          </p:nvPr>
        </p:nvSpPr>
        <p:spPr>
          <a:xfrm>
            <a:off x="1878138" y="2707150"/>
            <a:ext cx="2127900" cy="458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Space Grotesk"/>
              <a:buNone/>
              <a:defRPr b="1" sz="16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9pPr>
          </a:lstStyle>
          <a:p/>
        </p:txBody>
      </p:sp>
      <p:sp>
        <p:nvSpPr>
          <p:cNvPr id="75" name="Google Shape;75;p1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lt1"/>
                </a:solidFill>
                <a:latin typeface="Space Grotesk"/>
                <a:ea typeface="Space Grotesk"/>
                <a:cs typeface="Space Grotesk"/>
                <a:sym typeface="Space Grotesk"/>
              </a:defRPr>
            </a:lvl1pPr>
            <a:lvl2pPr lvl="1">
              <a:buNone/>
              <a:defRPr sz="1300">
                <a:solidFill>
                  <a:schemeClr val="lt1"/>
                </a:solidFill>
                <a:latin typeface="Space Grotesk"/>
                <a:ea typeface="Space Grotesk"/>
                <a:cs typeface="Space Grotesk"/>
                <a:sym typeface="Space Grotesk"/>
              </a:defRPr>
            </a:lvl2pPr>
            <a:lvl3pPr lvl="2">
              <a:buNone/>
              <a:defRPr sz="1300">
                <a:solidFill>
                  <a:schemeClr val="lt1"/>
                </a:solidFill>
                <a:latin typeface="Space Grotesk"/>
                <a:ea typeface="Space Grotesk"/>
                <a:cs typeface="Space Grotesk"/>
                <a:sym typeface="Space Grotesk"/>
              </a:defRPr>
            </a:lvl3pPr>
            <a:lvl4pPr lvl="3">
              <a:buNone/>
              <a:defRPr sz="1300">
                <a:solidFill>
                  <a:schemeClr val="lt1"/>
                </a:solidFill>
                <a:latin typeface="Space Grotesk"/>
                <a:ea typeface="Space Grotesk"/>
                <a:cs typeface="Space Grotesk"/>
                <a:sym typeface="Space Grotesk"/>
              </a:defRPr>
            </a:lvl4pPr>
            <a:lvl5pPr lvl="4">
              <a:buNone/>
              <a:defRPr sz="1300">
                <a:solidFill>
                  <a:schemeClr val="lt1"/>
                </a:solidFill>
                <a:latin typeface="Space Grotesk"/>
                <a:ea typeface="Space Grotesk"/>
                <a:cs typeface="Space Grotesk"/>
                <a:sym typeface="Space Grotesk"/>
              </a:defRPr>
            </a:lvl5pPr>
            <a:lvl6pPr lvl="5">
              <a:buNone/>
              <a:defRPr sz="1300">
                <a:solidFill>
                  <a:schemeClr val="lt1"/>
                </a:solidFill>
                <a:latin typeface="Space Grotesk"/>
                <a:ea typeface="Space Grotesk"/>
                <a:cs typeface="Space Grotesk"/>
                <a:sym typeface="Space Grotesk"/>
              </a:defRPr>
            </a:lvl6pPr>
            <a:lvl7pPr lvl="6">
              <a:buNone/>
              <a:defRPr sz="1300">
                <a:solidFill>
                  <a:schemeClr val="lt1"/>
                </a:solidFill>
                <a:latin typeface="Space Grotesk"/>
                <a:ea typeface="Space Grotesk"/>
                <a:cs typeface="Space Grotesk"/>
                <a:sym typeface="Space Grotesk"/>
              </a:defRPr>
            </a:lvl7pPr>
            <a:lvl8pPr lvl="7">
              <a:buNone/>
              <a:defRPr sz="1300">
                <a:solidFill>
                  <a:schemeClr val="lt1"/>
                </a:solidFill>
                <a:latin typeface="Space Grotesk"/>
                <a:ea typeface="Space Grotesk"/>
                <a:cs typeface="Space Grotesk"/>
                <a:sym typeface="Space Grotesk"/>
              </a:defRPr>
            </a:lvl8pPr>
            <a:lvl9pPr lvl="8">
              <a:buNone/>
              <a:defRPr sz="1300">
                <a:solidFill>
                  <a:schemeClr val="lt1"/>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1">
  <p:cSld name="CUSTOM_2_2">
    <p:bg>
      <p:bgPr>
        <a:solidFill>
          <a:srgbClr val="11206D"/>
        </a:solidFill>
      </p:bgPr>
    </p:bg>
    <p:spTree>
      <p:nvGrpSpPr>
        <p:cNvPr id="76" name="Shape 76"/>
        <p:cNvGrpSpPr/>
        <p:nvPr/>
      </p:nvGrpSpPr>
      <p:grpSpPr>
        <a:xfrm>
          <a:off x="0" y="0"/>
          <a:ext cx="0" cy="0"/>
          <a:chOff x="0" y="0"/>
          <a:chExt cx="0" cy="0"/>
        </a:xfrm>
      </p:grpSpPr>
      <p:pic>
        <p:nvPicPr>
          <p:cNvPr id="77" name="Google Shape;77;p13" title="logo-dark-back.png"/>
          <p:cNvPicPr preferRelativeResize="0"/>
          <p:nvPr/>
        </p:nvPicPr>
        <p:blipFill>
          <a:blip r:embed="rId2">
            <a:alphaModFix/>
          </a:blip>
          <a:stretch>
            <a:fillRect/>
          </a:stretch>
        </p:blipFill>
        <p:spPr>
          <a:xfrm>
            <a:off x="2881551" y="653075"/>
            <a:ext cx="3380849" cy="837250"/>
          </a:xfrm>
          <a:prstGeom prst="rect">
            <a:avLst/>
          </a:prstGeom>
          <a:noFill/>
          <a:ln>
            <a:noFill/>
          </a:ln>
        </p:spPr>
      </p:pic>
      <p:sp>
        <p:nvSpPr>
          <p:cNvPr id="78" name="Google Shape;78;p13"/>
          <p:cNvSpPr txBox="1"/>
          <p:nvPr>
            <p:ph type="title"/>
          </p:nvPr>
        </p:nvSpPr>
        <p:spPr>
          <a:xfrm>
            <a:off x="1644425" y="1845000"/>
            <a:ext cx="5855100" cy="5415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800"/>
              <a:buFont typeface="Space Grotesk"/>
              <a:buNone/>
              <a:defRPr b="1" sz="2800">
                <a:solidFill>
                  <a:schemeClr val="lt1"/>
                </a:solidFill>
                <a:latin typeface="Space Grotesk"/>
                <a:ea typeface="Space Grotesk"/>
                <a:cs typeface="Space Grotesk"/>
                <a:sym typeface="Space Grotesk"/>
              </a:defRPr>
            </a:lvl9pPr>
          </a:lstStyle>
          <a:p/>
        </p:txBody>
      </p:sp>
      <p:sp>
        <p:nvSpPr>
          <p:cNvPr id="79" name="Google Shape;79;p13"/>
          <p:cNvSpPr txBox="1"/>
          <p:nvPr>
            <p:ph idx="2" type="title"/>
          </p:nvPr>
        </p:nvSpPr>
        <p:spPr>
          <a:xfrm>
            <a:off x="2667275" y="2386488"/>
            <a:ext cx="3809400" cy="458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2800"/>
              <a:buFont typeface="Space Grotesk"/>
              <a:buNone/>
              <a:defRPr>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b="1" sz="2000">
                <a:solidFill>
                  <a:schemeClr val="lt1"/>
                </a:solidFill>
                <a:latin typeface="Space Grotesk"/>
                <a:ea typeface="Space Grotesk"/>
                <a:cs typeface="Space Grotesk"/>
                <a:sym typeface="Space Grotesk"/>
              </a:defRPr>
            </a:lvl9pPr>
          </a:lstStyle>
          <a:p/>
        </p:txBody>
      </p:sp>
      <p:pic>
        <p:nvPicPr>
          <p:cNvPr id="80" name="Google Shape;80;p13"/>
          <p:cNvPicPr preferRelativeResize="0"/>
          <p:nvPr/>
        </p:nvPicPr>
        <p:blipFill>
          <a:blip r:embed="rId3">
            <a:alphaModFix/>
          </a:blip>
          <a:stretch>
            <a:fillRect/>
          </a:stretch>
        </p:blipFill>
        <p:spPr>
          <a:xfrm>
            <a:off x="2452674" y="3803025"/>
            <a:ext cx="4238602" cy="666400"/>
          </a:xfrm>
          <a:prstGeom prst="rect">
            <a:avLst/>
          </a:prstGeom>
          <a:noFill/>
          <a:ln>
            <a:noFill/>
          </a:ln>
        </p:spPr>
      </p:pic>
      <p:grpSp>
        <p:nvGrpSpPr>
          <p:cNvPr id="81" name="Google Shape;81;p13"/>
          <p:cNvGrpSpPr/>
          <p:nvPr/>
        </p:nvGrpSpPr>
        <p:grpSpPr>
          <a:xfrm>
            <a:off x="2534075" y="3276900"/>
            <a:ext cx="4075800" cy="369300"/>
            <a:chOff x="2534150" y="3276900"/>
            <a:chExt cx="4075800" cy="369300"/>
          </a:xfrm>
        </p:grpSpPr>
        <p:sp>
          <p:nvSpPr>
            <p:cNvPr id="82" name="Google Shape;82;p13"/>
            <p:cNvSpPr txBox="1"/>
            <p:nvPr/>
          </p:nvSpPr>
          <p:spPr>
            <a:xfrm>
              <a:off x="4004450" y="3276900"/>
              <a:ext cx="1135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Space Grotesk Medium"/>
                  <a:ea typeface="Space Grotesk Medium"/>
                  <a:cs typeface="Space Grotesk Medium"/>
                  <a:sym typeface="Space Grotesk Medium"/>
                </a:rPr>
                <a:t>Certified by</a:t>
              </a:r>
              <a:endParaRPr sz="1200">
                <a:solidFill>
                  <a:srgbClr val="FFFFFF"/>
                </a:solidFill>
                <a:latin typeface="Space Grotesk Medium"/>
                <a:ea typeface="Space Grotesk Medium"/>
                <a:cs typeface="Space Grotesk Medium"/>
                <a:sym typeface="Space Grotesk Medium"/>
              </a:endParaRPr>
            </a:p>
          </p:txBody>
        </p:sp>
        <p:cxnSp>
          <p:nvCxnSpPr>
            <p:cNvPr id="83" name="Google Shape;83;p13"/>
            <p:cNvCxnSpPr>
              <a:stCxn id="82" idx="1"/>
            </p:cNvCxnSpPr>
            <p:nvPr/>
          </p:nvCxnSpPr>
          <p:spPr>
            <a:xfrm rot="10800000">
              <a:off x="2534150" y="3461550"/>
              <a:ext cx="1470300" cy="0"/>
            </a:xfrm>
            <a:prstGeom prst="straightConnector1">
              <a:avLst/>
            </a:prstGeom>
            <a:noFill/>
            <a:ln cap="flat" cmpd="sng" w="9525">
              <a:solidFill>
                <a:srgbClr val="FFFFFF"/>
              </a:solidFill>
              <a:prstDash val="solid"/>
              <a:round/>
              <a:headEnd len="med" w="med" type="none"/>
              <a:tailEnd len="med" w="med" type="none"/>
            </a:ln>
          </p:spPr>
        </p:cxnSp>
        <p:cxnSp>
          <p:nvCxnSpPr>
            <p:cNvPr id="84" name="Google Shape;84;p13"/>
            <p:cNvCxnSpPr>
              <a:endCxn id="82" idx="3"/>
            </p:cNvCxnSpPr>
            <p:nvPr/>
          </p:nvCxnSpPr>
          <p:spPr>
            <a:xfrm rot="10800000">
              <a:off x="5139650" y="3461550"/>
              <a:ext cx="1470300" cy="0"/>
            </a:xfrm>
            <a:prstGeom prst="straightConnector1">
              <a:avLst/>
            </a:prstGeom>
            <a:noFill/>
            <a:ln cap="flat" cmpd="sng" w="9525">
              <a:solidFill>
                <a:srgbClr val="FFFFFF"/>
              </a:solidFill>
              <a:prstDash val="solid"/>
              <a:round/>
              <a:headEnd len="med" w="med" type="none"/>
              <a:tailEnd len="med" w="med" type="none"/>
            </a:ln>
          </p:spPr>
        </p:cxnSp>
      </p:grpSp>
      <p:sp>
        <p:nvSpPr>
          <p:cNvPr id="85" name="Google Shape;85;p13"/>
          <p:cNvSpPr txBox="1"/>
          <p:nvPr/>
        </p:nvSpPr>
        <p:spPr>
          <a:xfrm>
            <a:off x="2452675" y="4679450"/>
            <a:ext cx="4402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lt1"/>
                </a:solidFill>
                <a:latin typeface="Space Grotesk"/>
                <a:ea typeface="Space Grotesk"/>
                <a:cs typeface="Space Grotesk"/>
                <a:sym typeface="Space Grotesk"/>
              </a:rPr>
              <a:t>www.accuknox.com</a:t>
            </a:r>
            <a:endParaRPr sz="800">
              <a:solidFill>
                <a:schemeClr val="lt1"/>
              </a:solidFill>
              <a:latin typeface="Space Grotesk"/>
              <a:ea typeface="Space Grotesk"/>
              <a:cs typeface="Space Grotesk"/>
              <a:sym typeface="Space Grotesk"/>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ackground - Title Only 1">
  <p:cSld name="CUSTOM_1_1">
    <p:spTree>
      <p:nvGrpSpPr>
        <p:cNvPr id="86" name="Shape 86"/>
        <p:cNvGrpSpPr/>
        <p:nvPr/>
      </p:nvGrpSpPr>
      <p:grpSpPr>
        <a:xfrm>
          <a:off x="0" y="0"/>
          <a:ext cx="0" cy="0"/>
          <a:chOff x="0" y="0"/>
          <a:chExt cx="0" cy="0"/>
        </a:xfrm>
      </p:grpSpPr>
      <p:sp>
        <p:nvSpPr>
          <p:cNvPr id="87" name="Google Shape;87;p14"/>
          <p:cNvSpPr/>
          <p:nvPr/>
        </p:nvSpPr>
        <p:spPr>
          <a:xfrm>
            <a:off x="-24300" y="-9750"/>
            <a:ext cx="9168300" cy="708000"/>
          </a:xfrm>
          <a:prstGeom prst="rect">
            <a:avLst/>
          </a:prstGeom>
          <a:solidFill>
            <a:srgbClr val="11206D"/>
          </a:solidFill>
          <a:ln>
            <a:noFill/>
          </a:ln>
        </p:spPr>
        <p:txBody>
          <a:bodyPr anchorCtr="0" anchor="ctr" bIns="91425" lIns="457200"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Montserrat"/>
              <a:ea typeface="Montserrat"/>
              <a:cs typeface="Montserrat"/>
              <a:sym typeface="Montserrat"/>
            </a:endParaRPr>
          </a:p>
        </p:txBody>
      </p:sp>
      <p:sp>
        <p:nvSpPr>
          <p:cNvPr id="88" name="Google Shape;88;p14"/>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chemeClr val="lt1"/>
              </a:buClr>
              <a:buSzPts val="2400"/>
              <a:buFont typeface="Space Grotesk SemiBold"/>
              <a:buNone/>
              <a:defRPr b="0" sz="240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89" name="Google Shape;89;p14" title="logo-dark-back.png"/>
          <p:cNvPicPr preferRelativeResize="0"/>
          <p:nvPr/>
        </p:nvPicPr>
        <p:blipFill>
          <a:blip r:embed="rId2">
            <a:alphaModFix/>
          </a:blip>
          <a:stretch>
            <a:fillRect/>
          </a:stretch>
        </p:blipFill>
        <p:spPr>
          <a:xfrm>
            <a:off x="7504102" y="173626"/>
            <a:ext cx="1444050" cy="341250"/>
          </a:xfrm>
          <a:prstGeom prst="rect">
            <a:avLst/>
          </a:prstGeom>
          <a:noFill/>
          <a:ln>
            <a:noFill/>
          </a:ln>
        </p:spPr>
      </p:pic>
      <p:sp>
        <p:nvSpPr>
          <p:cNvPr id="90" name="Google Shape;90;p14"/>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ackground" showMasterSp="0">
  <p:cSld name="Small Title Only BLACK_3">
    <p:bg>
      <p:bgPr>
        <a:solidFill>
          <a:schemeClr val="lt2"/>
        </a:solidFill>
      </p:bgPr>
    </p:bg>
    <p:spTree>
      <p:nvGrpSpPr>
        <p:cNvPr id="91" name="Shape 91"/>
        <p:cNvGrpSpPr/>
        <p:nvPr/>
      </p:nvGrpSpPr>
      <p:grpSpPr>
        <a:xfrm>
          <a:off x="0" y="0"/>
          <a:ext cx="0" cy="0"/>
          <a:chOff x="0" y="0"/>
          <a:chExt cx="0" cy="0"/>
        </a:xfrm>
      </p:grpSpPr>
      <p:pic>
        <p:nvPicPr>
          <p:cNvPr descr="abstract background" id="92" name="Google Shape;92;p15"/>
          <p:cNvPicPr preferRelativeResize="0"/>
          <p:nvPr/>
        </p:nvPicPr>
        <p:blipFill rotWithShape="1">
          <a:blip r:embed="rId2">
            <a:alphaModFix/>
          </a:blip>
          <a:srcRect b="0" l="0" r="0" t="0"/>
          <a:stretch/>
        </p:blipFill>
        <p:spPr>
          <a:xfrm>
            <a:off x="200" y="-1"/>
            <a:ext cx="9143597" cy="5143501"/>
          </a:xfrm>
          <a:prstGeom prst="rect">
            <a:avLst/>
          </a:prstGeom>
          <a:noFill/>
          <a:ln>
            <a:noFill/>
          </a:ln>
        </p:spPr>
      </p:pic>
      <p:sp>
        <p:nvSpPr>
          <p:cNvPr id="93" name="Google Shape;93;p15"/>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chemeClr val="lt1"/>
              </a:buClr>
              <a:buSzPts val="2400"/>
              <a:buFont typeface="Space Grotesk SemiBold"/>
              <a:buNone/>
              <a:defRPr b="0" sz="240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95" name="Google Shape;95;p15"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ackground 1 1" showMasterSp="0">
  <p:cSld name="Small Title Only BLACK_1_1">
    <p:bg>
      <p:bgPr>
        <a:solidFill>
          <a:schemeClr val="lt2"/>
        </a:solidFill>
      </p:bgPr>
    </p:bg>
    <p:spTree>
      <p:nvGrpSpPr>
        <p:cNvPr id="96" name="Shape 96"/>
        <p:cNvGrpSpPr/>
        <p:nvPr/>
      </p:nvGrpSpPr>
      <p:grpSpPr>
        <a:xfrm>
          <a:off x="0" y="0"/>
          <a:ext cx="0" cy="0"/>
          <a:chOff x="0" y="0"/>
          <a:chExt cx="0" cy="0"/>
        </a:xfrm>
      </p:grpSpPr>
      <p:pic>
        <p:nvPicPr>
          <p:cNvPr descr="abstract background" id="97" name="Google Shape;97;p16"/>
          <p:cNvPicPr preferRelativeResize="0"/>
          <p:nvPr/>
        </p:nvPicPr>
        <p:blipFill rotWithShape="1">
          <a:blip r:embed="rId2">
            <a:alphaModFix/>
          </a:blip>
          <a:srcRect b="0" l="0" r="0" t="0"/>
          <a:stretch/>
        </p:blipFill>
        <p:spPr>
          <a:xfrm>
            <a:off x="200" y="-1"/>
            <a:ext cx="9143597" cy="5143501"/>
          </a:xfrm>
          <a:prstGeom prst="rect">
            <a:avLst/>
          </a:prstGeom>
          <a:noFill/>
          <a:ln>
            <a:noFill/>
          </a:ln>
        </p:spPr>
      </p:pic>
      <p:sp>
        <p:nvSpPr>
          <p:cNvPr id="98" name="Google Shape;98;p16"/>
          <p:cNvSpPr txBox="1"/>
          <p:nvPr>
            <p:ph type="title"/>
          </p:nvPr>
        </p:nvSpPr>
        <p:spPr>
          <a:xfrm>
            <a:off x="873450" y="1761775"/>
            <a:ext cx="7397100" cy="1204800"/>
          </a:xfrm>
          <a:prstGeom prst="rect">
            <a:avLst/>
          </a:prstGeom>
          <a:noFill/>
          <a:ln>
            <a:noFill/>
          </a:ln>
        </p:spPr>
        <p:txBody>
          <a:bodyPr anchorCtr="0" anchor="ctr" bIns="91425" lIns="365750" spcFirstLastPara="1" rIns="91425" wrap="square" tIns="91425">
            <a:normAutofit/>
          </a:bodyPr>
          <a:lstStyle>
            <a:lvl1pPr lvl="0" algn="ctr">
              <a:lnSpc>
                <a:spcPct val="100000"/>
              </a:lnSpc>
              <a:spcBef>
                <a:spcPts val="0"/>
              </a:spcBef>
              <a:spcAft>
                <a:spcPts val="0"/>
              </a:spcAft>
              <a:buClr>
                <a:schemeClr val="lt1"/>
              </a:buClr>
              <a:buSzPts val="3200"/>
              <a:buFont typeface="Space Grotesk SemiBold"/>
              <a:buNone/>
              <a:defRPr b="0" sz="3200">
                <a:solidFill>
                  <a:schemeClr val="lt1"/>
                </a:solidFill>
                <a:latin typeface="Space Grotesk SemiBold"/>
                <a:ea typeface="Space Grotesk SemiBold"/>
                <a:cs typeface="Space Grotesk SemiBold"/>
                <a:sym typeface="Space Grotesk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pic>
        <p:nvPicPr>
          <p:cNvPr id="99" name="Google Shape;99;p16"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
        <p:nvSpPr>
          <p:cNvPr id="100" name="Google Shape;100;p16"/>
          <p:cNvSpPr txBox="1"/>
          <p:nvPr>
            <p:ph idx="12" type="sldNum"/>
          </p:nvPr>
        </p:nvSpPr>
        <p:spPr>
          <a:xfrm>
            <a:off x="8728887" y="4883719"/>
            <a:ext cx="248700" cy="111900"/>
          </a:xfrm>
          <a:prstGeom prst="rect">
            <a:avLst/>
          </a:prstGeom>
          <a:noFill/>
          <a:ln>
            <a:noFill/>
          </a:ln>
        </p:spPr>
        <p:txBody>
          <a:bodyPr anchorCtr="0" anchor="b" bIns="0" lIns="0" spcFirstLastPara="1" rIns="0" wrap="square" tIns="0">
            <a:noAutofit/>
          </a:bodyPr>
          <a:lstStyle>
            <a:lvl1pPr indent="0" lvl="0"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1pPr>
            <a:lvl2pPr indent="0" lvl="1"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2pPr>
            <a:lvl3pPr indent="0" lvl="2"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3pPr>
            <a:lvl4pPr indent="0" lvl="3"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4pPr>
            <a:lvl5pPr indent="0" lvl="4"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5pPr>
            <a:lvl6pPr indent="0" lvl="5"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6pPr>
            <a:lvl7pPr indent="0" lvl="6"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7pPr>
            <a:lvl8pPr indent="0" lvl="7"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8pPr>
            <a:lvl9pPr indent="0" lvl="8" marL="0" marR="0">
              <a:lnSpc>
                <a:spcPct val="100000"/>
              </a:lnSpc>
              <a:spcBef>
                <a:spcPts val="0"/>
              </a:spcBef>
              <a:spcAft>
                <a:spcPts val="0"/>
              </a:spcAft>
              <a:buClr>
                <a:srgbClr val="000000"/>
              </a:buClr>
              <a:buSzPts val="700"/>
              <a:buFont typeface="Arial"/>
              <a:buNone/>
              <a:defRPr b="0" i="0" sz="700" u="none" cap="none" strike="noStrike">
                <a:solidFill>
                  <a:srgbClr val="888888"/>
                </a:solidFill>
                <a:latin typeface="Montserrat Medium"/>
                <a:ea typeface="Montserrat Medium"/>
                <a:cs typeface="Montserrat Medium"/>
                <a:sym typeface="Montserrat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01" name="Shape 101"/>
        <p:cNvGrpSpPr/>
        <p:nvPr/>
      </p:nvGrpSpPr>
      <p:grpSpPr>
        <a:xfrm>
          <a:off x="0" y="0"/>
          <a:ext cx="0" cy="0"/>
          <a:chOff x="0" y="0"/>
          <a:chExt cx="0" cy="0"/>
        </a:xfrm>
      </p:grpSpPr>
      <p:sp>
        <p:nvSpPr>
          <p:cNvPr id="102" name="Google Shape;102;p17"/>
          <p:cNvSpPr txBox="1"/>
          <p:nvPr>
            <p:ph idx="12" type="sldNum"/>
          </p:nvPr>
        </p:nvSpPr>
        <p:spPr>
          <a:xfrm>
            <a:off x="8518383" y="4749892"/>
            <a:ext cx="548700" cy="393600"/>
          </a:xfrm>
          <a:prstGeom prst="rect">
            <a:avLst/>
          </a:prstGeom>
        </p:spPr>
        <p:txBody>
          <a:bodyPr anchorCtr="0" anchor="ctr" bIns="91425" lIns="91425" spcFirstLastPara="1" rIns="91425" wrap="square" tIns="91425">
            <a:normAutofit/>
          </a:bodyPr>
          <a:lstStyle>
            <a:lvl1pPr lvl="0">
              <a:buNone/>
              <a:defRPr sz="700">
                <a:latin typeface="Space Grotesk"/>
                <a:ea typeface="Space Grotesk"/>
                <a:cs typeface="Space Grotesk"/>
                <a:sym typeface="Space Grotesk"/>
              </a:defRPr>
            </a:lvl1pPr>
            <a:lvl2pPr lvl="1">
              <a:buNone/>
              <a:defRPr sz="700">
                <a:latin typeface="Space Grotesk"/>
                <a:ea typeface="Space Grotesk"/>
                <a:cs typeface="Space Grotesk"/>
                <a:sym typeface="Space Grotesk"/>
              </a:defRPr>
            </a:lvl2pPr>
            <a:lvl3pPr lvl="2">
              <a:buNone/>
              <a:defRPr sz="700">
                <a:latin typeface="Space Grotesk"/>
                <a:ea typeface="Space Grotesk"/>
                <a:cs typeface="Space Grotesk"/>
                <a:sym typeface="Space Grotesk"/>
              </a:defRPr>
            </a:lvl3pPr>
            <a:lvl4pPr lvl="3">
              <a:buNone/>
              <a:defRPr sz="700">
                <a:latin typeface="Space Grotesk"/>
                <a:ea typeface="Space Grotesk"/>
                <a:cs typeface="Space Grotesk"/>
                <a:sym typeface="Space Grotesk"/>
              </a:defRPr>
            </a:lvl4pPr>
            <a:lvl5pPr lvl="4">
              <a:buNone/>
              <a:defRPr sz="700">
                <a:latin typeface="Space Grotesk"/>
                <a:ea typeface="Space Grotesk"/>
                <a:cs typeface="Space Grotesk"/>
                <a:sym typeface="Space Grotesk"/>
              </a:defRPr>
            </a:lvl5pPr>
            <a:lvl6pPr lvl="5">
              <a:buNone/>
              <a:defRPr sz="700">
                <a:latin typeface="Space Grotesk"/>
                <a:ea typeface="Space Grotesk"/>
                <a:cs typeface="Space Grotesk"/>
                <a:sym typeface="Space Grotesk"/>
              </a:defRPr>
            </a:lvl6pPr>
            <a:lvl7pPr lvl="6">
              <a:buNone/>
              <a:defRPr sz="700">
                <a:latin typeface="Space Grotesk"/>
                <a:ea typeface="Space Grotesk"/>
                <a:cs typeface="Space Grotesk"/>
                <a:sym typeface="Space Grotesk"/>
              </a:defRPr>
            </a:lvl7pPr>
            <a:lvl8pPr lvl="7">
              <a:buNone/>
              <a:defRPr sz="700">
                <a:latin typeface="Space Grotesk"/>
                <a:ea typeface="Space Grotesk"/>
                <a:cs typeface="Space Grotesk"/>
                <a:sym typeface="Space Grotesk"/>
              </a:defRPr>
            </a:lvl8pPr>
            <a:lvl9pPr lvl="8">
              <a:buNone/>
              <a:defRPr sz="700">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pic>
        <p:nvPicPr>
          <p:cNvPr id="103" name="Google Shape;103;p17" title="logo-light-back.png"/>
          <p:cNvPicPr preferRelativeResize="0"/>
          <p:nvPr/>
        </p:nvPicPr>
        <p:blipFill>
          <a:blip r:embed="rId2">
            <a:alphaModFix/>
          </a:blip>
          <a:stretch>
            <a:fillRect/>
          </a:stretch>
        </p:blipFill>
        <p:spPr>
          <a:xfrm>
            <a:off x="7504148" y="173626"/>
            <a:ext cx="1443968" cy="341250"/>
          </a:xfrm>
          <a:prstGeom prst="rect">
            <a:avLst/>
          </a:prstGeom>
          <a:noFill/>
          <a:ln>
            <a:noFill/>
          </a:ln>
        </p:spPr>
      </p:pic>
      <p:sp>
        <p:nvSpPr>
          <p:cNvPr id="104" name="Google Shape;104;p17"/>
          <p:cNvSpPr txBox="1"/>
          <p:nvPr>
            <p:ph type="title"/>
          </p:nvPr>
        </p:nvSpPr>
        <p:spPr>
          <a:xfrm>
            <a:off x="-24300" y="-9750"/>
            <a:ext cx="7397100" cy="708000"/>
          </a:xfrm>
          <a:prstGeom prst="rect">
            <a:avLst/>
          </a:prstGeom>
          <a:noFill/>
          <a:ln>
            <a:noFill/>
          </a:ln>
        </p:spPr>
        <p:txBody>
          <a:bodyPr anchorCtr="0" anchor="ctr" bIns="91425" lIns="365750" spcFirstLastPara="1" rIns="91425" wrap="square" tIns="91425">
            <a:normAutofit/>
          </a:bodyPr>
          <a:lstStyle>
            <a:lvl1pPr lvl="0" algn="l">
              <a:lnSpc>
                <a:spcPct val="100000"/>
              </a:lnSpc>
              <a:spcBef>
                <a:spcPts val="0"/>
              </a:spcBef>
              <a:spcAft>
                <a:spcPts val="0"/>
              </a:spcAft>
              <a:buClr>
                <a:srgbClr val="04053E"/>
              </a:buClr>
              <a:buSzPts val="2400"/>
              <a:buFont typeface="Space Grotesk SemiBold"/>
              <a:buNone/>
              <a:defRPr b="0" sz="2400">
                <a:solidFill>
                  <a:srgbClr val="04053E"/>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Clr>
                <a:srgbClr val="04053E"/>
              </a:buClr>
              <a:buSzPts val="3000"/>
              <a:buNone/>
              <a:defRPr>
                <a:solidFill>
                  <a:srgbClr val="04053E"/>
                </a:solidFill>
              </a:defRPr>
            </a:lvl2pPr>
            <a:lvl3pPr lvl="2" algn="l">
              <a:lnSpc>
                <a:spcPct val="100000"/>
              </a:lnSpc>
              <a:spcBef>
                <a:spcPts val="0"/>
              </a:spcBef>
              <a:spcAft>
                <a:spcPts val="0"/>
              </a:spcAft>
              <a:buClr>
                <a:srgbClr val="04053E"/>
              </a:buClr>
              <a:buSzPts val="3000"/>
              <a:buNone/>
              <a:defRPr>
                <a:solidFill>
                  <a:srgbClr val="04053E"/>
                </a:solidFill>
              </a:defRPr>
            </a:lvl3pPr>
            <a:lvl4pPr lvl="3" algn="l">
              <a:lnSpc>
                <a:spcPct val="100000"/>
              </a:lnSpc>
              <a:spcBef>
                <a:spcPts val="0"/>
              </a:spcBef>
              <a:spcAft>
                <a:spcPts val="0"/>
              </a:spcAft>
              <a:buClr>
                <a:srgbClr val="04053E"/>
              </a:buClr>
              <a:buSzPts val="3000"/>
              <a:buNone/>
              <a:defRPr>
                <a:solidFill>
                  <a:srgbClr val="04053E"/>
                </a:solidFill>
              </a:defRPr>
            </a:lvl4pPr>
            <a:lvl5pPr lvl="4" algn="l">
              <a:lnSpc>
                <a:spcPct val="100000"/>
              </a:lnSpc>
              <a:spcBef>
                <a:spcPts val="0"/>
              </a:spcBef>
              <a:spcAft>
                <a:spcPts val="0"/>
              </a:spcAft>
              <a:buClr>
                <a:srgbClr val="04053E"/>
              </a:buClr>
              <a:buSzPts val="3000"/>
              <a:buNone/>
              <a:defRPr>
                <a:solidFill>
                  <a:srgbClr val="04053E"/>
                </a:solidFill>
              </a:defRPr>
            </a:lvl5pPr>
            <a:lvl6pPr lvl="5" algn="l">
              <a:lnSpc>
                <a:spcPct val="100000"/>
              </a:lnSpc>
              <a:spcBef>
                <a:spcPts val="0"/>
              </a:spcBef>
              <a:spcAft>
                <a:spcPts val="0"/>
              </a:spcAft>
              <a:buClr>
                <a:srgbClr val="04053E"/>
              </a:buClr>
              <a:buSzPts val="3000"/>
              <a:buNone/>
              <a:defRPr>
                <a:solidFill>
                  <a:srgbClr val="04053E"/>
                </a:solidFill>
              </a:defRPr>
            </a:lvl6pPr>
            <a:lvl7pPr lvl="6" algn="l">
              <a:lnSpc>
                <a:spcPct val="100000"/>
              </a:lnSpc>
              <a:spcBef>
                <a:spcPts val="0"/>
              </a:spcBef>
              <a:spcAft>
                <a:spcPts val="0"/>
              </a:spcAft>
              <a:buClr>
                <a:srgbClr val="04053E"/>
              </a:buClr>
              <a:buSzPts val="3000"/>
              <a:buNone/>
              <a:defRPr>
                <a:solidFill>
                  <a:srgbClr val="04053E"/>
                </a:solidFill>
              </a:defRPr>
            </a:lvl7pPr>
            <a:lvl8pPr lvl="7" algn="l">
              <a:lnSpc>
                <a:spcPct val="100000"/>
              </a:lnSpc>
              <a:spcBef>
                <a:spcPts val="0"/>
              </a:spcBef>
              <a:spcAft>
                <a:spcPts val="0"/>
              </a:spcAft>
              <a:buClr>
                <a:srgbClr val="04053E"/>
              </a:buClr>
              <a:buSzPts val="3000"/>
              <a:buNone/>
              <a:defRPr>
                <a:solidFill>
                  <a:srgbClr val="04053E"/>
                </a:solidFill>
              </a:defRPr>
            </a:lvl8pPr>
            <a:lvl9pPr lvl="8" algn="l">
              <a:lnSpc>
                <a:spcPct val="100000"/>
              </a:lnSpc>
              <a:spcBef>
                <a:spcPts val="0"/>
              </a:spcBef>
              <a:spcAft>
                <a:spcPts val="0"/>
              </a:spcAft>
              <a:buClr>
                <a:srgbClr val="04053E"/>
              </a:buClr>
              <a:buSzPts val="3000"/>
              <a:buNone/>
              <a:defRPr>
                <a:solidFill>
                  <a:srgbClr val="04053E"/>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Lst>
  <p:transition spd="med">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0.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31.png"/><Relationship Id="rId9" Type="http://schemas.openxmlformats.org/officeDocument/2006/relationships/image" Target="../media/image23.png"/><Relationship Id="rId10" Type="http://schemas.openxmlformats.org/officeDocument/2006/relationships/hyperlink" Target="https://kubearmor.io/" TargetMode="External"/><Relationship Id="rId11" Type="http://schemas.openxmlformats.org/officeDocument/2006/relationships/image" Target="../media/image25.png"/><Relationship Id="rId12" Type="http://schemas.openxmlformats.org/officeDocument/2006/relationships/hyperlink" Target="https://amzn.in/d/2SWySkD" TargetMode="External"/><Relationship Id="rId13" Type="http://schemas.openxmlformats.org/officeDocument/2006/relationships/image" Target="../media/image29.png"/><Relationship Id="rId14" Type="http://schemas.openxmlformats.org/officeDocument/2006/relationships/image" Target="../media/image55.png"/><Relationship Id="rId15" Type="http://schemas.openxmlformats.org/officeDocument/2006/relationships/image" Target="../media/image32.png"/><Relationship Id="rId16" Type="http://schemas.openxmlformats.org/officeDocument/2006/relationships/image" Target="../media/image28.png"/><Relationship Id="rId17" Type="http://schemas.openxmlformats.org/officeDocument/2006/relationships/image" Target="../media/image36.png"/><Relationship Id="rId18" Type="http://schemas.openxmlformats.org/officeDocument/2006/relationships/image" Target="../media/image43.png"/><Relationship Id="rId19" Type="http://schemas.openxmlformats.org/officeDocument/2006/relationships/image" Target="../media/image41.png"/><Relationship Id="rId20" Type="http://schemas.openxmlformats.org/officeDocument/2006/relationships/image" Target="../media/image45.png"/><Relationship Id="rId21" Type="http://schemas.openxmlformats.org/officeDocument/2006/relationships/image" Target="../media/image40.png"/><Relationship Id="rId22" Type="http://schemas.openxmlformats.org/officeDocument/2006/relationships/image" Target="../media/image37.png"/><Relationship Id="rId23" Type="http://schemas.openxmlformats.org/officeDocument/2006/relationships/image" Target="../media/image39.png"/><Relationship Id="rId24" Type="http://schemas.openxmlformats.org/officeDocument/2006/relationships/image" Target="../media/image42.png"/><Relationship Id="rId25" Type="http://schemas.openxmlformats.org/officeDocument/2006/relationships/image" Target="../media/image38.png"/><Relationship Id="rId26" Type="http://schemas.openxmlformats.org/officeDocument/2006/relationships/image" Target="../media/image44.png"/><Relationship Id="rId27" Type="http://schemas.openxmlformats.org/officeDocument/2006/relationships/image" Target="../media/image52.png"/><Relationship Id="rId28" Type="http://schemas.openxmlformats.org/officeDocument/2006/relationships/image" Target="../media/image47.png"/><Relationship Id="rId29" Type="http://schemas.openxmlformats.org/officeDocument/2006/relationships/image" Target="../media/image48.png"/><Relationship Id="rId30" Type="http://schemas.openxmlformats.org/officeDocument/2006/relationships/image" Target="../media/image46.png"/><Relationship Id="rId31" Type="http://schemas.openxmlformats.org/officeDocument/2006/relationships/image" Target="../media/image51.png"/><Relationship Id="rId32" Type="http://schemas.openxmlformats.org/officeDocument/2006/relationships/image" Target="../media/image5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5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4.png"/><Relationship Id="rId4" Type="http://schemas.openxmlformats.org/officeDocument/2006/relationships/image" Target="../media/image49.png"/><Relationship Id="rId5" Type="http://schemas.openxmlformats.org/officeDocument/2006/relationships/image" Target="../media/image57.png"/><Relationship Id="rId6" Type="http://schemas.openxmlformats.org/officeDocument/2006/relationships/image" Target="../media/image80.png"/><Relationship Id="rId7" Type="http://schemas.openxmlformats.org/officeDocument/2006/relationships/image" Target="../media/image76.png"/><Relationship Id="rId8" Type="http://schemas.openxmlformats.org/officeDocument/2006/relationships/image" Target="../media/image56.png"/><Relationship Id="rId9" Type="http://schemas.openxmlformats.org/officeDocument/2006/relationships/image" Target="../media/image69.png"/><Relationship Id="rId10" Type="http://schemas.openxmlformats.org/officeDocument/2006/relationships/image" Target="../media/image60.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image" Target="../media/image61.png"/><Relationship Id="rId14" Type="http://schemas.openxmlformats.org/officeDocument/2006/relationships/image" Target="../media/image101.png"/><Relationship Id="rId15" Type="http://schemas.openxmlformats.org/officeDocument/2006/relationships/image" Target="../media/image62.png"/><Relationship Id="rId16" Type="http://schemas.openxmlformats.org/officeDocument/2006/relationships/image" Target="../media/image63.png"/><Relationship Id="rId17" Type="http://schemas.openxmlformats.org/officeDocument/2006/relationships/image" Target="../media/image64.png"/><Relationship Id="rId18" Type="http://schemas.openxmlformats.org/officeDocument/2006/relationships/image" Target="../media/image73.png"/><Relationship Id="rId19" Type="http://schemas.openxmlformats.org/officeDocument/2006/relationships/image" Target="../media/image65.png"/><Relationship Id="rId20" Type="http://schemas.openxmlformats.org/officeDocument/2006/relationships/image" Target="../media/image68.png"/><Relationship Id="rId21" Type="http://schemas.openxmlformats.org/officeDocument/2006/relationships/image" Target="../media/image67.png"/><Relationship Id="rId22" Type="http://schemas.openxmlformats.org/officeDocument/2006/relationships/image" Target="../media/image71.png"/><Relationship Id="rId23" Type="http://schemas.openxmlformats.org/officeDocument/2006/relationships/image" Target="../media/image70.png"/><Relationship Id="rId24" Type="http://schemas.openxmlformats.org/officeDocument/2006/relationships/image" Target="../media/image78.png"/><Relationship Id="rId25" Type="http://schemas.openxmlformats.org/officeDocument/2006/relationships/image" Target="../media/image72.png"/><Relationship Id="rId26" Type="http://schemas.openxmlformats.org/officeDocument/2006/relationships/image" Target="../media/image66.png"/><Relationship Id="rId27" Type="http://schemas.openxmlformats.org/officeDocument/2006/relationships/image" Target="../media/image88.png"/><Relationship Id="rId28" Type="http://schemas.openxmlformats.org/officeDocument/2006/relationships/image" Target="../media/image75.png"/><Relationship Id="rId29" Type="http://schemas.openxmlformats.org/officeDocument/2006/relationships/image" Target="../media/image77.png"/><Relationship Id="rId30" Type="http://schemas.openxmlformats.org/officeDocument/2006/relationships/image" Target="../media/image84.png"/><Relationship Id="rId31" Type="http://schemas.openxmlformats.org/officeDocument/2006/relationships/image" Target="../media/image79.png"/><Relationship Id="rId32" Type="http://schemas.openxmlformats.org/officeDocument/2006/relationships/image" Target="../media/image87.png"/><Relationship Id="rId33" Type="http://schemas.openxmlformats.org/officeDocument/2006/relationships/image" Target="../media/image81.png"/><Relationship Id="rId34" Type="http://schemas.openxmlformats.org/officeDocument/2006/relationships/image" Target="../media/image85.png"/><Relationship Id="rId35" Type="http://schemas.openxmlformats.org/officeDocument/2006/relationships/image" Target="../media/image92.png"/><Relationship Id="rId36" Type="http://schemas.openxmlformats.org/officeDocument/2006/relationships/image" Target="../media/image8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s://docs.google.com/presentation/d/1DPFx4Sg9RwZSrFSAxYBeIsp6eW9jfTR-ZI5xhbch4_E/edit?slide=id.g3e6bcde1708_0_2282#slide=id.g3e6bcde1708_0_228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3.png"/><Relationship Id="rId4" Type="http://schemas.openxmlformats.org/officeDocument/2006/relationships/image" Target="../media/image74.png"/><Relationship Id="rId5" Type="http://schemas.openxmlformats.org/officeDocument/2006/relationships/image" Target="../media/image86.png"/><Relationship Id="rId6" Type="http://schemas.openxmlformats.org/officeDocument/2006/relationships/image" Target="../media/image94.png"/><Relationship Id="rId7" Type="http://schemas.openxmlformats.org/officeDocument/2006/relationships/image" Target="../media/image89.png"/><Relationship Id="rId8" Type="http://schemas.openxmlformats.org/officeDocument/2006/relationships/image" Target="../media/image103.png"/><Relationship Id="rId9" Type="http://schemas.openxmlformats.org/officeDocument/2006/relationships/image" Target="../media/image90.png"/><Relationship Id="rId10" Type="http://schemas.openxmlformats.org/officeDocument/2006/relationships/image" Target="../media/image110.png"/><Relationship Id="rId11" Type="http://schemas.openxmlformats.org/officeDocument/2006/relationships/image" Target="../media/image96.png"/><Relationship Id="rId12" Type="http://schemas.openxmlformats.org/officeDocument/2006/relationships/image" Target="../media/image95.png"/><Relationship Id="rId13" Type="http://schemas.openxmlformats.org/officeDocument/2006/relationships/image" Target="../media/image99.png"/><Relationship Id="rId14" Type="http://schemas.openxmlformats.org/officeDocument/2006/relationships/image" Target="../media/image144.png"/><Relationship Id="rId15" Type="http://schemas.openxmlformats.org/officeDocument/2006/relationships/image" Target="../media/image98.png"/><Relationship Id="rId16" Type="http://schemas.openxmlformats.org/officeDocument/2006/relationships/image" Target="../media/image97.png"/><Relationship Id="rId17" Type="http://schemas.openxmlformats.org/officeDocument/2006/relationships/image" Target="../media/image104.png"/><Relationship Id="rId18" Type="http://schemas.openxmlformats.org/officeDocument/2006/relationships/image" Target="../media/image102.png"/><Relationship Id="rId19" Type="http://schemas.openxmlformats.org/officeDocument/2006/relationships/image" Target="../media/image115.png"/><Relationship Id="rId20" Type="http://schemas.openxmlformats.org/officeDocument/2006/relationships/image" Target="../media/image93.png"/><Relationship Id="rId21" Type="http://schemas.openxmlformats.org/officeDocument/2006/relationships/image" Target="../media/image100.png"/><Relationship Id="rId22" Type="http://schemas.openxmlformats.org/officeDocument/2006/relationships/image" Target="../media/image116.png"/><Relationship Id="rId23" Type="http://schemas.openxmlformats.org/officeDocument/2006/relationships/image" Target="../media/image91.png"/><Relationship Id="rId24" Type="http://schemas.openxmlformats.org/officeDocument/2006/relationships/image" Target="../media/image114.png"/><Relationship Id="rId25" Type="http://schemas.openxmlformats.org/officeDocument/2006/relationships/image" Target="../media/image107.png"/><Relationship Id="rId26" Type="http://schemas.openxmlformats.org/officeDocument/2006/relationships/image" Target="../media/image113.png"/><Relationship Id="rId27" Type="http://schemas.openxmlformats.org/officeDocument/2006/relationships/image" Target="../media/image124.png"/><Relationship Id="rId28" Type="http://schemas.openxmlformats.org/officeDocument/2006/relationships/image" Target="../media/image105.png"/><Relationship Id="rId29" Type="http://schemas.openxmlformats.org/officeDocument/2006/relationships/image" Target="../media/image108.png"/><Relationship Id="rId30" Type="http://schemas.openxmlformats.org/officeDocument/2006/relationships/image" Target="../media/image111.png"/><Relationship Id="rId31" Type="http://schemas.openxmlformats.org/officeDocument/2006/relationships/image" Target="../media/image128.png"/><Relationship Id="rId32" Type="http://schemas.openxmlformats.org/officeDocument/2006/relationships/image" Target="../media/image134.png"/><Relationship Id="rId33" Type="http://schemas.openxmlformats.org/officeDocument/2006/relationships/image" Target="../media/image121.png"/><Relationship Id="rId34" Type="http://schemas.openxmlformats.org/officeDocument/2006/relationships/image" Target="../media/image150.png"/><Relationship Id="rId35" Type="http://schemas.openxmlformats.org/officeDocument/2006/relationships/image" Target="../media/image123.png"/><Relationship Id="rId36" Type="http://schemas.openxmlformats.org/officeDocument/2006/relationships/image" Target="../media/image106.png"/><Relationship Id="rId37" Type="http://schemas.openxmlformats.org/officeDocument/2006/relationships/image" Target="../media/image109.png"/><Relationship Id="rId38" Type="http://schemas.openxmlformats.org/officeDocument/2006/relationships/image" Target="../media/image112.png"/><Relationship Id="rId39" Type="http://schemas.openxmlformats.org/officeDocument/2006/relationships/image" Target="../media/image132.png"/><Relationship Id="rId40" Type="http://schemas.openxmlformats.org/officeDocument/2006/relationships/image" Target="../media/image126.png"/><Relationship Id="rId41" Type="http://schemas.openxmlformats.org/officeDocument/2006/relationships/image" Target="../media/image127.png"/><Relationship Id="rId42" Type="http://schemas.openxmlformats.org/officeDocument/2006/relationships/image" Target="../media/image119.png"/><Relationship Id="rId43" Type="http://schemas.openxmlformats.org/officeDocument/2006/relationships/image" Target="../media/image137.png"/><Relationship Id="rId44" Type="http://schemas.openxmlformats.org/officeDocument/2006/relationships/image" Target="../media/image117.png"/><Relationship Id="rId45" Type="http://schemas.openxmlformats.org/officeDocument/2006/relationships/image" Target="../media/image125.png"/><Relationship Id="rId46" Type="http://schemas.openxmlformats.org/officeDocument/2006/relationships/image" Target="../media/image120.png"/><Relationship Id="rId47" Type="http://schemas.openxmlformats.org/officeDocument/2006/relationships/image" Target="../media/image118.png"/><Relationship Id="rId48" Type="http://schemas.openxmlformats.org/officeDocument/2006/relationships/image" Target="../media/image138.png"/><Relationship Id="rId49" Type="http://schemas.openxmlformats.org/officeDocument/2006/relationships/image" Target="../media/image122.png"/><Relationship Id="rId50" Type="http://schemas.openxmlformats.org/officeDocument/2006/relationships/image" Target="../media/image136.png"/><Relationship Id="rId51" Type="http://schemas.openxmlformats.org/officeDocument/2006/relationships/image" Target="../media/image156.png"/><Relationship Id="rId52" Type="http://schemas.openxmlformats.org/officeDocument/2006/relationships/image" Target="../media/image140.png"/><Relationship Id="rId53" Type="http://schemas.openxmlformats.org/officeDocument/2006/relationships/image" Target="../media/image131.png"/><Relationship Id="rId54" Type="http://schemas.openxmlformats.org/officeDocument/2006/relationships/image" Target="../media/image129.png"/><Relationship Id="rId55" Type="http://schemas.openxmlformats.org/officeDocument/2006/relationships/image" Target="../media/image167.png"/><Relationship Id="rId56" Type="http://schemas.openxmlformats.org/officeDocument/2006/relationships/image" Target="../media/image141.png"/><Relationship Id="rId57" Type="http://schemas.openxmlformats.org/officeDocument/2006/relationships/image" Target="../media/image160.png"/><Relationship Id="rId58" Type="http://schemas.openxmlformats.org/officeDocument/2006/relationships/image" Target="../media/image130.png"/><Relationship Id="rId59" Type="http://schemas.openxmlformats.org/officeDocument/2006/relationships/image" Target="../media/image133.png"/><Relationship Id="rId60" Type="http://schemas.openxmlformats.org/officeDocument/2006/relationships/image" Target="../media/image149.png"/><Relationship Id="rId61" Type="http://schemas.openxmlformats.org/officeDocument/2006/relationships/image" Target="../media/image135.png"/><Relationship Id="rId62" Type="http://schemas.openxmlformats.org/officeDocument/2006/relationships/image" Target="../media/image158.png"/><Relationship Id="rId63" Type="http://schemas.openxmlformats.org/officeDocument/2006/relationships/image" Target="../media/image139.png"/><Relationship Id="rId64" Type="http://schemas.openxmlformats.org/officeDocument/2006/relationships/image" Target="../media/image162.png"/><Relationship Id="rId65" Type="http://schemas.openxmlformats.org/officeDocument/2006/relationships/image" Target="../media/image143.png"/><Relationship Id="rId66" Type="http://schemas.openxmlformats.org/officeDocument/2006/relationships/image" Target="../media/image164.png"/><Relationship Id="rId67" Type="http://schemas.openxmlformats.org/officeDocument/2006/relationships/image" Target="../media/image152.png"/><Relationship Id="rId68" Type="http://schemas.openxmlformats.org/officeDocument/2006/relationships/image" Target="../media/image163.png"/><Relationship Id="rId69" Type="http://schemas.openxmlformats.org/officeDocument/2006/relationships/image" Target="../media/image147.png"/><Relationship Id="rId70" Type="http://schemas.openxmlformats.org/officeDocument/2006/relationships/image" Target="../media/image142.png"/><Relationship Id="rId71" Type="http://schemas.openxmlformats.org/officeDocument/2006/relationships/image" Target="../media/image146.png"/><Relationship Id="rId72" Type="http://schemas.openxmlformats.org/officeDocument/2006/relationships/image" Target="../media/image186.png"/><Relationship Id="rId73" Type="http://schemas.openxmlformats.org/officeDocument/2006/relationships/image" Target="../media/image145.png"/><Relationship Id="rId74" Type="http://schemas.openxmlformats.org/officeDocument/2006/relationships/image" Target="../media/image148.png"/><Relationship Id="rId75" Type="http://schemas.openxmlformats.org/officeDocument/2006/relationships/image" Target="../media/image169.png"/><Relationship Id="rId76" Type="http://schemas.openxmlformats.org/officeDocument/2006/relationships/image" Target="../media/image161.png"/><Relationship Id="rId77" Type="http://schemas.openxmlformats.org/officeDocument/2006/relationships/image" Target="../media/image182.png"/><Relationship Id="rId78" Type="http://schemas.openxmlformats.org/officeDocument/2006/relationships/image" Target="../media/image151.png"/><Relationship Id="rId79" Type="http://schemas.openxmlformats.org/officeDocument/2006/relationships/image" Target="../media/image171.png"/><Relationship Id="rId80" Type="http://schemas.openxmlformats.org/officeDocument/2006/relationships/image" Target="../media/image159.png"/><Relationship Id="rId81" Type="http://schemas.openxmlformats.org/officeDocument/2006/relationships/image" Target="../media/image153.png"/><Relationship Id="rId82" Type="http://schemas.openxmlformats.org/officeDocument/2006/relationships/image" Target="../media/image175.png"/><Relationship Id="rId83" Type="http://schemas.openxmlformats.org/officeDocument/2006/relationships/image" Target="../media/image154.png"/><Relationship Id="rId84" Type="http://schemas.openxmlformats.org/officeDocument/2006/relationships/image" Target="../media/image168.png"/><Relationship Id="rId85" Type="http://schemas.openxmlformats.org/officeDocument/2006/relationships/image" Target="../media/image155.png"/><Relationship Id="rId86" Type="http://schemas.openxmlformats.org/officeDocument/2006/relationships/image" Target="../media/image157.png"/><Relationship Id="rId87" Type="http://schemas.openxmlformats.org/officeDocument/2006/relationships/image" Target="../media/image196.png"/><Relationship Id="rId88" Type="http://schemas.openxmlformats.org/officeDocument/2006/relationships/image" Target="../media/image178.png"/><Relationship Id="rId89" Type="http://schemas.openxmlformats.org/officeDocument/2006/relationships/image" Target="../media/image166.png"/><Relationship Id="rId90" Type="http://schemas.openxmlformats.org/officeDocument/2006/relationships/image" Target="../media/image174.png"/><Relationship Id="rId91" Type="http://schemas.openxmlformats.org/officeDocument/2006/relationships/image" Target="../media/image170.png"/><Relationship Id="rId92" Type="http://schemas.openxmlformats.org/officeDocument/2006/relationships/image" Target="../media/image176.png"/><Relationship Id="rId93" Type="http://schemas.openxmlformats.org/officeDocument/2006/relationships/image" Target="../media/image173.png"/><Relationship Id="rId94" Type="http://schemas.openxmlformats.org/officeDocument/2006/relationships/image" Target="../media/image195.png"/><Relationship Id="rId95" Type="http://schemas.openxmlformats.org/officeDocument/2006/relationships/image" Target="../media/image180.png"/><Relationship Id="rId96" Type="http://schemas.openxmlformats.org/officeDocument/2006/relationships/image" Target="../media/image181.png"/><Relationship Id="rId97" Type="http://schemas.openxmlformats.org/officeDocument/2006/relationships/image" Target="../media/image165.png"/><Relationship Id="rId98" Type="http://schemas.openxmlformats.org/officeDocument/2006/relationships/image" Target="../media/image185.png"/><Relationship Id="rId99" Type="http://schemas.openxmlformats.org/officeDocument/2006/relationships/image" Target="../media/image190.png"/><Relationship Id="rId100" Type="http://schemas.openxmlformats.org/officeDocument/2006/relationships/image" Target="../media/image172.png"/><Relationship Id="rId101" Type="http://schemas.openxmlformats.org/officeDocument/2006/relationships/image" Target="../media/image201.png"/><Relationship Id="rId102" Type="http://schemas.openxmlformats.org/officeDocument/2006/relationships/image" Target="../media/image194.png"/><Relationship Id="rId103" Type="http://schemas.openxmlformats.org/officeDocument/2006/relationships/image" Target="../media/image198.png"/><Relationship Id="rId104" Type="http://schemas.openxmlformats.org/officeDocument/2006/relationships/image" Target="../media/image184.png"/><Relationship Id="rId105" Type="http://schemas.openxmlformats.org/officeDocument/2006/relationships/image" Target="../media/image188.png"/><Relationship Id="rId106" Type="http://schemas.openxmlformats.org/officeDocument/2006/relationships/image" Target="../media/image200.png"/><Relationship Id="rId107" Type="http://schemas.openxmlformats.org/officeDocument/2006/relationships/image" Target="../media/image187.png"/><Relationship Id="rId108" Type="http://schemas.openxmlformats.org/officeDocument/2006/relationships/image" Target="../media/image179.png"/><Relationship Id="rId109" Type="http://schemas.openxmlformats.org/officeDocument/2006/relationships/image" Target="../media/image177.png"/><Relationship Id="rId110" Type="http://schemas.openxmlformats.org/officeDocument/2006/relationships/image" Target="../media/image204.png"/><Relationship Id="rId111" Type="http://schemas.openxmlformats.org/officeDocument/2006/relationships/image" Target="../media/image192.png"/><Relationship Id="rId112" Type="http://schemas.openxmlformats.org/officeDocument/2006/relationships/image" Target="../media/image183.png"/><Relationship Id="rId113" Type="http://schemas.openxmlformats.org/officeDocument/2006/relationships/image" Target="../media/image193.png"/><Relationship Id="rId114" Type="http://schemas.openxmlformats.org/officeDocument/2006/relationships/image" Target="../media/image199.png"/><Relationship Id="rId115" Type="http://schemas.openxmlformats.org/officeDocument/2006/relationships/image" Target="../media/image197.png"/><Relationship Id="rId116" Type="http://schemas.openxmlformats.org/officeDocument/2006/relationships/image" Target="../media/image189.png"/><Relationship Id="rId117" Type="http://schemas.openxmlformats.org/officeDocument/2006/relationships/image" Target="../media/image203.png"/><Relationship Id="rId118" Type="http://schemas.openxmlformats.org/officeDocument/2006/relationships/image" Target="../media/image19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0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692550" y="2110050"/>
            <a:ext cx="4499100" cy="5502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 Presentation Title ]</a:t>
            </a:r>
            <a:endParaRPr/>
          </a:p>
        </p:txBody>
      </p:sp>
      <p:sp>
        <p:nvSpPr>
          <p:cNvPr id="110" name="Google Shape;110;p18"/>
          <p:cNvSpPr txBox="1"/>
          <p:nvPr>
            <p:ph idx="2" type="title"/>
          </p:nvPr>
        </p:nvSpPr>
        <p:spPr>
          <a:xfrm>
            <a:off x="1878138" y="3005258"/>
            <a:ext cx="2127900" cy="45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 Date ]</a:t>
            </a:r>
            <a:endParaRPr/>
          </a:p>
        </p:txBody>
      </p:sp>
      <p:pic>
        <p:nvPicPr>
          <p:cNvPr id="111" name="Google Shape;111;p18" title="logo-dark-back.png"/>
          <p:cNvPicPr preferRelativeResize="0"/>
          <p:nvPr/>
        </p:nvPicPr>
        <p:blipFill>
          <a:blip r:embed="rId3">
            <a:alphaModFix/>
          </a:blip>
          <a:stretch>
            <a:fillRect/>
          </a:stretch>
        </p:blipFill>
        <p:spPr>
          <a:xfrm>
            <a:off x="256946" y="228811"/>
            <a:ext cx="1723174" cy="426750"/>
          </a:xfrm>
          <a:prstGeom prst="rect">
            <a:avLst/>
          </a:prstGeom>
          <a:noFill/>
          <a:ln>
            <a:noFill/>
          </a:ln>
        </p:spPr>
      </p:pic>
      <p:pic>
        <p:nvPicPr>
          <p:cNvPr id="112" name="Google Shape;112;p18"/>
          <p:cNvPicPr preferRelativeResize="0"/>
          <p:nvPr/>
        </p:nvPicPr>
        <p:blipFill>
          <a:blip r:embed="rId4">
            <a:alphaModFix/>
          </a:blip>
          <a:stretch>
            <a:fillRect/>
          </a:stretch>
        </p:blipFill>
        <p:spPr>
          <a:xfrm>
            <a:off x="1577977" y="1192800"/>
            <a:ext cx="2837425" cy="828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F"/>
        </a:solidFill>
      </p:bgPr>
    </p:bg>
    <p:spTree>
      <p:nvGrpSpPr>
        <p:cNvPr id="116" name="Shape 116"/>
        <p:cNvGrpSpPr/>
        <p:nvPr/>
      </p:nvGrpSpPr>
      <p:grpSpPr>
        <a:xfrm>
          <a:off x="0" y="0"/>
          <a:ext cx="0" cy="0"/>
          <a:chOff x="0" y="0"/>
          <a:chExt cx="0" cy="0"/>
        </a:xfrm>
      </p:grpSpPr>
      <p:sp>
        <p:nvSpPr>
          <p:cNvPr id="117" name="Google Shape;117;p19"/>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Outline</a:t>
            </a:r>
            <a:endParaRPr/>
          </a:p>
        </p:txBody>
      </p:sp>
      <p:sp>
        <p:nvSpPr>
          <p:cNvPr id="118" name="Google Shape;118;p19"/>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119" name="Google Shape;119;p19"/>
          <p:cNvSpPr/>
          <p:nvPr/>
        </p:nvSpPr>
        <p:spPr>
          <a:xfrm>
            <a:off x="1007075" y="1111427"/>
            <a:ext cx="635700" cy="6231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2400" u="none" cap="none" strike="noStrike">
                <a:solidFill>
                  <a:srgbClr val="FFFFFF"/>
                </a:solidFill>
                <a:latin typeface="Space Grotesk"/>
                <a:ea typeface="Space Grotesk"/>
                <a:cs typeface="Space Grotesk"/>
                <a:sym typeface="Space Grotesk"/>
              </a:rPr>
              <a:t>1</a:t>
            </a:r>
            <a:endParaRPr b="0" i="0" sz="2400" u="none" cap="none" strike="noStrike">
              <a:solidFill>
                <a:srgbClr val="FFFFFF"/>
              </a:solidFill>
              <a:latin typeface="Space Grotesk"/>
              <a:ea typeface="Space Grotesk"/>
              <a:cs typeface="Space Grotesk"/>
              <a:sym typeface="Space Grotesk"/>
            </a:endParaRPr>
          </a:p>
        </p:txBody>
      </p:sp>
      <p:sp>
        <p:nvSpPr>
          <p:cNvPr id="120" name="Google Shape;120;p19"/>
          <p:cNvSpPr/>
          <p:nvPr/>
        </p:nvSpPr>
        <p:spPr>
          <a:xfrm>
            <a:off x="1642775" y="1111425"/>
            <a:ext cx="5923800" cy="623100"/>
          </a:xfrm>
          <a:prstGeom prst="rect">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E3594"/>
                </a:solidFill>
                <a:latin typeface="Space Grotesk"/>
                <a:ea typeface="Space Grotesk"/>
                <a:cs typeface="Space Grotesk"/>
                <a:sym typeface="Space Grotesk"/>
              </a:rPr>
              <a:t>Platform Overview</a:t>
            </a:r>
            <a:endParaRPr b="1" i="0" sz="1400" u="none" cap="none" strike="noStrike">
              <a:solidFill>
                <a:srgbClr val="0E3594"/>
              </a:solidFill>
              <a:latin typeface="Space Grotesk"/>
              <a:ea typeface="Space Grotesk"/>
              <a:cs typeface="Space Grotesk"/>
              <a:sym typeface="Space Grotesk"/>
            </a:endParaRPr>
          </a:p>
        </p:txBody>
      </p:sp>
      <p:sp>
        <p:nvSpPr>
          <p:cNvPr id="121" name="Google Shape;121;p19"/>
          <p:cNvSpPr/>
          <p:nvPr/>
        </p:nvSpPr>
        <p:spPr>
          <a:xfrm>
            <a:off x="1007075" y="1869379"/>
            <a:ext cx="635700" cy="6231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2400" u="none" cap="none" strike="noStrike">
                <a:solidFill>
                  <a:srgbClr val="FFFFFF"/>
                </a:solidFill>
                <a:latin typeface="Space Grotesk"/>
                <a:ea typeface="Space Grotesk"/>
                <a:cs typeface="Space Grotesk"/>
                <a:sym typeface="Space Grotesk"/>
              </a:rPr>
              <a:t>2</a:t>
            </a:r>
            <a:endParaRPr b="1" i="0" sz="2400" u="none" cap="none" strike="noStrike">
              <a:solidFill>
                <a:srgbClr val="FFFFFF"/>
              </a:solidFill>
              <a:latin typeface="Space Grotesk"/>
              <a:ea typeface="Space Grotesk"/>
              <a:cs typeface="Space Grotesk"/>
              <a:sym typeface="Space Grotesk"/>
            </a:endParaRPr>
          </a:p>
        </p:txBody>
      </p:sp>
      <p:sp>
        <p:nvSpPr>
          <p:cNvPr id="122" name="Google Shape;122;p19"/>
          <p:cNvSpPr/>
          <p:nvPr/>
        </p:nvSpPr>
        <p:spPr>
          <a:xfrm>
            <a:off x="1642775" y="1869382"/>
            <a:ext cx="5923800" cy="623100"/>
          </a:xfrm>
          <a:prstGeom prst="rect">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E3594"/>
                </a:solidFill>
                <a:latin typeface="Space Grotesk"/>
                <a:ea typeface="Space Grotesk"/>
                <a:cs typeface="Space Grotesk"/>
                <a:sym typeface="Space Grotesk"/>
              </a:rPr>
              <a:t>Overall POC Execution Status</a:t>
            </a:r>
            <a:endParaRPr b="0" i="0" sz="1000" u="none" cap="none" strike="noStrike">
              <a:solidFill>
                <a:srgbClr val="0E3594"/>
              </a:solidFill>
              <a:latin typeface="Space Grotesk"/>
              <a:ea typeface="Space Grotesk"/>
              <a:cs typeface="Space Grotesk"/>
              <a:sym typeface="Space Grotesk"/>
            </a:endParaRPr>
          </a:p>
        </p:txBody>
      </p:sp>
      <p:sp>
        <p:nvSpPr>
          <p:cNvPr id="123" name="Google Shape;123;p19"/>
          <p:cNvSpPr/>
          <p:nvPr/>
        </p:nvSpPr>
        <p:spPr>
          <a:xfrm>
            <a:off x="1007075" y="2611169"/>
            <a:ext cx="635700" cy="6789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2400" u="none" cap="none" strike="noStrike">
                <a:solidFill>
                  <a:srgbClr val="FFFFFF"/>
                </a:solidFill>
                <a:latin typeface="Space Grotesk"/>
                <a:ea typeface="Space Grotesk"/>
                <a:cs typeface="Space Grotesk"/>
                <a:sym typeface="Space Grotesk"/>
              </a:rPr>
              <a:t>3</a:t>
            </a:r>
            <a:endParaRPr b="1" i="0" sz="2400" u="none" cap="none" strike="noStrike">
              <a:solidFill>
                <a:srgbClr val="FFFFFF"/>
              </a:solidFill>
              <a:latin typeface="Space Grotesk"/>
              <a:ea typeface="Space Grotesk"/>
              <a:cs typeface="Space Grotesk"/>
              <a:sym typeface="Space Grotesk"/>
            </a:endParaRPr>
          </a:p>
        </p:txBody>
      </p:sp>
      <p:sp>
        <p:nvSpPr>
          <p:cNvPr id="124" name="Google Shape;124;p19"/>
          <p:cNvSpPr/>
          <p:nvPr/>
        </p:nvSpPr>
        <p:spPr>
          <a:xfrm>
            <a:off x="1642775" y="2611177"/>
            <a:ext cx="5923800" cy="678900"/>
          </a:xfrm>
          <a:prstGeom prst="rect">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rgbClr val="0E3594"/>
                </a:solidFill>
                <a:latin typeface="Space Grotesk"/>
                <a:ea typeface="Space Grotesk"/>
                <a:cs typeface="Space Grotesk"/>
                <a:sym typeface="Space Grotesk"/>
              </a:rPr>
              <a:t> Top 3  Business Use Cases for Danube</a:t>
            </a:r>
            <a:endParaRPr b="1" i="0" sz="1400" u="none" cap="none" strike="noStrike">
              <a:solidFill>
                <a:srgbClr val="0E3594"/>
              </a:solidFill>
              <a:latin typeface="Space Grotesk"/>
              <a:ea typeface="Space Grotesk"/>
              <a:cs typeface="Space Grotesk"/>
              <a:sym typeface="Space Grotesk"/>
            </a:endParaRPr>
          </a:p>
        </p:txBody>
      </p:sp>
      <p:sp>
        <p:nvSpPr>
          <p:cNvPr id="125" name="Google Shape;125;p19"/>
          <p:cNvSpPr/>
          <p:nvPr/>
        </p:nvSpPr>
        <p:spPr>
          <a:xfrm>
            <a:off x="1007075" y="3408972"/>
            <a:ext cx="635700" cy="6231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2400" u="none" cap="none" strike="noStrike">
                <a:solidFill>
                  <a:srgbClr val="FFFFFF"/>
                </a:solidFill>
                <a:latin typeface="Space Grotesk"/>
                <a:ea typeface="Space Grotesk"/>
                <a:cs typeface="Space Grotesk"/>
                <a:sym typeface="Space Grotesk"/>
              </a:rPr>
              <a:t>4</a:t>
            </a:r>
            <a:endParaRPr b="1" i="0" sz="2400" u="none" cap="none" strike="noStrike">
              <a:solidFill>
                <a:srgbClr val="FFFFFF"/>
              </a:solidFill>
              <a:latin typeface="Space Grotesk"/>
              <a:ea typeface="Space Grotesk"/>
              <a:cs typeface="Space Grotesk"/>
              <a:sym typeface="Space Grotesk"/>
            </a:endParaRPr>
          </a:p>
        </p:txBody>
      </p:sp>
      <p:sp>
        <p:nvSpPr>
          <p:cNvPr id="126" name="Google Shape;126;p19"/>
          <p:cNvSpPr/>
          <p:nvPr/>
        </p:nvSpPr>
        <p:spPr>
          <a:xfrm>
            <a:off x="1642775" y="3408970"/>
            <a:ext cx="5923800" cy="623100"/>
          </a:xfrm>
          <a:prstGeom prst="rect">
            <a:avLst/>
          </a:prstGeom>
          <a:solidFill>
            <a:srgbClr val="FFFFFF"/>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E3594"/>
                </a:solidFill>
                <a:latin typeface="Space Grotesk"/>
                <a:ea typeface="Space Grotesk"/>
                <a:cs typeface="Space Grotesk"/>
                <a:sym typeface="Space Grotesk"/>
              </a:rPr>
              <a:t>AccuKnox Product Roadmap </a:t>
            </a:r>
            <a:endParaRPr b="1" i="0" sz="1400" u="none" cap="none" strike="noStrike">
              <a:solidFill>
                <a:srgbClr val="0E3594"/>
              </a:solidFill>
              <a:latin typeface="Space Grotesk"/>
              <a:ea typeface="Space Grotesk"/>
              <a:cs typeface="Space Grotesk"/>
              <a:sym typeface="Space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About AccuKnox</a:t>
            </a:r>
            <a:endParaRPr/>
          </a:p>
        </p:txBody>
      </p:sp>
      <p:sp>
        <p:nvSpPr>
          <p:cNvPr id="132" name="Google Shape;132;p20"/>
          <p:cNvSpPr txBox="1"/>
          <p:nvPr/>
        </p:nvSpPr>
        <p:spPr>
          <a:xfrm>
            <a:off x="1715300" y="863675"/>
            <a:ext cx="6554400" cy="64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chemeClr val="dk1"/>
                </a:solidFill>
                <a:latin typeface="Space Grotesk SemiBold"/>
                <a:ea typeface="Space Grotesk SemiBold"/>
                <a:cs typeface="Space Grotesk SemiBold"/>
                <a:sym typeface="Space Grotesk SemiBold"/>
              </a:rPr>
              <a:t>Founded in Aug 2020 in partnership with Stanford Research Institute(SRI). AccuKnox provides AI powered Zero Trust CNAPP (Cloud Native Application Protection Platform) that secures Public, Private, Hybrid Clouds, Edge/IoT, API, 5G and AI/LLM assets.</a:t>
            </a:r>
            <a:endParaRPr sz="900">
              <a:solidFill>
                <a:schemeClr val="dk1"/>
              </a:solidFill>
              <a:latin typeface="Space Grotesk SemiBold"/>
              <a:ea typeface="Space Grotesk SemiBold"/>
              <a:cs typeface="Space Grotesk SemiBold"/>
              <a:sym typeface="Space Grotesk SemiBold"/>
            </a:endParaRPr>
          </a:p>
        </p:txBody>
      </p:sp>
      <p:pic>
        <p:nvPicPr>
          <p:cNvPr id="133" name="Google Shape;133;p20" title="idt.png"/>
          <p:cNvPicPr preferRelativeResize="0"/>
          <p:nvPr/>
        </p:nvPicPr>
        <p:blipFill>
          <a:blip r:embed="rId3">
            <a:alphaModFix/>
          </a:blip>
          <a:stretch>
            <a:fillRect/>
          </a:stretch>
        </p:blipFill>
        <p:spPr>
          <a:xfrm>
            <a:off x="5031082" y="3762817"/>
            <a:ext cx="512097" cy="213336"/>
          </a:xfrm>
          <a:prstGeom prst="rect">
            <a:avLst/>
          </a:prstGeom>
          <a:noFill/>
          <a:ln>
            <a:noFill/>
          </a:ln>
        </p:spPr>
      </p:pic>
      <p:pic>
        <p:nvPicPr>
          <p:cNvPr id="134" name="Google Shape;134;p20" title="Pure-storage-vector-logo.svg.png"/>
          <p:cNvPicPr preferRelativeResize="0"/>
          <p:nvPr/>
        </p:nvPicPr>
        <p:blipFill>
          <a:blip r:embed="rId4">
            <a:alphaModFix/>
          </a:blip>
          <a:stretch>
            <a:fillRect/>
          </a:stretch>
        </p:blipFill>
        <p:spPr>
          <a:xfrm>
            <a:off x="3644958" y="3762817"/>
            <a:ext cx="1219072" cy="213335"/>
          </a:xfrm>
          <a:prstGeom prst="rect">
            <a:avLst/>
          </a:prstGeom>
          <a:noFill/>
          <a:ln>
            <a:noFill/>
          </a:ln>
        </p:spPr>
      </p:pic>
      <p:pic>
        <p:nvPicPr>
          <p:cNvPr id="135" name="Google Shape;135;p20" title="sonesta.png"/>
          <p:cNvPicPr preferRelativeResize="0"/>
          <p:nvPr/>
        </p:nvPicPr>
        <p:blipFill>
          <a:blip r:embed="rId5">
            <a:alphaModFix/>
          </a:blip>
          <a:stretch>
            <a:fillRect/>
          </a:stretch>
        </p:blipFill>
        <p:spPr>
          <a:xfrm>
            <a:off x="5710231" y="3742900"/>
            <a:ext cx="991396" cy="253170"/>
          </a:xfrm>
          <a:prstGeom prst="rect">
            <a:avLst/>
          </a:prstGeom>
          <a:noFill/>
          <a:ln>
            <a:noFill/>
          </a:ln>
        </p:spPr>
      </p:pic>
      <p:pic>
        <p:nvPicPr>
          <p:cNvPr id="136" name="Google Shape;136;p20" title="Tata_Steel_Logo.svg.png"/>
          <p:cNvPicPr preferRelativeResize="0"/>
          <p:nvPr/>
        </p:nvPicPr>
        <p:blipFill>
          <a:blip r:embed="rId6">
            <a:alphaModFix/>
          </a:blip>
          <a:stretch>
            <a:fillRect/>
          </a:stretch>
        </p:blipFill>
        <p:spPr>
          <a:xfrm>
            <a:off x="1832875" y="3787904"/>
            <a:ext cx="1133824" cy="148808"/>
          </a:xfrm>
          <a:prstGeom prst="rect">
            <a:avLst/>
          </a:prstGeom>
          <a:noFill/>
          <a:ln>
            <a:noFill/>
          </a:ln>
        </p:spPr>
      </p:pic>
      <p:pic>
        <p:nvPicPr>
          <p:cNvPr id="137" name="Google Shape;137;p20" title="us defence.png"/>
          <p:cNvPicPr preferRelativeResize="0"/>
          <p:nvPr/>
        </p:nvPicPr>
        <p:blipFill>
          <a:blip r:embed="rId7">
            <a:alphaModFix/>
          </a:blip>
          <a:stretch>
            <a:fillRect/>
          </a:stretch>
        </p:blipFill>
        <p:spPr>
          <a:xfrm>
            <a:off x="3133755" y="3697410"/>
            <a:ext cx="344150" cy="344150"/>
          </a:xfrm>
          <a:prstGeom prst="rect">
            <a:avLst/>
          </a:prstGeom>
          <a:noFill/>
          <a:ln>
            <a:noFill/>
          </a:ln>
        </p:spPr>
      </p:pic>
      <p:sp>
        <p:nvSpPr>
          <p:cNvPr id="138" name="Google Shape;138;p20"/>
          <p:cNvSpPr txBox="1"/>
          <p:nvPr/>
        </p:nvSpPr>
        <p:spPr>
          <a:xfrm>
            <a:off x="199965" y="3723835"/>
            <a:ext cx="1632900" cy="29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11206D"/>
                </a:solidFill>
                <a:latin typeface="Space Grotesk"/>
                <a:ea typeface="Space Grotesk"/>
                <a:cs typeface="Space Grotesk"/>
                <a:sym typeface="Space Grotesk"/>
              </a:rPr>
              <a:t>FEATURED CUSTOMERS</a:t>
            </a:r>
            <a:endParaRPr b="1" sz="900">
              <a:solidFill>
                <a:srgbClr val="11206D"/>
              </a:solidFill>
              <a:latin typeface="Space Grotesk"/>
              <a:ea typeface="Space Grotesk"/>
              <a:cs typeface="Space Grotesk"/>
              <a:sym typeface="Space Grotesk"/>
            </a:endParaRPr>
          </a:p>
        </p:txBody>
      </p:sp>
      <p:pic>
        <p:nvPicPr>
          <p:cNvPr id="139" name="Google Shape;139;p20"/>
          <p:cNvPicPr preferRelativeResize="0"/>
          <p:nvPr/>
        </p:nvPicPr>
        <p:blipFill>
          <a:blip r:embed="rId8">
            <a:alphaModFix/>
          </a:blip>
          <a:stretch>
            <a:fillRect/>
          </a:stretch>
        </p:blipFill>
        <p:spPr>
          <a:xfrm>
            <a:off x="8027135" y="3715855"/>
            <a:ext cx="512098" cy="307259"/>
          </a:xfrm>
          <a:prstGeom prst="rect">
            <a:avLst/>
          </a:prstGeom>
          <a:noFill/>
          <a:ln>
            <a:noFill/>
          </a:ln>
        </p:spPr>
      </p:pic>
      <p:grpSp>
        <p:nvGrpSpPr>
          <p:cNvPr id="140" name="Google Shape;140;p20"/>
          <p:cNvGrpSpPr/>
          <p:nvPr/>
        </p:nvGrpSpPr>
        <p:grpSpPr>
          <a:xfrm>
            <a:off x="309375" y="1609327"/>
            <a:ext cx="8522700" cy="1807274"/>
            <a:chOff x="309375" y="1667060"/>
            <a:chExt cx="8522700" cy="1807274"/>
          </a:xfrm>
        </p:grpSpPr>
        <p:sp>
          <p:nvSpPr>
            <p:cNvPr id="141" name="Google Shape;141;p20"/>
            <p:cNvSpPr/>
            <p:nvPr/>
          </p:nvSpPr>
          <p:spPr>
            <a:xfrm>
              <a:off x="309375" y="1732534"/>
              <a:ext cx="8522700" cy="1741800"/>
            </a:xfrm>
            <a:prstGeom prst="rect">
              <a:avLst/>
            </a:prstGeom>
            <a:noFill/>
            <a:ln cap="flat" cmpd="sng" w="9525">
              <a:solidFill>
                <a:srgbClr val="BFD0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0"/>
            <p:cNvSpPr txBox="1"/>
            <p:nvPr/>
          </p:nvSpPr>
          <p:spPr>
            <a:xfrm>
              <a:off x="344551" y="1667061"/>
              <a:ext cx="19155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400">
                  <a:solidFill>
                    <a:srgbClr val="11206D"/>
                  </a:solidFill>
                  <a:latin typeface="Space Grotesk"/>
                  <a:ea typeface="Space Grotesk"/>
                  <a:cs typeface="Space Grotesk"/>
                  <a:sym typeface="Space Grotesk"/>
                </a:rPr>
                <a:t>10+</a:t>
              </a:r>
              <a:endParaRPr b="1" sz="4400">
                <a:solidFill>
                  <a:srgbClr val="11206D"/>
                </a:solidFill>
              </a:endParaRPr>
            </a:p>
          </p:txBody>
        </p:sp>
        <p:sp>
          <p:nvSpPr>
            <p:cNvPr id="143" name="Google Shape;143;p20"/>
            <p:cNvSpPr txBox="1"/>
            <p:nvPr/>
          </p:nvSpPr>
          <p:spPr>
            <a:xfrm>
              <a:off x="485850" y="2379625"/>
              <a:ext cx="1632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11206D"/>
                  </a:solidFill>
                  <a:latin typeface="Space Grotesk"/>
                  <a:ea typeface="Space Grotesk"/>
                  <a:cs typeface="Space Grotesk"/>
                  <a:sym typeface="Space Grotesk"/>
                </a:rPr>
                <a:t>PATENTS</a:t>
              </a:r>
              <a:endParaRPr b="1" sz="1200">
                <a:solidFill>
                  <a:srgbClr val="11206D"/>
                </a:solidFill>
              </a:endParaRPr>
            </a:p>
          </p:txBody>
        </p:sp>
        <p:sp>
          <p:nvSpPr>
            <p:cNvPr id="144" name="Google Shape;144;p20"/>
            <p:cNvSpPr txBox="1"/>
            <p:nvPr/>
          </p:nvSpPr>
          <p:spPr>
            <a:xfrm>
              <a:off x="2832527" y="1667060"/>
              <a:ext cx="14652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400">
                  <a:solidFill>
                    <a:srgbClr val="11206D"/>
                  </a:solidFill>
                  <a:latin typeface="Space Grotesk"/>
                  <a:ea typeface="Space Grotesk"/>
                  <a:cs typeface="Space Grotesk"/>
                  <a:sym typeface="Space Grotesk"/>
                </a:rPr>
                <a:t>2M+</a:t>
              </a:r>
              <a:endParaRPr b="1" sz="4400">
                <a:solidFill>
                  <a:srgbClr val="11206D"/>
                </a:solidFill>
              </a:endParaRPr>
            </a:p>
          </p:txBody>
        </p:sp>
        <p:grpSp>
          <p:nvGrpSpPr>
            <p:cNvPr id="145" name="Google Shape;145;p20"/>
            <p:cNvGrpSpPr/>
            <p:nvPr/>
          </p:nvGrpSpPr>
          <p:grpSpPr>
            <a:xfrm>
              <a:off x="2533378" y="2428760"/>
              <a:ext cx="2063498" cy="649577"/>
              <a:chOff x="2554452" y="2665850"/>
              <a:chExt cx="2063498" cy="649577"/>
            </a:xfrm>
          </p:grpSpPr>
          <p:sp>
            <p:nvSpPr>
              <p:cNvPr id="146" name="Google Shape;146;p20"/>
              <p:cNvSpPr txBox="1"/>
              <p:nvPr/>
            </p:nvSpPr>
            <p:spPr>
              <a:xfrm>
                <a:off x="3639050" y="2665850"/>
                <a:ext cx="97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11206D"/>
                    </a:solidFill>
                    <a:latin typeface="Space Grotesk"/>
                    <a:ea typeface="Space Grotesk"/>
                    <a:cs typeface="Space Grotesk"/>
                    <a:sym typeface="Space Grotesk"/>
                  </a:rPr>
                  <a:t>DOWNLOADS</a:t>
                </a:r>
                <a:endParaRPr b="1" sz="1000">
                  <a:solidFill>
                    <a:srgbClr val="11206D"/>
                  </a:solidFill>
                </a:endParaRPr>
              </a:p>
            </p:txBody>
          </p:sp>
          <p:grpSp>
            <p:nvGrpSpPr>
              <p:cNvPr id="147" name="Google Shape;147;p20"/>
              <p:cNvGrpSpPr/>
              <p:nvPr/>
            </p:nvGrpSpPr>
            <p:grpSpPr>
              <a:xfrm>
                <a:off x="2709725" y="2946127"/>
                <a:ext cx="1905483" cy="369300"/>
                <a:chOff x="3351213" y="2235287"/>
                <a:chExt cx="1905483" cy="369300"/>
              </a:xfrm>
            </p:grpSpPr>
            <p:grpSp>
              <p:nvGrpSpPr>
                <p:cNvPr id="148" name="Google Shape;148;p20"/>
                <p:cNvGrpSpPr/>
                <p:nvPr/>
              </p:nvGrpSpPr>
              <p:grpSpPr>
                <a:xfrm>
                  <a:off x="3351213" y="2305888"/>
                  <a:ext cx="1183825" cy="205600"/>
                  <a:chOff x="3490950" y="2252213"/>
                  <a:chExt cx="1183825" cy="205600"/>
                </a:xfrm>
              </p:grpSpPr>
              <p:pic>
                <p:nvPicPr>
                  <p:cNvPr id="149" name="Google Shape;149;p20" title="star.png"/>
                  <p:cNvPicPr preferRelativeResize="0"/>
                  <p:nvPr/>
                </p:nvPicPr>
                <p:blipFill>
                  <a:blip r:embed="rId9">
                    <a:alphaModFix/>
                  </a:blip>
                  <a:stretch>
                    <a:fillRect/>
                  </a:stretch>
                </p:blipFill>
                <p:spPr>
                  <a:xfrm>
                    <a:off x="3490950" y="2252213"/>
                    <a:ext cx="205600" cy="205600"/>
                  </a:xfrm>
                  <a:prstGeom prst="rect">
                    <a:avLst/>
                  </a:prstGeom>
                  <a:noFill/>
                  <a:ln>
                    <a:noFill/>
                  </a:ln>
                </p:spPr>
              </p:pic>
              <p:pic>
                <p:nvPicPr>
                  <p:cNvPr id="150" name="Google Shape;150;p20" title="star.png"/>
                  <p:cNvPicPr preferRelativeResize="0"/>
                  <p:nvPr/>
                </p:nvPicPr>
                <p:blipFill>
                  <a:blip r:embed="rId9">
                    <a:alphaModFix/>
                  </a:blip>
                  <a:stretch>
                    <a:fillRect/>
                  </a:stretch>
                </p:blipFill>
                <p:spPr>
                  <a:xfrm>
                    <a:off x="3741100" y="2252213"/>
                    <a:ext cx="205600" cy="205600"/>
                  </a:xfrm>
                  <a:prstGeom prst="rect">
                    <a:avLst/>
                  </a:prstGeom>
                  <a:noFill/>
                  <a:ln>
                    <a:noFill/>
                  </a:ln>
                </p:spPr>
              </p:pic>
              <p:pic>
                <p:nvPicPr>
                  <p:cNvPr id="151" name="Google Shape;151;p20" title="star.png"/>
                  <p:cNvPicPr preferRelativeResize="0"/>
                  <p:nvPr/>
                </p:nvPicPr>
                <p:blipFill>
                  <a:blip r:embed="rId9">
                    <a:alphaModFix/>
                  </a:blip>
                  <a:stretch>
                    <a:fillRect/>
                  </a:stretch>
                </p:blipFill>
                <p:spPr>
                  <a:xfrm>
                    <a:off x="3968875" y="2252213"/>
                    <a:ext cx="205600" cy="205600"/>
                  </a:xfrm>
                  <a:prstGeom prst="rect">
                    <a:avLst/>
                  </a:prstGeom>
                  <a:noFill/>
                  <a:ln>
                    <a:noFill/>
                  </a:ln>
                </p:spPr>
              </p:pic>
              <p:pic>
                <p:nvPicPr>
                  <p:cNvPr id="152" name="Google Shape;152;p20" title="star.png"/>
                  <p:cNvPicPr preferRelativeResize="0"/>
                  <p:nvPr/>
                </p:nvPicPr>
                <p:blipFill>
                  <a:blip r:embed="rId9">
                    <a:alphaModFix/>
                  </a:blip>
                  <a:stretch>
                    <a:fillRect/>
                  </a:stretch>
                </p:blipFill>
                <p:spPr>
                  <a:xfrm>
                    <a:off x="4219025" y="2252213"/>
                    <a:ext cx="205600" cy="205600"/>
                  </a:xfrm>
                  <a:prstGeom prst="rect">
                    <a:avLst/>
                  </a:prstGeom>
                  <a:noFill/>
                  <a:ln>
                    <a:noFill/>
                  </a:ln>
                </p:spPr>
              </p:pic>
              <p:pic>
                <p:nvPicPr>
                  <p:cNvPr id="153" name="Google Shape;153;p20" title="star.png"/>
                  <p:cNvPicPr preferRelativeResize="0"/>
                  <p:nvPr/>
                </p:nvPicPr>
                <p:blipFill>
                  <a:blip r:embed="rId9">
                    <a:alphaModFix/>
                  </a:blip>
                  <a:stretch>
                    <a:fillRect/>
                  </a:stretch>
                </p:blipFill>
                <p:spPr>
                  <a:xfrm>
                    <a:off x="4469175" y="2252213"/>
                    <a:ext cx="205600" cy="205600"/>
                  </a:xfrm>
                  <a:prstGeom prst="rect">
                    <a:avLst/>
                  </a:prstGeom>
                  <a:noFill/>
                  <a:ln>
                    <a:noFill/>
                  </a:ln>
                </p:spPr>
              </p:pic>
            </p:grpSp>
            <p:sp>
              <p:nvSpPr>
                <p:cNvPr id="154" name="Google Shape;154;p20"/>
                <p:cNvSpPr txBox="1"/>
                <p:nvPr/>
              </p:nvSpPr>
              <p:spPr>
                <a:xfrm>
                  <a:off x="4520495" y="2235287"/>
                  <a:ext cx="73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11206D"/>
                      </a:solidFill>
                      <a:latin typeface="Space Grotesk"/>
                      <a:ea typeface="Space Grotesk"/>
                      <a:cs typeface="Space Grotesk"/>
                      <a:sym typeface="Space Grotesk"/>
                    </a:rPr>
                    <a:t>1,000+</a:t>
                  </a:r>
                  <a:endParaRPr sz="1200">
                    <a:solidFill>
                      <a:srgbClr val="11206D"/>
                    </a:solidFill>
                  </a:endParaRPr>
                </a:p>
              </p:txBody>
            </p:sp>
          </p:grpSp>
          <p:pic>
            <p:nvPicPr>
              <p:cNvPr id="155" name="Google Shape;155;p20">
                <a:hlinkClick r:id="rId10"/>
              </p:cNvPr>
              <p:cNvPicPr preferRelativeResize="0"/>
              <p:nvPr/>
            </p:nvPicPr>
            <p:blipFill>
              <a:blip r:embed="rId11">
                <a:alphaModFix/>
              </a:blip>
              <a:stretch>
                <a:fillRect/>
              </a:stretch>
            </p:blipFill>
            <p:spPr>
              <a:xfrm>
                <a:off x="2554452" y="2690738"/>
                <a:ext cx="1149074" cy="245425"/>
              </a:xfrm>
              <a:prstGeom prst="rect">
                <a:avLst/>
              </a:prstGeom>
              <a:noFill/>
              <a:ln>
                <a:noFill/>
              </a:ln>
            </p:spPr>
          </p:pic>
        </p:grpSp>
        <p:sp>
          <p:nvSpPr>
            <p:cNvPr id="156" name="Google Shape;156;p20"/>
            <p:cNvSpPr txBox="1"/>
            <p:nvPr/>
          </p:nvSpPr>
          <p:spPr>
            <a:xfrm>
              <a:off x="5170838" y="1667060"/>
              <a:ext cx="9789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400">
                  <a:solidFill>
                    <a:srgbClr val="11206D"/>
                  </a:solidFill>
                  <a:latin typeface="Space Grotesk"/>
                  <a:ea typeface="Space Grotesk"/>
                  <a:cs typeface="Space Grotesk"/>
                  <a:sym typeface="Space Grotesk"/>
                </a:rPr>
                <a:t>5</a:t>
              </a:r>
              <a:endParaRPr b="1" sz="4400">
                <a:solidFill>
                  <a:srgbClr val="11206D"/>
                </a:solidFill>
              </a:endParaRPr>
            </a:p>
          </p:txBody>
        </p:sp>
        <p:sp>
          <p:nvSpPr>
            <p:cNvPr id="157" name="Google Shape;157;p20"/>
            <p:cNvSpPr txBox="1"/>
            <p:nvPr/>
          </p:nvSpPr>
          <p:spPr>
            <a:xfrm>
              <a:off x="4747648" y="2379625"/>
              <a:ext cx="1825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11206D"/>
                  </a:solidFill>
                  <a:latin typeface="Space Grotesk"/>
                  <a:ea typeface="Space Grotesk"/>
                  <a:cs typeface="Space Grotesk"/>
                  <a:sym typeface="Space Grotesk"/>
                </a:rPr>
                <a:t>BOOKS PUBLISHED</a:t>
              </a:r>
              <a:endParaRPr b="1" sz="1200">
                <a:solidFill>
                  <a:srgbClr val="11206D"/>
                </a:solidFill>
              </a:endParaRPr>
            </a:p>
          </p:txBody>
        </p:sp>
        <p:sp>
          <p:nvSpPr>
            <p:cNvPr id="158" name="Google Shape;158;p20"/>
            <p:cNvSpPr txBox="1"/>
            <p:nvPr/>
          </p:nvSpPr>
          <p:spPr>
            <a:xfrm>
              <a:off x="439951" y="2759110"/>
              <a:ext cx="1724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800"/>
                </a:spcBef>
                <a:spcAft>
                  <a:spcPts val="0"/>
                </a:spcAft>
                <a:buClr>
                  <a:srgbClr val="000000"/>
                </a:buClr>
                <a:buSzPts val="1600"/>
                <a:buFont typeface="Arial"/>
                <a:buNone/>
              </a:pPr>
              <a:r>
                <a:rPr lang="en" sz="800">
                  <a:solidFill>
                    <a:srgbClr val="11206D"/>
                  </a:solidFill>
                  <a:latin typeface="Space Grotesk SemiBold"/>
                  <a:ea typeface="Space Grotesk SemiBold"/>
                  <a:cs typeface="Space Grotesk SemiBold"/>
                  <a:sym typeface="Space Grotesk SemiBold"/>
                </a:rPr>
                <a:t>Registered with United States Patent &amp; Trademark Office</a:t>
              </a:r>
              <a:endParaRPr sz="800">
                <a:solidFill>
                  <a:srgbClr val="11206D"/>
                </a:solidFill>
                <a:latin typeface="Space Grotesk SemiBold"/>
                <a:ea typeface="Space Grotesk SemiBold"/>
                <a:cs typeface="Space Grotesk SemiBold"/>
                <a:sym typeface="Space Grotesk SemiBold"/>
              </a:endParaRPr>
            </a:p>
          </p:txBody>
        </p:sp>
        <p:sp>
          <p:nvSpPr>
            <p:cNvPr id="159" name="Google Shape;159;p20"/>
            <p:cNvSpPr txBox="1"/>
            <p:nvPr/>
          </p:nvSpPr>
          <p:spPr>
            <a:xfrm>
              <a:off x="2655077" y="2979628"/>
              <a:ext cx="1820100" cy="431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Space Grotesk"/>
                  <a:ea typeface="Space Grotesk"/>
                  <a:cs typeface="Space Grotesk"/>
                  <a:sym typeface="Space Grotesk"/>
                </a:rPr>
                <a:t>Open Source led industry initiatives</a:t>
              </a:r>
              <a:endParaRPr sz="700">
                <a:solidFill>
                  <a:schemeClr val="dk1"/>
                </a:solidFill>
              </a:endParaRPr>
            </a:p>
          </p:txBody>
        </p:sp>
        <p:sp>
          <p:nvSpPr>
            <p:cNvPr id="160" name="Google Shape;160;p20"/>
            <p:cNvSpPr txBox="1"/>
            <p:nvPr/>
          </p:nvSpPr>
          <p:spPr>
            <a:xfrm>
              <a:off x="4843838" y="2979628"/>
              <a:ext cx="1632900" cy="431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Space Grotesk"/>
                  <a:ea typeface="Space Grotesk"/>
                  <a:cs typeface="Space Grotesk"/>
                  <a:sym typeface="Space Grotesk"/>
                </a:rPr>
                <a:t>Education, Evangelism, Industry thought leadership</a:t>
              </a:r>
              <a:endParaRPr sz="700">
                <a:solidFill>
                  <a:schemeClr val="dk1"/>
                </a:solidFill>
              </a:endParaRPr>
            </a:p>
          </p:txBody>
        </p:sp>
        <p:sp>
          <p:nvSpPr>
            <p:cNvPr id="161" name="Google Shape;161;p20"/>
            <p:cNvSpPr txBox="1"/>
            <p:nvPr/>
          </p:nvSpPr>
          <p:spPr>
            <a:xfrm>
              <a:off x="529651" y="2979628"/>
              <a:ext cx="1545300" cy="431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Space Grotesk"/>
                  <a:ea typeface="Space Grotesk"/>
                  <a:cs typeface="Space Grotesk"/>
                  <a:sym typeface="Space Grotesk"/>
                </a:rPr>
                <a:t>On different aspects of Zero Trust Security</a:t>
              </a:r>
              <a:endParaRPr sz="700">
                <a:solidFill>
                  <a:schemeClr val="dk1"/>
                </a:solidFill>
              </a:endParaRPr>
            </a:p>
          </p:txBody>
        </p:sp>
        <p:cxnSp>
          <p:nvCxnSpPr>
            <p:cNvPr id="162" name="Google Shape;162;p20"/>
            <p:cNvCxnSpPr/>
            <p:nvPr/>
          </p:nvCxnSpPr>
          <p:spPr>
            <a:xfrm>
              <a:off x="2366375" y="2038859"/>
              <a:ext cx="0" cy="1102500"/>
            </a:xfrm>
            <a:prstGeom prst="straightConnector1">
              <a:avLst/>
            </a:prstGeom>
            <a:noFill/>
            <a:ln cap="flat" cmpd="sng" w="9525">
              <a:solidFill>
                <a:srgbClr val="BFD0E8"/>
              </a:solidFill>
              <a:prstDash val="solid"/>
              <a:round/>
              <a:headEnd len="med" w="med" type="none"/>
              <a:tailEnd len="med" w="med" type="none"/>
            </a:ln>
          </p:spPr>
        </p:cxnSp>
        <p:cxnSp>
          <p:nvCxnSpPr>
            <p:cNvPr id="163" name="Google Shape;163;p20"/>
            <p:cNvCxnSpPr/>
            <p:nvPr/>
          </p:nvCxnSpPr>
          <p:spPr>
            <a:xfrm>
              <a:off x="4643975" y="2038859"/>
              <a:ext cx="0" cy="1102500"/>
            </a:xfrm>
            <a:prstGeom prst="straightConnector1">
              <a:avLst/>
            </a:prstGeom>
            <a:noFill/>
            <a:ln cap="flat" cmpd="sng" w="9525">
              <a:solidFill>
                <a:srgbClr val="BFD0E8"/>
              </a:solidFill>
              <a:prstDash val="solid"/>
              <a:round/>
              <a:headEnd len="med" w="med" type="none"/>
              <a:tailEnd len="med" w="med" type="none"/>
            </a:ln>
          </p:spPr>
        </p:cxnSp>
        <p:pic>
          <p:nvPicPr>
            <p:cNvPr id="164" name="Google Shape;164;p20">
              <a:hlinkClick r:id="rId12"/>
            </p:cNvPr>
            <p:cNvPicPr preferRelativeResize="0"/>
            <p:nvPr/>
          </p:nvPicPr>
          <p:blipFill>
            <a:blip r:embed="rId13">
              <a:alphaModFix/>
            </a:blip>
            <a:stretch>
              <a:fillRect/>
            </a:stretch>
          </p:blipFill>
          <p:spPr>
            <a:xfrm>
              <a:off x="5015949" y="2735223"/>
              <a:ext cx="1288678" cy="245425"/>
            </a:xfrm>
            <a:prstGeom prst="rect">
              <a:avLst/>
            </a:prstGeom>
            <a:noFill/>
            <a:ln>
              <a:noFill/>
            </a:ln>
          </p:spPr>
        </p:pic>
        <p:cxnSp>
          <p:nvCxnSpPr>
            <p:cNvPr id="165" name="Google Shape;165;p20"/>
            <p:cNvCxnSpPr/>
            <p:nvPr/>
          </p:nvCxnSpPr>
          <p:spPr>
            <a:xfrm>
              <a:off x="6719150" y="2038859"/>
              <a:ext cx="0" cy="1102500"/>
            </a:xfrm>
            <a:prstGeom prst="straightConnector1">
              <a:avLst/>
            </a:prstGeom>
            <a:noFill/>
            <a:ln cap="flat" cmpd="sng" w="9525">
              <a:solidFill>
                <a:srgbClr val="BFD0E8"/>
              </a:solidFill>
              <a:prstDash val="solid"/>
              <a:round/>
              <a:headEnd len="med" w="med" type="none"/>
              <a:tailEnd len="med" w="med" type="none"/>
            </a:ln>
          </p:spPr>
        </p:cxnSp>
        <p:sp>
          <p:nvSpPr>
            <p:cNvPr id="166" name="Google Shape;166;p20"/>
            <p:cNvSpPr txBox="1"/>
            <p:nvPr/>
          </p:nvSpPr>
          <p:spPr>
            <a:xfrm>
              <a:off x="6741074" y="1667060"/>
              <a:ext cx="19959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400">
                  <a:solidFill>
                    <a:srgbClr val="11206D"/>
                  </a:solidFill>
                  <a:latin typeface="Space Grotesk"/>
                  <a:ea typeface="Space Grotesk"/>
                  <a:cs typeface="Space Grotesk"/>
                  <a:sym typeface="Space Grotesk"/>
                </a:rPr>
                <a:t>$15m</a:t>
              </a:r>
              <a:endParaRPr b="1" sz="4400">
                <a:solidFill>
                  <a:srgbClr val="11206D"/>
                </a:solidFill>
              </a:endParaRPr>
            </a:p>
          </p:txBody>
        </p:sp>
        <p:sp>
          <p:nvSpPr>
            <p:cNvPr id="167" name="Google Shape;167;p20"/>
            <p:cNvSpPr txBox="1"/>
            <p:nvPr/>
          </p:nvSpPr>
          <p:spPr>
            <a:xfrm>
              <a:off x="6781275" y="2379625"/>
              <a:ext cx="1915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11206D"/>
                  </a:solidFill>
                  <a:latin typeface="Space Grotesk"/>
                  <a:ea typeface="Space Grotesk"/>
                  <a:cs typeface="Space Grotesk"/>
                  <a:sym typeface="Space Grotesk"/>
                </a:rPr>
                <a:t>SEED FUNDING</a:t>
              </a:r>
              <a:endParaRPr b="1" sz="1200">
                <a:solidFill>
                  <a:srgbClr val="11206D"/>
                </a:solidFill>
              </a:endParaRPr>
            </a:p>
          </p:txBody>
        </p:sp>
        <p:sp>
          <p:nvSpPr>
            <p:cNvPr id="168" name="Google Shape;168;p20"/>
            <p:cNvSpPr txBox="1"/>
            <p:nvPr/>
          </p:nvSpPr>
          <p:spPr>
            <a:xfrm>
              <a:off x="6922501" y="2856628"/>
              <a:ext cx="1632900" cy="554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Space Grotesk"/>
                  <a:ea typeface="Space Grotesk"/>
                  <a:cs typeface="Space Grotesk"/>
                  <a:sym typeface="Space Grotesk"/>
                </a:rPr>
                <a:t>From top investment firms including  SRI International, NationalGrid Partners</a:t>
              </a:r>
              <a:endParaRPr sz="700">
                <a:solidFill>
                  <a:schemeClr val="dk1"/>
                </a:solidFill>
              </a:endParaRPr>
            </a:p>
          </p:txBody>
        </p:sp>
      </p:grpSp>
      <p:pic>
        <p:nvPicPr>
          <p:cNvPr id="169" name="Google Shape;169;p20"/>
          <p:cNvPicPr preferRelativeResize="0"/>
          <p:nvPr/>
        </p:nvPicPr>
        <p:blipFill>
          <a:blip r:embed="rId14">
            <a:alphaModFix/>
          </a:blip>
          <a:stretch>
            <a:fillRect/>
          </a:stretch>
        </p:blipFill>
        <p:spPr>
          <a:xfrm>
            <a:off x="478129" y="932624"/>
            <a:ext cx="1052993" cy="395925"/>
          </a:xfrm>
          <a:prstGeom prst="rect">
            <a:avLst/>
          </a:prstGeom>
          <a:noFill/>
          <a:ln>
            <a:noFill/>
          </a:ln>
        </p:spPr>
      </p:pic>
      <p:sp>
        <p:nvSpPr>
          <p:cNvPr id="170" name="Google Shape;170;p20"/>
          <p:cNvSpPr txBox="1"/>
          <p:nvPr/>
        </p:nvSpPr>
        <p:spPr>
          <a:xfrm>
            <a:off x="199965" y="4226779"/>
            <a:ext cx="1632900" cy="29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11206D"/>
                </a:solidFill>
                <a:latin typeface="Space Grotesk"/>
                <a:ea typeface="Space Grotesk"/>
                <a:cs typeface="Space Grotesk"/>
                <a:sym typeface="Space Grotesk"/>
              </a:rPr>
              <a:t>AWARDS &amp; RECOGNITIONS</a:t>
            </a:r>
            <a:endParaRPr b="1" sz="900">
              <a:solidFill>
                <a:srgbClr val="11206D"/>
              </a:solidFill>
              <a:latin typeface="Space Grotesk"/>
              <a:ea typeface="Space Grotesk"/>
              <a:cs typeface="Space Grotesk"/>
              <a:sym typeface="Space Grotesk"/>
            </a:endParaRPr>
          </a:p>
        </p:txBody>
      </p:sp>
      <p:pic>
        <p:nvPicPr>
          <p:cNvPr id="171" name="Google Shape;171;p20"/>
          <p:cNvPicPr preferRelativeResize="0"/>
          <p:nvPr/>
        </p:nvPicPr>
        <p:blipFill>
          <a:blip r:embed="rId15">
            <a:alphaModFix/>
          </a:blip>
          <a:stretch>
            <a:fillRect/>
          </a:stretch>
        </p:blipFill>
        <p:spPr>
          <a:xfrm>
            <a:off x="1832875" y="4185077"/>
            <a:ext cx="624525" cy="374703"/>
          </a:xfrm>
          <a:prstGeom prst="rect">
            <a:avLst/>
          </a:prstGeom>
          <a:noFill/>
          <a:ln>
            <a:noFill/>
          </a:ln>
        </p:spPr>
      </p:pic>
      <p:pic>
        <p:nvPicPr>
          <p:cNvPr id="172" name="Google Shape;172;p20"/>
          <p:cNvPicPr preferRelativeResize="0"/>
          <p:nvPr/>
        </p:nvPicPr>
        <p:blipFill>
          <a:blip r:embed="rId16">
            <a:alphaModFix/>
          </a:blip>
          <a:stretch>
            <a:fillRect/>
          </a:stretch>
        </p:blipFill>
        <p:spPr>
          <a:xfrm>
            <a:off x="2533375" y="4218799"/>
            <a:ext cx="512100" cy="307260"/>
          </a:xfrm>
          <a:prstGeom prst="rect">
            <a:avLst/>
          </a:prstGeom>
          <a:noFill/>
          <a:ln>
            <a:noFill/>
          </a:ln>
        </p:spPr>
      </p:pic>
      <p:pic>
        <p:nvPicPr>
          <p:cNvPr id="173" name="Google Shape;173;p20"/>
          <p:cNvPicPr preferRelativeResize="0"/>
          <p:nvPr/>
        </p:nvPicPr>
        <p:blipFill>
          <a:blip r:embed="rId17">
            <a:alphaModFix/>
          </a:blip>
          <a:stretch>
            <a:fillRect/>
          </a:stretch>
        </p:blipFill>
        <p:spPr>
          <a:xfrm>
            <a:off x="3045475" y="4172329"/>
            <a:ext cx="667000" cy="400200"/>
          </a:xfrm>
          <a:prstGeom prst="rect">
            <a:avLst/>
          </a:prstGeom>
          <a:noFill/>
          <a:ln>
            <a:noFill/>
          </a:ln>
        </p:spPr>
      </p:pic>
      <p:cxnSp>
        <p:nvCxnSpPr>
          <p:cNvPr id="174" name="Google Shape;174;p20"/>
          <p:cNvCxnSpPr/>
          <p:nvPr/>
        </p:nvCxnSpPr>
        <p:spPr>
          <a:xfrm>
            <a:off x="309400" y="4099338"/>
            <a:ext cx="8496000" cy="0"/>
          </a:xfrm>
          <a:prstGeom prst="straightConnector1">
            <a:avLst/>
          </a:prstGeom>
          <a:noFill/>
          <a:ln cap="flat" cmpd="sng" w="9525">
            <a:solidFill>
              <a:srgbClr val="D2DDEF"/>
            </a:solidFill>
            <a:prstDash val="solid"/>
            <a:round/>
            <a:headEnd len="med" w="med" type="none"/>
            <a:tailEnd len="med" w="med" type="none"/>
          </a:ln>
        </p:spPr>
      </p:cxnSp>
      <p:pic>
        <p:nvPicPr>
          <p:cNvPr id="175" name="Google Shape;175;p20"/>
          <p:cNvPicPr preferRelativeResize="0"/>
          <p:nvPr/>
        </p:nvPicPr>
        <p:blipFill rotWithShape="1">
          <a:blip r:embed="rId18">
            <a:alphaModFix/>
          </a:blip>
          <a:srcRect b="27360" l="0" r="0" t="27356"/>
          <a:stretch/>
        </p:blipFill>
        <p:spPr>
          <a:xfrm>
            <a:off x="3809250" y="4239441"/>
            <a:ext cx="978900" cy="265976"/>
          </a:xfrm>
          <a:prstGeom prst="rect">
            <a:avLst/>
          </a:prstGeom>
          <a:noFill/>
          <a:ln>
            <a:noFill/>
          </a:ln>
        </p:spPr>
      </p:pic>
      <p:pic>
        <p:nvPicPr>
          <p:cNvPr id="176" name="Google Shape;176;p20"/>
          <p:cNvPicPr preferRelativeResize="0"/>
          <p:nvPr/>
        </p:nvPicPr>
        <p:blipFill rotWithShape="1">
          <a:blip r:embed="rId19">
            <a:alphaModFix/>
          </a:blip>
          <a:srcRect b="16483" l="0" r="0" t="16483"/>
          <a:stretch/>
        </p:blipFill>
        <p:spPr>
          <a:xfrm>
            <a:off x="4843862" y="4218791"/>
            <a:ext cx="763976" cy="307275"/>
          </a:xfrm>
          <a:prstGeom prst="rect">
            <a:avLst/>
          </a:prstGeom>
          <a:noFill/>
          <a:ln>
            <a:noFill/>
          </a:ln>
        </p:spPr>
      </p:pic>
      <p:pic>
        <p:nvPicPr>
          <p:cNvPr id="177" name="Google Shape;177;p20"/>
          <p:cNvPicPr preferRelativeResize="0"/>
          <p:nvPr/>
        </p:nvPicPr>
        <p:blipFill>
          <a:blip r:embed="rId20">
            <a:alphaModFix/>
          </a:blip>
          <a:stretch>
            <a:fillRect/>
          </a:stretch>
        </p:blipFill>
        <p:spPr>
          <a:xfrm>
            <a:off x="5748675" y="4185071"/>
            <a:ext cx="624525" cy="374715"/>
          </a:xfrm>
          <a:prstGeom prst="rect">
            <a:avLst/>
          </a:prstGeom>
          <a:noFill/>
          <a:ln>
            <a:noFill/>
          </a:ln>
        </p:spPr>
      </p:pic>
      <p:pic>
        <p:nvPicPr>
          <p:cNvPr id="178" name="Google Shape;178;p20"/>
          <p:cNvPicPr preferRelativeResize="0"/>
          <p:nvPr/>
        </p:nvPicPr>
        <p:blipFill>
          <a:blip r:embed="rId21">
            <a:alphaModFix/>
          </a:blip>
          <a:stretch>
            <a:fillRect/>
          </a:stretch>
        </p:blipFill>
        <p:spPr>
          <a:xfrm>
            <a:off x="6406899" y="4185079"/>
            <a:ext cx="624500" cy="374700"/>
          </a:xfrm>
          <a:prstGeom prst="rect">
            <a:avLst/>
          </a:prstGeom>
          <a:noFill/>
          <a:ln>
            <a:noFill/>
          </a:ln>
        </p:spPr>
      </p:pic>
      <p:pic>
        <p:nvPicPr>
          <p:cNvPr id="179" name="Google Shape;179;p20"/>
          <p:cNvPicPr preferRelativeResize="0"/>
          <p:nvPr/>
        </p:nvPicPr>
        <p:blipFill>
          <a:blip r:embed="rId22">
            <a:alphaModFix/>
          </a:blip>
          <a:stretch>
            <a:fillRect/>
          </a:stretch>
        </p:blipFill>
        <p:spPr>
          <a:xfrm>
            <a:off x="7155609" y="4185079"/>
            <a:ext cx="624518" cy="374698"/>
          </a:xfrm>
          <a:prstGeom prst="rect">
            <a:avLst/>
          </a:prstGeom>
          <a:noFill/>
          <a:ln>
            <a:noFill/>
          </a:ln>
        </p:spPr>
      </p:pic>
      <p:pic>
        <p:nvPicPr>
          <p:cNvPr id="180" name="Google Shape;180;p20"/>
          <p:cNvPicPr preferRelativeResize="0"/>
          <p:nvPr/>
        </p:nvPicPr>
        <p:blipFill>
          <a:blip r:embed="rId23">
            <a:alphaModFix/>
          </a:blip>
          <a:stretch>
            <a:fillRect/>
          </a:stretch>
        </p:blipFill>
        <p:spPr>
          <a:xfrm>
            <a:off x="7872972" y="4162239"/>
            <a:ext cx="764000" cy="248300"/>
          </a:xfrm>
          <a:prstGeom prst="rect">
            <a:avLst/>
          </a:prstGeom>
          <a:noFill/>
          <a:ln>
            <a:noFill/>
          </a:ln>
        </p:spPr>
      </p:pic>
      <p:sp>
        <p:nvSpPr>
          <p:cNvPr id="181" name="Google Shape;181;p20"/>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latin typeface="Montserrat Medium"/>
                <a:ea typeface="Montserrat Medium"/>
                <a:cs typeface="Montserrat Medium"/>
                <a:sym typeface="Montserrat Medium"/>
              </a:rPr>
              <a:t>‹#›</a:t>
            </a:fld>
            <a:endParaRPr>
              <a:latin typeface="Montserrat Medium"/>
              <a:ea typeface="Montserrat Medium"/>
              <a:cs typeface="Montserrat Medium"/>
              <a:sym typeface="Montserrat Medium"/>
            </a:endParaRPr>
          </a:p>
        </p:txBody>
      </p:sp>
      <p:sp>
        <p:nvSpPr>
          <p:cNvPr id="182" name="Google Shape;182;p20"/>
          <p:cNvSpPr txBox="1"/>
          <p:nvPr/>
        </p:nvSpPr>
        <p:spPr>
          <a:xfrm>
            <a:off x="7756675" y="4322375"/>
            <a:ext cx="1053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
                <a:solidFill>
                  <a:schemeClr val="dk2"/>
                </a:solidFill>
              </a:rPr>
              <a:t>AGENTIC AI SECURITY STARTUP OF THE YEAR 2025</a:t>
            </a:r>
            <a:endParaRPr b="1" sz="500">
              <a:solidFill>
                <a:schemeClr val="dk2"/>
              </a:solidFill>
            </a:endParaRPr>
          </a:p>
        </p:txBody>
      </p:sp>
      <p:sp>
        <p:nvSpPr>
          <p:cNvPr id="183" name="Google Shape;183;p20"/>
          <p:cNvSpPr txBox="1"/>
          <p:nvPr/>
        </p:nvSpPr>
        <p:spPr>
          <a:xfrm>
            <a:off x="199965" y="4769354"/>
            <a:ext cx="1632900" cy="29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11206D"/>
                </a:solidFill>
                <a:latin typeface="Space Grotesk"/>
                <a:ea typeface="Space Grotesk"/>
                <a:cs typeface="Space Grotesk"/>
                <a:sym typeface="Space Grotesk"/>
              </a:rPr>
              <a:t>INVESTORS</a:t>
            </a:r>
            <a:endParaRPr b="1" sz="900">
              <a:solidFill>
                <a:srgbClr val="11206D"/>
              </a:solidFill>
              <a:latin typeface="Space Grotesk"/>
              <a:ea typeface="Space Grotesk"/>
              <a:cs typeface="Space Grotesk"/>
              <a:sym typeface="Space Grotesk"/>
            </a:endParaRPr>
          </a:p>
        </p:txBody>
      </p:sp>
      <p:cxnSp>
        <p:nvCxnSpPr>
          <p:cNvPr id="184" name="Google Shape;184;p20"/>
          <p:cNvCxnSpPr/>
          <p:nvPr/>
        </p:nvCxnSpPr>
        <p:spPr>
          <a:xfrm>
            <a:off x="309400" y="4641913"/>
            <a:ext cx="8496000" cy="0"/>
          </a:xfrm>
          <a:prstGeom prst="straightConnector1">
            <a:avLst/>
          </a:prstGeom>
          <a:noFill/>
          <a:ln cap="flat" cmpd="sng" w="9525">
            <a:solidFill>
              <a:srgbClr val="D2DDEF"/>
            </a:solidFill>
            <a:prstDash val="solid"/>
            <a:round/>
            <a:headEnd len="med" w="med" type="none"/>
            <a:tailEnd len="med" w="med" type="none"/>
          </a:ln>
        </p:spPr>
      </p:cxnSp>
      <p:pic>
        <p:nvPicPr>
          <p:cNvPr id="185" name="Google Shape;185;p20"/>
          <p:cNvPicPr preferRelativeResize="0"/>
          <p:nvPr/>
        </p:nvPicPr>
        <p:blipFill>
          <a:blip r:embed="rId24">
            <a:alphaModFix/>
          </a:blip>
          <a:stretch>
            <a:fillRect/>
          </a:stretch>
        </p:blipFill>
        <p:spPr>
          <a:xfrm>
            <a:off x="3230292" y="4768631"/>
            <a:ext cx="703367" cy="207813"/>
          </a:xfrm>
          <a:prstGeom prst="rect">
            <a:avLst/>
          </a:prstGeom>
          <a:noFill/>
          <a:ln>
            <a:noFill/>
          </a:ln>
        </p:spPr>
      </p:pic>
      <p:pic>
        <p:nvPicPr>
          <p:cNvPr id="186" name="Google Shape;186;p20"/>
          <p:cNvPicPr preferRelativeResize="0"/>
          <p:nvPr/>
        </p:nvPicPr>
        <p:blipFill>
          <a:blip r:embed="rId14">
            <a:alphaModFix/>
          </a:blip>
          <a:stretch>
            <a:fillRect/>
          </a:stretch>
        </p:blipFill>
        <p:spPr>
          <a:xfrm>
            <a:off x="1861400" y="4764450"/>
            <a:ext cx="574939" cy="216175"/>
          </a:xfrm>
          <a:prstGeom prst="rect">
            <a:avLst/>
          </a:prstGeom>
          <a:noFill/>
          <a:ln>
            <a:noFill/>
          </a:ln>
        </p:spPr>
      </p:pic>
      <p:pic>
        <p:nvPicPr>
          <p:cNvPr id="187" name="Google Shape;187;p20"/>
          <p:cNvPicPr preferRelativeResize="0"/>
          <p:nvPr/>
        </p:nvPicPr>
        <p:blipFill>
          <a:blip r:embed="rId25">
            <a:alphaModFix/>
          </a:blip>
          <a:stretch>
            <a:fillRect/>
          </a:stretch>
        </p:blipFill>
        <p:spPr>
          <a:xfrm>
            <a:off x="4023603" y="4779169"/>
            <a:ext cx="901213" cy="186738"/>
          </a:xfrm>
          <a:prstGeom prst="rect">
            <a:avLst/>
          </a:prstGeom>
          <a:noFill/>
          <a:ln>
            <a:noFill/>
          </a:ln>
        </p:spPr>
      </p:pic>
      <p:pic>
        <p:nvPicPr>
          <p:cNvPr id="188" name="Google Shape;188;p20"/>
          <p:cNvPicPr preferRelativeResize="0"/>
          <p:nvPr/>
        </p:nvPicPr>
        <p:blipFill rotWithShape="1">
          <a:blip r:embed="rId26">
            <a:alphaModFix/>
          </a:blip>
          <a:srcRect b="32396" l="9949" r="9949" t="32392"/>
          <a:stretch/>
        </p:blipFill>
        <p:spPr>
          <a:xfrm>
            <a:off x="5014760" y="4795242"/>
            <a:ext cx="703368" cy="154592"/>
          </a:xfrm>
          <a:prstGeom prst="rect">
            <a:avLst/>
          </a:prstGeom>
          <a:noFill/>
          <a:ln>
            <a:noFill/>
          </a:ln>
        </p:spPr>
      </p:pic>
      <p:pic>
        <p:nvPicPr>
          <p:cNvPr id="189" name="Google Shape;189;p20"/>
          <p:cNvPicPr preferRelativeResize="0"/>
          <p:nvPr/>
        </p:nvPicPr>
        <p:blipFill>
          <a:blip r:embed="rId27">
            <a:alphaModFix/>
          </a:blip>
          <a:stretch>
            <a:fillRect/>
          </a:stretch>
        </p:blipFill>
        <p:spPr>
          <a:xfrm>
            <a:off x="5808072" y="4769763"/>
            <a:ext cx="1043843" cy="205549"/>
          </a:xfrm>
          <a:prstGeom prst="rect">
            <a:avLst/>
          </a:prstGeom>
          <a:noFill/>
          <a:ln>
            <a:noFill/>
          </a:ln>
        </p:spPr>
      </p:pic>
      <p:pic>
        <p:nvPicPr>
          <p:cNvPr id="190" name="Google Shape;190;p20"/>
          <p:cNvPicPr preferRelativeResize="0"/>
          <p:nvPr/>
        </p:nvPicPr>
        <p:blipFill rotWithShape="1">
          <a:blip r:embed="rId28">
            <a:alphaModFix/>
          </a:blip>
          <a:srcRect b="20081" l="13715" r="13722" t="20081"/>
          <a:stretch/>
        </p:blipFill>
        <p:spPr>
          <a:xfrm>
            <a:off x="2526283" y="4745950"/>
            <a:ext cx="614065" cy="253175"/>
          </a:xfrm>
          <a:prstGeom prst="rect">
            <a:avLst/>
          </a:prstGeom>
          <a:noFill/>
          <a:ln>
            <a:noFill/>
          </a:ln>
        </p:spPr>
      </p:pic>
      <p:pic>
        <p:nvPicPr>
          <p:cNvPr id="191" name="Google Shape;191;p20"/>
          <p:cNvPicPr preferRelativeResize="0"/>
          <p:nvPr/>
        </p:nvPicPr>
        <p:blipFill>
          <a:blip r:embed="rId29">
            <a:alphaModFix/>
          </a:blip>
          <a:stretch>
            <a:fillRect/>
          </a:stretch>
        </p:blipFill>
        <p:spPr>
          <a:xfrm>
            <a:off x="6941859" y="4764444"/>
            <a:ext cx="653030" cy="216189"/>
          </a:xfrm>
          <a:prstGeom prst="rect">
            <a:avLst/>
          </a:prstGeom>
          <a:noFill/>
          <a:ln>
            <a:noFill/>
          </a:ln>
        </p:spPr>
      </p:pic>
      <p:pic>
        <p:nvPicPr>
          <p:cNvPr id="192" name="Google Shape;192;p20"/>
          <p:cNvPicPr preferRelativeResize="0"/>
          <p:nvPr/>
        </p:nvPicPr>
        <p:blipFill>
          <a:blip r:embed="rId30">
            <a:alphaModFix/>
          </a:blip>
          <a:stretch>
            <a:fillRect/>
          </a:stretch>
        </p:blipFill>
        <p:spPr>
          <a:xfrm>
            <a:off x="7684833" y="4787588"/>
            <a:ext cx="574960" cy="169901"/>
          </a:xfrm>
          <a:prstGeom prst="rect">
            <a:avLst/>
          </a:prstGeom>
          <a:noFill/>
          <a:ln>
            <a:noFill/>
          </a:ln>
        </p:spPr>
      </p:pic>
      <p:pic>
        <p:nvPicPr>
          <p:cNvPr id="193" name="Google Shape;193;p20"/>
          <p:cNvPicPr preferRelativeResize="0"/>
          <p:nvPr/>
        </p:nvPicPr>
        <p:blipFill>
          <a:blip r:embed="rId31">
            <a:alphaModFix/>
          </a:blip>
          <a:stretch>
            <a:fillRect/>
          </a:stretch>
        </p:blipFill>
        <p:spPr>
          <a:xfrm>
            <a:off x="8349737" y="4755829"/>
            <a:ext cx="344151" cy="233418"/>
          </a:xfrm>
          <a:prstGeom prst="rect">
            <a:avLst/>
          </a:prstGeom>
          <a:noFill/>
          <a:ln>
            <a:noFill/>
          </a:ln>
        </p:spPr>
      </p:pic>
      <p:pic>
        <p:nvPicPr>
          <p:cNvPr id="194" name="Google Shape;194;p20"/>
          <p:cNvPicPr preferRelativeResize="0"/>
          <p:nvPr/>
        </p:nvPicPr>
        <p:blipFill>
          <a:blip r:embed="rId32">
            <a:alphaModFix/>
          </a:blip>
          <a:stretch>
            <a:fillRect/>
          </a:stretch>
        </p:blipFill>
        <p:spPr>
          <a:xfrm>
            <a:off x="6913763" y="3721307"/>
            <a:ext cx="901225" cy="32901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ph type="title"/>
          </p:nvPr>
        </p:nvSpPr>
        <p:spPr>
          <a:xfrm>
            <a:off x="-24300" y="10808"/>
            <a:ext cx="2753400" cy="4419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sz="1600">
                <a:solidFill>
                  <a:srgbClr val="0000A0"/>
                </a:solidFill>
              </a:rPr>
              <a:t>AccuKnox Platform</a:t>
            </a:r>
            <a:endParaRPr sz="1600">
              <a:solidFill>
                <a:srgbClr val="0000A0"/>
              </a:solidFill>
            </a:endParaRPr>
          </a:p>
        </p:txBody>
      </p:sp>
      <p:sp>
        <p:nvSpPr>
          <p:cNvPr id="200" name="Google Shape;200;p21"/>
          <p:cNvSpPr txBox="1"/>
          <p:nvPr>
            <p:ph idx="12" type="sldNum"/>
          </p:nvPr>
        </p:nvSpPr>
        <p:spPr>
          <a:xfrm>
            <a:off x="8518383"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latin typeface="Space Grotesk"/>
                <a:ea typeface="Space Grotesk"/>
                <a:cs typeface="Space Grotesk"/>
                <a:sym typeface="Space Grotesk"/>
              </a:rPr>
              <a:t>‹#›</a:t>
            </a:fld>
            <a:endParaRPr>
              <a:solidFill>
                <a:schemeClr val="dk2"/>
              </a:solidFill>
              <a:latin typeface="Space Grotesk"/>
              <a:ea typeface="Space Grotesk"/>
              <a:cs typeface="Space Grotesk"/>
              <a:sym typeface="Space Grotesk"/>
            </a:endParaRPr>
          </a:p>
        </p:txBody>
      </p:sp>
      <p:grpSp>
        <p:nvGrpSpPr>
          <p:cNvPr id="201" name="Google Shape;201;p21"/>
          <p:cNvGrpSpPr/>
          <p:nvPr/>
        </p:nvGrpSpPr>
        <p:grpSpPr>
          <a:xfrm>
            <a:off x="-993" y="432075"/>
            <a:ext cx="9145981" cy="4711426"/>
            <a:chOff x="-1981" y="432075"/>
            <a:chExt cx="9145981" cy="4711426"/>
          </a:xfrm>
        </p:grpSpPr>
        <p:pic>
          <p:nvPicPr>
            <p:cNvPr id="202" name="Google Shape;202;p21"/>
            <p:cNvPicPr preferRelativeResize="0"/>
            <p:nvPr/>
          </p:nvPicPr>
          <p:blipFill rotWithShape="1">
            <a:blip r:embed="rId3">
              <a:alphaModFix/>
            </a:blip>
            <a:srcRect b="0" l="0" r="0" t="0"/>
            <a:stretch/>
          </p:blipFill>
          <p:spPr>
            <a:xfrm>
              <a:off x="-1975" y="1861322"/>
              <a:ext cx="9144000" cy="273650"/>
            </a:xfrm>
            <a:prstGeom prst="rect">
              <a:avLst/>
            </a:prstGeom>
            <a:noFill/>
            <a:ln>
              <a:noFill/>
            </a:ln>
          </p:spPr>
        </p:pic>
        <p:pic>
          <p:nvPicPr>
            <p:cNvPr id="203" name="Google Shape;203;p21"/>
            <p:cNvPicPr preferRelativeResize="0"/>
            <p:nvPr/>
          </p:nvPicPr>
          <p:blipFill rotWithShape="1">
            <a:blip r:embed="rId3">
              <a:alphaModFix/>
            </a:blip>
            <a:srcRect b="0" l="0" r="0" t="0"/>
            <a:stretch/>
          </p:blipFill>
          <p:spPr>
            <a:xfrm>
              <a:off x="-1975" y="459325"/>
              <a:ext cx="9144000" cy="273650"/>
            </a:xfrm>
            <a:prstGeom prst="rect">
              <a:avLst/>
            </a:prstGeom>
            <a:noFill/>
            <a:ln>
              <a:noFill/>
            </a:ln>
          </p:spPr>
        </p:pic>
        <p:sp>
          <p:nvSpPr>
            <p:cNvPr id="204" name="Google Shape;204;p21"/>
            <p:cNvSpPr/>
            <p:nvPr/>
          </p:nvSpPr>
          <p:spPr>
            <a:xfrm>
              <a:off x="7934063" y="3611775"/>
              <a:ext cx="903900" cy="210600"/>
            </a:xfrm>
            <a:prstGeom prst="homePlate">
              <a:avLst>
                <a:gd fmla="val 50000" name="adj"/>
              </a:avLst>
            </a:prstGeom>
            <a:solidFill>
              <a:srgbClr val="0000A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1"/>
            <p:cNvSpPr/>
            <p:nvPr/>
          </p:nvSpPr>
          <p:spPr>
            <a:xfrm>
              <a:off x="6405824" y="3614400"/>
              <a:ext cx="984300" cy="210600"/>
            </a:xfrm>
            <a:prstGeom prst="homePlate">
              <a:avLst>
                <a:gd fmla="val 50000" name="adj"/>
              </a:avLst>
            </a:prstGeom>
            <a:solidFill>
              <a:srgbClr val="0000C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1"/>
            <p:cNvSpPr/>
            <p:nvPr/>
          </p:nvSpPr>
          <p:spPr>
            <a:xfrm>
              <a:off x="4704363" y="3610800"/>
              <a:ext cx="1309800" cy="210600"/>
            </a:xfrm>
            <a:prstGeom prst="homePlate">
              <a:avLst>
                <a:gd fmla="val 50000" name="adj"/>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1"/>
            <p:cNvSpPr/>
            <p:nvPr/>
          </p:nvSpPr>
          <p:spPr>
            <a:xfrm>
              <a:off x="3224525" y="3612200"/>
              <a:ext cx="1186200" cy="210600"/>
            </a:xfrm>
            <a:prstGeom prst="homePlate">
              <a:avLst>
                <a:gd fmla="val 50000" name="adj"/>
              </a:avLst>
            </a:prstGeom>
            <a:solidFill>
              <a:srgbClr val="8080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1"/>
            <p:cNvSpPr/>
            <p:nvPr/>
          </p:nvSpPr>
          <p:spPr>
            <a:xfrm>
              <a:off x="1758674" y="3611775"/>
              <a:ext cx="1116000" cy="210600"/>
            </a:xfrm>
            <a:prstGeom prst="homePlate">
              <a:avLst>
                <a:gd fmla="val 50000" name="adj"/>
              </a:avLst>
            </a:prstGeom>
            <a:solidFill>
              <a:srgbClr val="B3B3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1"/>
            <p:cNvSpPr/>
            <p:nvPr/>
          </p:nvSpPr>
          <p:spPr>
            <a:xfrm>
              <a:off x="107600" y="3614390"/>
              <a:ext cx="1431600" cy="210600"/>
            </a:xfrm>
            <a:prstGeom prst="homePlate">
              <a:avLst>
                <a:gd fmla="val 50000" name="adj"/>
              </a:avLst>
            </a:prstGeom>
            <a:solidFill>
              <a:srgbClr val="E6E6F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1"/>
            <p:cNvSpPr/>
            <p:nvPr/>
          </p:nvSpPr>
          <p:spPr>
            <a:xfrm>
              <a:off x="8005425" y="2183450"/>
              <a:ext cx="903900" cy="210600"/>
            </a:xfrm>
            <a:prstGeom prst="homePlate">
              <a:avLst>
                <a:gd fmla="val 50000" name="adj"/>
              </a:avLst>
            </a:prstGeom>
            <a:solidFill>
              <a:srgbClr val="00007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1"/>
            <p:cNvSpPr/>
            <p:nvPr/>
          </p:nvSpPr>
          <p:spPr>
            <a:xfrm>
              <a:off x="6673138" y="2183450"/>
              <a:ext cx="1025100" cy="210600"/>
            </a:xfrm>
            <a:prstGeom prst="homePlate">
              <a:avLst>
                <a:gd fmla="val 50000" name="adj"/>
              </a:avLst>
            </a:prstGeom>
            <a:solidFill>
              <a:srgbClr val="0000A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1"/>
            <p:cNvSpPr/>
            <p:nvPr/>
          </p:nvSpPr>
          <p:spPr>
            <a:xfrm>
              <a:off x="5388338" y="2185531"/>
              <a:ext cx="1025100" cy="210600"/>
            </a:xfrm>
            <a:prstGeom prst="homePlate">
              <a:avLst>
                <a:gd fmla="val 50000" name="adj"/>
              </a:avLst>
            </a:prstGeom>
            <a:solidFill>
              <a:srgbClr val="0000C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1"/>
            <p:cNvSpPr/>
            <p:nvPr/>
          </p:nvSpPr>
          <p:spPr>
            <a:xfrm>
              <a:off x="4109388" y="2185543"/>
              <a:ext cx="984300" cy="210600"/>
            </a:xfrm>
            <a:prstGeom prst="homePlate">
              <a:avLst>
                <a:gd fmla="val 50000" name="adj"/>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1"/>
            <p:cNvSpPr/>
            <p:nvPr/>
          </p:nvSpPr>
          <p:spPr>
            <a:xfrm>
              <a:off x="2798462" y="2186243"/>
              <a:ext cx="1033500" cy="210600"/>
            </a:xfrm>
            <a:prstGeom prst="homePlate">
              <a:avLst>
                <a:gd fmla="val 50000" name="adj"/>
              </a:avLst>
            </a:prstGeom>
            <a:solidFill>
              <a:srgbClr val="8080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1"/>
            <p:cNvSpPr/>
            <p:nvPr/>
          </p:nvSpPr>
          <p:spPr>
            <a:xfrm>
              <a:off x="1562992" y="2183450"/>
              <a:ext cx="903900" cy="210600"/>
            </a:xfrm>
            <a:prstGeom prst="homePlate">
              <a:avLst>
                <a:gd fmla="val 50000" name="adj"/>
              </a:avLst>
            </a:prstGeom>
            <a:solidFill>
              <a:srgbClr val="B3B3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1"/>
            <p:cNvSpPr/>
            <p:nvPr/>
          </p:nvSpPr>
          <p:spPr>
            <a:xfrm>
              <a:off x="251401" y="2183450"/>
              <a:ext cx="903900" cy="210600"/>
            </a:xfrm>
            <a:prstGeom prst="homePlate">
              <a:avLst>
                <a:gd fmla="val 50000" name="adj"/>
              </a:avLst>
            </a:prstGeom>
            <a:solidFill>
              <a:srgbClr val="E6E6F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1"/>
            <p:cNvSpPr/>
            <p:nvPr/>
          </p:nvSpPr>
          <p:spPr>
            <a:xfrm>
              <a:off x="6794425" y="768000"/>
              <a:ext cx="903900" cy="210600"/>
            </a:xfrm>
            <a:prstGeom prst="homePlate">
              <a:avLst>
                <a:gd fmla="val 50000" name="adj"/>
              </a:avLst>
            </a:prstGeom>
            <a:solidFill>
              <a:srgbClr val="00007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1"/>
            <p:cNvSpPr/>
            <p:nvPr/>
          </p:nvSpPr>
          <p:spPr>
            <a:xfrm>
              <a:off x="7749875" y="771700"/>
              <a:ext cx="1272300" cy="210600"/>
            </a:xfrm>
            <a:prstGeom prst="homePlate">
              <a:avLst>
                <a:gd fmla="val 50000" name="adj"/>
              </a:avLst>
            </a:prstGeom>
            <a:solidFill>
              <a:srgbClr val="00006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1"/>
            <p:cNvSpPr/>
            <p:nvPr/>
          </p:nvSpPr>
          <p:spPr>
            <a:xfrm>
              <a:off x="5689888" y="771700"/>
              <a:ext cx="1025100" cy="210600"/>
            </a:xfrm>
            <a:prstGeom prst="homePlate">
              <a:avLst>
                <a:gd fmla="val 50000" name="adj"/>
              </a:avLst>
            </a:prstGeom>
            <a:solidFill>
              <a:srgbClr val="0000A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1"/>
            <p:cNvSpPr/>
            <p:nvPr/>
          </p:nvSpPr>
          <p:spPr>
            <a:xfrm>
              <a:off x="4551450" y="768000"/>
              <a:ext cx="1025100" cy="210600"/>
            </a:xfrm>
            <a:prstGeom prst="homePlate">
              <a:avLst>
                <a:gd fmla="val 50000" name="adj"/>
              </a:avLst>
            </a:prstGeom>
            <a:solidFill>
              <a:srgbClr val="0000C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1"/>
            <p:cNvSpPr/>
            <p:nvPr/>
          </p:nvSpPr>
          <p:spPr>
            <a:xfrm>
              <a:off x="292426" y="771700"/>
              <a:ext cx="903900" cy="210600"/>
            </a:xfrm>
            <a:prstGeom prst="homePlate">
              <a:avLst>
                <a:gd fmla="val 50000" name="adj"/>
              </a:avLst>
            </a:prstGeom>
            <a:solidFill>
              <a:srgbClr val="E6E6F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1"/>
            <p:cNvSpPr/>
            <p:nvPr/>
          </p:nvSpPr>
          <p:spPr>
            <a:xfrm>
              <a:off x="2388958" y="768000"/>
              <a:ext cx="1033500" cy="210600"/>
            </a:xfrm>
            <a:prstGeom prst="homePlate">
              <a:avLst>
                <a:gd fmla="val 50000" name="adj"/>
              </a:avLst>
            </a:prstGeom>
            <a:solidFill>
              <a:srgbClr val="8080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1"/>
            <p:cNvSpPr/>
            <p:nvPr/>
          </p:nvSpPr>
          <p:spPr>
            <a:xfrm>
              <a:off x="1357026" y="768000"/>
              <a:ext cx="903900" cy="210600"/>
            </a:xfrm>
            <a:prstGeom prst="homePlate">
              <a:avLst>
                <a:gd fmla="val 50000" name="adj"/>
              </a:avLst>
            </a:prstGeom>
            <a:solidFill>
              <a:srgbClr val="B3B3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1"/>
            <p:cNvSpPr/>
            <p:nvPr/>
          </p:nvSpPr>
          <p:spPr>
            <a:xfrm>
              <a:off x="3518400" y="771650"/>
              <a:ext cx="984300" cy="210600"/>
            </a:xfrm>
            <a:prstGeom prst="homePlate">
              <a:avLst>
                <a:gd fmla="val 50000" name="adj"/>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1"/>
            <p:cNvSpPr/>
            <p:nvPr/>
          </p:nvSpPr>
          <p:spPr>
            <a:xfrm>
              <a:off x="0" y="4968001"/>
              <a:ext cx="9144000" cy="175500"/>
            </a:xfrm>
            <a:prstGeom prst="rect">
              <a:avLst/>
            </a:prstGeom>
            <a:solidFill>
              <a:srgbClr val="8080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800" u="none" cap="none" strike="noStrike">
                  <a:solidFill>
                    <a:schemeClr val="lt1"/>
                  </a:solidFill>
                  <a:latin typeface="Space Grotesk SemiBold"/>
                  <a:ea typeface="Space Grotesk SemiBold"/>
                  <a:cs typeface="Space Grotesk SemiBold"/>
                  <a:sym typeface="Space Grotesk SemiBold"/>
                </a:rPr>
                <a:t>All Public Clouds. All Private Clouds. Clients may use one or more of these modules.</a:t>
              </a:r>
              <a:endParaRPr b="0" i="0" sz="800" u="none" cap="none" strike="noStrike">
                <a:solidFill>
                  <a:schemeClr val="lt1"/>
                </a:solidFill>
                <a:latin typeface="Space Grotesk SemiBold"/>
                <a:ea typeface="Space Grotesk SemiBold"/>
                <a:cs typeface="Space Grotesk SemiBold"/>
                <a:sym typeface="Space Grotesk SemiBold"/>
              </a:endParaRPr>
            </a:p>
          </p:txBody>
        </p:sp>
        <p:sp>
          <p:nvSpPr>
            <p:cNvPr id="226" name="Google Shape;226;p21"/>
            <p:cNvSpPr/>
            <p:nvPr/>
          </p:nvSpPr>
          <p:spPr>
            <a:xfrm>
              <a:off x="1568397" y="3842371"/>
              <a:ext cx="1470300" cy="827100"/>
            </a:xfrm>
            <a:prstGeom prst="rect">
              <a:avLst/>
            </a:prstGeom>
            <a:noFill/>
            <a:ln>
              <a:noFill/>
            </a:ln>
          </p:spPr>
          <p:txBody>
            <a:bodyPr anchorCtr="0" anchor="t" bIns="0" lIns="0" spcFirstLastPara="1" rIns="0" wrap="square" tIns="0">
              <a:noAutofit/>
            </a:bodyPr>
            <a:lstStyle/>
            <a:p>
              <a:pPr indent="-95250" lvl="0" marL="2857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API Discovery and Inventory</a:t>
              </a:r>
              <a:endParaRPr b="0" i="0" sz="600" u="none" cap="none" strike="noStrike">
                <a:solidFill>
                  <a:srgbClr val="000000"/>
                </a:solidFill>
                <a:latin typeface="Space Grotesk"/>
                <a:ea typeface="Space Grotesk"/>
                <a:cs typeface="Space Grotesk"/>
                <a:sym typeface="Space Grotesk"/>
              </a:endParaRPr>
            </a:p>
            <a:p>
              <a:pPr indent="-95250" lvl="0" marL="2857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Access Control and Enforcement</a:t>
              </a:r>
              <a:endParaRPr b="0" i="0" sz="600" u="none" cap="none" strike="noStrike">
                <a:solidFill>
                  <a:srgbClr val="000000"/>
                </a:solidFill>
                <a:latin typeface="Space Grotesk"/>
                <a:ea typeface="Space Grotesk"/>
                <a:cs typeface="Space Grotesk"/>
                <a:sym typeface="Space Grotesk"/>
              </a:endParaRPr>
            </a:p>
            <a:p>
              <a:pPr indent="-95250" lvl="0" marL="2857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Discover Shadow APIs, Rogue APIs, Orphan APIs</a:t>
              </a:r>
              <a:endParaRPr b="0" i="0" sz="600" u="none" cap="none" strike="noStrike">
                <a:solidFill>
                  <a:srgbClr val="000000"/>
                </a:solidFill>
                <a:latin typeface="Space Grotesk"/>
                <a:ea typeface="Space Grotesk"/>
                <a:cs typeface="Space Grotesk"/>
                <a:sym typeface="Space Grotesk"/>
              </a:endParaRPr>
            </a:p>
            <a:p>
              <a:pPr indent="-95250" lvl="0" marL="2857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OWASP Top 10</a:t>
              </a:r>
              <a:endParaRPr b="0" i="0" sz="600" u="none" cap="none" strike="noStrike">
                <a:solidFill>
                  <a:srgbClr val="000000"/>
                </a:solidFill>
                <a:latin typeface="Space Grotesk"/>
                <a:ea typeface="Space Grotesk"/>
                <a:cs typeface="Space Grotesk"/>
                <a:sym typeface="Space Grotesk"/>
              </a:endParaRPr>
            </a:p>
            <a:p>
              <a:pPr indent="-95250" lvl="0" marL="2857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Rate limiting </a:t>
              </a:r>
              <a:endParaRPr b="0" i="0" sz="600" u="none" cap="none" strike="noStrike">
                <a:solidFill>
                  <a:srgbClr val="000000"/>
                </a:solidFill>
                <a:latin typeface="Space Grotesk"/>
                <a:ea typeface="Space Grotesk"/>
                <a:cs typeface="Space Grotesk"/>
                <a:sym typeface="Space Grotesk"/>
              </a:endParaRPr>
            </a:p>
            <a:p>
              <a:pPr indent="-95250" lvl="0" marL="2857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Static API Security testing</a:t>
              </a:r>
              <a:endParaRPr b="0" i="0" sz="600" u="none" cap="none" strike="noStrike">
                <a:solidFill>
                  <a:srgbClr val="000000"/>
                </a:solidFill>
                <a:latin typeface="Space Grotesk"/>
                <a:ea typeface="Space Grotesk"/>
                <a:cs typeface="Space Grotesk"/>
                <a:sym typeface="Space Grotesk"/>
              </a:endParaRPr>
            </a:p>
          </p:txBody>
        </p:sp>
        <p:sp>
          <p:nvSpPr>
            <p:cNvPr id="227" name="Google Shape;227;p21"/>
            <p:cNvSpPr/>
            <p:nvPr/>
          </p:nvSpPr>
          <p:spPr>
            <a:xfrm>
              <a:off x="2388950" y="1846725"/>
              <a:ext cx="4366200" cy="300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200" u="none" cap="none" strike="noStrike">
                  <a:solidFill>
                    <a:srgbClr val="FFFFFF"/>
                  </a:solidFill>
                  <a:latin typeface="Space Grotesk SemiBold"/>
                  <a:ea typeface="Space Grotesk SemiBold"/>
                  <a:cs typeface="Space Grotesk SemiBold"/>
                  <a:sym typeface="Space Grotesk SemiBold"/>
                </a:rPr>
                <a:t>Cloud Native Application Protection Platform (CNAPP)</a:t>
              </a:r>
              <a:endParaRPr b="0" i="0" sz="1200" u="none" cap="none" strike="noStrike">
                <a:solidFill>
                  <a:srgbClr val="FFFFFF"/>
                </a:solidFill>
                <a:latin typeface="Space Grotesk SemiBold"/>
                <a:ea typeface="Space Grotesk SemiBold"/>
                <a:cs typeface="Space Grotesk SemiBold"/>
                <a:sym typeface="Space Grotesk SemiBold"/>
              </a:endParaRPr>
            </a:p>
          </p:txBody>
        </p:sp>
        <p:sp>
          <p:nvSpPr>
            <p:cNvPr id="228" name="Google Shape;228;p21"/>
            <p:cNvSpPr/>
            <p:nvPr/>
          </p:nvSpPr>
          <p:spPr>
            <a:xfrm>
              <a:off x="7637998" y="3842371"/>
              <a:ext cx="1431600" cy="906300"/>
            </a:xfrm>
            <a:prstGeom prst="rect">
              <a:avLst/>
            </a:prstGeom>
            <a:noFill/>
            <a:ln>
              <a:noFill/>
            </a:ln>
          </p:spPr>
          <p:txBody>
            <a:bodyPr anchorCtr="0" anchor="t" bIns="0" lIns="0" spcFirstLastPara="1" rIns="0" wrap="square" tIns="0">
              <a:noAutofit/>
            </a:bodyPr>
            <a:lstStyle/>
            <a:p>
              <a:pPr indent="-116967" lvl="0" marL="16459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Continuous Threat Exposure Management</a:t>
              </a:r>
              <a:endParaRPr b="0" i="0" sz="600" u="none" cap="none" strike="noStrike">
                <a:solidFill>
                  <a:srgbClr val="000000"/>
                </a:solidFill>
                <a:latin typeface="Space Grotesk"/>
                <a:ea typeface="Space Grotesk"/>
                <a:cs typeface="Space Grotesk"/>
                <a:sym typeface="Space Grotesk"/>
              </a:endParaRPr>
            </a:p>
            <a:p>
              <a:pPr indent="-116967" lvl="0" marL="16459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Adversarial Emulation and Validation</a:t>
              </a:r>
              <a:endParaRPr b="0" i="0" sz="600" u="none" cap="none" strike="noStrike">
                <a:solidFill>
                  <a:srgbClr val="000000"/>
                </a:solidFill>
                <a:latin typeface="Space Grotesk"/>
                <a:ea typeface="Space Grotesk"/>
                <a:cs typeface="Space Grotesk"/>
                <a:sym typeface="Space Grotesk"/>
              </a:endParaRPr>
            </a:p>
            <a:p>
              <a:pPr indent="-116967" lvl="0" marL="16459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Policy Enforcement &amp; Remediation (CDR)</a:t>
              </a:r>
              <a:endParaRPr b="0" i="0" sz="600" u="none" cap="none" strike="noStrike">
                <a:solidFill>
                  <a:srgbClr val="000000"/>
                </a:solidFill>
                <a:latin typeface="Calibri"/>
                <a:ea typeface="Calibri"/>
                <a:cs typeface="Calibri"/>
                <a:sym typeface="Calibri"/>
              </a:endParaRPr>
            </a:p>
            <a:p>
              <a:pPr indent="-116967" lvl="0" marL="16459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Real-Time Threat Detection</a:t>
              </a:r>
              <a:endParaRPr b="0" i="0" sz="600" u="none" cap="none" strike="noStrike">
                <a:solidFill>
                  <a:srgbClr val="000000"/>
                </a:solidFill>
                <a:latin typeface="Space Grotesk"/>
                <a:ea typeface="Space Grotesk"/>
                <a:cs typeface="Space Grotesk"/>
                <a:sym typeface="Space Grotesk"/>
              </a:endParaRPr>
            </a:p>
          </p:txBody>
        </p:sp>
        <p:sp>
          <p:nvSpPr>
            <p:cNvPr id="229" name="Google Shape;229;p21"/>
            <p:cNvSpPr/>
            <p:nvPr/>
          </p:nvSpPr>
          <p:spPr>
            <a:xfrm>
              <a:off x="-1981" y="4758206"/>
              <a:ext cx="9144000" cy="175500"/>
            </a:xfrm>
            <a:prstGeom prst="rect">
              <a:avLst/>
            </a:prstGeom>
            <a:solidFill>
              <a:srgbClr val="8080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800" u="none" cap="none" strike="noStrike">
                  <a:solidFill>
                    <a:schemeClr val="lt1"/>
                  </a:solidFill>
                  <a:latin typeface="Space Grotesk SemiBold"/>
                  <a:ea typeface="Space Grotesk SemiBold"/>
                  <a:cs typeface="Space Grotesk SemiBold"/>
                  <a:sym typeface="Space Grotesk SemiBold"/>
                </a:rPr>
                <a:t>GRC – 35+ Compliance Templates (POC, SOC2, NIST, ISO, GDPR, HIPAA, CIS, MITRE)</a:t>
              </a:r>
              <a:endParaRPr b="0" i="0" sz="800" u="none" cap="none" strike="noStrike">
                <a:solidFill>
                  <a:schemeClr val="lt1"/>
                </a:solidFill>
                <a:latin typeface="Space Grotesk SemiBold"/>
                <a:ea typeface="Space Grotesk SemiBold"/>
                <a:cs typeface="Space Grotesk SemiBold"/>
                <a:sym typeface="Space Grotesk SemiBold"/>
              </a:endParaRPr>
            </a:p>
          </p:txBody>
        </p:sp>
        <p:sp>
          <p:nvSpPr>
            <p:cNvPr id="230" name="Google Shape;230;p21"/>
            <p:cNvSpPr/>
            <p:nvPr/>
          </p:nvSpPr>
          <p:spPr>
            <a:xfrm>
              <a:off x="2657502"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Space Grotesk"/>
                  <a:ea typeface="Space Grotesk"/>
                  <a:cs typeface="Space Grotesk"/>
                  <a:sym typeface="Space Grotesk"/>
                </a:rPr>
                <a:t>CDR</a:t>
              </a:r>
              <a:endParaRPr b="1" i="0" sz="900" u="none" cap="none" strike="noStrike">
                <a:solidFill>
                  <a:srgbClr val="FFFFFF"/>
                </a:solidFill>
                <a:latin typeface="Space Grotesk"/>
                <a:ea typeface="Space Grotesk"/>
                <a:cs typeface="Space Grotesk"/>
                <a:sym typeface="Space Grotesk"/>
              </a:endParaRPr>
            </a:p>
          </p:txBody>
        </p:sp>
        <p:sp>
          <p:nvSpPr>
            <p:cNvPr id="231" name="Google Shape;231;p21"/>
            <p:cNvSpPr/>
            <p:nvPr/>
          </p:nvSpPr>
          <p:spPr>
            <a:xfrm>
              <a:off x="3957568"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900" u="none" cap="none" strike="noStrike">
                  <a:solidFill>
                    <a:srgbClr val="FFFFFF"/>
                  </a:solidFill>
                  <a:latin typeface="Space Grotesk"/>
                  <a:ea typeface="Space Grotesk"/>
                  <a:cs typeface="Space Grotesk"/>
                  <a:sym typeface="Space Grotesk"/>
                </a:rPr>
                <a:t>KSPM</a:t>
              </a:r>
              <a:endParaRPr b="1" i="0" sz="900" u="none" cap="none" strike="noStrike">
                <a:solidFill>
                  <a:srgbClr val="FFFFFF"/>
                </a:solidFill>
                <a:latin typeface="Space Grotesk"/>
                <a:ea typeface="Space Grotesk"/>
                <a:cs typeface="Space Grotesk"/>
                <a:sym typeface="Space Grotesk"/>
              </a:endParaRPr>
            </a:p>
          </p:txBody>
        </p:sp>
        <p:sp>
          <p:nvSpPr>
            <p:cNvPr id="232" name="Google Shape;232;p21"/>
            <p:cNvSpPr/>
            <p:nvPr/>
          </p:nvSpPr>
          <p:spPr>
            <a:xfrm>
              <a:off x="70213"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Space Grotesk"/>
                  <a:ea typeface="Space Grotesk"/>
                  <a:cs typeface="Space Grotesk"/>
                  <a:sym typeface="Space Grotesk"/>
                </a:rPr>
                <a:t>CSPM</a:t>
              </a:r>
              <a:endParaRPr b="1" i="0" sz="900" u="none" cap="none" strike="noStrike">
                <a:solidFill>
                  <a:srgbClr val="000000"/>
                </a:solidFill>
                <a:latin typeface="Space Grotesk"/>
                <a:ea typeface="Space Grotesk"/>
                <a:cs typeface="Space Grotesk"/>
                <a:sym typeface="Space Grotesk"/>
              </a:endParaRPr>
            </a:p>
          </p:txBody>
        </p:sp>
        <p:sp>
          <p:nvSpPr>
            <p:cNvPr id="233" name="Google Shape;233;p21"/>
            <p:cNvSpPr/>
            <p:nvPr/>
          </p:nvSpPr>
          <p:spPr>
            <a:xfrm>
              <a:off x="1375590"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Space Grotesk"/>
                  <a:ea typeface="Space Grotesk"/>
                  <a:cs typeface="Space Grotesk"/>
                  <a:sym typeface="Space Grotesk"/>
                </a:rPr>
                <a:t>CWPP</a:t>
              </a:r>
              <a:endParaRPr b="1" i="0" sz="900" u="none" cap="none" strike="noStrike">
                <a:solidFill>
                  <a:srgbClr val="000000"/>
                </a:solidFill>
                <a:latin typeface="Space Grotesk"/>
                <a:ea typeface="Space Grotesk"/>
                <a:cs typeface="Space Grotesk"/>
                <a:sym typeface="Space Grotesk"/>
              </a:endParaRPr>
            </a:p>
          </p:txBody>
        </p:sp>
        <p:sp>
          <p:nvSpPr>
            <p:cNvPr id="234" name="Google Shape;234;p21"/>
            <p:cNvSpPr/>
            <p:nvPr/>
          </p:nvSpPr>
          <p:spPr>
            <a:xfrm>
              <a:off x="92126" y="3842371"/>
              <a:ext cx="1409700" cy="9627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Static Application Security Testing (SAST)</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Dynamic Application Security Testing (DAST)</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Secret Scans</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IaC Scans</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Software Bill of Materials (SBOM)</a:t>
              </a:r>
              <a:endParaRPr b="0" i="0" sz="600" u="none" cap="none" strike="noStrike">
                <a:solidFill>
                  <a:srgbClr val="000000"/>
                </a:solidFill>
                <a:latin typeface="Space Grotesk"/>
                <a:ea typeface="Space Grotesk"/>
                <a:cs typeface="Space Grotesk"/>
                <a:sym typeface="Space Grotesk"/>
              </a:endParaRPr>
            </a:p>
          </p:txBody>
        </p:sp>
        <p:sp>
          <p:nvSpPr>
            <p:cNvPr id="235" name="Google Shape;235;p21"/>
            <p:cNvSpPr/>
            <p:nvPr/>
          </p:nvSpPr>
          <p:spPr>
            <a:xfrm>
              <a:off x="110250" y="2429875"/>
              <a:ext cx="1186200" cy="10248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Asset Inventory Visibility</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Drift Detection &amp; Remediation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Zero Trust Policy Enforcement</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Compliance &amp; Audit</a:t>
              </a:r>
              <a:endParaRPr b="0" i="0" sz="600" u="none" cap="none" strike="noStrike">
                <a:solidFill>
                  <a:srgbClr val="000000"/>
                </a:solidFill>
                <a:latin typeface="Calibri"/>
                <a:ea typeface="Calibri"/>
                <a:cs typeface="Calibri"/>
                <a:sym typeface="Calibri"/>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Benchmarks</a:t>
              </a:r>
              <a:endParaRPr b="0" i="0" sz="600" u="none" cap="none" strike="noStrike">
                <a:solidFill>
                  <a:srgbClr val="000000"/>
                </a:solidFill>
                <a:latin typeface="Space Grotesk"/>
                <a:ea typeface="Space Grotesk"/>
                <a:cs typeface="Space Grotesk"/>
                <a:sym typeface="Space Grotesk"/>
              </a:endParaRPr>
            </a:p>
          </p:txBody>
        </p:sp>
        <p:sp>
          <p:nvSpPr>
            <p:cNvPr id="236" name="Google Shape;236;p21"/>
            <p:cNvSpPr/>
            <p:nvPr/>
          </p:nvSpPr>
          <p:spPr>
            <a:xfrm>
              <a:off x="1353690" y="2429875"/>
              <a:ext cx="1268700" cy="827100"/>
            </a:xfrm>
            <a:prstGeom prst="rect">
              <a:avLst/>
            </a:prstGeom>
            <a:noFill/>
            <a:ln>
              <a:noFill/>
            </a:ln>
          </p:spPr>
          <p:txBody>
            <a:bodyPr anchorCtr="0" anchor="t" bIns="0" lIns="0" spcFirstLastPara="1" rIns="0" wrap="square" tIns="0">
              <a:noAutofit/>
            </a:bodyPr>
            <a:lstStyle/>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Least Permissive Posture Assessment</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Securing Secrets Manager</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Container &amp; VM Enforcement</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Runtime Threat Detection</a:t>
              </a:r>
              <a:endParaRPr b="0" i="0" sz="600" u="none" cap="none" strike="noStrike">
                <a:solidFill>
                  <a:srgbClr val="000000"/>
                </a:solidFill>
                <a:latin typeface="Space Grotesk"/>
                <a:ea typeface="Space Grotesk"/>
                <a:cs typeface="Space Grotesk"/>
                <a:sym typeface="Space Grotesk"/>
              </a:endParaRPr>
            </a:p>
          </p:txBody>
        </p:sp>
        <p:sp>
          <p:nvSpPr>
            <p:cNvPr id="237" name="Google Shape;237;p21"/>
            <p:cNvSpPr/>
            <p:nvPr/>
          </p:nvSpPr>
          <p:spPr>
            <a:xfrm>
              <a:off x="3938550" y="2429875"/>
              <a:ext cx="1190400" cy="11175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Cluster Misconfiguration Detection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CIS K8s Benchmark Findings</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K8s Identity &amp; Entitlement Management (KIEM)</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Pod &amp; Network Security Monitoring</a:t>
              </a:r>
              <a:endParaRPr b="0" i="0" sz="600" u="none" cap="none" strike="noStrike">
                <a:solidFill>
                  <a:srgbClr val="000000"/>
                </a:solidFill>
                <a:latin typeface="Space Grotesk"/>
                <a:ea typeface="Space Grotesk"/>
                <a:cs typeface="Space Grotesk"/>
                <a:sym typeface="Space Grotesk"/>
              </a:endParaRPr>
            </a:p>
          </p:txBody>
        </p:sp>
        <p:sp>
          <p:nvSpPr>
            <p:cNvPr id="238" name="Google Shape;238;p21"/>
            <p:cNvSpPr/>
            <p:nvPr/>
          </p:nvSpPr>
          <p:spPr>
            <a:xfrm>
              <a:off x="2679625" y="2429875"/>
              <a:ext cx="1186200" cy="1024800"/>
            </a:xfrm>
            <a:prstGeom prst="rect">
              <a:avLst/>
            </a:prstGeom>
            <a:noFill/>
            <a:ln>
              <a:noFill/>
            </a:ln>
          </p:spPr>
          <p:txBody>
            <a:bodyPr anchorCtr="0" anchor="t" bIns="0" lIns="0" spcFirstLastPara="1" rIns="0" wrap="square" tIns="0">
              <a:noAutofit/>
            </a:bodyPr>
            <a:lstStyle/>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Automatic Remediation of Public Exposures</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Real-Time Cloud Misconfiguration Detection</a:t>
              </a:r>
              <a:endParaRPr b="0" i="0" sz="600" u="none" cap="none" strike="noStrike">
                <a:solidFill>
                  <a:srgbClr val="000000"/>
                </a:solidFill>
                <a:latin typeface="Calibri"/>
                <a:ea typeface="Calibri"/>
                <a:cs typeface="Calibri"/>
                <a:sym typeface="Calibri"/>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Unauthorized Access and Geo-AnomaIy Detection</a:t>
              </a:r>
              <a:endParaRPr b="0" i="0" sz="600" u="none" cap="none" strike="noStrike">
                <a:solidFill>
                  <a:srgbClr val="000000"/>
                </a:solidFill>
                <a:latin typeface="Calibri"/>
                <a:ea typeface="Calibri"/>
                <a:cs typeface="Calibri"/>
                <a:sym typeface="Calibri"/>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Runtime Drift and Policy Enforcement</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Fast Incident Response </a:t>
              </a:r>
              <a:endParaRPr b="0" i="0" sz="600" u="none" cap="none" strike="noStrike">
                <a:solidFill>
                  <a:srgbClr val="000000"/>
                </a:solidFill>
                <a:latin typeface="Space Grotesk"/>
                <a:ea typeface="Space Grotesk"/>
                <a:cs typeface="Space Grotesk"/>
                <a:sym typeface="Space Grotesk"/>
              </a:endParaRPr>
            </a:p>
          </p:txBody>
        </p:sp>
        <p:sp>
          <p:nvSpPr>
            <p:cNvPr id="239" name="Google Shape;239;p21"/>
            <p:cNvSpPr/>
            <p:nvPr/>
          </p:nvSpPr>
          <p:spPr>
            <a:xfrm>
              <a:off x="6544867"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GRC</a:t>
              </a:r>
              <a:endParaRPr b="1" i="0" sz="900" u="none" cap="none" strike="noStrike">
                <a:solidFill>
                  <a:srgbClr val="FFFFFF"/>
                </a:solidFill>
                <a:latin typeface="Space Grotesk"/>
                <a:ea typeface="Space Grotesk"/>
                <a:cs typeface="Space Grotesk"/>
                <a:sym typeface="Space Grotesk"/>
              </a:endParaRPr>
            </a:p>
          </p:txBody>
        </p:sp>
        <p:sp>
          <p:nvSpPr>
            <p:cNvPr id="240" name="Google Shape;240;p21"/>
            <p:cNvSpPr/>
            <p:nvPr/>
          </p:nvSpPr>
          <p:spPr>
            <a:xfrm>
              <a:off x="7844933"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CIEM*</a:t>
              </a:r>
              <a:endParaRPr b="1" i="0" sz="900" u="none" cap="none" strike="noStrike">
                <a:solidFill>
                  <a:srgbClr val="FFFFFF"/>
                </a:solidFill>
                <a:latin typeface="Space Grotesk"/>
                <a:ea typeface="Space Grotesk"/>
                <a:cs typeface="Space Grotesk"/>
                <a:sym typeface="Space Grotesk"/>
              </a:endParaRPr>
            </a:p>
          </p:txBody>
        </p:sp>
        <p:sp>
          <p:nvSpPr>
            <p:cNvPr id="241" name="Google Shape;241;p21"/>
            <p:cNvSpPr/>
            <p:nvPr/>
          </p:nvSpPr>
          <p:spPr>
            <a:xfrm>
              <a:off x="5257643" y="2197771"/>
              <a:ext cx="12249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KIEM</a:t>
              </a:r>
              <a:endParaRPr b="1" i="0" sz="900" u="none" cap="none" strike="noStrike">
                <a:solidFill>
                  <a:srgbClr val="FFFFFF"/>
                </a:solidFill>
                <a:latin typeface="Space Grotesk"/>
                <a:ea typeface="Space Grotesk"/>
                <a:cs typeface="Space Grotesk"/>
                <a:sym typeface="Space Grotesk"/>
              </a:endParaRPr>
            </a:p>
          </p:txBody>
        </p:sp>
        <p:sp>
          <p:nvSpPr>
            <p:cNvPr id="242" name="Google Shape;242;p21"/>
            <p:cNvSpPr/>
            <p:nvPr/>
          </p:nvSpPr>
          <p:spPr>
            <a:xfrm>
              <a:off x="3454100" y="432075"/>
              <a:ext cx="2235900" cy="300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200" u="none" cap="none" strike="noStrike">
                  <a:solidFill>
                    <a:srgbClr val="FFFFFF"/>
                  </a:solidFill>
                  <a:latin typeface="Space Grotesk SemiBold"/>
                  <a:ea typeface="Space Grotesk SemiBold"/>
                  <a:cs typeface="Space Grotesk SemiBold"/>
                  <a:sym typeface="Space Grotesk SemiBold"/>
                </a:rPr>
                <a:t>AI Security</a:t>
              </a:r>
              <a:endParaRPr b="0" i="0" sz="1200" u="none" cap="none" strike="noStrike">
                <a:solidFill>
                  <a:srgbClr val="FFFFFF"/>
                </a:solidFill>
                <a:latin typeface="Space Grotesk SemiBold"/>
                <a:ea typeface="Space Grotesk SemiBold"/>
                <a:cs typeface="Space Grotesk SemiBold"/>
                <a:sym typeface="Space Grotesk SemiBold"/>
              </a:endParaRPr>
            </a:p>
          </p:txBody>
        </p:sp>
        <p:sp>
          <p:nvSpPr>
            <p:cNvPr id="243" name="Google Shape;243;p21"/>
            <p:cNvSpPr/>
            <p:nvPr/>
          </p:nvSpPr>
          <p:spPr>
            <a:xfrm>
              <a:off x="2324383" y="779325"/>
              <a:ext cx="11625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Space Grotesk"/>
                  <a:ea typeface="Space Grotesk"/>
                  <a:cs typeface="Space Grotesk"/>
                  <a:sym typeface="Space Grotesk"/>
                </a:rPr>
                <a:t>PROMPT FIREWALL</a:t>
              </a:r>
              <a:endParaRPr b="1" i="0" sz="800" u="none" cap="none" strike="noStrike">
                <a:solidFill>
                  <a:srgbClr val="FFFFFF"/>
                </a:solidFill>
                <a:latin typeface="Space Grotesk"/>
                <a:ea typeface="Space Grotesk"/>
                <a:cs typeface="Space Grotesk"/>
                <a:sym typeface="Space Grotesk"/>
              </a:endParaRPr>
            </a:p>
          </p:txBody>
        </p:sp>
        <p:sp>
          <p:nvSpPr>
            <p:cNvPr id="244" name="Google Shape;244;p21"/>
            <p:cNvSpPr/>
            <p:nvPr/>
          </p:nvSpPr>
          <p:spPr>
            <a:xfrm>
              <a:off x="3537150" y="783100"/>
              <a:ext cx="929400" cy="187800"/>
            </a:xfrm>
            <a:prstGeom prst="roundRect">
              <a:avLst>
                <a:gd fmla="val 0"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RED TEAMING</a:t>
              </a:r>
              <a:endParaRPr b="1" i="0" sz="900" u="none" cap="none" strike="noStrike">
                <a:solidFill>
                  <a:srgbClr val="FFFFFF"/>
                </a:solidFill>
                <a:latin typeface="Space Grotesk"/>
                <a:ea typeface="Space Grotesk"/>
                <a:cs typeface="Space Grotesk"/>
                <a:sym typeface="Space Grotesk"/>
              </a:endParaRPr>
            </a:p>
          </p:txBody>
        </p:sp>
        <p:sp>
          <p:nvSpPr>
            <p:cNvPr id="245" name="Google Shape;245;p21"/>
            <p:cNvSpPr/>
            <p:nvPr/>
          </p:nvSpPr>
          <p:spPr>
            <a:xfrm>
              <a:off x="168300" y="783100"/>
              <a:ext cx="10701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Space Grotesk"/>
                  <a:ea typeface="Space Grotesk"/>
                  <a:cs typeface="Space Grotesk"/>
                  <a:sym typeface="Space Grotesk"/>
                </a:rPr>
                <a:t>AI-SPM</a:t>
              </a:r>
              <a:endParaRPr b="1" i="0" sz="900" u="none" cap="none" strike="noStrike">
                <a:solidFill>
                  <a:srgbClr val="000000"/>
                </a:solidFill>
                <a:latin typeface="Space Grotesk"/>
                <a:ea typeface="Space Grotesk"/>
                <a:cs typeface="Space Grotesk"/>
                <a:sym typeface="Space Grotesk"/>
              </a:endParaRPr>
            </a:p>
          </p:txBody>
        </p:sp>
        <p:sp>
          <p:nvSpPr>
            <p:cNvPr id="246" name="Google Shape;246;p21"/>
            <p:cNvSpPr/>
            <p:nvPr/>
          </p:nvSpPr>
          <p:spPr>
            <a:xfrm>
              <a:off x="1440873" y="783100"/>
              <a:ext cx="687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Space Grotesk"/>
                  <a:ea typeface="Space Grotesk"/>
                  <a:cs typeface="Space Grotesk"/>
                  <a:sym typeface="Space Grotesk"/>
                </a:rPr>
                <a:t>AI-DR</a:t>
              </a:r>
              <a:endParaRPr b="1" i="0" sz="900" u="none" cap="none" strike="noStrike">
                <a:solidFill>
                  <a:srgbClr val="000000"/>
                </a:solidFill>
                <a:latin typeface="Space Grotesk"/>
                <a:ea typeface="Space Grotesk"/>
                <a:cs typeface="Space Grotesk"/>
                <a:sym typeface="Space Grotesk"/>
              </a:endParaRPr>
            </a:p>
          </p:txBody>
        </p:sp>
        <p:sp>
          <p:nvSpPr>
            <p:cNvPr id="247" name="Google Shape;247;p21"/>
            <p:cNvSpPr/>
            <p:nvPr/>
          </p:nvSpPr>
          <p:spPr>
            <a:xfrm>
              <a:off x="5832262" y="783100"/>
              <a:ext cx="687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DSPM*</a:t>
              </a:r>
              <a:endParaRPr b="1" i="0" sz="900" u="none" cap="none" strike="noStrike">
                <a:solidFill>
                  <a:srgbClr val="FFFFFF"/>
                </a:solidFill>
                <a:latin typeface="Space Grotesk"/>
                <a:ea typeface="Space Grotesk"/>
                <a:cs typeface="Space Grotesk"/>
                <a:sym typeface="Space Grotesk"/>
              </a:endParaRPr>
            </a:p>
          </p:txBody>
        </p:sp>
        <p:sp>
          <p:nvSpPr>
            <p:cNvPr id="248" name="Google Shape;248;p21"/>
            <p:cNvSpPr/>
            <p:nvPr/>
          </p:nvSpPr>
          <p:spPr>
            <a:xfrm>
              <a:off x="6904227" y="783100"/>
              <a:ext cx="687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GRC*</a:t>
              </a:r>
              <a:endParaRPr b="1" i="0" sz="900" u="none" cap="none" strike="noStrike">
                <a:solidFill>
                  <a:srgbClr val="FFFFFF"/>
                </a:solidFill>
                <a:latin typeface="Space Grotesk"/>
                <a:ea typeface="Space Grotesk"/>
                <a:cs typeface="Space Grotesk"/>
                <a:sym typeface="Space Grotesk"/>
              </a:endParaRPr>
            </a:p>
          </p:txBody>
        </p:sp>
        <p:sp>
          <p:nvSpPr>
            <p:cNvPr id="249" name="Google Shape;249;p21"/>
            <p:cNvSpPr/>
            <p:nvPr/>
          </p:nvSpPr>
          <p:spPr>
            <a:xfrm>
              <a:off x="4502688" y="783100"/>
              <a:ext cx="10701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PEN TESTING</a:t>
              </a:r>
              <a:endParaRPr b="1" i="0" sz="900" u="none" cap="none" strike="noStrike">
                <a:solidFill>
                  <a:srgbClr val="FFFFFF"/>
                </a:solidFill>
                <a:latin typeface="Space Grotesk"/>
                <a:ea typeface="Space Grotesk"/>
                <a:cs typeface="Space Grotesk"/>
                <a:sym typeface="Space Grotesk"/>
              </a:endParaRPr>
            </a:p>
          </p:txBody>
        </p:sp>
        <p:sp>
          <p:nvSpPr>
            <p:cNvPr id="250" name="Google Shape;250;p21"/>
            <p:cNvSpPr/>
            <p:nvPr/>
          </p:nvSpPr>
          <p:spPr>
            <a:xfrm>
              <a:off x="7740275" y="806950"/>
              <a:ext cx="1272300" cy="131100"/>
            </a:xfrm>
            <a:prstGeom prst="roundRect">
              <a:avLst>
                <a:gd fmla="val 0"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AGENTIC SECURITY*</a:t>
              </a:r>
              <a:endParaRPr b="1" i="0" sz="900" u="none" cap="none" strike="noStrike">
                <a:solidFill>
                  <a:srgbClr val="FFFFFF"/>
                </a:solidFill>
                <a:latin typeface="Space Grotesk"/>
                <a:ea typeface="Space Grotesk"/>
                <a:cs typeface="Space Grotesk"/>
                <a:sym typeface="Space Grotesk"/>
              </a:endParaRPr>
            </a:p>
          </p:txBody>
        </p:sp>
        <p:sp>
          <p:nvSpPr>
            <p:cNvPr id="251" name="Google Shape;251;p21"/>
            <p:cNvSpPr/>
            <p:nvPr/>
          </p:nvSpPr>
          <p:spPr>
            <a:xfrm>
              <a:off x="3094330" y="3624475"/>
              <a:ext cx="1431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SBOM SECURITY</a:t>
              </a:r>
              <a:endParaRPr b="1" i="0" sz="900" u="none" cap="none" strike="noStrike">
                <a:solidFill>
                  <a:srgbClr val="FFFFFF"/>
                </a:solidFill>
                <a:latin typeface="Space Grotesk"/>
                <a:ea typeface="Space Grotesk"/>
                <a:cs typeface="Space Grotesk"/>
                <a:sym typeface="Space Grotesk"/>
              </a:endParaRPr>
            </a:p>
          </p:txBody>
        </p:sp>
        <p:sp>
          <p:nvSpPr>
            <p:cNvPr id="252" name="Google Shape;252;p21"/>
            <p:cNvSpPr/>
            <p:nvPr/>
          </p:nvSpPr>
          <p:spPr>
            <a:xfrm>
              <a:off x="4613887" y="3624475"/>
              <a:ext cx="1431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SECURING SECRETS</a:t>
              </a:r>
              <a:endParaRPr b="1" i="0" sz="900" u="none" cap="none" strike="noStrike">
                <a:solidFill>
                  <a:srgbClr val="FFFFFF"/>
                </a:solidFill>
                <a:latin typeface="Space Grotesk"/>
                <a:ea typeface="Space Grotesk"/>
                <a:cs typeface="Space Grotesk"/>
                <a:sym typeface="Space Grotesk"/>
              </a:endParaRPr>
            </a:p>
          </p:txBody>
        </p:sp>
        <p:sp>
          <p:nvSpPr>
            <p:cNvPr id="253" name="Google Shape;253;p21"/>
            <p:cNvSpPr/>
            <p:nvPr/>
          </p:nvSpPr>
          <p:spPr>
            <a:xfrm>
              <a:off x="30175" y="3624475"/>
              <a:ext cx="15117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Space Grotesk"/>
                  <a:ea typeface="Space Grotesk"/>
                  <a:cs typeface="Space Grotesk"/>
                  <a:sym typeface="Space Grotesk"/>
                </a:rPr>
                <a:t>APP SECURITY (ASPM)</a:t>
              </a:r>
              <a:endParaRPr b="1" i="0" sz="900" u="none" cap="none" strike="noStrike">
                <a:solidFill>
                  <a:srgbClr val="000000"/>
                </a:solidFill>
                <a:latin typeface="Space Grotesk"/>
                <a:ea typeface="Space Grotesk"/>
                <a:cs typeface="Space Grotesk"/>
                <a:sym typeface="Space Grotesk"/>
              </a:endParaRPr>
            </a:p>
          </p:txBody>
        </p:sp>
        <p:sp>
          <p:nvSpPr>
            <p:cNvPr id="254" name="Google Shape;254;p21"/>
            <p:cNvSpPr/>
            <p:nvPr/>
          </p:nvSpPr>
          <p:spPr>
            <a:xfrm>
              <a:off x="1589784" y="3624475"/>
              <a:ext cx="1431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Space Grotesk"/>
                  <a:ea typeface="Space Grotesk"/>
                  <a:cs typeface="Space Grotesk"/>
                  <a:sym typeface="Space Grotesk"/>
                </a:rPr>
                <a:t>API SECURITY</a:t>
              </a:r>
              <a:endParaRPr b="1" i="0" sz="900" u="none" cap="none" strike="noStrike">
                <a:solidFill>
                  <a:srgbClr val="000000"/>
                </a:solidFill>
                <a:latin typeface="Space Grotesk"/>
                <a:ea typeface="Space Grotesk"/>
                <a:cs typeface="Space Grotesk"/>
                <a:sym typeface="Space Grotesk"/>
              </a:endParaRPr>
            </a:p>
          </p:txBody>
        </p:sp>
        <p:sp>
          <p:nvSpPr>
            <p:cNvPr id="255" name="Google Shape;255;p21"/>
            <p:cNvSpPr/>
            <p:nvPr/>
          </p:nvSpPr>
          <p:spPr>
            <a:xfrm>
              <a:off x="7638001" y="3624475"/>
              <a:ext cx="1431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CTEM*</a:t>
              </a:r>
              <a:endParaRPr b="1" i="0" sz="900" u="none" cap="none" strike="noStrike">
                <a:solidFill>
                  <a:srgbClr val="FFFFFF"/>
                </a:solidFill>
                <a:latin typeface="Space Grotesk"/>
                <a:ea typeface="Space Grotesk"/>
                <a:cs typeface="Space Grotesk"/>
                <a:sym typeface="Space Grotesk"/>
              </a:endParaRPr>
            </a:p>
          </p:txBody>
        </p:sp>
        <p:sp>
          <p:nvSpPr>
            <p:cNvPr id="256" name="Google Shape;256;p21"/>
            <p:cNvSpPr/>
            <p:nvPr/>
          </p:nvSpPr>
          <p:spPr>
            <a:xfrm>
              <a:off x="6133455" y="3624475"/>
              <a:ext cx="1431600" cy="1878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Space Grotesk"/>
                  <a:ea typeface="Space Grotesk"/>
                  <a:cs typeface="Space Grotesk"/>
                  <a:sym typeface="Space Grotesk"/>
                </a:rPr>
                <a:t>SIEM</a:t>
              </a:r>
              <a:endParaRPr b="1" i="0" sz="900" u="none" cap="none" strike="noStrike">
                <a:solidFill>
                  <a:srgbClr val="FFFFFF"/>
                </a:solidFill>
                <a:latin typeface="Space Grotesk"/>
                <a:ea typeface="Space Grotesk"/>
                <a:cs typeface="Space Grotesk"/>
                <a:sym typeface="Space Grotesk"/>
              </a:endParaRPr>
            </a:p>
          </p:txBody>
        </p:sp>
        <p:sp>
          <p:nvSpPr>
            <p:cNvPr id="257" name="Google Shape;257;p21"/>
            <p:cNvSpPr/>
            <p:nvPr/>
          </p:nvSpPr>
          <p:spPr>
            <a:xfrm>
              <a:off x="3105275" y="3842374"/>
              <a:ext cx="1409700" cy="8271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"Shift Left" Security in CI/CD</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Software Supply Chain Visibility</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Dependancy Drift Detection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Multi-Format SBOM Ingestion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Audit-Ready SBOM Reporting</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LIve SBOM Generation</a:t>
              </a:r>
              <a:endParaRPr b="0" i="0" sz="600" u="none" cap="none" strike="noStrike">
                <a:solidFill>
                  <a:srgbClr val="000000"/>
                </a:solidFill>
                <a:latin typeface="Space Grotesk"/>
                <a:ea typeface="Space Grotesk"/>
                <a:cs typeface="Space Grotesk"/>
                <a:sym typeface="Space Grotesk"/>
              </a:endParaRPr>
            </a:p>
          </p:txBody>
        </p:sp>
        <p:sp>
          <p:nvSpPr>
            <p:cNvPr id="258" name="Google Shape;258;p21"/>
            <p:cNvSpPr/>
            <p:nvPr/>
          </p:nvSpPr>
          <p:spPr>
            <a:xfrm>
              <a:off x="7822576" y="2429875"/>
              <a:ext cx="1309800" cy="1220400"/>
            </a:xfrm>
            <a:prstGeom prst="rect">
              <a:avLst/>
            </a:prstGeom>
            <a:noFill/>
            <a:ln>
              <a:noFill/>
            </a:ln>
          </p:spPr>
          <p:txBody>
            <a:bodyPr anchorCtr="0" anchor="t" bIns="0" lIns="0" spcFirstLastPara="1" rIns="0" wrap="square" tIns="0">
              <a:noAutofit/>
            </a:bodyPr>
            <a:lstStyle/>
            <a:p>
              <a:pPr indent="-134112" lvl="0" marL="21031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Unified Multi-CIoud Entitlement Visibility</a:t>
              </a:r>
              <a:endParaRPr b="0" i="0" sz="600" u="none" cap="none" strike="noStrike">
                <a:solidFill>
                  <a:srgbClr val="000000"/>
                </a:solidFill>
                <a:latin typeface="Space Grotesk"/>
                <a:ea typeface="Space Grotesk"/>
                <a:cs typeface="Space Grotesk"/>
                <a:sym typeface="Space Grotesk"/>
              </a:endParaRPr>
            </a:p>
            <a:p>
              <a:pPr indent="-134112" lvl="0" marL="21031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Cross-Cloud Identity and Permission Correlation</a:t>
              </a:r>
              <a:endParaRPr b="0" i="0" sz="600" u="none" cap="none" strike="noStrike">
                <a:solidFill>
                  <a:srgbClr val="000000"/>
                </a:solidFill>
                <a:latin typeface="Calibri"/>
                <a:ea typeface="Calibri"/>
                <a:cs typeface="Calibri"/>
                <a:sym typeface="Calibri"/>
              </a:endParaRPr>
            </a:p>
            <a:p>
              <a:pPr indent="-134112" lvl="0" marL="21031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Consistent Multi-Cloud CIEM Controls</a:t>
              </a:r>
              <a:endParaRPr b="0" i="0" sz="600" u="none" cap="none" strike="noStrike">
                <a:solidFill>
                  <a:srgbClr val="000000"/>
                </a:solidFill>
                <a:latin typeface="Calibri"/>
                <a:ea typeface="Calibri"/>
                <a:cs typeface="Calibri"/>
                <a:sym typeface="Calibri"/>
              </a:endParaRPr>
            </a:p>
            <a:p>
              <a:pPr indent="-134112" lvl="0" marL="21031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Centralized Risk Detection and Prioritization</a:t>
              </a:r>
              <a:endParaRPr b="0" i="0" sz="600" u="none" cap="none" strike="noStrike">
                <a:solidFill>
                  <a:srgbClr val="000000"/>
                </a:solidFill>
                <a:latin typeface="Calibri"/>
                <a:ea typeface="Calibri"/>
                <a:cs typeface="Calibri"/>
                <a:sym typeface="Calibri"/>
              </a:endParaRPr>
            </a:p>
            <a:p>
              <a:pPr indent="-134112" lvl="0" marL="210312"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Single Control Plane for Identity Risk</a:t>
              </a:r>
              <a:endParaRPr b="0" i="0" sz="600" u="none" cap="none" strike="noStrike">
                <a:solidFill>
                  <a:srgbClr val="000000"/>
                </a:solidFill>
                <a:latin typeface="Space Grotesk"/>
                <a:ea typeface="Space Grotesk"/>
                <a:cs typeface="Space Grotesk"/>
                <a:sym typeface="Space Grotesk"/>
              </a:endParaRPr>
            </a:p>
          </p:txBody>
        </p:sp>
        <p:sp>
          <p:nvSpPr>
            <p:cNvPr id="259" name="Google Shape;259;p21"/>
            <p:cNvSpPr/>
            <p:nvPr/>
          </p:nvSpPr>
          <p:spPr>
            <a:xfrm>
              <a:off x="6118414" y="3842371"/>
              <a:ext cx="1546200" cy="706500"/>
            </a:xfrm>
            <a:prstGeom prst="rect">
              <a:avLst/>
            </a:prstGeom>
            <a:noFill/>
            <a:ln>
              <a:noFill/>
            </a:ln>
          </p:spPr>
          <p:txBody>
            <a:bodyPr anchorCtr="0" anchor="t" bIns="0" lIns="0" spcFirstLastPara="1" rIns="0" wrap="square" tIns="0">
              <a:noAutofit/>
            </a:bodyPr>
            <a:lstStyle/>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Centralized Log Management</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Alert Fatigue Reduction</a:t>
              </a:r>
              <a:endParaRPr b="0" i="0" sz="600" u="none" cap="none" strike="noStrike">
                <a:solidFill>
                  <a:srgbClr val="000000"/>
                </a:solidFill>
                <a:latin typeface="Space Grotesk"/>
                <a:ea typeface="Space Grotesk"/>
                <a:cs typeface="Space Grotesk"/>
                <a:sym typeface="Space Grotesk"/>
              </a:endParaRPr>
            </a:p>
            <a:p>
              <a:pPr indent="-123825"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Audit Readiness</a:t>
              </a:r>
              <a:endParaRPr b="0" i="0" sz="600" u="none" cap="none" strike="noStrike">
                <a:solidFill>
                  <a:srgbClr val="000000"/>
                </a:solidFill>
                <a:latin typeface="Space Grotesk"/>
                <a:ea typeface="Space Grotesk"/>
                <a:cs typeface="Space Grotesk"/>
                <a:sym typeface="Space Grotesk"/>
              </a:endParaRPr>
            </a:p>
          </p:txBody>
        </p:sp>
        <p:sp>
          <p:nvSpPr>
            <p:cNvPr id="260" name="Google Shape;260;p21"/>
            <p:cNvSpPr/>
            <p:nvPr/>
          </p:nvSpPr>
          <p:spPr>
            <a:xfrm>
              <a:off x="4615669" y="3842371"/>
              <a:ext cx="1470300" cy="6090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Hardcoded Credential Scanning</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Dynamic Secret Generation</a:t>
              </a:r>
              <a:endParaRPr b="0" i="0" sz="600" u="none" cap="none" strike="noStrike">
                <a:solidFill>
                  <a:srgbClr val="000000"/>
                </a:solidFill>
                <a:latin typeface="Calibri"/>
                <a:ea typeface="Calibri"/>
                <a:cs typeface="Calibri"/>
                <a:sym typeface="Calibri"/>
              </a:endParaRPr>
            </a:p>
            <a:p>
              <a:pPr indent="-95250" lvl="0" marL="171450" marR="0" rtl="0" algn="l">
                <a:lnSpc>
                  <a:spcPct val="115000"/>
                </a:lnSpc>
                <a:spcBef>
                  <a:spcPts val="0"/>
                </a:spcBef>
                <a:spcAft>
                  <a:spcPts val="0"/>
                </a:spcAft>
                <a:buClr>
                  <a:srgbClr val="999999"/>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Runtime Secrets Hardening</a:t>
              </a:r>
              <a:endParaRPr b="0" i="0" sz="600" u="none" cap="none" strike="noStrike">
                <a:solidFill>
                  <a:srgbClr val="000000"/>
                </a:solidFill>
                <a:latin typeface="Space Grotesk"/>
                <a:ea typeface="Space Grotesk"/>
                <a:cs typeface="Space Grotesk"/>
                <a:sym typeface="Space Grotesk"/>
              </a:endParaRPr>
            </a:p>
          </p:txBody>
        </p:sp>
        <p:sp>
          <p:nvSpPr>
            <p:cNvPr id="261" name="Google Shape;261;p21"/>
            <p:cNvSpPr/>
            <p:nvPr/>
          </p:nvSpPr>
          <p:spPr>
            <a:xfrm>
              <a:off x="5249000" y="2429875"/>
              <a:ext cx="1190400" cy="11175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RBAC Relationship Mapping</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Kubernetes Access and Identitiy Governance</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RBAC Drift Detection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Excessive &amp; Least Privilege Detection and Enforcement</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Detections of dangling service accounts </a:t>
              </a:r>
              <a:endParaRPr b="0" i="0" sz="600" u="none" cap="none" strike="noStrike">
                <a:solidFill>
                  <a:srgbClr val="000000"/>
                </a:solidFill>
                <a:latin typeface="Space Grotesk"/>
                <a:ea typeface="Space Grotesk"/>
                <a:cs typeface="Space Grotesk"/>
                <a:sym typeface="Space Grotesk"/>
              </a:endParaRPr>
            </a:p>
          </p:txBody>
        </p:sp>
        <p:sp>
          <p:nvSpPr>
            <p:cNvPr id="262" name="Google Shape;262;p21"/>
            <p:cNvSpPr/>
            <p:nvPr/>
          </p:nvSpPr>
          <p:spPr>
            <a:xfrm>
              <a:off x="6559450" y="2429875"/>
              <a:ext cx="1190400" cy="11175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Agentless Compliance Posture Discovery</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STIG, CIS Compliance for VMs</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SOC2, CIS and Cluster Misconfigurations for Kubernetes Cluster</a:t>
              </a:r>
              <a:endParaRPr b="0" i="0" sz="600" u="none" cap="none" strike="noStrike">
                <a:solidFill>
                  <a:srgbClr val="000000"/>
                </a:solidFill>
                <a:latin typeface="Space Grotesk"/>
                <a:ea typeface="Space Grotesk"/>
                <a:cs typeface="Space Grotesk"/>
                <a:sym typeface="Space Grotesk"/>
              </a:endParaRPr>
            </a:p>
          </p:txBody>
        </p:sp>
        <p:sp>
          <p:nvSpPr>
            <p:cNvPr id="263" name="Google Shape;263;p21"/>
            <p:cNvSpPr/>
            <p:nvPr/>
          </p:nvSpPr>
          <p:spPr>
            <a:xfrm>
              <a:off x="4535100" y="1013628"/>
              <a:ext cx="1025100" cy="7689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Model Vulnerability Testing</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Attack Simulation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Attack Surface Discovery</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Exploit Simulation</a:t>
              </a:r>
              <a:endParaRPr b="0" i="0" sz="600" u="none" cap="none" strike="noStrike">
                <a:solidFill>
                  <a:srgbClr val="000000"/>
                </a:solidFill>
                <a:latin typeface="Space Grotesk"/>
                <a:ea typeface="Space Grotesk"/>
                <a:cs typeface="Space Grotesk"/>
                <a:sym typeface="Space Grotesk"/>
              </a:endParaRPr>
            </a:p>
            <a:p>
              <a:pPr indent="0" lvl="0" marL="457200" marR="0" rtl="0" algn="l">
                <a:lnSpc>
                  <a:spcPct val="115000"/>
                </a:lnSpc>
                <a:spcBef>
                  <a:spcPts val="0"/>
                </a:spcBef>
                <a:spcAft>
                  <a:spcPts val="0"/>
                </a:spcAft>
                <a:buClr>
                  <a:srgbClr val="000000"/>
                </a:buClr>
                <a:buSzPts val="600"/>
                <a:buFont typeface="Arial"/>
                <a:buNone/>
              </a:pPr>
              <a:r>
                <a:t/>
              </a:r>
              <a:endParaRPr b="0" i="0" sz="600" u="none" cap="none" strike="noStrike">
                <a:solidFill>
                  <a:srgbClr val="000000"/>
                </a:solidFill>
                <a:latin typeface="Space Grotesk"/>
                <a:ea typeface="Space Grotesk"/>
                <a:cs typeface="Space Grotesk"/>
                <a:sym typeface="Space Grotesk"/>
              </a:endParaRPr>
            </a:p>
          </p:txBody>
        </p:sp>
        <p:sp>
          <p:nvSpPr>
            <p:cNvPr id="264" name="Google Shape;264;p21"/>
            <p:cNvSpPr/>
            <p:nvPr/>
          </p:nvSpPr>
          <p:spPr>
            <a:xfrm>
              <a:off x="5663499" y="1013628"/>
              <a:ext cx="1025100" cy="7689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Multi-Cloud Data Discovery</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Unauthorized and Sensitive  Data Access Detection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Privileged User Risk Monitoring</a:t>
              </a:r>
              <a:endParaRPr b="0" i="0" sz="600" u="none" cap="none" strike="noStrike">
                <a:solidFill>
                  <a:srgbClr val="000000"/>
                </a:solidFill>
                <a:latin typeface="Space Grotesk"/>
                <a:ea typeface="Space Grotesk"/>
                <a:cs typeface="Space Grotesk"/>
                <a:sym typeface="Space Grotesk"/>
              </a:endParaRPr>
            </a:p>
          </p:txBody>
        </p:sp>
        <p:sp>
          <p:nvSpPr>
            <p:cNvPr id="265" name="Google Shape;265;p21"/>
            <p:cNvSpPr/>
            <p:nvPr/>
          </p:nvSpPr>
          <p:spPr>
            <a:xfrm>
              <a:off x="124975" y="1013628"/>
              <a:ext cx="1025100" cy="7689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Infrastructure Discovery - LLMs , MLs, Agentic Applications</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Risk Disovery across hybrid AI infrastructure</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Compliance</a:t>
              </a:r>
              <a:endParaRPr b="0" i="0" sz="600" u="none" cap="none" strike="noStrike">
                <a:solidFill>
                  <a:srgbClr val="000000"/>
                </a:solidFill>
                <a:latin typeface="Space Grotesk"/>
                <a:ea typeface="Space Grotesk"/>
                <a:cs typeface="Space Grotesk"/>
                <a:sym typeface="Space Grotesk"/>
              </a:endParaRPr>
            </a:p>
          </p:txBody>
        </p:sp>
        <p:sp>
          <p:nvSpPr>
            <p:cNvPr id="266" name="Google Shape;266;p21"/>
            <p:cNvSpPr/>
            <p:nvPr/>
          </p:nvSpPr>
          <p:spPr>
            <a:xfrm>
              <a:off x="1253374" y="1013628"/>
              <a:ext cx="1025100" cy="7689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Region specific LLM Deployment Enforcement</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Sensitive Data Risk Alerts</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Public AI Asset Auto-Remediation</a:t>
              </a:r>
              <a:endParaRPr b="0" i="0" sz="600" u="none" cap="none" strike="noStrike">
                <a:solidFill>
                  <a:srgbClr val="000000"/>
                </a:solidFill>
                <a:latin typeface="Space Grotesk"/>
                <a:ea typeface="Space Grotesk"/>
                <a:cs typeface="Space Grotesk"/>
                <a:sym typeface="Space Grotesk"/>
              </a:endParaRPr>
            </a:p>
          </p:txBody>
        </p:sp>
        <p:sp>
          <p:nvSpPr>
            <p:cNvPr id="267" name="Google Shape;267;p21"/>
            <p:cNvSpPr/>
            <p:nvPr/>
          </p:nvSpPr>
          <p:spPr>
            <a:xfrm>
              <a:off x="2354875" y="1013625"/>
              <a:ext cx="1025100" cy="8271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Prevention of Data Loss (DLP)</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Runtime AI Policy Enforcement</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Real-Time Prompt Monitoring</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Policy Violation Detection</a:t>
              </a:r>
              <a:endParaRPr b="0" i="0" sz="600" u="none" cap="none" strike="noStrike">
                <a:solidFill>
                  <a:srgbClr val="000000"/>
                </a:solidFill>
                <a:latin typeface="Space Grotesk"/>
                <a:ea typeface="Space Grotesk"/>
                <a:cs typeface="Space Grotesk"/>
                <a:sym typeface="Space Grotesk"/>
              </a:endParaRPr>
            </a:p>
          </p:txBody>
        </p:sp>
        <p:sp>
          <p:nvSpPr>
            <p:cNvPr id="268" name="Google Shape;268;p21"/>
            <p:cNvSpPr/>
            <p:nvPr/>
          </p:nvSpPr>
          <p:spPr>
            <a:xfrm>
              <a:off x="3451888" y="977825"/>
              <a:ext cx="1070100" cy="9063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Model Integrity Monitoring</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Lifecycle Security</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AI Pipeline Visibility and Protection</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Adaptive Threat Testing-Dynamic Red Teaming </a:t>
              </a:r>
              <a:endParaRPr b="0" i="0" sz="600" u="none" cap="none" strike="noStrike">
                <a:solidFill>
                  <a:srgbClr val="000000"/>
                </a:solidFill>
                <a:latin typeface="Space Grotesk"/>
                <a:ea typeface="Space Grotesk"/>
                <a:cs typeface="Space Grotesk"/>
                <a:sym typeface="Space Grotesk"/>
              </a:endParaRPr>
            </a:p>
          </p:txBody>
        </p:sp>
        <p:sp>
          <p:nvSpPr>
            <p:cNvPr id="269" name="Google Shape;269;p21"/>
            <p:cNvSpPr/>
            <p:nvPr/>
          </p:nvSpPr>
          <p:spPr>
            <a:xfrm>
              <a:off x="6735475" y="1013628"/>
              <a:ext cx="1025100" cy="7689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Agentless Compliance Discovery across 34+ Compliance</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Supports Compliance for Multi-Cloud CSPs (AWS, AZURE, GCP, Oracle) </a:t>
              </a:r>
              <a:endParaRPr b="0" i="0" sz="600" u="none" cap="none" strike="noStrike">
                <a:solidFill>
                  <a:srgbClr val="000000"/>
                </a:solidFill>
                <a:latin typeface="Space Grotesk"/>
                <a:ea typeface="Space Grotesk"/>
                <a:cs typeface="Space Grotesk"/>
                <a:sym typeface="Space Grotesk"/>
              </a:endParaRPr>
            </a:p>
          </p:txBody>
        </p:sp>
        <p:sp>
          <p:nvSpPr>
            <p:cNvPr id="270" name="Google Shape;270;p21"/>
            <p:cNvSpPr/>
            <p:nvPr/>
          </p:nvSpPr>
          <p:spPr>
            <a:xfrm>
              <a:off x="7863874" y="1013628"/>
              <a:ext cx="1025100" cy="768900"/>
            </a:xfrm>
            <a:prstGeom prst="rect">
              <a:avLst/>
            </a:prstGeom>
            <a:noFill/>
            <a:ln>
              <a:noFill/>
            </a:ln>
          </p:spPr>
          <p:txBody>
            <a:bodyPr anchorCtr="0" anchor="t" bIns="0" lIns="0" spcFirstLastPara="1" rIns="0" wrap="square" tIns="0">
              <a:noAutofit/>
            </a:bodyPr>
            <a:lstStyle/>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Discovery  of Agentic AI Application on Hybrid AI Infrastructure</a:t>
              </a:r>
              <a:endParaRPr b="0" i="0" sz="600" u="none" cap="none" strike="noStrike">
                <a:solidFill>
                  <a:srgbClr val="000000"/>
                </a:solidFill>
                <a:latin typeface="Space Grotesk"/>
                <a:ea typeface="Space Grotesk"/>
                <a:cs typeface="Space Grotesk"/>
                <a:sym typeface="Space Grotesk"/>
              </a:endParaRPr>
            </a:p>
            <a:p>
              <a:pPr indent="-95250" lvl="0" marL="171450" marR="0" rtl="0" algn="l">
                <a:lnSpc>
                  <a:spcPct val="115000"/>
                </a:lnSpc>
                <a:spcBef>
                  <a:spcPts val="0"/>
                </a:spcBef>
                <a:spcAft>
                  <a:spcPts val="0"/>
                </a:spcAft>
                <a:buClr>
                  <a:srgbClr val="888888"/>
                </a:buClr>
                <a:buSzPts val="600"/>
                <a:buFont typeface="Space Grotesk"/>
                <a:buChar char="↗"/>
              </a:pPr>
              <a:r>
                <a:rPr b="0" i="0" lang="en" sz="600" u="none" cap="none" strike="noStrike">
                  <a:solidFill>
                    <a:srgbClr val="000000"/>
                  </a:solidFill>
                  <a:latin typeface="Space Grotesk"/>
                  <a:ea typeface="Space Grotesk"/>
                  <a:cs typeface="Space Grotesk"/>
                  <a:sym typeface="Space Grotesk"/>
                </a:rPr>
                <a:t>Sandboxing Applications based on the real time behaviour</a:t>
              </a:r>
              <a:endParaRPr b="0" i="0" sz="600" u="none" cap="none" strike="noStrike">
                <a:solidFill>
                  <a:srgbClr val="000000"/>
                </a:solidFill>
                <a:latin typeface="Space Grotesk"/>
                <a:ea typeface="Space Grotesk"/>
                <a:cs typeface="Space Grotesk"/>
                <a:sym typeface="Space Grotesk"/>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2"/>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solidFill>
                  <a:srgbClr val="888888"/>
                </a:solidFill>
                <a:latin typeface="Montserrat Medium"/>
                <a:ea typeface="Montserrat Medium"/>
                <a:cs typeface="Montserrat Medium"/>
                <a:sym typeface="Montserrat Medium"/>
              </a:rPr>
              <a:t>‹#›</a:t>
            </a:fld>
            <a:endParaRPr>
              <a:solidFill>
                <a:srgbClr val="888888"/>
              </a:solidFill>
              <a:latin typeface="Montserrat Medium"/>
              <a:ea typeface="Montserrat Medium"/>
              <a:cs typeface="Montserrat Medium"/>
              <a:sym typeface="Montserrat Medium"/>
            </a:endParaRPr>
          </a:p>
        </p:txBody>
      </p:sp>
      <p:sp>
        <p:nvSpPr>
          <p:cNvPr id="276" name="Google Shape;276;p22"/>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AccuKnox Code to Cognition Solution CNAPP</a:t>
            </a:r>
            <a:endParaRPr/>
          </a:p>
        </p:txBody>
      </p:sp>
      <p:sp>
        <p:nvSpPr>
          <p:cNvPr id="277" name="Google Shape;277;p22"/>
          <p:cNvSpPr txBox="1"/>
          <p:nvPr/>
        </p:nvSpPr>
        <p:spPr>
          <a:xfrm>
            <a:off x="8728887" y="4883719"/>
            <a:ext cx="248700" cy="1119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sz="700">
                <a:solidFill>
                  <a:srgbClr val="888888"/>
                </a:solidFill>
                <a:latin typeface="Montserrat Medium"/>
                <a:ea typeface="Montserrat Medium"/>
                <a:cs typeface="Montserrat Medium"/>
                <a:sym typeface="Montserrat Medium"/>
              </a:rPr>
              <a:t>‹#›</a:t>
            </a:fld>
            <a:endParaRPr sz="700">
              <a:solidFill>
                <a:srgbClr val="888888"/>
              </a:solidFill>
              <a:latin typeface="Montserrat Medium"/>
              <a:ea typeface="Montserrat Medium"/>
              <a:cs typeface="Montserrat Medium"/>
              <a:sym typeface="Montserrat Medium"/>
            </a:endParaRPr>
          </a:p>
        </p:txBody>
      </p:sp>
      <p:sp>
        <p:nvSpPr>
          <p:cNvPr id="278" name="Google Shape;278;p22"/>
          <p:cNvSpPr/>
          <p:nvPr/>
        </p:nvSpPr>
        <p:spPr>
          <a:xfrm>
            <a:off x="245450" y="890908"/>
            <a:ext cx="7156500" cy="3438000"/>
          </a:xfrm>
          <a:prstGeom prst="roundRect">
            <a:avLst>
              <a:gd fmla="val 5055" name="adj"/>
            </a:avLst>
          </a:prstGeom>
          <a:solidFill>
            <a:srgbClr val="FFFFFF"/>
          </a:solidFill>
          <a:ln cap="flat" cmpd="sng" w="23850">
            <a:solidFill>
              <a:srgbClr val="000078"/>
            </a:solidFill>
            <a:prstDash val="solid"/>
            <a:round/>
            <a:headEnd len="sm" w="sm" type="none"/>
            <a:tailEnd len="sm" w="sm" type="none"/>
          </a:ln>
        </p:spPr>
        <p:txBody>
          <a:bodyPr anchorCtr="0" anchor="ctr" bIns="76325" lIns="76325" spcFirstLastPara="1" rIns="76325" wrap="square" tIns="76325">
            <a:noAutofit/>
          </a:bodyPr>
          <a:lstStyle/>
          <a:p>
            <a:pPr indent="0" lvl="0" marL="0" marR="0" rtl="0" algn="ctr">
              <a:lnSpc>
                <a:spcPct val="100000"/>
              </a:lnSpc>
              <a:spcBef>
                <a:spcPts val="0"/>
              </a:spcBef>
              <a:spcAft>
                <a:spcPts val="0"/>
              </a:spcAft>
              <a:buClr>
                <a:srgbClr val="000000"/>
              </a:buClr>
              <a:buSzPts val="1169"/>
              <a:buFont typeface="Arial"/>
              <a:buNone/>
            </a:pPr>
            <a:r>
              <a:t/>
            </a:r>
            <a:endParaRPr b="0" i="0" sz="1169" u="none" cap="none" strike="noStrike">
              <a:solidFill>
                <a:srgbClr val="000000"/>
              </a:solidFill>
              <a:latin typeface="Arial"/>
              <a:ea typeface="Arial"/>
              <a:cs typeface="Arial"/>
              <a:sym typeface="Arial"/>
            </a:endParaRPr>
          </a:p>
        </p:txBody>
      </p:sp>
      <p:sp>
        <p:nvSpPr>
          <p:cNvPr id="279" name="Google Shape;279;p22"/>
          <p:cNvSpPr/>
          <p:nvPr/>
        </p:nvSpPr>
        <p:spPr>
          <a:xfrm>
            <a:off x="1263204" y="1534495"/>
            <a:ext cx="742800" cy="5499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0" name="Google Shape;280;p22"/>
          <p:cNvSpPr/>
          <p:nvPr/>
        </p:nvSpPr>
        <p:spPr>
          <a:xfrm>
            <a:off x="2118232" y="1535215"/>
            <a:ext cx="742800" cy="5499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1" name="Google Shape;281;p22"/>
          <p:cNvSpPr/>
          <p:nvPr/>
        </p:nvSpPr>
        <p:spPr>
          <a:xfrm>
            <a:off x="3808541" y="1535153"/>
            <a:ext cx="742800" cy="5499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2" name="Google Shape;282;p22"/>
          <p:cNvSpPr/>
          <p:nvPr/>
        </p:nvSpPr>
        <p:spPr>
          <a:xfrm>
            <a:off x="3140396" y="3423446"/>
            <a:ext cx="917400" cy="7668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3" name="Google Shape;283;p22"/>
          <p:cNvSpPr/>
          <p:nvPr/>
        </p:nvSpPr>
        <p:spPr>
          <a:xfrm>
            <a:off x="1952057" y="3406833"/>
            <a:ext cx="1116600" cy="7668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4" name="Google Shape;284;p22"/>
          <p:cNvSpPr/>
          <p:nvPr/>
        </p:nvSpPr>
        <p:spPr>
          <a:xfrm>
            <a:off x="4139831" y="3423442"/>
            <a:ext cx="1546800" cy="7668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5" name="Google Shape;285;p22"/>
          <p:cNvSpPr/>
          <p:nvPr/>
        </p:nvSpPr>
        <p:spPr>
          <a:xfrm>
            <a:off x="394608" y="3398518"/>
            <a:ext cx="1498800" cy="7668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6" name="Google Shape;286;p22"/>
          <p:cNvSpPr/>
          <p:nvPr/>
        </p:nvSpPr>
        <p:spPr>
          <a:xfrm>
            <a:off x="2338324" y="2190982"/>
            <a:ext cx="3013800" cy="11562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7" name="Google Shape;287;p22"/>
          <p:cNvSpPr/>
          <p:nvPr/>
        </p:nvSpPr>
        <p:spPr>
          <a:xfrm>
            <a:off x="5441159" y="2181611"/>
            <a:ext cx="1729800" cy="11562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288" name="Google Shape;288;p22"/>
          <p:cNvSpPr/>
          <p:nvPr/>
        </p:nvSpPr>
        <p:spPr>
          <a:xfrm>
            <a:off x="386766" y="2181613"/>
            <a:ext cx="1862700" cy="11562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pic>
        <p:nvPicPr>
          <p:cNvPr id="289" name="Google Shape;289;p22"/>
          <p:cNvPicPr preferRelativeResize="0"/>
          <p:nvPr/>
        </p:nvPicPr>
        <p:blipFill rotWithShape="1">
          <a:blip r:embed="rId3">
            <a:alphaModFix/>
          </a:blip>
          <a:srcRect b="0" l="0" r="0" t="0"/>
          <a:stretch/>
        </p:blipFill>
        <p:spPr>
          <a:xfrm>
            <a:off x="4501413" y="3486374"/>
            <a:ext cx="194027" cy="193572"/>
          </a:xfrm>
          <a:prstGeom prst="rect">
            <a:avLst/>
          </a:prstGeom>
          <a:noFill/>
          <a:ln>
            <a:noFill/>
          </a:ln>
        </p:spPr>
      </p:pic>
      <p:pic>
        <p:nvPicPr>
          <p:cNvPr id="290" name="Google Shape;290;p22" title="Group 41127124.png"/>
          <p:cNvPicPr preferRelativeResize="0"/>
          <p:nvPr/>
        </p:nvPicPr>
        <p:blipFill rotWithShape="1">
          <a:blip r:embed="rId4">
            <a:alphaModFix/>
          </a:blip>
          <a:srcRect b="0" l="0" r="0" t="0"/>
          <a:stretch/>
        </p:blipFill>
        <p:spPr>
          <a:xfrm>
            <a:off x="485857" y="2568566"/>
            <a:ext cx="385640" cy="307460"/>
          </a:xfrm>
          <a:prstGeom prst="rect">
            <a:avLst/>
          </a:prstGeom>
          <a:noFill/>
          <a:ln>
            <a:noFill/>
          </a:ln>
        </p:spPr>
      </p:pic>
      <p:pic>
        <p:nvPicPr>
          <p:cNvPr id="291" name="Google Shape;291;p22" title="Group 41127125.png"/>
          <p:cNvPicPr preferRelativeResize="0"/>
          <p:nvPr/>
        </p:nvPicPr>
        <p:blipFill rotWithShape="1">
          <a:blip r:embed="rId5">
            <a:alphaModFix/>
          </a:blip>
          <a:srcRect b="0" l="0" r="0" t="0"/>
          <a:stretch/>
        </p:blipFill>
        <p:spPr>
          <a:xfrm>
            <a:off x="906315" y="2568560"/>
            <a:ext cx="385642" cy="307471"/>
          </a:xfrm>
          <a:prstGeom prst="rect">
            <a:avLst/>
          </a:prstGeom>
          <a:noFill/>
          <a:ln>
            <a:noFill/>
          </a:ln>
        </p:spPr>
      </p:pic>
      <p:pic>
        <p:nvPicPr>
          <p:cNvPr id="292" name="Google Shape;292;p22" title="Group 41127126.png"/>
          <p:cNvPicPr preferRelativeResize="0"/>
          <p:nvPr/>
        </p:nvPicPr>
        <p:blipFill rotWithShape="1">
          <a:blip r:embed="rId6">
            <a:alphaModFix/>
          </a:blip>
          <a:srcRect b="0" l="0" r="0" t="0"/>
          <a:stretch/>
        </p:blipFill>
        <p:spPr>
          <a:xfrm>
            <a:off x="1326776" y="2568560"/>
            <a:ext cx="385651" cy="307478"/>
          </a:xfrm>
          <a:prstGeom prst="rect">
            <a:avLst/>
          </a:prstGeom>
          <a:noFill/>
          <a:ln>
            <a:noFill/>
          </a:ln>
        </p:spPr>
      </p:pic>
      <p:pic>
        <p:nvPicPr>
          <p:cNvPr id="293" name="Google Shape;293;p22" title="Group 41127127.png"/>
          <p:cNvPicPr preferRelativeResize="0"/>
          <p:nvPr/>
        </p:nvPicPr>
        <p:blipFill rotWithShape="1">
          <a:blip r:embed="rId7">
            <a:alphaModFix/>
          </a:blip>
          <a:srcRect b="0" l="0" r="0" t="0"/>
          <a:stretch/>
        </p:blipFill>
        <p:spPr>
          <a:xfrm>
            <a:off x="1730628" y="2568560"/>
            <a:ext cx="385651" cy="307478"/>
          </a:xfrm>
          <a:prstGeom prst="rect">
            <a:avLst/>
          </a:prstGeom>
          <a:noFill/>
          <a:ln>
            <a:noFill/>
          </a:ln>
        </p:spPr>
      </p:pic>
      <p:pic>
        <p:nvPicPr>
          <p:cNvPr id="294" name="Google Shape;294;p22" title="Group 41127122.png"/>
          <p:cNvPicPr preferRelativeResize="0"/>
          <p:nvPr/>
        </p:nvPicPr>
        <p:blipFill rotWithShape="1">
          <a:blip r:embed="rId8">
            <a:alphaModFix/>
          </a:blip>
          <a:srcRect b="0" l="0" r="0" t="0"/>
          <a:stretch/>
        </p:blipFill>
        <p:spPr>
          <a:xfrm>
            <a:off x="4786068" y="2570665"/>
            <a:ext cx="356125" cy="281521"/>
          </a:xfrm>
          <a:prstGeom prst="rect">
            <a:avLst/>
          </a:prstGeom>
          <a:noFill/>
          <a:ln>
            <a:noFill/>
          </a:ln>
        </p:spPr>
      </p:pic>
      <p:pic>
        <p:nvPicPr>
          <p:cNvPr id="295" name="Google Shape;295;p22" title="Group 41127123.png"/>
          <p:cNvPicPr preferRelativeResize="0"/>
          <p:nvPr/>
        </p:nvPicPr>
        <p:blipFill rotWithShape="1">
          <a:blip r:embed="rId9">
            <a:alphaModFix/>
          </a:blip>
          <a:srcRect b="0" l="0" r="0" t="0"/>
          <a:stretch/>
        </p:blipFill>
        <p:spPr>
          <a:xfrm>
            <a:off x="2567095" y="2554340"/>
            <a:ext cx="356129" cy="281534"/>
          </a:xfrm>
          <a:prstGeom prst="rect">
            <a:avLst/>
          </a:prstGeom>
          <a:noFill/>
          <a:ln>
            <a:noFill/>
          </a:ln>
        </p:spPr>
      </p:pic>
      <p:pic>
        <p:nvPicPr>
          <p:cNvPr id="296" name="Google Shape;296;p22" title="Group 41127128.png"/>
          <p:cNvPicPr preferRelativeResize="0"/>
          <p:nvPr/>
        </p:nvPicPr>
        <p:blipFill rotWithShape="1">
          <a:blip r:embed="rId10">
            <a:alphaModFix/>
          </a:blip>
          <a:srcRect b="0" l="0" r="0" t="0"/>
          <a:stretch/>
        </p:blipFill>
        <p:spPr>
          <a:xfrm>
            <a:off x="3309384" y="2554340"/>
            <a:ext cx="356129" cy="281534"/>
          </a:xfrm>
          <a:prstGeom prst="rect">
            <a:avLst/>
          </a:prstGeom>
          <a:noFill/>
          <a:ln>
            <a:noFill/>
          </a:ln>
        </p:spPr>
      </p:pic>
      <p:pic>
        <p:nvPicPr>
          <p:cNvPr id="297" name="Google Shape;297;p22" title="Group 41127129.png"/>
          <p:cNvPicPr preferRelativeResize="0"/>
          <p:nvPr/>
        </p:nvPicPr>
        <p:blipFill rotWithShape="1">
          <a:blip r:embed="rId11">
            <a:alphaModFix/>
          </a:blip>
          <a:srcRect b="0" l="0" r="0" t="0"/>
          <a:stretch/>
        </p:blipFill>
        <p:spPr>
          <a:xfrm>
            <a:off x="3309383" y="2942156"/>
            <a:ext cx="356129" cy="281534"/>
          </a:xfrm>
          <a:prstGeom prst="rect">
            <a:avLst/>
          </a:prstGeom>
          <a:noFill/>
          <a:ln>
            <a:noFill/>
          </a:ln>
        </p:spPr>
      </p:pic>
      <p:pic>
        <p:nvPicPr>
          <p:cNvPr id="298" name="Google Shape;298;p22" title="Group 41127130.png"/>
          <p:cNvPicPr preferRelativeResize="0"/>
          <p:nvPr/>
        </p:nvPicPr>
        <p:blipFill rotWithShape="1">
          <a:blip r:embed="rId12">
            <a:alphaModFix/>
          </a:blip>
          <a:srcRect b="0" l="0" r="0" t="0"/>
          <a:stretch/>
        </p:blipFill>
        <p:spPr>
          <a:xfrm>
            <a:off x="4104684" y="2572418"/>
            <a:ext cx="356129" cy="281534"/>
          </a:xfrm>
          <a:prstGeom prst="rect">
            <a:avLst/>
          </a:prstGeom>
          <a:noFill/>
          <a:ln>
            <a:noFill/>
          </a:ln>
        </p:spPr>
      </p:pic>
      <p:pic>
        <p:nvPicPr>
          <p:cNvPr id="299" name="Google Shape;299;p22" title="Group 41127135.png"/>
          <p:cNvPicPr preferRelativeResize="0"/>
          <p:nvPr/>
        </p:nvPicPr>
        <p:blipFill rotWithShape="1">
          <a:blip r:embed="rId13">
            <a:alphaModFix/>
          </a:blip>
          <a:srcRect b="0" l="0" r="0" t="0"/>
          <a:stretch/>
        </p:blipFill>
        <p:spPr>
          <a:xfrm>
            <a:off x="6445205" y="2603095"/>
            <a:ext cx="469186" cy="370897"/>
          </a:xfrm>
          <a:prstGeom prst="rect">
            <a:avLst/>
          </a:prstGeom>
          <a:noFill/>
          <a:ln>
            <a:noFill/>
          </a:ln>
        </p:spPr>
      </p:pic>
      <p:pic>
        <p:nvPicPr>
          <p:cNvPr id="300" name="Google Shape;300;p22" title="Group 41127131.png"/>
          <p:cNvPicPr preferRelativeResize="0"/>
          <p:nvPr/>
        </p:nvPicPr>
        <p:blipFill rotWithShape="1">
          <a:blip r:embed="rId14">
            <a:alphaModFix/>
          </a:blip>
          <a:srcRect b="0" l="0" r="0" t="0"/>
          <a:stretch/>
        </p:blipFill>
        <p:spPr>
          <a:xfrm>
            <a:off x="2567093" y="2941388"/>
            <a:ext cx="356129" cy="281534"/>
          </a:xfrm>
          <a:prstGeom prst="rect">
            <a:avLst/>
          </a:prstGeom>
          <a:noFill/>
          <a:ln>
            <a:noFill/>
          </a:ln>
        </p:spPr>
      </p:pic>
      <p:pic>
        <p:nvPicPr>
          <p:cNvPr id="301" name="Google Shape;301;p22" title="Group 41127133.png"/>
          <p:cNvPicPr preferRelativeResize="0"/>
          <p:nvPr/>
        </p:nvPicPr>
        <p:blipFill rotWithShape="1">
          <a:blip r:embed="rId15">
            <a:alphaModFix/>
          </a:blip>
          <a:srcRect b="0" l="0" r="0" t="0"/>
          <a:stretch/>
        </p:blipFill>
        <p:spPr>
          <a:xfrm>
            <a:off x="4104682" y="2942147"/>
            <a:ext cx="356129" cy="281534"/>
          </a:xfrm>
          <a:prstGeom prst="rect">
            <a:avLst/>
          </a:prstGeom>
          <a:noFill/>
          <a:ln>
            <a:noFill/>
          </a:ln>
        </p:spPr>
      </p:pic>
      <p:pic>
        <p:nvPicPr>
          <p:cNvPr id="302" name="Google Shape;302;p22" title="Group 41127136.png"/>
          <p:cNvPicPr preferRelativeResize="0"/>
          <p:nvPr/>
        </p:nvPicPr>
        <p:blipFill rotWithShape="1">
          <a:blip r:embed="rId16">
            <a:alphaModFix/>
          </a:blip>
          <a:srcRect b="0" l="0" r="0" t="0"/>
          <a:stretch/>
        </p:blipFill>
        <p:spPr>
          <a:xfrm>
            <a:off x="4786063" y="2943729"/>
            <a:ext cx="356129" cy="281534"/>
          </a:xfrm>
          <a:prstGeom prst="rect">
            <a:avLst/>
          </a:prstGeom>
          <a:noFill/>
          <a:ln>
            <a:noFill/>
          </a:ln>
        </p:spPr>
      </p:pic>
      <p:pic>
        <p:nvPicPr>
          <p:cNvPr id="303" name="Google Shape;303;p22" title="Group 41127134.png"/>
          <p:cNvPicPr preferRelativeResize="0"/>
          <p:nvPr/>
        </p:nvPicPr>
        <p:blipFill rotWithShape="1">
          <a:blip r:embed="rId17">
            <a:alphaModFix/>
          </a:blip>
          <a:srcRect b="0" l="0" r="0" t="0"/>
          <a:stretch/>
        </p:blipFill>
        <p:spPr>
          <a:xfrm>
            <a:off x="5684696" y="2603095"/>
            <a:ext cx="469191" cy="370914"/>
          </a:xfrm>
          <a:prstGeom prst="rect">
            <a:avLst/>
          </a:prstGeom>
          <a:noFill/>
          <a:ln>
            <a:noFill/>
          </a:ln>
        </p:spPr>
      </p:pic>
      <p:sp>
        <p:nvSpPr>
          <p:cNvPr id="304" name="Google Shape;304;p22"/>
          <p:cNvSpPr/>
          <p:nvPr/>
        </p:nvSpPr>
        <p:spPr>
          <a:xfrm>
            <a:off x="916229" y="3457550"/>
            <a:ext cx="549900" cy="197400"/>
          </a:xfrm>
          <a:prstGeom prst="roundRect">
            <a:avLst>
              <a:gd fmla="val 16667" name="adj"/>
            </a:avLst>
          </a:prstGeom>
          <a:noFill/>
          <a:ln>
            <a:noFill/>
          </a:ln>
        </p:spPr>
        <p:txBody>
          <a:bodyPr anchorCtr="0" anchor="b" bIns="0" lIns="58575" spcFirstLastPara="1" rIns="58575" wrap="square" tIns="58575">
            <a:noAutofit/>
          </a:bodyPr>
          <a:lstStyle/>
          <a:p>
            <a:pPr indent="0" lvl="0" marL="0" marR="0" rtl="0" algn="ctr">
              <a:lnSpc>
                <a:spcPct val="100000"/>
              </a:lnSpc>
              <a:spcBef>
                <a:spcPts val="0"/>
              </a:spcBef>
              <a:spcAft>
                <a:spcPts val="0"/>
              </a:spcAft>
              <a:buClr>
                <a:srgbClr val="000000"/>
              </a:buClr>
              <a:buSzPts val="769"/>
              <a:buFont typeface="Montserrat"/>
              <a:buNone/>
            </a:pPr>
            <a:r>
              <a:rPr b="0" i="0" lang="en" sz="769" u="none" cap="none" strike="noStrike">
                <a:solidFill>
                  <a:srgbClr val="000000"/>
                </a:solidFill>
                <a:latin typeface="Space Grotesk SemiBold"/>
                <a:ea typeface="Space Grotesk SemiBold"/>
                <a:cs typeface="Space Grotesk SemiBold"/>
                <a:sym typeface="Space Grotesk SemiBold"/>
              </a:rPr>
              <a:t>ASK AI</a:t>
            </a:r>
            <a:endParaRPr b="0" i="0" sz="769" u="none" cap="none" strike="noStrike">
              <a:solidFill>
                <a:srgbClr val="000000"/>
              </a:solidFill>
              <a:latin typeface="Space Grotesk SemiBold"/>
              <a:ea typeface="Space Grotesk SemiBold"/>
              <a:cs typeface="Space Grotesk SemiBold"/>
              <a:sym typeface="Space Grotesk SemiBold"/>
            </a:endParaRPr>
          </a:p>
        </p:txBody>
      </p:sp>
      <p:pic>
        <p:nvPicPr>
          <p:cNvPr id="305" name="Google Shape;305;p22"/>
          <p:cNvPicPr preferRelativeResize="0"/>
          <p:nvPr/>
        </p:nvPicPr>
        <p:blipFill rotWithShape="1">
          <a:blip r:embed="rId18">
            <a:alphaModFix/>
          </a:blip>
          <a:srcRect b="0" l="0" r="0" t="0"/>
          <a:stretch/>
        </p:blipFill>
        <p:spPr>
          <a:xfrm>
            <a:off x="2202143" y="3489001"/>
            <a:ext cx="194028" cy="194028"/>
          </a:xfrm>
          <a:prstGeom prst="rect">
            <a:avLst/>
          </a:prstGeom>
          <a:noFill/>
          <a:ln>
            <a:noFill/>
          </a:ln>
        </p:spPr>
      </p:pic>
      <p:pic>
        <p:nvPicPr>
          <p:cNvPr id="306" name="Google Shape;306;p22"/>
          <p:cNvPicPr preferRelativeResize="0"/>
          <p:nvPr/>
        </p:nvPicPr>
        <p:blipFill rotWithShape="1">
          <a:blip r:embed="rId19">
            <a:alphaModFix/>
          </a:blip>
          <a:srcRect b="0" l="0" r="0" t="0"/>
          <a:stretch/>
        </p:blipFill>
        <p:spPr>
          <a:xfrm>
            <a:off x="3301910" y="3456406"/>
            <a:ext cx="248770" cy="248770"/>
          </a:xfrm>
          <a:prstGeom prst="rect">
            <a:avLst/>
          </a:prstGeom>
          <a:noFill/>
          <a:ln>
            <a:noFill/>
          </a:ln>
        </p:spPr>
      </p:pic>
      <p:pic>
        <p:nvPicPr>
          <p:cNvPr id="307" name="Google Shape;307;p22"/>
          <p:cNvPicPr preferRelativeResize="0"/>
          <p:nvPr/>
        </p:nvPicPr>
        <p:blipFill rotWithShape="1">
          <a:blip r:embed="rId20">
            <a:alphaModFix/>
          </a:blip>
          <a:srcRect b="0" l="0" r="0" t="0"/>
          <a:stretch/>
        </p:blipFill>
        <p:spPr>
          <a:xfrm>
            <a:off x="770486" y="3485754"/>
            <a:ext cx="194015" cy="197474"/>
          </a:xfrm>
          <a:prstGeom prst="rect">
            <a:avLst/>
          </a:prstGeom>
          <a:noFill/>
          <a:ln>
            <a:noFill/>
          </a:ln>
        </p:spPr>
      </p:pic>
      <p:cxnSp>
        <p:nvCxnSpPr>
          <p:cNvPr id="308" name="Google Shape;308;p22"/>
          <p:cNvCxnSpPr/>
          <p:nvPr/>
        </p:nvCxnSpPr>
        <p:spPr>
          <a:xfrm rot="10800000">
            <a:off x="1362018" y="1273016"/>
            <a:ext cx="876600" cy="0"/>
          </a:xfrm>
          <a:prstGeom prst="straightConnector1">
            <a:avLst/>
          </a:prstGeom>
          <a:noFill/>
          <a:ln cap="flat" cmpd="sng" w="9525">
            <a:solidFill>
              <a:srgbClr val="595959"/>
            </a:solidFill>
            <a:prstDash val="solid"/>
            <a:round/>
            <a:headEnd len="sm" w="sm" type="none"/>
            <a:tailEnd len="med" w="med" type="triangle"/>
          </a:ln>
        </p:spPr>
      </p:cxnSp>
      <p:cxnSp>
        <p:nvCxnSpPr>
          <p:cNvPr id="309" name="Google Shape;309;p22"/>
          <p:cNvCxnSpPr/>
          <p:nvPr/>
        </p:nvCxnSpPr>
        <p:spPr>
          <a:xfrm>
            <a:off x="5041304" y="1273192"/>
            <a:ext cx="323100" cy="0"/>
          </a:xfrm>
          <a:prstGeom prst="straightConnector1">
            <a:avLst/>
          </a:prstGeom>
          <a:noFill/>
          <a:ln cap="flat" cmpd="sng" w="9525">
            <a:solidFill>
              <a:srgbClr val="595959"/>
            </a:solidFill>
            <a:prstDash val="solid"/>
            <a:round/>
            <a:headEnd len="sm" w="sm" type="none"/>
            <a:tailEnd len="med" w="med" type="triangle"/>
          </a:ln>
        </p:spPr>
      </p:cxnSp>
      <p:sp>
        <p:nvSpPr>
          <p:cNvPr id="310" name="Google Shape;310;p22"/>
          <p:cNvSpPr txBox="1"/>
          <p:nvPr/>
        </p:nvSpPr>
        <p:spPr>
          <a:xfrm>
            <a:off x="3156146" y="1035224"/>
            <a:ext cx="1250100" cy="281400"/>
          </a:xfrm>
          <a:prstGeom prst="rect">
            <a:avLst/>
          </a:prstGeom>
          <a:noFill/>
          <a:ln>
            <a:noFill/>
          </a:ln>
        </p:spPr>
        <p:txBody>
          <a:bodyPr anchorCtr="0" anchor="t" bIns="64300" lIns="64300" spcFirstLastPara="1" rIns="64300" wrap="square" tIns="64300">
            <a:spAutoFit/>
          </a:bodyPr>
          <a:lstStyle/>
          <a:p>
            <a:pPr indent="0" lvl="0" marL="0" marR="0" rtl="0" algn="l">
              <a:lnSpc>
                <a:spcPct val="100000"/>
              </a:lnSpc>
              <a:spcBef>
                <a:spcPts val="0"/>
              </a:spcBef>
              <a:spcAft>
                <a:spcPts val="0"/>
              </a:spcAft>
              <a:buClr>
                <a:srgbClr val="000000"/>
              </a:buClr>
              <a:buSzPts val="985"/>
              <a:buFont typeface="Arial"/>
              <a:buNone/>
            </a:pPr>
            <a:r>
              <a:rPr b="1" i="0" lang="en" sz="985" u="none" cap="none" strike="noStrike">
                <a:solidFill>
                  <a:srgbClr val="000000"/>
                </a:solidFill>
                <a:latin typeface="Space Grotesk"/>
                <a:ea typeface="Space Grotesk"/>
                <a:cs typeface="Space Grotesk"/>
                <a:sym typeface="Space Grotesk"/>
              </a:rPr>
              <a:t>CloudSec CNAPP</a:t>
            </a:r>
            <a:endParaRPr b="1" i="0" sz="985" u="none" cap="none" strike="noStrike">
              <a:solidFill>
                <a:srgbClr val="000000"/>
              </a:solidFill>
              <a:latin typeface="Space Grotesk"/>
              <a:ea typeface="Space Grotesk"/>
              <a:cs typeface="Space Grotesk"/>
              <a:sym typeface="Space Grotesk"/>
            </a:endParaRPr>
          </a:p>
        </p:txBody>
      </p:sp>
      <p:sp>
        <p:nvSpPr>
          <p:cNvPr id="311" name="Google Shape;311;p22"/>
          <p:cNvSpPr txBox="1"/>
          <p:nvPr/>
        </p:nvSpPr>
        <p:spPr>
          <a:xfrm>
            <a:off x="2238548" y="1232038"/>
            <a:ext cx="2951700" cy="281400"/>
          </a:xfrm>
          <a:prstGeom prst="rect">
            <a:avLst/>
          </a:prstGeom>
          <a:noFill/>
          <a:ln>
            <a:noFill/>
          </a:ln>
        </p:spPr>
        <p:txBody>
          <a:bodyPr anchorCtr="0" anchor="t" bIns="64300" lIns="64300" spcFirstLastPara="1" rIns="64300" wrap="square" tIns="64300">
            <a:spAutoFit/>
          </a:bodyPr>
          <a:lstStyle/>
          <a:p>
            <a:pPr indent="0" lvl="0" marL="0" marR="0" rtl="0" algn="l">
              <a:lnSpc>
                <a:spcPct val="100000"/>
              </a:lnSpc>
              <a:spcBef>
                <a:spcPts val="0"/>
              </a:spcBef>
              <a:spcAft>
                <a:spcPts val="0"/>
              </a:spcAft>
              <a:buClr>
                <a:srgbClr val="000000"/>
              </a:buClr>
              <a:buSzPts val="985"/>
              <a:buFont typeface="Arial"/>
              <a:buNone/>
            </a:pPr>
            <a:r>
              <a:rPr b="0" i="0" lang="en" sz="985" u="none" cap="none" strike="noStrike">
                <a:solidFill>
                  <a:srgbClr val="595959"/>
                </a:solidFill>
                <a:latin typeface="Space Grotesk Medium"/>
                <a:ea typeface="Space Grotesk Medium"/>
                <a:cs typeface="Space Grotesk Medium"/>
                <a:sym typeface="Space Grotesk Medium"/>
              </a:rPr>
              <a:t>[Cloud Native Application Protection Platform]</a:t>
            </a:r>
            <a:endParaRPr b="0" i="0" sz="985" u="none" cap="none" strike="noStrike">
              <a:solidFill>
                <a:srgbClr val="595959"/>
              </a:solidFill>
              <a:latin typeface="Space Grotesk Medium"/>
              <a:ea typeface="Space Grotesk Medium"/>
              <a:cs typeface="Space Grotesk Medium"/>
              <a:sym typeface="Space Grotesk Medium"/>
            </a:endParaRPr>
          </a:p>
        </p:txBody>
      </p:sp>
      <p:cxnSp>
        <p:nvCxnSpPr>
          <p:cNvPr id="312" name="Google Shape;312;p22"/>
          <p:cNvCxnSpPr/>
          <p:nvPr/>
        </p:nvCxnSpPr>
        <p:spPr>
          <a:xfrm rot="10800000">
            <a:off x="5428292" y="1275305"/>
            <a:ext cx="145500" cy="0"/>
          </a:xfrm>
          <a:prstGeom prst="straightConnector1">
            <a:avLst/>
          </a:prstGeom>
          <a:noFill/>
          <a:ln cap="flat" cmpd="sng" w="9525">
            <a:solidFill>
              <a:srgbClr val="595959"/>
            </a:solidFill>
            <a:prstDash val="solid"/>
            <a:round/>
            <a:headEnd len="sm" w="sm" type="none"/>
            <a:tailEnd len="med" w="med" type="triangle"/>
          </a:ln>
        </p:spPr>
      </p:cxnSp>
      <p:cxnSp>
        <p:nvCxnSpPr>
          <p:cNvPr id="313" name="Google Shape;313;p22"/>
          <p:cNvCxnSpPr/>
          <p:nvPr/>
        </p:nvCxnSpPr>
        <p:spPr>
          <a:xfrm>
            <a:off x="6130706" y="1273198"/>
            <a:ext cx="135000" cy="2400"/>
          </a:xfrm>
          <a:prstGeom prst="straightConnector1">
            <a:avLst/>
          </a:prstGeom>
          <a:noFill/>
          <a:ln cap="flat" cmpd="sng" w="9525">
            <a:solidFill>
              <a:srgbClr val="595959"/>
            </a:solidFill>
            <a:prstDash val="solid"/>
            <a:round/>
            <a:headEnd len="sm" w="sm" type="none"/>
            <a:tailEnd len="med" w="med" type="triangle"/>
          </a:ln>
        </p:spPr>
      </p:cxnSp>
      <p:sp>
        <p:nvSpPr>
          <p:cNvPr id="314" name="Google Shape;314;p22"/>
          <p:cNvSpPr txBox="1"/>
          <p:nvPr/>
        </p:nvSpPr>
        <p:spPr>
          <a:xfrm>
            <a:off x="5580668" y="1124841"/>
            <a:ext cx="571200" cy="281400"/>
          </a:xfrm>
          <a:prstGeom prst="rect">
            <a:avLst/>
          </a:prstGeom>
          <a:noFill/>
          <a:ln>
            <a:noFill/>
          </a:ln>
        </p:spPr>
        <p:txBody>
          <a:bodyPr anchorCtr="0" anchor="t" bIns="64300" lIns="64300" spcFirstLastPara="1" rIns="64300" wrap="square" tIns="64300">
            <a:spAutoFit/>
          </a:bodyPr>
          <a:lstStyle/>
          <a:p>
            <a:pPr indent="0" lvl="0" marL="0" marR="0" rtl="0" algn="l">
              <a:lnSpc>
                <a:spcPct val="100000"/>
              </a:lnSpc>
              <a:spcBef>
                <a:spcPts val="0"/>
              </a:spcBef>
              <a:spcAft>
                <a:spcPts val="0"/>
              </a:spcAft>
              <a:buClr>
                <a:srgbClr val="000000"/>
              </a:buClr>
              <a:buSzPts val="985"/>
              <a:buFont typeface="Arial"/>
              <a:buNone/>
            </a:pPr>
            <a:r>
              <a:rPr b="0" i="0" lang="en" sz="985" u="none" cap="none" strike="noStrike">
                <a:solidFill>
                  <a:srgbClr val="595959"/>
                </a:solidFill>
                <a:latin typeface="Space Grotesk Medium"/>
                <a:ea typeface="Space Grotesk Medium"/>
                <a:cs typeface="Space Grotesk Medium"/>
                <a:sym typeface="Space Grotesk Medium"/>
              </a:rPr>
              <a:t>API Sec</a:t>
            </a:r>
            <a:endParaRPr b="0" i="0" sz="985" u="none" cap="none" strike="noStrike">
              <a:solidFill>
                <a:srgbClr val="595959"/>
              </a:solidFill>
              <a:latin typeface="Space Grotesk Medium"/>
              <a:ea typeface="Space Grotesk Medium"/>
              <a:cs typeface="Space Grotesk Medium"/>
              <a:sym typeface="Space Grotesk Medium"/>
            </a:endParaRPr>
          </a:p>
        </p:txBody>
      </p:sp>
      <p:cxnSp>
        <p:nvCxnSpPr>
          <p:cNvPr id="315" name="Google Shape;315;p22"/>
          <p:cNvCxnSpPr/>
          <p:nvPr/>
        </p:nvCxnSpPr>
        <p:spPr>
          <a:xfrm rot="10800000">
            <a:off x="6328596" y="1273146"/>
            <a:ext cx="145500" cy="0"/>
          </a:xfrm>
          <a:prstGeom prst="straightConnector1">
            <a:avLst/>
          </a:prstGeom>
          <a:noFill/>
          <a:ln cap="flat" cmpd="sng" w="9525">
            <a:solidFill>
              <a:srgbClr val="595959"/>
            </a:solidFill>
            <a:prstDash val="solid"/>
            <a:round/>
            <a:headEnd len="sm" w="sm" type="none"/>
            <a:tailEnd len="med" w="med" type="triangle"/>
          </a:ln>
        </p:spPr>
      </p:cxnSp>
      <p:cxnSp>
        <p:nvCxnSpPr>
          <p:cNvPr id="316" name="Google Shape;316;p22"/>
          <p:cNvCxnSpPr/>
          <p:nvPr/>
        </p:nvCxnSpPr>
        <p:spPr>
          <a:xfrm>
            <a:off x="6975649" y="1271039"/>
            <a:ext cx="135000" cy="2400"/>
          </a:xfrm>
          <a:prstGeom prst="straightConnector1">
            <a:avLst/>
          </a:prstGeom>
          <a:noFill/>
          <a:ln cap="flat" cmpd="sng" w="9525">
            <a:solidFill>
              <a:srgbClr val="595959"/>
            </a:solidFill>
            <a:prstDash val="solid"/>
            <a:round/>
            <a:headEnd len="sm" w="sm" type="none"/>
            <a:tailEnd len="med" w="med" type="triangle"/>
          </a:ln>
        </p:spPr>
      </p:cxnSp>
      <p:sp>
        <p:nvSpPr>
          <p:cNvPr id="317" name="Google Shape;317;p22"/>
          <p:cNvSpPr txBox="1"/>
          <p:nvPr/>
        </p:nvSpPr>
        <p:spPr>
          <a:xfrm>
            <a:off x="6480990" y="1122690"/>
            <a:ext cx="563100" cy="281400"/>
          </a:xfrm>
          <a:prstGeom prst="rect">
            <a:avLst/>
          </a:prstGeom>
          <a:noFill/>
          <a:ln>
            <a:noFill/>
          </a:ln>
        </p:spPr>
        <p:txBody>
          <a:bodyPr anchorCtr="0" anchor="t" bIns="64300" lIns="64300" spcFirstLastPara="1" rIns="64300" wrap="square" tIns="64300">
            <a:spAutoFit/>
          </a:bodyPr>
          <a:lstStyle/>
          <a:p>
            <a:pPr indent="0" lvl="0" marL="0" marR="0" rtl="0" algn="l">
              <a:lnSpc>
                <a:spcPct val="100000"/>
              </a:lnSpc>
              <a:spcBef>
                <a:spcPts val="0"/>
              </a:spcBef>
              <a:spcAft>
                <a:spcPts val="0"/>
              </a:spcAft>
              <a:buClr>
                <a:srgbClr val="000000"/>
              </a:buClr>
              <a:buSzPts val="985"/>
              <a:buFont typeface="Arial"/>
              <a:buNone/>
            </a:pPr>
            <a:r>
              <a:rPr b="0" i="0" lang="en" sz="985" u="none" cap="none" strike="noStrike">
                <a:solidFill>
                  <a:srgbClr val="595959"/>
                </a:solidFill>
                <a:latin typeface="Space Grotesk Medium"/>
                <a:ea typeface="Space Grotesk Medium"/>
                <a:cs typeface="Space Grotesk Medium"/>
                <a:sym typeface="Space Grotesk Medium"/>
              </a:rPr>
              <a:t>AI Sec</a:t>
            </a:r>
            <a:endParaRPr b="0" i="0" sz="985" u="none" cap="none" strike="noStrike">
              <a:solidFill>
                <a:srgbClr val="595959"/>
              </a:solidFill>
              <a:latin typeface="Space Grotesk Medium"/>
              <a:ea typeface="Space Grotesk Medium"/>
              <a:cs typeface="Space Grotesk Medium"/>
              <a:sym typeface="Space Grotesk Medium"/>
            </a:endParaRPr>
          </a:p>
        </p:txBody>
      </p:sp>
      <p:cxnSp>
        <p:nvCxnSpPr>
          <p:cNvPr id="318" name="Google Shape;318;p22"/>
          <p:cNvCxnSpPr/>
          <p:nvPr/>
        </p:nvCxnSpPr>
        <p:spPr>
          <a:xfrm rot="10800000">
            <a:off x="392225" y="1273144"/>
            <a:ext cx="145500" cy="0"/>
          </a:xfrm>
          <a:prstGeom prst="straightConnector1">
            <a:avLst/>
          </a:prstGeom>
          <a:noFill/>
          <a:ln cap="flat" cmpd="sng" w="9525">
            <a:solidFill>
              <a:srgbClr val="595959"/>
            </a:solidFill>
            <a:prstDash val="solid"/>
            <a:round/>
            <a:headEnd len="sm" w="sm" type="none"/>
            <a:tailEnd len="med" w="med" type="triangle"/>
          </a:ln>
        </p:spPr>
      </p:cxnSp>
      <p:cxnSp>
        <p:nvCxnSpPr>
          <p:cNvPr id="319" name="Google Shape;319;p22"/>
          <p:cNvCxnSpPr/>
          <p:nvPr/>
        </p:nvCxnSpPr>
        <p:spPr>
          <a:xfrm>
            <a:off x="1173945" y="1271037"/>
            <a:ext cx="135000" cy="2400"/>
          </a:xfrm>
          <a:prstGeom prst="straightConnector1">
            <a:avLst/>
          </a:prstGeom>
          <a:noFill/>
          <a:ln cap="flat" cmpd="sng" w="9525">
            <a:solidFill>
              <a:srgbClr val="595959"/>
            </a:solidFill>
            <a:prstDash val="solid"/>
            <a:round/>
            <a:headEnd len="sm" w="sm" type="none"/>
            <a:tailEnd len="med" w="med" type="triangle"/>
          </a:ln>
        </p:spPr>
      </p:cxnSp>
      <p:sp>
        <p:nvSpPr>
          <p:cNvPr id="320" name="Google Shape;320;p22"/>
          <p:cNvSpPr txBox="1"/>
          <p:nvPr/>
        </p:nvSpPr>
        <p:spPr>
          <a:xfrm>
            <a:off x="544610" y="1122680"/>
            <a:ext cx="651900" cy="281400"/>
          </a:xfrm>
          <a:prstGeom prst="rect">
            <a:avLst/>
          </a:prstGeom>
          <a:noFill/>
          <a:ln>
            <a:noFill/>
          </a:ln>
        </p:spPr>
        <p:txBody>
          <a:bodyPr anchorCtr="0" anchor="t" bIns="64300" lIns="64300" spcFirstLastPara="1" rIns="64300" wrap="square" tIns="64300">
            <a:spAutoFit/>
          </a:bodyPr>
          <a:lstStyle/>
          <a:p>
            <a:pPr indent="0" lvl="0" marL="0" marR="0" rtl="0" algn="l">
              <a:lnSpc>
                <a:spcPct val="100000"/>
              </a:lnSpc>
              <a:spcBef>
                <a:spcPts val="0"/>
              </a:spcBef>
              <a:spcAft>
                <a:spcPts val="0"/>
              </a:spcAft>
              <a:buClr>
                <a:srgbClr val="000000"/>
              </a:buClr>
              <a:buSzPts val="985"/>
              <a:buFont typeface="Arial"/>
              <a:buNone/>
            </a:pPr>
            <a:r>
              <a:rPr b="0" i="0" lang="en" sz="985" u="none" cap="none" strike="noStrike">
                <a:solidFill>
                  <a:srgbClr val="595959"/>
                </a:solidFill>
                <a:latin typeface="Space Grotesk Medium"/>
                <a:ea typeface="Space Grotesk Medium"/>
                <a:cs typeface="Space Grotesk Medium"/>
                <a:sym typeface="Space Grotesk Medium"/>
              </a:rPr>
              <a:t>AppSec</a:t>
            </a:r>
            <a:endParaRPr b="0" i="0" sz="985" u="none" cap="none" strike="noStrike">
              <a:solidFill>
                <a:srgbClr val="595959"/>
              </a:solidFill>
              <a:latin typeface="Space Grotesk Medium"/>
              <a:ea typeface="Space Grotesk Medium"/>
              <a:cs typeface="Space Grotesk Medium"/>
              <a:sym typeface="Space Grotesk Medium"/>
            </a:endParaRPr>
          </a:p>
        </p:txBody>
      </p:sp>
      <p:sp>
        <p:nvSpPr>
          <p:cNvPr id="321" name="Google Shape;321;p22"/>
          <p:cNvSpPr txBox="1"/>
          <p:nvPr/>
        </p:nvSpPr>
        <p:spPr>
          <a:xfrm>
            <a:off x="837416" y="2189292"/>
            <a:ext cx="961200" cy="300600"/>
          </a:xfrm>
          <a:prstGeom prst="rect">
            <a:avLst/>
          </a:prstGeom>
          <a:noFill/>
          <a:ln>
            <a:noFill/>
          </a:ln>
        </p:spPr>
        <p:txBody>
          <a:bodyPr anchorCtr="0" anchor="t" bIns="68700" lIns="68700" spcFirstLastPara="1" rIns="68700" wrap="square" tIns="68700">
            <a:spAutoFit/>
          </a:bodyPr>
          <a:lstStyle/>
          <a:p>
            <a:pPr indent="0" lvl="0" marL="0" marR="0" rtl="0" algn="l">
              <a:lnSpc>
                <a:spcPct val="100000"/>
              </a:lnSpc>
              <a:spcBef>
                <a:spcPts val="0"/>
              </a:spcBef>
              <a:spcAft>
                <a:spcPts val="0"/>
              </a:spcAft>
              <a:buClr>
                <a:srgbClr val="000000"/>
              </a:buClr>
              <a:buSzPts val="1052"/>
              <a:buFont typeface="Arial"/>
              <a:buNone/>
            </a:pPr>
            <a:r>
              <a:rPr b="1" i="0" lang="en" sz="1052" u="none" cap="none" strike="noStrike">
                <a:solidFill>
                  <a:srgbClr val="000000"/>
                </a:solidFill>
                <a:latin typeface="Space Grotesk"/>
                <a:ea typeface="Space Grotesk"/>
                <a:cs typeface="Space Grotesk"/>
                <a:sym typeface="Space Grotesk"/>
              </a:rPr>
              <a:t>Public Cloud</a:t>
            </a:r>
            <a:endParaRPr b="1" i="0" sz="1052" u="none" cap="none" strike="noStrike">
              <a:solidFill>
                <a:srgbClr val="000000"/>
              </a:solidFill>
              <a:latin typeface="Space Grotesk"/>
              <a:ea typeface="Space Grotesk"/>
              <a:cs typeface="Space Grotesk"/>
              <a:sym typeface="Space Grotesk"/>
            </a:endParaRPr>
          </a:p>
        </p:txBody>
      </p:sp>
      <p:sp>
        <p:nvSpPr>
          <p:cNvPr id="322" name="Google Shape;322;p22"/>
          <p:cNvSpPr txBox="1"/>
          <p:nvPr/>
        </p:nvSpPr>
        <p:spPr>
          <a:xfrm>
            <a:off x="3325005" y="2189292"/>
            <a:ext cx="1030200" cy="300600"/>
          </a:xfrm>
          <a:prstGeom prst="rect">
            <a:avLst/>
          </a:prstGeom>
          <a:noFill/>
          <a:ln>
            <a:noFill/>
          </a:ln>
        </p:spPr>
        <p:txBody>
          <a:bodyPr anchorCtr="0" anchor="t" bIns="68700" lIns="68700" spcFirstLastPara="1" rIns="68700" wrap="square" tIns="68700">
            <a:spAutoFit/>
          </a:bodyPr>
          <a:lstStyle/>
          <a:p>
            <a:pPr indent="0" lvl="0" marL="0" marR="0" rtl="0" algn="l">
              <a:lnSpc>
                <a:spcPct val="100000"/>
              </a:lnSpc>
              <a:spcBef>
                <a:spcPts val="0"/>
              </a:spcBef>
              <a:spcAft>
                <a:spcPts val="0"/>
              </a:spcAft>
              <a:buClr>
                <a:srgbClr val="000000"/>
              </a:buClr>
              <a:buSzPts val="1052"/>
              <a:buFont typeface="Arial"/>
              <a:buNone/>
            </a:pPr>
            <a:r>
              <a:rPr b="1" i="0" lang="en" sz="1052" u="none" cap="none" strike="noStrike">
                <a:solidFill>
                  <a:srgbClr val="000000"/>
                </a:solidFill>
                <a:latin typeface="Space Grotesk"/>
                <a:ea typeface="Space Grotesk"/>
                <a:cs typeface="Space Grotesk"/>
                <a:sym typeface="Space Grotesk"/>
              </a:rPr>
              <a:t>Private Cloud</a:t>
            </a:r>
            <a:endParaRPr b="1" i="0" sz="1052" u="none" cap="none" strike="noStrike">
              <a:solidFill>
                <a:srgbClr val="000000"/>
              </a:solidFill>
              <a:latin typeface="Space Grotesk"/>
              <a:ea typeface="Space Grotesk"/>
              <a:cs typeface="Space Grotesk"/>
              <a:sym typeface="Space Grotesk"/>
            </a:endParaRPr>
          </a:p>
        </p:txBody>
      </p:sp>
      <p:sp>
        <p:nvSpPr>
          <p:cNvPr id="323" name="Google Shape;323;p22"/>
          <p:cNvSpPr txBox="1"/>
          <p:nvPr/>
        </p:nvSpPr>
        <p:spPr>
          <a:xfrm>
            <a:off x="5908229" y="2189292"/>
            <a:ext cx="795300" cy="300600"/>
          </a:xfrm>
          <a:prstGeom prst="rect">
            <a:avLst/>
          </a:prstGeom>
          <a:noFill/>
          <a:ln>
            <a:noFill/>
          </a:ln>
        </p:spPr>
        <p:txBody>
          <a:bodyPr anchorCtr="0" anchor="t" bIns="68700" lIns="68700" spcFirstLastPara="1" rIns="68700" wrap="square" tIns="68700">
            <a:spAutoFit/>
          </a:bodyPr>
          <a:lstStyle/>
          <a:p>
            <a:pPr indent="0" lvl="0" marL="0" marR="0" rtl="0" algn="l">
              <a:lnSpc>
                <a:spcPct val="100000"/>
              </a:lnSpc>
              <a:spcBef>
                <a:spcPts val="0"/>
              </a:spcBef>
              <a:spcAft>
                <a:spcPts val="0"/>
              </a:spcAft>
              <a:buClr>
                <a:srgbClr val="000000"/>
              </a:buClr>
              <a:buSzPts val="1052"/>
              <a:buFont typeface="Arial"/>
              <a:buNone/>
            </a:pPr>
            <a:r>
              <a:rPr b="1" i="0" lang="en" sz="1052" u="none" cap="none" strike="noStrike">
                <a:solidFill>
                  <a:srgbClr val="000000"/>
                </a:solidFill>
                <a:latin typeface="Space Grotesk"/>
                <a:ea typeface="Space Grotesk"/>
                <a:cs typeface="Space Grotesk"/>
                <a:sym typeface="Space Grotesk"/>
              </a:rPr>
              <a:t>Edge / IoT</a:t>
            </a:r>
            <a:endParaRPr b="1" i="0" sz="1052" u="none" cap="none" strike="noStrike">
              <a:solidFill>
                <a:srgbClr val="000000"/>
              </a:solidFill>
              <a:latin typeface="Space Grotesk"/>
              <a:ea typeface="Space Grotesk"/>
              <a:cs typeface="Space Grotesk"/>
              <a:sym typeface="Space Grotesk"/>
            </a:endParaRPr>
          </a:p>
        </p:txBody>
      </p:sp>
      <p:sp>
        <p:nvSpPr>
          <p:cNvPr id="324" name="Google Shape;324;p22"/>
          <p:cNvSpPr txBox="1"/>
          <p:nvPr/>
        </p:nvSpPr>
        <p:spPr>
          <a:xfrm>
            <a:off x="445038" y="3668354"/>
            <a:ext cx="1350000" cy="524100"/>
          </a:xfrm>
          <a:prstGeom prst="rect">
            <a:avLst/>
          </a:prstGeom>
          <a:noFill/>
          <a:ln>
            <a:noFill/>
          </a:ln>
        </p:spPr>
        <p:txBody>
          <a:bodyPr anchorCtr="0" anchor="t" bIns="64300" lIns="64300" spcFirstLastPara="1" rIns="64300" wrap="square" tIns="64300">
            <a:spAutoFit/>
          </a:bodyPr>
          <a:lstStyle/>
          <a:p>
            <a:pPr indent="0" lvl="0" marL="0" marR="0" rtl="0" algn="ctr">
              <a:lnSpc>
                <a:spcPct val="115000"/>
              </a:lnSpc>
              <a:spcBef>
                <a:spcPts val="0"/>
              </a:spcBef>
              <a:spcAft>
                <a:spcPts val="0"/>
              </a:spcAft>
              <a:buClr>
                <a:srgbClr val="000000"/>
              </a:buClr>
              <a:buSzPts val="776"/>
              <a:buFont typeface="Arial"/>
              <a:buNone/>
            </a:pPr>
            <a:r>
              <a:rPr b="0" i="0" lang="en" sz="776" u="none" cap="none" strike="noStrike">
                <a:solidFill>
                  <a:srgbClr val="595959"/>
                </a:solidFill>
                <a:latin typeface="Space Grotesk Medium"/>
                <a:ea typeface="Space Grotesk Medium"/>
                <a:cs typeface="Space Grotesk Medium"/>
                <a:sym typeface="Space Grotesk Medium"/>
              </a:rPr>
              <a:t>Conversational Interface -DevSecOps meets ChatGPT</a:t>
            </a:r>
            <a:endParaRPr b="0" i="0" sz="776" u="none" cap="none" strike="noStrike">
              <a:solidFill>
                <a:srgbClr val="595959"/>
              </a:solidFill>
              <a:latin typeface="Space Grotesk Medium"/>
              <a:ea typeface="Space Grotesk Medium"/>
              <a:cs typeface="Space Grotesk Medium"/>
              <a:sym typeface="Space Grotesk Medium"/>
            </a:endParaRPr>
          </a:p>
        </p:txBody>
      </p:sp>
      <p:sp>
        <p:nvSpPr>
          <p:cNvPr id="325" name="Google Shape;325;p22"/>
          <p:cNvSpPr/>
          <p:nvPr/>
        </p:nvSpPr>
        <p:spPr>
          <a:xfrm>
            <a:off x="2362901" y="3457550"/>
            <a:ext cx="396900" cy="197400"/>
          </a:xfrm>
          <a:prstGeom prst="roundRect">
            <a:avLst>
              <a:gd fmla="val 16667" name="adj"/>
            </a:avLst>
          </a:prstGeom>
          <a:noFill/>
          <a:ln>
            <a:noFill/>
          </a:ln>
        </p:spPr>
        <p:txBody>
          <a:bodyPr anchorCtr="0" anchor="b" bIns="0" lIns="58575" spcFirstLastPara="1" rIns="58575" wrap="square" tIns="58575">
            <a:noAutofit/>
          </a:bodyPr>
          <a:lstStyle/>
          <a:p>
            <a:pPr indent="0" lvl="0" marL="0" marR="0" rtl="0" algn="ctr">
              <a:lnSpc>
                <a:spcPct val="100000"/>
              </a:lnSpc>
              <a:spcBef>
                <a:spcPts val="0"/>
              </a:spcBef>
              <a:spcAft>
                <a:spcPts val="0"/>
              </a:spcAft>
              <a:buClr>
                <a:srgbClr val="000000"/>
              </a:buClr>
              <a:buSzPts val="769"/>
              <a:buFont typeface="Montserrat"/>
              <a:buNone/>
            </a:pPr>
            <a:r>
              <a:rPr b="0" i="0" lang="en" sz="769" u="none" cap="none" strike="noStrike">
                <a:solidFill>
                  <a:srgbClr val="000000"/>
                </a:solidFill>
                <a:latin typeface="Space Grotesk SemiBold"/>
                <a:ea typeface="Space Grotesk SemiBold"/>
                <a:cs typeface="Space Grotesk SemiBold"/>
                <a:sym typeface="Space Grotesk SemiBold"/>
              </a:rPr>
              <a:t>SIEM</a:t>
            </a:r>
            <a:endParaRPr b="0" i="0" sz="769" u="none" cap="none" strike="noStrike">
              <a:solidFill>
                <a:srgbClr val="000000"/>
              </a:solidFill>
              <a:latin typeface="Space Grotesk SemiBold"/>
              <a:ea typeface="Space Grotesk SemiBold"/>
              <a:cs typeface="Space Grotesk SemiBold"/>
              <a:sym typeface="Space Grotesk SemiBold"/>
            </a:endParaRPr>
          </a:p>
        </p:txBody>
      </p:sp>
      <p:sp>
        <p:nvSpPr>
          <p:cNvPr id="326" name="Google Shape;326;p22"/>
          <p:cNvSpPr txBox="1"/>
          <p:nvPr/>
        </p:nvSpPr>
        <p:spPr>
          <a:xfrm>
            <a:off x="1975774" y="3687623"/>
            <a:ext cx="1082100" cy="386700"/>
          </a:xfrm>
          <a:prstGeom prst="rect">
            <a:avLst/>
          </a:prstGeom>
          <a:noFill/>
          <a:ln>
            <a:noFill/>
          </a:ln>
        </p:spPr>
        <p:txBody>
          <a:bodyPr anchorCtr="0" anchor="t" bIns="64300" lIns="64300" spcFirstLastPara="1" rIns="64300" wrap="square" tIns="64300">
            <a:spAutoFit/>
          </a:bodyPr>
          <a:lstStyle/>
          <a:p>
            <a:pPr indent="0" lvl="0" marL="0" marR="0" rtl="0" algn="ctr">
              <a:lnSpc>
                <a:spcPct val="115000"/>
              </a:lnSpc>
              <a:spcBef>
                <a:spcPts val="0"/>
              </a:spcBef>
              <a:spcAft>
                <a:spcPts val="0"/>
              </a:spcAft>
              <a:buClr>
                <a:srgbClr val="000000"/>
              </a:buClr>
              <a:buSzPts val="776"/>
              <a:buFont typeface="Arial"/>
              <a:buNone/>
            </a:pPr>
            <a:r>
              <a:rPr b="0" i="0" lang="en" sz="776" u="none" cap="none" strike="noStrike">
                <a:solidFill>
                  <a:srgbClr val="595959"/>
                </a:solidFill>
                <a:latin typeface="Space Grotesk Medium"/>
                <a:ea typeface="Space Grotesk Medium"/>
                <a:cs typeface="Space Grotesk Medium"/>
                <a:sym typeface="Space Grotesk Medium"/>
              </a:rPr>
              <a:t>End-to-End Threat Intelligence</a:t>
            </a:r>
            <a:endParaRPr b="0" i="0" sz="776" u="none" cap="none" strike="noStrike">
              <a:solidFill>
                <a:srgbClr val="595959"/>
              </a:solidFill>
              <a:latin typeface="Space Grotesk Medium"/>
              <a:ea typeface="Space Grotesk Medium"/>
              <a:cs typeface="Space Grotesk Medium"/>
              <a:sym typeface="Space Grotesk Medium"/>
            </a:endParaRPr>
          </a:p>
        </p:txBody>
      </p:sp>
      <p:sp>
        <p:nvSpPr>
          <p:cNvPr id="327" name="Google Shape;327;p22"/>
          <p:cNvSpPr/>
          <p:nvPr/>
        </p:nvSpPr>
        <p:spPr>
          <a:xfrm>
            <a:off x="3512759" y="3457550"/>
            <a:ext cx="373500" cy="197400"/>
          </a:xfrm>
          <a:prstGeom prst="roundRect">
            <a:avLst>
              <a:gd fmla="val 16667" name="adj"/>
            </a:avLst>
          </a:prstGeom>
          <a:noFill/>
          <a:ln>
            <a:noFill/>
          </a:ln>
        </p:spPr>
        <p:txBody>
          <a:bodyPr anchorCtr="0" anchor="b" bIns="0" lIns="58575" spcFirstLastPara="1" rIns="58575" wrap="square" tIns="58575">
            <a:noAutofit/>
          </a:bodyPr>
          <a:lstStyle/>
          <a:p>
            <a:pPr indent="0" lvl="0" marL="0" marR="0" rtl="0" algn="ctr">
              <a:lnSpc>
                <a:spcPct val="100000"/>
              </a:lnSpc>
              <a:spcBef>
                <a:spcPts val="0"/>
              </a:spcBef>
              <a:spcAft>
                <a:spcPts val="0"/>
              </a:spcAft>
              <a:buClr>
                <a:srgbClr val="000000"/>
              </a:buClr>
              <a:buSzPts val="769"/>
              <a:buFont typeface="Montserrat"/>
              <a:buNone/>
            </a:pPr>
            <a:r>
              <a:rPr b="0" i="0" lang="en" sz="769" u="none" cap="none" strike="noStrike">
                <a:solidFill>
                  <a:srgbClr val="000000"/>
                </a:solidFill>
                <a:latin typeface="Space Grotesk SemiBold"/>
                <a:ea typeface="Space Grotesk SemiBold"/>
                <a:cs typeface="Space Grotesk SemiBold"/>
                <a:sym typeface="Space Grotesk SemiBold"/>
              </a:rPr>
              <a:t>CIEM</a:t>
            </a:r>
            <a:endParaRPr b="0" i="0" sz="769" u="none" cap="none" strike="noStrike">
              <a:solidFill>
                <a:srgbClr val="000000"/>
              </a:solidFill>
              <a:latin typeface="Space Grotesk SemiBold"/>
              <a:ea typeface="Space Grotesk SemiBold"/>
              <a:cs typeface="Space Grotesk SemiBold"/>
              <a:sym typeface="Space Grotesk SemiBold"/>
            </a:endParaRPr>
          </a:p>
        </p:txBody>
      </p:sp>
      <p:sp>
        <p:nvSpPr>
          <p:cNvPr id="328" name="Google Shape;328;p22"/>
          <p:cNvSpPr txBox="1"/>
          <p:nvPr/>
        </p:nvSpPr>
        <p:spPr>
          <a:xfrm>
            <a:off x="3155451" y="3675773"/>
            <a:ext cx="917400" cy="386700"/>
          </a:xfrm>
          <a:prstGeom prst="rect">
            <a:avLst/>
          </a:prstGeom>
          <a:noFill/>
          <a:ln>
            <a:noFill/>
          </a:ln>
        </p:spPr>
        <p:txBody>
          <a:bodyPr anchorCtr="0" anchor="t" bIns="64300" lIns="64300" spcFirstLastPara="1" rIns="64300" wrap="square" tIns="64300">
            <a:spAutoFit/>
          </a:bodyPr>
          <a:lstStyle/>
          <a:p>
            <a:pPr indent="0" lvl="0" marL="0" marR="0" rtl="0" algn="ctr">
              <a:lnSpc>
                <a:spcPct val="115000"/>
              </a:lnSpc>
              <a:spcBef>
                <a:spcPts val="0"/>
              </a:spcBef>
              <a:spcAft>
                <a:spcPts val="0"/>
              </a:spcAft>
              <a:buClr>
                <a:srgbClr val="000000"/>
              </a:buClr>
              <a:buSzPts val="776"/>
              <a:buFont typeface="Arial"/>
              <a:buNone/>
            </a:pPr>
            <a:r>
              <a:rPr b="0" i="0" lang="en" sz="776" u="none" cap="none" strike="noStrike">
                <a:solidFill>
                  <a:srgbClr val="595959"/>
                </a:solidFill>
                <a:latin typeface="Space Grotesk Medium"/>
                <a:ea typeface="Space Grotesk Medium"/>
                <a:cs typeface="Space Grotesk Medium"/>
                <a:sym typeface="Space Grotesk Medium"/>
              </a:rPr>
              <a:t>Support for 35+standards</a:t>
            </a:r>
            <a:endParaRPr b="0" i="0" sz="776" u="none" cap="none" strike="noStrike">
              <a:solidFill>
                <a:srgbClr val="595959"/>
              </a:solidFill>
              <a:latin typeface="Space Grotesk Medium"/>
              <a:ea typeface="Space Grotesk Medium"/>
              <a:cs typeface="Space Grotesk Medium"/>
              <a:sym typeface="Space Grotesk Medium"/>
            </a:endParaRPr>
          </a:p>
        </p:txBody>
      </p:sp>
      <p:sp>
        <p:nvSpPr>
          <p:cNvPr id="329" name="Google Shape;329;p22"/>
          <p:cNvSpPr/>
          <p:nvPr/>
        </p:nvSpPr>
        <p:spPr>
          <a:xfrm>
            <a:off x="4652101" y="3457550"/>
            <a:ext cx="742800" cy="197400"/>
          </a:xfrm>
          <a:prstGeom prst="roundRect">
            <a:avLst>
              <a:gd fmla="val 16667" name="adj"/>
            </a:avLst>
          </a:prstGeom>
          <a:noFill/>
          <a:ln>
            <a:noFill/>
          </a:ln>
        </p:spPr>
        <p:txBody>
          <a:bodyPr anchorCtr="0" anchor="b" bIns="0" lIns="58575" spcFirstLastPara="1" rIns="58575" wrap="square" tIns="58575">
            <a:noAutofit/>
          </a:bodyPr>
          <a:lstStyle/>
          <a:p>
            <a:pPr indent="0" lvl="0" marL="0" marR="0" rtl="0" algn="ctr">
              <a:lnSpc>
                <a:spcPct val="100000"/>
              </a:lnSpc>
              <a:spcBef>
                <a:spcPts val="0"/>
              </a:spcBef>
              <a:spcAft>
                <a:spcPts val="0"/>
              </a:spcAft>
              <a:buClr>
                <a:srgbClr val="000000"/>
              </a:buClr>
              <a:buSzPts val="769"/>
              <a:buFont typeface="Montserrat"/>
              <a:buNone/>
            </a:pPr>
            <a:r>
              <a:rPr b="0" i="0" lang="en" sz="769" u="none" cap="none" strike="noStrike">
                <a:solidFill>
                  <a:srgbClr val="000000"/>
                </a:solidFill>
                <a:latin typeface="Space Grotesk SemiBold"/>
                <a:ea typeface="Space Grotesk SemiBold"/>
                <a:cs typeface="Space Grotesk SemiBold"/>
                <a:sym typeface="Space Grotesk SemiBold"/>
              </a:rPr>
              <a:t>Compliance</a:t>
            </a:r>
            <a:endParaRPr b="0" i="0" sz="769" u="none" cap="none" strike="noStrike">
              <a:solidFill>
                <a:srgbClr val="000000"/>
              </a:solidFill>
              <a:latin typeface="Space Grotesk SemiBold"/>
              <a:ea typeface="Space Grotesk SemiBold"/>
              <a:cs typeface="Space Grotesk SemiBold"/>
              <a:sym typeface="Space Grotesk SemiBold"/>
            </a:endParaRPr>
          </a:p>
        </p:txBody>
      </p:sp>
      <p:sp>
        <p:nvSpPr>
          <p:cNvPr id="330" name="Google Shape;330;p22"/>
          <p:cNvSpPr txBox="1"/>
          <p:nvPr/>
        </p:nvSpPr>
        <p:spPr>
          <a:xfrm>
            <a:off x="4181108" y="3678900"/>
            <a:ext cx="1498800" cy="386700"/>
          </a:xfrm>
          <a:prstGeom prst="rect">
            <a:avLst/>
          </a:prstGeom>
          <a:noFill/>
          <a:ln>
            <a:noFill/>
          </a:ln>
        </p:spPr>
        <p:txBody>
          <a:bodyPr anchorCtr="0" anchor="t" bIns="64300" lIns="64300" spcFirstLastPara="1" rIns="64300" wrap="square" tIns="64300">
            <a:spAutoFit/>
          </a:bodyPr>
          <a:lstStyle/>
          <a:p>
            <a:pPr indent="0" lvl="0" marL="0" marR="0" rtl="0" algn="ctr">
              <a:lnSpc>
                <a:spcPct val="115000"/>
              </a:lnSpc>
              <a:spcBef>
                <a:spcPts val="0"/>
              </a:spcBef>
              <a:spcAft>
                <a:spcPts val="0"/>
              </a:spcAft>
              <a:buClr>
                <a:srgbClr val="000000"/>
              </a:buClr>
              <a:buSzPts val="776"/>
              <a:buFont typeface="Arial"/>
              <a:buNone/>
            </a:pPr>
            <a:r>
              <a:rPr b="0" i="0" lang="en" sz="776" u="none" cap="none" strike="noStrike">
                <a:solidFill>
                  <a:srgbClr val="595959"/>
                </a:solidFill>
                <a:latin typeface="Space Grotesk Medium"/>
                <a:ea typeface="Space Grotesk Medium"/>
                <a:cs typeface="Space Grotesk Medium"/>
                <a:sym typeface="Space Grotesk Medium"/>
              </a:rPr>
              <a:t>Continues Threat Exposure Management</a:t>
            </a:r>
            <a:endParaRPr b="0" i="0" sz="776" u="none" cap="none" strike="noStrike">
              <a:solidFill>
                <a:srgbClr val="595959"/>
              </a:solidFill>
              <a:latin typeface="Space Grotesk Medium"/>
              <a:ea typeface="Space Grotesk Medium"/>
              <a:cs typeface="Space Grotesk Medium"/>
              <a:sym typeface="Space Grotesk Medium"/>
            </a:endParaRPr>
          </a:p>
        </p:txBody>
      </p:sp>
      <p:sp>
        <p:nvSpPr>
          <p:cNvPr id="331" name="Google Shape;331;p22"/>
          <p:cNvSpPr/>
          <p:nvPr/>
        </p:nvSpPr>
        <p:spPr>
          <a:xfrm>
            <a:off x="5753729" y="3423458"/>
            <a:ext cx="1417200" cy="7668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sp>
        <p:nvSpPr>
          <p:cNvPr id="332" name="Google Shape;332;p22"/>
          <p:cNvSpPr/>
          <p:nvPr/>
        </p:nvSpPr>
        <p:spPr>
          <a:xfrm>
            <a:off x="6132228" y="3457550"/>
            <a:ext cx="742800" cy="197400"/>
          </a:xfrm>
          <a:prstGeom prst="roundRect">
            <a:avLst>
              <a:gd fmla="val 16667" name="adj"/>
            </a:avLst>
          </a:prstGeom>
          <a:noFill/>
          <a:ln>
            <a:noFill/>
          </a:ln>
        </p:spPr>
        <p:txBody>
          <a:bodyPr anchorCtr="0" anchor="b" bIns="0" lIns="58575" spcFirstLastPara="1" rIns="58575" wrap="square" tIns="58575">
            <a:noAutofit/>
          </a:bodyPr>
          <a:lstStyle/>
          <a:p>
            <a:pPr indent="0" lvl="0" marL="0" marR="0" rtl="0" algn="ctr">
              <a:lnSpc>
                <a:spcPct val="100000"/>
              </a:lnSpc>
              <a:spcBef>
                <a:spcPts val="0"/>
              </a:spcBef>
              <a:spcAft>
                <a:spcPts val="0"/>
              </a:spcAft>
              <a:buClr>
                <a:srgbClr val="000000"/>
              </a:buClr>
              <a:buSzPts val="769"/>
              <a:buFont typeface="Montserrat"/>
              <a:buNone/>
            </a:pPr>
            <a:r>
              <a:rPr b="0" i="0" lang="en" sz="769" u="none" cap="none" strike="noStrike">
                <a:solidFill>
                  <a:srgbClr val="000000"/>
                </a:solidFill>
                <a:latin typeface="Space Grotesk SemiBold"/>
                <a:ea typeface="Space Grotesk SemiBold"/>
                <a:cs typeface="Space Grotesk SemiBold"/>
                <a:sym typeface="Space Grotesk SemiBold"/>
              </a:rPr>
              <a:t>Ticketing</a:t>
            </a:r>
            <a:endParaRPr b="0" i="0" sz="769" u="none" cap="none" strike="noStrike">
              <a:solidFill>
                <a:srgbClr val="000000"/>
              </a:solidFill>
              <a:latin typeface="Space Grotesk SemiBold"/>
              <a:ea typeface="Space Grotesk SemiBold"/>
              <a:cs typeface="Space Grotesk SemiBold"/>
              <a:sym typeface="Space Grotesk SemiBold"/>
            </a:endParaRPr>
          </a:p>
        </p:txBody>
      </p:sp>
      <p:sp>
        <p:nvSpPr>
          <p:cNvPr id="333" name="Google Shape;333;p22"/>
          <p:cNvSpPr txBox="1"/>
          <p:nvPr/>
        </p:nvSpPr>
        <p:spPr>
          <a:xfrm>
            <a:off x="5802804" y="3678927"/>
            <a:ext cx="1350000" cy="386700"/>
          </a:xfrm>
          <a:prstGeom prst="rect">
            <a:avLst/>
          </a:prstGeom>
          <a:noFill/>
          <a:ln>
            <a:noFill/>
          </a:ln>
        </p:spPr>
        <p:txBody>
          <a:bodyPr anchorCtr="0" anchor="t" bIns="64300" lIns="64300" spcFirstLastPara="1" rIns="64300" wrap="square" tIns="64300">
            <a:spAutoFit/>
          </a:bodyPr>
          <a:lstStyle/>
          <a:p>
            <a:pPr indent="0" lvl="0" marL="0" marR="0" rtl="0" algn="ctr">
              <a:lnSpc>
                <a:spcPct val="115000"/>
              </a:lnSpc>
              <a:spcBef>
                <a:spcPts val="0"/>
              </a:spcBef>
              <a:spcAft>
                <a:spcPts val="0"/>
              </a:spcAft>
              <a:buClr>
                <a:srgbClr val="000000"/>
              </a:buClr>
              <a:buSzPts val="776"/>
              <a:buFont typeface="Arial"/>
              <a:buNone/>
            </a:pPr>
            <a:r>
              <a:rPr b="0" i="0" lang="en" sz="776" u="none" cap="none" strike="noStrike">
                <a:solidFill>
                  <a:srgbClr val="595959"/>
                </a:solidFill>
                <a:latin typeface="Space Grotesk Medium"/>
                <a:ea typeface="Space Grotesk Medium"/>
                <a:cs typeface="Space Grotesk Medium"/>
                <a:sym typeface="Space Grotesk Medium"/>
              </a:rPr>
              <a:t>Unified Issue Tracking &amp; Remediation</a:t>
            </a:r>
            <a:endParaRPr b="0" i="0" sz="776" u="none" cap="none" strike="noStrike">
              <a:solidFill>
                <a:srgbClr val="595959"/>
              </a:solidFill>
              <a:latin typeface="Space Grotesk Medium"/>
              <a:ea typeface="Space Grotesk Medium"/>
              <a:cs typeface="Space Grotesk Medium"/>
              <a:sym typeface="Space Grotesk Medium"/>
            </a:endParaRPr>
          </a:p>
        </p:txBody>
      </p:sp>
      <p:pic>
        <p:nvPicPr>
          <p:cNvPr id="334" name="Google Shape;334;p22"/>
          <p:cNvPicPr preferRelativeResize="0"/>
          <p:nvPr/>
        </p:nvPicPr>
        <p:blipFill rotWithShape="1">
          <a:blip r:embed="rId21">
            <a:alphaModFix/>
          </a:blip>
          <a:srcRect b="0" l="0" r="0" t="0"/>
          <a:stretch/>
        </p:blipFill>
        <p:spPr>
          <a:xfrm>
            <a:off x="6076962" y="3529458"/>
            <a:ext cx="145559" cy="145559"/>
          </a:xfrm>
          <a:prstGeom prst="rect">
            <a:avLst/>
          </a:prstGeom>
          <a:noFill/>
          <a:ln>
            <a:noFill/>
          </a:ln>
        </p:spPr>
      </p:pic>
      <p:sp>
        <p:nvSpPr>
          <p:cNvPr id="335" name="Google Shape;335;p22"/>
          <p:cNvSpPr txBox="1"/>
          <p:nvPr/>
        </p:nvSpPr>
        <p:spPr>
          <a:xfrm>
            <a:off x="2022812" y="756150"/>
            <a:ext cx="3424500" cy="284100"/>
          </a:xfrm>
          <a:prstGeom prst="rect">
            <a:avLst/>
          </a:prstGeom>
          <a:noFill/>
          <a:ln>
            <a:noFill/>
          </a:ln>
        </p:spPr>
        <p:txBody>
          <a:bodyPr anchorCtr="0" anchor="ctr" bIns="64300" lIns="64300" spcFirstLastPara="1" rIns="64300" wrap="square" tIns="64300">
            <a:noAutofit/>
          </a:bodyPr>
          <a:lstStyle/>
          <a:p>
            <a:pPr indent="0" lvl="0" marL="0" marR="0" rtl="0" algn="ctr">
              <a:lnSpc>
                <a:spcPct val="100000"/>
              </a:lnSpc>
              <a:spcBef>
                <a:spcPts val="0"/>
              </a:spcBef>
              <a:spcAft>
                <a:spcPts val="0"/>
              </a:spcAft>
              <a:buClr>
                <a:srgbClr val="000000"/>
              </a:buClr>
              <a:buSzPts val="1169"/>
              <a:buFont typeface="Arial"/>
              <a:buNone/>
            </a:pPr>
            <a:r>
              <a:rPr b="1" i="0" lang="en" sz="1169" u="none" cap="none" strike="noStrike">
                <a:solidFill>
                  <a:srgbClr val="0000A0"/>
                </a:solidFill>
                <a:highlight>
                  <a:srgbClr val="FFFFFF"/>
                </a:highlight>
                <a:latin typeface="Space Grotesk"/>
                <a:ea typeface="Space Grotesk"/>
                <a:cs typeface="Space Grotesk"/>
                <a:sym typeface="Space Grotesk"/>
              </a:rPr>
              <a:t>AccuKnox Code to Cognition Solution CNAPP</a:t>
            </a:r>
            <a:endParaRPr b="1" i="0" sz="1169" u="none" cap="none" strike="noStrike">
              <a:solidFill>
                <a:srgbClr val="0000A0"/>
              </a:solidFill>
              <a:highlight>
                <a:srgbClr val="FFFFFF"/>
              </a:highlight>
              <a:latin typeface="Space Grotesk"/>
              <a:ea typeface="Space Grotesk"/>
              <a:cs typeface="Space Grotesk"/>
              <a:sym typeface="Space Grotesk"/>
            </a:endParaRPr>
          </a:p>
        </p:txBody>
      </p:sp>
      <p:grpSp>
        <p:nvGrpSpPr>
          <p:cNvPr id="336" name="Google Shape;336;p22"/>
          <p:cNvGrpSpPr/>
          <p:nvPr/>
        </p:nvGrpSpPr>
        <p:grpSpPr>
          <a:xfrm>
            <a:off x="2964430" y="1538932"/>
            <a:ext cx="743055" cy="592493"/>
            <a:chOff x="3436242" y="1802845"/>
            <a:chExt cx="890100" cy="709743"/>
          </a:xfrm>
        </p:grpSpPr>
        <p:sp>
          <p:nvSpPr>
            <p:cNvPr id="337" name="Google Shape;337;p22"/>
            <p:cNvSpPr/>
            <p:nvPr/>
          </p:nvSpPr>
          <p:spPr>
            <a:xfrm>
              <a:off x="3436242" y="1802845"/>
              <a:ext cx="890100" cy="6585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pic>
          <p:nvPicPr>
            <p:cNvPr id="338" name="Google Shape;338;p22" title="Mask group.png"/>
            <p:cNvPicPr preferRelativeResize="0"/>
            <p:nvPr/>
          </p:nvPicPr>
          <p:blipFill rotWithShape="1">
            <a:blip r:embed="rId22">
              <a:alphaModFix/>
            </a:blip>
            <a:srcRect b="0" l="0" r="0" t="0"/>
            <a:stretch/>
          </p:blipFill>
          <p:spPr>
            <a:xfrm>
              <a:off x="3760825" y="1877324"/>
              <a:ext cx="261225" cy="261203"/>
            </a:xfrm>
            <a:prstGeom prst="rect">
              <a:avLst/>
            </a:prstGeom>
            <a:noFill/>
            <a:ln>
              <a:noFill/>
            </a:ln>
          </p:spPr>
        </p:pic>
        <p:sp>
          <p:nvSpPr>
            <p:cNvPr id="339" name="Google Shape;339;p22"/>
            <p:cNvSpPr txBox="1"/>
            <p:nvPr/>
          </p:nvSpPr>
          <p:spPr>
            <a:xfrm>
              <a:off x="3605727" y="2173888"/>
              <a:ext cx="561900" cy="3387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CWPP</a:t>
              </a:r>
              <a:endParaRPr b="0" i="0" sz="835" u="none" cap="none" strike="noStrike">
                <a:solidFill>
                  <a:srgbClr val="000000"/>
                </a:solidFill>
                <a:latin typeface="Space Grotesk SemiBold"/>
                <a:ea typeface="Space Grotesk SemiBold"/>
                <a:cs typeface="Space Grotesk SemiBold"/>
                <a:sym typeface="Space Grotesk SemiBold"/>
              </a:endParaRPr>
            </a:p>
          </p:txBody>
        </p:sp>
      </p:grpSp>
      <p:grpSp>
        <p:nvGrpSpPr>
          <p:cNvPr id="340" name="Google Shape;340;p22"/>
          <p:cNvGrpSpPr/>
          <p:nvPr/>
        </p:nvGrpSpPr>
        <p:grpSpPr>
          <a:xfrm>
            <a:off x="5522892" y="1539682"/>
            <a:ext cx="743055" cy="609386"/>
            <a:chOff x="6420927" y="1804638"/>
            <a:chExt cx="890100" cy="729979"/>
          </a:xfrm>
        </p:grpSpPr>
        <p:sp>
          <p:nvSpPr>
            <p:cNvPr id="341" name="Google Shape;341;p22"/>
            <p:cNvSpPr/>
            <p:nvPr/>
          </p:nvSpPr>
          <p:spPr>
            <a:xfrm>
              <a:off x="6420927" y="1804638"/>
              <a:ext cx="890100" cy="6585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pic>
          <p:nvPicPr>
            <p:cNvPr id="342" name="Google Shape;342;p22" title="Mask group-1.png"/>
            <p:cNvPicPr preferRelativeResize="0"/>
            <p:nvPr/>
          </p:nvPicPr>
          <p:blipFill rotWithShape="1">
            <a:blip r:embed="rId23">
              <a:alphaModFix/>
            </a:blip>
            <a:srcRect b="0" l="0" r="0" t="0"/>
            <a:stretch/>
          </p:blipFill>
          <p:spPr>
            <a:xfrm>
              <a:off x="6719610" y="1858931"/>
              <a:ext cx="297991" cy="297991"/>
            </a:xfrm>
            <a:prstGeom prst="rect">
              <a:avLst/>
            </a:prstGeom>
            <a:noFill/>
            <a:ln>
              <a:noFill/>
            </a:ln>
          </p:spPr>
        </p:pic>
        <p:sp>
          <p:nvSpPr>
            <p:cNvPr id="343" name="Google Shape;343;p22"/>
            <p:cNvSpPr txBox="1"/>
            <p:nvPr/>
          </p:nvSpPr>
          <p:spPr>
            <a:xfrm>
              <a:off x="6589294" y="2195917"/>
              <a:ext cx="562200" cy="3387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AI SEC</a:t>
              </a:r>
              <a:endParaRPr b="0" i="0" sz="835" u="none" cap="none" strike="noStrike">
                <a:solidFill>
                  <a:srgbClr val="000000"/>
                </a:solidFill>
                <a:latin typeface="Space Grotesk SemiBold"/>
                <a:ea typeface="Space Grotesk SemiBold"/>
                <a:cs typeface="Space Grotesk SemiBold"/>
                <a:sym typeface="Space Grotesk SemiBold"/>
              </a:endParaRPr>
            </a:p>
          </p:txBody>
        </p:sp>
      </p:grpSp>
      <p:grpSp>
        <p:nvGrpSpPr>
          <p:cNvPr id="344" name="Google Shape;344;p22"/>
          <p:cNvGrpSpPr/>
          <p:nvPr/>
        </p:nvGrpSpPr>
        <p:grpSpPr>
          <a:xfrm>
            <a:off x="408175" y="1534497"/>
            <a:ext cx="743055" cy="601364"/>
            <a:chOff x="379929" y="1792219"/>
            <a:chExt cx="890100" cy="720369"/>
          </a:xfrm>
        </p:grpSpPr>
        <p:pic>
          <p:nvPicPr>
            <p:cNvPr id="345" name="Google Shape;345;p22"/>
            <p:cNvPicPr preferRelativeResize="0"/>
            <p:nvPr/>
          </p:nvPicPr>
          <p:blipFill rotWithShape="1">
            <a:blip r:embed="rId24">
              <a:alphaModFix/>
            </a:blip>
            <a:srcRect b="0" l="0" r="0" t="0"/>
            <a:stretch/>
          </p:blipFill>
          <p:spPr>
            <a:xfrm>
              <a:off x="665025" y="1858916"/>
              <a:ext cx="297999" cy="298021"/>
            </a:xfrm>
            <a:prstGeom prst="rect">
              <a:avLst/>
            </a:prstGeom>
            <a:noFill/>
            <a:ln>
              <a:noFill/>
            </a:ln>
          </p:spPr>
        </p:pic>
        <p:sp>
          <p:nvSpPr>
            <p:cNvPr id="346" name="Google Shape;346;p22"/>
            <p:cNvSpPr txBox="1"/>
            <p:nvPr/>
          </p:nvSpPr>
          <p:spPr>
            <a:xfrm>
              <a:off x="546384" y="2173888"/>
              <a:ext cx="561900" cy="3387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CSPM</a:t>
              </a:r>
              <a:endParaRPr b="0" i="0" sz="835" u="none" cap="none" strike="noStrike">
                <a:solidFill>
                  <a:srgbClr val="000000"/>
                </a:solidFill>
                <a:latin typeface="Space Grotesk SemiBold"/>
                <a:ea typeface="Space Grotesk SemiBold"/>
                <a:cs typeface="Space Grotesk SemiBold"/>
                <a:sym typeface="Space Grotesk SemiBold"/>
              </a:endParaRPr>
            </a:p>
          </p:txBody>
        </p:sp>
        <p:sp>
          <p:nvSpPr>
            <p:cNvPr id="347" name="Google Shape;347;p22"/>
            <p:cNvSpPr/>
            <p:nvPr/>
          </p:nvSpPr>
          <p:spPr>
            <a:xfrm>
              <a:off x="379929" y="1792219"/>
              <a:ext cx="890100" cy="6585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grpSp>
      <p:pic>
        <p:nvPicPr>
          <p:cNvPr id="348" name="Google Shape;348;p22"/>
          <p:cNvPicPr preferRelativeResize="0"/>
          <p:nvPr/>
        </p:nvPicPr>
        <p:blipFill rotWithShape="1">
          <a:blip r:embed="rId25">
            <a:alphaModFix/>
          </a:blip>
          <a:srcRect b="0" l="0" r="0" t="0"/>
          <a:stretch/>
        </p:blipFill>
        <p:spPr>
          <a:xfrm>
            <a:off x="1505591" y="1590475"/>
            <a:ext cx="248769" cy="248186"/>
          </a:xfrm>
          <a:prstGeom prst="rect">
            <a:avLst/>
          </a:prstGeom>
          <a:noFill/>
          <a:ln>
            <a:noFill/>
          </a:ln>
        </p:spPr>
      </p:pic>
      <p:sp>
        <p:nvSpPr>
          <p:cNvPr id="349" name="Google Shape;349;p22"/>
          <p:cNvSpPr txBox="1"/>
          <p:nvPr/>
        </p:nvSpPr>
        <p:spPr>
          <a:xfrm>
            <a:off x="1400209" y="1853112"/>
            <a:ext cx="469200" cy="2826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ASPM</a:t>
            </a:r>
            <a:endParaRPr b="0" i="0" sz="835" u="none" cap="none" strike="noStrike">
              <a:solidFill>
                <a:srgbClr val="000000"/>
              </a:solidFill>
              <a:latin typeface="Space Grotesk SemiBold"/>
              <a:ea typeface="Space Grotesk SemiBold"/>
              <a:cs typeface="Space Grotesk SemiBold"/>
              <a:sym typeface="Space Grotesk SemiBold"/>
            </a:endParaRPr>
          </a:p>
        </p:txBody>
      </p:sp>
      <p:sp>
        <p:nvSpPr>
          <p:cNvPr id="350" name="Google Shape;350;p22"/>
          <p:cNvSpPr txBox="1"/>
          <p:nvPr/>
        </p:nvSpPr>
        <p:spPr>
          <a:xfrm>
            <a:off x="2260911" y="1852392"/>
            <a:ext cx="469200" cy="2826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KSPM</a:t>
            </a:r>
            <a:endParaRPr b="0" i="0" sz="835" u="none" cap="none" strike="noStrike">
              <a:solidFill>
                <a:srgbClr val="000000"/>
              </a:solidFill>
              <a:latin typeface="Space Grotesk SemiBold"/>
              <a:ea typeface="Space Grotesk SemiBold"/>
              <a:cs typeface="Space Grotesk SemiBold"/>
              <a:sym typeface="Space Grotesk SemiBold"/>
            </a:endParaRPr>
          </a:p>
        </p:txBody>
      </p:sp>
      <p:sp>
        <p:nvSpPr>
          <p:cNvPr id="351" name="Google Shape;351;p22"/>
          <p:cNvSpPr txBox="1"/>
          <p:nvPr/>
        </p:nvSpPr>
        <p:spPr>
          <a:xfrm>
            <a:off x="3973503" y="1852454"/>
            <a:ext cx="469200" cy="2826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KIEM</a:t>
            </a:r>
            <a:endParaRPr b="0" i="0" sz="835" u="none" cap="none" strike="noStrike">
              <a:solidFill>
                <a:srgbClr val="000000"/>
              </a:solidFill>
              <a:latin typeface="Space Grotesk SemiBold"/>
              <a:ea typeface="Space Grotesk SemiBold"/>
              <a:cs typeface="Space Grotesk SemiBold"/>
              <a:sym typeface="Space Grotesk SemiBold"/>
            </a:endParaRPr>
          </a:p>
        </p:txBody>
      </p:sp>
      <p:grpSp>
        <p:nvGrpSpPr>
          <p:cNvPr id="352" name="Google Shape;352;p22"/>
          <p:cNvGrpSpPr/>
          <p:nvPr/>
        </p:nvGrpSpPr>
        <p:grpSpPr>
          <a:xfrm>
            <a:off x="4669291" y="1538932"/>
            <a:ext cx="743055" cy="592493"/>
            <a:chOff x="5436717" y="1802845"/>
            <a:chExt cx="890100" cy="709743"/>
          </a:xfrm>
        </p:grpSpPr>
        <p:pic>
          <p:nvPicPr>
            <p:cNvPr id="353" name="Google Shape;353;p22" title="Mask group-2.png"/>
            <p:cNvPicPr preferRelativeResize="0"/>
            <p:nvPr/>
          </p:nvPicPr>
          <p:blipFill rotWithShape="1">
            <a:blip r:embed="rId26">
              <a:alphaModFix/>
            </a:blip>
            <a:srcRect b="0" l="0" r="0" t="0"/>
            <a:stretch/>
          </p:blipFill>
          <p:spPr>
            <a:xfrm>
              <a:off x="5751143" y="1877307"/>
              <a:ext cx="261239" cy="261239"/>
            </a:xfrm>
            <a:prstGeom prst="rect">
              <a:avLst/>
            </a:prstGeom>
            <a:noFill/>
            <a:ln>
              <a:noFill/>
            </a:ln>
          </p:spPr>
        </p:pic>
        <p:sp>
          <p:nvSpPr>
            <p:cNvPr id="354" name="Google Shape;354;p22"/>
            <p:cNvSpPr txBox="1"/>
            <p:nvPr/>
          </p:nvSpPr>
          <p:spPr>
            <a:xfrm>
              <a:off x="5645332" y="2173888"/>
              <a:ext cx="462000" cy="3387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CDR</a:t>
              </a:r>
              <a:endParaRPr b="0" i="0" sz="835" u="none" cap="none" strike="noStrike">
                <a:solidFill>
                  <a:srgbClr val="000000"/>
                </a:solidFill>
                <a:latin typeface="Space Grotesk SemiBold"/>
                <a:ea typeface="Space Grotesk SemiBold"/>
                <a:cs typeface="Space Grotesk SemiBold"/>
                <a:sym typeface="Space Grotesk SemiBold"/>
              </a:endParaRPr>
            </a:p>
          </p:txBody>
        </p:sp>
        <p:sp>
          <p:nvSpPr>
            <p:cNvPr id="355" name="Google Shape;355;p22"/>
            <p:cNvSpPr/>
            <p:nvPr/>
          </p:nvSpPr>
          <p:spPr>
            <a:xfrm>
              <a:off x="5436717" y="1802845"/>
              <a:ext cx="890100" cy="6585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grpSp>
      <p:pic>
        <p:nvPicPr>
          <p:cNvPr id="356" name="Google Shape;356;p22"/>
          <p:cNvPicPr preferRelativeResize="0"/>
          <p:nvPr/>
        </p:nvPicPr>
        <p:blipFill rotWithShape="1">
          <a:blip r:embed="rId27">
            <a:alphaModFix/>
          </a:blip>
          <a:srcRect b="0" l="0" r="0" t="0"/>
          <a:stretch/>
        </p:blipFill>
        <p:spPr>
          <a:xfrm>
            <a:off x="6610787" y="1581294"/>
            <a:ext cx="248750" cy="248750"/>
          </a:xfrm>
          <a:prstGeom prst="rect">
            <a:avLst/>
          </a:prstGeom>
          <a:noFill/>
          <a:ln>
            <a:noFill/>
          </a:ln>
        </p:spPr>
      </p:pic>
      <p:sp>
        <p:nvSpPr>
          <p:cNvPr id="357" name="Google Shape;357;p22"/>
          <p:cNvSpPr txBox="1"/>
          <p:nvPr/>
        </p:nvSpPr>
        <p:spPr>
          <a:xfrm>
            <a:off x="6487626" y="1844206"/>
            <a:ext cx="549900" cy="282600"/>
          </a:xfrm>
          <a:prstGeom prst="rect">
            <a:avLst/>
          </a:prstGeom>
          <a:noFill/>
          <a:ln>
            <a:noFill/>
          </a:ln>
        </p:spPr>
        <p:txBody>
          <a:bodyPr anchorCtr="0" anchor="t" bIns="76325" lIns="76325" spcFirstLastPara="1" rIns="76325" wrap="square" tIns="76325">
            <a:spAutoFit/>
          </a:bodyPr>
          <a:lstStyle/>
          <a:p>
            <a:pPr indent="0" lvl="0" marL="0" marR="0" rtl="0" algn="l">
              <a:lnSpc>
                <a:spcPct val="100000"/>
              </a:lnSpc>
              <a:spcBef>
                <a:spcPts val="0"/>
              </a:spcBef>
              <a:spcAft>
                <a:spcPts val="0"/>
              </a:spcAft>
              <a:buClr>
                <a:srgbClr val="000000"/>
              </a:buClr>
              <a:buSzPts val="835"/>
              <a:buFont typeface="Arial"/>
              <a:buNone/>
            </a:pPr>
            <a:r>
              <a:rPr b="0" i="0" lang="en" sz="835" u="none" cap="none" strike="noStrike">
                <a:solidFill>
                  <a:srgbClr val="000000"/>
                </a:solidFill>
                <a:latin typeface="Space Grotesk SemiBold"/>
                <a:ea typeface="Space Grotesk SemiBold"/>
                <a:cs typeface="Space Grotesk SemiBold"/>
                <a:sym typeface="Space Grotesk SemiBold"/>
              </a:rPr>
              <a:t>API SEC</a:t>
            </a:r>
            <a:endParaRPr b="0" i="0" sz="835" u="none" cap="none" strike="noStrike">
              <a:solidFill>
                <a:srgbClr val="000000"/>
              </a:solidFill>
              <a:latin typeface="Space Grotesk SemiBold"/>
              <a:ea typeface="Space Grotesk SemiBold"/>
              <a:cs typeface="Space Grotesk SemiBold"/>
              <a:sym typeface="Space Grotesk SemiBold"/>
            </a:endParaRPr>
          </a:p>
        </p:txBody>
      </p:sp>
      <p:sp>
        <p:nvSpPr>
          <p:cNvPr id="358" name="Google Shape;358;p22"/>
          <p:cNvSpPr/>
          <p:nvPr/>
        </p:nvSpPr>
        <p:spPr>
          <a:xfrm>
            <a:off x="6385317" y="1530722"/>
            <a:ext cx="742800" cy="549900"/>
          </a:xfrm>
          <a:prstGeom prst="roundRect">
            <a:avLst>
              <a:gd fmla="val 16667" name="adj"/>
            </a:avLst>
          </a:prstGeom>
          <a:noFill/>
          <a:ln cap="flat" cmpd="sng" w="18300">
            <a:solidFill>
              <a:srgbClr val="EEEEEE"/>
            </a:solidFill>
            <a:prstDash val="solid"/>
            <a:round/>
            <a:headEnd len="sm" w="sm" type="none"/>
            <a:tailEnd len="sm" w="sm" type="none"/>
          </a:ln>
        </p:spPr>
        <p:txBody>
          <a:bodyPr anchorCtr="0" anchor="ctr" bIns="58575" lIns="58575" spcFirstLastPara="1" rIns="58575" wrap="square" tIns="58575">
            <a:noAutofit/>
          </a:bodyPr>
          <a:lstStyle/>
          <a:p>
            <a:pPr indent="0" lvl="0" marL="0" marR="0" rtl="0" algn="ctr">
              <a:lnSpc>
                <a:spcPct val="100000"/>
              </a:lnSpc>
              <a:spcBef>
                <a:spcPts val="0"/>
              </a:spcBef>
              <a:spcAft>
                <a:spcPts val="0"/>
              </a:spcAft>
              <a:buClr>
                <a:srgbClr val="000000"/>
              </a:buClr>
              <a:buSzPts val="897"/>
              <a:buFont typeface="Arial"/>
              <a:buNone/>
            </a:pPr>
            <a:r>
              <a:t/>
            </a:r>
            <a:endParaRPr b="0" i="0" sz="897" u="none" cap="none" strike="noStrike">
              <a:solidFill>
                <a:srgbClr val="000000"/>
              </a:solidFill>
              <a:latin typeface="Arial"/>
              <a:ea typeface="Arial"/>
              <a:cs typeface="Arial"/>
              <a:sym typeface="Arial"/>
            </a:endParaRPr>
          </a:p>
        </p:txBody>
      </p:sp>
      <p:pic>
        <p:nvPicPr>
          <p:cNvPr id="359" name="Google Shape;359;p22"/>
          <p:cNvPicPr preferRelativeResize="0"/>
          <p:nvPr/>
        </p:nvPicPr>
        <p:blipFill rotWithShape="1">
          <a:blip r:embed="rId28">
            <a:alphaModFix/>
          </a:blip>
          <a:srcRect b="0" l="0" r="0" t="0"/>
          <a:stretch/>
        </p:blipFill>
        <p:spPr>
          <a:xfrm>
            <a:off x="4091372" y="1629485"/>
            <a:ext cx="194028" cy="194028"/>
          </a:xfrm>
          <a:prstGeom prst="rect">
            <a:avLst/>
          </a:prstGeom>
          <a:noFill/>
          <a:ln>
            <a:noFill/>
          </a:ln>
        </p:spPr>
      </p:pic>
      <p:pic>
        <p:nvPicPr>
          <p:cNvPr id="360" name="Google Shape;360;p22"/>
          <p:cNvPicPr preferRelativeResize="0"/>
          <p:nvPr/>
        </p:nvPicPr>
        <p:blipFill rotWithShape="1">
          <a:blip r:embed="rId29">
            <a:alphaModFix/>
          </a:blip>
          <a:srcRect b="0" l="0" r="0" t="0"/>
          <a:stretch/>
        </p:blipFill>
        <p:spPr>
          <a:xfrm>
            <a:off x="2397164" y="1621246"/>
            <a:ext cx="194028" cy="194028"/>
          </a:xfrm>
          <a:prstGeom prst="rect">
            <a:avLst/>
          </a:prstGeom>
          <a:noFill/>
          <a:ln>
            <a:noFill/>
          </a:ln>
        </p:spPr>
      </p:pic>
      <p:pic>
        <p:nvPicPr>
          <p:cNvPr id="361" name="Google Shape;361;p22"/>
          <p:cNvPicPr preferRelativeResize="0"/>
          <p:nvPr/>
        </p:nvPicPr>
        <p:blipFill rotWithShape="1">
          <a:blip r:embed="rId30">
            <a:alphaModFix/>
          </a:blip>
          <a:srcRect b="0" l="0" r="0" t="0"/>
          <a:stretch/>
        </p:blipFill>
        <p:spPr>
          <a:xfrm>
            <a:off x="461000" y="4559475"/>
            <a:ext cx="2337950" cy="421450"/>
          </a:xfrm>
          <a:prstGeom prst="rect">
            <a:avLst/>
          </a:prstGeom>
          <a:noFill/>
          <a:ln>
            <a:noFill/>
          </a:ln>
        </p:spPr>
      </p:pic>
      <p:pic>
        <p:nvPicPr>
          <p:cNvPr id="362" name="Google Shape;362;p22"/>
          <p:cNvPicPr preferRelativeResize="0"/>
          <p:nvPr/>
        </p:nvPicPr>
        <p:blipFill rotWithShape="1">
          <a:blip r:embed="rId31">
            <a:alphaModFix/>
          </a:blip>
          <a:srcRect b="0" l="0" r="0" t="0"/>
          <a:stretch/>
        </p:blipFill>
        <p:spPr>
          <a:xfrm>
            <a:off x="3156161" y="4559463"/>
            <a:ext cx="1908551" cy="459200"/>
          </a:xfrm>
          <a:prstGeom prst="rect">
            <a:avLst/>
          </a:prstGeom>
          <a:noFill/>
          <a:ln>
            <a:noFill/>
          </a:ln>
        </p:spPr>
      </p:pic>
      <p:pic>
        <p:nvPicPr>
          <p:cNvPr id="363" name="Google Shape;363;p22"/>
          <p:cNvPicPr preferRelativeResize="0"/>
          <p:nvPr/>
        </p:nvPicPr>
        <p:blipFill rotWithShape="1">
          <a:blip r:embed="rId32">
            <a:alphaModFix/>
          </a:blip>
          <a:srcRect b="0" l="0" r="4095" t="0"/>
          <a:stretch/>
        </p:blipFill>
        <p:spPr>
          <a:xfrm>
            <a:off x="7650825" y="3045825"/>
            <a:ext cx="1232625" cy="609125"/>
          </a:xfrm>
          <a:prstGeom prst="rect">
            <a:avLst/>
          </a:prstGeom>
          <a:noFill/>
          <a:ln>
            <a:noFill/>
          </a:ln>
        </p:spPr>
      </p:pic>
      <p:pic>
        <p:nvPicPr>
          <p:cNvPr id="364" name="Google Shape;364;p22"/>
          <p:cNvPicPr preferRelativeResize="0"/>
          <p:nvPr/>
        </p:nvPicPr>
        <p:blipFill rotWithShape="1">
          <a:blip r:embed="rId33">
            <a:alphaModFix/>
          </a:blip>
          <a:srcRect b="0" l="0" r="0" t="0"/>
          <a:stretch/>
        </p:blipFill>
        <p:spPr>
          <a:xfrm>
            <a:off x="5508050" y="4386792"/>
            <a:ext cx="1908550" cy="667507"/>
          </a:xfrm>
          <a:prstGeom prst="rect">
            <a:avLst/>
          </a:prstGeom>
          <a:noFill/>
          <a:ln>
            <a:noFill/>
          </a:ln>
        </p:spPr>
      </p:pic>
      <p:pic>
        <p:nvPicPr>
          <p:cNvPr id="365" name="Google Shape;365;p22"/>
          <p:cNvPicPr preferRelativeResize="0"/>
          <p:nvPr/>
        </p:nvPicPr>
        <p:blipFill rotWithShape="1">
          <a:blip r:embed="rId34">
            <a:alphaModFix/>
          </a:blip>
          <a:srcRect b="0" l="0" r="0" t="0"/>
          <a:stretch/>
        </p:blipFill>
        <p:spPr>
          <a:xfrm>
            <a:off x="7703450" y="4272925"/>
            <a:ext cx="1180000" cy="708000"/>
          </a:xfrm>
          <a:prstGeom prst="rect">
            <a:avLst/>
          </a:prstGeom>
          <a:noFill/>
          <a:ln>
            <a:noFill/>
          </a:ln>
        </p:spPr>
      </p:pic>
      <p:pic>
        <p:nvPicPr>
          <p:cNvPr id="366" name="Google Shape;366;p22"/>
          <p:cNvPicPr preferRelativeResize="0"/>
          <p:nvPr/>
        </p:nvPicPr>
        <p:blipFill rotWithShape="1">
          <a:blip r:embed="rId35">
            <a:alphaModFix/>
          </a:blip>
          <a:srcRect b="0" l="0" r="0" t="0"/>
          <a:stretch/>
        </p:blipFill>
        <p:spPr>
          <a:xfrm>
            <a:off x="7730760" y="890888"/>
            <a:ext cx="1061991" cy="708000"/>
          </a:xfrm>
          <a:prstGeom prst="rect">
            <a:avLst/>
          </a:prstGeom>
          <a:noFill/>
          <a:ln>
            <a:noFill/>
          </a:ln>
        </p:spPr>
      </p:pic>
      <p:pic>
        <p:nvPicPr>
          <p:cNvPr id="367" name="Google Shape;367;p22"/>
          <p:cNvPicPr preferRelativeResize="0"/>
          <p:nvPr/>
        </p:nvPicPr>
        <p:blipFill rotWithShape="1">
          <a:blip r:embed="rId36">
            <a:alphaModFix/>
          </a:blip>
          <a:srcRect b="0" l="0" r="0" t="0"/>
          <a:stretch/>
        </p:blipFill>
        <p:spPr>
          <a:xfrm>
            <a:off x="7749375" y="1708550"/>
            <a:ext cx="1024750" cy="1024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3"/>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 Client ]:  Before vs After</a:t>
            </a:r>
            <a:endParaRPr/>
          </a:p>
        </p:txBody>
      </p:sp>
      <p:sp>
        <p:nvSpPr>
          <p:cNvPr id="373" name="Google Shape;373;p23"/>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374" name="Google Shape;374;p23"/>
          <p:cNvSpPr/>
          <p:nvPr/>
        </p:nvSpPr>
        <p:spPr>
          <a:xfrm>
            <a:off x="411475" y="1141475"/>
            <a:ext cx="4104900" cy="411600"/>
          </a:xfrm>
          <a:prstGeom prst="rect">
            <a:avLst/>
          </a:prstGeom>
          <a:solidFill>
            <a:srgbClr val="C80019"/>
          </a:solidFill>
          <a:ln cap="flat" cmpd="sng" w="12700">
            <a:solidFill>
              <a:srgbClr val="C8001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3"/>
          <p:cNvSpPr/>
          <p:nvPr/>
        </p:nvSpPr>
        <p:spPr>
          <a:xfrm>
            <a:off x="411475" y="1141475"/>
            <a:ext cx="41049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pace Grotesk"/>
              <a:buNone/>
            </a:pPr>
            <a:r>
              <a:rPr b="1" i="0" lang="en" sz="1400" u="none" cap="none" strike="noStrike">
                <a:solidFill>
                  <a:srgbClr val="FFFFFF"/>
                </a:solidFill>
                <a:latin typeface="Space Grotesk"/>
                <a:ea typeface="Space Grotesk"/>
                <a:cs typeface="Space Grotesk"/>
                <a:sym typeface="Space Grotesk"/>
              </a:rPr>
              <a:t>BEFORE ACCUKNOX</a:t>
            </a:r>
            <a:endParaRPr b="0" i="0" sz="1400" u="none" cap="none" strike="noStrike">
              <a:solidFill>
                <a:srgbClr val="000000"/>
              </a:solidFill>
              <a:latin typeface="Calibri"/>
              <a:ea typeface="Calibri"/>
              <a:cs typeface="Calibri"/>
              <a:sym typeface="Calibri"/>
            </a:endParaRPr>
          </a:p>
        </p:txBody>
      </p:sp>
      <p:sp>
        <p:nvSpPr>
          <p:cNvPr id="376" name="Google Shape;376;p23"/>
          <p:cNvSpPr/>
          <p:nvPr/>
        </p:nvSpPr>
        <p:spPr>
          <a:xfrm>
            <a:off x="4703325" y="1141475"/>
            <a:ext cx="4016100" cy="4116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3"/>
          <p:cNvSpPr/>
          <p:nvPr/>
        </p:nvSpPr>
        <p:spPr>
          <a:xfrm>
            <a:off x="4953476" y="1141463"/>
            <a:ext cx="32487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pace Grotesk"/>
              <a:buNone/>
            </a:pPr>
            <a:r>
              <a:rPr b="1" i="0" lang="en" sz="1400" u="none" cap="none" strike="noStrike">
                <a:solidFill>
                  <a:srgbClr val="FFFFFF"/>
                </a:solidFill>
                <a:latin typeface="Space Grotesk"/>
                <a:ea typeface="Space Grotesk"/>
                <a:cs typeface="Space Grotesk"/>
                <a:sym typeface="Space Grotesk"/>
              </a:rPr>
              <a:t>AFTER ACCUKNOX</a:t>
            </a:r>
            <a:endParaRPr b="0" i="0" sz="1400" u="none" cap="none" strike="noStrike">
              <a:solidFill>
                <a:srgbClr val="000000"/>
              </a:solidFill>
              <a:latin typeface="Calibri"/>
              <a:ea typeface="Calibri"/>
              <a:cs typeface="Calibri"/>
              <a:sym typeface="Calibri"/>
            </a:endParaRPr>
          </a:p>
        </p:txBody>
      </p:sp>
      <p:sp>
        <p:nvSpPr>
          <p:cNvPr id="378" name="Google Shape;378;p23"/>
          <p:cNvSpPr/>
          <p:nvPr/>
        </p:nvSpPr>
        <p:spPr>
          <a:xfrm>
            <a:off x="411475" y="1589527"/>
            <a:ext cx="4104900" cy="530400"/>
          </a:xfrm>
          <a:prstGeom prst="rect">
            <a:avLst/>
          </a:prstGeom>
          <a:solidFill>
            <a:srgbClr val="FFF0F2"/>
          </a:solidFill>
          <a:ln cap="flat" cmpd="sng" w="9525">
            <a:solidFill>
              <a:srgbClr val="F0D0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3"/>
          <p:cNvSpPr/>
          <p:nvPr/>
        </p:nvSpPr>
        <p:spPr>
          <a:xfrm>
            <a:off x="548640" y="1589518"/>
            <a:ext cx="34746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0019"/>
              </a:buClr>
              <a:buSzPts val="1300"/>
              <a:buFont typeface="Inter"/>
              <a:buNone/>
            </a:pPr>
            <a:r>
              <a:rPr b="1" i="0" lang="en" sz="1300" u="none" cap="none" strike="noStrike">
                <a:solidFill>
                  <a:srgbClr val="C80019"/>
                </a:solidFill>
                <a:latin typeface="Space Grotesk"/>
                <a:ea typeface="Space Grotesk"/>
                <a:cs typeface="Space Grotesk"/>
                <a:sym typeface="Space Grotesk"/>
              </a:rPr>
              <a:t>✗  </a:t>
            </a:r>
            <a:r>
              <a:rPr b="0" i="0" lang="en" sz="1100" u="none" cap="none" strike="noStrike">
                <a:solidFill>
                  <a:srgbClr val="0D1B4B"/>
                </a:solidFill>
                <a:latin typeface="Space Grotesk"/>
                <a:ea typeface="Space Grotesk"/>
                <a:cs typeface="Space Grotesk"/>
                <a:sym typeface="Space Grotesk"/>
              </a:rPr>
              <a:t>Manual CIS compliance audits taking weeks</a:t>
            </a:r>
            <a:endParaRPr b="0" i="0" sz="1300" u="none" cap="none" strike="noStrike">
              <a:solidFill>
                <a:srgbClr val="000000"/>
              </a:solidFill>
              <a:latin typeface="Space Grotesk"/>
              <a:ea typeface="Space Grotesk"/>
              <a:cs typeface="Space Grotesk"/>
              <a:sym typeface="Space Grotesk"/>
            </a:endParaRPr>
          </a:p>
        </p:txBody>
      </p:sp>
      <p:sp>
        <p:nvSpPr>
          <p:cNvPr id="380" name="Google Shape;380;p23"/>
          <p:cNvSpPr/>
          <p:nvPr/>
        </p:nvSpPr>
        <p:spPr>
          <a:xfrm>
            <a:off x="411475" y="2156453"/>
            <a:ext cx="4104900" cy="530400"/>
          </a:xfrm>
          <a:prstGeom prst="rect">
            <a:avLst/>
          </a:prstGeom>
          <a:solidFill>
            <a:srgbClr val="FFFFFF"/>
          </a:solidFill>
          <a:ln cap="flat" cmpd="sng" w="9525">
            <a:solidFill>
              <a:srgbClr val="F0D0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3"/>
          <p:cNvSpPr/>
          <p:nvPr/>
        </p:nvSpPr>
        <p:spPr>
          <a:xfrm>
            <a:off x="548640" y="2156447"/>
            <a:ext cx="34746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0019"/>
              </a:buClr>
              <a:buSzPts val="1300"/>
              <a:buFont typeface="Inter"/>
              <a:buNone/>
            </a:pPr>
            <a:r>
              <a:rPr b="1" i="0" lang="en" sz="1300" u="none" cap="none" strike="noStrike">
                <a:solidFill>
                  <a:srgbClr val="C80019"/>
                </a:solidFill>
                <a:latin typeface="Space Grotesk"/>
                <a:ea typeface="Space Grotesk"/>
                <a:cs typeface="Space Grotesk"/>
                <a:sym typeface="Space Grotesk"/>
              </a:rPr>
              <a:t>✗  </a:t>
            </a:r>
            <a:r>
              <a:rPr b="0" i="0" lang="en" sz="1100" u="none" cap="none" strike="noStrike">
                <a:solidFill>
                  <a:srgbClr val="0D1B4B"/>
                </a:solidFill>
                <a:latin typeface="Space Grotesk"/>
                <a:ea typeface="Space Grotesk"/>
                <a:cs typeface="Space Grotesk"/>
                <a:sym typeface="Space Grotesk"/>
              </a:rPr>
              <a:t>No visibility into unified cloud security vulnerabilities</a:t>
            </a:r>
            <a:endParaRPr b="0" i="0" sz="1300" u="none" cap="none" strike="noStrike">
              <a:solidFill>
                <a:srgbClr val="000000"/>
              </a:solidFill>
              <a:latin typeface="Space Grotesk"/>
              <a:ea typeface="Space Grotesk"/>
              <a:cs typeface="Space Grotesk"/>
              <a:sym typeface="Space Grotesk"/>
            </a:endParaRPr>
          </a:p>
        </p:txBody>
      </p:sp>
      <p:sp>
        <p:nvSpPr>
          <p:cNvPr id="382" name="Google Shape;382;p23"/>
          <p:cNvSpPr/>
          <p:nvPr/>
        </p:nvSpPr>
        <p:spPr>
          <a:xfrm>
            <a:off x="411475" y="2723378"/>
            <a:ext cx="4104900" cy="530400"/>
          </a:xfrm>
          <a:prstGeom prst="rect">
            <a:avLst/>
          </a:prstGeom>
          <a:solidFill>
            <a:srgbClr val="FFF0F2"/>
          </a:solidFill>
          <a:ln cap="flat" cmpd="sng" w="9525">
            <a:solidFill>
              <a:srgbClr val="F0D0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3"/>
          <p:cNvSpPr/>
          <p:nvPr/>
        </p:nvSpPr>
        <p:spPr>
          <a:xfrm>
            <a:off x="548640" y="2723375"/>
            <a:ext cx="34746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0019"/>
              </a:buClr>
              <a:buSzPts val="1300"/>
              <a:buFont typeface="Inter"/>
              <a:buNone/>
            </a:pPr>
            <a:r>
              <a:rPr b="1" i="0" lang="en" sz="1300" u="none" cap="none" strike="noStrike">
                <a:solidFill>
                  <a:srgbClr val="C80019"/>
                </a:solidFill>
                <a:latin typeface="Space Grotesk"/>
                <a:ea typeface="Space Grotesk"/>
                <a:cs typeface="Space Grotesk"/>
                <a:sym typeface="Space Grotesk"/>
              </a:rPr>
              <a:t>✗  </a:t>
            </a:r>
            <a:r>
              <a:rPr b="0" i="0" lang="en" sz="1100" u="none" cap="none" strike="noStrike">
                <a:solidFill>
                  <a:srgbClr val="0D1B4B"/>
                </a:solidFill>
                <a:latin typeface="Space Grotesk"/>
                <a:ea typeface="Space Grotesk"/>
                <a:cs typeface="Space Grotesk"/>
                <a:sym typeface="Space Grotesk"/>
              </a:rPr>
              <a:t>Delayed risk prioritisation across application lifecycle</a:t>
            </a:r>
            <a:endParaRPr b="0" i="0" sz="1300" u="none" cap="none" strike="noStrike">
              <a:solidFill>
                <a:srgbClr val="000000"/>
              </a:solidFill>
              <a:latin typeface="Space Grotesk"/>
              <a:ea typeface="Space Grotesk"/>
              <a:cs typeface="Space Grotesk"/>
              <a:sym typeface="Space Grotesk"/>
            </a:endParaRPr>
          </a:p>
        </p:txBody>
      </p:sp>
      <p:sp>
        <p:nvSpPr>
          <p:cNvPr id="384" name="Google Shape;384;p23"/>
          <p:cNvSpPr/>
          <p:nvPr/>
        </p:nvSpPr>
        <p:spPr>
          <a:xfrm>
            <a:off x="411475" y="3290303"/>
            <a:ext cx="4104900" cy="530400"/>
          </a:xfrm>
          <a:prstGeom prst="rect">
            <a:avLst/>
          </a:prstGeom>
          <a:solidFill>
            <a:srgbClr val="FFFFFF"/>
          </a:solidFill>
          <a:ln cap="flat" cmpd="sng" w="9525">
            <a:solidFill>
              <a:srgbClr val="F0D0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a:off x="548640" y="3290303"/>
            <a:ext cx="34746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0019"/>
              </a:buClr>
              <a:buSzPts val="1300"/>
              <a:buFont typeface="Inter"/>
              <a:buNone/>
            </a:pPr>
            <a:r>
              <a:rPr b="1" i="0" lang="en" sz="1300" u="none" cap="none" strike="noStrike">
                <a:solidFill>
                  <a:srgbClr val="C80019"/>
                </a:solidFill>
                <a:latin typeface="Space Grotesk"/>
                <a:ea typeface="Space Grotesk"/>
                <a:cs typeface="Space Grotesk"/>
                <a:sym typeface="Space Grotesk"/>
              </a:rPr>
              <a:t>✗  </a:t>
            </a:r>
            <a:r>
              <a:rPr b="0" i="0" lang="en" sz="1100" u="none" cap="none" strike="noStrike">
                <a:solidFill>
                  <a:srgbClr val="0D1B4B"/>
                </a:solidFill>
                <a:latin typeface="Space Grotesk"/>
                <a:ea typeface="Space Grotesk"/>
                <a:cs typeface="Space Grotesk"/>
                <a:sym typeface="Space Grotesk"/>
              </a:rPr>
              <a:t>Siloed security tools with no unified view</a:t>
            </a:r>
            <a:endParaRPr b="0" i="0" sz="1300" u="none" cap="none" strike="noStrike">
              <a:solidFill>
                <a:srgbClr val="000000"/>
              </a:solidFill>
              <a:latin typeface="Space Grotesk"/>
              <a:ea typeface="Space Grotesk"/>
              <a:cs typeface="Space Grotesk"/>
              <a:sym typeface="Space Grotesk"/>
            </a:endParaRPr>
          </a:p>
        </p:txBody>
      </p:sp>
      <p:sp>
        <p:nvSpPr>
          <p:cNvPr id="386" name="Google Shape;386;p23"/>
          <p:cNvSpPr/>
          <p:nvPr/>
        </p:nvSpPr>
        <p:spPr>
          <a:xfrm>
            <a:off x="4703325" y="1589527"/>
            <a:ext cx="4016100" cy="530400"/>
          </a:xfrm>
          <a:prstGeom prst="rect">
            <a:avLst/>
          </a:prstGeom>
          <a:solidFill>
            <a:srgbClr val="EEF3FF"/>
          </a:solidFill>
          <a:ln cap="flat" cmpd="sng" w="9525">
            <a:solidFill>
              <a:srgbClr val="C5D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3"/>
          <p:cNvSpPr/>
          <p:nvPr/>
        </p:nvSpPr>
        <p:spPr>
          <a:xfrm>
            <a:off x="4703330" y="1589518"/>
            <a:ext cx="54900" cy="530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3"/>
          <p:cNvSpPr/>
          <p:nvPr/>
        </p:nvSpPr>
        <p:spPr>
          <a:xfrm>
            <a:off x="4886210" y="1589518"/>
            <a:ext cx="3429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46FF"/>
              </a:buClr>
              <a:buSzPts val="1300"/>
              <a:buFont typeface="Inter"/>
              <a:buNone/>
            </a:pPr>
            <a:r>
              <a:rPr b="0" i="0" lang="en" sz="1100" u="none" cap="none" strike="noStrike">
                <a:solidFill>
                  <a:srgbClr val="0D1B4B"/>
                </a:solidFill>
                <a:latin typeface="Space Grotesk"/>
                <a:ea typeface="Space Grotesk"/>
                <a:cs typeface="Space Grotesk"/>
                <a:sym typeface="Space Grotesk"/>
              </a:rPr>
              <a:t>Automated CIS compliance, 90% less effort</a:t>
            </a:r>
            <a:endParaRPr b="0" i="0" sz="1300" u="none" cap="none" strike="noStrike">
              <a:solidFill>
                <a:srgbClr val="000000"/>
              </a:solidFill>
              <a:latin typeface="Space Grotesk"/>
              <a:ea typeface="Space Grotesk"/>
              <a:cs typeface="Space Grotesk"/>
              <a:sym typeface="Space Grotesk"/>
            </a:endParaRPr>
          </a:p>
        </p:txBody>
      </p:sp>
      <p:sp>
        <p:nvSpPr>
          <p:cNvPr id="389" name="Google Shape;389;p23"/>
          <p:cNvSpPr/>
          <p:nvPr/>
        </p:nvSpPr>
        <p:spPr>
          <a:xfrm>
            <a:off x="4703325" y="2156453"/>
            <a:ext cx="4016100" cy="530400"/>
          </a:xfrm>
          <a:prstGeom prst="rect">
            <a:avLst/>
          </a:prstGeom>
          <a:solidFill>
            <a:srgbClr val="FFFFFF"/>
          </a:solidFill>
          <a:ln cap="flat" cmpd="sng" w="9525">
            <a:solidFill>
              <a:srgbClr val="C5D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3"/>
          <p:cNvSpPr/>
          <p:nvPr/>
        </p:nvSpPr>
        <p:spPr>
          <a:xfrm>
            <a:off x="4703330" y="2156447"/>
            <a:ext cx="54900" cy="530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3"/>
          <p:cNvSpPr/>
          <p:nvPr/>
        </p:nvSpPr>
        <p:spPr>
          <a:xfrm>
            <a:off x="4886210" y="2156447"/>
            <a:ext cx="3429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46FF"/>
              </a:buClr>
              <a:buSzPts val="1300"/>
              <a:buFont typeface="Inter"/>
              <a:buNone/>
            </a:pPr>
            <a:r>
              <a:rPr b="0" i="0" lang="en" sz="1100" u="none" cap="none" strike="noStrike">
                <a:solidFill>
                  <a:srgbClr val="0D1B4B"/>
                </a:solidFill>
                <a:latin typeface="Space Grotesk"/>
                <a:ea typeface="Space Grotesk"/>
                <a:cs typeface="Space Grotesk"/>
                <a:sym typeface="Space Grotesk"/>
              </a:rPr>
              <a:t>Real-time vulnerability detection across AWS, GCP, Oracle, Azure</a:t>
            </a:r>
            <a:endParaRPr b="0" i="0" sz="1300" u="none" cap="none" strike="noStrike">
              <a:solidFill>
                <a:srgbClr val="000000"/>
              </a:solidFill>
              <a:latin typeface="Space Grotesk"/>
              <a:ea typeface="Space Grotesk"/>
              <a:cs typeface="Space Grotesk"/>
              <a:sym typeface="Space Grotesk"/>
            </a:endParaRPr>
          </a:p>
        </p:txBody>
      </p:sp>
      <p:sp>
        <p:nvSpPr>
          <p:cNvPr id="392" name="Google Shape;392;p23"/>
          <p:cNvSpPr/>
          <p:nvPr/>
        </p:nvSpPr>
        <p:spPr>
          <a:xfrm>
            <a:off x="4703325" y="2723378"/>
            <a:ext cx="4016100" cy="530400"/>
          </a:xfrm>
          <a:prstGeom prst="rect">
            <a:avLst/>
          </a:prstGeom>
          <a:solidFill>
            <a:srgbClr val="EEF3FF"/>
          </a:solidFill>
          <a:ln cap="flat" cmpd="sng" w="9525">
            <a:solidFill>
              <a:srgbClr val="C5D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3"/>
          <p:cNvSpPr/>
          <p:nvPr/>
        </p:nvSpPr>
        <p:spPr>
          <a:xfrm>
            <a:off x="4703330" y="2723375"/>
            <a:ext cx="54900" cy="530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3"/>
          <p:cNvSpPr/>
          <p:nvPr/>
        </p:nvSpPr>
        <p:spPr>
          <a:xfrm>
            <a:off x="4886210" y="2723375"/>
            <a:ext cx="3429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46FF"/>
              </a:buClr>
              <a:buSzPts val="1300"/>
              <a:buFont typeface="Inter"/>
              <a:buNone/>
            </a:pPr>
            <a:r>
              <a:rPr b="0" i="0" lang="en" sz="1100" u="none" cap="none" strike="noStrike">
                <a:solidFill>
                  <a:srgbClr val="0D1B4B"/>
                </a:solidFill>
                <a:latin typeface="Space Grotesk"/>
                <a:ea typeface="Space Grotesk"/>
                <a:cs typeface="Space Grotesk"/>
                <a:sym typeface="Space Grotesk"/>
              </a:rPr>
              <a:t>Faster prioritisation and  remediation across application lifecycle</a:t>
            </a:r>
            <a:endParaRPr b="0" i="0" sz="1300" u="none" cap="none" strike="noStrike">
              <a:solidFill>
                <a:srgbClr val="000000"/>
              </a:solidFill>
              <a:latin typeface="Space Grotesk"/>
              <a:ea typeface="Space Grotesk"/>
              <a:cs typeface="Space Grotesk"/>
              <a:sym typeface="Space Grotesk"/>
            </a:endParaRPr>
          </a:p>
        </p:txBody>
      </p:sp>
      <p:sp>
        <p:nvSpPr>
          <p:cNvPr id="395" name="Google Shape;395;p23"/>
          <p:cNvSpPr/>
          <p:nvPr/>
        </p:nvSpPr>
        <p:spPr>
          <a:xfrm>
            <a:off x="4703325" y="3290303"/>
            <a:ext cx="4016100" cy="530400"/>
          </a:xfrm>
          <a:prstGeom prst="rect">
            <a:avLst/>
          </a:prstGeom>
          <a:solidFill>
            <a:srgbClr val="FFFFFF"/>
          </a:solidFill>
          <a:ln cap="flat" cmpd="sng" w="9525">
            <a:solidFill>
              <a:srgbClr val="C5D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3"/>
          <p:cNvSpPr/>
          <p:nvPr/>
        </p:nvSpPr>
        <p:spPr>
          <a:xfrm>
            <a:off x="4703330" y="3290303"/>
            <a:ext cx="54900" cy="530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3"/>
          <p:cNvSpPr/>
          <p:nvPr/>
        </p:nvSpPr>
        <p:spPr>
          <a:xfrm>
            <a:off x="4886210" y="3290303"/>
            <a:ext cx="3429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46FF"/>
              </a:buClr>
              <a:buSzPts val="1300"/>
              <a:buFont typeface="Inter"/>
              <a:buNone/>
            </a:pPr>
            <a:r>
              <a:rPr b="0" i="0" lang="en" sz="1100" u="none" cap="none" strike="noStrike">
                <a:solidFill>
                  <a:srgbClr val="0D1B4B"/>
                </a:solidFill>
                <a:latin typeface="Space Grotesk"/>
                <a:ea typeface="Space Grotesk"/>
                <a:cs typeface="Space Grotesk"/>
                <a:sym typeface="Space Grotesk"/>
              </a:rPr>
              <a:t>Unified multi-level defense with single console</a:t>
            </a:r>
            <a:endParaRPr b="0" i="0" sz="1300" u="none" cap="none" strike="noStrike">
              <a:solidFill>
                <a:srgbClr val="000000"/>
              </a:solidFill>
              <a:latin typeface="Space Grotesk"/>
              <a:ea typeface="Space Grotesk"/>
              <a:cs typeface="Space Grotesk"/>
              <a:sym typeface="Space Grotesk"/>
            </a:endParaRPr>
          </a:p>
        </p:txBody>
      </p:sp>
      <p:sp>
        <p:nvSpPr>
          <p:cNvPr id="398" name="Google Shape;398;p23"/>
          <p:cNvSpPr/>
          <p:nvPr/>
        </p:nvSpPr>
        <p:spPr>
          <a:xfrm>
            <a:off x="411475" y="3924075"/>
            <a:ext cx="82953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Inter"/>
              <a:buNone/>
            </a:pPr>
            <a:r>
              <a:rPr b="1" i="0" lang="en" sz="1050" u="none" cap="none" strike="noStrike">
                <a:solidFill>
                  <a:srgbClr val="000000"/>
                </a:solidFill>
                <a:latin typeface="Space Grotesk"/>
                <a:ea typeface="Space Grotesk"/>
                <a:cs typeface="Space Grotesk"/>
                <a:sym typeface="Space Grotesk"/>
              </a:rPr>
              <a:t>AccuKnox delivers automated, prevention-first security that transforms Danube Group’s compliance &amp; threat posture.</a:t>
            </a:r>
            <a:endParaRPr b="0" i="0" sz="1050" u="none" cap="none" strike="noStrike">
              <a:solidFill>
                <a:srgbClr val="000000"/>
              </a:solidFill>
              <a:latin typeface="Space Grotesk"/>
              <a:ea typeface="Space Grotesk"/>
              <a:cs typeface="Space Grotesk"/>
              <a:sym typeface="Space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4"/>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POC Execution Status</a:t>
            </a:r>
            <a:endParaRPr/>
          </a:p>
        </p:txBody>
      </p:sp>
      <p:sp>
        <p:nvSpPr>
          <p:cNvPr id="404" name="Google Shape;404;p24"/>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405" name="Google Shape;405;p24"/>
          <p:cNvSpPr/>
          <p:nvPr/>
        </p:nvSpPr>
        <p:spPr>
          <a:xfrm>
            <a:off x="3644863" y="2669894"/>
            <a:ext cx="4235100" cy="643500"/>
          </a:xfrm>
          <a:prstGeom prst="rect">
            <a:avLst/>
          </a:prstGeom>
          <a:solidFill>
            <a:srgbClr val="F5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4"/>
          <p:cNvSpPr/>
          <p:nvPr/>
        </p:nvSpPr>
        <p:spPr>
          <a:xfrm flipH="1">
            <a:off x="2043670" y="2669901"/>
            <a:ext cx="2043300" cy="6426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4"/>
          <p:cNvSpPr/>
          <p:nvPr/>
        </p:nvSpPr>
        <p:spPr>
          <a:xfrm rot="-5400000">
            <a:off x="3428299" y="2205434"/>
            <a:ext cx="643356" cy="1572275"/>
          </a:xfrm>
          <a:prstGeom prst="flowChartOffpageConnector">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4"/>
          <p:cNvSpPr/>
          <p:nvPr/>
        </p:nvSpPr>
        <p:spPr>
          <a:xfrm>
            <a:off x="2109591" y="2747277"/>
            <a:ext cx="21501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1" i="0" lang="en" sz="1300" u="none" cap="none" strike="noStrike">
                <a:solidFill>
                  <a:srgbClr val="FFFFFF"/>
                </a:solidFill>
                <a:latin typeface="Space Grotesk"/>
                <a:ea typeface="Space Grotesk"/>
                <a:cs typeface="Space Grotesk"/>
                <a:sym typeface="Space Grotesk"/>
              </a:rPr>
              <a:t>DAST Scanning</a:t>
            </a:r>
            <a:endParaRPr b="1" i="0" sz="1300" u="none" cap="none" strike="noStrike">
              <a:solidFill>
                <a:srgbClr val="FFFFFF"/>
              </a:solidFill>
              <a:latin typeface="Space Grotesk"/>
              <a:ea typeface="Space Grotesk"/>
              <a:cs typeface="Space Grotesk"/>
              <a:sym typeface="Space Grotesk"/>
            </a:endParaRPr>
          </a:p>
        </p:txBody>
      </p:sp>
      <p:sp>
        <p:nvSpPr>
          <p:cNvPr id="409" name="Google Shape;409;p24"/>
          <p:cNvSpPr/>
          <p:nvPr/>
        </p:nvSpPr>
        <p:spPr>
          <a:xfrm>
            <a:off x="1264268" y="2671076"/>
            <a:ext cx="764400" cy="6426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 sz="2600" u="none" cap="none" strike="noStrike">
                <a:solidFill>
                  <a:srgbClr val="FFFFFF"/>
                </a:solidFill>
                <a:latin typeface="Roboto Thin"/>
                <a:ea typeface="Roboto Thin"/>
                <a:cs typeface="Roboto Thin"/>
                <a:sym typeface="Roboto Thin"/>
              </a:rPr>
              <a:t>03</a:t>
            </a:r>
            <a:endParaRPr b="0" i="0" sz="2600" u="none" cap="none" strike="noStrike">
              <a:solidFill>
                <a:srgbClr val="FFFFFF"/>
              </a:solidFill>
              <a:latin typeface="Roboto Thin"/>
              <a:ea typeface="Roboto Thin"/>
              <a:cs typeface="Roboto Thin"/>
              <a:sym typeface="Roboto Thin"/>
            </a:endParaRPr>
          </a:p>
        </p:txBody>
      </p:sp>
      <p:sp>
        <p:nvSpPr>
          <p:cNvPr id="410" name="Google Shape;410;p24"/>
          <p:cNvSpPr/>
          <p:nvPr/>
        </p:nvSpPr>
        <p:spPr>
          <a:xfrm>
            <a:off x="4375501" y="2671075"/>
            <a:ext cx="3251400" cy="642300"/>
          </a:xfrm>
          <a:prstGeom prst="rect">
            <a:avLst/>
          </a:prstGeom>
          <a:noFill/>
          <a:ln>
            <a:noFill/>
          </a:ln>
        </p:spPr>
        <p:txBody>
          <a:bodyPr anchorCtr="0" anchor="ctr" bIns="91425" lIns="91425" spcFirstLastPara="1" rIns="91425" wrap="square" tIns="91425">
            <a:noAutofit/>
          </a:bodyPr>
          <a:lstStyle/>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Onboarded: 3 Websites </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DanubeHome, Promotion beta, Dabstore</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Overall Findings: 1.2k</a:t>
            </a:r>
            <a:endParaRPr i="0" sz="1000" u="none" cap="none" strike="noStrike">
              <a:solidFill>
                <a:srgbClr val="0000A0"/>
              </a:solidFill>
              <a:latin typeface="Space Grotesk"/>
              <a:ea typeface="Space Grotesk"/>
              <a:cs typeface="Space Grotesk"/>
              <a:sym typeface="Space Grotesk"/>
            </a:endParaRPr>
          </a:p>
        </p:txBody>
      </p:sp>
      <p:sp>
        <p:nvSpPr>
          <p:cNvPr id="411" name="Google Shape;411;p24"/>
          <p:cNvSpPr/>
          <p:nvPr/>
        </p:nvSpPr>
        <p:spPr>
          <a:xfrm>
            <a:off x="3644863" y="2014774"/>
            <a:ext cx="4235100" cy="643500"/>
          </a:xfrm>
          <a:prstGeom prst="rect">
            <a:avLst/>
          </a:prstGeom>
          <a:solidFill>
            <a:srgbClr val="F5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4"/>
          <p:cNvSpPr/>
          <p:nvPr/>
        </p:nvSpPr>
        <p:spPr>
          <a:xfrm flipH="1">
            <a:off x="2043670" y="2014781"/>
            <a:ext cx="2043300" cy="6426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4"/>
          <p:cNvSpPr/>
          <p:nvPr/>
        </p:nvSpPr>
        <p:spPr>
          <a:xfrm rot="-5400000">
            <a:off x="3428299" y="1550314"/>
            <a:ext cx="643356" cy="1572275"/>
          </a:xfrm>
          <a:prstGeom prst="flowChartOffpageConnector">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4"/>
          <p:cNvSpPr/>
          <p:nvPr/>
        </p:nvSpPr>
        <p:spPr>
          <a:xfrm>
            <a:off x="2109590" y="2092157"/>
            <a:ext cx="21501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1" i="0" lang="en" sz="1300" u="none" cap="none" strike="noStrike">
                <a:solidFill>
                  <a:srgbClr val="FFFFFF"/>
                </a:solidFill>
                <a:latin typeface="Space Grotesk"/>
                <a:ea typeface="Space Grotesk"/>
                <a:cs typeface="Space Grotesk"/>
                <a:sym typeface="Space Grotesk"/>
              </a:rPr>
              <a:t>Repository Scanning</a:t>
            </a:r>
            <a:endParaRPr b="1" i="0" sz="1300" u="none" cap="none" strike="noStrike">
              <a:solidFill>
                <a:srgbClr val="FFFFFF"/>
              </a:solidFill>
              <a:latin typeface="Space Grotesk"/>
              <a:ea typeface="Space Grotesk"/>
              <a:cs typeface="Space Grotesk"/>
              <a:sym typeface="Space Grotesk"/>
            </a:endParaRPr>
          </a:p>
        </p:txBody>
      </p:sp>
      <p:sp>
        <p:nvSpPr>
          <p:cNvPr id="415" name="Google Shape;415;p24"/>
          <p:cNvSpPr/>
          <p:nvPr/>
        </p:nvSpPr>
        <p:spPr>
          <a:xfrm>
            <a:off x="1264268" y="2015956"/>
            <a:ext cx="764400" cy="6426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 sz="2600" u="none" cap="none" strike="noStrike">
                <a:solidFill>
                  <a:srgbClr val="FFFFFF"/>
                </a:solidFill>
                <a:latin typeface="Roboto Thin"/>
                <a:ea typeface="Roboto Thin"/>
                <a:cs typeface="Roboto Thin"/>
                <a:sym typeface="Roboto Thin"/>
              </a:rPr>
              <a:t>02</a:t>
            </a:r>
            <a:endParaRPr b="0" i="0" sz="2600" u="none" cap="none" strike="noStrike">
              <a:solidFill>
                <a:srgbClr val="FFFFFF"/>
              </a:solidFill>
              <a:latin typeface="Roboto Thin"/>
              <a:ea typeface="Roboto Thin"/>
              <a:cs typeface="Roboto Thin"/>
              <a:sym typeface="Roboto Thin"/>
            </a:endParaRPr>
          </a:p>
        </p:txBody>
      </p:sp>
      <p:sp>
        <p:nvSpPr>
          <p:cNvPr id="416" name="Google Shape;416;p24"/>
          <p:cNvSpPr/>
          <p:nvPr/>
        </p:nvSpPr>
        <p:spPr>
          <a:xfrm>
            <a:off x="4375495" y="2015956"/>
            <a:ext cx="3291900" cy="642300"/>
          </a:xfrm>
          <a:prstGeom prst="rect">
            <a:avLst/>
          </a:prstGeom>
          <a:noFill/>
          <a:ln>
            <a:noFill/>
          </a:ln>
        </p:spPr>
        <p:txBody>
          <a:bodyPr anchorCtr="0" anchor="ctr" bIns="91425" lIns="91425" spcFirstLastPara="1" rIns="91425" wrap="square" tIns="91425">
            <a:noAutofit/>
          </a:bodyPr>
          <a:lstStyle/>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Onboarded: Bitbucket Repository Scans done: SAST, Secret, SCA</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Roboto"/>
              <a:buChar char="●"/>
            </a:pPr>
            <a:r>
              <a:rPr i="0" lang="en" sz="1000" u="none" cap="none" strike="noStrike">
                <a:solidFill>
                  <a:srgbClr val="0000A0"/>
                </a:solidFill>
                <a:latin typeface="Space Grotesk"/>
                <a:ea typeface="Space Grotesk"/>
                <a:cs typeface="Space Grotesk"/>
                <a:sym typeface="Space Grotesk"/>
              </a:rPr>
              <a:t>Overall Findings: 1.7k</a:t>
            </a:r>
            <a:endParaRPr i="0" sz="800" u="none" cap="none" strike="noStrike">
              <a:solidFill>
                <a:srgbClr val="0000A0"/>
              </a:solidFill>
              <a:latin typeface="Roboto"/>
              <a:ea typeface="Roboto"/>
              <a:cs typeface="Roboto"/>
              <a:sym typeface="Roboto"/>
            </a:endParaRPr>
          </a:p>
        </p:txBody>
      </p:sp>
      <p:sp>
        <p:nvSpPr>
          <p:cNvPr id="417" name="Google Shape;417;p24"/>
          <p:cNvSpPr/>
          <p:nvPr/>
        </p:nvSpPr>
        <p:spPr>
          <a:xfrm>
            <a:off x="3644863" y="1359646"/>
            <a:ext cx="4235100" cy="643500"/>
          </a:xfrm>
          <a:prstGeom prst="rect">
            <a:avLst/>
          </a:prstGeom>
          <a:solidFill>
            <a:srgbClr val="F5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4"/>
          <p:cNvSpPr/>
          <p:nvPr/>
        </p:nvSpPr>
        <p:spPr>
          <a:xfrm flipH="1">
            <a:off x="2043670" y="1359653"/>
            <a:ext cx="2043300" cy="6426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4"/>
          <p:cNvSpPr/>
          <p:nvPr/>
        </p:nvSpPr>
        <p:spPr>
          <a:xfrm rot="-5400000">
            <a:off x="3428299" y="895186"/>
            <a:ext cx="643356" cy="1572275"/>
          </a:xfrm>
          <a:prstGeom prst="flowChartOffpageConnector">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4"/>
          <p:cNvSpPr/>
          <p:nvPr/>
        </p:nvSpPr>
        <p:spPr>
          <a:xfrm>
            <a:off x="2109590" y="1437029"/>
            <a:ext cx="21501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FFFFFF"/>
                </a:solidFill>
                <a:latin typeface="Space Grotesk Medium"/>
                <a:ea typeface="Space Grotesk Medium"/>
                <a:cs typeface="Space Grotesk Medium"/>
                <a:sym typeface="Space Grotesk Medium"/>
              </a:rPr>
              <a:t>Cloud Security Posture Management (CSPM)</a:t>
            </a:r>
            <a:endParaRPr b="0" i="0" sz="1200" u="none" cap="none" strike="noStrike">
              <a:solidFill>
                <a:srgbClr val="FFFFFF"/>
              </a:solidFill>
              <a:latin typeface="Space Grotesk"/>
              <a:ea typeface="Space Grotesk"/>
              <a:cs typeface="Space Grotesk"/>
              <a:sym typeface="Space Grotesk"/>
            </a:endParaRPr>
          </a:p>
        </p:txBody>
      </p:sp>
      <p:sp>
        <p:nvSpPr>
          <p:cNvPr id="421" name="Google Shape;421;p24"/>
          <p:cNvSpPr/>
          <p:nvPr/>
        </p:nvSpPr>
        <p:spPr>
          <a:xfrm>
            <a:off x="1264268" y="1360828"/>
            <a:ext cx="764400" cy="6426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 sz="2600" u="none" cap="none" strike="noStrike">
                <a:solidFill>
                  <a:srgbClr val="FFFFFF"/>
                </a:solidFill>
                <a:latin typeface="Roboto Thin"/>
                <a:ea typeface="Roboto Thin"/>
                <a:cs typeface="Roboto Thin"/>
                <a:sym typeface="Roboto Thin"/>
              </a:rPr>
              <a:t>01</a:t>
            </a:r>
            <a:endParaRPr b="0" i="0" sz="2600" u="none" cap="none" strike="noStrike">
              <a:solidFill>
                <a:srgbClr val="FFFFFF"/>
              </a:solidFill>
              <a:latin typeface="Roboto Thin"/>
              <a:ea typeface="Roboto Thin"/>
              <a:cs typeface="Roboto Thin"/>
              <a:sym typeface="Roboto Thin"/>
            </a:endParaRPr>
          </a:p>
        </p:txBody>
      </p:sp>
      <p:sp>
        <p:nvSpPr>
          <p:cNvPr id="422" name="Google Shape;422;p24"/>
          <p:cNvSpPr/>
          <p:nvPr/>
        </p:nvSpPr>
        <p:spPr>
          <a:xfrm>
            <a:off x="4375495" y="1360828"/>
            <a:ext cx="3291900" cy="642300"/>
          </a:xfrm>
          <a:prstGeom prst="rect">
            <a:avLst/>
          </a:prstGeom>
          <a:noFill/>
          <a:ln>
            <a:noFill/>
          </a:ln>
        </p:spPr>
        <p:txBody>
          <a:bodyPr anchorCtr="0" anchor="ctr" bIns="91425" lIns="91425" spcFirstLastPara="1" rIns="91425" wrap="square" tIns="91425">
            <a:noAutofit/>
          </a:bodyPr>
          <a:lstStyle/>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Onboarded: 13 cloud accounts</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Azure, AWS, GCP &amp; Oracle</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Overall Findings: 1.8k</a:t>
            </a:r>
            <a:endParaRPr i="0" sz="1000" u="none" cap="none" strike="noStrike">
              <a:solidFill>
                <a:srgbClr val="0000A0"/>
              </a:solidFill>
              <a:latin typeface="Space Grotesk"/>
              <a:ea typeface="Space Grotesk"/>
              <a:cs typeface="Space Grotesk"/>
              <a:sym typeface="Space Grotesk"/>
            </a:endParaRPr>
          </a:p>
        </p:txBody>
      </p:sp>
      <p:sp>
        <p:nvSpPr>
          <p:cNvPr id="423" name="Google Shape;423;p24"/>
          <p:cNvSpPr/>
          <p:nvPr/>
        </p:nvSpPr>
        <p:spPr>
          <a:xfrm>
            <a:off x="3642543" y="3325016"/>
            <a:ext cx="4231200" cy="643500"/>
          </a:xfrm>
          <a:prstGeom prst="rect">
            <a:avLst/>
          </a:prstGeom>
          <a:solidFill>
            <a:srgbClr val="F5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4"/>
          <p:cNvSpPr/>
          <p:nvPr/>
        </p:nvSpPr>
        <p:spPr>
          <a:xfrm flipH="1">
            <a:off x="2042751" y="3325023"/>
            <a:ext cx="2041500" cy="642600"/>
          </a:xfrm>
          <a:prstGeom prst="rect">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4"/>
          <p:cNvSpPr/>
          <p:nvPr/>
        </p:nvSpPr>
        <p:spPr>
          <a:xfrm rot="-5400000">
            <a:off x="3425884" y="2861265"/>
            <a:ext cx="643356" cy="1570856"/>
          </a:xfrm>
          <a:prstGeom prst="flowChartOffpageConnector">
            <a:avLst/>
          </a:prstGeom>
          <a:solidFill>
            <a:srgbClr val="1120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4"/>
          <p:cNvSpPr/>
          <p:nvPr/>
        </p:nvSpPr>
        <p:spPr>
          <a:xfrm>
            <a:off x="2108656" y="3402399"/>
            <a:ext cx="21483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1" i="0" lang="en" sz="1300" u="none" cap="none" strike="noStrike">
                <a:solidFill>
                  <a:srgbClr val="FFFFFF"/>
                </a:solidFill>
                <a:latin typeface="Space Grotesk"/>
                <a:ea typeface="Space Grotesk"/>
                <a:cs typeface="Space Grotesk"/>
                <a:sym typeface="Space Grotesk"/>
              </a:rPr>
              <a:t>Container Registry Scan</a:t>
            </a:r>
            <a:endParaRPr b="1" i="0" sz="1300" u="none" cap="none" strike="noStrike">
              <a:solidFill>
                <a:srgbClr val="FFFFFF"/>
              </a:solidFill>
              <a:latin typeface="Space Grotesk"/>
              <a:ea typeface="Space Grotesk"/>
              <a:cs typeface="Space Grotesk"/>
              <a:sym typeface="Space Grotesk"/>
            </a:endParaRPr>
          </a:p>
        </p:txBody>
      </p:sp>
      <p:sp>
        <p:nvSpPr>
          <p:cNvPr id="427" name="Google Shape;427;p24"/>
          <p:cNvSpPr/>
          <p:nvPr/>
        </p:nvSpPr>
        <p:spPr>
          <a:xfrm>
            <a:off x="1264083" y="3326198"/>
            <a:ext cx="763800" cy="6426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 sz="2600" u="none" cap="none" strike="noStrike">
                <a:solidFill>
                  <a:srgbClr val="FFFFFF"/>
                </a:solidFill>
                <a:latin typeface="Roboto Thin"/>
                <a:ea typeface="Roboto Thin"/>
                <a:cs typeface="Roboto Thin"/>
                <a:sym typeface="Roboto Thin"/>
              </a:rPr>
              <a:t>04</a:t>
            </a:r>
            <a:endParaRPr b="0" i="0" sz="2600" u="none" cap="none" strike="noStrike">
              <a:solidFill>
                <a:srgbClr val="FFFFFF"/>
              </a:solidFill>
              <a:latin typeface="Roboto Thin"/>
              <a:ea typeface="Roboto Thin"/>
              <a:cs typeface="Roboto Thin"/>
              <a:sym typeface="Roboto Thin"/>
            </a:endParaRPr>
          </a:p>
        </p:txBody>
      </p:sp>
      <p:sp>
        <p:nvSpPr>
          <p:cNvPr id="428" name="Google Shape;428;p24"/>
          <p:cNvSpPr/>
          <p:nvPr/>
        </p:nvSpPr>
        <p:spPr>
          <a:xfrm>
            <a:off x="4362698" y="3325025"/>
            <a:ext cx="3317400" cy="642300"/>
          </a:xfrm>
          <a:prstGeom prst="rect">
            <a:avLst/>
          </a:prstGeom>
          <a:noFill/>
          <a:ln>
            <a:noFill/>
          </a:ln>
        </p:spPr>
        <p:txBody>
          <a:bodyPr anchorCtr="0" anchor="ctr" bIns="91425" lIns="91425" spcFirstLastPara="1" rIns="91425" wrap="square" tIns="91425">
            <a:noAutofit/>
          </a:bodyPr>
          <a:lstStyle/>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Onboarded: Google Artifact Registry</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us-central1</a:t>
            </a:r>
            <a:endParaRPr i="0" sz="1000" u="none" cap="none" strike="noStrike">
              <a:solidFill>
                <a:srgbClr val="0000A0"/>
              </a:solidFill>
              <a:latin typeface="Space Grotesk"/>
              <a:ea typeface="Space Grotesk"/>
              <a:cs typeface="Space Grotesk"/>
              <a:sym typeface="Space Grotesk"/>
            </a:endParaRPr>
          </a:p>
          <a:p>
            <a:pPr indent="-292100" lvl="0" marL="457200" marR="0" rtl="0" algn="l">
              <a:lnSpc>
                <a:spcPct val="115000"/>
              </a:lnSpc>
              <a:spcBef>
                <a:spcPts val="0"/>
              </a:spcBef>
              <a:spcAft>
                <a:spcPts val="0"/>
              </a:spcAft>
              <a:buClr>
                <a:srgbClr val="0000A0"/>
              </a:buClr>
              <a:buSzPts val="1000"/>
              <a:buFont typeface="Space Grotesk"/>
              <a:buChar char="●"/>
            </a:pPr>
            <a:r>
              <a:rPr i="0" lang="en" sz="1000" u="none" cap="none" strike="noStrike">
                <a:solidFill>
                  <a:srgbClr val="0000A0"/>
                </a:solidFill>
                <a:latin typeface="Space Grotesk"/>
                <a:ea typeface="Space Grotesk"/>
                <a:cs typeface="Space Grotesk"/>
                <a:sym typeface="Space Grotesk"/>
              </a:rPr>
              <a:t>Overall Findings: 900+</a:t>
            </a:r>
            <a:endParaRPr i="0" sz="1000" u="none" cap="none" strike="noStrike">
              <a:solidFill>
                <a:srgbClr val="0000A0"/>
              </a:solidFill>
              <a:latin typeface="Space Grotesk"/>
              <a:ea typeface="Space Grotesk"/>
              <a:cs typeface="Space Grotesk"/>
              <a:sym typeface="Space Grotesk"/>
            </a:endParaRPr>
          </a:p>
        </p:txBody>
      </p:sp>
      <p:sp>
        <p:nvSpPr>
          <p:cNvPr id="429" name="Google Shape;429;p24"/>
          <p:cNvSpPr txBox="1"/>
          <p:nvPr/>
        </p:nvSpPr>
        <p:spPr>
          <a:xfrm>
            <a:off x="4835975" y="4117700"/>
            <a:ext cx="3037800" cy="3693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11206D"/>
                </a:solidFill>
                <a:latin typeface="Space Grotesk"/>
                <a:ea typeface="Space Grotesk"/>
                <a:cs typeface="Space Grotesk"/>
                <a:sym typeface="Space Grotesk"/>
              </a:rPr>
              <a:t>Detailed POC report link: </a:t>
            </a:r>
            <a:r>
              <a:rPr b="1" i="0" lang="en" sz="1200" u="sng" cap="none" strike="noStrike">
                <a:solidFill>
                  <a:srgbClr val="11206D"/>
                </a:solidFill>
                <a:latin typeface="Space Grotesk"/>
                <a:ea typeface="Space Grotesk"/>
                <a:cs typeface="Space Grotesk"/>
                <a:sym typeface="Space Grotesk"/>
                <a:hlinkClick r:id="rId3">
                  <a:extLst>
                    <a:ext uri="{A12FA001-AC4F-418D-AE19-62706E023703}">
                      <ahyp:hlinkClr val="tx"/>
                    </a:ext>
                  </a:extLst>
                </a:hlinkClick>
              </a:rPr>
              <a:t>[Report]</a:t>
            </a:r>
            <a:endParaRPr b="0" i="0" sz="1200" u="none" cap="none" strike="noStrike">
              <a:solidFill>
                <a:srgbClr val="11206D"/>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5"/>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solidFill>
                  <a:srgbClr val="888888"/>
                </a:solidFill>
                <a:latin typeface="Montserrat Medium"/>
                <a:ea typeface="Montserrat Medium"/>
                <a:cs typeface="Montserrat Medium"/>
                <a:sym typeface="Montserrat Medium"/>
              </a:rPr>
              <a:t>‹#›</a:t>
            </a:fld>
            <a:endParaRPr>
              <a:solidFill>
                <a:srgbClr val="888888"/>
              </a:solidFill>
              <a:latin typeface="Montserrat Medium"/>
              <a:ea typeface="Montserrat Medium"/>
              <a:cs typeface="Montserrat Medium"/>
              <a:sym typeface="Montserrat Medium"/>
            </a:endParaRPr>
          </a:p>
        </p:txBody>
      </p:sp>
      <p:sp>
        <p:nvSpPr>
          <p:cNvPr id="435" name="Google Shape;435;p25"/>
          <p:cNvSpPr/>
          <p:nvPr/>
        </p:nvSpPr>
        <p:spPr>
          <a:xfrm>
            <a:off x="6269925" y="895825"/>
            <a:ext cx="2298300" cy="4099800"/>
          </a:xfrm>
          <a:prstGeom prst="rect">
            <a:avLst/>
          </a:prstGeom>
          <a:solidFill>
            <a:srgbClr val="FFFFFF"/>
          </a:solidFill>
          <a:ln cap="flat" cmpd="sng" w="10125">
            <a:solidFill>
              <a:srgbClr val="E6E6FA"/>
            </a:solidFill>
            <a:prstDash val="solid"/>
            <a:round/>
            <a:headEnd len="sm" w="sm" type="none"/>
            <a:tailEnd len="sm" w="sm" type="none"/>
          </a:ln>
        </p:spPr>
        <p:txBody>
          <a:bodyPr anchorCtr="0" anchor="ctr" bIns="72875" lIns="72875" spcFirstLastPara="1" rIns="72875" wrap="square" tIns="728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5"/>
          <p:cNvSpPr/>
          <p:nvPr/>
        </p:nvSpPr>
        <p:spPr>
          <a:xfrm>
            <a:off x="6426375" y="1005151"/>
            <a:ext cx="2551200" cy="5685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FFFFFF"/>
              </a:buClr>
              <a:buSzPts val="3348"/>
              <a:buFont typeface="Space Grotesk"/>
              <a:buNone/>
            </a:pPr>
            <a:r>
              <a:rPr b="1" i="0" lang="en" sz="3348" u="none" cap="none" strike="noStrike">
                <a:solidFill>
                  <a:srgbClr val="11206D"/>
                </a:solidFill>
                <a:latin typeface="Space Grotesk"/>
                <a:ea typeface="Space Grotesk"/>
                <a:cs typeface="Space Grotesk"/>
                <a:sym typeface="Space Grotesk"/>
              </a:rPr>
              <a:t>1,658</a:t>
            </a:r>
            <a:endParaRPr b="0" i="0" sz="3348" u="none" cap="none" strike="noStrike">
              <a:solidFill>
                <a:srgbClr val="11206D"/>
              </a:solidFill>
              <a:latin typeface="Calibri"/>
              <a:ea typeface="Calibri"/>
              <a:cs typeface="Calibri"/>
              <a:sym typeface="Calibri"/>
            </a:endParaRPr>
          </a:p>
        </p:txBody>
      </p:sp>
      <p:sp>
        <p:nvSpPr>
          <p:cNvPr id="437" name="Google Shape;437;p25"/>
          <p:cNvSpPr/>
          <p:nvPr/>
        </p:nvSpPr>
        <p:spPr>
          <a:xfrm>
            <a:off x="6499435" y="1566364"/>
            <a:ext cx="2405100" cy="2406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Cloud Findings</a:t>
            </a:r>
            <a:endParaRPr b="0" i="0" sz="817"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(Azure + GCP)</a:t>
            </a:r>
            <a:endParaRPr b="0" i="0" sz="817" u="none" cap="none" strike="noStrike">
              <a:solidFill>
                <a:srgbClr val="000000"/>
              </a:solidFill>
              <a:latin typeface="Space Grotesk"/>
              <a:ea typeface="Space Grotesk"/>
              <a:cs typeface="Space Grotesk"/>
              <a:sym typeface="Space Grotesk"/>
            </a:endParaRPr>
          </a:p>
        </p:txBody>
      </p:sp>
      <p:cxnSp>
        <p:nvCxnSpPr>
          <p:cNvPr id="438" name="Google Shape;438;p25"/>
          <p:cNvCxnSpPr/>
          <p:nvPr/>
        </p:nvCxnSpPr>
        <p:spPr>
          <a:xfrm>
            <a:off x="6553025" y="1921800"/>
            <a:ext cx="1800000" cy="0"/>
          </a:xfrm>
          <a:prstGeom prst="straightConnector1">
            <a:avLst/>
          </a:prstGeom>
          <a:noFill/>
          <a:ln cap="flat" cmpd="sng" w="9525">
            <a:solidFill>
              <a:srgbClr val="E6E6FA"/>
            </a:solidFill>
            <a:prstDash val="solid"/>
            <a:round/>
            <a:headEnd len="sm" w="sm" type="none"/>
            <a:tailEnd len="sm" w="sm" type="none"/>
          </a:ln>
        </p:spPr>
      </p:cxnSp>
      <p:sp>
        <p:nvSpPr>
          <p:cNvPr id="439" name="Google Shape;439;p25"/>
          <p:cNvSpPr/>
          <p:nvPr/>
        </p:nvSpPr>
        <p:spPr>
          <a:xfrm>
            <a:off x="6426375" y="1986333"/>
            <a:ext cx="2551200" cy="5685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FFFFFF"/>
              </a:buClr>
              <a:buSzPts val="3348"/>
              <a:buFont typeface="Space Grotesk"/>
              <a:buNone/>
            </a:pPr>
            <a:r>
              <a:rPr b="1" i="0" lang="en" sz="3348" u="none" cap="none" strike="noStrike">
                <a:solidFill>
                  <a:srgbClr val="11206D"/>
                </a:solidFill>
                <a:latin typeface="Space Grotesk"/>
                <a:ea typeface="Space Grotesk"/>
                <a:cs typeface="Space Grotesk"/>
                <a:sym typeface="Space Grotesk"/>
              </a:rPr>
              <a:t>12,157</a:t>
            </a:r>
            <a:endParaRPr b="0" i="0" sz="3348" u="none" cap="none" strike="noStrike">
              <a:solidFill>
                <a:srgbClr val="11206D"/>
              </a:solidFill>
              <a:latin typeface="Calibri"/>
              <a:ea typeface="Calibri"/>
              <a:cs typeface="Calibri"/>
              <a:sym typeface="Calibri"/>
            </a:endParaRPr>
          </a:p>
        </p:txBody>
      </p:sp>
      <p:sp>
        <p:nvSpPr>
          <p:cNvPr id="440" name="Google Shape;440;p25"/>
          <p:cNvSpPr/>
          <p:nvPr/>
        </p:nvSpPr>
        <p:spPr>
          <a:xfrm>
            <a:off x="6499435" y="2547545"/>
            <a:ext cx="2405100" cy="2406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Cloud Assets</a:t>
            </a:r>
            <a:endParaRPr b="0" i="0" sz="817"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Under Monitoring</a:t>
            </a:r>
            <a:endParaRPr b="0" i="0" sz="817" u="none" cap="none" strike="noStrike">
              <a:solidFill>
                <a:srgbClr val="000000"/>
              </a:solidFill>
              <a:latin typeface="Space Grotesk"/>
              <a:ea typeface="Space Grotesk"/>
              <a:cs typeface="Space Grotesk"/>
              <a:sym typeface="Space Grotesk"/>
            </a:endParaRPr>
          </a:p>
        </p:txBody>
      </p:sp>
      <p:cxnSp>
        <p:nvCxnSpPr>
          <p:cNvPr id="441" name="Google Shape;441;p25"/>
          <p:cNvCxnSpPr/>
          <p:nvPr/>
        </p:nvCxnSpPr>
        <p:spPr>
          <a:xfrm>
            <a:off x="6553025" y="2945713"/>
            <a:ext cx="1800000" cy="0"/>
          </a:xfrm>
          <a:prstGeom prst="straightConnector1">
            <a:avLst/>
          </a:prstGeom>
          <a:noFill/>
          <a:ln cap="flat" cmpd="sng" w="9525">
            <a:solidFill>
              <a:srgbClr val="E6E6FA"/>
            </a:solidFill>
            <a:prstDash val="solid"/>
            <a:round/>
            <a:headEnd len="sm" w="sm" type="none"/>
            <a:tailEnd len="sm" w="sm" type="none"/>
          </a:ln>
        </p:spPr>
      </p:cxnSp>
      <p:sp>
        <p:nvSpPr>
          <p:cNvPr id="442" name="Google Shape;442;p25"/>
          <p:cNvSpPr/>
          <p:nvPr/>
        </p:nvSpPr>
        <p:spPr>
          <a:xfrm>
            <a:off x="6426375" y="3003439"/>
            <a:ext cx="2551200" cy="5685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FF8080"/>
              </a:buClr>
              <a:buSzPts val="3348"/>
              <a:buFont typeface="Space Grotesk"/>
              <a:buNone/>
            </a:pPr>
            <a:r>
              <a:rPr b="1" i="0" lang="en" sz="3348" u="none" cap="none" strike="noStrike">
                <a:solidFill>
                  <a:srgbClr val="11206D"/>
                </a:solidFill>
                <a:latin typeface="Space Grotesk"/>
                <a:ea typeface="Space Grotesk"/>
                <a:cs typeface="Space Grotesk"/>
                <a:sym typeface="Space Grotesk"/>
              </a:rPr>
              <a:t>79%</a:t>
            </a:r>
            <a:endParaRPr b="0" i="0" sz="3348" u="none" cap="none" strike="noStrike">
              <a:solidFill>
                <a:srgbClr val="11206D"/>
              </a:solidFill>
              <a:latin typeface="Calibri"/>
              <a:ea typeface="Calibri"/>
              <a:cs typeface="Calibri"/>
              <a:sym typeface="Calibri"/>
            </a:endParaRPr>
          </a:p>
        </p:txBody>
      </p:sp>
      <p:sp>
        <p:nvSpPr>
          <p:cNvPr id="443" name="Google Shape;443;p25"/>
          <p:cNvSpPr/>
          <p:nvPr/>
        </p:nvSpPr>
        <p:spPr>
          <a:xfrm>
            <a:off x="6499260" y="3564652"/>
            <a:ext cx="2405100" cy="2406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GCP Compliance</a:t>
            </a:r>
            <a:endParaRPr b="0" i="0" sz="817"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(CIS Benchmark v3.0)</a:t>
            </a:r>
            <a:endParaRPr b="0" i="0" sz="817" u="none" cap="none" strike="noStrike">
              <a:solidFill>
                <a:srgbClr val="000000"/>
              </a:solidFill>
              <a:latin typeface="Space Grotesk"/>
              <a:ea typeface="Space Grotesk"/>
              <a:cs typeface="Space Grotesk"/>
              <a:sym typeface="Space Grotesk"/>
            </a:endParaRPr>
          </a:p>
        </p:txBody>
      </p:sp>
      <p:cxnSp>
        <p:nvCxnSpPr>
          <p:cNvPr id="444" name="Google Shape;444;p25"/>
          <p:cNvCxnSpPr/>
          <p:nvPr/>
        </p:nvCxnSpPr>
        <p:spPr>
          <a:xfrm>
            <a:off x="6553025" y="3969650"/>
            <a:ext cx="1800000" cy="0"/>
          </a:xfrm>
          <a:prstGeom prst="straightConnector1">
            <a:avLst/>
          </a:prstGeom>
          <a:noFill/>
          <a:ln cap="flat" cmpd="sng" w="9525">
            <a:solidFill>
              <a:srgbClr val="E6E6FA"/>
            </a:solidFill>
            <a:prstDash val="solid"/>
            <a:round/>
            <a:headEnd len="sm" w="sm" type="none"/>
            <a:tailEnd len="sm" w="sm" type="none"/>
          </a:ln>
        </p:spPr>
      </p:cxnSp>
      <p:sp>
        <p:nvSpPr>
          <p:cNvPr id="445" name="Google Shape;445;p25"/>
          <p:cNvSpPr/>
          <p:nvPr/>
        </p:nvSpPr>
        <p:spPr>
          <a:xfrm>
            <a:off x="6426375" y="4018589"/>
            <a:ext cx="2551200" cy="5685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FF8080"/>
              </a:buClr>
              <a:buSzPts val="3348"/>
              <a:buFont typeface="Space Grotesk"/>
              <a:buNone/>
            </a:pPr>
            <a:r>
              <a:rPr b="1" i="0" lang="en" sz="3348" u="none" cap="none" strike="noStrike">
                <a:solidFill>
                  <a:srgbClr val="11206D"/>
                </a:solidFill>
                <a:latin typeface="Space Grotesk"/>
                <a:ea typeface="Space Grotesk"/>
                <a:cs typeface="Space Grotesk"/>
                <a:sym typeface="Space Grotesk"/>
              </a:rPr>
              <a:t>37</a:t>
            </a:r>
            <a:endParaRPr b="0" i="0" sz="3348" u="none" cap="none" strike="noStrike">
              <a:solidFill>
                <a:srgbClr val="11206D"/>
              </a:solidFill>
              <a:latin typeface="Calibri"/>
              <a:ea typeface="Calibri"/>
              <a:cs typeface="Calibri"/>
              <a:sym typeface="Calibri"/>
            </a:endParaRPr>
          </a:p>
        </p:txBody>
      </p:sp>
      <p:sp>
        <p:nvSpPr>
          <p:cNvPr id="446" name="Google Shape;446;p25"/>
          <p:cNvSpPr/>
          <p:nvPr/>
        </p:nvSpPr>
        <p:spPr>
          <a:xfrm>
            <a:off x="344500" y="1091925"/>
            <a:ext cx="5539500" cy="150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Space Grotesk"/>
              <a:buNone/>
            </a:pPr>
            <a:r>
              <a:rPr b="1" i="0" lang="en" sz="3400" u="none" cap="none" strike="noStrike">
                <a:solidFill>
                  <a:srgbClr val="11206D"/>
                </a:solidFill>
                <a:latin typeface="Space Grotesk"/>
                <a:ea typeface="Space Grotesk"/>
                <a:cs typeface="Space Grotesk"/>
                <a:sym typeface="Space Grotesk"/>
              </a:rPr>
              <a:t>[ Headline ]</a:t>
            </a:r>
            <a:endParaRPr b="0" i="0" sz="3400" u="none" cap="none" strike="noStrike">
              <a:solidFill>
                <a:srgbClr val="11206D"/>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FFFFFF"/>
              </a:buClr>
              <a:buSzPts val="4000"/>
              <a:buFont typeface="Space Grotesk"/>
              <a:buNone/>
            </a:pPr>
            <a:r>
              <a:rPr b="1" i="0" lang="en" sz="3400" u="none" cap="none" strike="noStrike">
                <a:solidFill>
                  <a:srgbClr val="11206D"/>
                </a:solidFill>
                <a:latin typeface="Space Grotesk"/>
                <a:ea typeface="Space Grotesk"/>
                <a:cs typeface="Space Grotesk"/>
                <a:sym typeface="Space Grotesk"/>
              </a:rPr>
              <a:t/>
            </a:r>
            <a:endParaRPr b="0" i="0" sz="3400" u="none" cap="none" strike="noStrike">
              <a:solidFill>
                <a:srgbClr val="11206D"/>
              </a:solidFill>
              <a:latin typeface="Space Grotesk"/>
              <a:ea typeface="Space Grotesk"/>
              <a:cs typeface="Space Grotesk"/>
              <a:sym typeface="Space Grotesk"/>
            </a:endParaRPr>
          </a:p>
        </p:txBody>
      </p:sp>
      <p:sp>
        <p:nvSpPr>
          <p:cNvPr id="447" name="Google Shape;447;p25"/>
          <p:cNvSpPr/>
          <p:nvPr/>
        </p:nvSpPr>
        <p:spPr>
          <a:xfrm>
            <a:off x="344500" y="2487653"/>
            <a:ext cx="52578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64FF"/>
              </a:buClr>
              <a:buSzPts val="1200"/>
              <a:buFont typeface="Inter"/>
              <a:buNone/>
            </a:pPr>
            <a:r>
              <a:rPr b="0" lang="en" sz="1300" u="none" cap="none" strike="noStrike">
                <a:solidFill>
                  <a:srgbClr val="11206D"/>
                </a:solidFill>
                <a:latin typeface="Space Grotesk"/>
                <a:ea typeface="Space Grotesk"/>
                <a:cs typeface="Space Grotesk"/>
                <a:sym typeface="Space Grotesk"/>
              </a:rPr>
              <a:t>Based on AccuKnox Proof-of-Concept Security Assessment</a:t>
            </a:r>
            <a:endParaRPr b="0" sz="1300" u="none" cap="none" strike="noStrike">
              <a:solidFill>
                <a:srgbClr val="11206D"/>
              </a:solidFill>
              <a:latin typeface="Space Grotesk"/>
              <a:ea typeface="Space Grotesk"/>
              <a:cs typeface="Space Grotesk"/>
              <a:sym typeface="Space Grotesk"/>
            </a:endParaRPr>
          </a:p>
        </p:txBody>
      </p:sp>
      <p:sp>
        <p:nvSpPr>
          <p:cNvPr id="448" name="Google Shape;448;p25"/>
          <p:cNvSpPr/>
          <p:nvPr/>
        </p:nvSpPr>
        <p:spPr>
          <a:xfrm>
            <a:off x="411480" y="3140468"/>
            <a:ext cx="411600" cy="347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5"/>
          <p:cNvSpPr/>
          <p:nvPr/>
        </p:nvSpPr>
        <p:spPr>
          <a:xfrm>
            <a:off x="464176" y="3140475"/>
            <a:ext cx="3063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Space Grotesk"/>
              <a:buNone/>
            </a:pPr>
            <a:r>
              <a:rPr b="1" i="0" lang="en" sz="1100" u="none" cap="none" strike="noStrike">
                <a:solidFill>
                  <a:srgbClr val="FFFFFF"/>
                </a:solidFill>
                <a:latin typeface="Space Grotesk"/>
                <a:ea typeface="Space Grotesk"/>
                <a:cs typeface="Space Grotesk"/>
                <a:sym typeface="Space Grotesk"/>
              </a:rPr>
              <a:t>01</a:t>
            </a:r>
            <a:endParaRPr b="0" i="0" sz="1100" u="none" cap="none" strike="noStrike">
              <a:solidFill>
                <a:srgbClr val="000000"/>
              </a:solidFill>
              <a:latin typeface="Calibri"/>
              <a:ea typeface="Calibri"/>
              <a:cs typeface="Calibri"/>
              <a:sym typeface="Calibri"/>
            </a:endParaRPr>
          </a:p>
        </p:txBody>
      </p:sp>
      <p:sp>
        <p:nvSpPr>
          <p:cNvPr id="450" name="Google Shape;450;p25"/>
          <p:cNvSpPr/>
          <p:nvPr/>
        </p:nvSpPr>
        <p:spPr>
          <a:xfrm>
            <a:off x="841248" y="3140468"/>
            <a:ext cx="4827900" cy="347400"/>
          </a:xfrm>
          <a:prstGeom prst="rect">
            <a:avLst/>
          </a:prstGeom>
          <a:solidFill>
            <a:srgbClr val="F5F6FF"/>
          </a:solidFill>
          <a:ln cap="flat" cmpd="sng" w="12700">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5"/>
          <p:cNvSpPr/>
          <p:nvPr/>
        </p:nvSpPr>
        <p:spPr>
          <a:xfrm>
            <a:off x="932688" y="3140468"/>
            <a:ext cx="46635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Inter"/>
              <a:buNone/>
            </a:pPr>
            <a:r>
              <a:rPr i="0" lang="en" sz="1200" u="none" cap="none" strike="noStrike">
                <a:solidFill>
                  <a:srgbClr val="000000"/>
                </a:solidFill>
                <a:latin typeface="Space Grotesk Medium"/>
                <a:ea typeface="Space Grotesk Medium"/>
                <a:cs typeface="Space Grotesk Medium"/>
                <a:sym typeface="Space Grotesk Medium"/>
              </a:rPr>
              <a:t>Cloud Exposure &amp; Compliance Risk</a:t>
            </a:r>
            <a:endParaRPr i="0" sz="1200" u="none" cap="none" strike="noStrike">
              <a:solidFill>
                <a:srgbClr val="000000"/>
              </a:solidFill>
              <a:latin typeface="Space Grotesk Medium"/>
              <a:ea typeface="Space Grotesk Medium"/>
              <a:cs typeface="Space Grotesk Medium"/>
              <a:sym typeface="Space Grotesk Medium"/>
            </a:endParaRPr>
          </a:p>
        </p:txBody>
      </p:sp>
      <p:sp>
        <p:nvSpPr>
          <p:cNvPr id="452" name="Google Shape;452;p25"/>
          <p:cNvSpPr/>
          <p:nvPr/>
        </p:nvSpPr>
        <p:spPr>
          <a:xfrm>
            <a:off x="411480" y="3597668"/>
            <a:ext cx="411600" cy="347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5"/>
          <p:cNvSpPr/>
          <p:nvPr/>
        </p:nvSpPr>
        <p:spPr>
          <a:xfrm>
            <a:off x="464176" y="3597675"/>
            <a:ext cx="3063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Space Grotesk"/>
              <a:buNone/>
            </a:pPr>
            <a:r>
              <a:rPr b="1" i="0" lang="en" sz="1100" u="none" cap="none" strike="noStrike">
                <a:solidFill>
                  <a:srgbClr val="FFFFFF"/>
                </a:solidFill>
                <a:latin typeface="Space Grotesk"/>
                <a:ea typeface="Space Grotesk"/>
                <a:cs typeface="Space Grotesk"/>
                <a:sym typeface="Space Grotesk"/>
              </a:rPr>
              <a:t>02</a:t>
            </a:r>
            <a:endParaRPr b="0" i="0" sz="1100" u="none" cap="none" strike="noStrike">
              <a:solidFill>
                <a:srgbClr val="000000"/>
              </a:solidFill>
              <a:latin typeface="Calibri"/>
              <a:ea typeface="Calibri"/>
              <a:cs typeface="Calibri"/>
              <a:sym typeface="Calibri"/>
            </a:endParaRPr>
          </a:p>
        </p:txBody>
      </p:sp>
      <p:sp>
        <p:nvSpPr>
          <p:cNvPr id="454" name="Google Shape;454;p25"/>
          <p:cNvSpPr/>
          <p:nvPr/>
        </p:nvSpPr>
        <p:spPr>
          <a:xfrm>
            <a:off x="841248" y="3597668"/>
            <a:ext cx="4827900" cy="347400"/>
          </a:xfrm>
          <a:prstGeom prst="rect">
            <a:avLst/>
          </a:prstGeom>
          <a:solidFill>
            <a:srgbClr val="F5F6FF"/>
          </a:solidFill>
          <a:ln cap="flat" cmpd="sng" w="12700">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5"/>
          <p:cNvSpPr/>
          <p:nvPr/>
        </p:nvSpPr>
        <p:spPr>
          <a:xfrm>
            <a:off x="932688" y="3597668"/>
            <a:ext cx="46635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Inter"/>
              <a:buNone/>
            </a:pPr>
            <a:r>
              <a:rPr i="0" lang="en" sz="1200" u="none" cap="none" strike="noStrike">
                <a:solidFill>
                  <a:srgbClr val="000000"/>
                </a:solidFill>
                <a:latin typeface="Space Grotesk Medium"/>
                <a:ea typeface="Space Grotesk Medium"/>
                <a:cs typeface="Space Grotesk Medium"/>
                <a:sym typeface="Space Grotesk Medium"/>
              </a:rPr>
              <a:t>Application &amp; Data Privacy Risk</a:t>
            </a:r>
            <a:endParaRPr i="0" sz="1200" u="none" cap="none" strike="noStrike">
              <a:solidFill>
                <a:srgbClr val="000000"/>
              </a:solidFill>
              <a:latin typeface="Space Grotesk Medium"/>
              <a:ea typeface="Space Grotesk Medium"/>
              <a:cs typeface="Space Grotesk Medium"/>
              <a:sym typeface="Space Grotesk Medium"/>
            </a:endParaRPr>
          </a:p>
        </p:txBody>
      </p:sp>
      <p:sp>
        <p:nvSpPr>
          <p:cNvPr id="456" name="Google Shape;456;p25"/>
          <p:cNvSpPr/>
          <p:nvPr/>
        </p:nvSpPr>
        <p:spPr>
          <a:xfrm>
            <a:off x="411480" y="4054868"/>
            <a:ext cx="411600" cy="3474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5"/>
          <p:cNvSpPr/>
          <p:nvPr/>
        </p:nvSpPr>
        <p:spPr>
          <a:xfrm>
            <a:off x="464176" y="4054875"/>
            <a:ext cx="306300" cy="347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Space Grotesk"/>
              <a:buNone/>
            </a:pPr>
            <a:r>
              <a:rPr b="1" i="0" lang="en" sz="1100" u="none" cap="none" strike="noStrike">
                <a:solidFill>
                  <a:srgbClr val="FFFFFF"/>
                </a:solidFill>
                <a:latin typeface="Space Grotesk"/>
                <a:ea typeface="Space Grotesk"/>
                <a:cs typeface="Space Grotesk"/>
                <a:sym typeface="Space Grotesk"/>
              </a:rPr>
              <a:t>03</a:t>
            </a:r>
            <a:endParaRPr b="0" i="0" sz="1100" u="none" cap="none" strike="noStrike">
              <a:solidFill>
                <a:srgbClr val="000000"/>
              </a:solidFill>
              <a:latin typeface="Calibri"/>
              <a:ea typeface="Calibri"/>
              <a:cs typeface="Calibri"/>
              <a:sym typeface="Calibri"/>
            </a:endParaRPr>
          </a:p>
        </p:txBody>
      </p:sp>
      <p:sp>
        <p:nvSpPr>
          <p:cNvPr id="458" name="Google Shape;458;p25"/>
          <p:cNvSpPr/>
          <p:nvPr/>
        </p:nvSpPr>
        <p:spPr>
          <a:xfrm>
            <a:off x="841248" y="4054868"/>
            <a:ext cx="4827900" cy="347400"/>
          </a:xfrm>
          <a:prstGeom prst="rect">
            <a:avLst/>
          </a:prstGeom>
          <a:solidFill>
            <a:srgbClr val="F5F6FF"/>
          </a:solidFill>
          <a:ln cap="flat" cmpd="sng" w="12700">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5"/>
          <p:cNvSpPr/>
          <p:nvPr/>
        </p:nvSpPr>
        <p:spPr>
          <a:xfrm>
            <a:off x="932688" y="4054868"/>
            <a:ext cx="46635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Inter"/>
              <a:buNone/>
            </a:pPr>
            <a:r>
              <a:rPr i="0" lang="en" sz="1200" u="none" cap="none" strike="noStrike">
                <a:solidFill>
                  <a:srgbClr val="000000"/>
                </a:solidFill>
                <a:latin typeface="Space Grotesk Medium"/>
                <a:ea typeface="Space Grotesk Medium"/>
                <a:cs typeface="Space Grotesk Medium"/>
                <a:sym typeface="Space Grotesk Medium"/>
              </a:rPr>
              <a:t>Supply Chain &amp; Container Vulnerabilities</a:t>
            </a:r>
            <a:endParaRPr i="0" sz="1200" u="none" cap="none" strike="noStrike">
              <a:solidFill>
                <a:srgbClr val="000000"/>
              </a:solidFill>
              <a:latin typeface="Space Grotesk Medium"/>
              <a:ea typeface="Space Grotesk Medium"/>
              <a:cs typeface="Space Grotesk Medium"/>
              <a:sym typeface="Space Grotesk Medium"/>
            </a:endParaRPr>
          </a:p>
        </p:txBody>
      </p:sp>
      <p:sp>
        <p:nvSpPr>
          <p:cNvPr id="460" name="Google Shape;460;p25"/>
          <p:cNvSpPr/>
          <p:nvPr/>
        </p:nvSpPr>
        <p:spPr>
          <a:xfrm>
            <a:off x="6499260" y="4579801"/>
            <a:ext cx="2405100" cy="240600"/>
          </a:xfrm>
          <a:prstGeom prst="rect">
            <a:avLst/>
          </a:prstGeom>
          <a:noFill/>
          <a:ln>
            <a:noFill/>
          </a:ln>
        </p:spPr>
        <p:txBody>
          <a:bodyPr anchorCtr="0" anchor="ctr" bIns="36425" lIns="72875" spcFirstLastPara="1" rIns="72875" wrap="square" tIns="36425">
            <a:noAutofit/>
          </a:bodyPr>
          <a:lstStyle/>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Critical Container</a:t>
            </a:r>
            <a:endParaRPr b="0" i="0" sz="817" u="none" cap="none" strike="noStrike">
              <a:solidFill>
                <a:srgbClr val="000000"/>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6464FF"/>
              </a:buClr>
              <a:buSzPts val="717"/>
              <a:buFont typeface="Inter"/>
              <a:buNone/>
            </a:pPr>
            <a:r>
              <a:rPr b="0" i="0" lang="en" sz="817" u="none" cap="none" strike="noStrike">
                <a:solidFill>
                  <a:srgbClr val="000000"/>
                </a:solidFill>
                <a:latin typeface="Space Grotesk"/>
                <a:ea typeface="Space Grotesk"/>
                <a:cs typeface="Space Grotesk"/>
                <a:sym typeface="Space Grotesk"/>
              </a:rPr>
              <a:t>CVEs Detected</a:t>
            </a:r>
            <a:endParaRPr b="0" i="0" sz="817" u="none" cap="none" strike="noStrike">
              <a:solidFill>
                <a:srgbClr val="000000"/>
              </a:solidFill>
              <a:latin typeface="Space Grotesk"/>
              <a:ea typeface="Space Grotesk"/>
              <a:cs typeface="Space Grotesk"/>
              <a:sym typeface="Space Grotesk"/>
            </a:endParaRPr>
          </a:p>
        </p:txBody>
      </p:sp>
      <p:sp>
        <p:nvSpPr>
          <p:cNvPr id="461" name="Google Shape;461;p25"/>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 Client ] - Business Use Cases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6"/>
          <p:cNvSpPr txBox="1"/>
          <p:nvPr>
            <p:ph type="title"/>
          </p:nvPr>
        </p:nvSpPr>
        <p:spPr>
          <a:xfrm>
            <a:off x="-24300" y="-9750"/>
            <a:ext cx="7776900" cy="708000"/>
          </a:xfrm>
          <a:prstGeom prst="rect">
            <a:avLst/>
          </a:prstGeom>
        </p:spPr>
        <p:txBody>
          <a:bodyPr anchorCtr="0" anchor="ctr" bIns="91425" lIns="365750" spcFirstLastPara="1" rIns="91425" wrap="square" tIns="91425">
            <a:normAutofit fontScale="90000"/>
          </a:bodyPr>
          <a:lstStyle/>
          <a:p>
            <a:pPr indent="0" lvl="0" marL="0" rtl="0" algn="l">
              <a:spcBef>
                <a:spcPts val="0"/>
              </a:spcBef>
              <a:spcAft>
                <a:spcPts val="0"/>
              </a:spcAft>
              <a:buNone/>
            </a:pPr>
            <a:r>
              <a:rPr lang="en"/>
              <a:t>Business Case 01  ·  [ Title ]</a:t>
            </a:r>
            <a:endParaRPr/>
          </a:p>
        </p:txBody>
      </p:sp>
      <p:sp>
        <p:nvSpPr>
          <p:cNvPr id="467" name="Google Shape;467;p26"/>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468" name="Google Shape;468;p26"/>
          <p:cNvSpPr/>
          <p:nvPr/>
        </p:nvSpPr>
        <p:spPr>
          <a:xfrm>
            <a:off x="411455" y="789428"/>
            <a:ext cx="8321100" cy="31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26"/>
          <p:cNvSpPr/>
          <p:nvPr/>
        </p:nvSpPr>
        <p:spPr>
          <a:xfrm>
            <a:off x="475463" y="789428"/>
            <a:ext cx="8229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950"/>
              <a:buFont typeface="Inter"/>
              <a:buNone/>
            </a:pPr>
            <a:r>
              <a:rPr b="0" lang="en" sz="950" u="none" cap="none" strike="noStrike">
                <a:solidFill>
                  <a:srgbClr val="11206D"/>
                </a:solidFill>
                <a:latin typeface="Space Grotesk"/>
                <a:ea typeface="Space Grotesk"/>
                <a:cs typeface="Space Grotesk"/>
                <a:sym typeface="Space Grotesk"/>
              </a:rPr>
              <a:t>AccuKnox scanned 13 cloud accounts across Azure, AWS, Oracle and GCP  uncovering 1,658 misconfigurations, compliance gaps, and publicly exposed critical resources.</a:t>
            </a:r>
            <a:endParaRPr b="0" sz="950" u="none" cap="none" strike="noStrike">
              <a:solidFill>
                <a:srgbClr val="11206D"/>
              </a:solidFill>
              <a:latin typeface="Space Grotesk"/>
              <a:ea typeface="Space Grotesk"/>
              <a:cs typeface="Space Grotesk"/>
              <a:sym typeface="Space Grotesk"/>
            </a:endParaRPr>
          </a:p>
        </p:txBody>
      </p:sp>
      <p:sp>
        <p:nvSpPr>
          <p:cNvPr id="470" name="Google Shape;470;p26"/>
          <p:cNvSpPr/>
          <p:nvPr/>
        </p:nvSpPr>
        <p:spPr>
          <a:xfrm>
            <a:off x="411455" y="1155188"/>
            <a:ext cx="51207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6"/>
          <p:cNvSpPr/>
          <p:nvPr/>
        </p:nvSpPr>
        <p:spPr>
          <a:xfrm>
            <a:off x="411455" y="1155188"/>
            <a:ext cx="63900" cy="10698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6"/>
          <p:cNvSpPr/>
          <p:nvPr/>
        </p:nvSpPr>
        <p:spPr>
          <a:xfrm>
            <a:off x="576047" y="1246628"/>
            <a:ext cx="48921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0019"/>
              </a:buClr>
              <a:buSzPts val="1150"/>
              <a:buFont typeface="Space Grotesk"/>
              <a:buNone/>
            </a:pPr>
            <a:r>
              <a:rPr b="1" i="0" lang="en" sz="1150" u="none" cap="none" strike="noStrike">
                <a:solidFill>
                  <a:srgbClr val="11206D"/>
                </a:solidFill>
                <a:latin typeface="Space Grotesk"/>
                <a:ea typeface="Space Grotesk"/>
                <a:cs typeface="Space Grotesk"/>
                <a:sym typeface="Space Grotesk"/>
              </a:rPr>
              <a:t>High-Severity: Open Ports &amp; No Bastion Host</a:t>
            </a:r>
            <a:endParaRPr b="0" i="0" sz="1150" u="none" cap="none" strike="noStrike">
              <a:solidFill>
                <a:srgbClr val="11206D"/>
              </a:solidFill>
              <a:latin typeface="Space Grotesk"/>
              <a:ea typeface="Space Grotesk"/>
              <a:cs typeface="Space Grotesk"/>
              <a:sym typeface="Space Grotesk"/>
            </a:endParaRPr>
          </a:p>
        </p:txBody>
      </p:sp>
      <p:sp>
        <p:nvSpPr>
          <p:cNvPr id="473" name="Google Shape;473;p26"/>
          <p:cNvSpPr/>
          <p:nvPr/>
        </p:nvSpPr>
        <p:spPr>
          <a:xfrm>
            <a:off x="576047" y="1493516"/>
            <a:ext cx="48921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Inter"/>
              <a:buNone/>
            </a:pPr>
            <a:r>
              <a:rPr b="0" i="0" lang="en" sz="1000" u="none" cap="none" strike="noStrike">
                <a:solidFill>
                  <a:srgbClr val="000000"/>
                </a:solidFill>
                <a:latin typeface="Space Grotesk"/>
                <a:ea typeface="Space Grotesk"/>
                <a:cs typeface="Space Grotesk"/>
                <a:sym typeface="Space Grotesk"/>
              </a:rPr>
              <a:t>NSG DANGRP-AZ-PROD-NSG-FG-TRUST exposes ALL ports to the internet. RDP (3389) and SSH (22) are publicly reachable. No Azure Bastion Host found across 10 subscriptions any internet-connected VM is a direct entry point.</a:t>
            </a:r>
            <a:endParaRPr b="0" i="0" sz="1000" u="none" cap="none" strike="noStrike">
              <a:solidFill>
                <a:srgbClr val="000000"/>
              </a:solidFill>
              <a:latin typeface="Space Grotesk"/>
              <a:ea typeface="Space Grotesk"/>
              <a:cs typeface="Space Grotesk"/>
              <a:sym typeface="Space Grotesk"/>
            </a:endParaRPr>
          </a:p>
        </p:txBody>
      </p:sp>
      <p:sp>
        <p:nvSpPr>
          <p:cNvPr id="474" name="Google Shape;474;p26"/>
          <p:cNvSpPr/>
          <p:nvPr/>
        </p:nvSpPr>
        <p:spPr>
          <a:xfrm>
            <a:off x="411455" y="2289044"/>
            <a:ext cx="51207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6"/>
          <p:cNvSpPr/>
          <p:nvPr/>
        </p:nvSpPr>
        <p:spPr>
          <a:xfrm>
            <a:off x="411455" y="2289044"/>
            <a:ext cx="63900" cy="10698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6"/>
          <p:cNvSpPr/>
          <p:nvPr/>
        </p:nvSpPr>
        <p:spPr>
          <a:xfrm>
            <a:off x="576047" y="2380484"/>
            <a:ext cx="48921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0019"/>
              </a:buClr>
              <a:buSzPts val="1150"/>
              <a:buFont typeface="Space Grotesk"/>
              <a:buNone/>
            </a:pPr>
            <a:r>
              <a:rPr b="1" i="0" lang="en" sz="1150" u="none" cap="none" strike="noStrike">
                <a:solidFill>
                  <a:srgbClr val="11206D"/>
                </a:solidFill>
                <a:latin typeface="Space Grotesk"/>
                <a:ea typeface="Space Grotesk"/>
                <a:cs typeface="Space Grotesk"/>
                <a:sym typeface="Space Grotesk"/>
              </a:rPr>
              <a:t>Key Vault Secrets Traversing the Public Internet</a:t>
            </a:r>
            <a:endParaRPr b="0" i="0" sz="1150" u="none" cap="none" strike="noStrike">
              <a:solidFill>
                <a:srgbClr val="11206D"/>
              </a:solidFill>
              <a:latin typeface="Space Grotesk"/>
              <a:ea typeface="Space Grotesk"/>
              <a:cs typeface="Space Grotesk"/>
              <a:sym typeface="Space Grotesk"/>
            </a:endParaRPr>
          </a:p>
        </p:txBody>
      </p:sp>
      <p:sp>
        <p:nvSpPr>
          <p:cNvPr id="477" name="Google Shape;477;p26"/>
          <p:cNvSpPr/>
          <p:nvPr/>
        </p:nvSpPr>
        <p:spPr>
          <a:xfrm>
            <a:off x="576047" y="2627372"/>
            <a:ext cx="48921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Inter"/>
              <a:buNone/>
            </a:pPr>
            <a:r>
              <a:rPr b="0" i="0" lang="en" sz="1000" u="none" cap="none" strike="noStrike">
                <a:solidFill>
                  <a:srgbClr val="000000"/>
                </a:solidFill>
                <a:latin typeface="Space Grotesk"/>
                <a:ea typeface="Space Grotesk"/>
                <a:cs typeface="Space Grotesk"/>
                <a:sym typeface="Space Grotesk"/>
              </a:rPr>
              <a:t>DANGRP-AZ-PROD-KEYVAULT has no private endpoint configured. Secrets, keys, and certificates are accessible outside the VNet perimeter. VM Encryption at Host is also missing, cached data is unprotected at the physical host level.</a:t>
            </a:r>
            <a:endParaRPr b="0" i="0" sz="1000" u="none" cap="none" strike="noStrike">
              <a:solidFill>
                <a:srgbClr val="000000"/>
              </a:solidFill>
              <a:latin typeface="Space Grotesk"/>
              <a:ea typeface="Space Grotesk"/>
              <a:cs typeface="Space Grotesk"/>
              <a:sym typeface="Space Grotesk"/>
            </a:endParaRPr>
          </a:p>
        </p:txBody>
      </p:sp>
      <p:sp>
        <p:nvSpPr>
          <p:cNvPr id="478" name="Google Shape;478;p26"/>
          <p:cNvSpPr/>
          <p:nvPr/>
        </p:nvSpPr>
        <p:spPr>
          <a:xfrm>
            <a:off x="411455" y="3422900"/>
            <a:ext cx="51207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6"/>
          <p:cNvSpPr/>
          <p:nvPr/>
        </p:nvSpPr>
        <p:spPr>
          <a:xfrm>
            <a:off x="411455" y="3422900"/>
            <a:ext cx="63900" cy="10698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6"/>
          <p:cNvSpPr/>
          <p:nvPr/>
        </p:nvSpPr>
        <p:spPr>
          <a:xfrm>
            <a:off x="576047" y="3514340"/>
            <a:ext cx="48921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150"/>
              <a:buFont typeface="Space Grotesk"/>
              <a:buNone/>
            </a:pPr>
            <a:r>
              <a:rPr b="1" i="0" lang="en" sz="1150" u="none" cap="none" strike="noStrike">
                <a:solidFill>
                  <a:srgbClr val="11206D"/>
                </a:solidFill>
                <a:latin typeface="Space Grotesk"/>
                <a:ea typeface="Space Grotesk"/>
                <a:cs typeface="Space Grotesk"/>
                <a:sym typeface="Space Grotesk"/>
              </a:rPr>
              <a:t>GCP Compliance: 50% SOC3— Audit Logs Disabled</a:t>
            </a:r>
            <a:endParaRPr b="0" i="0" sz="1150" u="none" cap="none" strike="noStrike">
              <a:solidFill>
                <a:srgbClr val="11206D"/>
              </a:solidFill>
              <a:latin typeface="Space Grotesk"/>
              <a:ea typeface="Space Grotesk"/>
              <a:cs typeface="Space Grotesk"/>
              <a:sym typeface="Space Grotesk"/>
            </a:endParaRPr>
          </a:p>
        </p:txBody>
      </p:sp>
      <p:sp>
        <p:nvSpPr>
          <p:cNvPr id="481" name="Google Shape;481;p26"/>
          <p:cNvSpPr/>
          <p:nvPr/>
        </p:nvSpPr>
        <p:spPr>
          <a:xfrm>
            <a:off x="576047" y="3761228"/>
            <a:ext cx="48921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Inter"/>
              <a:buNone/>
            </a:pPr>
            <a:r>
              <a:rPr b="0" i="0" lang="en" sz="1000" u="none" cap="none" strike="noStrike">
                <a:solidFill>
                  <a:srgbClr val="000000"/>
                </a:solidFill>
                <a:latin typeface="Space Grotesk"/>
                <a:ea typeface="Space Grotesk"/>
                <a:cs typeface="Space Grotesk"/>
                <a:sym typeface="Space Grotesk"/>
              </a:rPr>
              <a:t>GCP project scores  just 50% for SOC3-Audit logging, flow logs, bucket logging, and OS login are all disabled. This blind spot means malicious activity in GCP goes completely undetected  and unattributable.</a:t>
            </a:r>
            <a:endParaRPr b="0" i="0" sz="1000" u="none" cap="none" strike="noStrike">
              <a:solidFill>
                <a:srgbClr val="000000"/>
              </a:solidFill>
              <a:latin typeface="Space Grotesk"/>
              <a:ea typeface="Space Grotesk"/>
              <a:cs typeface="Space Grotesk"/>
              <a:sym typeface="Space Grotesk"/>
            </a:endParaRPr>
          </a:p>
        </p:txBody>
      </p:sp>
      <p:sp>
        <p:nvSpPr>
          <p:cNvPr id="482" name="Google Shape;482;p26"/>
          <p:cNvSpPr/>
          <p:nvPr/>
        </p:nvSpPr>
        <p:spPr>
          <a:xfrm>
            <a:off x="5669255" y="1155188"/>
            <a:ext cx="30633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6"/>
          <p:cNvSpPr/>
          <p:nvPr/>
        </p:nvSpPr>
        <p:spPr>
          <a:xfrm>
            <a:off x="5669255" y="1210052"/>
            <a:ext cx="3063300" cy="588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80019"/>
              </a:buClr>
              <a:buSzPts val="3800"/>
              <a:buFont typeface="Space Grotesk"/>
              <a:buNone/>
            </a:pPr>
            <a:r>
              <a:rPr b="1" i="0" lang="en" sz="3800" u="none" cap="none" strike="noStrike">
                <a:solidFill>
                  <a:srgbClr val="11206D"/>
                </a:solidFill>
                <a:latin typeface="Space Grotesk"/>
                <a:ea typeface="Space Grotesk"/>
                <a:cs typeface="Space Grotesk"/>
                <a:sym typeface="Space Grotesk"/>
              </a:rPr>
              <a:t>1,658</a:t>
            </a:r>
            <a:endParaRPr b="0" i="0" sz="3800" u="none" cap="none" strike="noStrike">
              <a:solidFill>
                <a:srgbClr val="11206D"/>
              </a:solidFill>
              <a:latin typeface="Calibri"/>
              <a:ea typeface="Calibri"/>
              <a:cs typeface="Calibri"/>
              <a:sym typeface="Calibri"/>
            </a:endParaRPr>
          </a:p>
        </p:txBody>
      </p:sp>
      <p:sp>
        <p:nvSpPr>
          <p:cNvPr id="484" name="Google Shape;484;p26"/>
          <p:cNvSpPr/>
          <p:nvPr/>
        </p:nvSpPr>
        <p:spPr>
          <a:xfrm>
            <a:off x="5760695" y="1735430"/>
            <a:ext cx="2880300" cy="42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Total Cloud Findings</a:t>
            </a:r>
            <a:endParaRPr b="0" i="0" sz="95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Azure (1,449) + GCP (209)</a:t>
            </a:r>
            <a:endParaRPr b="0" i="0" sz="950" u="none" cap="none" strike="noStrike">
              <a:solidFill>
                <a:srgbClr val="000000"/>
              </a:solidFill>
              <a:latin typeface="Space Grotesk"/>
              <a:ea typeface="Space Grotesk"/>
              <a:cs typeface="Space Grotesk"/>
              <a:sym typeface="Space Grotesk"/>
            </a:endParaRPr>
          </a:p>
        </p:txBody>
      </p:sp>
      <p:sp>
        <p:nvSpPr>
          <p:cNvPr id="485" name="Google Shape;485;p26"/>
          <p:cNvSpPr/>
          <p:nvPr/>
        </p:nvSpPr>
        <p:spPr>
          <a:xfrm>
            <a:off x="5669255" y="2289044"/>
            <a:ext cx="30633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6"/>
          <p:cNvSpPr/>
          <p:nvPr/>
        </p:nvSpPr>
        <p:spPr>
          <a:xfrm>
            <a:off x="5669255" y="2343908"/>
            <a:ext cx="3063300" cy="588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7A5A"/>
              </a:buClr>
              <a:buSzPts val="3800"/>
              <a:buFont typeface="Space Grotesk"/>
              <a:buNone/>
            </a:pPr>
            <a:r>
              <a:rPr b="1" i="0" lang="en" sz="3800" u="none" cap="none" strike="noStrike">
                <a:solidFill>
                  <a:srgbClr val="11206D"/>
                </a:solidFill>
                <a:latin typeface="Space Grotesk"/>
                <a:ea typeface="Space Grotesk"/>
                <a:cs typeface="Space Grotesk"/>
                <a:sym typeface="Space Grotesk"/>
              </a:rPr>
              <a:t>99%</a:t>
            </a:r>
            <a:endParaRPr b="0" i="0" sz="3800" u="none" cap="none" strike="noStrike">
              <a:solidFill>
                <a:srgbClr val="11206D"/>
              </a:solidFill>
              <a:latin typeface="Calibri"/>
              <a:ea typeface="Calibri"/>
              <a:cs typeface="Calibri"/>
              <a:sym typeface="Calibri"/>
            </a:endParaRPr>
          </a:p>
        </p:txBody>
      </p:sp>
      <p:sp>
        <p:nvSpPr>
          <p:cNvPr id="487" name="Google Shape;487;p26"/>
          <p:cNvSpPr/>
          <p:nvPr/>
        </p:nvSpPr>
        <p:spPr>
          <a:xfrm>
            <a:off x="5760695" y="2869286"/>
            <a:ext cx="2880300" cy="42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Azure Compliance</a:t>
            </a:r>
            <a:endParaRPr b="0" i="0" sz="95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ISO 27001 · NIST · SOC 2 maintained</a:t>
            </a:r>
            <a:endParaRPr b="0" i="0" sz="950" u="none" cap="none" strike="noStrike">
              <a:solidFill>
                <a:srgbClr val="000000"/>
              </a:solidFill>
              <a:latin typeface="Space Grotesk"/>
              <a:ea typeface="Space Grotesk"/>
              <a:cs typeface="Space Grotesk"/>
              <a:sym typeface="Space Grotesk"/>
            </a:endParaRPr>
          </a:p>
        </p:txBody>
      </p:sp>
      <p:sp>
        <p:nvSpPr>
          <p:cNvPr id="488" name="Google Shape;488;p26"/>
          <p:cNvSpPr/>
          <p:nvPr/>
        </p:nvSpPr>
        <p:spPr>
          <a:xfrm>
            <a:off x="5669255" y="3422900"/>
            <a:ext cx="30633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6"/>
          <p:cNvSpPr/>
          <p:nvPr/>
        </p:nvSpPr>
        <p:spPr>
          <a:xfrm>
            <a:off x="5669255" y="3477764"/>
            <a:ext cx="3063300" cy="588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80019"/>
              </a:buClr>
              <a:buSzPts val="3800"/>
              <a:buFont typeface="Space Grotesk"/>
              <a:buNone/>
            </a:pPr>
            <a:r>
              <a:rPr b="1" i="0" lang="en" sz="3800" u="none" cap="none" strike="noStrike">
                <a:solidFill>
                  <a:srgbClr val="11206D"/>
                </a:solidFill>
                <a:latin typeface="Space Grotesk"/>
                <a:ea typeface="Space Grotesk"/>
                <a:cs typeface="Space Grotesk"/>
                <a:sym typeface="Space Grotesk"/>
              </a:rPr>
              <a:t>50%</a:t>
            </a:r>
            <a:endParaRPr b="0" i="0" sz="3800" u="none" cap="none" strike="noStrike">
              <a:solidFill>
                <a:srgbClr val="11206D"/>
              </a:solidFill>
              <a:latin typeface="Calibri"/>
              <a:ea typeface="Calibri"/>
              <a:cs typeface="Calibri"/>
              <a:sym typeface="Calibri"/>
            </a:endParaRPr>
          </a:p>
        </p:txBody>
      </p:sp>
      <p:sp>
        <p:nvSpPr>
          <p:cNvPr id="490" name="Google Shape;490;p26"/>
          <p:cNvSpPr/>
          <p:nvPr/>
        </p:nvSpPr>
        <p:spPr>
          <a:xfrm>
            <a:off x="5760695" y="4003142"/>
            <a:ext cx="2880300" cy="42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GCP SOC3</a:t>
            </a:r>
            <a:br>
              <a:rPr b="0" i="0" lang="en" sz="950" u="none" cap="none" strike="noStrike">
                <a:solidFill>
                  <a:srgbClr val="000000"/>
                </a:solidFill>
                <a:latin typeface="Space Grotesk"/>
                <a:ea typeface="Space Grotesk"/>
                <a:cs typeface="Space Grotesk"/>
                <a:sym typeface="Space Grotesk"/>
              </a:rPr>
            </a:br>
            <a:r>
              <a:rPr b="0" i="0" lang="en" sz="950" u="none" cap="none" strike="noStrike">
                <a:solidFill>
                  <a:srgbClr val="000000"/>
                </a:solidFill>
                <a:latin typeface="Space Grotesk"/>
                <a:ea typeface="Space Grotesk"/>
                <a:cs typeface="Space Grotesk"/>
                <a:sym typeface="Space Grotesk"/>
              </a:rPr>
              <a:t>Compliance Score (gap to close)</a:t>
            </a:r>
            <a:endParaRPr b="0" i="0" sz="950" u="none" cap="none" strike="noStrike">
              <a:solidFill>
                <a:srgbClr val="000000"/>
              </a:solidFill>
              <a:latin typeface="Space Grotesk"/>
              <a:ea typeface="Space Grotesk"/>
              <a:cs typeface="Space Grotesk"/>
              <a:sym typeface="Space Grotesk"/>
            </a:endParaRPr>
          </a:p>
        </p:txBody>
      </p:sp>
      <p:sp>
        <p:nvSpPr>
          <p:cNvPr id="491" name="Google Shape;491;p26"/>
          <p:cNvSpPr/>
          <p:nvPr/>
        </p:nvSpPr>
        <p:spPr>
          <a:xfrm>
            <a:off x="411455" y="4611620"/>
            <a:ext cx="8321100" cy="384000"/>
          </a:xfrm>
          <a:prstGeom prst="rect">
            <a:avLst/>
          </a:prstGeom>
          <a:solidFill>
            <a:srgbClr val="F5F6FF"/>
          </a:solidFill>
          <a:ln cap="flat" cmpd="sng" w="12700">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6"/>
          <p:cNvSpPr/>
          <p:nvPr/>
        </p:nvSpPr>
        <p:spPr>
          <a:xfrm>
            <a:off x="411455" y="4611620"/>
            <a:ext cx="1326000" cy="3840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6"/>
          <p:cNvSpPr/>
          <p:nvPr/>
        </p:nvSpPr>
        <p:spPr>
          <a:xfrm>
            <a:off x="475463" y="4611620"/>
            <a:ext cx="12345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Space Grotesk"/>
              <a:buNone/>
            </a:pPr>
            <a:r>
              <a:rPr b="1" i="0" lang="en" sz="1000" u="none" cap="none" strike="noStrike">
                <a:solidFill>
                  <a:srgbClr val="FFFFFF"/>
                </a:solidFill>
                <a:latin typeface="Space Grotesk"/>
                <a:ea typeface="Space Grotesk"/>
                <a:cs typeface="Space Grotesk"/>
                <a:sym typeface="Space Grotesk"/>
              </a:rPr>
              <a:t>Business Impact</a:t>
            </a:r>
            <a:endParaRPr b="0" i="0" sz="1000" u="none" cap="none" strike="noStrike">
              <a:solidFill>
                <a:srgbClr val="000000"/>
              </a:solidFill>
              <a:latin typeface="Calibri"/>
              <a:ea typeface="Calibri"/>
              <a:cs typeface="Calibri"/>
              <a:sym typeface="Calibri"/>
            </a:endParaRPr>
          </a:p>
        </p:txBody>
      </p:sp>
      <p:sp>
        <p:nvSpPr>
          <p:cNvPr id="494" name="Google Shape;494;p26"/>
          <p:cNvSpPr/>
          <p:nvPr/>
        </p:nvSpPr>
        <p:spPr>
          <a:xfrm>
            <a:off x="1801343" y="4611620"/>
            <a:ext cx="6858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Inter"/>
              <a:buNone/>
            </a:pPr>
            <a:r>
              <a:rPr b="0" i="0" lang="en" sz="950" u="none" cap="none" strike="noStrike">
                <a:solidFill>
                  <a:srgbClr val="11206D"/>
                </a:solidFill>
                <a:latin typeface="Space Grotesk"/>
                <a:ea typeface="Space Grotesk"/>
                <a:cs typeface="Space Grotesk"/>
                <a:sym typeface="Space Grotesk"/>
              </a:rPr>
              <a:t>Open RDP/SSH ports, unprotected Key Vaults, and a GCP compliance gap create direct exposure to credential theft, regulatory fines (UAE PDPL, GDPR), and audit failure.</a:t>
            </a:r>
            <a:endParaRPr b="0" i="0" sz="950" u="none" cap="none" strike="noStrike">
              <a:solidFill>
                <a:srgbClr val="11206D"/>
              </a:solidFill>
              <a:latin typeface="Space Grotesk"/>
              <a:ea typeface="Space Grotesk"/>
              <a:cs typeface="Space Grotesk"/>
              <a:sym typeface="Space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7"/>
          <p:cNvSpPr txBox="1"/>
          <p:nvPr>
            <p:ph type="title"/>
          </p:nvPr>
        </p:nvSpPr>
        <p:spPr>
          <a:xfrm>
            <a:off x="-24300" y="-9750"/>
            <a:ext cx="7776900" cy="708000"/>
          </a:xfrm>
          <a:prstGeom prst="rect">
            <a:avLst/>
          </a:prstGeom>
        </p:spPr>
        <p:txBody>
          <a:bodyPr anchorCtr="0" anchor="ctr" bIns="91425" lIns="365750" spcFirstLastPara="1" rIns="91425" wrap="square" tIns="91425">
            <a:normAutofit fontScale="90000"/>
          </a:bodyPr>
          <a:lstStyle/>
          <a:p>
            <a:pPr indent="0" lvl="0" marL="0" rtl="0" algn="l">
              <a:spcBef>
                <a:spcPts val="0"/>
              </a:spcBef>
              <a:spcAft>
                <a:spcPts val="0"/>
              </a:spcAft>
              <a:buNone/>
            </a:pPr>
            <a:r>
              <a:rPr lang="en"/>
              <a:t>Business Case 02  ·  [ Title ]</a:t>
            </a:r>
            <a:endParaRPr/>
          </a:p>
        </p:txBody>
      </p:sp>
      <p:sp>
        <p:nvSpPr>
          <p:cNvPr id="500" name="Google Shape;500;p27"/>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01" name="Google Shape;501;p27"/>
          <p:cNvSpPr/>
          <p:nvPr/>
        </p:nvSpPr>
        <p:spPr>
          <a:xfrm>
            <a:off x="411455" y="789428"/>
            <a:ext cx="8321100" cy="31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7"/>
          <p:cNvSpPr/>
          <p:nvPr/>
        </p:nvSpPr>
        <p:spPr>
          <a:xfrm>
            <a:off x="475463" y="789428"/>
            <a:ext cx="8229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950"/>
              <a:buFont typeface="Inter"/>
              <a:buNone/>
            </a:pPr>
            <a:r>
              <a:rPr b="0" i="1" lang="en" sz="950" u="none" cap="none" strike="noStrike">
                <a:solidFill>
                  <a:srgbClr val="11206D"/>
                </a:solidFill>
                <a:latin typeface="Space Grotesk"/>
                <a:ea typeface="Space Grotesk"/>
                <a:cs typeface="Space Grotesk"/>
                <a:sym typeface="Space Grotesk"/>
              </a:rPr>
              <a:t>DAST scanning of dbmstore.com and SAST + secret scanning of the Danube Magento repository reveal live vulnerabilities exposing customer PII and hardcoded credentials.</a:t>
            </a:r>
            <a:endParaRPr b="0" i="0" sz="950" u="none" cap="none" strike="noStrike">
              <a:solidFill>
                <a:srgbClr val="11206D"/>
              </a:solidFill>
              <a:latin typeface="Space Grotesk"/>
              <a:ea typeface="Space Grotesk"/>
              <a:cs typeface="Space Grotesk"/>
              <a:sym typeface="Space Grotesk"/>
            </a:endParaRPr>
          </a:p>
        </p:txBody>
      </p:sp>
      <p:sp>
        <p:nvSpPr>
          <p:cNvPr id="503" name="Google Shape;503;p27"/>
          <p:cNvSpPr/>
          <p:nvPr/>
        </p:nvSpPr>
        <p:spPr>
          <a:xfrm>
            <a:off x="411450" y="4611625"/>
            <a:ext cx="8366700" cy="384000"/>
          </a:xfrm>
          <a:prstGeom prst="rect">
            <a:avLst/>
          </a:prstGeom>
          <a:solidFill>
            <a:srgbClr val="F5F6FF"/>
          </a:solidFill>
          <a:ln cap="flat" cmpd="sng" w="12700">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7"/>
          <p:cNvSpPr/>
          <p:nvPr/>
        </p:nvSpPr>
        <p:spPr>
          <a:xfrm>
            <a:off x="411455" y="4611620"/>
            <a:ext cx="1326000" cy="3840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7"/>
          <p:cNvSpPr/>
          <p:nvPr/>
        </p:nvSpPr>
        <p:spPr>
          <a:xfrm>
            <a:off x="475463" y="4611620"/>
            <a:ext cx="12345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Space Grotesk"/>
              <a:buNone/>
            </a:pPr>
            <a:r>
              <a:rPr b="1" i="0" lang="en" sz="1000" u="none" cap="none" strike="noStrike">
                <a:solidFill>
                  <a:srgbClr val="FFFFFF"/>
                </a:solidFill>
                <a:latin typeface="Space Grotesk"/>
                <a:ea typeface="Space Grotesk"/>
                <a:cs typeface="Space Grotesk"/>
                <a:sym typeface="Space Grotesk"/>
              </a:rPr>
              <a:t>Business Impact</a:t>
            </a:r>
            <a:endParaRPr b="0" i="0" sz="1000" u="none" cap="none" strike="noStrike">
              <a:solidFill>
                <a:srgbClr val="000000"/>
              </a:solidFill>
              <a:latin typeface="Calibri"/>
              <a:ea typeface="Calibri"/>
              <a:cs typeface="Calibri"/>
              <a:sym typeface="Calibri"/>
            </a:endParaRPr>
          </a:p>
        </p:txBody>
      </p:sp>
      <p:sp>
        <p:nvSpPr>
          <p:cNvPr id="506" name="Google Shape;506;p27"/>
          <p:cNvSpPr/>
          <p:nvPr/>
        </p:nvSpPr>
        <p:spPr>
          <a:xfrm>
            <a:off x="1801343" y="4611620"/>
            <a:ext cx="6858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Inter"/>
              <a:buNone/>
            </a:pPr>
            <a:r>
              <a:rPr b="0" i="0" lang="en" sz="950" u="none" cap="none" strike="noStrike">
                <a:solidFill>
                  <a:srgbClr val="11206D"/>
                </a:solidFill>
                <a:latin typeface="Space Grotesk"/>
                <a:ea typeface="Space Grotesk"/>
                <a:cs typeface="Space Grotesk"/>
                <a:sym typeface="Space Grotesk"/>
              </a:rPr>
              <a:t>Live PII exposure on dbmstore.com, hardcoded OAuth2 tokens in Git, and 823 broken access control findings,  the data breach risk is active, not theoretical.</a:t>
            </a:r>
            <a:endParaRPr b="0" i="0" sz="950" u="none" cap="none" strike="noStrike">
              <a:solidFill>
                <a:srgbClr val="11206D"/>
              </a:solidFill>
              <a:latin typeface="Space Grotesk"/>
              <a:ea typeface="Space Grotesk"/>
              <a:cs typeface="Space Grotesk"/>
              <a:sym typeface="Space Grotesk"/>
            </a:endParaRPr>
          </a:p>
        </p:txBody>
      </p:sp>
      <p:sp>
        <p:nvSpPr>
          <p:cNvPr id="507" name="Google Shape;507;p27"/>
          <p:cNvSpPr/>
          <p:nvPr/>
        </p:nvSpPr>
        <p:spPr>
          <a:xfrm>
            <a:off x="411480" y="1182538"/>
            <a:ext cx="2715900" cy="13260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7"/>
          <p:cNvSpPr/>
          <p:nvPr/>
        </p:nvSpPr>
        <p:spPr>
          <a:xfrm>
            <a:off x="411480" y="1237402"/>
            <a:ext cx="2715900" cy="72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80019"/>
              </a:buClr>
              <a:buSzPts val="3800"/>
              <a:buFont typeface="Space Grotesk"/>
              <a:buNone/>
            </a:pPr>
            <a:r>
              <a:rPr b="1" i="0" lang="en" sz="3800" u="none" cap="none" strike="noStrike">
                <a:solidFill>
                  <a:srgbClr val="11206D"/>
                </a:solidFill>
                <a:latin typeface="Space Grotesk"/>
                <a:ea typeface="Space Grotesk"/>
                <a:cs typeface="Space Grotesk"/>
                <a:sym typeface="Space Grotesk"/>
              </a:rPr>
              <a:t>823</a:t>
            </a:r>
            <a:endParaRPr b="0" i="0" sz="3800" u="none" cap="none" strike="noStrike">
              <a:solidFill>
                <a:srgbClr val="11206D"/>
              </a:solidFill>
              <a:latin typeface="Space Grotesk"/>
              <a:ea typeface="Space Grotesk"/>
              <a:cs typeface="Space Grotesk"/>
              <a:sym typeface="Space Grotesk"/>
            </a:endParaRPr>
          </a:p>
        </p:txBody>
      </p:sp>
      <p:sp>
        <p:nvSpPr>
          <p:cNvPr id="509" name="Google Shape;509;p27"/>
          <p:cNvSpPr/>
          <p:nvPr/>
        </p:nvSpPr>
        <p:spPr>
          <a:xfrm>
            <a:off x="502920" y="1872148"/>
            <a:ext cx="2532900" cy="530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Broken Access Control</a:t>
            </a:r>
            <a:endParaRPr b="0" i="0" sz="95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OWASP A01 — Top-ranked DAST category</a:t>
            </a:r>
            <a:endParaRPr b="0" i="0" sz="950" u="none" cap="none" strike="noStrike">
              <a:solidFill>
                <a:srgbClr val="000000"/>
              </a:solidFill>
              <a:latin typeface="Space Grotesk"/>
              <a:ea typeface="Space Grotesk"/>
              <a:cs typeface="Space Grotesk"/>
              <a:sym typeface="Space Grotesk"/>
            </a:endParaRPr>
          </a:p>
        </p:txBody>
      </p:sp>
      <p:sp>
        <p:nvSpPr>
          <p:cNvPr id="510" name="Google Shape;510;p27"/>
          <p:cNvSpPr/>
          <p:nvPr/>
        </p:nvSpPr>
        <p:spPr>
          <a:xfrm>
            <a:off x="3218688" y="1182538"/>
            <a:ext cx="2715900" cy="13260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7"/>
          <p:cNvSpPr/>
          <p:nvPr/>
        </p:nvSpPr>
        <p:spPr>
          <a:xfrm>
            <a:off x="3218688" y="1237402"/>
            <a:ext cx="2715900" cy="72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80019"/>
              </a:buClr>
              <a:buSzPts val="3800"/>
              <a:buFont typeface="Space Grotesk"/>
              <a:buNone/>
            </a:pPr>
            <a:r>
              <a:rPr b="1" i="0" lang="en" sz="3800" u="none" cap="none" strike="noStrike">
                <a:solidFill>
                  <a:srgbClr val="11206D"/>
                </a:solidFill>
                <a:latin typeface="Space Grotesk"/>
                <a:ea typeface="Space Grotesk"/>
                <a:cs typeface="Space Grotesk"/>
                <a:sym typeface="Space Grotesk"/>
              </a:rPr>
              <a:t>5</a:t>
            </a:r>
            <a:endParaRPr b="0" i="0" sz="3800" u="none" cap="none" strike="noStrike">
              <a:solidFill>
                <a:srgbClr val="11206D"/>
              </a:solidFill>
              <a:latin typeface="Space Grotesk"/>
              <a:ea typeface="Space Grotesk"/>
              <a:cs typeface="Space Grotesk"/>
              <a:sym typeface="Space Grotesk"/>
            </a:endParaRPr>
          </a:p>
        </p:txBody>
      </p:sp>
      <p:sp>
        <p:nvSpPr>
          <p:cNvPr id="512" name="Google Shape;512;p27"/>
          <p:cNvSpPr/>
          <p:nvPr/>
        </p:nvSpPr>
        <p:spPr>
          <a:xfrm>
            <a:off x="3310128" y="1872148"/>
            <a:ext cx="2532900" cy="530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Hardcoded Secrets</a:t>
            </a:r>
            <a:endParaRPr b="0" i="0" sz="95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in Git  OAuth2, PLAIN tokens committed</a:t>
            </a:r>
            <a:endParaRPr b="0" i="0" sz="950" u="none" cap="none" strike="noStrike">
              <a:solidFill>
                <a:srgbClr val="000000"/>
              </a:solidFill>
              <a:latin typeface="Space Grotesk"/>
              <a:ea typeface="Space Grotesk"/>
              <a:cs typeface="Space Grotesk"/>
              <a:sym typeface="Space Grotesk"/>
            </a:endParaRPr>
          </a:p>
        </p:txBody>
      </p:sp>
      <p:sp>
        <p:nvSpPr>
          <p:cNvPr id="513" name="Google Shape;513;p27"/>
          <p:cNvSpPr/>
          <p:nvPr/>
        </p:nvSpPr>
        <p:spPr>
          <a:xfrm>
            <a:off x="6025896" y="1182538"/>
            <a:ext cx="2715900" cy="13260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7"/>
          <p:cNvSpPr/>
          <p:nvPr/>
        </p:nvSpPr>
        <p:spPr>
          <a:xfrm>
            <a:off x="6025896" y="1237402"/>
            <a:ext cx="2715900" cy="72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C8"/>
              </a:buClr>
              <a:buSzPts val="3800"/>
              <a:buFont typeface="Space Grotesk"/>
              <a:buNone/>
            </a:pPr>
            <a:r>
              <a:rPr b="1" i="0" lang="en" sz="3800" u="none" cap="none" strike="noStrike">
                <a:solidFill>
                  <a:srgbClr val="11206D"/>
                </a:solidFill>
                <a:latin typeface="Space Grotesk"/>
                <a:ea typeface="Space Grotesk"/>
                <a:cs typeface="Space Grotesk"/>
                <a:sym typeface="Space Grotesk"/>
              </a:rPr>
              <a:t>1,691</a:t>
            </a:r>
            <a:endParaRPr b="0" i="0" sz="3800" u="none" cap="none" strike="noStrike">
              <a:solidFill>
                <a:srgbClr val="11206D"/>
              </a:solidFill>
              <a:latin typeface="Space Grotesk"/>
              <a:ea typeface="Space Grotesk"/>
              <a:cs typeface="Space Grotesk"/>
              <a:sym typeface="Space Grotesk"/>
            </a:endParaRPr>
          </a:p>
        </p:txBody>
      </p:sp>
      <p:sp>
        <p:nvSpPr>
          <p:cNvPr id="515" name="Google Shape;515;p27"/>
          <p:cNvSpPr/>
          <p:nvPr/>
        </p:nvSpPr>
        <p:spPr>
          <a:xfrm>
            <a:off x="6117336" y="1872148"/>
            <a:ext cx="2532900" cy="530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SAST Issues in</a:t>
            </a:r>
            <a:endParaRPr b="0" i="0" sz="95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Danube Marketplace Magento repo</a:t>
            </a:r>
            <a:endParaRPr b="0" i="0" sz="950" u="none" cap="none" strike="noStrike">
              <a:solidFill>
                <a:srgbClr val="000000"/>
              </a:solidFill>
              <a:latin typeface="Space Grotesk"/>
              <a:ea typeface="Space Grotesk"/>
              <a:cs typeface="Space Grotesk"/>
              <a:sym typeface="Space Grotesk"/>
            </a:endParaRPr>
          </a:p>
        </p:txBody>
      </p:sp>
      <p:sp>
        <p:nvSpPr>
          <p:cNvPr id="516" name="Google Shape;516;p27"/>
          <p:cNvSpPr/>
          <p:nvPr/>
        </p:nvSpPr>
        <p:spPr>
          <a:xfrm>
            <a:off x="411480" y="2609002"/>
            <a:ext cx="4114800" cy="19203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7"/>
          <p:cNvSpPr/>
          <p:nvPr/>
        </p:nvSpPr>
        <p:spPr>
          <a:xfrm>
            <a:off x="411480" y="2609002"/>
            <a:ext cx="63900" cy="19203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7"/>
          <p:cNvSpPr/>
          <p:nvPr/>
        </p:nvSpPr>
        <p:spPr>
          <a:xfrm>
            <a:off x="576072" y="2852842"/>
            <a:ext cx="38862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0019"/>
              </a:buClr>
              <a:buSzPts val="1150"/>
              <a:buFont typeface="Space Grotesk"/>
              <a:buNone/>
            </a:pPr>
            <a:r>
              <a:rPr b="1" i="0" lang="en" sz="1150" u="none" cap="none" strike="noStrike">
                <a:solidFill>
                  <a:srgbClr val="11206D"/>
                </a:solidFill>
                <a:latin typeface="Space Grotesk"/>
                <a:ea typeface="Space Grotesk"/>
                <a:cs typeface="Space Grotesk"/>
                <a:sym typeface="Space Grotesk"/>
              </a:rPr>
              <a:t>Code Repository Scan &amp; Vulnerabilities</a:t>
            </a:r>
            <a:endParaRPr b="0" i="0" sz="1150" u="none" cap="none" strike="noStrike">
              <a:solidFill>
                <a:srgbClr val="11206D"/>
              </a:solidFill>
              <a:latin typeface="Space Grotesk"/>
              <a:ea typeface="Space Grotesk"/>
              <a:cs typeface="Space Grotesk"/>
              <a:sym typeface="Space Grotesk"/>
            </a:endParaRPr>
          </a:p>
        </p:txBody>
      </p:sp>
      <p:sp>
        <p:nvSpPr>
          <p:cNvPr id="519" name="Google Shape;519;p27"/>
          <p:cNvSpPr/>
          <p:nvPr/>
        </p:nvSpPr>
        <p:spPr>
          <a:xfrm>
            <a:off x="576075" y="3108749"/>
            <a:ext cx="3886200" cy="114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Inter"/>
              <a:buNone/>
            </a:pPr>
            <a:r>
              <a:rPr b="0" i="0" lang="en" sz="1000" u="none" cap="none" strike="noStrike">
                <a:solidFill>
                  <a:srgbClr val="000000"/>
                </a:solidFill>
                <a:latin typeface="Space Grotesk"/>
                <a:ea typeface="Space Grotesk"/>
                <a:cs typeface="Space Grotesk"/>
                <a:sym typeface="Space Grotesk"/>
              </a:rPr>
              <a:t>The code repository scan identified multiple security issues, including unsafe dynamic code execution, insecure input handling, potential ReDoS vulnerabilities, exposed API keys, unpinned Docker sources  and frontend security weaknesses such as insecure DOM manipulation and insufficient sanitization, which may lead to XSS and code execution risks. </a:t>
            </a:r>
            <a:endParaRPr b="0" i="0" sz="1000" u="none" cap="none" strike="noStrike">
              <a:solidFill>
                <a:srgbClr val="000000"/>
              </a:solidFill>
              <a:latin typeface="Space Grotesk"/>
              <a:ea typeface="Space Grotesk"/>
              <a:cs typeface="Space Grotesk"/>
              <a:sym typeface="Space Grotesk"/>
            </a:endParaRPr>
          </a:p>
        </p:txBody>
      </p:sp>
      <p:sp>
        <p:nvSpPr>
          <p:cNvPr id="520" name="Google Shape;520;p27"/>
          <p:cNvSpPr/>
          <p:nvPr/>
        </p:nvSpPr>
        <p:spPr>
          <a:xfrm>
            <a:off x="4663440" y="2609002"/>
            <a:ext cx="4114800" cy="19203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27"/>
          <p:cNvSpPr/>
          <p:nvPr/>
        </p:nvSpPr>
        <p:spPr>
          <a:xfrm>
            <a:off x="4663440" y="2609002"/>
            <a:ext cx="63900" cy="19203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7"/>
          <p:cNvSpPr/>
          <p:nvPr/>
        </p:nvSpPr>
        <p:spPr>
          <a:xfrm>
            <a:off x="4828032" y="2852842"/>
            <a:ext cx="38862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150"/>
              <a:buFont typeface="Space Grotesk"/>
              <a:buNone/>
            </a:pPr>
            <a:r>
              <a:rPr b="1" i="0" lang="en" sz="1150" u="none" cap="none" strike="noStrike">
                <a:solidFill>
                  <a:srgbClr val="11206D"/>
                </a:solidFill>
                <a:latin typeface="Space Grotesk"/>
                <a:ea typeface="Space Grotesk"/>
                <a:cs typeface="Space Grotesk"/>
                <a:sym typeface="Space Grotesk"/>
              </a:rPr>
              <a:t>Missing CSP Headers + No CSRF Tokens on All Endpoints</a:t>
            </a:r>
            <a:endParaRPr b="0" i="0" sz="1150" u="none" cap="none" strike="noStrike">
              <a:solidFill>
                <a:srgbClr val="11206D"/>
              </a:solidFill>
              <a:latin typeface="Space Grotesk"/>
              <a:ea typeface="Space Grotesk"/>
              <a:cs typeface="Space Grotesk"/>
              <a:sym typeface="Space Grotesk"/>
            </a:endParaRPr>
          </a:p>
        </p:txBody>
      </p:sp>
      <p:sp>
        <p:nvSpPr>
          <p:cNvPr id="523" name="Google Shape;523;p27"/>
          <p:cNvSpPr/>
          <p:nvPr/>
        </p:nvSpPr>
        <p:spPr>
          <a:xfrm>
            <a:off x="4828032" y="2947330"/>
            <a:ext cx="3886200" cy="149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Inter"/>
              <a:buNone/>
            </a:pPr>
            <a:r>
              <a:rPr b="0" i="0" lang="en" sz="1000" u="none" cap="none" strike="noStrike">
                <a:solidFill>
                  <a:srgbClr val="000000"/>
                </a:solidFill>
                <a:latin typeface="Space Grotesk"/>
                <a:ea typeface="Space Grotesk"/>
                <a:cs typeface="Space Grotesk"/>
                <a:sym typeface="Space Grotesk"/>
              </a:rPr>
              <a:t>Content Security Policy headers are absent across all 5 top-traffic endpoints — enabling XSS and script injection. Anti-CSRF tokens are missing on all state-changing forms, allowing attackers to trick authenticated users into executing unintended actions (password changes, order manipulation).</a:t>
            </a:r>
            <a:endParaRPr b="0" i="0" sz="1000" u="none" cap="none" strike="noStrike">
              <a:solidFill>
                <a:srgbClr val="000000"/>
              </a:solidFill>
              <a:latin typeface="Space Grotesk"/>
              <a:ea typeface="Space Grotesk"/>
              <a:cs typeface="Space Grotesk"/>
              <a:sym typeface="Space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8"/>
          <p:cNvSpPr txBox="1"/>
          <p:nvPr>
            <p:ph type="title"/>
          </p:nvPr>
        </p:nvSpPr>
        <p:spPr>
          <a:xfrm>
            <a:off x="-24300" y="-9750"/>
            <a:ext cx="7776900" cy="708000"/>
          </a:xfrm>
          <a:prstGeom prst="rect">
            <a:avLst/>
          </a:prstGeom>
        </p:spPr>
        <p:txBody>
          <a:bodyPr anchorCtr="0" anchor="ctr" bIns="91425" lIns="365750" spcFirstLastPara="1" rIns="91425" wrap="square" tIns="91425">
            <a:normAutofit fontScale="90000"/>
          </a:bodyPr>
          <a:lstStyle/>
          <a:p>
            <a:pPr indent="0" lvl="0" marL="0" rtl="0" algn="l">
              <a:spcBef>
                <a:spcPts val="0"/>
              </a:spcBef>
              <a:spcAft>
                <a:spcPts val="0"/>
              </a:spcAft>
              <a:buNone/>
            </a:pPr>
            <a:r>
              <a:rPr lang="en"/>
              <a:t>Business Case 03  ·  [ Title ]</a:t>
            </a:r>
            <a:endParaRPr/>
          </a:p>
        </p:txBody>
      </p:sp>
      <p:sp>
        <p:nvSpPr>
          <p:cNvPr id="529" name="Google Shape;529;p28"/>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28"/>
          <p:cNvSpPr/>
          <p:nvPr/>
        </p:nvSpPr>
        <p:spPr>
          <a:xfrm>
            <a:off x="411455" y="789428"/>
            <a:ext cx="8321100" cy="31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28"/>
          <p:cNvSpPr/>
          <p:nvPr/>
        </p:nvSpPr>
        <p:spPr>
          <a:xfrm>
            <a:off x="475463" y="789428"/>
            <a:ext cx="8229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950"/>
              <a:buFont typeface="Inter"/>
              <a:buNone/>
            </a:pPr>
            <a:r>
              <a:rPr b="0" i="1" lang="en" sz="950" u="none" cap="none" strike="noStrike">
                <a:solidFill>
                  <a:srgbClr val="11206D"/>
                </a:solidFill>
                <a:latin typeface="Space Grotesk"/>
                <a:ea typeface="Space Grotesk"/>
                <a:cs typeface="Space Grotesk"/>
                <a:sym typeface="Space Grotesk"/>
              </a:rPr>
              <a:t>AccuKnox found 915 vulnerabilities across 9 GCP container images and critical CVEs in open-source packages powering the Danube Marketplace — including active code injection risks.</a:t>
            </a:r>
            <a:endParaRPr b="0" i="0" sz="950" u="none" cap="none" strike="noStrike">
              <a:solidFill>
                <a:srgbClr val="11206D"/>
              </a:solidFill>
              <a:latin typeface="Space Grotesk"/>
              <a:ea typeface="Space Grotesk"/>
              <a:cs typeface="Space Grotesk"/>
              <a:sym typeface="Space Grotesk"/>
            </a:endParaRPr>
          </a:p>
        </p:txBody>
      </p:sp>
      <p:sp>
        <p:nvSpPr>
          <p:cNvPr id="532" name="Google Shape;532;p28"/>
          <p:cNvSpPr/>
          <p:nvPr/>
        </p:nvSpPr>
        <p:spPr>
          <a:xfrm>
            <a:off x="411450" y="4611625"/>
            <a:ext cx="8412600" cy="384000"/>
          </a:xfrm>
          <a:prstGeom prst="rect">
            <a:avLst/>
          </a:prstGeom>
          <a:solidFill>
            <a:srgbClr val="F5F6FF"/>
          </a:solidFill>
          <a:ln cap="flat" cmpd="sng" w="12700">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8"/>
          <p:cNvSpPr/>
          <p:nvPr/>
        </p:nvSpPr>
        <p:spPr>
          <a:xfrm>
            <a:off x="411455" y="4611620"/>
            <a:ext cx="1326000" cy="3840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28"/>
          <p:cNvSpPr/>
          <p:nvPr/>
        </p:nvSpPr>
        <p:spPr>
          <a:xfrm>
            <a:off x="475463" y="4611620"/>
            <a:ext cx="12345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Space Grotesk"/>
              <a:buNone/>
            </a:pPr>
            <a:r>
              <a:rPr b="1" i="0" lang="en" sz="1000" u="none" cap="none" strike="noStrike">
                <a:solidFill>
                  <a:srgbClr val="FFFFFF"/>
                </a:solidFill>
                <a:latin typeface="Space Grotesk"/>
                <a:ea typeface="Space Grotesk"/>
                <a:cs typeface="Space Grotesk"/>
                <a:sym typeface="Space Grotesk"/>
              </a:rPr>
              <a:t>Business Impact</a:t>
            </a:r>
            <a:endParaRPr b="0" i="0" sz="1000" u="none" cap="none" strike="noStrike">
              <a:solidFill>
                <a:srgbClr val="000000"/>
              </a:solidFill>
              <a:latin typeface="Calibri"/>
              <a:ea typeface="Calibri"/>
              <a:cs typeface="Calibri"/>
              <a:sym typeface="Calibri"/>
            </a:endParaRPr>
          </a:p>
        </p:txBody>
      </p:sp>
      <p:sp>
        <p:nvSpPr>
          <p:cNvPr id="535" name="Google Shape;535;p28"/>
          <p:cNvSpPr/>
          <p:nvPr/>
        </p:nvSpPr>
        <p:spPr>
          <a:xfrm>
            <a:off x="1801343" y="4611620"/>
            <a:ext cx="6858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Inter"/>
              <a:buNone/>
            </a:pPr>
            <a:r>
              <a:rPr b="0" i="0" lang="en" sz="950" u="none" cap="none" strike="noStrike">
                <a:solidFill>
                  <a:srgbClr val="11206D"/>
                </a:solidFill>
                <a:latin typeface="Space Grotesk"/>
                <a:ea typeface="Space Grotesk"/>
                <a:cs typeface="Space Grotesk"/>
                <a:sym typeface="Space Grotesk"/>
              </a:rPr>
              <a:t>Unpatched critical CVEs in production containers + command injection in Composer = supply chain compromise and arbitrary code execution in the Danube Marketplace build pipeline.</a:t>
            </a:r>
            <a:endParaRPr b="0" i="0" sz="950" u="none" cap="none" strike="noStrike">
              <a:solidFill>
                <a:srgbClr val="11206D"/>
              </a:solidFill>
              <a:latin typeface="Space Grotesk"/>
              <a:ea typeface="Space Grotesk"/>
              <a:cs typeface="Space Grotesk"/>
              <a:sym typeface="Space Grotesk"/>
            </a:endParaRPr>
          </a:p>
        </p:txBody>
      </p:sp>
      <p:sp>
        <p:nvSpPr>
          <p:cNvPr id="536" name="Google Shape;536;p28"/>
          <p:cNvSpPr/>
          <p:nvPr/>
        </p:nvSpPr>
        <p:spPr>
          <a:xfrm>
            <a:off x="411480" y="1200713"/>
            <a:ext cx="41604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8"/>
          <p:cNvSpPr/>
          <p:nvPr/>
        </p:nvSpPr>
        <p:spPr>
          <a:xfrm>
            <a:off x="411480" y="1200713"/>
            <a:ext cx="63900" cy="10698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8"/>
          <p:cNvSpPr/>
          <p:nvPr/>
        </p:nvSpPr>
        <p:spPr>
          <a:xfrm>
            <a:off x="530352" y="1292153"/>
            <a:ext cx="1234500" cy="804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80019"/>
              </a:buClr>
              <a:buSzPts val="3600"/>
              <a:buFont typeface="Space Grotesk"/>
              <a:buNone/>
            </a:pPr>
            <a:r>
              <a:rPr b="1" i="0" lang="en" sz="3600" u="none" cap="none" strike="noStrike">
                <a:solidFill>
                  <a:srgbClr val="11206D"/>
                </a:solidFill>
                <a:latin typeface="Space Grotesk"/>
                <a:ea typeface="Space Grotesk"/>
                <a:cs typeface="Space Grotesk"/>
                <a:sym typeface="Space Grotesk"/>
              </a:rPr>
              <a:t>37</a:t>
            </a:r>
            <a:endParaRPr b="0" i="0" sz="3600" u="none" cap="none" strike="noStrike">
              <a:solidFill>
                <a:srgbClr val="11206D"/>
              </a:solidFill>
              <a:latin typeface="Calibri"/>
              <a:ea typeface="Calibri"/>
              <a:cs typeface="Calibri"/>
              <a:sym typeface="Calibri"/>
            </a:endParaRPr>
          </a:p>
        </p:txBody>
      </p:sp>
      <p:sp>
        <p:nvSpPr>
          <p:cNvPr id="539" name="Google Shape;539;p28"/>
          <p:cNvSpPr/>
          <p:nvPr/>
        </p:nvSpPr>
        <p:spPr>
          <a:xfrm>
            <a:off x="1828800" y="1273865"/>
            <a:ext cx="2651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0019"/>
              </a:buClr>
              <a:buSzPts val="1100"/>
              <a:buFont typeface="Space Grotesk"/>
              <a:buNone/>
            </a:pPr>
            <a:r>
              <a:rPr b="1" i="0" lang="en" sz="1100" u="none" cap="none" strike="noStrike">
                <a:solidFill>
                  <a:srgbClr val="11206D"/>
                </a:solidFill>
                <a:latin typeface="Space Grotesk"/>
                <a:ea typeface="Space Grotesk"/>
                <a:cs typeface="Space Grotesk"/>
                <a:sym typeface="Space Grotesk"/>
              </a:rPr>
              <a:t>Critical CVEs in</a:t>
            </a:r>
            <a:endParaRPr b="0" i="0" sz="1100" u="none" cap="none" strike="noStrike">
              <a:solidFill>
                <a:srgbClr val="11206D"/>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C80019"/>
              </a:buClr>
              <a:buSzPts val="1100"/>
              <a:buFont typeface="Space Grotesk"/>
              <a:buNone/>
            </a:pPr>
            <a:r>
              <a:rPr b="1" i="0" lang="en" sz="1100" u="none" cap="none" strike="noStrike">
                <a:solidFill>
                  <a:srgbClr val="11206D"/>
                </a:solidFill>
                <a:latin typeface="Space Grotesk"/>
                <a:ea typeface="Space Grotesk"/>
                <a:cs typeface="Space Grotesk"/>
                <a:sym typeface="Space Grotesk"/>
              </a:rPr>
              <a:t>Container Images</a:t>
            </a:r>
            <a:endParaRPr b="0" i="0" sz="1100" u="none" cap="none" strike="noStrike">
              <a:solidFill>
                <a:srgbClr val="11206D"/>
              </a:solidFill>
              <a:latin typeface="Space Grotesk"/>
              <a:ea typeface="Space Grotesk"/>
              <a:cs typeface="Space Grotesk"/>
              <a:sym typeface="Space Grotesk"/>
            </a:endParaRPr>
          </a:p>
        </p:txBody>
      </p:sp>
      <p:sp>
        <p:nvSpPr>
          <p:cNvPr id="540" name="Google Shape;540;p28"/>
          <p:cNvSpPr/>
          <p:nvPr/>
        </p:nvSpPr>
        <p:spPr>
          <a:xfrm>
            <a:off x="1828800" y="1548185"/>
            <a:ext cx="26700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CVE-2025-68121 (crypto/tls), CVE-2026-25896 (fast-xml-parser), prototype pollution — all active in GCP Artifact Registry</a:t>
            </a:r>
            <a:endParaRPr b="0" i="0" sz="950" u="none" cap="none" strike="noStrike">
              <a:solidFill>
                <a:srgbClr val="000000"/>
              </a:solidFill>
              <a:latin typeface="Space Grotesk"/>
              <a:ea typeface="Space Grotesk"/>
              <a:cs typeface="Space Grotesk"/>
              <a:sym typeface="Space Grotesk"/>
            </a:endParaRPr>
          </a:p>
        </p:txBody>
      </p:sp>
      <p:sp>
        <p:nvSpPr>
          <p:cNvPr id="541" name="Google Shape;541;p28"/>
          <p:cNvSpPr/>
          <p:nvPr/>
        </p:nvSpPr>
        <p:spPr>
          <a:xfrm>
            <a:off x="411480" y="2334569"/>
            <a:ext cx="41604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8"/>
          <p:cNvSpPr/>
          <p:nvPr/>
        </p:nvSpPr>
        <p:spPr>
          <a:xfrm>
            <a:off x="411480" y="2334569"/>
            <a:ext cx="63900" cy="10698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8"/>
          <p:cNvSpPr/>
          <p:nvPr/>
        </p:nvSpPr>
        <p:spPr>
          <a:xfrm>
            <a:off x="530352" y="2426009"/>
            <a:ext cx="1234500" cy="804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C8"/>
              </a:buClr>
              <a:buSzPts val="2800"/>
              <a:buFont typeface="Space Grotesk"/>
              <a:buNone/>
            </a:pPr>
            <a:r>
              <a:rPr b="1" i="0" lang="en" sz="2800" u="none" cap="none" strike="noStrike">
                <a:solidFill>
                  <a:srgbClr val="11206D"/>
                </a:solidFill>
                <a:latin typeface="Space Grotesk"/>
                <a:ea typeface="Space Grotesk"/>
                <a:cs typeface="Space Grotesk"/>
                <a:sym typeface="Space Grotesk"/>
              </a:rPr>
              <a:t>262</a:t>
            </a:r>
            <a:endParaRPr b="0" i="0" sz="2800" u="none" cap="none" strike="noStrike">
              <a:solidFill>
                <a:srgbClr val="11206D"/>
              </a:solidFill>
              <a:latin typeface="Calibri"/>
              <a:ea typeface="Calibri"/>
              <a:cs typeface="Calibri"/>
              <a:sym typeface="Calibri"/>
            </a:endParaRPr>
          </a:p>
        </p:txBody>
      </p:sp>
      <p:sp>
        <p:nvSpPr>
          <p:cNvPr id="544" name="Google Shape;544;p28"/>
          <p:cNvSpPr/>
          <p:nvPr/>
        </p:nvSpPr>
        <p:spPr>
          <a:xfrm>
            <a:off x="1828800" y="2407721"/>
            <a:ext cx="2651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100"/>
              <a:buFont typeface="Space Grotesk"/>
              <a:buNone/>
            </a:pPr>
            <a:r>
              <a:rPr b="1" i="0" lang="en" sz="1100" u="none" cap="none" strike="noStrike">
                <a:solidFill>
                  <a:srgbClr val="11206D"/>
                </a:solidFill>
                <a:latin typeface="Space Grotesk"/>
                <a:ea typeface="Space Grotesk"/>
                <a:cs typeface="Space Grotesk"/>
                <a:sym typeface="Space Grotesk"/>
              </a:rPr>
              <a:t>High-Severity CVEs</a:t>
            </a:r>
            <a:endParaRPr b="0" i="0" sz="1100" u="none" cap="none" strike="noStrike">
              <a:solidFill>
                <a:srgbClr val="11206D"/>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C8"/>
              </a:buClr>
              <a:buSzPts val="1100"/>
              <a:buFont typeface="Space Grotesk"/>
              <a:buNone/>
            </a:pPr>
            <a:r>
              <a:rPr b="1" i="0" lang="en" sz="1100" u="none" cap="none" strike="noStrike">
                <a:solidFill>
                  <a:srgbClr val="11206D"/>
                </a:solidFill>
                <a:latin typeface="Space Grotesk"/>
                <a:ea typeface="Space Grotesk"/>
                <a:cs typeface="Space Grotesk"/>
                <a:sym typeface="Space Grotesk"/>
              </a:rPr>
              <a:t>Across 9 Running Images</a:t>
            </a:r>
            <a:endParaRPr b="0" i="0" sz="1100" u="none" cap="none" strike="noStrike">
              <a:solidFill>
                <a:srgbClr val="11206D"/>
              </a:solidFill>
              <a:latin typeface="Space Grotesk"/>
              <a:ea typeface="Space Grotesk"/>
              <a:cs typeface="Space Grotesk"/>
              <a:sym typeface="Space Grotesk"/>
            </a:endParaRPr>
          </a:p>
        </p:txBody>
      </p:sp>
      <p:sp>
        <p:nvSpPr>
          <p:cNvPr id="545" name="Google Shape;545;p28"/>
          <p:cNvSpPr/>
          <p:nvPr/>
        </p:nvSpPr>
        <p:spPr>
          <a:xfrm>
            <a:off x="1828800" y="2682041"/>
            <a:ext cx="26700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Incorrect cert validation (CVE-2026-27137), axios SSRF via NO_PROXY bypass — all scanned in prod GCP registry</a:t>
            </a:r>
            <a:endParaRPr b="0" i="0" sz="950" u="none" cap="none" strike="noStrike">
              <a:solidFill>
                <a:srgbClr val="000000"/>
              </a:solidFill>
              <a:latin typeface="Space Grotesk"/>
              <a:ea typeface="Space Grotesk"/>
              <a:cs typeface="Space Grotesk"/>
              <a:sym typeface="Space Grotesk"/>
            </a:endParaRPr>
          </a:p>
        </p:txBody>
      </p:sp>
      <p:sp>
        <p:nvSpPr>
          <p:cNvPr id="546" name="Google Shape;546;p28"/>
          <p:cNvSpPr/>
          <p:nvPr/>
        </p:nvSpPr>
        <p:spPr>
          <a:xfrm>
            <a:off x="411480" y="3468425"/>
            <a:ext cx="4160400" cy="10698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8"/>
          <p:cNvSpPr/>
          <p:nvPr/>
        </p:nvSpPr>
        <p:spPr>
          <a:xfrm>
            <a:off x="411480" y="3468425"/>
            <a:ext cx="63900" cy="10698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8"/>
          <p:cNvSpPr/>
          <p:nvPr/>
        </p:nvSpPr>
        <p:spPr>
          <a:xfrm>
            <a:off x="530352" y="3559865"/>
            <a:ext cx="1234500" cy="804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C8"/>
              </a:buClr>
              <a:buSzPts val="2800"/>
              <a:buFont typeface="Space Grotesk"/>
              <a:buNone/>
            </a:pPr>
            <a:r>
              <a:rPr b="1" i="0" lang="en" sz="2800" u="none" cap="none" strike="noStrike">
                <a:solidFill>
                  <a:srgbClr val="11206D"/>
                </a:solidFill>
                <a:latin typeface="Space Grotesk"/>
                <a:ea typeface="Space Grotesk"/>
                <a:cs typeface="Space Grotesk"/>
                <a:sym typeface="Space Grotesk"/>
              </a:rPr>
              <a:t>915</a:t>
            </a:r>
            <a:endParaRPr b="0" i="0" sz="2800" u="none" cap="none" strike="noStrike">
              <a:solidFill>
                <a:srgbClr val="11206D"/>
              </a:solidFill>
              <a:latin typeface="Calibri"/>
              <a:ea typeface="Calibri"/>
              <a:cs typeface="Calibri"/>
              <a:sym typeface="Calibri"/>
            </a:endParaRPr>
          </a:p>
        </p:txBody>
      </p:sp>
      <p:sp>
        <p:nvSpPr>
          <p:cNvPr id="549" name="Google Shape;549;p28"/>
          <p:cNvSpPr/>
          <p:nvPr/>
        </p:nvSpPr>
        <p:spPr>
          <a:xfrm>
            <a:off x="1828800" y="3541577"/>
            <a:ext cx="2651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100"/>
              <a:buFont typeface="Space Grotesk"/>
              <a:buNone/>
            </a:pPr>
            <a:r>
              <a:rPr b="1" i="0" lang="en" sz="1100" u="none" cap="none" strike="noStrike">
                <a:solidFill>
                  <a:srgbClr val="11206D"/>
                </a:solidFill>
                <a:latin typeface="Space Grotesk"/>
                <a:ea typeface="Space Grotesk"/>
                <a:cs typeface="Space Grotesk"/>
                <a:sym typeface="Space Grotesk"/>
              </a:rPr>
              <a:t>Total Container</a:t>
            </a:r>
            <a:endParaRPr b="0" i="0" sz="1100" u="none" cap="none" strike="noStrike">
              <a:solidFill>
                <a:srgbClr val="11206D"/>
              </a:solidFill>
              <a:latin typeface="Space Grotesk"/>
              <a:ea typeface="Space Grotesk"/>
              <a:cs typeface="Space Grotesk"/>
              <a:sym typeface="Space Grotesk"/>
            </a:endParaRPr>
          </a:p>
          <a:p>
            <a:pPr indent="0" lvl="0" marL="0" marR="0" rtl="0" algn="l">
              <a:lnSpc>
                <a:spcPct val="100000"/>
              </a:lnSpc>
              <a:spcBef>
                <a:spcPts val="0"/>
              </a:spcBef>
              <a:spcAft>
                <a:spcPts val="0"/>
              </a:spcAft>
              <a:buClr>
                <a:srgbClr val="0000C8"/>
              </a:buClr>
              <a:buSzPts val="1100"/>
              <a:buFont typeface="Space Grotesk"/>
              <a:buNone/>
            </a:pPr>
            <a:r>
              <a:rPr b="1" i="0" lang="en" sz="1100" u="none" cap="none" strike="noStrike">
                <a:solidFill>
                  <a:srgbClr val="11206D"/>
                </a:solidFill>
                <a:latin typeface="Space Grotesk"/>
                <a:ea typeface="Space Grotesk"/>
                <a:cs typeface="Space Grotesk"/>
                <a:sym typeface="Space Grotesk"/>
              </a:rPr>
              <a:t>Vulnerabilities Found</a:t>
            </a:r>
            <a:endParaRPr b="0" i="0" sz="1100" u="none" cap="none" strike="noStrike">
              <a:solidFill>
                <a:srgbClr val="11206D"/>
              </a:solidFill>
              <a:latin typeface="Space Grotesk"/>
              <a:ea typeface="Space Grotesk"/>
              <a:cs typeface="Space Grotesk"/>
              <a:sym typeface="Space Grotesk"/>
            </a:endParaRPr>
          </a:p>
        </p:txBody>
      </p:sp>
      <p:sp>
        <p:nvSpPr>
          <p:cNvPr id="550" name="Google Shape;550;p28"/>
          <p:cNvSpPr/>
          <p:nvPr/>
        </p:nvSpPr>
        <p:spPr>
          <a:xfrm>
            <a:off x="1828800" y="3815897"/>
            <a:ext cx="26700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Critical: 37  ·  High: 262  ·  Medium: 470  ·  Low: 86  |  0 images failed to scan — 100% coverage achieved</a:t>
            </a:r>
            <a:endParaRPr b="0" i="0" sz="950" u="none" cap="none" strike="noStrike">
              <a:solidFill>
                <a:srgbClr val="000000"/>
              </a:solidFill>
              <a:latin typeface="Space Grotesk"/>
              <a:ea typeface="Space Grotesk"/>
              <a:cs typeface="Space Grotesk"/>
              <a:sym typeface="Space Grotesk"/>
            </a:endParaRPr>
          </a:p>
        </p:txBody>
      </p:sp>
      <p:sp>
        <p:nvSpPr>
          <p:cNvPr id="551" name="Google Shape;551;p28"/>
          <p:cNvSpPr/>
          <p:nvPr/>
        </p:nvSpPr>
        <p:spPr>
          <a:xfrm>
            <a:off x="4754880" y="1100213"/>
            <a:ext cx="41148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250"/>
              <a:buFont typeface="Space Grotesk"/>
              <a:buNone/>
            </a:pPr>
            <a:r>
              <a:rPr b="1" i="0" lang="en" sz="1250" u="none" cap="none" strike="noStrike">
                <a:solidFill>
                  <a:srgbClr val="11206D"/>
                </a:solidFill>
                <a:latin typeface="Space Grotesk"/>
                <a:ea typeface="Space Grotesk"/>
                <a:cs typeface="Space Grotesk"/>
                <a:sym typeface="Space Grotesk"/>
              </a:rPr>
              <a:t>SCA — Critical Open-Source Package CVEs</a:t>
            </a:r>
            <a:endParaRPr b="0" i="0" sz="1250" u="none" cap="none" strike="noStrike">
              <a:solidFill>
                <a:srgbClr val="11206D"/>
              </a:solidFill>
              <a:latin typeface="Space Grotesk"/>
              <a:ea typeface="Space Grotesk"/>
              <a:cs typeface="Space Grotesk"/>
              <a:sym typeface="Space Grotesk"/>
            </a:endParaRPr>
          </a:p>
        </p:txBody>
      </p:sp>
      <p:sp>
        <p:nvSpPr>
          <p:cNvPr id="552" name="Google Shape;552;p28"/>
          <p:cNvSpPr/>
          <p:nvPr/>
        </p:nvSpPr>
        <p:spPr>
          <a:xfrm>
            <a:off x="4754880" y="1493405"/>
            <a:ext cx="4069200" cy="9600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8"/>
          <p:cNvSpPr/>
          <p:nvPr/>
        </p:nvSpPr>
        <p:spPr>
          <a:xfrm>
            <a:off x="4754880" y="1493405"/>
            <a:ext cx="63900" cy="9600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8"/>
          <p:cNvSpPr/>
          <p:nvPr/>
        </p:nvSpPr>
        <p:spPr>
          <a:xfrm>
            <a:off x="4864608" y="1557413"/>
            <a:ext cx="38862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0019"/>
              </a:buClr>
              <a:buSzPts val="1050"/>
              <a:buFont typeface="Inter"/>
              <a:buNone/>
            </a:pPr>
            <a:r>
              <a:rPr b="1" i="0" lang="en" sz="1050" u="none" cap="none" strike="noStrike">
                <a:solidFill>
                  <a:srgbClr val="11206D"/>
                </a:solidFill>
                <a:latin typeface="Space Grotesk"/>
                <a:ea typeface="Space Grotesk"/>
                <a:cs typeface="Space Grotesk"/>
                <a:sym typeface="Space Grotesk"/>
              </a:rPr>
              <a:t>CVE-2026-40176 </a:t>
            </a:r>
            <a:r>
              <a:rPr b="1" i="0" lang="en" sz="1050" u="none" cap="none" strike="noStrike">
                <a:solidFill>
                  <a:srgbClr val="C4161C"/>
                </a:solidFill>
                <a:latin typeface="Space Grotesk"/>
                <a:ea typeface="Space Grotesk"/>
                <a:cs typeface="Space Grotesk"/>
                <a:sym typeface="Space Grotesk"/>
              </a:rPr>
              <a:t> </a:t>
            </a:r>
            <a:r>
              <a:rPr b="0" i="0" lang="en" sz="900" u="none" cap="none" strike="noStrike">
                <a:solidFill>
                  <a:srgbClr val="000000"/>
                </a:solidFill>
                <a:latin typeface="Space Grotesk"/>
                <a:ea typeface="Space Grotesk"/>
                <a:cs typeface="Space Grotesk"/>
                <a:sym typeface="Space Grotesk"/>
              </a:rPr>
              <a:t>composer/composer@2.8.9</a:t>
            </a:r>
            <a:endParaRPr b="0" i="0" sz="1050" u="none" cap="none" strike="noStrike">
              <a:solidFill>
                <a:srgbClr val="000000"/>
              </a:solidFill>
              <a:latin typeface="Space Grotesk"/>
              <a:ea typeface="Space Grotesk"/>
              <a:cs typeface="Space Grotesk"/>
              <a:sym typeface="Space Grotesk"/>
            </a:endParaRPr>
          </a:p>
        </p:txBody>
      </p:sp>
      <p:sp>
        <p:nvSpPr>
          <p:cNvPr id="555" name="Google Shape;555;p28"/>
          <p:cNvSpPr/>
          <p:nvPr/>
        </p:nvSpPr>
        <p:spPr>
          <a:xfrm>
            <a:off x="4864608" y="1795157"/>
            <a:ext cx="38862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Command Injection via Perforce Repo — arbitrary shell commands execute during dependency installation. Full system takeover risk during CI/CD.</a:t>
            </a:r>
            <a:endParaRPr b="0" i="0" sz="950" u="none" cap="none" strike="noStrike">
              <a:solidFill>
                <a:srgbClr val="000000"/>
              </a:solidFill>
              <a:latin typeface="Space Grotesk"/>
              <a:ea typeface="Space Grotesk"/>
              <a:cs typeface="Space Grotesk"/>
              <a:sym typeface="Space Grotesk"/>
            </a:endParaRPr>
          </a:p>
        </p:txBody>
      </p:sp>
      <p:sp>
        <p:nvSpPr>
          <p:cNvPr id="556" name="Google Shape;556;p28"/>
          <p:cNvSpPr/>
          <p:nvPr/>
        </p:nvSpPr>
        <p:spPr>
          <a:xfrm>
            <a:off x="4754880" y="2535821"/>
            <a:ext cx="4069200" cy="9600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8"/>
          <p:cNvSpPr/>
          <p:nvPr/>
        </p:nvSpPr>
        <p:spPr>
          <a:xfrm>
            <a:off x="4754880" y="2535821"/>
            <a:ext cx="63900" cy="9600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8"/>
          <p:cNvSpPr/>
          <p:nvPr/>
        </p:nvSpPr>
        <p:spPr>
          <a:xfrm>
            <a:off x="4864608" y="2599829"/>
            <a:ext cx="38862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050"/>
              <a:buFont typeface="Inter"/>
              <a:buNone/>
            </a:pPr>
            <a:r>
              <a:rPr b="1" i="0" lang="en" sz="1050" u="none" cap="none" strike="noStrike">
                <a:solidFill>
                  <a:srgbClr val="11206D"/>
                </a:solidFill>
                <a:latin typeface="Space Grotesk"/>
                <a:ea typeface="Space Grotesk"/>
                <a:cs typeface="Space Grotesk"/>
                <a:sym typeface="Space Grotesk"/>
              </a:rPr>
              <a:t>GHSA-27qh-8cxx-2cr5</a:t>
            </a:r>
            <a:r>
              <a:rPr b="1" i="0" lang="en" sz="1050" u="none" cap="none" strike="noStrike">
                <a:solidFill>
                  <a:srgbClr val="C4161C"/>
                </a:solidFill>
                <a:latin typeface="Space Grotesk"/>
                <a:ea typeface="Space Grotesk"/>
                <a:cs typeface="Space Grotesk"/>
                <a:sym typeface="Space Grotesk"/>
              </a:rPr>
              <a:t>  </a:t>
            </a:r>
            <a:r>
              <a:rPr b="0" i="0" lang="en" sz="900" u="none" cap="none" strike="noStrike">
                <a:solidFill>
                  <a:srgbClr val="000000"/>
                </a:solidFill>
                <a:latin typeface="Space Grotesk"/>
                <a:ea typeface="Space Grotesk"/>
                <a:cs typeface="Space Grotesk"/>
                <a:sym typeface="Space Grotesk"/>
              </a:rPr>
              <a:t>aws-sdk-php@3.344.5</a:t>
            </a:r>
            <a:endParaRPr b="0" i="0" sz="1050" u="none" cap="none" strike="noStrike">
              <a:solidFill>
                <a:srgbClr val="000000"/>
              </a:solidFill>
              <a:latin typeface="Space Grotesk"/>
              <a:ea typeface="Space Grotesk"/>
              <a:cs typeface="Space Grotesk"/>
              <a:sym typeface="Space Grotesk"/>
            </a:endParaRPr>
          </a:p>
        </p:txBody>
      </p:sp>
      <p:sp>
        <p:nvSpPr>
          <p:cNvPr id="559" name="Google Shape;559;p28"/>
          <p:cNvSpPr/>
          <p:nvPr/>
        </p:nvSpPr>
        <p:spPr>
          <a:xfrm>
            <a:off x="4864608" y="2837573"/>
            <a:ext cx="38862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CloudFront Policy Injection via special characters — attackers bypass signed URL access controls and gain unauthorized CDN content access.</a:t>
            </a:r>
            <a:endParaRPr b="0" i="0" sz="950" u="none" cap="none" strike="noStrike">
              <a:solidFill>
                <a:srgbClr val="000000"/>
              </a:solidFill>
              <a:latin typeface="Space Grotesk"/>
              <a:ea typeface="Space Grotesk"/>
              <a:cs typeface="Space Grotesk"/>
              <a:sym typeface="Space Grotesk"/>
            </a:endParaRPr>
          </a:p>
        </p:txBody>
      </p:sp>
      <p:sp>
        <p:nvSpPr>
          <p:cNvPr id="560" name="Google Shape;560;p28"/>
          <p:cNvSpPr/>
          <p:nvPr/>
        </p:nvSpPr>
        <p:spPr>
          <a:xfrm>
            <a:off x="4754880" y="3578237"/>
            <a:ext cx="4069200" cy="9600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8"/>
          <p:cNvSpPr/>
          <p:nvPr/>
        </p:nvSpPr>
        <p:spPr>
          <a:xfrm>
            <a:off x="4754880" y="3578237"/>
            <a:ext cx="63900" cy="960000"/>
          </a:xfrm>
          <a:prstGeom prst="rect">
            <a:avLst/>
          </a:prstGeom>
          <a:solidFill>
            <a:srgbClr val="4D4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8"/>
          <p:cNvSpPr/>
          <p:nvPr/>
        </p:nvSpPr>
        <p:spPr>
          <a:xfrm>
            <a:off x="4864608" y="3642245"/>
            <a:ext cx="3886200" cy="2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050"/>
              <a:buFont typeface="Inter"/>
              <a:buNone/>
            </a:pPr>
            <a:r>
              <a:rPr b="1" i="0" lang="en" sz="1050" u="none" cap="none" strike="noStrike">
                <a:solidFill>
                  <a:srgbClr val="11206D"/>
                </a:solidFill>
                <a:latin typeface="Space Grotesk"/>
                <a:ea typeface="Space Grotesk"/>
                <a:cs typeface="Space Grotesk"/>
                <a:sym typeface="Space Grotesk"/>
              </a:rPr>
              <a:t>CVE-2025-64500</a:t>
            </a:r>
            <a:r>
              <a:rPr b="1" i="0" lang="en" sz="1050" u="none" cap="none" strike="noStrike">
                <a:solidFill>
                  <a:srgbClr val="C4161C"/>
                </a:solidFill>
                <a:latin typeface="Space Grotesk"/>
                <a:ea typeface="Space Grotesk"/>
                <a:cs typeface="Space Grotesk"/>
                <a:sym typeface="Space Grotesk"/>
              </a:rPr>
              <a:t>  </a:t>
            </a:r>
            <a:r>
              <a:rPr b="0" i="0" lang="en" sz="900" u="none" cap="none" strike="noStrike">
                <a:solidFill>
                  <a:srgbClr val="000000"/>
                </a:solidFill>
                <a:latin typeface="Space Grotesk"/>
                <a:ea typeface="Space Grotesk"/>
                <a:cs typeface="Space Grotesk"/>
                <a:sym typeface="Space Grotesk"/>
              </a:rPr>
              <a:t>symfony/http-foundation@6.4.22</a:t>
            </a:r>
            <a:endParaRPr b="0" i="0" sz="1050" u="none" cap="none" strike="noStrike">
              <a:solidFill>
                <a:srgbClr val="000000"/>
              </a:solidFill>
              <a:latin typeface="Space Grotesk"/>
              <a:ea typeface="Space Grotesk"/>
              <a:cs typeface="Space Grotesk"/>
              <a:sym typeface="Space Grotesk"/>
            </a:endParaRPr>
          </a:p>
        </p:txBody>
      </p:sp>
      <p:sp>
        <p:nvSpPr>
          <p:cNvPr id="563" name="Google Shape;563;p28"/>
          <p:cNvSpPr/>
          <p:nvPr/>
        </p:nvSpPr>
        <p:spPr>
          <a:xfrm>
            <a:off x="4864608" y="3879989"/>
            <a:ext cx="38862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50"/>
              <a:buFont typeface="Inter"/>
              <a:buNone/>
            </a:pPr>
            <a:r>
              <a:rPr b="0" i="0" lang="en" sz="950" u="none" cap="none" strike="noStrike">
                <a:solidFill>
                  <a:srgbClr val="000000"/>
                </a:solidFill>
                <a:latin typeface="Space Grotesk"/>
                <a:ea typeface="Space Grotesk"/>
                <a:cs typeface="Space Grotesk"/>
                <a:sym typeface="Space Grotesk"/>
              </a:rPr>
              <a:t>Security bypass via improper PATH_INFO handling — allows attackers to circumvent access control rules on the '/' prefix in the Symfony framework.</a:t>
            </a:r>
            <a:endParaRPr b="0" i="0" sz="950" u="none" cap="none" strike="noStrike">
              <a:solidFill>
                <a:srgbClr val="000000"/>
              </a:solidFill>
              <a:latin typeface="Space Grotesk"/>
              <a:ea typeface="Space Grotesk"/>
              <a:cs typeface="Space Grotesk"/>
              <a:sym typeface="Space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9"/>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Platform Utilization (as per POC done)</a:t>
            </a:r>
            <a:endParaRPr/>
          </a:p>
        </p:txBody>
      </p:sp>
      <p:sp>
        <p:nvSpPr>
          <p:cNvPr id="569" name="Google Shape;569;p29"/>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570" name="Google Shape;570;p29"/>
          <p:cNvSpPr/>
          <p:nvPr/>
        </p:nvSpPr>
        <p:spPr>
          <a:xfrm>
            <a:off x="2686265" y="4609826"/>
            <a:ext cx="1854000" cy="351600"/>
          </a:xfrm>
          <a:prstGeom prst="roundRect">
            <a:avLst>
              <a:gd fmla="val 18944" name="adj"/>
            </a:avLst>
          </a:prstGeom>
          <a:solidFill>
            <a:srgbClr val="E3F1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571" name="Google Shape;571;p29"/>
          <p:cNvPicPr preferRelativeResize="0"/>
          <p:nvPr/>
        </p:nvPicPr>
        <p:blipFill rotWithShape="1">
          <a:blip r:embed="rId3">
            <a:alphaModFix/>
          </a:blip>
          <a:srcRect b="0" l="0" r="0" t="0"/>
          <a:stretch/>
        </p:blipFill>
        <p:spPr>
          <a:xfrm>
            <a:off x="2749956" y="4646853"/>
            <a:ext cx="251416" cy="251459"/>
          </a:xfrm>
          <a:prstGeom prst="rect">
            <a:avLst/>
          </a:prstGeom>
          <a:noFill/>
          <a:ln>
            <a:noFill/>
          </a:ln>
        </p:spPr>
      </p:pic>
      <p:sp>
        <p:nvSpPr>
          <p:cNvPr id="572" name="Google Shape;572;p29"/>
          <p:cNvSpPr/>
          <p:nvPr/>
        </p:nvSpPr>
        <p:spPr>
          <a:xfrm>
            <a:off x="3041040" y="4646853"/>
            <a:ext cx="1455600" cy="274200"/>
          </a:xfrm>
          <a:prstGeom prst="rect">
            <a:avLst/>
          </a:prstGeom>
          <a:noFill/>
          <a:ln>
            <a:noFill/>
          </a:ln>
        </p:spPr>
        <p:txBody>
          <a:bodyPr anchorCtr="0" anchor="t" bIns="0" lIns="0" spcFirstLastPara="1" rIns="0" wrap="square" tIns="0">
            <a:noAutofit/>
          </a:bodyPr>
          <a:lstStyle/>
          <a:p>
            <a:pPr indent="0" lvl="0" marL="0" marR="0" rtl="0" algn="l">
              <a:lnSpc>
                <a:spcPct val="120036"/>
              </a:lnSpc>
              <a:spcBef>
                <a:spcPts val="0"/>
              </a:spcBef>
              <a:spcAft>
                <a:spcPts val="0"/>
              </a:spcAft>
              <a:buClr>
                <a:srgbClr val="000000"/>
              </a:buClr>
              <a:buSzPts val="792"/>
              <a:buFont typeface="Space Grotesk"/>
              <a:buNone/>
            </a:pPr>
            <a:r>
              <a:rPr b="1" i="0" lang="en" sz="792" u="none" cap="none" strike="noStrike">
                <a:solidFill>
                  <a:srgbClr val="000000"/>
                </a:solidFill>
                <a:latin typeface="Space Grotesk"/>
                <a:ea typeface="Space Grotesk"/>
                <a:cs typeface="Space Grotesk"/>
                <a:sym typeface="Space Grotesk"/>
              </a:rPr>
              <a:t>CDR</a:t>
            </a:r>
            <a:endParaRPr b="0" i="0" sz="792" u="none" cap="none" strike="noStrike">
              <a:solidFill>
                <a:srgbClr val="000000"/>
              </a:solidFill>
              <a:latin typeface="Calibri"/>
              <a:ea typeface="Calibri"/>
              <a:cs typeface="Calibri"/>
              <a:sym typeface="Calibri"/>
            </a:endParaRPr>
          </a:p>
          <a:p>
            <a:pPr indent="0" lvl="0" marL="0" marR="0" rtl="0" algn="l">
              <a:lnSpc>
                <a:spcPct val="120036"/>
              </a:lnSpc>
              <a:spcBef>
                <a:spcPts val="0"/>
              </a:spcBef>
              <a:spcAft>
                <a:spcPts val="0"/>
              </a:spcAft>
              <a:buClr>
                <a:srgbClr val="000000"/>
              </a:buClr>
              <a:buSzPts val="792"/>
              <a:buFont typeface="Space Grotesk"/>
              <a:buNone/>
            </a:pPr>
            <a:r>
              <a:rPr b="0" i="0" lang="en" sz="792" u="none" cap="none" strike="noStrike">
                <a:solidFill>
                  <a:srgbClr val="000000"/>
                </a:solidFill>
                <a:latin typeface="Space Grotesk"/>
                <a:ea typeface="Space Grotesk"/>
                <a:cs typeface="Space Grotesk"/>
                <a:sym typeface="Space Grotesk"/>
              </a:rPr>
              <a:t>Cloud Detection &amp; Response</a:t>
            </a:r>
            <a:endParaRPr b="0" i="0" sz="792" u="none" cap="none" strike="noStrike">
              <a:solidFill>
                <a:srgbClr val="000000"/>
              </a:solidFill>
              <a:latin typeface="Calibri"/>
              <a:ea typeface="Calibri"/>
              <a:cs typeface="Calibri"/>
              <a:sym typeface="Calibri"/>
            </a:endParaRPr>
          </a:p>
        </p:txBody>
      </p:sp>
      <p:sp>
        <p:nvSpPr>
          <p:cNvPr id="573" name="Google Shape;573;p29"/>
          <p:cNvSpPr/>
          <p:nvPr/>
        </p:nvSpPr>
        <p:spPr>
          <a:xfrm>
            <a:off x="7060804" y="4609826"/>
            <a:ext cx="1588800" cy="351600"/>
          </a:xfrm>
          <a:prstGeom prst="roundRect">
            <a:avLst>
              <a:gd fmla="val 18944" name="adj"/>
            </a:avLst>
          </a:prstGeom>
          <a:solidFill>
            <a:srgbClr val="E3F1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574" name="Google Shape;574;p29"/>
          <p:cNvPicPr preferRelativeResize="0"/>
          <p:nvPr/>
        </p:nvPicPr>
        <p:blipFill rotWithShape="1">
          <a:blip r:embed="rId4">
            <a:alphaModFix/>
          </a:blip>
          <a:srcRect b="0" l="0" r="0" t="0"/>
          <a:stretch/>
        </p:blipFill>
        <p:spPr>
          <a:xfrm>
            <a:off x="7131201" y="4659195"/>
            <a:ext cx="251416" cy="251460"/>
          </a:xfrm>
          <a:prstGeom prst="rect">
            <a:avLst/>
          </a:prstGeom>
          <a:noFill/>
          <a:ln>
            <a:noFill/>
          </a:ln>
        </p:spPr>
      </p:pic>
      <p:pic>
        <p:nvPicPr>
          <p:cNvPr descr=" " id="575" name="Google Shape;575;p29"/>
          <p:cNvPicPr preferRelativeResize="0"/>
          <p:nvPr/>
        </p:nvPicPr>
        <p:blipFill rotWithShape="1">
          <a:blip r:embed="rId5">
            <a:alphaModFix/>
          </a:blip>
          <a:srcRect b="0" l="0" r="0" t="0"/>
          <a:stretch/>
        </p:blipFill>
        <p:spPr>
          <a:xfrm>
            <a:off x="7191540" y="4706973"/>
            <a:ext cx="130739" cy="158419"/>
          </a:xfrm>
          <a:prstGeom prst="rect">
            <a:avLst/>
          </a:prstGeom>
          <a:noFill/>
          <a:ln>
            <a:noFill/>
          </a:ln>
        </p:spPr>
      </p:pic>
      <p:pic>
        <p:nvPicPr>
          <p:cNvPr descr=" " id="576" name="Google Shape;576;p29"/>
          <p:cNvPicPr preferRelativeResize="0"/>
          <p:nvPr/>
        </p:nvPicPr>
        <p:blipFill rotWithShape="1">
          <a:blip r:embed="rId6">
            <a:alphaModFix/>
          </a:blip>
          <a:srcRect b="0" l="0" r="0" t="0"/>
          <a:stretch/>
        </p:blipFill>
        <p:spPr>
          <a:xfrm>
            <a:off x="7219198" y="4757265"/>
            <a:ext cx="75424" cy="55321"/>
          </a:xfrm>
          <a:prstGeom prst="rect">
            <a:avLst/>
          </a:prstGeom>
          <a:noFill/>
          <a:ln>
            <a:noFill/>
          </a:ln>
        </p:spPr>
      </p:pic>
      <p:sp>
        <p:nvSpPr>
          <p:cNvPr id="577" name="Google Shape;577;p29"/>
          <p:cNvSpPr/>
          <p:nvPr/>
        </p:nvSpPr>
        <p:spPr>
          <a:xfrm>
            <a:off x="7148802" y="4681826"/>
            <a:ext cx="40200" cy="40200"/>
          </a:xfrm>
          <a:prstGeom prst="ellipse">
            <a:avLst/>
          </a:prstGeom>
          <a:noFill/>
          <a:ln cap="flat" cmpd="sng" w="15425">
            <a:solidFill>
              <a:srgbClr val="005BFF"/>
            </a:solidFill>
            <a:prstDash val="solid"/>
            <a:round/>
            <a:headEnd len="sm" w="sm" type="none"/>
            <a:tailEnd len="sm" w="sm" type="none"/>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29"/>
          <p:cNvSpPr/>
          <p:nvPr/>
        </p:nvSpPr>
        <p:spPr>
          <a:xfrm>
            <a:off x="7148802" y="4837732"/>
            <a:ext cx="40200" cy="40200"/>
          </a:xfrm>
          <a:prstGeom prst="ellipse">
            <a:avLst/>
          </a:prstGeom>
          <a:noFill/>
          <a:ln cap="flat" cmpd="sng" w="15425">
            <a:solidFill>
              <a:srgbClr val="005BFF"/>
            </a:solidFill>
            <a:prstDash val="solid"/>
            <a:round/>
            <a:headEnd len="sm" w="sm" type="none"/>
            <a:tailEnd len="sm" w="sm" type="none"/>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579" name="Google Shape;579;p29"/>
          <p:cNvPicPr preferRelativeResize="0"/>
          <p:nvPr/>
        </p:nvPicPr>
        <p:blipFill rotWithShape="1">
          <a:blip r:embed="rId7">
            <a:alphaModFix/>
          </a:blip>
          <a:srcRect b="0" l="0" r="0" t="0"/>
          <a:stretch/>
        </p:blipFill>
        <p:spPr>
          <a:xfrm>
            <a:off x="7334712" y="4747089"/>
            <a:ext cx="38983" cy="72613"/>
          </a:xfrm>
          <a:prstGeom prst="rect">
            <a:avLst/>
          </a:prstGeom>
          <a:noFill/>
          <a:ln>
            <a:noFill/>
          </a:ln>
        </p:spPr>
      </p:pic>
      <p:pic>
        <p:nvPicPr>
          <p:cNvPr descr=" " id="580" name="Google Shape;580;p29"/>
          <p:cNvPicPr preferRelativeResize="0"/>
          <p:nvPr/>
        </p:nvPicPr>
        <p:blipFill rotWithShape="1">
          <a:blip r:embed="rId8">
            <a:alphaModFix/>
          </a:blip>
          <a:srcRect b="0" l="0" r="0" t="0"/>
          <a:stretch/>
        </p:blipFill>
        <p:spPr>
          <a:xfrm>
            <a:off x="7310965" y="4774867"/>
            <a:ext cx="59082" cy="15088"/>
          </a:xfrm>
          <a:prstGeom prst="rect">
            <a:avLst/>
          </a:prstGeom>
          <a:noFill/>
          <a:ln>
            <a:noFill/>
          </a:ln>
        </p:spPr>
      </p:pic>
      <p:pic>
        <p:nvPicPr>
          <p:cNvPr descr=" " id="581" name="Google Shape;581;p29"/>
          <p:cNvPicPr preferRelativeResize="0"/>
          <p:nvPr/>
        </p:nvPicPr>
        <p:blipFill rotWithShape="1">
          <a:blip r:embed="rId9">
            <a:alphaModFix/>
          </a:blip>
          <a:srcRect b="0" l="0" r="0" t="0"/>
          <a:stretch/>
        </p:blipFill>
        <p:spPr>
          <a:xfrm>
            <a:off x="7153126" y="4715772"/>
            <a:ext cx="52245" cy="124477"/>
          </a:xfrm>
          <a:prstGeom prst="rect">
            <a:avLst/>
          </a:prstGeom>
          <a:noFill/>
          <a:ln>
            <a:noFill/>
          </a:ln>
        </p:spPr>
      </p:pic>
      <p:sp>
        <p:nvSpPr>
          <p:cNvPr id="582" name="Google Shape;582;p29"/>
          <p:cNvSpPr/>
          <p:nvPr/>
        </p:nvSpPr>
        <p:spPr>
          <a:xfrm>
            <a:off x="7452599" y="4665366"/>
            <a:ext cx="1116300" cy="274200"/>
          </a:xfrm>
          <a:prstGeom prst="rect">
            <a:avLst/>
          </a:prstGeom>
          <a:noFill/>
          <a:ln>
            <a:noFill/>
          </a:ln>
        </p:spPr>
        <p:txBody>
          <a:bodyPr anchorCtr="0" anchor="t" bIns="0" lIns="0" spcFirstLastPara="1" rIns="0" wrap="square" tIns="0">
            <a:noAutofit/>
          </a:bodyPr>
          <a:lstStyle/>
          <a:p>
            <a:pPr indent="0" lvl="0" marL="0" marR="0" rtl="0" algn="l">
              <a:lnSpc>
                <a:spcPct val="120036"/>
              </a:lnSpc>
              <a:spcBef>
                <a:spcPts val="0"/>
              </a:spcBef>
              <a:spcAft>
                <a:spcPts val="0"/>
              </a:spcAft>
              <a:buClr>
                <a:srgbClr val="000000"/>
              </a:buClr>
              <a:buSzPts val="792"/>
              <a:buFont typeface="Space Grotesk"/>
              <a:buNone/>
            </a:pPr>
            <a:r>
              <a:rPr b="1" i="0" lang="en" sz="792" u="none" cap="none" strike="noStrike">
                <a:solidFill>
                  <a:srgbClr val="000000"/>
                </a:solidFill>
                <a:latin typeface="Space Grotesk"/>
                <a:ea typeface="Space Grotesk"/>
                <a:cs typeface="Space Grotesk"/>
                <a:sym typeface="Space Grotesk"/>
              </a:rPr>
              <a:t>SIEM</a:t>
            </a:r>
            <a:endParaRPr b="0" i="0" sz="792" u="none" cap="none" strike="noStrike">
              <a:solidFill>
                <a:srgbClr val="000000"/>
              </a:solidFill>
              <a:latin typeface="Calibri"/>
              <a:ea typeface="Calibri"/>
              <a:cs typeface="Calibri"/>
              <a:sym typeface="Calibri"/>
            </a:endParaRPr>
          </a:p>
          <a:p>
            <a:pPr indent="0" lvl="0" marL="0" marR="0" rtl="0" algn="l">
              <a:lnSpc>
                <a:spcPct val="120036"/>
              </a:lnSpc>
              <a:spcBef>
                <a:spcPts val="0"/>
              </a:spcBef>
              <a:spcAft>
                <a:spcPts val="0"/>
              </a:spcAft>
              <a:buClr>
                <a:srgbClr val="000000"/>
              </a:buClr>
              <a:buSzPts val="792"/>
              <a:buFont typeface="Space Grotesk"/>
              <a:buNone/>
            </a:pPr>
            <a:r>
              <a:rPr b="0" i="0" lang="en" sz="792" u="none" cap="none" strike="noStrike">
                <a:solidFill>
                  <a:srgbClr val="000000"/>
                </a:solidFill>
                <a:latin typeface="Space Grotesk"/>
                <a:ea typeface="Space Grotesk"/>
                <a:cs typeface="Space Grotesk"/>
                <a:sym typeface="Space Grotesk"/>
              </a:rPr>
              <a:t>Security Information</a:t>
            </a:r>
            <a:endParaRPr b="0" i="0" sz="792" u="none" cap="none" strike="noStrike">
              <a:solidFill>
                <a:srgbClr val="000000"/>
              </a:solidFill>
              <a:latin typeface="Calibri"/>
              <a:ea typeface="Calibri"/>
              <a:cs typeface="Calibri"/>
              <a:sym typeface="Calibri"/>
            </a:endParaRPr>
          </a:p>
        </p:txBody>
      </p:sp>
      <p:sp>
        <p:nvSpPr>
          <p:cNvPr id="583" name="Google Shape;583;p29"/>
          <p:cNvSpPr/>
          <p:nvPr/>
        </p:nvSpPr>
        <p:spPr>
          <a:xfrm>
            <a:off x="4697689" y="4609826"/>
            <a:ext cx="1049100" cy="351600"/>
          </a:xfrm>
          <a:prstGeom prst="roundRect">
            <a:avLst>
              <a:gd fmla="val 18944" name="adj"/>
            </a:avLst>
          </a:prstGeom>
          <a:solidFill>
            <a:srgbClr val="E3F1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584" name="Google Shape;584;p29"/>
          <p:cNvPicPr preferRelativeResize="0"/>
          <p:nvPr/>
        </p:nvPicPr>
        <p:blipFill rotWithShape="1">
          <a:blip r:embed="rId10">
            <a:alphaModFix/>
          </a:blip>
          <a:srcRect b="0" l="0" r="0" t="0"/>
          <a:stretch/>
        </p:blipFill>
        <p:spPr>
          <a:xfrm>
            <a:off x="4765948" y="4659195"/>
            <a:ext cx="251416" cy="251459"/>
          </a:xfrm>
          <a:prstGeom prst="rect">
            <a:avLst/>
          </a:prstGeom>
          <a:noFill/>
          <a:ln>
            <a:noFill/>
          </a:ln>
        </p:spPr>
      </p:pic>
      <p:sp>
        <p:nvSpPr>
          <p:cNvPr id="585" name="Google Shape;585;p29"/>
          <p:cNvSpPr/>
          <p:nvPr/>
        </p:nvSpPr>
        <p:spPr>
          <a:xfrm>
            <a:off x="5044181" y="4712840"/>
            <a:ext cx="677400" cy="153900"/>
          </a:xfrm>
          <a:prstGeom prst="rect">
            <a:avLst/>
          </a:prstGeom>
          <a:noFill/>
          <a:ln>
            <a:noFill/>
          </a:ln>
        </p:spPr>
        <p:txBody>
          <a:bodyPr anchorCtr="0" anchor="t" bIns="0" lIns="0" spcFirstLastPara="1" rIns="0" wrap="square" tIns="0">
            <a:noAutofit/>
          </a:bodyPr>
          <a:lstStyle/>
          <a:p>
            <a:pPr indent="0" lvl="0" marL="0" marR="0" rtl="0" algn="l">
              <a:lnSpc>
                <a:spcPct val="120036"/>
              </a:lnSpc>
              <a:spcBef>
                <a:spcPts val="0"/>
              </a:spcBef>
              <a:spcAft>
                <a:spcPts val="0"/>
              </a:spcAft>
              <a:buClr>
                <a:srgbClr val="000000"/>
              </a:buClr>
              <a:buSzPts val="792"/>
              <a:buFont typeface="Space Grotesk"/>
              <a:buNone/>
            </a:pPr>
            <a:r>
              <a:rPr b="1" i="0" lang="en" sz="792" u="none" cap="none" strike="noStrike">
                <a:solidFill>
                  <a:srgbClr val="000000"/>
                </a:solidFill>
                <a:latin typeface="Space Grotesk"/>
                <a:ea typeface="Space Grotesk"/>
                <a:cs typeface="Space Grotesk"/>
                <a:sym typeface="Space Grotesk"/>
              </a:rPr>
              <a:t>API Security</a:t>
            </a:r>
            <a:endParaRPr b="0" i="0" sz="792" u="none" cap="none" strike="noStrike">
              <a:solidFill>
                <a:srgbClr val="000000"/>
              </a:solidFill>
              <a:latin typeface="Calibri"/>
              <a:ea typeface="Calibri"/>
              <a:cs typeface="Calibri"/>
              <a:sym typeface="Calibri"/>
            </a:endParaRPr>
          </a:p>
        </p:txBody>
      </p:sp>
      <p:pic>
        <p:nvPicPr>
          <p:cNvPr descr=" " id="586" name="Google Shape;586;p29"/>
          <p:cNvPicPr preferRelativeResize="0"/>
          <p:nvPr/>
        </p:nvPicPr>
        <p:blipFill rotWithShape="1">
          <a:blip r:embed="rId11">
            <a:alphaModFix/>
          </a:blip>
          <a:srcRect b="0" l="0" r="0" t="0"/>
          <a:stretch/>
        </p:blipFill>
        <p:spPr>
          <a:xfrm>
            <a:off x="245350" y="4426933"/>
            <a:ext cx="8654790" cy="100821"/>
          </a:xfrm>
          <a:prstGeom prst="rect">
            <a:avLst/>
          </a:prstGeom>
          <a:noFill/>
          <a:ln>
            <a:noFill/>
          </a:ln>
        </p:spPr>
      </p:pic>
      <p:sp>
        <p:nvSpPr>
          <p:cNvPr id="587" name="Google Shape;587;p29"/>
          <p:cNvSpPr/>
          <p:nvPr/>
        </p:nvSpPr>
        <p:spPr>
          <a:xfrm>
            <a:off x="338575" y="4609826"/>
            <a:ext cx="2190300" cy="351600"/>
          </a:xfrm>
          <a:prstGeom prst="roundRect">
            <a:avLst>
              <a:gd fmla="val 18944" name="adj"/>
            </a:avLst>
          </a:prstGeom>
          <a:solidFill>
            <a:srgbClr val="E3F1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9"/>
          <p:cNvSpPr/>
          <p:nvPr/>
        </p:nvSpPr>
        <p:spPr>
          <a:xfrm>
            <a:off x="733456" y="4646853"/>
            <a:ext cx="1773600" cy="274200"/>
          </a:xfrm>
          <a:prstGeom prst="rect">
            <a:avLst/>
          </a:prstGeom>
          <a:noFill/>
          <a:ln>
            <a:noFill/>
          </a:ln>
        </p:spPr>
        <p:txBody>
          <a:bodyPr anchorCtr="0" anchor="t" bIns="0" lIns="0" spcFirstLastPara="1" rIns="0" wrap="square" tIns="0">
            <a:noAutofit/>
          </a:bodyPr>
          <a:lstStyle/>
          <a:p>
            <a:pPr indent="0" lvl="0" marL="0" marR="0" rtl="0" algn="l">
              <a:lnSpc>
                <a:spcPct val="120036"/>
              </a:lnSpc>
              <a:spcBef>
                <a:spcPts val="0"/>
              </a:spcBef>
              <a:spcAft>
                <a:spcPts val="0"/>
              </a:spcAft>
              <a:buClr>
                <a:srgbClr val="000000"/>
              </a:buClr>
              <a:buSzPts val="792"/>
              <a:buFont typeface="Space Grotesk"/>
              <a:buNone/>
            </a:pPr>
            <a:r>
              <a:rPr b="1" i="0" lang="en" sz="792" u="none" cap="none" strike="noStrike">
                <a:solidFill>
                  <a:srgbClr val="000000"/>
                </a:solidFill>
                <a:latin typeface="Space Grotesk"/>
                <a:ea typeface="Space Grotesk"/>
                <a:cs typeface="Space Grotesk"/>
                <a:sym typeface="Space Grotesk"/>
              </a:rPr>
              <a:t>Compliance</a:t>
            </a:r>
            <a:endParaRPr b="0" i="0" sz="792" u="none" cap="none" strike="noStrike">
              <a:solidFill>
                <a:srgbClr val="000000"/>
              </a:solidFill>
              <a:latin typeface="Calibri"/>
              <a:ea typeface="Calibri"/>
              <a:cs typeface="Calibri"/>
              <a:sym typeface="Calibri"/>
            </a:endParaRPr>
          </a:p>
          <a:p>
            <a:pPr indent="0" lvl="0" marL="0" marR="0" rtl="0" algn="l">
              <a:lnSpc>
                <a:spcPct val="120036"/>
              </a:lnSpc>
              <a:spcBef>
                <a:spcPts val="0"/>
              </a:spcBef>
              <a:spcAft>
                <a:spcPts val="0"/>
              </a:spcAft>
              <a:buClr>
                <a:srgbClr val="000000"/>
              </a:buClr>
              <a:buSzPts val="792"/>
              <a:buFont typeface="Space Grotesk"/>
              <a:buNone/>
            </a:pPr>
            <a:r>
              <a:rPr b="0" i="0" lang="en" sz="792" u="none" cap="none" strike="noStrike">
                <a:solidFill>
                  <a:srgbClr val="000000"/>
                </a:solidFill>
                <a:latin typeface="Space Grotesk"/>
                <a:ea typeface="Space Grotesk"/>
                <a:cs typeface="Space Grotesk"/>
                <a:sym typeface="Space Grotesk"/>
              </a:rPr>
              <a:t>35+ Frameworks: SOC2, PCI DSS, etc.</a:t>
            </a:r>
            <a:endParaRPr b="0" i="0" sz="792" u="none" cap="none" strike="noStrike">
              <a:solidFill>
                <a:srgbClr val="000000"/>
              </a:solidFill>
              <a:latin typeface="Calibri"/>
              <a:ea typeface="Calibri"/>
              <a:cs typeface="Calibri"/>
              <a:sym typeface="Calibri"/>
            </a:endParaRPr>
          </a:p>
        </p:txBody>
      </p:sp>
      <p:pic>
        <p:nvPicPr>
          <p:cNvPr descr=" " id="589" name="Google Shape;589;p29"/>
          <p:cNvPicPr preferRelativeResize="0"/>
          <p:nvPr/>
        </p:nvPicPr>
        <p:blipFill rotWithShape="1">
          <a:blip r:embed="rId12">
            <a:alphaModFix/>
          </a:blip>
          <a:srcRect b="0" l="0" r="0" t="0"/>
          <a:stretch/>
        </p:blipFill>
        <p:spPr>
          <a:xfrm>
            <a:off x="418202" y="4646853"/>
            <a:ext cx="251416" cy="251459"/>
          </a:xfrm>
          <a:prstGeom prst="rect">
            <a:avLst/>
          </a:prstGeom>
          <a:noFill/>
          <a:ln>
            <a:noFill/>
          </a:ln>
        </p:spPr>
      </p:pic>
      <p:sp>
        <p:nvSpPr>
          <p:cNvPr id="590" name="Google Shape;590;p29"/>
          <p:cNvSpPr/>
          <p:nvPr/>
        </p:nvSpPr>
        <p:spPr>
          <a:xfrm>
            <a:off x="5903926" y="4609826"/>
            <a:ext cx="999600" cy="351600"/>
          </a:xfrm>
          <a:prstGeom prst="roundRect">
            <a:avLst>
              <a:gd fmla="val 18944" name="adj"/>
            </a:avLst>
          </a:prstGeom>
          <a:solidFill>
            <a:srgbClr val="E3F1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29"/>
          <p:cNvSpPr/>
          <p:nvPr/>
        </p:nvSpPr>
        <p:spPr>
          <a:xfrm>
            <a:off x="6289430" y="4727077"/>
            <a:ext cx="613500" cy="153900"/>
          </a:xfrm>
          <a:prstGeom prst="rect">
            <a:avLst/>
          </a:prstGeom>
          <a:noFill/>
          <a:ln>
            <a:noFill/>
          </a:ln>
        </p:spPr>
        <p:txBody>
          <a:bodyPr anchorCtr="0" anchor="t" bIns="0" lIns="0" spcFirstLastPara="1" rIns="0" wrap="square" tIns="0">
            <a:noAutofit/>
          </a:bodyPr>
          <a:lstStyle/>
          <a:p>
            <a:pPr indent="0" lvl="0" marL="0" marR="0" rtl="0" algn="l">
              <a:lnSpc>
                <a:spcPct val="120036"/>
              </a:lnSpc>
              <a:spcBef>
                <a:spcPts val="0"/>
              </a:spcBef>
              <a:spcAft>
                <a:spcPts val="0"/>
              </a:spcAft>
              <a:buClr>
                <a:srgbClr val="000000"/>
              </a:buClr>
              <a:buSzPts val="792"/>
              <a:buFont typeface="Space Grotesk"/>
              <a:buNone/>
            </a:pPr>
            <a:r>
              <a:rPr b="1" i="0" lang="en" sz="792" u="none" cap="none" strike="noStrike">
                <a:solidFill>
                  <a:srgbClr val="000000"/>
                </a:solidFill>
                <a:latin typeface="Space Grotesk"/>
                <a:ea typeface="Space Grotesk"/>
                <a:cs typeface="Space Grotesk"/>
                <a:sym typeface="Space Grotesk"/>
              </a:rPr>
              <a:t>AI Copilot</a:t>
            </a:r>
            <a:endParaRPr b="0" i="0" sz="792" u="none" cap="none" strike="noStrike">
              <a:solidFill>
                <a:srgbClr val="000000"/>
              </a:solidFill>
              <a:latin typeface="Calibri"/>
              <a:ea typeface="Calibri"/>
              <a:cs typeface="Calibri"/>
              <a:sym typeface="Calibri"/>
            </a:endParaRPr>
          </a:p>
        </p:txBody>
      </p:sp>
      <p:pic>
        <p:nvPicPr>
          <p:cNvPr descr=" " id="592" name="Google Shape;592;p29"/>
          <p:cNvPicPr preferRelativeResize="0"/>
          <p:nvPr/>
        </p:nvPicPr>
        <p:blipFill rotWithShape="1">
          <a:blip r:embed="rId13">
            <a:alphaModFix/>
          </a:blip>
          <a:srcRect b="0" l="0" r="0" t="0"/>
          <a:stretch/>
        </p:blipFill>
        <p:spPr>
          <a:xfrm>
            <a:off x="5981027" y="4659195"/>
            <a:ext cx="251416" cy="251459"/>
          </a:xfrm>
          <a:prstGeom prst="rect">
            <a:avLst/>
          </a:prstGeom>
          <a:noFill/>
          <a:ln>
            <a:noFill/>
          </a:ln>
        </p:spPr>
      </p:pic>
      <p:sp>
        <p:nvSpPr>
          <p:cNvPr id="593" name="Google Shape;593;p29"/>
          <p:cNvSpPr/>
          <p:nvPr/>
        </p:nvSpPr>
        <p:spPr>
          <a:xfrm>
            <a:off x="417240" y="1018828"/>
            <a:ext cx="1094700" cy="475500"/>
          </a:xfrm>
          <a:prstGeom prst="roundRect">
            <a:avLst>
              <a:gd fmla="val 12149" name="adj"/>
            </a:avLst>
          </a:prstGeom>
          <a:solidFill>
            <a:srgbClr val="5C5C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9"/>
          <p:cNvSpPr/>
          <p:nvPr/>
        </p:nvSpPr>
        <p:spPr>
          <a:xfrm>
            <a:off x="716600" y="1120453"/>
            <a:ext cx="491100" cy="34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290"/>
              <a:buFont typeface="Space Grotesk"/>
              <a:buNone/>
            </a:pPr>
            <a:r>
              <a:rPr b="1" i="0" lang="en" sz="1290" u="none" cap="none" strike="noStrike">
                <a:solidFill>
                  <a:srgbClr val="FFFFFF"/>
                </a:solidFill>
                <a:latin typeface="Space Grotesk"/>
                <a:ea typeface="Space Grotesk"/>
                <a:cs typeface="Space Grotesk"/>
                <a:sym typeface="Space Grotesk"/>
              </a:rPr>
              <a:t>ASPM</a:t>
            </a:r>
            <a:endParaRPr b="0" i="0" sz="129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774"/>
              <a:buFont typeface="Space Grotesk"/>
              <a:buNone/>
            </a:pPr>
            <a:r>
              <a:rPr b="0" i="0" lang="en" sz="774" u="none" cap="none" strike="noStrike">
                <a:solidFill>
                  <a:srgbClr val="FFFFFF"/>
                </a:solidFill>
                <a:latin typeface="Space Grotesk"/>
                <a:ea typeface="Space Grotesk"/>
                <a:cs typeface="Space Grotesk"/>
                <a:sym typeface="Space Grotesk"/>
              </a:rPr>
              <a:t>(AppSec)</a:t>
            </a:r>
            <a:endParaRPr b="0" i="0" sz="1290" u="none" cap="none" strike="noStrike">
              <a:solidFill>
                <a:srgbClr val="000000"/>
              </a:solidFill>
              <a:latin typeface="Calibri"/>
              <a:ea typeface="Calibri"/>
              <a:cs typeface="Calibri"/>
              <a:sym typeface="Calibri"/>
            </a:endParaRPr>
          </a:p>
        </p:txBody>
      </p:sp>
      <p:sp>
        <p:nvSpPr>
          <p:cNvPr id="595" name="Google Shape;595;p29"/>
          <p:cNvSpPr/>
          <p:nvPr/>
        </p:nvSpPr>
        <p:spPr>
          <a:xfrm>
            <a:off x="525402" y="1625305"/>
            <a:ext cx="14226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Static Application Security Testing (SAST)</a:t>
            </a:r>
            <a:endParaRPr b="0" i="0" sz="774" u="none" cap="none" strike="noStrike">
              <a:solidFill>
                <a:srgbClr val="000000"/>
              </a:solidFill>
              <a:latin typeface="Calibri"/>
              <a:ea typeface="Calibri"/>
              <a:cs typeface="Calibri"/>
              <a:sym typeface="Calibri"/>
            </a:endParaRPr>
          </a:p>
        </p:txBody>
      </p:sp>
      <p:sp>
        <p:nvSpPr>
          <p:cNvPr id="596" name="Google Shape;596;p29"/>
          <p:cNvSpPr/>
          <p:nvPr/>
        </p:nvSpPr>
        <p:spPr>
          <a:xfrm>
            <a:off x="545068" y="2044922"/>
            <a:ext cx="13863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Dynamic Application Security Testing (DAST)</a:t>
            </a:r>
            <a:endParaRPr b="0" i="0" sz="774" u="none" cap="none" strike="noStrike">
              <a:solidFill>
                <a:srgbClr val="000000"/>
              </a:solidFill>
              <a:latin typeface="Calibri"/>
              <a:ea typeface="Calibri"/>
              <a:cs typeface="Calibri"/>
              <a:sym typeface="Calibri"/>
            </a:endParaRPr>
          </a:p>
        </p:txBody>
      </p:sp>
      <p:grpSp>
        <p:nvGrpSpPr>
          <p:cNvPr id="597" name="Google Shape;597;p29"/>
          <p:cNvGrpSpPr/>
          <p:nvPr/>
        </p:nvGrpSpPr>
        <p:grpSpPr>
          <a:xfrm>
            <a:off x="499823" y="774634"/>
            <a:ext cx="335249" cy="335249"/>
            <a:chOff x="623731" y="1034179"/>
            <a:chExt cx="246000" cy="246000"/>
          </a:xfrm>
        </p:grpSpPr>
        <p:sp>
          <p:nvSpPr>
            <p:cNvPr id="598" name="Google Shape;598;p29"/>
            <p:cNvSpPr/>
            <p:nvPr/>
          </p:nvSpPr>
          <p:spPr>
            <a:xfrm>
              <a:off x="623731"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250" lIns="30250" spcFirstLastPara="1" rIns="30250" wrap="square" tIns="302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599" name="Google Shape;599;p29"/>
            <p:cNvPicPr preferRelativeResize="0"/>
            <p:nvPr/>
          </p:nvPicPr>
          <p:blipFill rotWithShape="1">
            <a:blip r:embed="rId14">
              <a:alphaModFix/>
            </a:blip>
            <a:srcRect b="0" l="0" r="0" t="0"/>
            <a:stretch/>
          </p:blipFill>
          <p:spPr>
            <a:xfrm>
              <a:off x="659786" y="1073518"/>
              <a:ext cx="170439" cy="170468"/>
            </a:xfrm>
            <a:prstGeom prst="rect">
              <a:avLst/>
            </a:prstGeom>
            <a:noFill/>
            <a:ln>
              <a:noFill/>
            </a:ln>
          </p:spPr>
        </p:pic>
      </p:grpSp>
      <p:grpSp>
        <p:nvGrpSpPr>
          <p:cNvPr id="600" name="Google Shape;600;p29"/>
          <p:cNvGrpSpPr/>
          <p:nvPr/>
        </p:nvGrpSpPr>
        <p:grpSpPr>
          <a:xfrm>
            <a:off x="797609" y="774634"/>
            <a:ext cx="335249" cy="335249"/>
            <a:chOff x="842241" y="1034179"/>
            <a:chExt cx="246000" cy="246000"/>
          </a:xfrm>
        </p:grpSpPr>
        <p:sp>
          <p:nvSpPr>
            <p:cNvPr id="601" name="Google Shape;601;p29"/>
            <p:cNvSpPr/>
            <p:nvPr/>
          </p:nvSpPr>
          <p:spPr>
            <a:xfrm>
              <a:off x="842241"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250" lIns="30250" spcFirstLastPara="1" rIns="30250" wrap="square" tIns="302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02" name="Google Shape;602;p29"/>
            <p:cNvPicPr preferRelativeResize="0"/>
            <p:nvPr/>
          </p:nvPicPr>
          <p:blipFill rotWithShape="1">
            <a:blip r:embed="rId15">
              <a:alphaModFix/>
            </a:blip>
            <a:srcRect b="0" l="0" r="0" t="0"/>
            <a:stretch/>
          </p:blipFill>
          <p:spPr>
            <a:xfrm>
              <a:off x="889223" y="1086631"/>
              <a:ext cx="150772" cy="140964"/>
            </a:xfrm>
            <a:prstGeom prst="rect">
              <a:avLst/>
            </a:prstGeom>
            <a:noFill/>
            <a:ln>
              <a:noFill/>
            </a:ln>
          </p:spPr>
        </p:pic>
      </p:grpSp>
      <p:grpSp>
        <p:nvGrpSpPr>
          <p:cNvPr id="603" name="Google Shape;603;p29"/>
          <p:cNvGrpSpPr/>
          <p:nvPr/>
        </p:nvGrpSpPr>
        <p:grpSpPr>
          <a:xfrm>
            <a:off x="1095402" y="774634"/>
            <a:ext cx="335249" cy="335249"/>
            <a:chOff x="1060757" y="1034179"/>
            <a:chExt cx="246000" cy="246000"/>
          </a:xfrm>
        </p:grpSpPr>
        <p:sp>
          <p:nvSpPr>
            <p:cNvPr id="604" name="Google Shape;604;p29"/>
            <p:cNvSpPr/>
            <p:nvPr/>
          </p:nvSpPr>
          <p:spPr>
            <a:xfrm>
              <a:off x="1060757"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250" lIns="30250" spcFirstLastPara="1" rIns="30250" wrap="square" tIns="302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05" name="Google Shape;605;p29"/>
            <p:cNvPicPr preferRelativeResize="0"/>
            <p:nvPr/>
          </p:nvPicPr>
          <p:blipFill rotWithShape="1">
            <a:blip r:embed="rId16">
              <a:alphaModFix/>
            </a:blip>
            <a:srcRect b="0" l="0" r="0" t="0"/>
            <a:stretch/>
          </p:blipFill>
          <p:spPr>
            <a:xfrm>
              <a:off x="1112105" y="1086631"/>
              <a:ext cx="144218" cy="144243"/>
            </a:xfrm>
            <a:prstGeom prst="rect">
              <a:avLst/>
            </a:prstGeom>
            <a:noFill/>
            <a:ln>
              <a:noFill/>
            </a:ln>
          </p:spPr>
        </p:pic>
      </p:grpSp>
      <p:pic>
        <p:nvPicPr>
          <p:cNvPr descr=" " id="606" name="Google Shape;606;p29"/>
          <p:cNvPicPr preferRelativeResize="0"/>
          <p:nvPr/>
        </p:nvPicPr>
        <p:blipFill rotWithShape="1">
          <a:blip r:embed="rId17">
            <a:alphaModFix/>
          </a:blip>
          <a:srcRect b="0" l="0" r="0" t="0"/>
          <a:stretch/>
        </p:blipFill>
        <p:spPr>
          <a:xfrm>
            <a:off x="417240" y="1346653"/>
            <a:ext cx="13111" cy="2429189"/>
          </a:xfrm>
          <a:prstGeom prst="rect">
            <a:avLst/>
          </a:prstGeom>
          <a:noFill/>
          <a:ln>
            <a:noFill/>
          </a:ln>
        </p:spPr>
      </p:pic>
      <p:pic>
        <p:nvPicPr>
          <p:cNvPr descr=" " id="607" name="Google Shape;607;p29"/>
          <p:cNvPicPr preferRelativeResize="0"/>
          <p:nvPr/>
        </p:nvPicPr>
        <p:blipFill rotWithShape="1">
          <a:blip r:embed="rId18">
            <a:alphaModFix/>
          </a:blip>
          <a:srcRect b="0" l="0" r="0" t="0"/>
          <a:stretch/>
        </p:blipFill>
        <p:spPr>
          <a:xfrm>
            <a:off x="430349" y="2320296"/>
            <a:ext cx="534261" cy="13113"/>
          </a:xfrm>
          <a:prstGeom prst="rect">
            <a:avLst/>
          </a:prstGeom>
          <a:noFill/>
          <a:ln>
            <a:noFill/>
          </a:ln>
        </p:spPr>
      </p:pic>
      <p:pic>
        <p:nvPicPr>
          <p:cNvPr descr=" " id="608" name="Google Shape;608;p29"/>
          <p:cNvPicPr preferRelativeResize="0"/>
          <p:nvPr/>
        </p:nvPicPr>
        <p:blipFill rotWithShape="1">
          <a:blip r:embed="rId19">
            <a:alphaModFix/>
          </a:blip>
          <a:srcRect b="0" l="0" r="0" t="0"/>
          <a:stretch/>
        </p:blipFill>
        <p:spPr>
          <a:xfrm>
            <a:off x="430349" y="1900679"/>
            <a:ext cx="534261" cy="13113"/>
          </a:xfrm>
          <a:prstGeom prst="rect">
            <a:avLst/>
          </a:prstGeom>
          <a:noFill/>
          <a:ln>
            <a:noFill/>
          </a:ln>
        </p:spPr>
      </p:pic>
      <p:pic>
        <p:nvPicPr>
          <p:cNvPr descr=" " id="609" name="Google Shape;609;p29"/>
          <p:cNvPicPr preferRelativeResize="0"/>
          <p:nvPr/>
        </p:nvPicPr>
        <p:blipFill rotWithShape="1">
          <a:blip r:embed="rId20">
            <a:alphaModFix/>
          </a:blip>
          <a:srcRect b="0" l="0" r="0" t="0"/>
          <a:stretch/>
        </p:blipFill>
        <p:spPr>
          <a:xfrm>
            <a:off x="430349" y="2621896"/>
            <a:ext cx="534261" cy="13113"/>
          </a:xfrm>
          <a:prstGeom prst="rect">
            <a:avLst/>
          </a:prstGeom>
          <a:noFill/>
          <a:ln>
            <a:noFill/>
          </a:ln>
        </p:spPr>
      </p:pic>
      <p:pic>
        <p:nvPicPr>
          <p:cNvPr descr=" " id="610" name="Google Shape;610;p29"/>
          <p:cNvPicPr preferRelativeResize="0"/>
          <p:nvPr/>
        </p:nvPicPr>
        <p:blipFill rotWithShape="1">
          <a:blip r:embed="rId21">
            <a:alphaModFix/>
          </a:blip>
          <a:srcRect b="0" l="0" r="0" t="0"/>
          <a:stretch/>
        </p:blipFill>
        <p:spPr>
          <a:xfrm>
            <a:off x="430349" y="2923496"/>
            <a:ext cx="534261" cy="13113"/>
          </a:xfrm>
          <a:prstGeom prst="rect">
            <a:avLst/>
          </a:prstGeom>
          <a:noFill/>
          <a:ln>
            <a:noFill/>
          </a:ln>
        </p:spPr>
      </p:pic>
      <p:pic>
        <p:nvPicPr>
          <p:cNvPr descr=" " id="611" name="Google Shape;611;p29"/>
          <p:cNvPicPr preferRelativeResize="0"/>
          <p:nvPr/>
        </p:nvPicPr>
        <p:blipFill rotWithShape="1">
          <a:blip r:embed="rId22">
            <a:alphaModFix/>
          </a:blip>
          <a:srcRect b="0" l="0" r="0" t="0"/>
          <a:stretch/>
        </p:blipFill>
        <p:spPr>
          <a:xfrm>
            <a:off x="430349" y="3343113"/>
            <a:ext cx="534261" cy="13113"/>
          </a:xfrm>
          <a:prstGeom prst="rect">
            <a:avLst/>
          </a:prstGeom>
          <a:noFill/>
          <a:ln>
            <a:noFill/>
          </a:ln>
        </p:spPr>
      </p:pic>
      <p:pic>
        <p:nvPicPr>
          <p:cNvPr descr=" " id="612" name="Google Shape;612;p29"/>
          <p:cNvPicPr preferRelativeResize="0"/>
          <p:nvPr/>
        </p:nvPicPr>
        <p:blipFill rotWithShape="1">
          <a:blip r:embed="rId23">
            <a:alphaModFix/>
          </a:blip>
          <a:srcRect b="0" l="0" r="0" t="0"/>
          <a:stretch/>
        </p:blipFill>
        <p:spPr>
          <a:xfrm>
            <a:off x="430349" y="3766653"/>
            <a:ext cx="534261" cy="13113"/>
          </a:xfrm>
          <a:prstGeom prst="rect">
            <a:avLst/>
          </a:prstGeom>
          <a:noFill/>
          <a:ln>
            <a:noFill/>
          </a:ln>
        </p:spPr>
      </p:pic>
      <p:sp>
        <p:nvSpPr>
          <p:cNvPr id="613" name="Google Shape;613;p29"/>
          <p:cNvSpPr/>
          <p:nvPr/>
        </p:nvSpPr>
        <p:spPr>
          <a:xfrm>
            <a:off x="512292" y="2464539"/>
            <a:ext cx="12225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Secret Scans</a:t>
            </a:r>
            <a:endParaRPr b="0" i="0" sz="774" u="none" cap="none" strike="noStrike">
              <a:solidFill>
                <a:srgbClr val="000000"/>
              </a:solidFill>
              <a:latin typeface="Calibri"/>
              <a:ea typeface="Calibri"/>
              <a:cs typeface="Calibri"/>
              <a:sym typeface="Calibri"/>
            </a:endParaRPr>
          </a:p>
        </p:txBody>
      </p:sp>
      <p:sp>
        <p:nvSpPr>
          <p:cNvPr id="614" name="Google Shape;614;p29"/>
          <p:cNvSpPr/>
          <p:nvPr/>
        </p:nvSpPr>
        <p:spPr>
          <a:xfrm>
            <a:off x="512292" y="2766139"/>
            <a:ext cx="12225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IaC Scans</a:t>
            </a:r>
            <a:endParaRPr b="0" i="0" sz="774" u="none" cap="none" strike="noStrike">
              <a:solidFill>
                <a:srgbClr val="000000"/>
              </a:solidFill>
              <a:latin typeface="Calibri"/>
              <a:ea typeface="Calibri"/>
              <a:cs typeface="Calibri"/>
              <a:sym typeface="Calibri"/>
            </a:endParaRPr>
          </a:p>
        </p:txBody>
      </p:sp>
      <p:sp>
        <p:nvSpPr>
          <p:cNvPr id="615" name="Google Shape;615;p29"/>
          <p:cNvSpPr/>
          <p:nvPr/>
        </p:nvSpPr>
        <p:spPr>
          <a:xfrm>
            <a:off x="509014" y="3035689"/>
            <a:ext cx="12225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Software Bill of Materials (SBOM) </a:t>
            </a:r>
            <a:r>
              <a:rPr b="1" i="0" lang="en" sz="1032" u="none" cap="none" strike="noStrike">
                <a:solidFill>
                  <a:srgbClr val="000000"/>
                </a:solidFill>
                <a:latin typeface="Space Grotesk"/>
                <a:ea typeface="Space Grotesk"/>
                <a:cs typeface="Space Grotesk"/>
                <a:sym typeface="Space Grotesk"/>
              </a:rPr>
              <a:t>🏁</a:t>
            </a:r>
            <a:endParaRPr b="0" i="0" sz="774" u="none" cap="none" strike="noStrike">
              <a:solidFill>
                <a:srgbClr val="000000"/>
              </a:solidFill>
              <a:latin typeface="Calibri"/>
              <a:ea typeface="Calibri"/>
              <a:cs typeface="Calibri"/>
              <a:sym typeface="Calibri"/>
            </a:endParaRPr>
          </a:p>
        </p:txBody>
      </p:sp>
      <p:sp>
        <p:nvSpPr>
          <p:cNvPr id="616" name="Google Shape;616;p29"/>
          <p:cNvSpPr/>
          <p:nvPr/>
        </p:nvSpPr>
        <p:spPr>
          <a:xfrm>
            <a:off x="512292" y="3458694"/>
            <a:ext cx="14358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Software Composition Analysis (SCA)  </a:t>
            </a:r>
            <a:endParaRPr b="0" i="0" sz="774" u="none" cap="none" strike="noStrike">
              <a:solidFill>
                <a:srgbClr val="000000"/>
              </a:solidFill>
              <a:latin typeface="Calibri"/>
              <a:ea typeface="Calibri"/>
              <a:cs typeface="Calibri"/>
              <a:sym typeface="Calibri"/>
            </a:endParaRPr>
          </a:p>
        </p:txBody>
      </p:sp>
      <p:pic>
        <p:nvPicPr>
          <p:cNvPr descr=" " id="617" name="Google Shape;617;p29"/>
          <p:cNvPicPr preferRelativeResize="0"/>
          <p:nvPr/>
        </p:nvPicPr>
        <p:blipFill rotWithShape="1">
          <a:blip r:embed="rId24">
            <a:alphaModFix/>
          </a:blip>
          <a:srcRect b="0" l="0" r="0" t="0"/>
          <a:stretch/>
        </p:blipFill>
        <p:spPr>
          <a:xfrm>
            <a:off x="351686" y="1612192"/>
            <a:ext cx="157328" cy="157356"/>
          </a:xfrm>
          <a:prstGeom prst="rect">
            <a:avLst/>
          </a:prstGeom>
          <a:noFill/>
          <a:ln>
            <a:noFill/>
          </a:ln>
        </p:spPr>
      </p:pic>
      <p:pic>
        <p:nvPicPr>
          <p:cNvPr descr=" " id="618" name="Google Shape;618;p29"/>
          <p:cNvPicPr preferRelativeResize="0"/>
          <p:nvPr/>
        </p:nvPicPr>
        <p:blipFill rotWithShape="1">
          <a:blip r:embed="rId25">
            <a:alphaModFix/>
          </a:blip>
          <a:srcRect b="0" l="0" r="0" t="0"/>
          <a:stretch/>
        </p:blipFill>
        <p:spPr>
          <a:xfrm>
            <a:off x="351686" y="2031810"/>
            <a:ext cx="157328" cy="157356"/>
          </a:xfrm>
          <a:prstGeom prst="rect">
            <a:avLst/>
          </a:prstGeom>
          <a:noFill/>
          <a:ln>
            <a:noFill/>
          </a:ln>
        </p:spPr>
      </p:pic>
      <p:pic>
        <p:nvPicPr>
          <p:cNvPr descr=" " id="619" name="Google Shape;619;p29"/>
          <p:cNvPicPr preferRelativeResize="0"/>
          <p:nvPr/>
        </p:nvPicPr>
        <p:blipFill rotWithShape="1">
          <a:blip r:embed="rId26">
            <a:alphaModFix/>
          </a:blip>
          <a:srcRect b="0" l="0" r="0" t="0"/>
          <a:stretch/>
        </p:blipFill>
        <p:spPr>
          <a:xfrm>
            <a:off x="338575" y="2444870"/>
            <a:ext cx="157328" cy="157356"/>
          </a:xfrm>
          <a:prstGeom prst="rect">
            <a:avLst/>
          </a:prstGeom>
          <a:noFill/>
          <a:ln>
            <a:noFill/>
          </a:ln>
        </p:spPr>
      </p:pic>
      <p:pic>
        <p:nvPicPr>
          <p:cNvPr descr=" " id="620" name="Google Shape;620;p29"/>
          <p:cNvPicPr preferRelativeResize="0"/>
          <p:nvPr/>
        </p:nvPicPr>
        <p:blipFill rotWithShape="1">
          <a:blip r:embed="rId27">
            <a:alphaModFix/>
          </a:blip>
          <a:srcRect b="0" l="0" r="0" t="0"/>
          <a:stretch/>
        </p:blipFill>
        <p:spPr>
          <a:xfrm>
            <a:off x="348408" y="2746470"/>
            <a:ext cx="157328" cy="157356"/>
          </a:xfrm>
          <a:prstGeom prst="rect">
            <a:avLst/>
          </a:prstGeom>
          <a:noFill/>
          <a:ln>
            <a:noFill/>
          </a:ln>
        </p:spPr>
      </p:pic>
      <p:pic>
        <p:nvPicPr>
          <p:cNvPr descr=" " id="621" name="Google Shape;621;p29"/>
          <p:cNvPicPr preferRelativeResize="0"/>
          <p:nvPr/>
        </p:nvPicPr>
        <p:blipFill rotWithShape="1">
          <a:blip r:embed="rId28">
            <a:alphaModFix/>
          </a:blip>
          <a:srcRect b="0" l="0" r="0" t="0"/>
          <a:stretch/>
        </p:blipFill>
        <p:spPr>
          <a:xfrm>
            <a:off x="348408" y="3474243"/>
            <a:ext cx="157328" cy="157356"/>
          </a:xfrm>
          <a:prstGeom prst="rect">
            <a:avLst/>
          </a:prstGeom>
          <a:noFill/>
          <a:ln>
            <a:noFill/>
          </a:ln>
        </p:spPr>
      </p:pic>
      <p:pic>
        <p:nvPicPr>
          <p:cNvPr descr=" " id="622" name="Google Shape;622;p29"/>
          <p:cNvPicPr preferRelativeResize="0"/>
          <p:nvPr/>
        </p:nvPicPr>
        <p:blipFill rotWithShape="1">
          <a:blip r:embed="rId29">
            <a:alphaModFix/>
          </a:blip>
          <a:srcRect b="0" l="0" r="0" t="0"/>
          <a:stretch/>
        </p:blipFill>
        <p:spPr>
          <a:xfrm>
            <a:off x="341853" y="3067739"/>
            <a:ext cx="157328" cy="157355"/>
          </a:xfrm>
          <a:prstGeom prst="rect">
            <a:avLst/>
          </a:prstGeom>
          <a:noFill/>
          <a:ln>
            <a:noFill/>
          </a:ln>
        </p:spPr>
      </p:pic>
      <p:pic>
        <p:nvPicPr>
          <p:cNvPr descr=" " id="623" name="Google Shape;623;p29"/>
          <p:cNvPicPr preferRelativeResize="0"/>
          <p:nvPr/>
        </p:nvPicPr>
        <p:blipFill rotWithShape="1">
          <a:blip r:embed="rId30">
            <a:alphaModFix/>
          </a:blip>
          <a:srcRect b="0" l="0" r="0" t="0"/>
          <a:stretch/>
        </p:blipFill>
        <p:spPr>
          <a:xfrm>
            <a:off x="371940" y="3081416"/>
            <a:ext cx="34569" cy="34558"/>
          </a:xfrm>
          <a:prstGeom prst="rect">
            <a:avLst/>
          </a:prstGeom>
          <a:noFill/>
          <a:ln>
            <a:noFill/>
          </a:ln>
        </p:spPr>
      </p:pic>
      <p:pic>
        <p:nvPicPr>
          <p:cNvPr descr=" " id="624" name="Google Shape;624;p29"/>
          <p:cNvPicPr preferRelativeResize="0"/>
          <p:nvPr/>
        </p:nvPicPr>
        <p:blipFill rotWithShape="1">
          <a:blip r:embed="rId31">
            <a:alphaModFix/>
          </a:blip>
          <a:srcRect b="0" l="0" r="0" t="0"/>
          <a:stretch/>
        </p:blipFill>
        <p:spPr>
          <a:xfrm>
            <a:off x="396717" y="3149298"/>
            <a:ext cx="47599" cy="40095"/>
          </a:xfrm>
          <a:prstGeom prst="rect">
            <a:avLst/>
          </a:prstGeom>
          <a:noFill/>
          <a:ln>
            <a:noFill/>
          </a:ln>
        </p:spPr>
      </p:pic>
      <p:pic>
        <p:nvPicPr>
          <p:cNvPr descr=" " id="625" name="Google Shape;625;p29"/>
          <p:cNvPicPr preferRelativeResize="0"/>
          <p:nvPr/>
        </p:nvPicPr>
        <p:blipFill rotWithShape="1">
          <a:blip r:embed="rId32">
            <a:alphaModFix/>
          </a:blip>
          <a:srcRect b="0" l="0" r="0" t="0"/>
          <a:stretch/>
        </p:blipFill>
        <p:spPr>
          <a:xfrm>
            <a:off x="405904" y="3129309"/>
            <a:ext cx="29223" cy="24667"/>
          </a:xfrm>
          <a:prstGeom prst="rect">
            <a:avLst/>
          </a:prstGeom>
          <a:noFill/>
          <a:ln>
            <a:noFill/>
          </a:ln>
        </p:spPr>
      </p:pic>
      <p:pic>
        <p:nvPicPr>
          <p:cNvPr descr=" " id="626" name="Google Shape;626;p29"/>
          <p:cNvPicPr preferRelativeResize="0"/>
          <p:nvPr/>
        </p:nvPicPr>
        <p:blipFill rotWithShape="1">
          <a:blip r:embed="rId33">
            <a:alphaModFix/>
          </a:blip>
          <a:srcRect b="0" l="0" r="0" t="0"/>
          <a:stretch/>
        </p:blipFill>
        <p:spPr>
          <a:xfrm>
            <a:off x="417240" y="3161238"/>
            <a:ext cx="6556" cy="16216"/>
          </a:xfrm>
          <a:prstGeom prst="rect">
            <a:avLst/>
          </a:prstGeom>
          <a:noFill/>
          <a:ln>
            <a:noFill/>
          </a:ln>
        </p:spPr>
      </p:pic>
      <p:sp>
        <p:nvSpPr>
          <p:cNvPr id="627" name="Google Shape;627;p29"/>
          <p:cNvSpPr/>
          <p:nvPr/>
        </p:nvSpPr>
        <p:spPr>
          <a:xfrm>
            <a:off x="2170793" y="1018828"/>
            <a:ext cx="1094700" cy="475500"/>
          </a:xfrm>
          <a:prstGeom prst="roundRect">
            <a:avLst>
              <a:gd fmla="val 12149" name="adj"/>
            </a:avLst>
          </a:prstGeom>
          <a:solidFill>
            <a:srgbClr val="4B4BFE"/>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29"/>
          <p:cNvSpPr/>
          <p:nvPr/>
        </p:nvSpPr>
        <p:spPr>
          <a:xfrm>
            <a:off x="2275679" y="1625305"/>
            <a:ext cx="11733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Cloud Asset &amp; Inventory Visibility</a:t>
            </a:r>
            <a:endParaRPr b="0" i="0" sz="774" u="none" cap="none" strike="noStrike">
              <a:solidFill>
                <a:srgbClr val="000000"/>
              </a:solidFill>
              <a:latin typeface="Calibri"/>
              <a:ea typeface="Calibri"/>
              <a:cs typeface="Calibri"/>
              <a:sym typeface="Calibri"/>
            </a:endParaRPr>
          </a:p>
        </p:txBody>
      </p:sp>
      <p:sp>
        <p:nvSpPr>
          <p:cNvPr id="629" name="Google Shape;629;p29"/>
          <p:cNvSpPr/>
          <p:nvPr/>
        </p:nvSpPr>
        <p:spPr>
          <a:xfrm>
            <a:off x="2275679" y="2044922"/>
            <a:ext cx="12423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Drift Detection &amp; Remediation</a:t>
            </a:r>
            <a:endParaRPr b="0" i="0" sz="774" u="none" cap="none" strike="noStrike">
              <a:solidFill>
                <a:srgbClr val="000000"/>
              </a:solidFill>
              <a:latin typeface="Calibri"/>
              <a:ea typeface="Calibri"/>
              <a:cs typeface="Calibri"/>
              <a:sym typeface="Calibri"/>
            </a:endParaRPr>
          </a:p>
        </p:txBody>
      </p:sp>
      <p:sp>
        <p:nvSpPr>
          <p:cNvPr id="630" name="Google Shape;630;p29"/>
          <p:cNvSpPr/>
          <p:nvPr/>
        </p:nvSpPr>
        <p:spPr>
          <a:xfrm>
            <a:off x="2275679" y="2464539"/>
            <a:ext cx="12423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Zero Trust Policy Enforcement</a:t>
            </a:r>
            <a:endParaRPr b="0" i="0" sz="774" u="none" cap="none" strike="noStrike">
              <a:solidFill>
                <a:srgbClr val="000000"/>
              </a:solidFill>
              <a:latin typeface="Calibri"/>
              <a:ea typeface="Calibri"/>
              <a:cs typeface="Calibri"/>
              <a:sym typeface="Calibri"/>
            </a:endParaRPr>
          </a:p>
        </p:txBody>
      </p:sp>
      <p:sp>
        <p:nvSpPr>
          <p:cNvPr id="631" name="Google Shape;631;p29"/>
          <p:cNvSpPr/>
          <p:nvPr/>
        </p:nvSpPr>
        <p:spPr>
          <a:xfrm>
            <a:off x="2275679" y="2884157"/>
            <a:ext cx="12423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Compliance &amp; Audit</a:t>
            </a:r>
            <a:endParaRPr b="0" i="0" sz="774" u="none" cap="none" strike="noStrike">
              <a:solidFill>
                <a:srgbClr val="000000"/>
              </a:solidFill>
              <a:latin typeface="Calibri"/>
              <a:ea typeface="Calibri"/>
              <a:cs typeface="Calibri"/>
              <a:sym typeface="Calibri"/>
            </a:endParaRPr>
          </a:p>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Benchmarks</a:t>
            </a:r>
            <a:endParaRPr b="0" i="0" sz="774" u="none" cap="none" strike="noStrike">
              <a:solidFill>
                <a:srgbClr val="000000"/>
              </a:solidFill>
              <a:latin typeface="Calibri"/>
              <a:ea typeface="Calibri"/>
              <a:cs typeface="Calibri"/>
              <a:sym typeface="Calibri"/>
            </a:endParaRPr>
          </a:p>
        </p:txBody>
      </p:sp>
      <p:sp>
        <p:nvSpPr>
          <p:cNvPr id="632" name="Google Shape;632;p29"/>
          <p:cNvSpPr/>
          <p:nvPr/>
        </p:nvSpPr>
        <p:spPr>
          <a:xfrm>
            <a:off x="2434100" y="1120453"/>
            <a:ext cx="565200" cy="34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290"/>
              <a:buFont typeface="Space Grotesk"/>
              <a:buNone/>
            </a:pPr>
            <a:r>
              <a:rPr b="1" i="0" lang="en" sz="1290" u="none" cap="none" strike="noStrike">
                <a:solidFill>
                  <a:srgbClr val="FFFFFF"/>
                </a:solidFill>
                <a:latin typeface="Space Grotesk"/>
                <a:ea typeface="Space Grotesk"/>
                <a:cs typeface="Space Grotesk"/>
                <a:sym typeface="Space Grotesk"/>
              </a:rPr>
              <a:t>CSPM</a:t>
            </a:r>
            <a:endParaRPr b="0" i="0" sz="129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774"/>
              <a:buFont typeface="Space Grotesk"/>
              <a:buNone/>
            </a:pPr>
            <a:r>
              <a:rPr b="0" i="0" lang="en" sz="774" u="none" cap="none" strike="noStrike">
                <a:solidFill>
                  <a:srgbClr val="FFFFFF"/>
                </a:solidFill>
                <a:latin typeface="Space Grotesk"/>
                <a:ea typeface="Space Grotesk"/>
                <a:cs typeface="Space Grotesk"/>
                <a:sym typeface="Space Grotesk"/>
              </a:rPr>
              <a:t>(CloudSec)</a:t>
            </a:r>
            <a:endParaRPr b="0" i="0" sz="1290" u="none" cap="none" strike="noStrike">
              <a:solidFill>
                <a:srgbClr val="000000"/>
              </a:solidFill>
              <a:latin typeface="Calibri"/>
              <a:ea typeface="Calibri"/>
              <a:cs typeface="Calibri"/>
              <a:sym typeface="Calibri"/>
            </a:endParaRPr>
          </a:p>
        </p:txBody>
      </p:sp>
      <p:pic>
        <p:nvPicPr>
          <p:cNvPr descr=" " id="633" name="Google Shape;633;p29"/>
          <p:cNvPicPr preferRelativeResize="0"/>
          <p:nvPr/>
        </p:nvPicPr>
        <p:blipFill rotWithShape="1">
          <a:blip r:embed="rId34">
            <a:alphaModFix/>
          </a:blip>
          <a:srcRect b="0" l="0" r="0" t="0"/>
          <a:stretch/>
        </p:blipFill>
        <p:spPr>
          <a:xfrm>
            <a:off x="2660738" y="991336"/>
            <a:ext cx="26179" cy="25559"/>
          </a:xfrm>
          <a:prstGeom prst="rect">
            <a:avLst/>
          </a:prstGeom>
          <a:noFill/>
          <a:ln>
            <a:noFill/>
          </a:ln>
        </p:spPr>
      </p:pic>
      <p:grpSp>
        <p:nvGrpSpPr>
          <p:cNvPr id="634" name="Google Shape;634;p29"/>
          <p:cNvGrpSpPr/>
          <p:nvPr/>
        </p:nvGrpSpPr>
        <p:grpSpPr>
          <a:xfrm>
            <a:off x="2104104" y="772273"/>
            <a:ext cx="339997" cy="339997"/>
            <a:chOff x="2275679" y="1034179"/>
            <a:chExt cx="246000" cy="246000"/>
          </a:xfrm>
        </p:grpSpPr>
        <p:sp>
          <p:nvSpPr>
            <p:cNvPr id="635" name="Google Shape;635;p29"/>
            <p:cNvSpPr/>
            <p:nvPr/>
          </p:nvSpPr>
          <p:spPr>
            <a:xfrm>
              <a:off x="2275679"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700" lIns="30700" spcFirstLastPara="1" rIns="30700" wrap="square" tIns="30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36" name="Google Shape;636;p29"/>
            <p:cNvPicPr preferRelativeResize="0"/>
            <p:nvPr/>
          </p:nvPicPr>
          <p:blipFill rotWithShape="1">
            <a:blip r:embed="rId35">
              <a:alphaModFix/>
            </a:blip>
            <a:srcRect b="0" l="0" r="0" t="0"/>
            <a:stretch/>
          </p:blipFill>
          <p:spPr>
            <a:xfrm>
              <a:off x="2331554" y="1103235"/>
              <a:ext cx="134086" cy="107785"/>
            </a:xfrm>
            <a:prstGeom prst="rect">
              <a:avLst/>
            </a:prstGeom>
            <a:noFill/>
            <a:ln>
              <a:noFill/>
            </a:ln>
          </p:spPr>
        </p:pic>
      </p:grpSp>
      <p:grpSp>
        <p:nvGrpSpPr>
          <p:cNvPr id="637" name="Google Shape;637;p29"/>
          <p:cNvGrpSpPr/>
          <p:nvPr/>
        </p:nvGrpSpPr>
        <p:grpSpPr>
          <a:xfrm>
            <a:off x="2406106" y="772273"/>
            <a:ext cx="339997" cy="339997"/>
            <a:chOff x="2494188" y="1034179"/>
            <a:chExt cx="246000" cy="246000"/>
          </a:xfrm>
        </p:grpSpPr>
        <p:sp>
          <p:nvSpPr>
            <p:cNvPr id="638" name="Google Shape;638;p29"/>
            <p:cNvSpPr/>
            <p:nvPr/>
          </p:nvSpPr>
          <p:spPr>
            <a:xfrm>
              <a:off x="2494188"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700" lIns="30700" spcFirstLastPara="1" rIns="30700" wrap="square" tIns="30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39" name="Google Shape;639;p29"/>
            <p:cNvPicPr preferRelativeResize="0"/>
            <p:nvPr/>
          </p:nvPicPr>
          <p:blipFill rotWithShape="1">
            <a:blip r:embed="rId36">
              <a:alphaModFix/>
            </a:blip>
            <a:srcRect b="0" l="0" r="0" t="0"/>
            <a:stretch/>
          </p:blipFill>
          <p:spPr>
            <a:xfrm>
              <a:off x="2547255" y="1115713"/>
              <a:ext cx="139673" cy="82784"/>
            </a:xfrm>
            <a:prstGeom prst="rect">
              <a:avLst/>
            </a:prstGeom>
            <a:noFill/>
            <a:ln>
              <a:noFill/>
            </a:ln>
          </p:spPr>
        </p:pic>
      </p:grpSp>
      <p:grpSp>
        <p:nvGrpSpPr>
          <p:cNvPr id="640" name="Google Shape;640;p29"/>
          <p:cNvGrpSpPr/>
          <p:nvPr/>
        </p:nvGrpSpPr>
        <p:grpSpPr>
          <a:xfrm>
            <a:off x="2708116" y="772273"/>
            <a:ext cx="339997" cy="339997"/>
            <a:chOff x="2712704" y="1034179"/>
            <a:chExt cx="246000" cy="246000"/>
          </a:xfrm>
        </p:grpSpPr>
        <p:sp>
          <p:nvSpPr>
            <p:cNvPr id="641" name="Google Shape;641;p29"/>
            <p:cNvSpPr/>
            <p:nvPr/>
          </p:nvSpPr>
          <p:spPr>
            <a:xfrm>
              <a:off x="2712704"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700" lIns="30700" spcFirstLastPara="1" rIns="30700" wrap="square" tIns="30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42" name="Google Shape;642;p29"/>
            <p:cNvPicPr preferRelativeResize="0"/>
            <p:nvPr/>
          </p:nvPicPr>
          <p:blipFill rotWithShape="1">
            <a:blip r:embed="rId37">
              <a:alphaModFix/>
            </a:blip>
            <a:srcRect b="0" l="0" r="0" t="0"/>
            <a:stretch/>
          </p:blipFill>
          <p:spPr>
            <a:xfrm>
              <a:off x="2774160" y="1072695"/>
              <a:ext cx="138277" cy="138301"/>
            </a:xfrm>
            <a:prstGeom prst="rect">
              <a:avLst/>
            </a:prstGeom>
            <a:noFill/>
            <a:ln>
              <a:noFill/>
            </a:ln>
          </p:spPr>
        </p:pic>
      </p:grpSp>
      <p:grpSp>
        <p:nvGrpSpPr>
          <p:cNvPr id="643" name="Google Shape;643;p29"/>
          <p:cNvGrpSpPr/>
          <p:nvPr/>
        </p:nvGrpSpPr>
        <p:grpSpPr>
          <a:xfrm>
            <a:off x="3005589" y="772273"/>
            <a:ext cx="339997" cy="339997"/>
            <a:chOff x="2927937" y="1034179"/>
            <a:chExt cx="246000" cy="246000"/>
          </a:xfrm>
        </p:grpSpPr>
        <p:sp>
          <p:nvSpPr>
            <p:cNvPr id="644" name="Google Shape;644;p29"/>
            <p:cNvSpPr/>
            <p:nvPr/>
          </p:nvSpPr>
          <p:spPr>
            <a:xfrm>
              <a:off x="2927937"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30700" lIns="30700" spcFirstLastPara="1" rIns="30700" wrap="square" tIns="30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45" name="Google Shape;645;p29"/>
            <p:cNvPicPr preferRelativeResize="0"/>
            <p:nvPr/>
          </p:nvPicPr>
          <p:blipFill rotWithShape="1">
            <a:blip r:embed="rId38">
              <a:alphaModFix/>
            </a:blip>
            <a:srcRect b="0" l="0" r="0" t="0"/>
            <a:stretch/>
          </p:blipFill>
          <p:spPr>
            <a:xfrm>
              <a:off x="2941046" y="1089909"/>
              <a:ext cx="216327" cy="127851"/>
            </a:xfrm>
            <a:prstGeom prst="rect">
              <a:avLst/>
            </a:prstGeom>
            <a:noFill/>
            <a:ln>
              <a:noFill/>
            </a:ln>
          </p:spPr>
        </p:pic>
      </p:grpSp>
      <p:pic>
        <p:nvPicPr>
          <p:cNvPr descr=" " id="646" name="Google Shape;646;p29"/>
          <p:cNvPicPr preferRelativeResize="0"/>
          <p:nvPr/>
        </p:nvPicPr>
        <p:blipFill rotWithShape="1">
          <a:blip r:embed="rId39">
            <a:alphaModFix/>
          </a:blip>
          <a:srcRect b="0" l="0" r="0" t="0"/>
          <a:stretch/>
        </p:blipFill>
        <p:spPr>
          <a:xfrm>
            <a:off x="2170793" y="1346653"/>
            <a:ext cx="13111" cy="1825991"/>
          </a:xfrm>
          <a:prstGeom prst="rect">
            <a:avLst/>
          </a:prstGeom>
          <a:noFill/>
          <a:ln>
            <a:noFill/>
          </a:ln>
        </p:spPr>
      </p:pic>
      <p:pic>
        <p:nvPicPr>
          <p:cNvPr descr=" " id="647" name="Google Shape;647;p29"/>
          <p:cNvPicPr preferRelativeResize="0"/>
          <p:nvPr/>
        </p:nvPicPr>
        <p:blipFill rotWithShape="1">
          <a:blip r:embed="rId40">
            <a:alphaModFix/>
          </a:blip>
          <a:srcRect b="0" l="0" r="0" t="0"/>
          <a:stretch/>
        </p:blipFill>
        <p:spPr>
          <a:xfrm>
            <a:off x="2183904" y="1900679"/>
            <a:ext cx="534261" cy="13113"/>
          </a:xfrm>
          <a:prstGeom prst="rect">
            <a:avLst/>
          </a:prstGeom>
          <a:noFill/>
          <a:ln>
            <a:noFill/>
          </a:ln>
        </p:spPr>
      </p:pic>
      <p:pic>
        <p:nvPicPr>
          <p:cNvPr descr=" " id="648" name="Google Shape;648;p29"/>
          <p:cNvPicPr preferRelativeResize="0"/>
          <p:nvPr/>
        </p:nvPicPr>
        <p:blipFill rotWithShape="1">
          <a:blip r:embed="rId41">
            <a:alphaModFix/>
          </a:blip>
          <a:srcRect b="0" l="0" r="0" t="0"/>
          <a:stretch/>
        </p:blipFill>
        <p:spPr>
          <a:xfrm>
            <a:off x="2183904" y="2320296"/>
            <a:ext cx="534261" cy="13113"/>
          </a:xfrm>
          <a:prstGeom prst="rect">
            <a:avLst/>
          </a:prstGeom>
          <a:noFill/>
          <a:ln>
            <a:noFill/>
          </a:ln>
        </p:spPr>
      </p:pic>
      <p:pic>
        <p:nvPicPr>
          <p:cNvPr descr=" " id="649" name="Google Shape;649;p29"/>
          <p:cNvPicPr preferRelativeResize="0"/>
          <p:nvPr/>
        </p:nvPicPr>
        <p:blipFill rotWithShape="1">
          <a:blip r:embed="rId42">
            <a:alphaModFix/>
          </a:blip>
          <a:srcRect b="0" l="0" r="0" t="0"/>
          <a:stretch/>
        </p:blipFill>
        <p:spPr>
          <a:xfrm>
            <a:off x="2183904" y="2739913"/>
            <a:ext cx="534261" cy="13113"/>
          </a:xfrm>
          <a:prstGeom prst="rect">
            <a:avLst/>
          </a:prstGeom>
          <a:noFill/>
          <a:ln>
            <a:noFill/>
          </a:ln>
        </p:spPr>
      </p:pic>
      <p:pic>
        <p:nvPicPr>
          <p:cNvPr descr=" " id="650" name="Google Shape;650;p29"/>
          <p:cNvPicPr preferRelativeResize="0"/>
          <p:nvPr/>
        </p:nvPicPr>
        <p:blipFill rotWithShape="1">
          <a:blip r:embed="rId43">
            <a:alphaModFix/>
          </a:blip>
          <a:srcRect b="0" l="0" r="0" t="0"/>
          <a:stretch/>
        </p:blipFill>
        <p:spPr>
          <a:xfrm>
            <a:off x="2183904" y="3159530"/>
            <a:ext cx="534261" cy="13113"/>
          </a:xfrm>
          <a:prstGeom prst="rect">
            <a:avLst/>
          </a:prstGeom>
          <a:noFill/>
          <a:ln>
            <a:noFill/>
          </a:ln>
        </p:spPr>
      </p:pic>
      <p:pic>
        <p:nvPicPr>
          <p:cNvPr descr=" " id="651" name="Google Shape;651;p29"/>
          <p:cNvPicPr preferRelativeResize="0"/>
          <p:nvPr/>
        </p:nvPicPr>
        <p:blipFill rotWithShape="1">
          <a:blip r:embed="rId44">
            <a:alphaModFix/>
          </a:blip>
          <a:srcRect b="0" l="0" r="0" t="0"/>
          <a:stretch/>
        </p:blipFill>
        <p:spPr>
          <a:xfrm>
            <a:off x="2098684" y="1625305"/>
            <a:ext cx="157328" cy="157356"/>
          </a:xfrm>
          <a:prstGeom prst="rect">
            <a:avLst/>
          </a:prstGeom>
          <a:noFill/>
          <a:ln>
            <a:noFill/>
          </a:ln>
        </p:spPr>
      </p:pic>
      <p:pic>
        <p:nvPicPr>
          <p:cNvPr descr=" " id="652" name="Google Shape;652;p29"/>
          <p:cNvPicPr preferRelativeResize="0"/>
          <p:nvPr/>
        </p:nvPicPr>
        <p:blipFill rotWithShape="1">
          <a:blip r:embed="rId45">
            <a:alphaModFix/>
          </a:blip>
          <a:srcRect b="0" l="0" r="0" t="0"/>
          <a:stretch/>
        </p:blipFill>
        <p:spPr>
          <a:xfrm>
            <a:off x="2092130" y="2031810"/>
            <a:ext cx="157328" cy="157355"/>
          </a:xfrm>
          <a:prstGeom prst="rect">
            <a:avLst/>
          </a:prstGeom>
          <a:noFill/>
          <a:ln>
            <a:noFill/>
          </a:ln>
        </p:spPr>
      </p:pic>
      <p:pic>
        <p:nvPicPr>
          <p:cNvPr descr=" " id="653" name="Google Shape;653;p29"/>
          <p:cNvPicPr preferRelativeResize="0"/>
          <p:nvPr/>
        </p:nvPicPr>
        <p:blipFill rotWithShape="1">
          <a:blip r:embed="rId46">
            <a:alphaModFix/>
          </a:blip>
          <a:srcRect b="0" l="0" r="0" t="0"/>
          <a:stretch/>
        </p:blipFill>
        <p:spPr>
          <a:xfrm>
            <a:off x="2148505" y="2072460"/>
            <a:ext cx="7866" cy="34094"/>
          </a:xfrm>
          <a:prstGeom prst="rect">
            <a:avLst/>
          </a:prstGeom>
          <a:noFill/>
          <a:ln>
            <a:noFill/>
          </a:ln>
        </p:spPr>
      </p:pic>
      <p:pic>
        <p:nvPicPr>
          <p:cNvPr descr=" " id="654" name="Google Shape;654;p29"/>
          <p:cNvPicPr preferRelativeResize="0"/>
          <p:nvPr/>
        </p:nvPicPr>
        <p:blipFill rotWithShape="1">
          <a:blip r:embed="rId47">
            <a:alphaModFix/>
          </a:blip>
          <a:srcRect b="0" l="0" r="0" t="0"/>
          <a:stretch/>
        </p:blipFill>
        <p:spPr>
          <a:xfrm>
            <a:off x="2109171" y="2048856"/>
            <a:ext cx="77356" cy="86504"/>
          </a:xfrm>
          <a:prstGeom prst="rect">
            <a:avLst/>
          </a:prstGeom>
          <a:noFill/>
          <a:ln>
            <a:noFill/>
          </a:ln>
        </p:spPr>
      </p:pic>
      <p:sp>
        <p:nvSpPr>
          <p:cNvPr id="655" name="Google Shape;655;p29"/>
          <p:cNvSpPr/>
          <p:nvPr/>
        </p:nvSpPr>
        <p:spPr>
          <a:xfrm>
            <a:off x="2147193" y="2110488"/>
            <a:ext cx="10200" cy="10200"/>
          </a:xfrm>
          <a:prstGeom prst="ellipse">
            <a:avLst/>
          </a:prstGeom>
          <a:solidFill>
            <a:srgbClr val="005B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56" name="Google Shape;656;p29"/>
          <p:cNvPicPr preferRelativeResize="0"/>
          <p:nvPr/>
        </p:nvPicPr>
        <p:blipFill rotWithShape="1">
          <a:blip r:embed="rId48">
            <a:alphaModFix/>
          </a:blip>
          <a:srcRect b="0" l="0" r="0" t="0"/>
          <a:stretch/>
        </p:blipFill>
        <p:spPr>
          <a:xfrm>
            <a:off x="2164239" y="2103931"/>
            <a:ext cx="65553" cy="65565"/>
          </a:xfrm>
          <a:prstGeom prst="rect">
            <a:avLst/>
          </a:prstGeom>
          <a:noFill/>
          <a:ln>
            <a:noFill/>
          </a:ln>
        </p:spPr>
      </p:pic>
      <p:pic>
        <p:nvPicPr>
          <p:cNvPr descr=" " id="657" name="Google Shape;657;p29"/>
          <p:cNvPicPr preferRelativeResize="0"/>
          <p:nvPr/>
        </p:nvPicPr>
        <p:blipFill rotWithShape="1">
          <a:blip r:embed="rId49">
            <a:alphaModFix/>
          </a:blip>
          <a:srcRect b="0" l="0" r="0" t="0"/>
          <a:stretch/>
        </p:blipFill>
        <p:spPr>
          <a:xfrm>
            <a:off x="2177349" y="2122289"/>
            <a:ext cx="31466" cy="23603"/>
          </a:xfrm>
          <a:prstGeom prst="rect">
            <a:avLst/>
          </a:prstGeom>
          <a:noFill/>
          <a:ln>
            <a:noFill/>
          </a:ln>
        </p:spPr>
      </p:pic>
      <p:pic>
        <p:nvPicPr>
          <p:cNvPr descr=" " id="658" name="Google Shape;658;p29"/>
          <p:cNvPicPr preferRelativeResize="0"/>
          <p:nvPr/>
        </p:nvPicPr>
        <p:blipFill rotWithShape="1">
          <a:blip r:embed="rId50">
            <a:alphaModFix/>
          </a:blip>
          <a:srcRect b="0" l="0" r="0" t="0"/>
          <a:stretch/>
        </p:blipFill>
        <p:spPr>
          <a:xfrm>
            <a:off x="2098684" y="2464539"/>
            <a:ext cx="157328" cy="157356"/>
          </a:xfrm>
          <a:prstGeom prst="rect">
            <a:avLst/>
          </a:prstGeom>
          <a:noFill/>
          <a:ln>
            <a:noFill/>
          </a:ln>
        </p:spPr>
      </p:pic>
      <p:pic>
        <p:nvPicPr>
          <p:cNvPr descr=" " id="659" name="Google Shape;659;p29"/>
          <p:cNvPicPr preferRelativeResize="0"/>
          <p:nvPr/>
        </p:nvPicPr>
        <p:blipFill rotWithShape="1">
          <a:blip r:embed="rId51">
            <a:alphaModFix/>
          </a:blip>
          <a:srcRect b="0" l="0" r="0" t="0"/>
          <a:stretch/>
        </p:blipFill>
        <p:spPr>
          <a:xfrm>
            <a:off x="2098684" y="2884157"/>
            <a:ext cx="157328" cy="157356"/>
          </a:xfrm>
          <a:prstGeom prst="rect">
            <a:avLst/>
          </a:prstGeom>
          <a:noFill/>
          <a:ln>
            <a:noFill/>
          </a:ln>
        </p:spPr>
      </p:pic>
      <p:sp>
        <p:nvSpPr>
          <p:cNvPr id="660" name="Google Shape;660;p29"/>
          <p:cNvSpPr/>
          <p:nvPr/>
        </p:nvSpPr>
        <p:spPr>
          <a:xfrm>
            <a:off x="3744077" y="1018828"/>
            <a:ext cx="1091400" cy="475500"/>
          </a:xfrm>
          <a:prstGeom prst="roundRect">
            <a:avLst>
              <a:gd fmla="val 12149" name="adj"/>
            </a:avLst>
          </a:prstGeom>
          <a:solidFill>
            <a:srgbClr val="3333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29"/>
          <p:cNvSpPr/>
          <p:nvPr/>
        </p:nvSpPr>
        <p:spPr>
          <a:xfrm>
            <a:off x="3848962" y="1625305"/>
            <a:ext cx="14058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Least Permissive Posture Assessment</a:t>
            </a:r>
            <a:endParaRPr b="0" i="0" sz="774" u="none" cap="none" strike="noStrike">
              <a:solidFill>
                <a:srgbClr val="000000"/>
              </a:solidFill>
              <a:latin typeface="Calibri"/>
              <a:ea typeface="Calibri"/>
              <a:cs typeface="Calibri"/>
              <a:sym typeface="Calibri"/>
            </a:endParaRPr>
          </a:p>
        </p:txBody>
      </p:sp>
      <p:sp>
        <p:nvSpPr>
          <p:cNvPr id="662" name="Google Shape;662;p29"/>
          <p:cNvSpPr/>
          <p:nvPr/>
        </p:nvSpPr>
        <p:spPr>
          <a:xfrm>
            <a:off x="3848962" y="2064592"/>
            <a:ext cx="14058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Securing Secrets Manager</a:t>
            </a:r>
            <a:endParaRPr b="0" i="0" sz="774" u="none" cap="none" strike="noStrike">
              <a:solidFill>
                <a:srgbClr val="000000"/>
              </a:solidFill>
              <a:latin typeface="Calibri"/>
              <a:ea typeface="Calibri"/>
              <a:cs typeface="Calibri"/>
              <a:sym typeface="Calibri"/>
            </a:endParaRPr>
          </a:p>
        </p:txBody>
      </p:sp>
      <p:sp>
        <p:nvSpPr>
          <p:cNvPr id="663" name="Google Shape;663;p29"/>
          <p:cNvSpPr/>
          <p:nvPr/>
        </p:nvSpPr>
        <p:spPr>
          <a:xfrm>
            <a:off x="3848962" y="2372748"/>
            <a:ext cx="14058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Container &amp; VM Enforcement</a:t>
            </a:r>
            <a:endParaRPr b="0" i="0" sz="774" u="none" cap="none" strike="noStrike">
              <a:solidFill>
                <a:srgbClr val="000000"/>
              </a:solidFill>
              <a:latin typeface="Calibri"/>
              <a:ea typeface="Calibri"/>
              <a:cs typeface="Calibri"/>
              <a:sym typeface="Calibri"/>
            </a:endParaRPr>
          </a:p>
        </p:txBody>
      </p:sp>
      <p:sp>
        <p:nvSpPr>
          <p:cNvPr id="664" name="Google Shape;664;p29"/>
          <p:cNvSpPr/>
          <p:nvPr/>
        </p:nvSpPr>
        <p:spPr>
          <a:xfrm>
            <a:off x="3848962" y="2694018"/>
            <a:ext cx="14058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Runtime Threat Detection</a:t>
            </a:r>
            <a:endParaRPr b="0" i="0" sz="774" u="none" cap="none" strike="noStrike">
              <a:solidFill>
                <a:srgbClr val="000000"/>
              </a:solidFill>
              <a:latin typeface="Calibri"/>
              <a:ea typeface="Calibri"/>
              <a:cs typeface="Calibri"/>
              <a:sym typeface="Calibri"/>
            </a:endParaRPr>
          </a:p>
        </p:txBody>
      </p:sp>
      <p:sp>
        <p:nvSpPr>
          <p:cNvPr id="665" name="Google Shape;665;p29"/>
          <p:cNvSpPr/>
          <p:nvPr/>
        </p:nvSpPr>
        <p:spPr>
          <a:xfrm>
            <a:off x="3922164" y="1120453"/>
            <a:ext cx="734700" cy="34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290"/>
              <a:buFont typeface="Space Grotesk"/>
              <a:buNone/>
            </a:pPr>
            <a:r>
              <a:rPr b="1" i="0" lang="en" sz="1290" u="none" cap="none" strike="noStrike">
                <a:solidFill>
                  <a:srgbClr val="FFFFFF"/>
                </a:solidFill>
                <a:latin typeface="Space Grotesk"/>
                <a:ea typeface="Space Grotesk"/>
                <a:cs typeface="Space Grotesk"/>
                <a:sym typeface="Space Grotesk"/>
              </a:rPr>
              <a:t>CWPP</a:t>
            </a:r>
            <a:endParaRPr b="0" i="0" sz="129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774"/>
              <a:buFont typeface="Space Grotesk"/>
              <a:buNone/>
            </a:pPr>
            <a:r>
              <a:rPr b="0" i="0" lang="en" sz="774" u="none" cap="none" strike="noStrike">
                <a:solidFill>
                  <a:srgbClr val="FFFFFF"/>
                </a:solidFill>
                <a:latin typeface="Space Grotesk"/>
                <a:ea typeface="Space Grotesk"/>
                <a:cs typeface="Space Grotesk"/>
                <a:sym typeface="Space Grotesk"/>
              </a:rPr>
              <a:t>(Workload Sec)</a:t>
            </a:r>
            <a:endParaRPr b="0" i="0" sz="1290" u="none" cap="none" strike="noStrike">
              <a:solidFill>
                <a:srgbClr val="000000"/>
              </a:solidFill>
              <a:latin typeface="Calibri"/>
              <a:ea typeface="Calibri"/>
              <a:cs typeface="Calibri"/>
              <a:sym typeface="Calibri"/>
            </a:endParaRPr>
          </a:p>
        </p:txBody>
      </p:sp>
      <p:pic>
        <p:nvPicPr>
          <p:cNvPr descr=" " id="666" name="Google Shape;666;p29"/>
          <p:cNvPicPr preferRelativeResize="0"/>
          <p:nvPr/>
        </p:nvPicPr>
        <p:blipFill rotWithShape="1">
          <a:blip r:embed="rId52">
            <a:alphaModFix/>
          </a:blip>
          <a:srcRect b="0" l="0" r="0" t="0"/>
          <a:stretch/>
        </p:blipFill>
        <p:spPr>
          <a:xfrm>
            <a:off x="3744077" y="1346653"/>
            <a:ext cx="13111" cy="1517834"/>
          </a:xfrm>
          <a:prstGeom prst="rect">
            <a:avLst/>
          </a:prstGeom>
          <a:noFill/>
          <a:ln>
            <a:noFill/>
          </a:ln>
        </p:spPr>
      </p:pic>
      <p:pic>
        <p:nvPicPr>
          <p:cNvPr descr=" " id="667" name="Google Shape;667;p29"/>
          <p:cNvPicPr preferRelativeResize="0"/>
          <p:nvPr/>
        </p:nvPicPr>
        <p:blipFill rotWithShape="1">
          <a:blip r:embed="rId53">
            <a:alphaModFix/>
          </a:blip>
          <a:srcRect b="0" l="0" r="0" t="0"/>
          <a:stretch/>
        </p:blipFill>
        <p:spPr>
          <a:xfrm>
            <a:off x="3757188" y="1900679"/>
            <a:ext cx="534261" cy="13113"/>
          </a:xfrm>
          <a:prstGeom prst="rect">
            <a:avLst/>
          </a:prstGeom>
          <a:noFill/>
          <a:ln>
            <a:noFill/>
          </a:ln>
        </p:spPr>
      </p:pic>
      <p:pic>
        <p:nvPicPr>
          <p:cNvPr descr=" " id="668" name="Google Shape;668;p29"/>
          <p:cNvPicPr preferRelativeResize="0"/>
          <p:nvPr/>
        </p:nvPicPr>
        <p:blipFill rotWithShape="1">
          <a:blip r:embed="rId54">
            <a:alphaModFix/>
          </a:blip>
          <a:srcRect b="0" l="0" r="0" t="0"/>
          <a:stretch/>
        </p:blipFill>
        <p:spPr>
          <a:xfrm>
            <a:off x="3757188" y="2221948"/>
            <a:ext cx="534261" cy="13113"/>
          </a:xfrm>
          <a:prstGeom prst="rect">
            <a:avLst/>
          </a:prstGeom>
          <a:noFill/>
          <a:ln>
            <a:noFill/>
          </a:ln>
        </p:spPr>
      </p:pic>
      <p:pic>
        <p:nvPicPr>
          <p:cNvPr descr=" " id="669" name="Google Shape;669;p29"/>
          <p:cNvPicPr preferRelativeResize="0"/>
          <p:nvPr/>
        </p:nvPicPr>
        <p:blipFill rotWithShape="1">
          <a:blip r:embed="rId55">
            <a:alphaModFix/>
          </a:blip>
          <a:srcRect b="0" l="0" r="0" t="0"/>
          <a:stretch/>
        </p:blipFill>
        <p:spPr>
          <a:xfrm>
            <a:off x="3757188" y="2530105"/>
            <a:ext cx="534261" cy="13113"/>
          </a:xfrm>
          <a:prstGeom prst="rect">
            <a:avLst/>
          </a:prstGeom>
          <a:noFill/>
          <a:ln>
            <a:noFill/>
          </a:ln>
        </p:spPr>
      </p:pic>
      <p:pic>
        <p:nvPicPr>
          <p:cNvPr descr=" " id="670" name="Google Shape;670;p29"/>
          <p:cNvPicPr preferRelativeResize="0"/>
          <p:nvPr/>
        </p:nvPicPr>
        <p:blipFill rotWithShape="1">
          <a:blip r:embed="rId56">
            <a:alphaModFix/>
          </a:blip>
          <a:srcRect b="0" l="0" r="0" t="0"/>
          <a:stretch/>
        </p:blipFill>
        <p:spPr>
          <a:xfrm>
            <a:off x="3757188" y="2851374"/>
            <a:ext cx="534261" cy="13113"/>
          </a:xfrm>
          <a:prstGeom prst="rect">
            <a:avLst/>
          </a:prstGeom>
          <a:noFill/>
          <a:ln>
            <a:noFill/>
          </a:ln>
        </p:spPr>
      </p:pic>
      <p:pic>
        <p:nvPicPr>
          <p:cNvPr descr=" " id="671" name="Google Shape;671;p29"/>
          <p:cNvPicPr preferRelativeResize="0"/>
          <p:nvPr/>
        </p:nvPicPr>
        <p:blipFill rotWithShape="1">
          <a:blip r:embed="rId57">
            <a:alphaModFix/>
          </a:blip>
          <a:srcRect b="0" l="0" r="0" t="0"/>
          <a:stretch/>
        </p:blipFill>
        <p:spPr>
          <a:xfrm>
            <a:off x="3702752" y="779903"/>
            <a:ext cx="324670" cy="324725"/>
          </a:xfrm>
          <a:prstGeom prst="rect">
            <a:avLst/>
          </a:prstGeom>
          <a:noFill/>
          <a:ln>
            <a:noFill/>
          </a:ln>
        </p:spPr>
      </p:pic>
      <p:pic>
        <p:nvPicPr>
          <p:cNvPr descr=" " id="672" name="Google Shape;672;p29"/>
          <p:cNvPicPr preferRelativeResize="0"/>
          <p:nvPr/>
        </p:nvPicPr>
        <p:blipFill rotWithShape="1">
          <a:blip r:embed="rId58">
            <a:alphaModFix/>
          </a:blip>
          <a:srcRect b="0" l="0" r="0" t="0"/>
          <a:stretch/>
        </p:blipFill>
        <p:spPr>
          <a:xfrm>
            <a:off x="3986856" y="779903"/>
            <a:ext cx="324670" cy="324725"/>
          </a:xfrm>
          <a:prstGeom prst="rect">
            <a:avLst/>
          </a:prstGeom>
          <a:noFill/>
          <a:ln>
            <a:noFill/>
          </a:ln>
        </p:spPr>
      </p:pic>
      <p:pic>
        <p:nvPicPr>
          <p:cNvPr descr=" " id="673" name="Google Shape;673;p29"/>
          <p:cNvPicPr preferRelativeResize="0"/>
          <p:nvPr/>
        </p:nvPicPr>
        <p:blipFill rotWithShape="1">
          <a:blip r:embed="rId59">
            <a:alphaModFix/>
          </a:blip>
          <a:srcRect b="0" l="0" r="0" t="0"/>
          <a:stretch/>
        </p:blipFill>
        <p:spPr>
          <a:xfrm>
            <a:off x="4270958" y="779903"/>
            <a:ext cx="324670" cy="324725"/>
          </a:xfrm>
          <a:prstGeom prst="rect">
            <a:avLst/>
          </a:prstGeom>
          <a:noFill/>
          <a:ln>
            <a:noFill/>
          </a:ln>
        </p:spPr>
      </p:pic>
      <p:pic>
        <p:nvPicPr>
          <p:cNvPr descr=" " id="674" name="Google Shape;674;p29"/>
          <p:cNvPicPr preferRelativeResize="0"/>
          <p:nvPr/>
        </p:nvPicPr>
        <p:blipFill rotWithShape="1">
          <a:blip r:embed="rId60">
            <a:alphaModFix/>
          </a:blip>
          <a:srcRect b="0" l="0" r="0" t="0"/>
          <a:stretch/>
        </p:blipFill>
        <p:spPr>
          <a:xfrm>
            <a:off x="4555062" y="779903"/>
            <a:ext cx="324670" cy="324725"/>
          </a:xfrm>
          <a:prstGeom prst="rect">
            <a:avLst/>
          </a:prstGeom>
          <a:noFill/>
          <a:ln>
            <a:noFill/>
          </a:ln>
        </p:spPr>
      </p:pic>
      <p:pic>
        <p:nvPicPr>
          <p:cNvPr descr=" " id="675" name="Google Shape;675;p29"/>
          <p:cNvPicPr preferRelativeResize="0"/>
          <p:nvPr/>
        </p:nvPicPr>
        <p:blipFill rotWithShape="1">
          <a:blip r:embed="rId61">
            <a:alphaModFix/>
          </a:blip>
          <a:srcRect b="0" l="0" r="0" t="0"/>
          <a:stretch/>
        </p:blipFill>
        <p:spPr>
          <a:xfrm>
            <a:off x="3678523" y="1625305"/>
            <a:ext cx="157328" cy="157356"/>
          </a:xfrm>
          <a:prstGeom prst="rect">
            <a:avLst/>
          </a:prstGeom>
          <a:noFill/>
          <a:ln>
            <a:noFill/>
          </a:ln>
        </p:spPr>
      </p:pic>
      <p:pic>
        <p:nvPicPr>
          <p:cNvPr descr=" " id="676" name="Google Shape;676;p29"/>
          <p:cNvPicPr preferRelativeResize="0"/>
          <p:nvPr/>
        </p:nvPicPr>
        <p:blipFill rotWithShape="1">
          <a:blip r:embed="rId62">
            <a:alphaModFix/>
          </a:blip>
          <a:srcRect b="0" l="0" r="0" t="0"/>
          <a:stretch/>
        </p:blipFill>
        <p:spPr>
          <a:xfrm>
            <a:off x="3662136" y="2044922"/>
            <a:ext cx="157328" cy="157355"/>
          </a:xfrm>
          <a:prstGeom prst="rect">
            <a:avLst/>
          </a:prstGeom>
          <a:noFill/>
          <a:ln>
            <a:noFill/>
          </a:ln>
        </p:spPr>
      </p:pic>
      <p:pic>
        <p:nvPicPr>
          <p:cNvPr descr=" " id="677" name="Google Shape;677;p29"/>
          <p:cNvPicPr preferRelativeResize="0"/>
          <p:nvPr/>
        </p:nvPicPr>
        <p:blipFill rotWithShape="1">
          <a:blip r:embed="rId63">
            <a:alphaModFix/>
          </a:blip>
          <a:srcRect b="0" l="0" r="0" t="0"/>
          <a:stretch/>
        </p:blipFill>
        <p:spPr>
          <a:xfrm>
            <a:off x="3676884" y="2072787"/>
            <a:ext cx="127829" cy="101626"/>
          </a:xfrm>
          <a:prstGeom prst="rect">
            <a:avLst/>
          </a:prstGeom>
          <a:noFill/>
          <a:ln>
            <a:noFill/>
          </a:ln>
        </p:spPr>
      </p:pic>
      <p:pic>
        <p:nvPicPr>
          <p:cNvPr descr=" " id="678" name="Google Shape;678;p29"/>
          <p:cNvPicPr preferRelativeResize="0"/>
          <p:nvPr/>
        </p:nvPicPr>
        <p:blipFill rotWithShape="1">
          <a:blip r:embed="rId64">
            <a:alphaModFix/>
          </a:blip>
          <a:srcRect b="0" l="0" r="0" t="0"/>
          <a:stretch/>
        </p:blipFill>
        <p:spPr>
          <a:xfrm>
            <a:off x="3714576" y="2098686"/>
            <a:ext cx="52445" cy="60320"/>
          </a:xfrm>
          <a:prstGeom prst="rect">
            <a:avLst/>
          </a:prstGeom>
          <a:noFill/>
          <a:ln>
            <a:noFill/>
          </a:ln>
        </p:spPr>
      </p:pic>
      <p:pic>
        <p:nvPicPr>
          <p:cNvPr descr=" " id="679" name="Google Shape;679;p29"/>
          <p:cNvPicPr preferRelativeResize="0"/>
          <p:nvPr/>
        </p:nvPicPr>
        <p:blipFill rotWithShape="1">
          <a:blip r:embed="rId65">
            <a:alphaModFix/>
          </a:blip>
          <a:srcRect b="0" l="0" r="0" t="0"/>
          <a:stretch/>
        </p:blipFill>
        <p:spPr>
          <a:xfrm>
            <a:off x="3727689" y="2118355"/>
            <a:ext cx="26221" cy="18358"/>
          </a:xfrm>
          <a:prstGeom prst="rect">
            <a:avLst/>
          </a:prstGeom>
          <a:noFill/>
          <a:ln>
            <a:noFill/>
          </a:ln>
        </p:spPr>
      </p:pic>
      <p:pic>
        <p:nvPicPr>
          <p:cNvPr descr=" " id="680" name="Google Shape;680;p29"/>
          <p:cNvPicPr preferRelativeResize="0"/>
          <p:nvPr/>
        </p:nvPicPr>
        <p:blipFill rotWithShape="1">
          <a:blip r:embed="rId66">
            <a:alphaModFix/>
          </a:blip>
          <a:srcRect b="0" l="0" r="0" t="0"/>
          <a:stretch/>
        </p:blipFill>
        <p:spPr>
          <a:xfrm>
            <a:off x="3668690" y="2366192"/>
            <a:ext cx="157328" cy="157356"/>
          </a:xfrm>
          <a:prstGeom prst="rect">
            <a:avLst/>
          </a:prstGeom>
          <a:noFill/>
          <a:ln>
            <a:noFill/>
          </a:ln>
        </p:spPr>
      </p:pic>
      <p:pic>
        <p:nvPicPr>
          <p:cNvPr descr=" " id="681" name="Google Shape;681;p29"/>
          <p:cNvPicPr preferRelativeResize="0"/>
          <p:nvPr/>
        </p:nvPicPr>
        <p:blipFill rotWithShape="1">
          <a:blip r:embed="rId67">
            <a:alphaModFix/>
          </a:blip>
          <a:srcRect b="0" l="0" r="0" t="0"/>
          <a:stretch/>
        </p:blipFill>
        <p:spPr>
          <a:xfrm>
            <a:off x="3665412" y="2674348"/>
            <a:ext cx="157328" cy="157356"/>
          </a:xfrm>
          <a:prstGeom prst="rect">
            <a:avLst/>
          </a:prstGeom>
          <a:noFill/>
          <a:ln>
            <a:noFill/>
          </a:ln>
        </p:spPr>
      </p:pic>
      <p:sp>
        <p:nvSpPr>
          <p:cNvPr id="682" name="Google Shape;682;p29"/>
          <p:cNvSpPr/>
          <p:nvPr/>
        </p:nvSpPr>
        <p:spPr>
          <a:xfrm>
            <a:off x="5471409" y="1018828"/>
            <a:ext cx="1094700" cy="475500"/>
          </a:xfrm>
          <a:prstGeom prst="roundRect">
            <a:avLst>
              <a:gd fmla="val 12149" name="adj"/>
            </a:avLst>
          </a:prstGeom>
          <a:solidFill>
            <a:srgbClr val="0A0AD9"/>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29"/>
          <p:cNvSpPr/>
          <p:nvPr/>
        </p:nvSpPr>
        <p:spPr>
          <a:xfrm>
            <a:off x="5576295" y="1625305"/>
            <a:ext cx="13698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Cluster Misconfiguration Detection</a:t>
            </a:r>
            <a:endParaRPr b="0" i="0" sz="774" u="none" cap="none" strike="noStrike">
              <a:solidFill>
                <a:srgbClr val="000000"/>
              </a:solidFill>
              <a:latin typeface="Calibri"/>
              <a:ea typeface="Calibri"/>
              <a:cs typeface="Calibri"/>
              <a:sym typeface="Calibri"/>
            </a:endParaRPr>
          </a:p>
        </p:txBody>
      </p:sp>
      <p:sp>
        <p:nvSpPr>
          <p:cNvPr id="684" name="Google Shape;684;p29"/>
          <p:cNvSpPr/>
          <p:nvPr/>
        </p:nvSpPr>
        <p:spPr>
          <a:xfrm>
            <a:off x="5576295" y="2064592"/>
            <a:ext cx="13698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CIS K8s Benchmark Findings</a:t>
            </a:r>
            <a:endParaRPr b="0" i="0" sz="774" u="none" cap="none" strike="noStrike">
              <a:solidFill>
                <a:srgbClr val="000000"/>
              </a:solidFill>
              <a:latin typeface="Calibri"/>
              <a:ea typeface="Calibri"/>
              <a:cs typeface="Calibri"/>
              <a:sym typeface="Calibri"/>
            </a:endParaRPr>
          </a:p>
        </p:txBody>
      </p:sp>
      <p:sp>
        <p:nvSpPr>
          <p:cNvPr id="685" name="Google Shape;685;p29"/>
          <p:cNvSpPr/>
          <p:nvPr/>
        </p:nvSpPr>
        <p:spPr>
          <a:xfrm>
            <a:off x="5576295" y="2366192"/>
            <a:ext cx="13698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K8s Identity &amp; Entitlement Management (KIEM)</a:t>
            </a:r>
            <a:endParaRPr b="0" i="0" sz="774" u="none" cap="none" strike="noStrike">
              <a:solidFill>
                <a:srgbClr val="000000"/>
              </a:solidFill>
              <a:latin typeface="Calibri"/>
              <a:ea typeface="Calibri"/>
              <a:cs typeface="Calibri"/>
              <a:sym typeface="Calibri"/>
            </a:endParaRPr>
          </a:p>
        </p:txBody>
      </p:sp>
      <p:sp>
        <p:nvSpPr>
          <p:cNvPr id="686" name="Google Shape;686;p29"/>
          <p:cNvSpPr/>
          <p:nvPr/>
        </p:nvSpPr>
        <p:spPr>
          <a:xfrm>
            <a:off x="5586128" y="2785809"/>
            <a:ext cx="1369800" cy="2673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Pod &amp; Network Security Monitoring</a:t>
            </a:r>
            <a:endParaRPr b="0" i="0" sz="774" u="none" cap="none" strike="noStrike">
              <a:solidFill>
                <a:srgbClr val="000000"/>
              </a:solidFill>
              <a:latin typeface="Calibri"/>
              <a:ea typeface="Calibri"/>
              <a:cs typeface="Calibri"/>
              <a:sym typeface="Calibri"/>
            </a:endParaRPr>
          </a:p>
        </p:txBody>
      </p:sp>
      <p:sp>
        <p:nvSpPr>
          <p:cNvPr id="687" name="Google Shape;687;p29"/>
          <p:cNvSpPr/>
          <p:nvPr/>
        </p:nvSpPr>
        <p:spPr>
          <a:xfrm>
            <a:off x="5593776" y="1127010"/>
            <a:ext cx="842700" cy="32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290"/>
              <a:buFont typeface="Space Grotesk"/>
              <a:buNone/>
            </a:pPr>
            <a:r>
              <a:rPr b="1" i="0" lang="en" sz="1290" u="none" cap="none" strike="noStrike">
                <a:solidFill>
                  <a:srgbClr val="FFFFFF"/>
                </a:solidFill>
                <a:latin typeface="Space Grotesk"/>
                <a:ea typeface="Space Grotesk"/>
                <a:cs typeface="Space Grotesk"/>
                <a:sym typeface="Space Grotesk"/>
              </a:rPr>
              <a:t>KSPM</a:t>
            </a:r>
            <a:endParaRPr b="0" i="0" sz="129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774"/>
              <a:buFont typeface="Space Grotesk"/>
              <a:buNone/>
            </a:pPr>
            <a:r>
              <a:rPr b="0" i="0" lang="en" sz="774" u="none" cap="none" strike="noStrike">
                <a:solidFill>
                  <a:srgbClr val="FFFFFF"/>
                </a:solidFill>
                <a:latin typeface="Space Grotesk"/>
                <a:ea typeface="Space Grotesk"/>
                <a:cs typeface="Space Grotesk"/>
                <a:sym typeface="Space Grotesk"/>
              </a:rPr>
              <a:t>(Kubernetes Sec)</a:t>
            </a:r>
            <a:endParaRPr b="0" i="0" sz="1290" u="none" cap="none" strike="noStrike">
              <a:solidFill>
                <a:srgbClr val="000000"/>
              </a:solidFill>
              <a:latin typeface="Calibri"/>
              <a:ea typeface="Calibri"/>
              <a:cs typeface="Calibri"/>
              <a:sym typeface="Calibri"/>
            </a:endParaRPr>
          </a:p>
        </p:txBody>
      </p:sp>
      <p:grpSp>
        <p:nvGrpSpPr>
          <p:cNvPr id="688" name="Google Shape;688;p29"/>
          <p:cNvGrpSpPr/>
          <p:nvPr/>
        </p:nvGrpSpPr>
        <p:grpSpPr>
          <a:xfrm>
            <a:off x="5442266" y="792384"/>
            <a:ext cx="314142" cy="314117"/>
            <a:chOff x="5566463" y="1034179"/>
            <a:chExt cx="246000" cy="246000"/>
          </a:xfrm>
        </p:grpSpPr>
        <p:sp>
          <p:nvSpPr>
            <p:cNvPr id="689" name="Google Shape;689;p29"/>
            <p:cNvSpPr/>
            <p:nvPr/>
          </p:nvSpPr>
          <p:spPr>
            <a:xfrm>
              <a:off x="5566463"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8350" lIns="28350" spcFirstLastPara="1" rIns="28350" wrap="square" tIns="28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90" name="Google Shape;690;p29"/>
            <p:cNvPicPr preferRelativeResize="0"/>
            <p:nvPr/>
          </p:nvPicPr>
          <p:blipFill rotWithShape="1">
            <a:blip r:embed="rId68">
              <a:alphaModFix/>
            </a:blip>
            <a:srcRect b="0" l="0" r="0" t="0"/>
            <a:stretch/>
          </p:blipFill>
          <p:spPr>
            <a:xfrm>
              <a:off x="5609071" y="1073518"/>
              <a:ext cx="163883" cy="163912"/>
            </a:xfrm>
            <a:prstGeom prst="rect">
              <a:avLst/>
            </a:prstGeom>
            <a:noFill/>
            <a:ln>
              <a:noFill/>
            </a:ln>
          </p:spPr>
        </p:pic>
      </p:grpSp>
      <p:grpSp>
        <p:nvGrpSpPr>
          <p:cNvPr id="691" name="Google Shape;691;p29"/>
          <p:cNvGrpSpPr/>
          <p:nvPr/>
        </p:nvGrpSpPr>
        <p:grpSpPr>
          <a:xfrm>
            <a:off x="5721301" y="792384"/>
            <a:ext cx="314142" cy="314117"/>
            <a:chOff x="5784971" y="1034179"/>
            <a:chExt cx="246000" cy="246000"/>
          </a:xfrm>
        </p:grpSpPr>
        <p:sp>
          <p:nvSpPr>
            <p:cNvPr id="692" name="Google Shape;692;p29"/>
            <p:cNvSpPr/>
            <p:nvPr/>
          </p:nvSpPr>
          <p:spPr>
            <a:xfrm>
              <a:off x="5784971"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8350" lIns="28350" spcFirstLastPara="1" rIns="28350" wrap="square" tIns="28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93" name="Google Shape;693;p29"/>
            <p:cNvPicPr preferRelativeResize="0"/>
            <p:nvPr/>
          </p:nvPicPr>
          <p:blipFill rotWithShape="1">
            <a:blip r:embed="rId69">
              <a:alphaModFix/>
            </a:blip>
            <a:srcRect b="0" l="0" r="0" t="0"/>
            <a:stretch/>
          </p:blipFill>
          <p:spPr>
            <a:xfrm>
              <a:off x="5815565" y="1086631"/>
              <a:ext cx="180272" cy="144243"/>
            </a:xfrm>
            <a:prstGeom prst="rect">
              <a:avLst/>
            </a:prstGeom>
            <a:noFill/>
            <a:ln>
              <a:noFill/>
            </a:ln>
          </p:spPr>
        </p:pic>
      </p:grpSp>
      <p:grpSp>
        <p:nvGrpSpPr>
          <p:cNvPr id="694" name="Google Shape;694;p29"/>
          <p:cNvGrpSpPr/>
          <p:nvPr/>
        </p:nvGrpSpPr>
        <p:grpSpPr>
          <a:xfrm>
            <a:off x="6000346" y="792384"/>
            <a:ext cx="314142" cy="314117"/>
            <a:chOff x="6003487" y="1034179"/>
            <a:chExt cx="246000" cy="246000"/>
          </a:xfrm>
        </p:grpSpPr>
        <p:sp>
          <p:nvSpPr>
            <p:cNvPr id="695" name="Google Shape;695;p29"/>
            <p:cNvSpPr/>
            <p:nvPr/>
          </p:nvSpPr>
          <p:spPr>
            <a:xfrm>
              <a:off x="6003487"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8350" lIns="28350" spcFirstLastPara="1" rIns="28350" wrap="square" tIns="28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96" name="Google Shape;696;p29"/>
            <p:cNvPicPr preferRelativeResize="0"/>
            <p:nvPr/>
          </p:nvPicPr>
          <p:blipFill rotWithShape="1">
            <a:blip r:embed="rId70">
              <a:alphaModFix/>
            </a:blip>
            <a:srcRect b="0" l="0" r="0" t="0"/>
            <a:stretch/>
          </p:blipFill>
          <p:spPr>
            <a:xfrm>
              <a:off x="6045002" y="1086631"/>
              <a:ext cx="163883" cy="144243"/>
            </a:xfrm>
            <a:prstGeom prst="rect">
              <a:avLst/>
            </a:prstGeom>
            <a:noFill/>
            <a:ln>
              <a:noFill/>
            </a:ln>
          </p:spPr>
        </p:pic>
      </p:grpSp>
      <p:grpSp>
        <p:nvGrpSpPr>
          <p:cNvPr id="697" name="Google Shape;697;p29"/>
          <p:cNvGrpSpPr/>
          <p:nvPr/>
        </p:nvGrpSpPr>
        <p:grpSpPr>
          <a:xfrm>
            <a:off x="6275197" y="792384"/>
            <a:ext cx="314142" cy="314117"/>
            <a:chOff x="6218719" y="1034179"/>
            <a:chExt cx="246000" cy="246000"/>
          </a:xfrm>
        </p:grpSpPr>
        <p:sp>
          <p:nvSpPr>
            <p:cNvPr id="698" name="Google Shape;698;p29"/>
            <p:cNvSpPr/>
            <p:nvPr/>
          </p:nvSpPr>
          <p:spPr>
            <a:xfrm>
              <a:off x="6218719"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8350" lIns="28350" spcFirstLastPara="1" rIns="28350" wrap="square" tIns="28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99" name="Google Shape;699;p29"/>
            <p:cNvPicPr preferRelativeResize="0"/>
            <p:nvPr/>
          </p:nvPicPr>
          <p:blipFill rotWithShape="1">
            <a:blip r:embed="rId71">
              <a:alphaModFix/>
            </a:blip>
            <a:srcRect b="0" l="0" r="0" t="0"/>
            <a:stretch/>
          </p:blipFill>
          <p:spPr>
            <a:xfrm>
              <a:off x="6254773" y="1073518"/>
              <a:ext cx="170439" cy="170468"/>
            </a:xfrm>
            <a:prstGeom prst="rect">
              <a:avLst/>
            </a:prstGeom>
            <a:noFill/>
            <a:ln>
              <a:noFill/>
            </a:ln>
          </p:spPr>
        </p:pic>
      </p:grpSp>
      <p:pic>
        <p:nvPicPr>
          <p:cNvPr descr=" " id="700" name="Google Shape;700;p29"/>
          <p:cNvPicPr preferRelativeResize="0"/>
          <p:nvPr/>
        </p:nvPicPr>
        <p:blipFill rotWithShape="1">
          <a:blip r:embed="rId72">
            <a:alphaModFix/>
          </a:blip>
          <a:srcRect b="0" l="0" r="0" t="0"/>
          <a:stretch/>
        </p:blipFill>
        <p:spPr>
          <a:xfrm>
            <a:off x="5471409" y="1346653"/>
            <a:ext cx="13111" cy="1727642"/>
          </a:xfrm>
          <a:prstGeom prst="rect">
            <a:avLst/>
          </a:prstGeom>
          <a:noFill/>
          <a:ln>
            <a:noFill/>
          </a:ln>
        </p:spPr>
      </p:pic>
      <p:pic>
        <p:nvPicPr>
          <p:cNvPr descr=" " id="701" name="Google Shape;701;p29"/>
          <p:cNvPicPr preferRelativeResize="0"/>
          <p:nvPr/>
        </p:nvPicPr>
        <p:blipFill rotWithShape="1">
          <a:blip r:embed="rId73">
            <a:alphaModFix/>
          </a:blip>
          <a:srcRect b="0" l="0" r="0" t="0"/>
          <a:stretch/>
        </p:blipFill>
        <p:spPr>
          <a:xfrm>
            <a:off x="5484521" y="1900679"/>
            <a:ext cx="534261" cy="13113"/>
          </a:xfrm>
          <a:prstGeom prst="rect">
            <a:avLst/>
          </a:prstGeom>
          <a:noFill/>
          <a:ln>
            <a:noFill/>
          </a:ln>
        </p:spPr>
      </p:pic>
      <p:pic>
        <p:nvPicPr>
          <p:cNvPr descr=" " id="702" name="Google Shape;702;p29"/>
          <p:cNvPicPr preferRelativeResize="0"/>
          <p:nvPr/>
        </p:nvPicPr>
        <p:blipFill rotWithShape="1">
          <a:blip r:embed="rId74">
            <a:alphaModFix/>
          </a:blip>
          <a:srcRect b="0" l="0" r="0" t="0"/>
          <a:stretch/>
        </p:blipFill>
        <p:spPr>
          <a:xfrm>
            <a:off x="5484521" y="2221948"/>
            <a:ext cx="534261" cy="13113"/>
          </a:xfrm>
          <a:prstGeom prst="rect">
            <a:avLst/>
          </a:prstGeom>
          <a:noFill/>
          <a:ln>
            <a:noFill/>
          </a:ln>
        </p:spPr>
      </p:pic>
      <p:pic>
        <p:nvPicPr>
          <p:cNvPr descr=" " id="703" name="Google Shape;703;p29"/>
          <p:cNvPicPr preferRelativeResize="0"/>
          <p:nvPr/>
        </p:nvPicPr>
        <p:blipFill rotWithShape="1">
          <a:blip r:embed="rId75">
            <a:alphaModFix/>
          </a:blip>
          <a:srcRect b="0" l="0" r="0" t="0"/>
          <a:stretch/>
        </p:blipFill>
        <p:spPr>
          <a:xfrm>
            <a:off x="5484521" y="2641566"/>
            <a:ext cx="534261" cy="13113"/>
          </a:xfrm>
          <a:prstGeom prst="rect">
            <a:avLst/>
          </a:prstGeom>
          <a:noFill/>
          <a:ln>
            <a:noFill/>
          </a:ln>
        </p:spPr>
      </p:pic>
      <p:pic>
        <p:nvPicPr>
          <p:cNvPr descr=" " id="704" name="Google Shape;704;p29"/>
          <p:cNvPicPr preferRelativeResize="0"/>
          <p:nvPr/>
        </p:nvPicPr>
        <p:blipFill rotWithShape="1">
          <a:blip r:embed="rId76">
            <a:alphaModFix/>
          </a:blip>
          <a:srcRect b="0" l="0" r="0" t="0"/>
          <a:stretch/>
        </p:blipFill>
        <p:spPr>
          <a:xfrm>
            <a:off x="5484521" y="3061183"/>
            <a:ext cx="534261" cy="13113"/>
          </a:xfrm>
          <a:prstGeom prst="rect">
            <a:avLst/>
          </a:prstGeom>
          <a:noFill/>
          <a:ln>
            <a:noFill/>
          </a:ln>
        </p:spPr>
      </p:pic>
      <p:pic>
        <p:nvPicPr>
          <p:cNvPr descr=" " id="705" name="Google Shape;705;p29"/>
          <p:cNvPicPr preferRelativeResize="0"/>
          <p:nvPr/>
        </p:nvPicPr>
        <p:blipFill rotWithShape="1">
          <a:blip r:embed="rId77">
            <a:alphaModFix/>
          </a:blip>
          <a:srcRect b="0" l="0" r="0" t="0"/>
          <a:stretch/>
        </p:blipFill>
        <p:spPr>
          <a:xfrm>
            <a:off x="5405856" y="1625305"/>
            <a:ext cx="157328" cy="157356"/>
          </a:xfrm>
          <a:prstGeom prst="rect">
            <a:avLst/>
          </a:prstGeom>
          <a:noFill/>
          <a:ln>
            <a:noFill/>
          </a:ln>
        </p:spPr>
      </p:pic>
      <p:pic>
        <p:nvPicPr>
          <p:cNvPr descr=" " id="706" name="Google Shape;706;p29"/>
          <p:cNvPicPr preferRelativeResize="0"/>
          <p:nvPr/>
        </p:nvPicPr>
        <p:blipFill rotWithShape="1">
          <a:blip r:embed="rId78">
            <a:alphaModFix/>
          </a:blip>
          <a:srcRect b="0" l="0" r="0" t="0"/>
          <a:stretch/>
        </p:blipFill>
        <p:spPr>
          <a:xfrm>
            <a:off x="5399302" y="2044922"/>
            <a:ext cx="157328" cy="157356"/>
          </a:xfrm>
          <a:prstGeom prst="rect">
            <a:avLst/>
          </a:prstGeom>
          <a:noFill/>
          <a:ln>
            <a:noFill/>
          </a:ln>
        </p:spPr>
      </p:pic>
      <p:pic>
        <p:nvPicPr>
          <p:cNvPr descr=" " id="707" name="Google Shape;707;p29"/>
          <p:cNvPicPr preferRelativeResize="0"/>
          <p:nvPr/>
        </p:nvPicPr>
        <p:blipFill rotWithShape="1">
          <a:blip r:embed="rId79">
            <a:alphaModFix/>
          </a:blip>
          <a:srcRect b="0" l="0" r="0" t="0"/>
          <a:stretch/>
        </p:blipFill>
        <p:spPr>
          <a:xfrm>
            <a:off x="5399302" y="2366192"/>
            <a:ext cx="157328" cy="157356"/>
          </a:xfrm>
          <a:prstGeom prst="rect">
            <a:avLst/>
          </a:prstGeom>
          <a:noFill/>
          <a:ln>
            <a:noFill/>
          </a:ln>
        </p:spPr>
      </p:pic>
      <p:pic>
        <p:nvPicPr>
          <p:cNvPr descr=" " id="708" name="Google Shape;708;p29"/>
          <p:cNvPicPr preferRelativeResize="0"/>
          <p:nvPr/>
        </p:nvPicPr>
        <p:blipFill rotWithShape="1">
          <a:blip r:embed="rId80">
            <a:alphaModFix/>
          </a:blip>
          <a:srcRect b="0" l="0" r="0" t="0"/>
          <a:stretch/>
        </p:blipFill>
        <p:spPr>
          <a:xfrm>
            <a:off x="5399302" y="2825148"/>
            <a:ext cx="157328" cy="157356"/>
          </a:xfrm>
          <a:prstGeom prst="rect">
            <a:avLst/>
          </a:prstGeom>
          <a:noFill/>
          <a:ln>
            <a:noFill/>
          </a:ln>
        </p:spPr>
      </p:pic>
      <p:sp>
        <p:nvSpPr>
          <p:cNvPr id="709" name="Google Shape;709;p29"/>
          <p:cNvSpPr/>
          <p:nvPr/>
        </p:nvSpPr>
        <p:spPr>
          <a:xfrm>
            <a:off x="7205297" y="1018828"/>
            <a:ext cx="1094700" cy="475500"/>
          </a:xfrm>
          <a:prstGeom prst="roundRect">
            <a:avLst>
              <a:gd fmla="val 12149" name="adj"/>
            </a:avLst>
          </a:prstGeom>
          <a:solidFill>
            <a:srgbClr val="000084"/>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29"/>
          <p:cNvSpPr/>
          <p:nvPr/>
        </p:nvSpPr>
        <p:spPr>
          <a:xfrm>
            <a:off x="7320015" y="1949853"/>
            <a:ext cx="16059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Prompt Firewall</a:t>
            </a:r>
            <a:endParaRPr b="0" i="0" sz="774" u="none" cap="none" strike="noStrike">
              <a:solidFill>
                <a:srgbClr val="000000"/>
              </a:solidFill>
              <a:latin typeface="Calibri"/>
              <a:ea typeface="Calibri"/>
              <a:cs typeface="Calibri"/>
              <a:sym typeface="Calibri"/>
            </a:endParaRPr>
          </a:p>
        </p:txBody>
      </p:sp>
      <p:sp>
        <p:nvSpPr>
          <p:cNvPr id="711" name="Google Shape;711;p29"/>
          <p:cNvSpPr/>
          <p:nvPr/>
        </p:nvSpPr>
        <p:spPr>
          <a:xfrm>
            <a:off x="7320015" y="2264566"/>
            <a:ext cx="16059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AI Runtime App Security</a:t>
            </a:r>
            <a:endParaRPr b="0" i="0" sz="774" u="none" cap="none" strike="noStrike">
              <a:solidFill>
                <a:srgbClr val="000000"/>
              </a:solidFill>
              <a:latin typeface="Calibri"/>
              <a:ea typeface="Calibri"/>
              <a:cs typeface="Calibri"/>
              <a:sym typeface="Calibri"/>
            </a:endParaRPr>
          </a:p>
        </p:txBody>
      </p:sp>
      <p:sp>
        <p:nvSpPr>
          <p:cNvPr id="712" name="Google Shape;712;p29"/>
          <p:cNvSpPr/>
          <p:nvPr/>
        </p:nvSpPr>
        <p:spPr>
          <a:xfrm>
            <a:off x="7310181" y="1648253"/>
            <a:ext cx="16059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AI Detection &amp; Response (AI-DR)</a:t>
            </a:r>
            <a:endParaRPr b="0" i="0" sz="774" u="none" cap="none" strike="noStrike">
              <a:solidFill>
                <a:srgbClr val="000000"/>
              </a:solidFill>
              <a:latin typeface="Calibri"/>
              <a:ea typeface="Calibri"/>
              <a:cs typeface="Calibri"/>
              <a:sym typeface="Calibri"/>
            </a:endParaRPr>
          </a:p>
        </p:txBody>
      </p:sp>
      <p:sp>
        <p:nvSpPr>
          <p:cNvPr id="713" name="Google Shape;713;p29"/>
          <p:cNvSpPr/>
          <p:nvPr/>
        </p:nvSpPr>
        <p:spPr>
          <a:xfrm>
            <a:off x="7320015" y="2893991"/>
            <a:ext cx="16059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LLM Red Teaming</a:t>
            </a:r>
            <a:endParaRPr b="0" i="0" sz="774" u="none" cap="none" strike="noStrike">
              <a:solidFill>
                <a:srgbClr val="000000"/>
              </a:solidFill>
              <a:latin typeface="Calibri"/>
              <a:ea typeface="Calibri"/>
              <a:cs typeface="Calibri"/>
              <a:sym typeface="Calibri"/>
            </a:endParaRPr>
          </a:p>
        </p:txBody>
      </p:sp>
      <p:sp>
        <p:nvSpPr>
          <p:cNvPr id="714" name="Google Shape;714;p29"/>
          <p:cNvSpPr/>
          <p:nvPr/>
        </p:nvSpPr>
        <p:spPr>
          <a:xfrm>
            <a:off x="7320015" y="3195591"/>
            <a:ext cx="16059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AI-Compliance</a:t>
            </a:r>
            <a:endParaRPr b="0" i="0" sz="774" u="none" cap="none" strike="noStrike">
              <a:solidFill>
                <a:srgbClr val="000000"/>
              </a:solidFill>
              <a:latin typeface="Calibri"/>
              <a:ea typeface="Calibri"/>
              <a:cs typeface="Calibri"/>
              <a:sym typeface="Calibri"/>
            </a:endParaRPr>
          </a:p>
        </p:txBody>
      </p:sp>
      <p:sp>
        <p:nvSpPr>
          <p:cNvPr id="715" name="Google Shape;715;p29"/>
          <p:cNvSpPr/>
          <p:nvPr/>
        </p:nvSpPr>
        <p:spPr>
          <a:xfrm>
            <a:off x="7435826" y="1127010"/>
            <a:ext cx="632700" cy="324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290"/>
              <a:buFont typeface="Space Grotesk"/>
              <a:buNone/>
            </a:pPr>
            <a:r>
              <a:rPr b="1" i="0" lang="en" sz="1290" u="none" cap="none" strike="noStrike">
                <a:solidFill>
                  <a:srgbClr val="FFFFFF"/>
                </a:solidFill>
                <a:latin typeface="Space Grotesk"/>
                <a:ea typeface="Space Grotesk"/>
                <a:cs typeface="Space Grotesk"/>
                <a:sym typeface="Space Grotesk"/>
              </a:rPr>
              <a:t>AI-SPM</a:t>
            </a:r>
            <a:endParaRPr b="0" i="0" sz="129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774"/>
              <a:buFont typeface="Space Grotesk"/>
              <a:buNone/>
            </a:pPr>
            <a:r>
              <a:rPr b="0" i="0" lang="en" sz="774" u="none" cap="none" strike="noStrike">
                <a:solidFill>
                  <a:srgbClr val="FFFFFF"/>
                </a:solidFill>
                <a:latin typeface="Space Grotesk"/>
                <a:ea typeface="Space Grotesk"/>
                <a:cs typeface="Space Grotesk"/>
                <a:sym typeface="Space Grotesk"/>
              </a:rPr>
              <a:t>(AI Security)</a:t>
            </a:r>
            <a:endParaRPr b="0" i="0" sz="1290" u="none" cap="none" strike="noStrike">
              <a:solidFill>
                <a:srgbClr val="000000"/>
              </a:solidFill>
              <a:latin typeface="Calibri"/>
              <a:ea typeface="Calibri"/>
              <a:cs typeface="Calibri"/>
              <a:sym typeface="Calibri"/>
            </a:endParaRPr>
          </a:p>
        </p:txBody>
      </p:sp>
      <p:grpSp>
        <p:nvGrpSpPr>
          <p:cNvPr id="716" name="Google Shape;716;p29"/>
          <p:cNvGrpSpPr/>
          <p:nvPr/>
        </p:nvGrpSpPr>
        <p:grpSpPr>
          <a:xfrm>
            <a:off x="6973206" y="795324"/>
            <a:ext cx="293896" cy="293896"/>
            <a:chOff x="7100412" y="1034179"/>
            <a:chExt cx="246000" cy="246000"/>
          </a:xfrm>
        </p:grpSpPr>
        <p:sp>
          <p:nvSpPr>
            <p:cNvPr id="717" name="Google Shape;717;p29"/>
            <p:cNvSpPr/>
            <p:nvPr/>
          </p:nvSpPr>
          <p:spPr>
            <a:xfrm>
              <a:off x="7100412"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6525" lIns="26525" spcFirstLastPara="1" rIns="26525" wrap="square" tIns="26525">
              <a:noAutofit/>
            </a:bodyPr>
            <a:lstStyle/>
            <a:p>
              <a:pPr indent="0" lvl="0" marL="0" marR="0" rtl="0" algn="l">
                <a:lnSpc>
                  <a:spcPct val="100000"/>
                </a:lnSpc>
                <a:spcBef>
                  <a:spcPts val="0"/>
                </a:spcBef>
                <a:spcAft>
                  <a:spcPts val="0"/>
                </a:spcAft>
                <a:buClr>
                  <a:srgbClr val="000000"/>
                </a:buClr>
                <a:buSzPts val="1673"/>
                <a:buFont typeface="Arial"/>
                <a:buNone/>
              </a:pPr>
              <a:r>
                <a:t/>
              </a:r>
              <a:endParaRPr b="0" i="0" sz="1673" u="none" cap="none" strike="noStrike">
                <a:solidFill>
                  <a:srgbClr val="000000"/>
                </a:solidFill>
                <a:latin typeface="Arial"/>
                <a:ea typeface="Arial"/>
                <a:cs typeface="Arial"/>
                <a:sym typeface="Arial"/>
              </a:endParaRPr>
            </a:p>
          </p:txBody>
        </p:sp>
        <p:pic>
          <p:nvPicPr>
            <p:cNvPr descr=" " id="718" name="Google Shape;718;p29"/>
            <p:cNvPicPr preferRelativeResize="0"/>
            <p:nvPr/>
          </p:nvPicPr>
          <p:blipFill rotWithShape="1">
            <a:blip r:embed="rId81">
              <a:alphaModFix/>
            </a:blip>
            <a:srcRect b="0" l="0" r="0" t="0"/>
            <a:stretch/>
          </p:blipFill>
          <p:spPr>
            <a:xfrm>
              <a:off x="7146298" y="1099744"/>
              <a:ext cx="160606" cy="118017"/>
            </a:xfrm>
            <a:prstGeom prst="rect">
              <a:avLst/>
            </a:prstGeom>
            <a:noFill/>
            <a:ln>
              <a:noFill/>
            </a:ln>
          </p:spPr>
        </p:pic>
      </p:grpSp>
      <p:grpSp>
        <p:nvGrpSpPr>
          <p:cNvPr id="719" name="Google Shape;719;p29"/>
          <p:cNvGrpSpPr/>
          <p:nvPr/>
        </p:nvGrpSpPr>
        <p:grpSpPr>
          <a:xfrm>
            <a:off x="7234258" y="795324"/>
            <a:ext cx="293896" cy="293896"/>
            <a:chOff x="7318920" y="1034179"/>
            <a:chExt cx="246000" cy="246000"/>
          </a:xfrm>
        </p:grpSpPr>
        <p:sp>
          <p:nvSpPr>
            <p:cNvPr id="720" name="Google Shape;720;p29"/>
            <p:cNvSpPr/>
            <p:nvPr/>
          </p:nvSpPr>
          <p:spPr>
            <a:xfrm>
              <a:off x="7318920"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6525" lIns="26525" spcFirstLastPara="1" rIns="26525" wrap="square" tIns="26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21" name="Google Shape;721;p29"/>
            <p:cNvPicPr preferRelativeResize="0"/>
            <p:nvPr/>
          </p:nvPicPr>
          <p:blipFill rotWithShape="1">
            <a:blip r:embed="rId82">
              <a:alphaModFix/>
            </a:blip>
            <a:srcRect b="0" l="0" r="0" t="0"/>
            <a:stretch/>
          </p:blipFill>
          <p:spPr>
            <a:xfrm>
              <a:off x="7356069" y="1073518"/>
              <a:ext cx="170439" cy="170468"/>
            </a:xfrm>
            <a:prstGeom prst="rect">
              <a:avLst/>
            </a:prstGeom>
            <a:noFill/>
            <a:ln>
              <a:noFill/>
            </a:ln>
          </p:spPr>
        </p:pic>
      </p:grpSp>
      <p:grpSp>
        <p:nvGrpSpPr>
          <p:cNvPr id="722" name="Google Shape;722;p29"/>
          <p:cNvGrpSpPr/>
          <p:nvPr/>
        </p:nvGrpSpPr>
        <p:grpSpPr>
          <a:xfrm>
            <a:off x="7495317" y="795324"/>
            <a:ext cx="293896" cy="293896"/>
            <a:chOff x="7537434" y="1034179"/>
            <a:chExt cx="246000" cy="246000"/>
          </a:xfrm>
        </p:grpSpPr>
        <p:sp>
          <p:nvSpPr>
            <p:cNvPr id="723" name="Google Shape;723;p29"/>
            <p:cNvSpPr/>
            <p:nvPr/>
          </p:nvSpPr>
          <p:spPr>
            <a:xfrm>
              <a:off x="7537434"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6525" lIns="26525" spcFirstLastPara="1" rIns="26525" wrap="square" tIns="26525">
              <a:noAutofit/>
            </a:bodyPr>
            <a:lstStyle/>
            <a:p>
              <a:pPr indent="0" lvl="0" marL="0" marR="0" rtl="0" algn="l">
                <a:lnSpc>
                  <a:spcPct val="100000"/>
                </a:lnSpc>
                <a:spcBef>
                  <a:spcPts val="0"/>
                </a:spcBef>
                <a:spcAft>
                  <a:spcPts val="0"/>
                </a:spcAft>
                <a:buClr>
                  <a:srgbClr val="000000"/>
                </a:buClr>
                <a:buSzPts val="1673"/>
                <a:buFont typeface="Arial"/>
                <a:buNone/>
              </a:pPr>
              <a:r>
                <a:t/>
              </a:r>
              <a:endParaRPr b="0" i="0" sz="1673" u="none" cap="none" strike="noStrike">
                <a:solidFill>
                  <a:srgbClr val="000000"/>
                </a:solidFill>
                <a:latin typeface="Arial"/>
                <a:ea typeface="Arial"/>
                <a:cs typeface="Arial"/>
                <a:sym typeface="Arial"/>
              </a:endParaRPr>
            </a:p>
          </p:txBody>
        </p:sp>
        <p:pic>
          <p:nvPicPr>
            <p:cNvPr descr=" " id="724" name="Google Shape;724;p29"/>
            <p:cNvPicPr preferRelativeResize="0"/>
            <p:nvPr/>
          </p:nvPicPr>
          <p:blipFill rotWithShape="1">
            <a:blip r:embed="rId83">
              <a:alphaModFix/>
            </a:blip>
            <a:srcRect b="0" l="0" r="0" t="0"/>
            <a:stretch/>
          </p:blipFill>
          <p:spPr>
            <a:xfrm>
              <a:off x="7565841" y="1119413"/>
              <a:ext cx="183551" cy="78678"/>
            </a:xfrm>
            <a:prstGeom prst="rect">
              <a:avLst/>
            </a:prstGeom>
            <a:noFill/>
            <a:ln>
              <a:noFill/>
            </a:ln>
          </p:spPr>
        </p:pic>
      </p:grpSp>
      <p:grpSp>
        <p:nvGrpSpPr>
          <p:cNvPr id="725" name="Google Shape;725;p29"/>
          <p:cNvGrpSpPr/>
          <p:nvPr/>
        </p:nvGrpSpPr>
        <p:grpSpPr>
          <a:xfrm>
            <a:off x="7752458" y="795324"/>
            <a:ext cx="293896" cy="293896"/>
            <a:chOff x="7752669" y="1034179"/>
            <a:chExt cx="246000" cy="246000"/>
          </a:xfrm>
        </p:grpSpPr>
        <p:sp>
          <p:nvSpPr>
            <p:cNvPr id="726" name="Google Shape;726;p29"/>
            <p:cNvSpPr/>
            <p:nvPr/>
          </p:nvSpPr>
          <p:spPr>
            <a:xfrm>
              <a:off x="7752669"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6525" lIns="26525" spcFirstLastPara="1" rIns="26525" wrap="square" tIns="26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27" name="Google Shape;727;p29"/>
            <p:cNvPicPr preferRelativeResize="0"/>
            <p:nvPr/>
          </p:nvPicPr>
          <p:blipFill rotWithShape="1">
            <a:blip r:embed="rId84">
              <a:alphaModFix/>
            </a:blip>
            <a:srcRect b="0" l="0" r="0" t="0"/>
            <a:stretch/>
          </p:blipFill>
          <p:spPr>
            <a:xfrm>
              <a:off x="7798555" y="1086631"/>
              <a:ext cx="144218" cy="144243"/>
            </a:xfrm>
            <a:prstGeom prst="rect">
              <a:avLst/>
            </a:prstGeom>
            <a:noFill/>
            <a:ln>
              <a:noFill/>
            </a:ln>
          </p:spPr>
        </p:pic>
      </p:grpSp>
      <p:grpSp>
        <p:nvGrpSpPr>
          <p:cNvPr id="728" name="Google Shape;728;p29"/>
          <p:cNvGrpSpPr/>
          <p:nvPr/>
        </p:nvGrpSpPr>
        <p:grpSpPr>
          <a:xfrm>
            <a:off x="7979574" y="795324"/>
            <a:ext cx="293896" cy="293896"/>
            <a:chOff x="7942772" y="1034179"/>
            <a:chExt cx="246000" cy="246000"/>
          </a:xfrm>
        </p:grpSpPr>
        <p:sp>
          <p:nvSpPr>
            <p:cNvPr id="729" name="Google Shape;729;p29"/>
            <p:cNvSpPr/>
            <p:nvPr/>
          </p:nvSpPr>
          <p:spPr>
            <a:xfrm>
              <a:off x="7942772"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6525" lIns="26525" spcFirstLastPara="1" rIns="26525" wrap="square" tIns="26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30" name="Google Shape;730;p29"/>
            <p:cNvPicPr preferRelativeResize="0"/>
            <p:nvPr/>
          </p:nvPicPr>
          <p:blipFill rotWithShape="1">
            <a:blip r:embed="rId85">
              <a:alphaModFix/>
            </a:blip>
            <a:srcRect b="0" l="0" r="0" t="0"/>
            <a:stretch/>
          </p:blipFill>
          <p:spPr>
            <a:xfrm>
              <a:off x="7982104" y="1073518"/>
              <a:ext cx="170439" cy="170468"/>
            </a:xfrm>
            <a:prstGeom prst="rect">
              <a:avLst/>
            </a:prstGeom>
            <a:noFill/>
            <a:ln>
              <a:noFill/>
            </a:ln>
          </p:spPr>
        </p:pic>
      </p:grpSp>
      <p:grpSp>
        <p:nvGrpSpPr>
          <p:cNvPr id="731" name="Google Shape;731;p29"/>
          <p:cNvGrpSpPr/>
          <p:nvPr/>
        </p:nvGrpSpPr>
        <p:grpSpPr>
          <a:xfrm>
            <a:off x="8236711" y="795324"/>
            <a:ext cx="293896" cy="293896"/>
            <a:chOff x="8158002" y="1034179"/>
            <a:chExt cx="246000" cy="246000"/>
          </a:xfrm>
        </p:grpSpPr>
        <p:sp>
          <p:nvSpPr>
            <p:cNvPr id="732" name="Google Shape;732;p29"/>
            <p:cNvSpPr/>
            <p:nvPr/>
          </p:nvSpPr>
          <p:spPr>
            <a:xfrm>
              <a:off x="8158002" y="1034179"/>
              <a:ext cx="246000" cy="246000"/>
            </a:xfrm>
            <a:prstGeom prst="ellipse">
              <a:avLst/>
            </a:prstGeom>
            <a:solidFill>
              <a:srgbClr val="FFFFFF"/>
            </a:solidFill>
            <a:ln cap="flat" cmpd="sng" w="9525">
              <a:solidFill>
                <a:srgbClr val="CFD8DC"/>
              </a:solidFill>
              <a:prstDash val="solid"/>
              <a:round/>
              <a:headEnd len="sm" w="sm" type="none"/>
              <a:tailEnd len="sm" w="sm" type="none"/>
            </a:ln>
          </p:spPr>
          <p:txBody>
            <a:bodyPr anchorCtr="0" anchor="ctr" bIns="26525" lIns="26525" spcFirstLastPara="1" rIns="26525" wrap="square" tIns="26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33" name="Google Shape;733;p29"/>
            <p:cNvPicPr preferRelativeResize="0"/>
            <p:nvPr/>
          </p:nvPicPr>
          <p:blipFill rotWithShape="1">
            <a:blip r:embed="rId86">
              <a:alphaModFix/>
            </a:blip>
            <a:srcRect b="0" l="0" r="0" t="0"/>
            <a:stretch/>
          </p:blipFill>
          <p:spPr>
            <a:xfrm>
              <a:off x="8201709" y="1066961"/>
              <a:ext cx="154050" cy="180303"/>
            </a:xfrm>
            <a:prstGeom prst="rect">
              <a:avLst/>
            </a:prstGeom>
            <a:noFill/>
            <a:ln>
              <a:noFill/>
            </a:ln>
          </p:spPr>
        </p:pic>
      </p:grpSp>
      <p:pic>
        <p:nvPicPr>
          <p:cNvPr descr=" " id="734" name="Google Shape;734;p29"/>
          <p:cNvPicPr preferRelativeResize="0"/>
          <p:nvPr/>
        </p:nvPicPr>
        <p:blipFill rotWithShape="1">
          <a:blip r:embed="rId87">
            <a:alphaModFix/>
          </a:blip>
          <a:srcRect b="0" l="0" r="0" t="0"/>
          <a:stretch/>
        </p:blipFill>
        <p:spPr>
          <a:xfrm>
            <a:off x="7205297" y="1346653"/>
            <a:ext cx="13111" cy="2019408"/>
          </a:xfrm>
          <a:prstGeom prst="rect">
            <a:avLst/>
          </a:prstGeom>
          <a:noFill/>
          <a:ln>
            <a:noFill/>
          </a:ln>
        </p:spPr>
      </p:pic>
      <p:pic>
        <p:nvPicPr>
          <p:cNvPr descr=" " id="735" name="Google Shape;735;p29"/>
          <p:cNvPicPr preferRelativeResize="0"/>
          <p:nvPr/>
        </p:nvPicPr>
        <p:blipFill rotWithShape="1">
          <a:blip r:embed="rId88">
            <a:alphaModFix/>
          </a:blip>
          <a:srcRect b="0" l="0" r="0" t="0"/>
          <a:stretch/>
        </p:blipFill>
        <p:spPr>
          <a:xfrm>
            <a:off x="7218407" y="1805610"/>
            <a:ext cx="534261" cy="13113"/>
          </a:xfrm>
          <a:prstGeom prst="rect">
            <a:avLst/>
          </a:prstGeom>
          <a:noFill/>
          <a:ln>
            <a:noFill/>
          </a:ln>
        </p:spPr>
      </p:pic>
      <p:pic>
        <p:nvPicPr>
          <p:cNvPr descr=" " id="736" name="Google Shape;736;p29"/>
          <p:cNvPicPr preferRelativeResize="0"/>
          <p:nvPr/>
        </p:nvPicPr>
        <p:blipFill rotWithShape="1">
          <a:blip r:embed="rId89">
            <a:alphaModFix/>
          </a:blip>
          <a:srcRect b="0" l="0" r="0" t="0"/>
          <a:stretch/>
        </p:blipFill>
        <p:spPr>
          <a:xfrm>
            <a:off x="7218407" y="2107209"/>
            <a:ext cx="534261" cy="13113"/>
          </a:xfrm>
          <a:prstGeom prst="rect">
            <a:avLst/>
          </a:prstGeom>
          <a:noFill/>
          <a:ln>
            <a:noFill/>
          </a:ln>
        </p:spPr>
      </p:pic>
      <p:pic>
        <p:nvPicPr>
          <p:cNvPr descr=" " id="737" name="Google Shape;737;p29"/>
          <p:cNvPicPr preferRelativeResize="0"/>
          <p:nvPr/>
        </p:nvPicPr>
        <p:blipFill rotWithShape="1">
          <a:blip r:embed="rId90">
            <a:alphaModFix/>
          </a:blip>
          <a:srcRect b="0" l="0" r="0" t="0"/>
          <a:stretch/>
        </p:blipFill>
        <p:spPr>
          <a:xfrm>
            <a:off x="7218407" y="2421922"/>
            <a:ext cx="534261" cy="13113"/>
          </a:xfrm>
          <a:prstGeom prst="rect">
            <a:avLst/>
          </a:prstGeom>
          <a:noFill/>
          <a:ln>
            <a:noFill/>
          </a:ln>
        </p:spPr>
      </p:pic>
      <p:pic>
        <p:nvPicPr>
          <p:cNvPr descr=" " id="738" name="Google Shape;738;p29"/>
          <p:cNvPicPr preferRelativeResize="0"/>
          <p:nvPr/>
        </p:nvPicPr>
        <p:blipFill rotWithShape="1">
          <a:blip r:embed="rId91">
            <a:alphaModFix/>
          </a:blip>
          <a:srcRect b="0" l="0" r="0" t="0"/>
          <a:stretch/>
        </p:blipFill>
        <p:spPr>
          <a:xfrm>
            <a:off x="7218407" y="2749748"/>
            <a:ext cx="534261" cy="13113"/>
          </a:xfrm>
          <a:prstGeom prst="rect">
            <a:avLst/>
          </a:prstGeom>
          <a:noFill/>
          <a:ln>
            <a:noFill/>
          </a:ln>
        </p:spPr>
      </p:pic>
      <p:pic>
        <p:nvPicPr>
          <p:cNvPr descr=" " id="739" name="Google Shape;739;p29"/>
          <p:cNvPicPr preferRelativeResize="0"/>
          <p:nvPr/>
        </p:nvPicPr>
        <p:blipFill rotWithShape="1">
          <a:blip r:embed="rId92">
            <a:alphaModFix/>
          </a:blip>
          <a:srcRect b="0" l="0" r="0" t="0"/>
          <a:stretch/>
        </p:blipFill>
        <p:spPr>
          <a:xfrm>
            <a:off x="7218407" y="3051348"/>
            <a:ext cx="534261" cy="13113"/>
          </a:xfrm>
          <a:prstGeom prst="rect">
            <a:avLst/>
          </a:prstGeom>
          <a:noFill/>
          <a:ln>
            <a:noFill/>
          </a:ln>
        </p:spPr>
      </p:pic>
      <p:pic>
        <p:nvPicPr>
          <p:cNvPr descr=" " id="740" name="Google Shape;740;p29"/>
          <p:cNvPicPr preferRelativeResize="0"/>
          <p:nvPr/>
        </p:nvPicPr>
        <p:blipFill rotWithShape="1">
          <a:blip r:embed="rId93">
            <a:alphaModFix/>
          </a:blip>
          <a:srcRect b="0" l="0" r="0" t="0"/>
          <a:stretch/>
        </p:blipFill>
        <p:spPr>
          <a:xfrm>
            <a:off x="7218407" y="3352948"/>
            <a:ext cx="534261" cy="13113"/>
          </a:xfrm>
          <a:prstGeom prst="rect">
            <a:avLst/>
          </a:prstGeom>
          <a:noFill/>
          <a:ln>
            <a:noFill/>
          </a:ln>
        </p:spPr>
      </p:pic>
      <p:sp>
        <p:nvSpPr>
          <p:cNvPr id="741" name="Google Shape;741;p29"/>
          <p:cNvSpPr/>
          <p:nvPr/>
        </p:nvSpPr>
        <p:spPr>
          <a:xfrm>
            <a:off x="7310181" y="2592392"/>
            <a:ext cx="1605900" cy="150000"/>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000000"/>
              </a:buClr>
              <a:buSzPts val="774"/>
              <a:buFont typeface="Space Grotesk"/>
              <a:buNone/>
            </a:pPr>
            <a:r>
              <a:rPr b="0" i="0" lang="en" sz="774" u="none" cap="none" strike="noStrike">
                <a:solidFill>
                  <a:srgbClr val="000000"/>
                </a:solidFill>
                <a:latin typeface="Space Grotesk"/>
                <a:ea typeface="Space Grotesk"/>
                <a:cs typeface="Space Grotesk"/>
                <a:sym typeface="Space Grotesk"/>
              </a:rPr>
              <a:t>Model &amp; Dataset Security</a:t>
            </a:r>
            <a:endParaRPr b="0" i="0" sz="774" u="none" cap="none" strike="noStrike">
              <a:solidFill>
                <a:srgbClr val="000000"/>
              </a:solidFill>
              <a:latin typeface="Calibri"/>
              <a:ea typeface="Calibri"/>
              <a:cs typeface="Calibri"/>
              <a:sym typeface="Calibri"/>
            </a:endParaRPr>
          </a:p>
        </p:txBody>
      </p:sp>
      <p:pic>
        <p:nvPicPr>
          <p:cNvPr descr=" " id="742" name="Google Shape;742;p29"/>
          <p:cNvPicPr preferRelativeResize="0"/>
          <p:nvPr/>
        </p:nvPicPr>
        <p:blipFill rotWithShape="1">
          <a:blip r:embed="rId94">
            <a:alphaModFix/>
          </a:blip>
          <a:srcRect b="0" l="0" r="0" t="0"/>
          <a:stretch/>
        </p:blipFill>
        <p:spPr>
          <a:xfrm>
            <a:off x="7133188" y="1625305"/>
            <a:ext cx="157328" cy="157355"/>
          </a:xfrm>
          <a:prstGeom prst="rect">
            <a:avLst/>
          </a:prstGeom>
          <a:noFill/>
          <a:ln>
            <a:noFill/>
          </a:ln>
        </p:spPr>
      </p:pic>
      <p:pic>
        <p:nvPicPr>
          <p:cNvPr descr=" " id="743" name="Google Shape;743;p29"/>
          <p:cNvPicPr preferRelativeResize="0"/>
          <p:nvPr/>
        </p:nvPicPr>
        <p:blipFill rotWithShape="1">
          <a:blip r:embed="rId95">
            <a:alphaModFix/>
          </a:blip>
          <a:srcRect b="0" l="0" r="0" t="0"/>
          <a:stretch/>
        </p:blipFill>
        <p:spPr>
          <a:xfrm>
            <a:off x="7146299" y="1654878"/>
            <a:ext cx="131107" cy="98211"/>
          </a:xfrm>
          <a:prstGeom prst="rect">
            <a:avLst/>
          </a:prstGeom>
          <a:noFill/>
          <a:ln>
            <a:noFill/>
          </a:ln>
        </p:spPr>
      </p:pic>
      <p:pic>
        <p:nvPicPr>
          <p:cNvPr descr=" " id="744" name="Google Shape;744;p29"/>
          <p:cNvPicPr preferRelativeResize="0"/>
          <p:nvPr/>
        </p:nvPicPr>
        <p:blipFill rotWithShape="1">
          <a:blip r:embed="rId96">
            <a:alphaModFix/>
          </a:blip>
          <a:srcRect b="0" l="0" r="0" t="0"/>
          <a:stretch/>
        </p:blipFill>
        <p:spPr>
          <a:xfrm>
            <a:off x="7175099" y="1638419"/>
            <a:ext cx="73508" cy="131130"/>
          </a:xfrm>
          <a:prstGeom prst="rect">
            <a:avLst/>
          </a:prstGeom>
          <a:noFill/>
          <a:ln>
            <a:noFill/>
          </a:ln>
        </p:spPr>
      </p:pic>
      <p:pic>
        <p:nvPicPr>
          <p:cNvPr descr=" " id="745" name="Google Shape;745;p29"/>
          <p:cNvPicPr preferRelativeResize="0"/>
          <p:nvPr/>
        </p:nvPicPr>
        <p:blipFill rotWithShape="1">
          <a:blip r:embed="rId97">
            <a:alphaModFix/>
          </a:blip>
          <a:srcRect b="0" l="0" r="0" t="0"/>
          <a:stretch/>
        </p:blipFill>
        <p:spPr>
          <a:xfrm>
            <a:off x="7246308" y="1728217"/>
            <a:ext cx="7131" cy="16050"/>
          </a:xfrm>
          <a:prstGeom prst="rect">
            <a:avLst/>
          </a:prstGeom>
          <a:noFill/>
          <a:ln>
            <a:noFill/>
          </a:ln>
        </p:spPr>
      </p:pic>
      <p:pic>
        <p:nvPicPr>
          <p:cNvPr descr=" " id="746" name="Google Shape;746;p29"/>
          <p:cNvPicPr preferRelativeResize="0"/>
          <p:nvPr/>
        </p:nvPicPr>
        <p:blipFill rotWithShape="1">
          <a:blip r:embed="rId98">
            <a:alphaModFix/>
          </a:blip>
          <a:srcRect b="0" l="0" r="0" t="0"/>
          <a:stretch/>
        </p:blipFill>
        <p:spPr>
          <a:xfrm>
            <a:off x="7224018" y="1714841"/>
            <a:ext cx="51712" cy="51717"/>
          </a:xfrm>
          <a:prstGeom prst="rect">
            <a:avLst/>
          </a:prstGeom>
          <a:noFill/>
          <a:ln>
            <a:noFill/>
          </a:ln>
        </p:spPr>
      </p:pic>
      <p:sp>
        <p:nvSpPr>
          <p:cNvPr id="747" name="Google Shape;747;p29"/>
          <p:cNvSpPr/>
          <p:nvPr/>
        </p:nvSpPr>
        <p:spPr>
          <a:xfrm>
            <a:off x="7246903" y="1748131"/>
            <a:ext cx="6000" cy="6000"/>
          </a:xfrm>
          <a:prstGeom prst="ellipse">
            <a:avLst/>
          </a:prstGeom>
          <a:solidFill>
            <a:srgbClr val="005B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48" name="Google Shape;748;p29"/>
          <p:cNvPicPr preferRelativeResize="0"/>
          <p:nvPr/>
        </p:nvPicPr>
        <p:blipFill rotWithShape="1">
          <a:blip r:embed="rId99">
            <a:alphaModFix/>
          </a:blip>
          <a:srcRect b="0" l="0" r="0" t="0"/>
          <a:stretch/>
        </p:blipFill>
        <p:spPr>
          <a:xfrm>
            <a:off x="7133188" y="1930183"/>
            <a:ext cx="157328" cy="157355"/>
          </a:xfrm>
          <a:prstGeom prst="rect">
            <a:avLst/>
          </a:prstGeom>
          <a:noFill/>
          <a:ln>
            <a:noFill/>
          </a:ln>
        </p:spPr>
      </p:pic>
      <p:pic>
        <p:nvPicPr>
          <p:cNvPr descr=" " id="749" name="Google Shape;749;p29"/>
          <p:cNvPicPr preferRelativeResize="0"/>
          <p:nvPr/>
        </p:nvPicPr>
        <p:blipFill rotWithShape="1">
          <a:blip r:embed="rId100">
            <a:alphaModFix/>
          </a:blip>
          <a:srcRect b="0" l="0" r="0" t="0"/>
          <a:stretch/>
        </p:blipFill>
        <p:spPr>
          <a:xfrm>
            <a:off x="7153512" y="1955754"/>
            <a:ext cx="93960" cy="93977"/>
          </a:xfrm>
          <a:prstGeom prst="rect">
            <a:avLst/>
          </a:prstGeom>
          <a:noFill/>
          <a:ln>
            <a:noFill/>
          </a:ln>
        </p:spPr>
      </p:pic>
      <p:pic>
        <p:nvPicPr>
          <p:cNvPr descr=" " id="750" name="Google Shape;750;p29"/>
          <p:cNvPicPr preferRelativeResize="0"/>
          <p:nvPr/>
        </p:nvPicPr>
        <p:blipFill rotWithShape="1">
          <a:blip r:embed="rId101">
            <a:alphaModFix/>
          </a:blip>
          <a:srcRect b="0" l="0" r="0" t="0"/>
          <a:stretch/>
        </p:blipFill>
        <p:spPr>
          <a:xfrm>
            <a:off x="7208345" y="1994219"/>
            <a:ext cx="60132" cy="70514"/>
          </a:xfrm>
          <a:prstGeom prst="rect">
            <a:avLst/>
          </a:prstGeom>
          <a:noFill/>
          <a:ln>
            <a:noFill/>
          </a:ln>
        </p:spPr>
      </p:pic>
      <p:pic>
        <p:nvPicPr>
          <p:cNvPr descr=" " id="751" name="Google Shape;751;p29"/>
          <p:cNvPicPr preferRelativeResize="0"/>
          <p:nvPr/>
        </p:nvPicPr>
        <p:blipFill rotWithShape="1">
          <a:blip r:embed="rId102">
            <a:alphaModFix/>
          </a:blip>
          <a:srcRect b="0" l="0" r="0" t="0"/>
          <a:stretch/>
        </p:blipFill>
        <p:spPr>
          <a:xfrm>
            <a:off x="7228436" y="2014390"/>
            <a:ext cx="19950" cy="20137"/>
          </a:xfrm>
          <a:prstGeom prst="rect">
            <a:avLst/>
          </a:prstGeom>
          <a:noFill/>
          <a:ln>
            <a:noFill/>
          </a:ln>
        </p:spPr>
      </p:pic>
      <p:pic>
        <p:nvPicPr>
          <p:cNvPr descr=" " id="752" name="Google Shape;752;p29"/>
          <p:cNvPicPr preferRelativeResize="0"/>
          <p:nvPr/>
        </p:nvPicPr>
        <p:blipFill rotWithShape="1">
          <a:blip r:embed="rId103">
            <a:alphaModFix/>
          </a:blip>
          <a:srcRect b="0" l="0" r="0" t="0"/>
          <a:stretch/>
        </p:blipFill>
        <p:spPr>
          <a:xfrm>
            <a:off x="7235134" y="2027971"/>
            <a:ext cx="6556" cy="16742"/>
          </a:xfrm>
          <a:prstGeom prst="rect">
            <a:avLst/>
          </a:prstGeom>
          <a:noFill/>
          <a:ln>
            <a:noFill/>
          </a:ln>
        </p:spPr>
      </p:pic>
      <p:pic>
        <p:nvPicPr>
          <p:cNvPr descr=" " id="753" name="Google Shape;753;p29"/>
          <p:cNvPicPr preferRelativeResize="0"/>
          <p:nvPr/>
        </p:nvPicPr>
        <p:blipFill rotWithShape="1">
          <a:blip r:embed="rId104">
            <a:alphaModFix/>
          </a:blip>
          <a:srcRect b="0" l="0" r="0" t="0"/>
          <a:stretch/>
        </p:blipFill>
        <p:spPr>
          <a:xfrm>
            <a:off x="7133188" y="2251453"/>
            <a:ext cx="157328" cy="157355"/>
          </a:xfrm>
          <a:prstGeom prst="rect">
            <a:avLst/>
          </a:prstGeom>
          <a:noFill/>
          <a:ln>
            <a:noFill/>
          </a:ln>
        </p:spPr>
      </p:pic>
      <p:pic>
        <p:nvPicPr>
          <p:cNvPr descr=" " id="754" name="Google Shape;754;p29"/>
          <p:cNvPicPr preferRelativeResize="0"/>
          <p:nvPr/>
        </p:nvPicPr>
        <p:blipFill rotWithShape="1">
          <a:blip r:embed="rId105">
            <a:alphaModFix/>
          </a:blip>
          <a:srcRect b="0" l="0" r="0" t="0"/>
          <a:stretch/>
        </p:blipFill>
        <p:spPr>
          <a:xfrm>
            <a:off x="7150233" y="2268500"/>
            <a:ext cx="120618" cy="120640"/>
          </a:xfrm>
          <a:prstGeom prst="rect">
            <a:avLst/>
          </a:prstGeom>
          <a:noFill/>
          <a:ln>
            <a:noFill/>
          </a:ln>
        </p:spPr>
      </p:pic>
      <p:pic>
        <p:nvPicPr>
          <p:cNvPr descr=" " id="755" name="Google Shape;755;p29"/>
          <p:cNvPicPr preferRelativeResize="0"/>
          <p:nvPr/>
        </p:nvPicPr>
        <p:blipFill rotWithShape="1">
          <a:blip r:embed="rId106">
            <a:alphaModFix/>
          </a:blip>
          <a:srcRect b="0" l="0" r="0" t="0"/>
          <a:stretch/>
        </p:blipFill>
        <p:spPr>
          <a:xfrm>
            <a:off x="7150233" y="2302594"/>
            <a:ext cx="120618" cy="7868"/>
          </a:xfrm>
          <a:prstGeom prst="rect">
            <a:avLst/>
          </a:prstGeom>
          <a:noFill/>
          <a:ln>
            <a:noFill/>
          </a:ln>
        </p:spPr>
      </p:pic>
      <p:pic>
        <p:nvPicPr>
          <p:cNvPr descr=" " id="756" name="Google Shape;756;p29"/>
          <p:cNvPicPr preferRelativeResize="0"/>
          <p:nvPr/>
        </p:nvPicPr>
        <p:blipFill rotWithShape="1">
          <a:blip r:embed="rId107">
            <a:alphaModFix/>
          </a:blip>
          <a:srcRect b="0" l="0" r="0" t="0"/>
          <a:stretch/>
        </p:blipFill>
        <p:spPr>
          <a:xfrm>
            <a:off x="7184320" y="2305216"/>
            <a:ext cx="7866" cy="81301"/>
          </a:xfrm>
          <a:prstGeom prst="rect">
            <a:avLst/>
          </a:prstGeom>
          <a:noFill/>
          <a:ln>
            <a:noFill/>
          </a:ln>
        </p:spPr>
      </p:pic>
      <p:pic>
        <p:nvPicPr>
          <p:cNvPr descr=" " id="757" name="Google Shape;757;p29"/>
          <p:cNvPicPr preferRelativeResize="0"/>
          <p:nvPr/>
        </p:nvPicPr>
        <p:blipFill rotWithShape="1">
          <a:blip r:embed="rId108">
            <a:alphaModFix/>
          </a:blip>
          <a:srcRect b="0" l="0" r="0" t="0"/>
          <a:stretch/>
        </p:blipFill>
        <p:spPr>
          <a:xfrm>
            <a:off x="7205297" y="2318329"/>
            <a:ext cx="60311" cy="70810"/>
          </a:xfrm>
          <a:prstGeom prst="rect">
            <a:avLst/>
          </a:prstGeom>
          <a:noFill/>
          <a:ln>
            <a:noFill/>
          </a:ln>
        </p:spPr>
      </p:pic>
      <p:pic>
        <p:nvPicPr>
          <p:cNvPr descr=" " id="758" name="Google Shape;758;p29"/>
          <p:cNvPicPr preferRelativeResize="0"/>
          <p:nvPr/>
        </p:nvPicPr>
        <p:blipFill rotWithShape="1">
          <a:blip r:embed="rId109">
            <a:alphaModFix/>
          </a:blip>
          <a:srcRect b="0" l="0" r="0" t="0"/>
          <a:stretch/>
        </p:blipFill>
        <p:spPr>
          <a:xfrm>
            <a:off x="7221031" y="2341933"/>
            <a:ext cx="28844" cy="20981"/>
          </a:xfrm>
          <a:prstGeom prst="rect">
            <a:avLst/>
          </a:prstGeom>
          <a:noFill/>
          <a:ln>
            <a:noFill/>
          </a:ln>
        </p:spPr>
      </p:pic>
      <p:pic>
        <p:nvPicPr>
          <p:cNvPr descr=" " id="759" name="Google Shape;759;p29"/>
          <p:cNvPicPr preferRelativeResize="0"/>
          <p:nvPr/>
        </p:nvPicPr>
        <p:blipFill rotWithShape="1">
          <a:blip r:embed="rId110">
            <a:alphaModFix/>
          </a:blip>
          <a:srcRect b="0" l="0" r="0" t="0"/>
          <a:stretch/>
        </p:blipFill>
        <p:spPr>
          <a:xfrm>
            <a:off x="7129910" y="2566166"/>
            <a:ext cx="157328" cy="157355"/>
          </a:xfrm>
          <a:prstGeom prst="rect">
            <a:avLst/>
          </a:prstGeom>
          <a:noFill/>
          <a:ln>
            <a:noFill/>
          </a:ln>
        </p:spPr>
      </p:pic>
      <p:pic>
        <p:nvPicPr>
          <p:cNvPr descr=" " id="760" name="Google Shape;760;p29"/>
          <p:cNvPicPr preferRelativeResize="0"/>
          <p:nvPr/>
        </p:nvPicPr>
        <p:blipFill rotWithShape="1">
          <a:blip r:embed="rId111">
            <a:alphaModFix/>
          </a:blip>
          <a:srcRect b="0" l="0" r="0" t="0"/>
          <a:stretch/>
        </p:blipFill>
        <p:spPr>
          <a:xfrm>
            <a:off x="7181042" y="2583212"/>
            <a:ext cx="57687" cy="52452"/>
          </a:xfrm>
          <a:prstGeom prst="rect">
            <a:avLst/>
          </a:prstGeom>
          <a:noFill/>
          <a:ln>
            <a:noFill/>
          </a:ln>
        </p:spPr>
      </p:pic>
      <p:pic>
        <p:nvPicPr>
          <p:cNvPr descr=" " id="761" name="Google Shape;761;p29"/>
          <p:cNvPicPr preferRelativeResize="0"/>
          <p:nvPr/>
        </p:nvPicPr>
        <p:blipFill rotWithShape="1">
          <a:blip r:embed="rId112">
            <a:alphaModFix/>
          </a:blip>
          <a:srcRect b="0" l="0" r="0" t="0"/>
          <a:stretch/>
        </p:blipFill>
        <p:spPr>
          <a:xfrm>
            <a:off x="7162689" y="2627797"/>
            <a:ext cx="94397" cy="78678"/>
          </a:xfrm>
          <a:prstGeom prst="rect">
            <a:avLst/>
          </a:prstGeom>
          <a:noFill/>
          <a:ln>
            <a:noFill/>
          </a:ln>
        </p:spPr>
      </p:pic>
      <p:sp>
        <p:nvSpPr>
          <p:cNvPr id="762" name="Google Shape;762;p29"/>
          <p:cNvSpPr/>
          <p:nvPr/>
        </p:nvSpPr>
        <p:spPr>
          <a:xfrm>
            <a:off x="7182354" y="2644844"/>
            <a:ext cx="7800" cy="7800"/>
          </a:xfrm>
          <a:prstGeom prst="ellipse">
            <a:avLst/>
          </a:prstGeom>
          <a:solidFill>
            <a:srgbClr val="005B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29"/>
          <p:cNvSpPr/>
          <p:nvPr/>
        </p:nvSpPr>
        <p:spPr>
          <a:xfrm>
            <a:off x="7182354" y="2663202"/>
            <a:ext cx="7800" cy="7800"/>
          </a:xfrm>
          <a:prstGeom prst="ellipse">
            <a:avLst/>
          </a:prstGeom>
          <a:solidFill>
            <a:srgbClr val="005B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29"/>
          <p:cNvSpPr/>
          <p:nvPr/>
        </p:nvSpPr>
        <p:spPr>
          <a:xfrm>
            <a:off x="7182354" y="2681560"/>
            <a:ext cx="7800" cy="7800"/>
          </a:xfrm>
          <a:prstGeom prst="ellipse">
            <a:avLst/>
          </a:prstGeom>
          <a:solidFill>
            <a:srgbClr val="005BFF"/>
          </a:solidFill>
          <a:ln>
            <a:noFill/>
          </a:ln>
        </p:spPr>
        <p:txBody>
          <a:bodyPr anchorCtr="0" anchor="ctr" bIns="22200" lIns="22200" spcFirstLastPara="1" rIns="22200" wrap="square" tIns="22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65" name="Google Shape;765;p29"/>
          <p:cNvPicPr preferRelativeResize="0"/>
          <p:nvPr/>
        </p:nvPicPr>
        <p:blipFill rotWithShape="1">
          <a:blip r:embed="rId113">
            <a:alphaModFix/>
          </a:blip>
          <a:srcRect b="0" l="0" r="0" t="0"/>
          <a:stretch/>
        </p:blipFill>
        <p:spPr>
          <a:xfrm>
            <a:off x="7194153" y="2644844"/>
            <a:ext cx="44576" cy="7868"/>
          </a:xfrm>
          <a:prstGeom prst="rect">
            <a:avLst/>
          </a:prstGeom>
          <a:noFill/>
          <a:ln>
            <a:noFill/>
          </a:ln>
        </p:spPr>
      </p:pic>
      <p:pic>
        <p:nvPicPr>
          <p:cNvPr descr=" " id="766" name="Google Shape;766;p29"/>
          <p:cNvPicPr preferRelativeResize="0"/>
          <p:nvPr/>
        </p:nvPicPr>
        <p:blipFill rotWithShape="1">
          <a:blip r:embed="rId114">
            <a:alphaModFix/>
          </a:blip>
          <a:srcRect b="0" l="0" r="0" t="0"/>
          <a:stretch/>
        </p:blipFill>
        <p:spPr>
          <a:xfrm>
            <a:off x="7194153" y="2663202"/>
            <a:ext cx="44576" cy="7868"/>
          </a:xfrm>
          <a:prstGeom prst="rect">
            <a:avLst/>
          </a:prstGeom>
          <a:noFill/>
          <a:ln>
            <a:noFill/>
          </a:ln>
        </p:spPr>
      </p:pic>
      <p:pic>
        <p:nvPicPr>
          <p:cNvPr descr=" " id="767" name="Google Shape;767;p29"/>
          <p:cNvPicPr preferRelativeResize="0"/>
          <p:nvPr/>
        </p:nvPicPr>
        <p:blipFill rotWithShape="1">
          <a:blip r:embed="rId115">
            <a:alphaModFix/>
          </a:blip>
          <a:srcRect b="0" l="0" r="0" t="0"/>
          <a:stretch/>
        </p:blipFill>
        <p:spPr>
          <a:xfrm>
            <a:off x="7194153" y="2681560"/>
            <a:ext cx="44576" cy="7868"/>
          </a:xfrm>
          <a:prstGeom prst="rect">
            <a:avLst/>
          </a:prstGeom>
          <a:noFill/>
          <a:ln>
            <a:noFill/>
          </a:ln>
        </p:spPr>
      </p:pic>
      <p:pic>
        <p:nvPicPr>
          <p:cNvPr descr=" " id="768" name="Google Shape;768;p29"/>
          <p:cNvPicPr preferRelativeResize="0"/>
          <p:nvPr/>
        </p:nvPicPr>
        <p:blipFill rotWithShape="1">
          <a:blip r:embed="rId116">
            <a:alphaModFix/>
          </a:blip>
          <a:srcRect b="0" l="0" r="0" t="0"/>
          <a:stretch/>
        </p:blipFill>
        <p:spPr>
          <a:xfrm>
            <a:off x="7136466" y="2874322"/>
            <a:ext cx="157328" cy="157356"/>
          </a:xfrm>
          <a:prstGeom prst="rect">
            <a:avLst/>
          </a:prstGeom>
          <a:noFill/>
          <a:ln>
            <a:noFill/>
          </a:ln>
        </p:spPr>
      </p:pic>
      <p:pic>
        <p:nvPicPr>
          <p:cNvPr descr=" " id="769" name="Google Shape;769;p29"/>
          <p:cNvPicPr preferRelativeResize="0"/>
          <p:nvPr/>
        </p:nvPicPr>
        <p:blipFill rotWithShape="1">
          <a:blip r:embed="rId117">
            <a:alphaModFix/>
          </a:blip>
          <a:srcRect b="0" l="0" r="0" t="0"/>
          <a:stretch/>
        </p:blipFill>
        <p:spPr>
          <a:xfrm>
            <a:off x="7143020" y="3175922"/>
            <a:ext cx="157328" cy="157356"/>
          </a:xfrm>
          <a:prstGeom prst="rect">
            <a:avLst/>
          </a:prstGeom>
          <a:noFill/>
          <a:ln>
            <a:noFill/>
          </a:ln>
        </p:spPr>
      </p:pic>
      <p:sp>
        <p:nvSpPr>
          <p:cNvPr id="770" name="Google Shape;770;p29"/>
          <p:cNvSpPr/>
          <p:nvPr/>
        </p:nvSpPr>
        <p:spPr>
          <a:xfrm>
            <a:off x="6902913" y="3878587"/>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1" name="Google Shape;771;p29"/>
          <p:cNvSpPr/>
          <p:nvPr/>
        </p:nvSpPr>
        <p:spPr>
          <a:xfrm>
            <a:off x="7107836" y="3811687"/>
            <a:ext cx="1932900" cy="27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47"/>
              <a:buFont typeface="Space Grotesk Medium"/>
              <a:buNone/>
            </a:pPr>
            <a:r>
              <a:rPr b="0" i="0" lang="en" sz="900" u="none" cap="none" strike="noStrike">
                <a:solidFill>
                  <a:srgbClr val="000000"/>
                </a:solidFill>
                <a:latin typeface="Space Grotesk Medium"/>
                <a:ea typeface="Space Grotesk Medium"/>
                <a:cs typeface="Space Grotesk Medium"/>
                <a:sym typeface="Space Grotesk Medium"/>
              </a:rPr>
              <a:t>Not Onboarded Yet</a:t>
            </a:r>
            <a:endParaRPr b="0" i="0" sz="900" u="none" cap="none" strike="noStrike">
              <a:solidFill>
                <a:srgbClr val="000000"/>
              </a:solidFill>
              <a:latin typeface="Calibri"/>
              <a:ea typeface="Calibri"/>
              <a:cs typeface="Calibri"/>
              <a:sym typeface="Calibri"/>
            </a:endParaRPr>
          </a:p>
        </p:txBody>
      </p:sp>
      <p:sp>
        <p:nvSpPr>
          <p:cNvPr id="772" name="Google Shape;772;p29"/>
          <p:cNvSpPr/>
          <p:nvPr/>
        </p:nvSpPr>
        <p:spPr>
          <a:xfrm>
            <a:off x="6902913" y="3656000"/>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3" name="Google Shape;773;p29"/>
          <p:cNvSpPr/>
          <p:nvPr/>
        </p:nvSpPr>
        <p:spPr>
          <a:xfrm>
            <a:off x="7107836" y="3589100"/>
            <a:ext cx="1932900" cy="27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47"/>
              <a:buFont typeface="Space Grotesk Medium"/>
              <a:buNone/>
            </a:pPr>
            <a:r>
              <a:rPr b="0" i="0" lang="en" sz="900" u="none" cap="none" strike="noStrike">
                <a:solidFill>
                  <a:srgbClr val="000000"/>
                </a:solidFill>
                <a:latin typeface="Space Grotesk Medium"/>
                <a:ea typeface="Space Grotesk Medium"/>
                <a:cs typeface="Space Grotesk Medium"/>
                <a:sym typeface="Space Grotesk Medium"/>
              </a:rPr>
              <a:t> Onboarded during POC</a:t>
            </a:r>
            <a:endParaRPr b="0" i="0" sz="900" u="none" cap="none" strike="noStrike">
              <a:solidFill>
                <a:srgbClr val="000000"/>
              </a:solidFill>
              <a:latin typeface="Calibri"/>
              <a:ea typeface="Calibri"/>
              <a:cs typeface="Calibri"/>
              <a:sym typeface="Calibri"/>
            </a:endParaRPr>
          </a:p>
        </p:txBody>
      </p:sp>
      <p:sp>
        <p:nvSpPr>
          <p:cNvPr id="774" name="Google Shape;774;p29"/>
          <p:cNvSpPr/>
          <p:nvPr/>
        </p:nvSpPr>
        <p:spPr>
          <a:xfrm>
            <a:off x="160400" y="1619764"/>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5" name="Google Shape;775;p29"/>
          <p:cNvSpPr/>
          <p:nvPr/>
        </p:nvSpPr>
        <p:spPr>
          <a:xfrm>
            <a:off x="160400" y="2044489"/>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6" name="Google Shape;776;p29"/>
          <p:cNvSpPr/>
          <p:nvPr/>
        </p:nvSpPr>
        <p:spPr>
          <a:xfrm>
            <a:off x="160400" y="2452451"/>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7" name="Google Shape;777;p29"/>
          <p:cNvSpPr/>
          <p:nvPr/>
        </p:nvSpPr>
        <p:spPr>
          <a:xfrm>
            <a:off x="160400" y="2754051"/>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8" name="Google Shape;778;p29"/>
          <p:cNvSpPr/>
          <p:nvPr/>
        </p:nvSpPr>
        <p:spPr>
          <a:xfrm>
            <a:off x="1919463" y="1619764"/>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79" name="Google Shape;779;p29"/>
          <p:cNvSpPr/>
          <p:nvPr/>
        </p:nvSpPr>
        <p:spPr>
          <a:xfrm>
            <a:off x="1919463" y="2881901"/>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0" name="Google Shape;780;p29"/>
          <p:cNvSpPr/>
          <p:nvPr/>
        </p:nvSpPr>
        <p:spPr>
          <a:xfrm>
            <a:off x="160400" y="3055651"/>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1" name="Google Shape;781;p29"/>
          <p:cNvSpPr/>
          <p:nvPr/>
        </p:nvSpPr>
        <p:spPr>
          <a:xfrm>
            <a:off x="1911263" y="201842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2" name="Google Shape;782;p29"/>
          <p:cNvSpPr/>
          <p:nvPr/>
        </p:nvSpPr>
        <p:spPr>
          <a:xfrm>
            <a:off x="1911263" y="2450164"/>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3" name="Google Shape;783;p29"/>
          <p:cNvSpPr/>
          <p:nvPr/>
        </p:nvSpPr>
        <p:spPr>
          <a:xfrm>
            <a:off x="3492638" y="16197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4" name="Google Shape;784;p29"/>
          <p:cNvSpPr/>
          <p:nvPr/>
        </p:nvSpPr>
        <p:spPr>
          <a:xfrm>
            <a:off x="3492638" y="2042164"/>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5" name="Google Shape;785;p29"/>
          <p:cNvSpPr/>
          <p:nvPr/>
        </p:nvSpPr>
        <p:spPr>
          <a:xfrm>
            <a:off x="3492638" y="23573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6" name="Google Shape;786;p29"/>
          <p:cNvSpPr/>
          <p:nvPr/>
        </p:nvSpPr>
        <p:spPr>
          <a:xfrm>
            <a:off x="3492638" y="269792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7" name="Google Shape;787;p29"/>
          <p:cNvSpPr/>
          <p:nvPr/>
        </p:nvSpPr>
        <p:spPr>
          <a:xfrm>
            <a:off x="5219975" y="16197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8" name="Google Shape;788;p29"/>
          <p:cNvSpPr/>
          <p:nvPr/>
        </p:nvSpPr>
        <p:spPr>
          <a:xfrm>
            <a:off x="5219975" y="2061589"/>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89" name="Google Shape;789;p29"/>
          <p:cNvSpPr/>
          <p:nvPr/>
        </p:nvSpPr>
        <p:spPr>
          <a:xfrm>
            <a:off x="5219975" y="2377801"/>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0" name="Google Shape;790;p29"/>
          <p:cNvSpPr/>
          <p:nvPr/>
        </p:nvSpPr>
        <p:spPr>
          <a:xfrm>
            <a:off x="5219975" y="2832739"/>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1" name="Google Shape;791;p29"/>
          <p:cNvSpPr/>
          <p:nvPr/>
        </p:nvSpPr>
        <p:spPr>
          <a:xfrm>
            <a:off x="7107836" y="4046012"/>
            <a:ext cx="1932900" cy="27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47"/>
              <a:buFont typeface="Space Grotesk Medium"/>
              <a:buNone/>
            </a:pPr>
            <a:r>
              <a:t/>
            </a:r>
            <a:endParaRPr b="0" i="0" sz="900" u="none" cap="none" strike="noStrike">
              <a:solidFill>
                <a:srgbClr val="000000"/>
              </a:solidFill>
              <a:latin typeface="Calibri"/>
              <a:ea typeface="Calibri"/>
              <a:cs typeface="Calibri"/>
              <a:sym typeface="Calibri"/>
            </a:endParaRPr>
          </a:p>
        </p:txBody>
      </p:sp>
      <p:sp>
        <p:nvSpPr>
          <p:cNvPr id="792" name="Google Shape;792;p29"/>
          <p:cNvSpPr/>
          <p:nvPr/>
        </p:nvSpPr>
        <p:spPr>
          <a:xfrm>
            <a:off x="6947300" y="16197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3" name="Google Shape;793;p29"/>
          <p:cNvSpPr/>
          <p:nvPr/>
        </p:nvSpPr>
        <p:spPr>
          <a:xfrm>
            <a:off x="6947300" y="19377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4" name="Google Shape;794;p29"/>
          <p:cNvSpPr/>
          <p:nvPr/>
        </p:nvSpPr>
        <p:spPr>
          <a:xfrm>
            <a:off x="6947300" y="22545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5" name="Google Shape;795;p29"/>
          <p:cNvSpPr/>
          <p:nvPr/>
        </p:nvSpPr>
        <p:spPr>
          <a:xfrm>
            <a:off x="6947300" y="2571376"/>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6" name="Google Shape;796;p29"/>
          <p:cNvSpPr/>
          <p:nvPr/>
        </p:nvSpPr>
        <p:spPr>
          <a:xfrm>
            <a:off x="6947300" y="2878301"/>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7" name="Google Shape;797;p29"/>
          <p:cNvSpPr/>
          <p:nvPr/>
        </p:nvSpPr>
        <p:spPr>
          <a:xfrm>
            <a:off x="6947300" y="3153864"/>
            <a:ext cx="142200" cy="142200"/>
          </a:xfrm>
          <a:prstGeom prst="ellipse">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798" name="Google Shape;798;p29"/>
          <p:cNvSpPr/>
          <p:nvPr/>
        </p:nvSpPr>
        <p:spPr>
          <a:xfrm>
            <a:off x="3517974" y="4357662"/>
            <a:ext cx="1932900" cy="276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47"/>
              <a:buFont typeface="Space Grotesk Medium"/>
              <a:buNone/>
            </a:pPr>
            <a:r>
              <a:rPr b="0" i="0" lang="en" sz="1347" u="none" cap="none" strike="noStrike">
                <a:solidFill>
                  <a:srgbClr val="000000"/>
                </a:solidFill>
                <a:highlight>
                  <a:srgbClr val="FFFFFF"/>
                </a:highlight>
                <a:latin typeface="Space Grotesk Medium"/>
                <a:ea typeface="Space Grotesk Medium"/>
                <a:cs typeface="Space Grotesk Medium"/>
                <a:sym typeface="Space Grotesk Medium"/>
              </a:rPr>
              <a:t>Platform-Wide Support</a:t>
            </a:r>
            <a:endParaRPr b="0" i="0" sz="1347" u="none" cap="none" strike="noStrike">
              <a:solidFill>
                <a:srgbClr val="000000"/>
              </a:solidFill>
              <a:highlight>
                <a:srgbClr val="FFFFFF"/>
              </a:highlight>
              <a:latin typeface="Calibri"/>
              <a:ea typeface="Calibri"/>
              <a:cs typeface="Calibri"/>
              <a:sym typeface="Calibri"/>
            </a:endParaRPr>
          </a:p>
        </p:txBody>
      </p:sp>
      <p:cxnSp>
        <p:nvCxnSpPr>
          <p:cNvPr id="799" name="Google Shape;799;p29"/>
          <p:cNvCxnSpPr>
            <a:stCxn id="612" idx="1"/>
          </p:cNvCxnSpPr>
          <p:nvPr/>
        </p:nvCxnSpPr>
        <p:spPr>
          <a:xfrm flipH="1">
            <a:off x="421949" y="3773210"/>
            <a:ext cx="8400" cy="473700"/>
          </a:xfrm>
          <a:prstGeom prst="straightConnector1">
            <a:avLst/>
          </a:prstGeom>
          <a:noFill/>
          <a:ln cap="flat" cmpd="sng" w="9525">
            <a:solidFill>
              <a:srgbClr val="8080E4"/>
            </a:solidFill>
            <a:prstDash val="solid"/>
            <a:round/>
            <a:headEnd len="sm" w="sm" type="none"/>
            <a:tailEnd len="sm" w="sm" type="none"/>
          </a:ln>
        </p:spPr>
      </p:cxnSp>
      <p:sp>
        <p:nvSpPr>
          <p:cNvPr id="800" name="Google Shape;800;p29"/>
          <p:cNvSpPr/>
          <p:nvPr/>
        </p:nvSpPr>
        <p:spPr>
          <a:xfrm>
            <a:off x="160400" y="3888326"/>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pic>
        <p:nvPicPr>
          <p:cNvPr descr=" " id="801" name="Google Shape;801;p29"/>
          <p:cNvPicPr preferRelativeResize="0"/>
          <p:nvPr/>
        </p:nvPicPr>
        <p:blipFill rotWithShape="1">
          <a:blip r:embed="rId23">
            <a:alphaModFix/>
          </a:blip>
          <a:srcRect b="0" l="0" r="0" t="0"/>
          <a:stretch/>
        </p:blipFill>
        <p:spPr>
          <a:xfrm>
            <a:off x="418199" y="4233778"/>
            <a:ext cx="534261" cy="13113"/>
          </a:xfrm>
          <a:prstGeom prst="rect">
            <a:avLst/>
          </a:prstGeom>
          <a:noFill/>
          <a:ln>
            <a:noFill/>
          </a:ln>
        </p:spPr>
      </p:pic>
      <p:sp>
        <p:nvSpPr>
          <p:cNvPr id="802" name="Google Shape;802;p29"/>
          <p:cNvSpPr/>
          <p:nvPr/>
        </p:nvSpPr>
        <p:spPr>
          <a:xfrm>
            <a:off x="160400" y="3471989"/>
            <a:ext cx="142200" cy="142200"/>
          </a:xfrm>
          <a:prstGeom prst="ellipse">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SemiBold"/>
              <a:ea typeface="Montserrat SemiBold"/>
              <a:cs typeface="Montserrat SemiBold"/>
              <a:sym typeface="Montserrat SemiBold"/>
            </a:endParaRPr>
          </a:p>
        </p:txBody>
      </p:sp>
      <p:sp>
        <p:nvSpPr>
          <p:cNvPr id="803" name="Google Shape;803;p29"/>
          <p:cNvSpPr txBox="1"/>
          <p:nvPr/>
        </p:nvSpPr>
        <p:spPr>
          <a:xfrm>
            <a:off x="490575" y="3828463"/>
            <a:ext cx="3000000" cy="446700"/>
          </a:xfrm>
          <a:prstGeom prst="rect">
            <a:avLst/>
          </a:prstGeom>
          <a:noFill/>
          <a:ln>
            <a:noFill/>
          </a:ln>
        </p:spPr>
        <p:txBody>
          <a:bodyPr anchorCtr="0" anchor="t" bIns="91425" lIns="91425" spcFirstLastPara="1" rIns="91425" wrap="square" tIns="91425">
            <a:spAutoFit/>
          </a:bodyPr>
          <a:lstStyle/>
          <a:p>
            <a:pPr indent="0" lvl="0" marL="0" marR="0" rtl="0" algn="l">
              <a:lnSpc>
                <a:spcPct val="120018"/>
              </a:lnSpc>
              <a:spcBef>
                <a:spcPts val="0"/>
              </a:spcBef>
              <a:spcAft>
                <a:spcPts val="0"/>
              </a:spcAft>
              <a:buClr>
                <a:srgbClr val="000000"/>
              </a:buClr>
              <a:buSzPts val="774"/>
              <a:buFont typeface="Arial"/>
              <a:buNone/>
            </a:pPr>
            <a:r>
              <a:rPr b="0" i="0" lang="en" sz="774" u="none" cap="none" strike="noStrike">
                <a:solidFill>
                  <a:srgbClr val="000000"/>
                </a:solidFill>
                <a:latin typeface="Space Grotesk"/>
                <a:ea typeface="Space Grotesk"/>
                <a:cs typeface="Space Grotesk"/>
                <a:sym typeface="Space Grotesk"/>
              </a:rPr>
              <a:t>Container Image </a:t>
            </a:r>
            <a:br>
              <a:rPr b="0" i="0" lang="en" sz="774" u="none" cap="none" strike="noStrike">
                <a:solidFill>
                  <a:srgbClr val="000000"/>
                </a:solidFill>
                <a:latin typeface="Space Grotesk"/>
                <a:ea typeface="Space Grotesk"/>
                <a:cs typeface="Space Grotesk"/>
                <a:sym typeface="Space Grotesk"/>
              </a:rPr>
            </a:br>
            <a:r>
              <a:rPr b="0" i="0" lang="en" sz="774" u="none" cap="none" strike="noStrike">
                <a:solidFill>
                  <a:srgbClr val="000000"/>
                </a:solidFill>
                <a:latin typeface="Space Grotesk"/>
                <a:ea typeface="Space Grotesk"/>
                <a:cs typeface="Space Grotesk"/>
                <a:sym typeface="Space Grotesk"/>
              </a:rPr>
              <a:t>Scanning</a:t>
            </a:r>
            <a:endParaRPr b="0" i="0" sz="774" u="none" cap="none" strike="noStrike">
              <a:solidFill>
                <a:srgbClr val="000000"/>
              </a:solidFill>
              <a:latin typeface="Calibri"/>
              <a:ea typeface="Calibri"/>
              <a:cs typeface="Calibri"/>
              <a:sym typeface="Calibri"/>
            </a:endParaRPr>
          </a:p>
        </p:txBody>
      </p:sp>
      <p:pic>
        <p:nvPicPr>
          <p:cNvPr id="804" name="Google Shape;804;p29"/>
          <p:cNvPicPr preferRelativeResize="0"/>
          <p:nvPr/>
        </p:nvPicPr>
        <p:blipFill rotWithShape="1">
          <a:blip r:embed="rId118">
            <a:alphaModFix/>
          </a:blip>
          <a:srcRect b="0" l="0" r="0" t="0"/>
          <a:stretch/>
        </p:blipFill>
        <p:spPr>
          <a:xfrm>
            <a:off x="351687" y="3933925"/>
            <a:ext cx="157325" cy="981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30"/>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 Customer ] - Case Study</a:t>
            </a:r>
            <a:endParaRPr/>
          </a:p>
        </p:txBody>
      </p:sp>
      <p:sp>
        <p:nvSpPr>
          <p:cNvPr id="810" name="Google Shape;810;p30"/>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811" name="Google Shape;811;p30"/>
          <p:cNvSpPr/>
          <p:nvPr/>
        </p:nvSpPr>
        <p:spPr>
          <a:xfrm>
            <a:off x="245150" y="1127313"/>
            <a:ext cx="4075200" cy="150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Space Grotesk"/>
              <a:buNone/>
            </a:pPr>
            <a:r>
              <a:rPr b="1" i="0" lang="en" sz="2400" u="none" cap="none" strike="noStrike">
                <a:solidFill>
                  <a:srgbClr val="11206D"/>
                </a:solidFill>
                <a:latin typeface="Space Grotesk"/>
                <a:ea typeface="Space Grotesk"/>
                <a:cs typeface="Space Grotesk"/>
                <a:sym typeface="Space Grotesk"/>
              </a:rPr>
              <a:t>Top UAE Bank Achieves Continuous Cloud Compliance on Azure</a:t>
            </a:r>
            <a:endParaRPr b="0" i="0" sz="2400" u="none" cap="none" strike="noStrike">
              <a:solidFill>
                <a:srgbClr val="11206D"/>
              </a:solidFill>
              <a:latin typeface="Space Grotesk"/>
              <a:ea typeface="Space Grotesk"/>
              <a:cs typeface="Space Grotesk"/>
              <a:sym typeface="Space Grotesk"/>
            </a:endParaRPr>
          </a:p>
        </p:txBody>
      </p:sp>
      <p:sp>
        <p:nvSpPr>
          <p:cNvPr id="812" name="Google Shape;812;p30"/>
          <p:cNvSpPr/>
          <p:nvPr/>
        </p:nvSpPr>
        <p:spPr>
          <a:xfrm>
            <a:off x="245150" y="2479163"/>
            <a:ext cx="4075200" cy="543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Space Grotesk"/>
              <a:buNone/>
            </a:pPr>
            <a:r>
              <a:rPr b="0" i="0" lang="en" sz="1400" u="none" cap="none" strike="noStrike">
                <a:solidFill>
                  <a:srgbClr val="000000"/>
                </a:solidFill>
                <a:latin typeface="Space Grotesk"/>
                <a:ea typeface="Space Grotesk"/>
                <a:cs typeface="Space Grotesk"/>
                <a:sym typeface="Space Grotesk"/>
              </a:rPr>
              <a:t>Achieves 300+ Vulnerabilities Detected Across 6 Azure Subscriptions</a:t>
            </a:r>
            <a:endParaRPr b="0" i="0" sz="1400" u="none" cap="none" strike="noStrike">
              <a:solidFill>
                <a:srgbClr val="000000"/>
              </a:solidFill>
              <a:latin typeface="Space Grotesk"/>
              <a:ea typeface="Space Grotesk"/>
              <a:cs typeface="Space Grotesk"/>
              <a:sym typeface="Space Grotesk"/>
            </a:endParaRPr>
          </a:p>
        </p:txBody>
      </p:sp>
      <p:pic>
        <p:nvPicPr>
          <p:cNvPr id="813" name="Google Shape;813;p30"/>
          <p:cNvPicPr preferRelativeResize="0"/>
          <p:nvPr/>
        </p:nvPicPr>
        <p:blipFill rotWithShape="1">
          <a:blip r:embed="rId3">
            <a:alphaModFix/>
          </a:blip>
          <a:srcRect b="0" l="0" r="0" t="0"/>
          <a:stretch/>
        </p:blipFill>
        <p:spPr>
          <a:xfrm>
            <a:off x="321350" y="3235763"/>
            <a:ext cx="3999001" cy="780422"/>
          </a:xfrm>
          <a:prstGeom prst="rect">
            <a:avLst/>
          </a:prstGeom>
          <a:noFill/>
          <a:ln>
            <a:noFill/>
          </a:ln>
        </p:spPr>
      </p:pic>
      <p:sp>
        <p:nvSpPr>
          <p:cNvPr id="814" name="Google Shape;814;p30"/>
          <p:cNvSpPr/>
          <p:nvPr/>
        </p:nvSpPr>
        <p:spPr>
          <a:xfrm>
            <a:off x="4659675" y="1172225"/>
            <a:ext cx="4069200" cy="3302100"/>
          </a:xfrm>
          <a:prstGeom prst="rect">
            <a:avLst/>
          </a:prstGeom>
          <a:solidFill>
            <a:srgbClr val="FFFFFF"/>
          </a:solidFill>
          <a:ln cap="flat" cmpd="sng" w="9525">
            <a:solidFill>
              <a:srgbClr val="E6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30"/>
          <p:cNvSpPr/>
          <p:nvPr/>
        </p:nvSpPr>
        <p:spPr>
          <a:xfrm>
            <a:off x="4806350" y="1318435"/>
            <a:ext cx="37575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C8"/>
              </a:buClr>
              <a:buSzPts val="1250"/>
              <a:buFont typeface="Space Grotesk"/>
              <a:buNone/>
            </a:pPr>
            <a:r>
              <a:rPr b="1" i="0" lang="en" sz="1800" u="none" cap="none" strike="noStrike">
                <a:solidFill>
                  <a:srgbClr val="11206D"/>
                </a:solidFill>
                <a:latin typeface="Space Grotesk"/>
                <a:ea typeface="Space Grotesk"/>
                <a:cs typeface="Space Grotesk"/>
                <a:sym typeface="Space Grotesk"/>
              </a:rPr>
              <a:t>Outcomes</a:t>
            </a:r>
            <a:endParaRPr b="0" i="0" sz="1800" u="none" cap="none" strike="noStrike">
              <a:solidFill>
                <a:srgbClr val="11206D"/>
              </a:solidFill>
              <a:latin typeface="Space Grotesk"/>
              <a:ea typeface="Space Grotesk"/>
              <a:cs typeface="Space Grotesk"/>
              <a:sym typeface="Space Grotesk"/>
            </a:endParaRPr>
          </a:p>
        </p:txBody>
      </p:sp>
      <p:sp>
        <p:nvSpPr>
          <p:cNvPr id="816" name="Google Shape;816;p30"/>
          <p:cNvSpPr/>
          <p:nvPr/>
        </p:nvSpPr>
        <p:spPr>
          <a:xfrm>
            <a:off x="4806350" y="1699625"/>
            <a:ext cx="3718200" cy="2582400"/>
          </a:xfrm>
          <a:prstGeom prst="rect">
            <a:avLst/>
          </a:prstGeom>
          <a:noFill/>
          <a:ln>
            <a:noFill/>
          </a:ln>
        </p:spPr>
        <p:txBody>
          <a:bodyPr anchorCtr="0" anchor="ctr" bIns="45700" lIns="91425" spcFirstLastPara="1" rIns="91425" wrap="square" tIns="45700">
            <a:noAutofit/>
          </a:bodyPr>
          <a:lstStyle/>
          <a:p>
            <a:pPr indent="-109220" lvl="0" marL="137160" marR="0" rtl="0" algn="l">
              <a:lnSpc>
                <a:spcPct val="100000"/>
              </a:lnSpc>
              <a:spcBef>
                <a:spcPts val="0"/>
              </a:spcBef>
              <a:spcAft>
                <a:spcPts val="0"/>
              </a:spcAft>
              <a:buClr>
                <a:srgbClr val="000000"/>
              </a:buClr>
              <a:buSzPts val="1000"/>
              <a:buFont typeface="Space Grotesk"/>
              <a:buChar char="●"/>
            </a:pPr>
            <a:r>
              <a:rPr b="0" i="0" lang="en" sz="1000" u="none" cap="none" strike="noStrike">
                <a:solidFill>
                  <a:srgbClr val="000000"/>
                </a:solidFill>
                <a:latin typeface="Space Grotesk"/>
                <a:ea typeface="Space Grotesk"/>
                <a:cs typeface="Space Grotesk"/>
                <a:sym typeface="Space Grotesk"/>
              </a:rPr>
              <a:t>Detected 300+ unique vulnerabilities across 6 Azure subscriptions — zero disruption to banking operations.</a:t>
            </a:r>
            <a:endParaRPr b="0" i="0" sz="1000" u="none" cap="none" strike="noStrike">
              <a:solidFill>
                <a:srgbClr val="000000"/>
              </a:solidFill>
              <a:latin typeface="Space Grotesk"/>
              <a:ea typeface="Space Grotesk"/>
              <a:cs typeface="Space Grotesk"/>
              <a:sym typeface="Space Grotesk"/>
            </a:endParaRPr>
          </a:p>
          <a:p>
            <a:pPr indent="-45720" lvl="0" marL="13716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Space Grotesk"/>
              <a:ea typeface="Space Grotesk"/>
              <a:cs typeface="Space Grotesk"/>
              <a:sym typeface="Space Grotesk"/>
            </a:endParaRPr>
          </a:p>
          <a:p>
            <a:pPr indent="-109220" lvl="0" marL="137160" marR="0" rtl="0" algn="l">
              <a:lnSpc>
                <a:spcPct val="100000"/>
              </a:lnSpc>
              <a:spcBef>
                <a:spcPts val="0"/>
              </a:spcBef>
              <a:spcAft>
                <a:spcPts val="0"/>
              </a:spcAft>
              <a:buClr>
                <a:srgbClr val="000000"/>
              </a:buClr>
              <a:buSzPts val="1000"/>
              <a:buFont typeface="Space Grotesk"/>
              <a:buChar char="●"/>
            </a:pPr>
            <a:r>
              <a:rPr b="0" i="0" lang="en" sz="1000" u="none" cap="none" strike="noStrike">
                <a:solidFill>
                  <a:srgbClr val="000000"/>
                </a:solidFill>
                <a:latin typeface="Space Grotesk"/>
                <a:ea typeface="Space Grotesk"/>
                <a:cs typeface="Space Grotesk"/>
                <a:sym typeface="Space Grotesk"/>
              </a:rPr>
              <a:t>Achieved continuous CIS, PCI, and SOC 2 Type II compliance via automated CSPM monitoring.</a:t>
            </a:r>
            <a:endParaRPr b="0" i="0" sz="1000" u="none" cap="none" strike="noStrike">
              <a:solidFill>
                <a:srgbClr val="000000"/>
              </a:solidFill>
              <a:latin typeface="Space Grotesk"/>
              <a:ea typeface="Space Grotesk"/>
              <a:cs typeface="Space Grotesk"/>
              <a:sym typeface="Space Grotesk"/>
            </a:endParaRPr>
          </a:p>
          <a:p>
            <a:pPr indent="-45720" lvl="0" marL="13716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Space Grotesk"/>
              <a:ea typeface="Space Grotesk"/>
              <a:cs typeface="Space Grotesk"/>
              <a:sym typeface="Space Grotesk"/>
            </a:endParaRPr>
          </a:p>
          <a:p>
            <a:pPr indent="-109220" lvl="0" marL="137160" marR="0" rtl="0" algn="l">
              <a:lnSpc>
                <a:spcPct val="100000"/>
              </a:lnSpc>
              <a:spcBef>
                <a:spcPts val="0"/>
              </a:spcBef>
              <a:spcAft>
                <a:spcPts val="0"/>
              </a:spcAft>
              <a:buClr>
                <a:srgbClr val="000000"/>
              </a:buClr>
              <a:buSzPts val="1000"/>
              <a:buFont typeface="Space Grotesk"/>
              <a:buChar char="●"/>
            </a:pPr>
            <a:r>
              <a:rPr b="0" i="0" lang="en" sz="1000" u="none" cap="none" strike="noStrike">
                <a:solidFill>
                  <a:srgbClr val="000000"/>
                </a:solidFill>
                <a:latin typeface="Space Grotesk"/>
                <a:ea typeface="Space Grotesk"/>
                <a:cs typeface="Space Grotesk"/>
                <a:sym typeface="Space Grotesk"/>
              </a:rPr>
              <a:t>Closed the AKS runtime security gap with live threat detection across production workloads.</a:t>
            </a:r>
            <a:endParaRPr b="0" i="0" sz="1000" u="none" cap="none" strike="noStrike">
              <a:solidFill>
                <a:srgbClr val="000000"/>
              </a:solidFill>
              <a:latin typeface="Space Grotesk"/>
              <a:ea typeface="Space Grotesk"/>
              <a:cs typeface="Space Grotesk"/>
              <a:sym typeface="Space Grotesk"/>
            </a:endParaRPr>
          </a:p>
          <a:p>
            <a:pPr indent="-45720" lvl="0" marL="13716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Space Grotesk"/>
              <a:ea typeface="Space Grotesk"/>
              <a:cs typeface="Space Grotesk"/>
              <a:sym typeface="Space Grotesk"/>
            </a:endParaRPr>
          </a:p>
          <a:p>
            <a:pPr indent="-109220" lvl="0" marL="137160" marR="0" rtl="0" algn="l">
              <a:lnSpc>
                <a:spcPct val="100000"/>
              </a:lnSpc>
              <a:spcBef>
                <a:spcPts val="0"/>
              </a:spcBef>
              <a:spcAft>
                <a:spcPts val="0"/>
              </a:spcAft>
              <a:buClr>
                <a:srgbClr val="000000"/>
              </a:buClr>
              <a:buSzPts val="1000"/>
              <a:buFont typeface="Space Grotesk"/>
              <a:buChar char="●"/>
            </a:pPr>
            <a:r>
              <a:rPr b="0" i="0" lang="en" sz="1000" u="none" cap="none" strike="noStrike">
                <a:solidFill>
                  <a:srgbClr val="000000"/>
                </a:solidFill>
                <a:latin typeface="Space Grotesk"/>
                <a:ea typeface="Space Grotesk"/>
                <a:cs typeface="Space Grotesk"/>
                <a:sym typeface="Space Grotesk"/>
              </a:rPr>
              <a:t>Eliminated ACR image blind spots by scanning containers before production deployment.</a:t>
            </a:r>
            <a:endParaRPr b="0" i="0" sz="1000" u="none" cap="none" strike="noStrike">
              <a:solidFill>
                <a:srgbClr val="000000"/>
              </a:solidFill>
              <a:latin typeface="Space Grotesk"/>
              <a:ea typeface="Space Grotesk"/>
              <a:cs typeface="Space Grotesk"/>
              <a:sym typeface="Space Grotesk"/>
            </a:endParaRPr>
          </a:p>
          <a:p>
            <a:pPr indent="-45720" lvl="0" marL="13716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Space Grotesk"/>
              <a:ea typeface="Space Grotesk"/>
              <a:cs typeface="Space Grotesk"/>
              <a:sym typeface="Space Grotesk"/>
            </a:endParaRPr>
          </a:p>
          <a:p>
            <a:pPr indent="-109220" lvl="0" marL="137160" marR="0" rtl="0" algn="l">
              <a:lnSpc>
                <a:spcPct val="100000"/>
              </a:lnSpc>
              <a:spcBef>
                <a:spcPts val="0"/>
              </a:spcBef>
              <a:spcAft>
                <a:spcPts val="0"/>
              </a:spcAft>
              <a:buClr>
                <a:srgbClr val="000000"/>
              </a:buClr>
              <a:buSzPts val="1000"/>
              <a:buFont typeface="Space Grotesk"/>
              <a:buChar char="●"/>
            </a:pPr>
            <a:r>
              <a:rPr b="0" i="0" lang="en" sz="1000" u="none" cap="none" strike="noStrike">
                <a:solidFill>
                  <a:srgbClr val="000000"/>
                </a:solidFill>
                <a:latin typeface="Space Grotesk"/>
                <a:ea typeface="Space Grotesk"/>
                <a:cs typeface="Space Grotesk"/>
                <a:sym typeface="Space Grotesk"/>
              </a:rPr>
              <a:t>Consolidated cloud, container, and runtime security into a single AccuKnox Managed OnPrem deployment — reducing toolchain complexity across a regulated environment.</a:t>
            </a:r>
            <a:endParaRPr b="0" i="0" sz="1000" u="none" cap="none" strike="noStrike">
              <a:solidFill>
                <a:srgbClr val="000000"/>
              </a:solidFill>
              <a:latin typeface="Space Grotesk"/>
              <a:ea typeface="Space Grotesk"/>
              <a:cs typeface="Space Grotesk"/>
              <a:sym typeface="Space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31"/>
          <p:cNvSpPr txBox="1"/>
          <p:nvPr>
            <p:ph type="title"/>
          </p:nvPr>
        </p:nvSpPr>
        <p:spPr>
          <a:xfrm>
            <a:off x="873450" y="1761775"/>
            <a:ext cx="7397100" cy="1204800"/>
          </a:xfrm>
          <a:prstGeom prst="rect">
            <a:avLst/>
          </a:prstGeom>
        </p:spPr>
        <p:txBody>
          <a:bodyPr anchorCtr="0" anchor="ctr" bIns="91425" lIns="365750" spcFirstLastPara="1" rIns="91425" wrap="square" tIns="91425">
            <a:normAutofit/>
          </a:bodyPr>
          <a:lstStyle/>
          <a:p>
            <a:pPr indent="0" lvl="0" marL="0" rtl="0" algn="ctr">
              <a:spcBef>
                <a:spcPts val="0"/>
              </a:spcBef>
              <a:spcAft>
                <a:spcPts val="0"/>
              </a:spcAft>
              <a:buNone/>
            </a:pPr>
            <a:r>
              <a:rPr lang="en"/>
              <a:t>AccuKnox Differentiated Capabilities</a:t>
            </a:r>
            <a:endParaRPr/>
          </a:p>
        </p:txBody>
      </p:sp>
      <p:sp>
        <p:nvSpPr>
          <p:cNvPr id="822" name="Google Shape;822;p31"/>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2"/>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Better Coverage </a:t>
            </a:r>
            <a:endParaRPr/>
          </a:p>
        </p:txBody>
      </p:sp>
      <p:sp>
        <p:nvSpPr>
          <p:cNvPr id="828" name="Google Shape;828;p32"/>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graphicFrame>
        <p:nvGraphicFramePr>
          <p:cNvPr id="829" name="Google Shape;829;p32"/>
          <p:cNvGraphicFramePr/>
          <p:nvPr/>
        </p:nvGraphicFramePr>
        <p:xfrm>
          <a:off x="228925" y="943200"/>
          <a:ext cx="3000000" cy="3000000"/>
        </p:xfrm>
        <a:graphic>
          <a:graphicData uri="http://schemas.openxmlformats.org/drawingml/2006/table">
            <a:tbl>
              <a:tblPr>
                <a:noFill/>
                <a:tableStyleId>{8AF8EC7F-7D29-441C-9CC0-1E95C7AD3B7F}</a:tableStyleId>
              </a:tblPr>
              <a:tblGrid>
                <a:gridCol w="1272525"/>
                <a:gridCol w="1087500"/>
                <a:gridCol w="563050"/>
                <a:gridCol w="901100"/>
                <a:gridCol w="931025"/>
                <a:gridCol w="970525"/>
                <a:gridCol w="559000"/>
                <a:gridCol w="594125"/>
                <a:gridCol w="954675"/>
                <a:gridCol w="852625"/>
              </a:tblGrid>
              <a:tr h="413550">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Features</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Palo Alto</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WIZ</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Sysdig</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Crowdstrike</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Tigera</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Isovalent</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SONRAI</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SNYK</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AccuKnox</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r>
              <a:tr h="937450">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11206D"/>
                          </a:solidFill>
                          <a:latin typeface="Space Grotesk"/>
                          <a:ea typeface="Space Grotesk"/>
                          <a:cs typeface="Space Grotesk"/>
                          <a:sym typeface="Space Grotesk"/>
                        </a:rPr>
                        <a:t>On-Prem Air-Gapped CNAPP Deployment </a:t>
                      </a:r>
                      <a:br>
                        <a:rPr b="1" lang="en" sz="800" u="none" cap="none" strike="noStrike">
                          <a:solidFill>
                            <a:srgbClr val="11206D"/>
                          </a:solidFill>
                          <a:latin typeface="Space Grotesk"/>
                          <a:ea typeface="Space Grotesk"/>
                          <a:cs typeface="Space Grotesk"/>
                          <a:sym typeface="Space Grotesk"/>
                        </a:rPr>
                      </a:br>
                      <a:r>
                        <a:rPr b="1" lang="en" sz="800" u="none" cap="none" strike="noStrike">
                          <a:solidFill>
                            <a:srgbClr val="11206D"/>
                          </a:solidFill>
                          <a:latin typeface="Space Grotesk"/>
                          <a:ea typeface="Space Grotesk"/>
                          <a:cs typeface="Space Grotesk"/>
                          <a:sym typeface="Space Grotesk"/>
                        </a:rPr>
                        <a:t>(Vulnerability Mgmt. &amp; Container Security)</a:t>
                      </a:r>
                      <a:endParaRPr b="1"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Space Grotesk"/>
                          <a:ea typeface="Space Grotesk"/>
                          <a:cs typeface="Space Grotesk"/>
                          <a:sym typeface="Space Grotesk"/>
                        </a:rPr>
                        <a:t>⚠ Supports Runtime Protection in On-Prem but don’t support Vuln Mgmt.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Supports Runtime Protection in On-Prem but don’t support Vuln Mgmt.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Supports Runtime Protection in On-Prem but don’t support Vuln Mgmt.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✅Supports both Runtime protection and Vuln mgt. In On-prem air-gapped deployment model</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7444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11206D"/>
                          </a:solidFill>
                          <a:latin typeface="Space Grotesk"/>
                          <a:ea typeface="Space Grotesk"/>
                          <a:cs typeface="Space Grotesk"/>
                          <a:sym typeface="Space Grotesk"/>
                        </a:rPr>
                        <a:t>CNCF Opensource led</a:t>
                      </a:r>
                      <a:endParaRPr b="1"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AccuKnox built, now opensource, Runtime Security engine ~ KubeArmor</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7444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11206D"/>
                          </a:solidFill>
                          <a:latin typeface="Space Grotesk"/>
                          <a:ea typeface="Space Grotesk"/>
                          <a:cs typeface="Space Grotesk"/>
                          <a:sym typeface="Space Grotesk"/>
                        </a:rPr>
                        <a:t>ASPM &amp; SDLC Security</a:t>
                      </a:r>
                      <a:endParaRPr b="1"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Space Grotesk"/>
                          <a:ea typeface="Space Grotesk"/>
                          <a:cs typeface="Space Grotesk"/>
                          <a:sym typeface="Space Grotesk"/>
                        </a:rPr>
                        <a:t>IaC, SCA, CI/CD Security, Supply chain sec, Secrets Scanning</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IaC, SCA &amp; CI/CD Security</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Acquired Bionic.IaC, SCA, SAST, CI/CD Security, </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Only container image scanning</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Provides only Approval mechanisms</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 Snyk Apprisk + Helios + Gemini Code Assist</a:t>
                      </a:r>
                      <a:br>
                        <a:rPr lang="en" sz="700" u="none" cap="none" strike="noStrike">
                          <a:solidFill>
                            <a:srgbClr val="000000"/>
                          </a:solidFill>
                          <a:latin typeface="Space Grotesk"/>
                          <a:ea typeface="Space Grotesk"/>
                          <a:cs typeface="Space Grotesk"/>
                          <a:sym typeface="Space Grotesk"/>
                        </a:rPr>
                      </a:br>
                      <a:r>
                        <a:rPr lang="en" sz="700" u="none" cap="none" strike="noStrike">
                          <a:solidFill>
                            <a:srgbClr val="000000"/>
                          </a:solidFill>
                          <a:latin typeface="Space Grotesk"/>
                          <a:ea typeface="Space Grotesk"/>
                          <a:cs typeface="Space Grotesk"/>
                          <a:sym typeface="Space Grotesk"/>
                        </a:rPr>
                        <a:t>SAST, DAST, SCA, SBOM, IaC, CI/CD Security</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r>
                        <a:rPr lang="en" sz="700" u="none" cap="none" strike="noStrike">
                          <a:latin typeface="Space Grotesk"/>
                          <a:ea typeface="Space Grotesk"/>
                          <a:cs typeface="Space Grotesk"/>
                          <a:sym typeface="Space Grotesk"/>
                        </a:rPr>
                        <a:t>IaC, SAST, DAST, SCA, SBOM Secrets Scanning, CI/CD Security with AskAda</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6479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11206D"/>
                          </a:solidFill>
                          <a:latin typeface="Space Grotesk"/>
                          <a:ea typeface="Space Grotesk"/>
                          <a:cs typeface="Space Grotesk"/>
                          <a:sym typeface="Space Grotesk"/>
                        </a:rPr>
                        <a:t>In-Line/ Proactive Remediation</a:t>
                      </a:r>
                      <a:endParaRPr b="1"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Space Grotesk"/>
                          <a:ea typeface="Space Grotesk"/>
                          <a:cs typeface="Space Grotesk"/>
                          <a:sym typeface="Space Grotesk"/>
                        </a:rPr>
                        <a:t>Supports in-line mitigation however requires changes to the runC binary (intrusive)</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✅Patented Technology based on Opensource Foundation</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33"/>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Better Coverage </a:t>
            </a:r>
            <a:endParaRPr/>
          </a:p>
        </p:txBody>
      </p:sp>
      <p:sp>
        <p:nvSpPr>
          <p:cNvPr id="835" name="Google Shape;835;p33"/>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836" name="Google Shape;836;p33"/>
          <p:cNvGraphicFramePr/>
          <p:nvPr/>
        </p:nvGraphicFramePr>
        <p:xfrm>
          <a:off x="276975" y="1218213"/>
          <a:ext cx="3000000" cy="3000000"/>
        </p:xfrm>
        <a:graphic>
          <a:graphicData uri="http://schemas.openxmlformats.org/drawingml/2006/table">
            <a:tbl>
              <a:tblPr>
                <a:noFill/>
                <a:tableStyleId>{8AF8EC7F-7D29-441C-9CC0-1E95C7AD3B7F}</a:tableStyleId>
              </a:tblPr>
              <a:tblGrid>
                <a:gridCol w="1296450"/>
                <a:gridCol w="842300"/>
                <a:gridCol w="574950"/>
                <a:gridCol w="778625"/>
                <a:gridCol w="1083575"/>
                <a:gridCol w="790675"/>
                <a:gridCol w="750775"/>
                <a:gridCol w="815475"/>
                <a:gridCol w="675450"/>
                <a:gridCol w="981775"/>
              </a:tblGrid>
              <a:tr h="375550">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Features</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Palo Alto</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WIZ</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Sysdig</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Crowdstrike</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Tigera</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Isovalent</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SONRAI</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SNYK</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AccuKnox</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r>
              <a:tr h="328600">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11206D"/>
                          </a:solidFill>
                          <a:latin typeface="Space Grotesk"/>
                          <a:ea typeface="Space Grotesk"/>
                          <a:cs typeface="Space Grotesk"/>
                          <a:sym typeface="Space Grotesk"/>
                        </a:rPr>
                        <a:t>Continuous Diagnostic and Mitigation</a:t>
                      </a:r>
                      <a:endParaRPr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61027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11206D"/>
                          </a:solidFill>
                          <a:latin typeface="Space Grotesk"/>
                          <a:ea typeface="Space Grotesk"/>
                          <a:cs typeface="Space Grotesk"/>
                          <a:sym typeface="Space Grotesk"/>
                        </a:rPr>
                        <a:t>Vulnerability Prioritization</a:t>
                      </a:r>
                      <a:endParaRPr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Contextual Risk based Prioritization</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✅With </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CheckMarX</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✅Falcon Spotlight’s ExPRT.AI prioritization model</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Age, Exploit, CVSS score</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DeeCode AI for SAST ✅</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AccuRisk™ </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54577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11206D"/>
                          </a:solidFill>
                          <a:latin typeface="Space Grotesk"/>
                          <a:ea typeface="Space Grotesk"/>
                          <a:cs typeface="Space Grotesk"/>
                          <a:sym typeface="Space Grotesk"/>
                        </a:rPr>
                        <a:t>30+ Compliance Framework Support</a:t>
                      </a:r>
                      <a:endParaRPr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Only k8s</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Only k8s</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Less Compliance Support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Less Compliance Support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✅Multi-Cloud and Containers</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54577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11206D"/>
                          </a:solidFill>
                          <a:latin typeface="Space Grotesk"/>
                          <a:ea typeface="Space Grotesk"/>
                          <a:cs typeface="Space Grotesk"/>
                          <a:sym typeface="Space Grotesk"/>
                        </a:rPr>
                        <a:t>IaC Scanning</a:t>
                      </a:r>
                      <a:endParaRPr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700"/>
                        <a:buFont typeface="Arial"/>
                        <a:buNone/>
                      </a:pPr>
                      <a:r>
                        <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700"/>
                        <a:buFont typeface="Arial"/>
                        <a:buNone/>
                      </a:pPr>
                      <a:r>
                        <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54577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rgbClr val="11206D"/>
                          </a:solidFill>
                          <a:latin typeface="Space Grotesk"/>
                          <a:ea typeface="Space Grotesk"/>
                          <a:cs typeface="Space Grotesk"/>
                          <a:sym typeface="Space Grotesk"/>
                        </a:rPr>
                        <a:t>Admission Controller</a:t>
                      </a:r>
                      <a:endParaRPr sz="800" u="none" cap="none" strike="noStrike">
                        <a:solidFill>
                          <a:srgbClr val="11206D"/>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700"/>
                        <a:buFont typeface="Arial"/>
                        <a:buNone/>
                      </a:pPr>
                      <a:r>
                        <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34"/>
          <p:cNvSpPr txBox="1"/>
          <p:nvPr>
            <p:ph type="title"/>
          </p:nvPr>
        </p:nvSpPr>
        <p:spPr>
          <a:xfrm>
            <a:off x="-24300" y="-9750"/>
            <a:ext cx="7397100" cy="708000"/>
          </a:xfrm>
          <a:prstGeom prst="rect">
            <a:avLst/>
          </a:prstGeom>
        </p:spPr>
        <p:txBody>
          <a:bodyPr anchorCtr="0" anchor="ctr" bIns="91425" lIns="365750" spcFirstLastPara="1" rIns="91425" wrap="square" tIns="91425">
            <a:normAutofit/>
          </a:bodyPr>
          <a:lstStyle/>
          <a:p>
            <a:pPr indent="0" lvl="0" marL="0" rtl="0" algn="l">
              <a:spcBef>
                <a:spcPts val="0"/>
              </a:spcBef>
              <a:spcAft>
                <a:spcPts val="0"/>
              </a:spcAft>
              <a:buNone/>
            </a:pPr>
            <a:r>
              <a:rPr lang="en"/>
              <a:t>Better Coverage </a:t>
            </a:r>
            <a:endParaRPr/>
          </a:p>
        </p:txBody>
      </p:sp>
      <p:sp>
        <p:nvSpPr>
          <p:cNvPr id="842" name="Google Shape;842;p34"/>
          <p:cNvSpPr txBox="1"/>
          <p:nvPr>
            <p:ph idx="12" type="sldNum"/>
          </p:nvPr>
        </p:nvSpPr>
        <p:spPr>
          <a:xfrm>
            <a:off x="8728887" y="4883719"/>
            <a:ext cx="248700" cy="1119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843" name="Google Shape;843;p34"/>
          <p:cNvGraphicFramePr/>
          <p:nvPr/>
        </p:nvGraphicFramePr>
        <p:xfrm>
          <a:off x="537275" y="1030675"/>
          <a:ext cx="3000000" cy="3000000"/>
        </p:xfrm>
        <a:graphic>
          <a:graphicData uri="http://schemas.openxmlformats.org/drawingml/2006/table">
            <a:tbl>
              <a:tblPr>
                <a:noFill/>
                <a:tableStyleId>{8AF8EC7F-7D29-441C-9CC0-1E95C7AD3B7F}</a:tableStyleId>
              </a:tblPr>
              <a:tblGrid>
                <a:gridCol w="1161200"/>
                <a:gridCol w="775825"/>
                <a:gridCol w="728400"/>
                <a:gridCol w="681775"/>
                <a:gridCol w="870450"/>
                <a:gridCol w="639600"/>
                <a:gridCol w="759650"/>
                <a:gridCol w="795175"/>
                <a:gridCol w="641125"/>
                <a:gridCol w="931900"/>
              </a:tblGrid>
              <a:tr h="3209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Features</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Palo Alto</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WIZ</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Sysdig</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Crowdstrike</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Tigera</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Isovalent</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SONRAI</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SNYK</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solidFill>
                            <a:schemeClr val="lt1"/>
                          </a:solidFill>
                          <a:latin typeface="Space Grotesk"/>
                          <a:ea typeface="Space Grotesk"/>
                          <a:cs typeface="Space Grotesk"/>
                          <a:sym typeface="Space Grotesk"/>
                        </a:rPr>
                        <a:t>AccuKnox</a:t>
                      </a:r>
                      <a:endParaRPr b="1" sz="900" u="none" cap="none" strike="noStrike">
                        <a:solidFill>
                          <a:schemeClr val="lt1"/>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4D4DD9"/>
                    </a:solidFill>
                  </a:tcPr>
                </a:tc>
              </a:tr>
              <a:tr h="6152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0E3594"/>
                          </a:solidFill>
                          <a:latin typeface="Space Grotesk"/>
                          <a:ea typeface="Space Grotesk"/>
                          <a:cs typeface="Space Grotesk"/>
                          <a:sym typeface="Space Grotesk"/>
                        </a:rPr>
                        <a:t>KIEM (Kubernetes Identity and Entitlement Management)</a:t>
                      </a:r>
                      <a:endParaRPr b="1" sz="800" u="none" cap="none" strike="noStrike">
                        <a:solidFill>
                          <a:srgbClr val="0E3594"/>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 Security Graph</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4783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0E3594"/>
                          </a:solidFill>
                          <a:latin typeface="Space Grotesk"/>
                          <a:ea typeface="Space Grotesk"/>
                          <a:cs typeface="Space Grotesk"/>
                          <a:sym typeface="Space Grotesk"/>
                        </a:rPr>
                        <a:t>GenAI Powered Security Chatbot</a:t>
                      </a:r>
                      <a:endParaRPr b="1" sz="800" u="none" cap="none" strike="noStrike">
                        <a:solidFill>
                          <a:srgbClr val="0E3594"/>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AskAda</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4783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0E3594"/>
                          </a:solidFill>
                          <a:latin typeface="Space Grotesk"/>
                          <a:ea typeface="Space Grotesk"/>
                          <a:cs typeface="Space Grotesk"/>
                          <a:sym typeface="Space Grotesk"/>
                        </a:rPr>
                        <a:t>Auto-Discovery of Zero Trust Policies</a:t>
                      </a:r>
                      <a:endParaRPr b="1" sz="800" u="none" cap="none" strike="noStrike">
                        <a:solidFill>
                          <a:srgbClr val="0E3594"/>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 Default Posture &amp; Best Practices</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4783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0E3594"/>
                          </a:solidFill>
                          <a:latin typeface="Space Grotesk"/>
                          <a:ea typeface="Space Grotesk"/>
                          <a:cs typeface="Space Grotesk"/>
                          <a:sym typeface="Space Grotesk"/>
                        </a:rPr>
                        <a:t>Container Drift Detection</a:t>
                      </a:r>
                      <a:endParaRPr b="1" sz="800" u="none" cap="none" strike="noStrike">
                        <a:solidFill>
                          <a:srgbClr val="0E3594"/>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 Detection &amp; Prevention of Drift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47832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0E3594"/>
                          </a:solidFill>
                          <a:latin typeface="Space Grotesk"/>
                          <a:ea typeface="Space Grotesk"/>
                          <a:cs typeface="Space Grotesk"/>
                          <a:sym typeface="Space Grotesk"/>
                        </a:rPr>
                        <a:t>LLM/ML or AI workload Security</a:t>
                      </a:r>
                      <a:endParaRPr b="1" sz="800" u="none" cap="none" strike="noStrike">
                        <a:solidFill>
                          <a:srgbClr val="0E3594"/>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 Secure ML and LLM workloads</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r h="55927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solidFill>
                            <a:srgbClr val="0E3594"/>
                          </a:solidFill>
                          <a:latin typeface="Space Grotesk"/>
                          <a:ea typeface="Space Grotesk"/>
                          <a:cs typeface="Space Grotesk"/>
                          <a:sym typeface="Space Grotesk"/>
                        </a:rPr>
                        <a:t>5G Edge &amp; IoT Security</a:t>
                      </a:r>
                      <a:endParaRPr b="1" sz="800" u="none" cap="none" strike="noStrike">
                        <a:solidFill>
                          <a:srgbClr val="0E3594"/>
                        </a:solidFill>
                        <a:latin typeface="Space Grotesk"/>
                        <a:ea typeface="Space Grotesk"/>
                        <a:cs typeface="Space Grotesk"/>
                        <a:sym typeface="Space Grotesk"/>
                      </a:endParaRPr>
                    </a:p>
                  </a:txBody>
                  <a:tcPr marT="91425" marB="91425" marR="91425" marL="91425">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solidFill>
                      <a:srgbClr val="E6E6F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Edge security support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IoT Security support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IoT\Edge support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solidFill>
                            <a:srgbClr val="000000"/>
                          </a:solidFill>
                          <a:latin typeface="Space Grotesk"/>
                          <a:ea typeface="Space Grotesk"/>
                          <a:cs typeface="Space Grotesk"/>
                          <a:sym typeface="Space Grotesk"/>
                        </a:rPr>
                        <a:t>❌</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700" u="none" cap="none" strike="noStrike">
                          <a:solidFill>
                            <a:srgbClr val="000000"/>
                          </a:solidFill>
                          <a:latin typeface="Space Grotesk"/>
                          <a:ea typeface="Space Grotesk"/>
                          <a:cs typeface="Space Grotesk"/>
                          <a:sym typeface="Space Grotesk"/>
                        </a:rPr>
                        <a:t>✅ Unique 5G/Edge Security</a:t>
                      </a:r>
                      <a:endParaRPr sz="700" u="none" cap="none" strike="noStrike">
                        <a:solidFill>
                          <a:srgbClr val="000000"/>
                        </a:solidFill>
                        <a:latin typeface="Space Grotesk"/>
                        <a:ea typeface="Space Grotesk"/>
                        <a:cs typeface="Space Grotesk"/>
                        <a:sym typeface="Space Grotesk"/>
                      </a:endParaRPr>
                    </a:p>
                  </a:txBody>
                  <a:tcPr marT="91425" marB="91425" marR="91425" marL="91425" anchor="ctr">
                    <a:lnL cap="flat" cmpd="sng" w="9525">
                      <a:solidFill>
                        <a:srgbClr val="E6E6FA"/>
                      </a:solidFill>
                      <a:prstDash val="solid"/>
                      <a:round/>
                      <a:headEnd len="sm" w="sm" type="none"/>
                      <a:tailEnd len="sm" w="sm" type="none"/>
                    </a:lnL>
                    <a:lnR cap="flat" cmpd="sng" w="9525">
                      <a:solidFill>
                        <a:srgbClr val="E6E6FA"/>
                      </a:solidFill>
                      <a:prstDash val="solid"/>
                      <a:round/>
                      <a:headEnd len="sm" w="sm" type="none"/>
                      <a:tailEnd len="sm" w="sm" type="none"/>
                    </a:lnR>
                    <a:lnT cap="flat" cmpd="sng" w="9525">
                      <a:solidFill>
                        <a:srgbClr val="E6E6FA"/>
                      </a:solidFill>
                      <a:prstDash val="solid"/>
                      <a:round/>
                      <a:headEnd len="sm" w="sm" type="none"/>
                      <a:tailEnd len="sm" w="sm" type="none"/>
                    </a:lnT>
                    <a:lnB cap="flat" cmpd="sng" w="9525">
                      <a:solidFill>
                        <a:srgbClr val="E6E6FA"/>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5"/>
          <p:cNvSpPr txBox="1"/>
          <p:nvPr>
            <p:ph type="title"/>
          </p:nvPr>
        </p:nvSpPr>
        <p:spPr>
          <a:xfrm>
            <a:off x="1644425" y="1845000"/>
            <a:ext cx="5855100" cy="5415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SEE US IN ACTION</a:t>
            </a:r>
            <a:endParaRPr/>
          </a:p>
        </p:txBody>
      </p:sp>
      <p:sp>
        <p:nvSpPr>
          <p:cNvPr id="849" name="Google Shape;849;p35"/>
          <p:cNvSpPr txBox="1"/>
          <p:nvPr>
            <p:ph idx="2" type="title"/>
          </p:nvPr>
        </p:nvSpPr>
        <p:spPr>
          <a:xfrm>
            <a:off x="2667275" y="2386488"/>
            <a:ext cx="3809400" cy="45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support@accuknox.com</a:t>
            </a:r>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ver">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