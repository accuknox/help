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147483616" r:id="rId2"/>
    <p:sldId id="2147483602" r:id="rId3"/>
    <p:sldId id="2147483618" r:id="rId4"/>
    <p:sldId id="2147483617" r:id="rId5"/>
    <p:sldId id="2147483584" r:id="rId6"/>
    <p:sldId id="2147483604" r:id="rId7"/>
    <p:sldId id="214748360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FA00"/>
    <a:srgbClr val="043C2E"/>
    <a:srgbClr val="0096FF"/>
    <a:srgbClr val="040D1E"/>
    <a:srgbClr val="00FA00"/>
    <a:srgbClr val="081832"/>
    <a:srgbClr val="030A15"/>
    <a:srgbClr val="FF4A5C"/>
    <a:srgbClr val="F6F9FF"/>
    <a:srgbClr val="74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86"/>
    <p:restoredTop sz="96301"/>
  </p:normalViewPr>
  <p:slideViewPr>
    <p:cSldViewPr snapToGrid="0">
      <p:cViewPr varScale="1">
        <p:scale>
          <a:sx n="118" d="100"/>
          <a:sy n="118" d="100"/>
        </p:scale>
        <p:origin x="1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52A78-8B82-4440-838E-9CE0AF3C5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F7998-0E7B-1742-AC5B-A38D01068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42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9F07-7A40-32AE-6F8B-0DC1497D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B29D8-039F-C2ED-03FE-2EF1F6D5F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EFA05-3B85-AB15-AB71-D46CE96FC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2D57E-C2DD-E117-BFF3-785CE1924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7998-0E7B-1742-AC5B-A38D01068A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2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7998-0E7B-1742-AC5B-A38D01068A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59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5CAB-24FD-8FF6-E087-058E5203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243E4-9FF2-3EC5-8D6B-17DF2B310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4160B-F17C-ADA5-5283-A5C689399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8243C-4AE0-6E00-0DB0-AB4501AF4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7998-0E7B-1742-AC5B-A38D01068A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65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CF2F-31C6-6F9C-E8DA-A3E94EBA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1C9AF-EAD1-04A3-5F99-801AC2411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97A7A-64AF-E6EF-A6B3-BFA8451DB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21A56-8AF0-A773-31A9-3774EAEB0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0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4183-6D23-267E-C15D-7ADAB47DC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0735D-8B2D-3261-AD08-DA5EDF84B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11D35-12B2-8100-1B5C-101C48D0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7177-E50E-A825-9D3E-F9A87998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1127C-9D1C-3D04-F412-814E45AF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3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B9FC-90F5-189E-D6BC-A8EBB48F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1CD18-41AA-A611-8CFB-D7294690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4FD5C-4611-5513-E5D2-A6BE512C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F9618-BC94-450B-A754-FDA612C5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27B6-B371-FD57-3868-863835D1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9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E65D-134E-E0C5-0C28-FCCFE8DD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4EE6C-6CE6-97DE-C113-579D7C8D0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171CD-42DB-39FC-5E4E-4A4FD28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1564-FCA5-B0F1-5673-BEDCA424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B187B-2529-C94A-270E-86A33D52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0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2B7C-897A-95AF-7E21-FAAEF603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610D6-4729-972F-D25F-0D8BAC18C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BB30D-D52C-D1A0-442C-C1053D6D0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B5CA-F76A-EE49-AC23-2ECE08C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845E6-65A2-D482-342F-ABFE482E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DDC96-CA8F-C616-8817-5FAE7AEE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2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B4C8-134C-78E9-0F41-F6C1B984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016B-7EA1-8011-9FBB-72871CD60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77C3D-EAAE-FB6D-978D-BFCEB8F04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1A5AD-F398-9B19-780C-0142FCB65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8CA00-D94F-EF54-C0A3-539C37621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F3CBB-DED0-22A0-F104-F1B6317C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1347C-24A9-D744-76A2-A9C5C071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07261-683B-5608-81E8-7D2DB79F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8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5F35-72D7-D43B-1F43-E374CD59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1B1AF-D1C7-BA7E-16D3-BA4E9F29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26E8E-7BAE-AF3A-0E1D-AFC8FDD5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34FEC-C9E5-C920-88AE-F5780B5B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5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B3F1F6-32EE-CEF2-CB0F-EBF96ACB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BDAA1-A6CC-2E53-4855-FBB88251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C63DF-DA4C-E3F8-3AC8-2198D0FD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1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F2C3-8BE7-2D5D-365F-216C1B60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D6ED1-A1AB-0473-56F2-18EB0BD28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435C7-AA74-1C76-5B99-4E6D9F81F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EF073-1E4D-15DC-9D96-F132A86C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58749-BB9C-C005-80FC-743902B4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6067F-256D-314A-8166-C140DF99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E6D4-BB6E-4031-3D23-5FFFFCD9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02D18-30F8-70F8-FBC9-89D1772BF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588C8-A93C-A8A7-A2A0-445089B91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5E281-BC7A-74A8-39EF-AD940DC3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4C61F-EEB7-3A9B-7F16-DB86B1E8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2DBAC-93F3-372C-F005-043E0B19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7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DDDA-A183-2B62-EC1C-4A742CED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6BFE4-631C-38C0-4693-9E51D986E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916C-6ABB-BE82-FE77-1F249D8A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C0805-CFC4-5362-E658-3A2E1A808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8A751-5FA4-2F2B-FC60-295CB2AD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2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D970B-AD1E-871A-D895-2759CD21E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80D70-B8EB-8955-F85D-039462427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FEC4C-6B59-A274-C217-072F5096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13CDE-3D36-769B-4A65-8B5C0E08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EB6CB-E14A-AC46-A841-64FD4B05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76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OD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91695" cy="0"/>
          </a:xfrm>
          <a:prstGeom prst="line">
            <a:avLst/>
          </a:prstGeom>
          <a:noFill/>
          <a:ln w="12700">
            <a:solidFill>
              <a:srgbClr val="1F6FE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83096"/>
            <a:ext cx="12191695" cy="0"/>
          </a:xfrm>
          <a:prstGeom prst="line">
            <a:avLst/>
          </a:prstGeom>
          <a:noFill/>
          <a:ln w="12700">
            <a:solidFill>
              <a:srgbClr val="1F6F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>
                <a:solidFill>
                  <a:srgbClr val="8EA6C8"/>
                </a:solidFill>
              </a:rPr>
              <a:t>AI-SERVICE HONEYNET | FIRST-GENERATION DESIGN</a:t>
            </a:r>
            <a:endParaRPr lang="en-US" sz="650"/>
          </a:p>
        </p:txBody>
      </p:sp>
      <p:sp>
        <p:nvSpPr>
          <p:cNvPr id="5" name="Text 3"/>
          <p:cNvSpPr/>
          <p:nvPr/>
        </p:nvSpPr>
        <p:spPr>
          <a:xfrm>
            <a:off x="9555480" y="6537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8EA6C8"/>
                </a:solidFill>
              </a:rPr>
              <a:t>Research Planning Brief</a:t>
            </a:r>
            <a:endParaRPr lang="en-US" sz="6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E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94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ackground - Title Only">
  <p:cSld name="Light Background - Title 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/>
          <p:nvPr/>
        </p:nvSpPr>
        <p:spPr>
          <a:xfrm>
            <a:off x="0" y="-13000"/>
            <a:ext cx="12192000" cy="944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6096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0" y="-13000"/>
            <a:ext cx="98304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32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28" title="logo-dark-back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5469" y="231501"/>
            <a:ext cx="1925400" cy="4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8"/>
          <p:cNvSpPr txBox="1">
            <a:spLocks noGrp="1"/>
          </p:cNvSpPr>
          <p:nvPr>
            <p:ph type="sldNum" idx="12"/>
          </p:nvPr>
        </p:nvSpPr>
        <p:spPr>
          <a:xfrm>
            <a:off x="11638516" y="6511625"/>
            <a:ext cx="331600" cy="1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63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CDFEF-AEB8-4864-CFDF-513C65EE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30F8C-0DA4-0FDB-D1A4-8FF9B1C88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48244-BA54-1BCF-2484-2AE7186BB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A2524-E396-4A4E-909A-86D22616F75E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495B0-6705-0CFE-4DBA-EA648E05F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A9FBB-E71B-B4B7-870C-F44271B0D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0E189-F5BA-7342-B81D-C19999132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BC49-9EC2-B169-92B9-78A5972E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F6079A1-3661-04FE-FC96-00B5F7787172}"/>
              </a:ext>
            </a:extLst>
          </p:cNvPr>
          <p:cNvGrpSpPr/>
          <p:nvPr/>
        </p:nvGrpSpPr>
        <p:grpSpPr>
          <a:xfrm>
            <a:off x="9809479" y="6446744"/>
            <a:ext cx="2284549" cy="352474"/>
            <a:chOff x="9809479" y="6446744"/>
            <a:chExt cx="2284549" cy="3524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1454C9-2AFF-542C-310F-FDD5C4B5417A}"/>
                </a:ext>
              </a:extLst>
            </p:cNvPr>
            <p:cNvSpPr/>
            <p:nvPr/>
          </p:nvSpPr>
          <p:spPr>
            <a:xfrm>
              <a:off x="10914017" y="6577149"/>
              <a:ext cx="1045029" cy="124097"/>
            </a:xfrm>
            <a:prstGeom prst="rect">
              <a:avLst/>
            </a:prstGeom>
            <a:solidFill>
              <a:srgbClr val="0B122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D3F290-4766-2105-3949-F3036F0D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809479" y="6446744"/>
              <a:ext cx="2284549" cy="35247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37D3460-C642-A9C6-EB6E-258C7C95A33E}"/>
              </a:ext>
            </a:extLst>
          </p:cNvPr>
          <p:cNvSpPr txBox="1"/>
          <p:nvPr/>
        </p:nvSpPr>
        <p:spPr>
          <a:xfrm>
            <a:off x="218823" y="59348"/>
            <a:ext cx="11356804" cy="45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small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rial"/>
              </a:rPr>
              <a:t>Need: Physical AI will require even more sophisticated </a:t>
            </a: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Arial"/>
              </a:rPr>
              <a:t>Guard Rails</a:t>
            </a:r>
            <a:endParaRPr kumimoji="0" lang="en-US" sz="26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924046-5176-DC8C-7603-4A618DB06E1B}"/>
              </a:ext>
            </a:extLst>
          </p:cNvPr>
          <p:cNvSpPr/>
          <p:nvPr/>
        </p:nvSpPr>
        <p:spPr>
          <a:xfrm>
            <a:off x="1043093" y="785707"/>
            <a:ext cx="6610774" cy="521547"/>
          </a:xfrm>
          <a:prstGeom prst="rect">
            <a:avLst/>
          </a:prstGeom>
          <a:solidFill>
            <a:srgbClr val="0009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93455-539D-BCA4-6806-2DD212049560}"/>
              </a:ext>
            </a:extLst>
          </p:cNvPr>
          <p:cNvSpPr txBox="1"/>
          <p:nvPr/>
        </p:nvSpPr>
        <p:spPr>
          <a:xfrm>
            <a:off x="784920" y="605818"/>
            <a:ext cx="54419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cap="small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Voice is the next keyboard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20051C-693E-4B5E-94AA-BAADF4D6421C}"/>
              </a:ext>
            </a:extLst>
          </p:cNvPr>
          <p:cNvSpPr/>
          <p:nvPr/>
        </p:nvSpPr>
        <p:spPr>
          <a:xfrm>
            <a:off x="3935307" y="1673013"/>
            <a:ext cx="535093" cy="819573"/>
          </a:xfrm>
          <a:prstGeom prst="roundRect">
            <a:avLst/>
          </a:prstGeom>
          <a:solidFill>
            <a:srgbClr val="0009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DE66A0F-C762-3D53-03FC-C11EA77416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4102" y="1429173"/>
            <a:ext cx="3539251" cy="2600961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2C916F-5133-32F8-8BE3-139903026223}"/>
              </a:ext>
            </a:extLst>
          </p:cNvPr>
          <p:cNvSpPr/>
          <p:nvPr/>
        </p:nvSpPr>
        <p:spPr>
          <a:xfrm>
            <a:off x="795867" y="4108027"/>
            <a:ext cx="3579706" cy="1906693"/>
          </a:xfrm>
          <a:prstGeom prst="roundRect">
            <a:avLst/>
          </a:prstGeom>
          <a:solidFill>
            <a:srgbClr val="0009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15F1A-3749-E19B-3E6D-15B7459915E1}"/>
              </a:ext>
            </a:extLst>
          </p:cNvPr>
          <p:cNvSpPr txBox="1"/>
          <p:nvPr/>
        </p:nvSpPr>
        <p:spPr>
          <a:xfrm>
            <a:off x="1178558" y="4124961"/>
            <a:ext cx="243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73FEFF"/>
                </a:solidFill>
              </a:rPr>
              <a:t>AI Autonomy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8B597-74C7-57D4-C968-1F59DD4D2AE2}"/>
              </a:ext>
            </a:extLst>
          </p:cNvPr>
          <p:cNvSpPr txBox="1"/>
          <p:nvPr/>
        </p:nvSpPr>
        <p:spPr>
          <a:xfrm>
            <a:off x="684107" y="4541519"/>
            <a:ext cx="37672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Voice Guard Rails will be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Critical for Robot to Human Interaction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Safety, Security, Privacy,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Fraud Prevention, Abuse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706A4F-C121-DD43-A246-5245A2A2D0A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9066" y="1227667"/>
            <a:ext cx="6885093" cy="51638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00CE9E-0AF9-A377-D9D8-A8052E2EDB80}"/>
              </a:ext>
            </a:extLst>
          </p:cNvPr>
          <p:cNvSpPr/>
          <p:nvPr/>
        </p:nvSpPr>
        <p:spPr>
          <a:xfrm>
            <a:off x="4937760" y="1327573"/>
            <a:ext cx="697653" cy="623147"/>
          </a:xfrm>
          <a:prstGeom prst="rect">
            <a:avLst/>
          </a:prstGeom>
          <a:solidFill>
            <a:srgbClr val="0008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B85A5-587D-E838-EBB8-1E005020ED50}"/>
              </a:ext>
            </a:extLst>
          </p:cNvPr>
          <p:cNvSpPr txBox="1"/>
          <p:nvPr/>
        </p:nvSpPr>
        <p:spPr>
          <a:xfrm>
            <a:off x="8576929" y="567070"/>
            <a:ext cx="3289006" cy="646331"/>
          </a:xfrm>
          <a:prstGeom prst="rect">
            <a:avLst/>
          </a:prstGeom>
          <a:noFill/>
          <a:ln>
            <a:solidFill>
              <a:srgbClr val="B4E6A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DF97C"/>
                </a:solidFill>
              </a:rPr>
              <a:t>Social integration of Physical AI systems with humans will not succeed if these systems cannot interact using 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140785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54CA-ECDA-A4D2-215A-CD349DDD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F6BE1F-9121-BBDA-3351-6A06C9E2B81F}"/>
              </a:ext>
            </a:extLst>
          </p:cNvPr>
          <p:cNvGrpSpPr/>
          <p:nvPr/>
        </p:nvGrpSpPr>
        <p:grpSpPr>
          <a:xfrm>
            <a:off x="9809479" y="6446744"/>
            <a:ext cx="2284549" cy="352474"/>
            <a:chOff x="9809479" y="6446744"/>
            <a:chExt cx="2284549" cy="3524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C7583C-485F-7FFD-43C1-A0A28D142B05}"/>
                </a:ext>
              </a:extLst>
            </p:cNvPr>
            <p:cNvSpPr/>
            <p:nvPr/>
          </p:nvSpPr>
          <p:spPr>
            <a:xfrm>
              <a:off x="10914017" y="6577149"/>
              <a:ext cx="1045029" cy="124097"/>
            </a:xfrm>
            <a:prstGeom prst="rect">
              <a:avLst/>
            </a:prstGeom>
            <a:solidFill>
              <a:srgbClr val="0B122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FC0857-B081-DC8D-BDD0-4E1642261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809479" y="6446744"/>
              <a:ext cx="2284549" cy="35247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06325A5-B091-20E6-2AE2-C2AC91734FD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119" y="621305"/>
            <a:ext cx="10830561" cy="4519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9D2CF7-D4E3-6D25-44AE-1846982A8389}"/>
              </a:ext>
            </a:extLst>
          </p:cNvPr>
          <p:cNvSpPr txBox="1"/>
          <p:nvPr/>
        </p:nvSpPr>
        <p:spPr>
          <a:xfrm>
            <a:off x="218823" y="59348"/>
            <a:ext cx="11356804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Need:  Next-Gen AI-Guard must deal with Conversations, not Prompts</a:t>
            </a:r>
            <a:endParaRPr kumimoji="0" lang="en-US" sz="26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B19A-E3BA-B139-933B-DDD16C73AD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000C14"/>
              </a:clrFrom>
              <a:clrTo>
                <a:srgbClr val="000C1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8585" y="5384799"/>
            <a:ext cx="270935" cy="3115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8C6389-6A76-7C4B-0AF1-F0DD08F2B9C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62"/>
          <a:stretch>
            <a:fillRect/>
          </a:stretch>
        </p:blipFill>
        <p:spPr>
          <a:xfrm>
            <a:off x="9360747" y="5350507"/>
            <a:ext cx="352214" cy="3526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EB4CC3-0220-148B-6144-576472063DC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000C13"/>
              </a:clrFrom>
              <a:clrTo>
                <a:srgbClr val="000C1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70898" y="5398346"/>
            <a:ext cx="381901" cy="3589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0AF9D9-8AC1-649A-6939-C1ABC52D6399}"/>
              </a:ext>
            </a:extLst>
          </p:cNvPr>
          <p:cNvSpPr txBox="1"/>
          <p:nvPr/>
        </p:nvSpPr>
        <p:spPr>
          <a:xfrm>
            <a:off x="8815494" y="5726851"/>
            <a:ext cx="1392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CFCFC"/>
                </a:solidFill>
              </a:rPr>
              <a:t>Speaker ID and </a:t>
            </a:r>
          </a:p>
          <a:p>
            <a:pPr algn="ctr"/>
            <a:r>
              <a:rPr lang="en-US" sz="1400">
                <a:solidFill>
                  <a:srgbClr val="FCFCFC"/>
                </a:solidFill>
              </a:rPr>
              <a:t>authentication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1B729-3F31-828B-F2FF-191553583D1B}"/>
              </a:ext>
            </a:extLst>
          </p:cNvPr>
          <p:cNvSpPr txBox="1"/>
          <p:nvPr/>
        </p:nvSpPr>
        <p:spPr>
          <a:xfrm>
            <a:off x="10550805" y="5703148"/>
            <a:ext cx="1557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>
                <a:solidFill>
                  <a:srgbClr val="FCFCFC"/>
                </a:solidFill>
              </a:rPr>
              <a:t>Emotional state &amp;</a:t>
            </a:r>
          </a:p>
          <a:p>
            <a:pPr algn="r"/>
            <a:r>
              <a:rPr lang="en-US" sz="1400">
                <a:solidFill>
                  <a:srgbClr val="FCFCFC"/>
                </a:solidFill>
              </a:rPr>
              <a:t>stress indicators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86E4C-52C4-51D6-C5DC-C6EB8EF7BAD9}"/>
              </a:ext>
            </a:extLst>
          </p:cNvPr>
          <p:cNvSpPr txBox="1"/>
          <p:nvPr/>
        </p:nvSpPr>
        <p:spPr>
          <a:xfrm>
            <a:off x="2290726" y="5753948"/>
            <a:ext cx="1891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CFCFC"/>
                </a:solidFill>
              </a:rPr>
              <a:t>Multi-language and</a:t>
            </a:r>
          </a:p>
          <a:p>
            <a:pPr algn="ctr"/>
            <a:r>
              <a:rPr lang="en-US" sz="1400">
                <a:solidFill>
                  <a:srgbClr val="FCFCFC"/>
                </a:solidFill>
              </a:rPr>
              <a:t>multi-media encoding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700C82-2D54-170D-0AEF-81DC08CC144C}"/>
              </a:ext>
            </a:extLst>
          </p:cNvPr>
          <p:cNvSpPr txBox="1"/>
          <p:nvPr/>
        </p:nvSpPr>
        <p:spPr>
          <a:xfrm>
            <a:off x="6615500" y="5738132"/>
            <a:ext cx="174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CFCFC"/>
                </a:solidFill>
              </a:rPr>
              <a:t>Background audio &amp;</a:t>
            </a:r>
          </a:p>
          <a:p>
            <a:pPr algn="ctr"/>
            <a:r>
              <a:rPr lang="en-US" sz="1400">
                <a:solidFill>
                  <a:srgbClr val="FCFCFC"/>
                </a:solidFill>
              </a:rPr>
              <a:t>acoustic injection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6BD299-DD72-7FC8-58B2-1EABAEF579BC}"/>
              </a:ext>
            </a:extLst>
          </p:cNvPr>
          <p:cNvSpPr txBox="1"/>
          <p:nvPr/>
        </p:nvSpPr>
        <p:spPr>
          <a:xfrm>
            <a:off x="312912" y="5768612"/>
            <a:ext cx="153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CFCFC"/>
                </a:solidFill>
              </a:rPr>
              <a:t>Authority &amp; intent</a:t>
            </a:r>
          </a:p>
          <a:p>
            <a:pPr algn="ctr"/>
            <a:r>
              <a:rPr lang="en-US" sz="1400">
                <a:solidFill>
                  <a:srgbClr val="FCFCFC"/>
                </a:solidFill>
              </a:rPr>
              <a:t>signals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3BB595-4993-506B-9EDA-1E5FF1A9A61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92933" y="5334001"/>
            <a:ext cx="321734" cy="3962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B329814-5AD7-98B3-7B24-167AF34CF74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000C13"/>
              </a:clrFrom>
              <a:clrTo>
                <a:srgbClr val="000C1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-5456"/>
          <a:stretch>
            <a:fillRect/>
          </a:stretch>
        </p:blipFill>
        <p:spPr>
          <a:xfrm>
            <a:off x="7254241" y="5370408"/>
            <a:ext cx="433493" cy="37837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17BC0DD-E25B-3BB5-3938-9E8D91052D29}"/>
              </a:ext>
            </a:extLst>
          </p:cNvPr>
          <p:cNvSpPr/>
          <p:nvPr/>
        </p:nvSpPr>
        <p:spPr>
          <a:xfrm>
            <a:off x="1002453" y="751840"/>
            <a:ext cx="6610774" cy="521547"/>
          </a:xfrm>
          <a:prstGeom prst="rect">
            <a:avLst/>
          </a:prstGeom>
          <a:solidFill>
            <a:srgbClr val="0009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BA3BA1-E48A-27DB-C107-87855CED5FC4}"/>
              </a:ext>
            </a:extLst>
          </p:cNvPr>
          <p:cNvSpPr txBox="1"/>
          <p:nvPr/>
        </p:nvSpPr>
        <p:spPr>
          <a:xfrm>
            <a:off x="326065" y="593217"/>
            <a:ext cx="8201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cap="small" dirty="0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Voice is the Next Mission Attack Surface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2C613-5E5C-81AC-293E-5F0D7BCC5B56}"/>
              </a:ext>
            </a:extLst>
          </p:cNvPr>
          <p:cNvSpPr txBox="1"/>
          <p:nvPr/>
        </p:nvSpPr>
        <p:spPr>
          <a:xfrm>
            <a:off x="4605571" y="5755066"/>
            <a:ext cx="1585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CFCFC"/>
                </a:solidFill>
              </a:rPr>
              <a:t>Voice to Semantic</a:t>
            </a:r>
          </a:p>
          <a:p>
            <a:pPr algn="ctr"/>
            <a:r>
              <a:rPr lang="en-US" sz="1400">
                <a:solidFill>
                  <a:srgbClr val="FCFCFC"/>
                </a:solidFill>
              </a:rPr>
              <a:t>Intent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3317C9-1C02-4C56-6843-C4AF570726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4187" y="5357706"/>
            <a:ext cx="406400" cy="355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1D6772-8759-8666-0366-381B709D3874}"/>
              </a:ext>
            </a:extLst>
          </p:cNvPr>
          <p:cNvSpPr txBox="1"/>
          <p:nvPr/>
        </p:nvSpPr>
        <p:spPr>
          <a:xfrm>
            <a:off x="8810844" y="432391"/>
            <a:ext cx="3289006" cy="646331"/>
          </a:xfrm>
          <a:prstGeom prst="rect">
            <a:avLst/>
          </a:prstGeom>
          <a:solidFill>
            <a:srgbClr val="000912"/>
          </a:solidFill>
          <a:ln>
            <a:solidFill>
              <a:srgbClr val="B4E6A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DF97C"/>
                </a:solidFill>
              </a:rPr>
              <a:t>DoD applications that utilize voice interfaces will need to trust that these interfaces will be resilient to attacks</a:t>
            </a:r>
          </a:p>
        </p:txBody>
      </p:sp>
    </p:spTree>
    <p:extLst>
      <p:ext uri="{BB962C8B-B14F-4D97-AF65-F5344CB8AC3E}">
        <p14:creationId xmlns:p14="http://schemas.microsoft.com/office/powerpoint/2010/main" val="1322256282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7F3D-BF9A-E052-06C3-7A844C7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A23537-15F6-2CB6-DAA5-4B88BA90957B}"/>
              </a:ext>
            </a:extLst>
          </p:cNvPr>
          <p:cNvGrpSpPr/>
          <p:nvPr/>
        </p:nvGrpSpPr>
        <p:grpSpPr>
          <a:xfrm>
            <a:off x="9809479" y="6446744"/>
            <a:ext cx="2284549" cy="352474"/>
            <a:chOff x="9809479" y="6446744"/>
            <a:chExt cx="2284549" cy="3524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6FCBCF-E94B-6776-F2D2-2C6DEA6548C9}"/>
                </a:ext>
              </a:extLst>
            </p:cNvPr>
            <p:cNvSpPr/>
            <p:nvPr/>
          </p:nvSpPr>
          <p:spPr>
            <a:xfrm>
              <a:off x="10914017" y="6577149"/>
              <a:ext cx="1045029" cy="124097"/>
            </a:xfrm>
            <a:prstGeom prst="rect">
              <a:avLst/>
            </a:prstGeom>
            <a:solidFill>
              <a:srgbClr val="0B122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791AF9-BD81-CE5B-A428-F5D49F82F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809479" y="6446744"/>
              <a:ext cx="2284549" cy="35247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8223FF8-FAE5-963E-903C-53A57297D495}"/>
              </a:ext>
            </a:extLst>
          </p:cNvPr>
          <p:cNvSpPr txBox="1"/>
          <p:nvPr/>
        </p:nvSpPr>
        <p:spPr>
          <a:xfrm>
            <a:off x="320423" y="59348"/>
            <a:ext cx="11648057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Need: Voice introduces powerful new vectors for manipulation and abuse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b="1" cap="small" dirty="0">
              <a:solidFill>
                <a:schemeClr val="bg1"/>
              </a:solidFill>
              <a:latin typeface="Aptos" panose="020B0004020202020204" pitchFamily="34" charset="0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30122C-0A9E-66C1-2D22-F798E4815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453" y="1606149"/>
            <a:ext cx="8404013" cy="47138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0E612C-2E65-D44B-9314-C3B3983FA24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212" y="1571413"/>
            <a:ext cx="2973494" cy="4738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87AAC-C337-E254-9703-DF63640D542A}"/>
              </a:ext>
            </a:extLst>
          </p:cNvPr>
          <p:cNvSpPr txBox="1"/>
          <p:nvPr/>
        </p:nvSpPr>
        <p:spPr>
          <a:xfrm>
            <a:off x="453813" y="1232747"/>
            <a:ext cx="269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cap="small">
                <a:solidFill>
                  <a:schemeClr val="bg1"/>
                </a:solidFill>
              </a:rPr>
              <a:t>What can happen?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7CCBC-C62A-32B0-189B-2FB732E718D5}"/>
              </a:ext>
            </a:extLst>
          </p:cNvPr>
          <p:cNvSpPr txBox="1"/>
          <p:nvPr/>
        </p:nvSpPr>
        <p:spPr>
          <a:xfrm>
            <a:off x="6878321" y="1303867"/>
            <a:ext cx="2148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cap="small">
                <a:solidFill>
                  <a:schemeClr val="bg1"/>
                </a:solidFill>
              </a:rPr>
              <a:t>How can it happen?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1CC80-6843-140D-4643-776DD4D5881D}"/>
              </a:ext>
            </a:extLst>
          </p:cNvPr>
          <p:cNvSpPr txBox="1"/>
          <p:nvPr/>
        </p:nvSpPr>
        <p:spPr>
          <a:xfrm>
            <a:off x="821265" y="625101"/>
            <a:ext cx="10185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small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Voice introduces powerful new vectors for manipulation and abuse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38FA1-FDB9-833F-8824-8691F4FD824A}"/>
              </a:ext>
            </a:extLst>
          </p:cNvPr>
          <p:cNvSpPr txBox="1"/>
          <p:nvPr/>
        </p:nvSpPr>
        <p:spPr>
          <a:xfrm>
            <a:off x="9200703" y="1056168"/>
            <a:ext cx="2587259" cy="461665"/>
          </a:xfrm>
          <a:prstGeom prst="rect">
            <a:avLst/>
          </a:prstGeom>
          <a:solidFill>
            <a:srgbClr val="000912"/>
          </a:solidFill>
          <a:ln>
            <a:solidFill>
              <a:srgbClr val="B4E6A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DF97C"/>
                </a:solidFill>
              </a:rPr>
              <a:t>Examples of attack TTPs – </a:t>
            </a:r>
            <a:r>
              <a:rPr lang="en-US" sz="1200">
                <a:solidFill>
                  <a:srgbClr val="CDF97C"/>
                </a:solidFill>
              </a:rPr>
              <a:t>SPEECH BASED and CONVERSATION BASED</a:t>
            </a:r>
            <a:endParaRPr lang="en-US" sz="1200" dirty="0">
              <a:solidFill>
                <a:srgbClr val="CDF9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5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A29C-7B0A-83F2-E14B-AB701A770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284D36-ADCC-2287-F951-BB63486FA5A7}"/>
              </a:ext>
            </a:extLst>
          </p:cNvPr>
          <p:cNvSpPr txBox="1"/>
          <p:nvPr/>
        </p:nvSpPr>
        <p:spPr>
          <a:xfrm>
            <a:off x="1" y="59348"/>
            <a:ext cx="12192000" cy="814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Approach: Next-Gen AI Gateways will Have to Understand Natural Languages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b="1" cap="small" dirty="0">
              <a:solidFill>
                <a:schemeClr val="bg1"/>
              </a:solidFill>
              <a:latin typeface="Aptos" panose="020B0004020202020204" pitchFamily="34" charset="0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52357-597C-433F-6BF8-E509DD24AE48}"/>
              </a:ext>
            </a:extLst>
          </p:cNvPr>
          <p:cNvSpPr txBox="1"/>
          <p:nvPr/>
        </p:nvSpPr>
        <p:spPr>
          <a:xfrm>
            <a:off x="346858" y="872620"/>
            <a:ext cx="11195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cap="small" dirty="0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- Our Team Can Rapid Prototype New  Assessment Methods -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667424-1641-0B5D-DE83-4E360636900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4" y="2993812"/>
            <a:ext cx="3364031" cy="18807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81D5C5-AD65-258A-5E7A-C39907F05C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10186" y="1869440"/>
            <a:ext cx="6258559" cy="3881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28E27-3C8F-83BF-6262-F3EA5D0C8D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000510"/>
              </a:clrFrom>
              <a:clrTo>
                <a:srgbClr val="00051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99414" y="2587414"/>
            <a:ext cx="2269577" cy="27973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B755BE-D636-6108-4B77-7C47668C1E7F}"/>
              </a:ext>
            </a:extLst>
          </p:cNvPr>
          <p:cNvSpPr/>
          <p:nvPr/>
        </p:nvSpPr>
        <p:spPr>
          <a:xfrm>
            <a:off x="3589866" y="1815253"/>
            <a:ext cx="697654" cy="257386"/>
          </a:xfrm>
          <a:prstGeom prst="rect">
            <a:avLst/>
          </a:prstGeom>
          <a:solidFill>
            <a:srgbClr val="0008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07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99D2-2C98-7F3A-6E93-6EBB2800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7A2997B-5A18-3FD0-26D3-28C91F601CD9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F712DD0-19CC-2D00-CD0A-2A9CE57684CC}"/>
              </a:ext>
            </a:extLst>
          </p:cNvPr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1205265-4D9C-9F4B-2416-511D7BD38C98}"/>
              </a:ext>
            </a:extLst>
          </p:cNvPr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29DD309-A02A-5879-4293-66F788132F51}"/>
              </a:ext>
            </a:extLst>
          </p:cNvPr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240BE19-566E-0027-26DE-F8C2B3AB2C08}"/>
              </a:ext>
            </a:extLst>
          </p:cNvPr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CA9E20A-2947-CD31-41BB-505622EB3983}"/>
              </a:ext>
            </a:extLst>
          </p:cNvPr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5D91B44-0397-D3C2-F113-CE44ACB91D6F}"/>
              </a:ext>
            </a:extLst>
          </p:cNvPr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05DC58B-D36D-FB63-F4C1-385D3EB894EE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F2F66C9-3E7B-F07E-F652-26C0415CA549}"/>
              </a:ext>
            </a:extLst>
          </p:cNvPr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02B5CA-C2CF-8C6A-B1AF-A2E2AE9E55C6}"/>
              </a:ext>
            </a:extLst>
          </p:cNvPr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040AD3F-F8A0-051C-FBF8-6E85FAD2D256}"/>
              </a:ext>
            </a:extLst>
          </p:cNvPr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9A9B080-1502-5200-0438-B2B4D0CBA12D}"/>
              </a:ext>
            </a:extLst>
          </p:cNvPr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35B05BD-2F92-E1BB-65F7-77D44B558F6E}"/>
              </a:ext>
            </a:extLst>
          </p:cNvPr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C109D6B-59D3-DC12-E4D7-8D97C88EE228}"/>
              </a:ext>
            </a:extLst>
          </p:cNvPr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B1B4466-2CCD-5CFD-DCA7-3466F7E7A3EE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75A5AC3-3CFC-8D3E-99E7-E342253A9E33}"/>
              </a:ext>
            </a:extLst>
          </p:cNvPr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1F3D894-8558-D0AF-8E8A-29C74863C4A9}"/>
              </a:ext>
            </a:extLst>
          </p:cNvPr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8A38EFB-BE3D-BFC9-9A1E-51A6ACFCC08F}"/>
              </a:ext>
            </a:extLst>
          </p:cNvPr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4C78847-FD14-2D98-FBD0-6097FCB89F35}"/>
              </a:ext>
            </a:extLst>
          </p:cNvPr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DB9DFC0-720F-05F7-73F4-B38DECC5B978}"/>
              </a:ext>
            </a:extLst>
          </p:cNvPr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D98E98F-A901-7EA8-ABFE-EF7AEADA4833}"/>
              </a:ext>
            </a:extLst>
          </p:cNvPr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8FD01AC-21C4-0E7A-3714-280FD1C700FF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2940E42-457E-A1B6-BA03-7B6A45D9C003}"/>
              </a:ext>
            </a:extLst>
          </p:cNvPr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7E2459F-0731-C2EC-43DE-5E7B45522479}"/>
              </a:ext>
            </a:extLst>
          </p:cNvPr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A36C5382-0C44-D0A4-F666-351D292ED985}"/>
              </a:ext>
            </a:extLst>
          </p:cNvPr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A66454C-84B7-4D67-F4B7-8944896214BC}"/>
              </a:ext>
            </a:extLst>
          </p:cNvPr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7EC4B5C-A8E4-F5F8-699E-3CF05C91BB83}"/>
              </a:ext>
            </a:extLst>
          </p:cNvPr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AAB6DAD-4BF2-E8BE-ADEC-5A4ED68521F7}"/>
              </a:ext>
            </a:extLst>
          </p:cNvPr>
          <p:cNvSpPr/>
          <p:nvPr/>
        </p:nvSpPr>
        <p:spPr>
          <a:xfrm>
            <a:off x="-423620" y="1833966"/>
            <a:ext cx="12191695" cy="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071672D-A557-2503-1AD5-4BA2558FA643}"/>
              </a:ext>
            </a:extLst>
          </p:cNvPr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3175">
            <a:solidFill>
              <a:srgbClr val="2334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BF58B612-A9F5-F050-55C0-C1A6C718734C}"/>
              </a:ext>
            </a:extLst>
          </p:cNvPr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solidFill>
            <a:srgbClr val="0B111C">
              <a:alpha val="0"/>
            </a:srgbClr>
          </a:solidFill>
          <a:ln w="762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Designing Next-Generation Behavioral </a:t>
            </a:r>
          </a:p>
          <a:p>
            <a:endParaRPr lang="en-US"/>
          </a:p>
          <a:p>
            <a:r>
              <a:rPr lang="en-US"/>
              <a:t>AI Prompt Gateway </a:t>
            </a:r>
          </a:p>
          <a:p>
            <a:endParaRPr lang="en-US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E6AC8B76-76BC-1CFA-BCAC-98A3B6E471D9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69AB8B15-38D6-A30A-F7A0-5F10145C3018}"/>
              </a:ext>
            </a:extLst>
          </p:cNvPr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70635C44-87B0-88B8-46F3-4C90F5EF7243}"/>
              </a:ext>
            </a:extLst>
          </p:cNvPr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6A3F3C93-9034-EF1D-653A-1794B938D84B}"/>
              </a:ext>
            </a:extLst>
          </p:cNvPr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BBB2F709-010E-5215-B3C6-3A64EC0469A3}"/>
              </a:ext>
            </a:extLst>
          </p:cNvPr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D10A638F-4245-F777-D6E8-665475848AF2}"/>
              </a:ext>
            </a:extLst>
          </p:cNvPr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F035C6A7-0940-756A-50D6-EE2CA0B7983A}"/>
              </a:ext>
            </a:extLst>
          </p:cNvPr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E03E3686-A2BF-FC5F-92E8-710D245EB79E}"/>
              </a:ext>
            </a:extLst>
          </p:cNvPr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EDB71347-7F34-5ECA-C1AE-9C4DDBF580CF}"/>
              </a:ext>
            </a:extLst>
          </p:cNvPr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0B367FA2-0D6A-5115-A8A4-37B05926A659}"/>
              </a:ext>
            </a:extLst>
          </p:cNvPr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130EF5AC-2054-D2CF-A88C-4523FF236FBB}"/>
              </a:ext>
            </a:extLst>
          </p:cNvPr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A94A8C63-9A98-9DFE-1A4A-3FBCEC01669D}"/>
              </a:ext>
            </a:extLst>
          </p:cNvPr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2C200809-E69C-DF11-3837-2F51F399370B}"/>
              </a:ext>
            </a:extLst>
          </p:cNvPr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E701C007-F972-0A45-B3AD-52F052D9A445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7CBF888C-11E5-9A05-E565-218CCCE21588}"/>
              </a:ext>
            </a:extLst>
          </p:cNvPr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699E344C-6BA9-74F8-AAD1-BAD078A88FDB}"/>
              </a:ext>
            </a:extLst>
          </p:cNvPr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AD0AE44E-63F0-1AE3-DB2E-8C97DB2E94E4}"/>
              </a:ext>
            </a:extLst>
          </p:cNvPr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DF4A6B40-3775-5595-23C8-9FC94556DFBF}"/>
              </a:ext>
            </a:extLst>
          </p:cNvPr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4CEC2207-1630-110E-A7E6-5CACC9B6B7EA}"/>
              </a:ext>
            </a:extLst>
          </p:cNvPr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B5204891-781B-098D-B878-D47876303D22}"/>
              </a:ext>
            </a:extLst>
          </p:cNvPr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D90BB52A-D4F2-F118-A94E-150235CCFAFB}"/>
              </a:ext>
            </a:extLst>
          </p:cNvPr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24">
            <a:extLst>
              <a:ext uri="{FF2B5EF4-FFF2-40B4-BE49-F238E27FC236}">
                <a16:creationId xmlns:a16="http://schemas.microsoft.com/office/drawing/2014/main" id="{8F0AEE61-EDC7-B658-E501-963210C678C9}"/>
              </a:ext>
            </a:extLst>
          </p:cNvPr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19D2DBA4-D463-CACA-4C9A-131457E836CF}"/>
              </a:ext>
            </a:extLst>
          </p:cNvPr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ECC4FDCF-A1FF-E5A2-A76A-4C74ACC3EC24}"/>
              </a:ext>
            </a:extLst>
          </p:cNvPr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27">
            <a:extLst>
              <a:ext uri="{FF2B5EF4-FFF2-40B4-BE49-F238E27FC236}">
                <a16:creationId xmlns:a16="http://schemas.microsoft.com/office/drawing/2014/main" id="{91F65705-7295-8584-BFF6-0287FCFA197A}"/>
              </a:ext>
            </a:extLst>
          </p:cNvPr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651FAF34-DED1-6C7A-674E-C4C5D6EDCCDE}"/>
              </a:ext>
            </a:extLst>
          </p:cNvPr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29">
            <a:extLst>
              <a:ext uri="{FF2B5EF4-FFF2-40B4-BE49-F238E27FC236}">
                <a16:creationId xmlns:a16="http://schemas.microsoft.com/office/drawing/2014/main" id="{E10E9524-FEE5-0D1F-DC02-27C6072392A9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0">
            <a:extLst>
              <a:ext uri="{FF2B5EF4-FFF2-40B4-BE49-F238E27FC236}">
                <a16:creationId xmlns:a16="http://schemas.microsoft.com/office/drawing/2014/main" id="{957AFB6D-A42A-6E03-49F3-12EA258A1A1E}"/>
              </a:ext>
            </a:extLst>
          </p:cNvPr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31">
            <a:extLst>
              <a:ext uri="{FF2B5EF4-FFF2-40B4-BE49-F238E27FC236}">
                <a16:creationId xmlns:a16="http://schemas.microsoft.com/office/drawing/2014/main" id="{31B44F96-1FFC-1425-A79D-757E3735C786}"/>
              </a:ext>
            </a:extLst>
          </p:cNvPr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32">
            <a:extLst>
              <a:ext uri="{FF2B5EF4-FFF2-40B4-BE49-F238E27FC236}">
                <a16:creationId xmlns:a16="http://schemas.microsoft.com/office/drawing/2014/main" id="{617D17DC-7632-F7F0-33A7-04B36748ABC5}"/>
              </a:ext>
            </a:extLst>
          </p:cNvPr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">
            <a:solidFill>
              <a:srgbClr val="1E3A6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48">
            <a:extLst>
              <a:ext uri="{FF2B5EF4-FFF2-40B4-BE49-F238E27FC236}">
                <a16:creationId xmlns:a16="http://schemas.microsoft.com/office/drawing/2014/main" id="{F62BA8CC-88C2-D874-19A0-4809532A31B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32C4A8-8226-7EE8-6AA7-0B372A0C47C1}"/>
              </a:ext>
            </a:extLst>
          </p:cNvPr>
          <p:cNvSpPr txBox="1"/>
          <p:nvPr/>
        </p:nvSpPr>
        <p:spPr>
          <a:xfrm>
            <a:off x="321580" y="252418"/>
            <a:ext cx="12036675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 err="1">
                <a:solidFill>
                  <a:schemeClr val="bg1"/>
                </a:solidFill>
                <a:latin typeface="Arial"/>
                <a:cs typeface="Arial"/>
              </a:rPr>
              <a:t>AccuKnox</a:t>
            </a:r>
            <a:r>
              <a:rPr lang="en-US" sz="2600" b="1" cap="small" dirty="0">
                <a:solidFill>
                  <a:schemeClr val="bg1"/>
                </a:solidFill>
                <a:latin typeface="Arial"/>
                <a:cs typeface="Arial"/>
              </a:rPr>
              <a:t> Voice-to-Voice AI Prompt Protection </a:t>
            </a:r>
            <a:endParaRPr kumimoji="0" lang="en-US" sz="26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A5CF644-599D-D965-66E4-EE8434FD7DA1}"/>
              </a:ext>
            </a:extLst>
          </p:cNvPr>
          <p:cNvSpPr txBox="1"/>
          <p:nvPr/>
        </p:nvSpPr>
        <p:spPr>
          <a:xfrm>
            <a:off x="321580" y="854585"/>
            <a:ext cx="9736820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00" b="1" cap="small" dirty="0">
                <a:solidFill>
                  <a:srgbClr val="74FFFF"/>
                </a:solidFill>
                <a:latin typeface="Malayalam MN" pitchFamily="2" charset="0"/>
                <a:cs typeface="Malayalam MN" pitchFamily="2" charset="0"/>
              </a:rPr>
              <a:t>Mature voice Analysis Can Accelerate a </a:t>
            </a:r>
            <a:r>
              <a:rPr lang="en-US" sz="2300" b="1" cap="small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Voice-AI gateway</a:t>
            </a:r>
            <a:endParaRPr kumimoji="0" lang="en-US" sz="23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ayalam MN" pitchFamily="2" charset="0"/>
              <a:ea typeface="+mj-ea"/>
              <a:cs typeface="Malayalam MN" pitchFamily="2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C653940-286D-49FF-1941-DED03B7473A4}"/>
              </a:ext>
            </a:extLst>
          </p:cNvPr>
          <p:cNvGrpSpPr/>
          <p:nvPr/>
        </p:nvGrpSpPr>
        <p:grpSpPr>
          <a:xfrm>
            <a:off x="177800" y="1314449"/>
            <a:ext cx="11836400" cy="4838701"/>
            <a:chOff x="254000" y="1371599"/>
            <a:chExt cx="11671300" cy="4610101"/>
          </a:xfrm>
        </p:grpSpPr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495BA97-4315-7295-2B0B-256C3893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54000" y="1371599"/>
              <a:ext cx="11671300" cy="4610101"/>
            </a:xfrm>
            <a:prstGeom prst="rect">
              <a:avLst/>
            </a:prstGeom>
          </p:spPr>
        </p:pic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7A5D47-BC87-F1EE-26E9-6B83D350E626}"/>
                </a:ext>
              </a:extLst>
            </p:cNvPr>
            <p:cNvSpPr/>
            <p:nvPr/>
          </p:nvSpPr>
          <p:spPr>
            <a:xfrm>
              <a:off x="3232150" y="5740400"/>
              <a:ext cx="5638800" cy="241300"/>
            </a:xfrm>
            <a:custGeom>
              <a:avLst/>
              <a:gdLst>
                <a:gd name="csX0" fmla="*/ 152400 w 5638800"/>
                <a:gd name="csY0" fmla="*/ 6350 h 241300"/>
                <a:gd name="csX1" fmla="*/ 101600 w 5638800"/>
                <a:gd name="csY1" fmla="*/ 38100 h 241300"/>
                <a:gd name="csX2" fmla="*/ 38100 w 5638800"/>
                <a:gd name="csY2" fmla="*/ 95250 h 241300"/>
                <a:gd name="csX3" fmla="*/ 12700 w 5638800"/>
                <a:gd name="csY3" fmla="*/ 127000 h 241300"/>
                <a:gd name="csX4" fmla="*/ 0 w 5638800"/>
                <a:gd name="csY4" fmla="*/ 196850 h 241300"/>
                <a:gd name="csX5" fmla="*/ 3638550 w 5638800"/>
                <a:gd name="csY5" fmla="*/ 241300 h 241300"/>
                <a:gd name="csX6" fmla="*/ 5638800 w 5638800"/>
                <a:gd name="csY6" fmla="*/ 190500 h 241300"/>
                <a:gd name="csX7" fmla="*/ 5422900 w 5638800"/>
                <a:gd name="csY7" fmla="*/ 6350 h 241300"/>
                <a:gd name="csX8" fmla="*/ 4254500 w 5638800"/>
                <a:gd name="csY8" fmla="*/ 0 h 241300"/>
                <a:gd name="csX9" fmla="*/ 1676400 w 5638800"/>
                <a:gd name="csY9" fmla="*/ 25400 h 241300"/>
                <a:gd name="csX10" fmla="*/ 742950 w 5638800"/>
                <a:gd name="csY10" fmla="*/ 38100 h 241300"/>
                <a:gd name="csX11" fmla="*/ 260350 w 5638800"/>
                <a:gd name="csY11" fmla="*/ 19050 h 241300"/>
                <a:gd name="csX12" fmla="*/ 152400 w 5638800"/>
                <a:gd name="csY12" fmla="*/ 6350 h 241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638800" h="241300">
                  <a:moveTo>
                    <a:pt x="152400" y="6350"/>
                  </a:moveTo>
                  <a:lnTo>
                    <a:pt x="101600" y="38100"/>
                  </a:lnTo>
                  <a:cubicBezTo>
                    <a:pt x="91972" y="46353"/>
                    <a:pt x="51787" y="78826"/>
                    <a:pt x="38100" y="95250"/>
                  </a:cubicBezTo>
                  <a:cubicBezTo>
                    <a:pt x="-1952" y="143313"/>
                    <a:pt x="49648" y="90052"/>
                    <a:pt x="12700" y="127000"/>
                  </a:cubicBezTo>
                  <a:lnTo>
                    <a:pt x="0" y="196850"/>
                  </a:lnTo>
                  <a:lnTo>
                    <a:pt x="3638550" y="241300"/>
                  </a:lnTo>
                  <a:lnTo>
                    <a:pt x="5638800" y="190500"/>
                  </a:lnTo>
                  <a:lnTo>
                    <a:pt x="5422900" y="6350"/>
                  </a:lnTo>
                  <a:lnTo>
                    <a:pt x="4254500" y="0"/>
                  </a:lnTo>
                  <a:lnTo>
                    <a:pt x="1676400" y="25400"/>
                  </a:lnTo>
                  <a:lnTo>
                    <a:pt x="742950" y="38100"/>
                  </a:lnTo>
                  <a:lnTo>
                    <a:pt x="260350" y="19050"/>
                  </a:lnTo>
                  <a:lnTo>
                    <a:pt x="152400" y="6350"/>
                  </a:lnTo>
                  <a:close/>
                </a:path>
              </a:pathLst>
            </a:custGeom>
            <a:solidFill>
              <a:srgbClr val="0009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970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A9B2-19A9-1880-AFA9-937BF64B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F9F92-D9DE-1242-7276-284D23FDB2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00040B"/>
              </a:clrFrom>
              <a:clrTo>
                <a:srgbClr val="00040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1465" y="1767840"/>
            <a:ext cx="9781980" cy="426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96C524-F2DD-9970-4092-5FAF3600E525}"/>
              </a:ext>
            </a:extLst>
          </p:cNvPr>
          <p:cNvSpPr txBox="1"/>
          <p:nvPr/>
        </p:nvSpPr>
        <p:spPr>
          <a:xfrm>
            <a:off x="306876" y="93215"/>
            <a:ext cx="11934743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Why is a Voice-to-Voice Gateway Important?</a:t>
            </a:r>
            <a:endParaRPr kumimoji="0" lang="en-US" sz="26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3CF33-63EE-C33D-4124-9A0973623518}"/>
              </a:ext>
            </a:extLst>
          </p:cNvPr>
          <p:cNvSpPr txBox="1"/>
          <p:nvPr/>
        </p:nvSpPr>
        <p:spPr>
          <a:xfrm>
            <a:off x="0" y="72474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small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Future AI protections must be continuous and follow the conversation </a:t>
            </a:r>
          </a:p>
          <a:p>
            <a:pPr algn="ctr"/>
            <a:r>
              <a:rPr lang="en-US" sz="2400" cap="small">
                <a:solidFill>
                  <a:schemeClr val="bg1"/>
                </a:solidFill>
              </a:rPr>
              <a:t>– not stateless and prompt based 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9C576-CFAF-F326-E834-D232BE0A20C6}"/>
              </a:ext>
            </a:extLst>
          </p:cNvPr>
          <p:cNvSpPr txBox="1"/>
          <p:nvPr/>
        </p:nvSpPr>
        <p:spPr>
          <a:xfrm>
            <a:off x="7662531" y="248095"/>
            <a:ext cx="4104167" cy="461665"/>
          </a:xfrm>
          <a:prstGeom prst="rect">
            <a:avLst/>
          </a:prstGeom>
          <a:solidFill>
            <a:srgbClr val="000912"/>
          </a:solidFill>
          <a:ln>
            <a:solidFill>
              <a:srgbClr val="B4E6A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DF97C"/>
                </a:solidFill>
              </a:rPr>
              <a:t>A summary of strategic capabilities that a future SRI voice gateway could deliver across a range of AI services</a:t>
            </a:r>
          </a:p>
        </p:txBody>
      </p:sp>
    </p:spTree>
    <p:extLst>
      <p:ext uri="{BB962C8B-B14F-4D97-AF65-F5344CB8AC3E}">
        <p14:creationId xmlns:p14="http://schemas.microsoft.com/office/powerpoint/2010/main" val="148656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5DEE-4BB7-0C66-3C49-074ADEC5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68335-5AD1-9129-135A-21E6F2AF8F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211" y="1480801"/>
            <a:ext cx="11743360" cy="4884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3AA8DB-F819-BA02-9ED8-C496F5BCE246}"/>
              </a:ext>
            </a:extLst>
          </p:cNvPr>
          <p:cNvSpPr txBox="1"/>
          <p:nvPr/>
        </p:nvSpPr>
        <p:spPr>
          <a:xfrm>
            <a:off x="275550" y="61041"/>
            <a:ext cx="1120779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cap="small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Why? Mission Relevance Across The Future of DoW AI Operations</a:t>
            </a:r>
            <a:endParaRPr kumimoji="0" lang="en-US" sz="26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BFCC9-96DA-927C-BF19-15BF43D25FD9}"/>
              </a:ext>
            </a:extLst>
          </p:cNvPr>
          <p:cNvSpPr txBox="1"/>
          <p:nvPr/>
        </p:nvSpPr>
        <p:spPr>
          <a:xfrm>
            <a:off x="2179224" y="815913"/>
            <a:ext cx="736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cap="small" dirty="0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- Why </a:t>
            </a:r>
            <a:r>
              <a:rPr lang="en-US" sz="3200" cap="small" dirty="0" err="1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AccuKnox</a:t>
            </a:r>
            <a:r>
              <a:rPr lang="en-US" sz="3200" cap="small" dirty="0">
                <a:solidFill>
                  <a:srgbClr val="73FEFF"/>
                </a:solidFill>
                <a:latin typeface="Malayalam MN" pitchFamily="2" charset="0"/>
                <a:cs typeface="Malayalam MN" pitchFamily="2" charset="0"/>
              </a:rPr>
              <a:t> Clients Should Care-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FA588-C1C1-8669-BE47-79D293837B39}"/>
              </a:ext>
            </a:extLst>
          </p:cNvPr>
          <p:cNvSpPr txBox="1"/>
          <p:nvPr/>
        </p:nvSpPr>
        <p:spPr>
          <a:xfrm>
            <a:off x="8910083" y="496188"/>
            <a:ext cx="3161413" cy="646331"/>
          </a:xfrm>
          <a:prstGeom prst="rect">
            <a:avLst/>
          </a:prstGeom>
          <a:solidFill>
            <a:srgbClr val="000912"/>
          </a:solidFill>
          <a:ln>
            <a:solidFill>
              <a:srgbClr val="B4E6A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DF97C"/>
                </a:solidFill>
              </a:rPr>
              <a:t>What are the potential selling points to help DoW realize the value and importance of the voice prompt concept</a:t>
            </a:r>
          </a:p>
        </p:txBody>
      </p:sp>
    </p:spTree>
    <p:extLst>
      <p:ext uri="{BB962C8B-B14F-4D97-AF65-F5344CB8AC3E}">
        <p14:creationId xmlns:p14="http://schemas.microsoft.com/office/powerpoint/2010/main" val="221796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16573</TotalTime>
  <Words>282</Words>
  <Application>Microsoft Macintosh PowerPoint</Application>
  <PresentationFormat>Widescreen</PresentationFormat>
  <Paragraphs>47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Malayalam MN</vt:lpstr>
      <vt:lpstr>Montserrat</vt:lpstr>
      <vt:lpstr>Montserrat Medium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Porras</dc:creator>
  <cp:lastModifiedBy>Nat Natraj</cp:lastModifiedBy>
  <cp:revision>89</cp:revision>
  <dcterms:created xsi:type="dcterms:W3CDTF">2026-06-17T19:31:45Z</dcterms:created>
  <dcterms:modified xsi:type="dcterms:W3CDTF">2026-07-12T05:11:44Z</dcterms:modified>
</cp:coreProperties>
</file>