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199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C8"/>
        </a:solidFill>
        <a:effectLst/>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0A1580"/>
          </a:solidFill>
          <a:ln w="12700">
            <a:solidFill>
              <a:srgbClr val="333333"/>
            </a:solidFill>
            <a:prstDash val="solid"/>
          </a:ln>
        </p:spPr>
        <p:txBody>
          <a:bodyPr/>
          <a:lstStyle/>
          <a:p>
            <a:endParaRPr lang="en-US"/>
          </a:p>
        </p:txBody>
      </p:sp>
      <p:sp>
        <p:nvSpPr>
          <p:cNvPr id="3" name="Text 1"/>
          <p:cNvSpPr/>
          <p:nvPr/>
        </p:nvSpPr>
        <p:spPr>
          <a:xfrm>
            <a:off x="411480" y="365760"/>
            <a:ext cx="3657600" cy="457200"/>
          </a:xfrm>
          <a:prstGeom prst="rect">
            <a:avLst/>
          </a:prstGeom>
          <a:noFill/>
          <a:ln/>
        </p:spPr>
        <p:txBody>
          <a:bodyPr wrap="square" lIns="0" tIns="0" rIns="0" bIns="0" rtlCol="0" anchor="ctr"/>
          <a:lstStyle/>
          <a:p>
            <a:pPr marL="0" indent="0">
              <a:buNone/>
            </a:pPr>
            <a:r>
              <a:rPr lang="en-US" sz="1700" b="1" dirty="0">
                <a:solidFill>
                  <a:srgbClr val="FFFFFF"/>
                </a:solidFill>
                <a:latin typeface="Space Grotesk" pitchFamily="34" charset="0"/>
                <a:ea typeface="Space Grotesk" pitchFamily="34" charset="-122"/>
                <a:cs typeface="Space Grotesk" pitchFamily="34" charset="-120"/>
              </a:rPr>
              <a:t>⬡ AccuKnox</a:t>
            </a:r>
            <a:endParaRPr lang="en-US" sz="1700" dirty="0"/>
          </a:p>
        </p:txBody>
      </p:sp>
      <p:sp>
        <p:nvSpPr>
          <p:cNvPr id="4" name="Text 2"/>
          <p:cNvSpPr/>
          <p:nvPr/>
        </p:nvSpPr>
        <p:spPr>
          <a:xfrm>
            <a:off x="411480" y="1032217"/>
            <a:ext cx="5166360" cy="1371600"/>
          </a:xfrm>
          <a:prstGeom prst="rect">
            <a:avLst/>
          </a:prstGeom>
          <a:noFill/>
          <a:ln/>
        </p:spPr>
        <p:txBody>
          <a:bodyPr wrap="square" lIns="0" tIns="0" rIns="0" bIns="0" rtlCol="0" anchor="t"/>
          <a:lstStyle/>
          <a:p>
            <a:pPr marL="0" indent="0">
              <a:buNone/>
            </a:pPr>
            <a:r>
              <a:rPr lang="en-US" sz="3600" b="1" dirty="0">
                <a:solidFill>
                  <a:srgbClr val="FFFFFF"/>
                </a:solidFill>
                <a:latin typeface="Space Grotesk" pitchFamily="34" charset="0"/>
                <a:ea typeface="Space Grotesk" pitchFamily="34" charset="-122"/>
                <a:cs typeface="Space Grotesk" pitchFamily="34" charset="-120"/>
              </a:rPr>
              <a:t>Traditional SOC Was Never Built for This Post-AI Era</a:t>
            </a:r>
            <a:endParaRPr lang="en-US" sz="3600" dirty="0"/>
          </a:p>
        </p:txBody>
      </p:sp>
      <p:sp>
        <p:nvSpPr>
          <p:cNvPr id="5" name="Text 3"/>
          <p:cNvSpPr/>
          <p:nvPr/>
        </p:nvSpPr>
        <p:spPr>
          <a:xfrm>
            <a:off x="411480" y="2606040"/>
            <a:ext cx="5166360" cy="731520"/>
          </a:xfrm>
          <a:prstGeom prst="rect">
            <a:avLst/>
          </a:prstGeom>
          <a:noFill/>
          <a:ln/>
        </p:spPr>
        <p:txBody>
          <a:bodyPr wrap="square" lIns="0" tIns="0" rIns="0" bIns="0" rtlCol="0" anchor="ctr"/>
          <a:lstStyle/>
          <a:p>
            <a:pPr marL="0" indent="0">
              <a:buNone/>
            </a:pPr>
            <a:r>
              <a:rPr lang="en-US" sz="1400" i="1" dirty="0">
                <a:solidFill>
                  <a:srgbClr val="6464FF"/>
                </a:solidFill>
                <a:latin typeface="Inter" pitchFamily="34" charset="0"/>
                <a:ea typeface="Inter" pitchFamily="34" charset="-122"/>
                <a:cs typeface="Inter" pitchFamily="34" charset="-120"/>
              </a:rPr>
              <a:t>The agentic AI-SOC that detects, investigates, and blocks the threat at the kernel.</a:t>
            </a:r>
            <a:endParaRPr lang="en-US" sz="1400" dirty="0"/>
          </a:p>
        </p:txBody>
      </p:sp>
      <p:sp>
        <p:nvSpPr>
          <p:cNvPr id="6" name="Text 4"/>
          <p:cNvSpPr/>
          <p:nvPr/>
        </p:nvSpPr>
        <p:spPr>
          <a:xfrm>
            <a:off x="411480" y="4434840"/>
            <a:ext cx="5166360" cy="365760"/>
          </a:xfrm>
          <a:prstGeom prst="rect">
            <a:avLst/>
          </a:prstGeom>
          <a:noFill/>
          <a:ln/>
        </p:spPr>
        <p:txBody>
          <a:bodyPr wrap="square" lIns="0" tIns="0" rIns="0" bIns="0" rtlCol="0" anchor="ctr"/>
          <a:lstStyle/>
          <a:p>
            <a:pPr marL="0" indent="0">
              <a:buNone/>
            </a:pPr>
            <a:r>
              <a:rPr lang="en-US" sz="1100" dirty="0">
                <a:solidFill>
                  <a:srgbClr val="D6E4F7"/>
                </a:solidFill>
                <a:latin typeface="Inter" pitchFamily="34" charset="0"/>
                <a:ea typeface="Inter" pitchFamily="34" charset="-122"/>
                <a:cs typeface="Inter" pitchFamily="34" charset="-120"/>
              </a:rPr>
              <a:t>Executive technical briefing  ·  Phase 1  ·  June 2026</a:t>
            </a:r>
            <a:endParaRPr lang="en-US" sz="1100" dirty="0"/>
          </a:p>
        </p:txBody>
      </p:sp>
      <p:sp>
        <p:nvSpPr>
          <p:cNvPr id="7" name="Text 5"/>
          <p:cNvSpPr/>
          <p:nvPr/>
        </p:nvSpPr>
        <p:spPr>
          <a:xfrm>
            <a:off x="5943600" y="320040"/>
            <a:ext cx="3108960" cy="548640"/>
          </a:xfrm>
          <a:prstGeom prst="rect">
            <a:avLst/>
          </a:prstGeom>
          <a:noFill/>
          <a:ln/>
        </p:spPr>
        <p:txBody>
          <a:bodyPr wrap="square" lIns="0" tIns="0" rIns="0" bIns="0" rtlCol="0" anchor="ctr"/>
          <a:lstStyle/>
          <a:p>
            <a:pPr marL="0" indent="0" algn="ctr">
              <a:buNone/>
            </a:pPr>
            <a:r>
              <a:rPr lang="en-US" sz="3400" b="1" dirty="0">
                <a:solidFill>
                  <a:srgbClr val="FFFFFF"/>
                </a:solidFill>
                <a:latin typeface="Space Grotesk" pitchFamily="34" charset="0"/>
                <a:ea typeface="Space Grotesk" pitchFamily="34" charset="-122"/>
                <a:cs typeface="Space Grotesk" pitchFamily="34" charset="-120"/>
              </a:rPr>
              <a:t>85%</a:t>
            </a:r>
            <a:endParaRPr lang="en-US" sz="3400" dirty="0"/>
          </a:p>
        </p:txBody>
      </p:sp>
      <p:sp>
        <p:nvSpPr>
          <p:cNvPr id="8" name="Text 6"/>
          <p:cNvSpPr/>
          <p:nvPr/>
        </p:nvSpPr>
        <p:spPr>
          <a:xfrm>
            <a:off x="5989320" y="832104"/>
            <a:ext cx="3017520" cy="292608"/>
          </a:xfrm>
          <a:prstGeom prst="rect">
            <a:avLst/>
          </a:prstGeom>
          <a:noFill/>
          <a:ln/>
        </p:spPr>
        <p:txBody>
          <a:bodyPr wrap="square" lIns="0" tIns="0" rIns="0" bIns="0" rtlCol="0" anchor="ctr"/>
          <a:lstStyle/>
          <a:p>
            <a:pPr marL="0" indent="0" algn="ctr">
              <a:buNone/>
            </a:pPr>
            <a:r>
              <a:rPr lang="en-US" sz="1050" dirty="0">
                <a:solidFill>
                  <a:srgbClr val="6464FF"/>
                </a:solidFill>
                <a:latin typeface="Inter" pitchFamily="34" charset="0"/>
                <a:ea typeface="Inter" pitchFamily="34" charset="-122"/>
                <a:cs typeface="Inter" pitchFamily="34" charset="-120"/>
              </a:rPr>
              <a:t>less alert noise</a:t>
            </a:r>
            <a:endParaRPr lang="en-US" sz="1050" dirty="0"/>
          </a:p>
        </p:txBody>
      </p:sp>
      <p:sp>
        <p:nvSpPr>
          <p:cNvPr id="9" name="Shape 7"/>
          <p:cNvSpPr/>
          <p:nvPr/>
        </p:nvSpPr>
        <p:spPr>
          <a:xfrm>
            <a:off x="6309360" y="1179576"/>
            <a:ext cx="2377440" cy="0"/>
          </a:xfrm>
          <a:prstGeom prst="line">
            <a:avLst/>
          </a:prstGeom>
          <a:noFill/>
          <a:ln w="6350">
            <a:solidFill>
              <a:srgbClr val="6464FF"/>
            </a:solidFill>
            <a:prstDash val="solid"/>
          </a:ln>
        </p:spPr>
        <p:txBody>
          <a:bodyPr/>
          <a:lstStyle/>
          <a:p>
            <a:endParaRPr lang="en-US"/>
          </a:p>
        </p:txBody>
      </p:sp>
      <p:sp>
        <p:nvSpPr>
          <p:cNvPr id="10" name="Text 8"/>
          <p:cNvSpPr/>
          <p:nvPr/>
        </p:nvSpPr>
        <p:spPr>
          <a:xfrm>
            <a:off x="5943600" y="1252728"/>
            <a:ext cx="3108960" cy="548640"/>
          </a:xfrm>
          <a:prstGeom prst="rect">
            <a:avLst/>
          </a:prstGeom>
          <a:noFill/>
          <a:ln/>
        </p:spPr>
        <p:txBody>
          <a:bodyPr wrap="square" lIns="0" tIns="0" rIns="0" bIns="0" rtlCol="0" anchor="ctr"/>
          <a:lstStyle/>
          <a:p>
            <a:pPr marL="0" indent="0" algn="ctr">
              <a:buNone/>
            </a:pPr>
            <a:r>
              <a:rPr lang="en-US" sz="3400" b="1" dirty="0">
                <a:solidFill>
                  <a:srgbClr val="FFFFFF"/>
                </a:solidFill>
                <a:latin typeface="Space Grotesk" pitchFamily="34" charset="0"/>
                <a:ea typeface="Space Grotesk" pitchFamily="34" charset="-122"/>
                <a:cs typeface="Space Grotesk" pitchFamily="34" charset="-120"/>
              </a:rPr>
              <a:t>89%</a:t>
            </a:r>
            <a:endParaRPr lang="en-US" sz="3400" dirty="0"/>
          </a:p>
        </p:txBody>
      </p:sp>
      <p:sp>
        <p:nvSpPr>
          <p:cNvPr id="11" name="Text 9"/>
          <p:cNvSpPr/>
          <p:nvPr/>
        </p:nvSpPr>
        <p:spPr>
          <a:xfrm>
            <a:off x="5989320" y="1764792"/>
            <a:ext cx="3017520" cy="292608"/>
          </a:xfrm>
          <a:prstGeom prst="rect">
            <a:avLst/>
          </a:prstGeom>
          <a:noFill/>
          <a:ln/>
        </p:spPr>
        <p:txBody>
          <a:bodyPr wrap="square" lIns="0" tIns="0" rIns="0" bIns="0" rtlCol="0" anchor="ctr"/>
          <a:lstStyle/>
          <a:p>
            <a:pPr marL="0" indent="0" algn="ctr">
              <a:buNone/>
            </a:pPr>
            <a:r>
              <a:rPr lang="en-US" sz="1050" dirty="0">
                <a:solidFill>
                  <a:srgbClr val="6464FF"/>
                </a:solidFill>
                <a:latin typeface="Inter" pitchFamily="34" charset="0"/>
                <a:ea typeface="Inter" pitchFamily="34" charset="-122"/>
                <a:cs typeface="Inter" pitchFamily="34" charset="-120"/>
              </a:rPr>
              <a:t>fewer false positives</a:t>
            </a:r>
            <a:endParaRPr lang="en-US" sz="1050" dirty="0"/>
          </a:p>
        </p:txBody>
      </p:sp>
      <p:sp>
        <p:nvSpPr>
          <p:cNvPr id="12" name="Shape 10"/>
          <p:cNvSpPr/>
          <p:nvPr/>
        </p:nvSpPr>
        <p:spPr>
          <a:xfrm>
            <a:off x="6309360" y="2112264"/>
            <a:ext cx="2377440" cy="0"/>
          </a:xfrm>
          <a:prstGeom prst="line">
            <a:avLst/>
          </a:prstGeom>
          <a:noFill/>
          <a:ln w="6350">
            <a:solidFill>
              <a:srgbClr val="6464FF"/>
            </a:solidFill>
            <a:prstDash val="solid"/>
          </a:ln>
        </p:spPr>
        <p:txBody>
          <a:bodyPr/>
          <a:lstStyle/>
          <a:p>
            <a:endParaRPr lang="en-US"/>
          </a:p>
        </p:txBody>
      </p:sp>
      <p:sp>
        <p:nvSpPr>
          <p:cNvPr id="13" name="Text 11"/>
          <p:cNvSpPr/>
          <p:nvPr/>
        </p:nvSpPr>
        <p:spPr>
          <a:xfrm>
            <a:off x="5943600" y="2185416"/>
            <a:ext cx="3108960" cy="548640"/>
          </a:xfrm>
          <a:prstGeom prst="rect">
            <a:avLst/>
          </a:prstGeom>
          <a:noFill/>
          <a:ln/>
        </p:spPr>
        <p:txBody>
          <a:bodyPr wrap="square" lIns="0" tIns="0" rIns="0" bIns="0" rtlCol="0" anchor="ctr"/>
          <a:lstStyle/>
          <a:p>
            <a:pPr marL="0" indent="0" algn="ctr">
              <a:buNone/>
            </a:pPr>
            <a:r>
              <a:rPr lang="en-US" sz="3400" b="1" dirty="0">
                <a:solidFill>
                  <a:srgbClr val="FFFFFF"/>
                </a:solidFill>
                <a:latin typeface="Space Grotesk" pitchFamily="34" charset="0"/>
                <a:ea typeface="Space Grotesk" pitchFamily="34" charset="-122"/>
                <a:cs typeface="Space Grotesk" pitchFamily="34" charset="-120"/>
              </a:rPr>
              <a:t>91%</a:t>
            </a:r>
            <a:endParaRPr lang="en-US" sz="3400" dirty="0"/>
          </a:p>
        </p:txBody>
      </p:sp>
      <p:sp>
        <p:nvSpPr>
          <p:cNvPr id="14" name="Text 12"/>
          <p:cNvSpPr/>
          <p:nvPr/>
        </p:nvSpPr>
        <p:spPr>
          <a:xfrm>
            <a:off x="5989320" y="2697480"/>
            <a:ext cx="3017520" cy="292608"/>
          </a:xfrm>
          <a:prstGeom prst="rect">
            <a:avLst/>
          </a:prstGeom>
          <a:noFill/>
          <a:ln/>
        </p:spPr>
        <p:txBody>
          <a:bodyPr wrap="square" lIns="0" tIns="0" rIns="0" bIns="0" rtlCol="0" anchor="ctr"/>
          <a:lstStyle/>
          <a:p>
            <a:pPr marL="0" indent="0" algn="ctr">
              <a:buNone/>
            </a:pPr>
            <a:r>
              <a:rPr lang="en-US" sz="1050" dirty="0">
                <a:solidFill>
                  <a:srgbClr val="6464FF"/>
                </a:solidFill>
                <a:latin typeface="Inter" pitchFamily="34" charset="0"/>
                <a:ea typeface="Inter" pitchFamily="34" charset="-122"/>
                <a:cs typeface="Inter" pitchFamily="34" charset="-120"/>
              </a:rPr>
              <a:t>faster remediation</a:t>
            </a:r>
            <a:endParaRPr lang="en-US" sz="1050" dirty="0"/>
          </a:p>
        </p:txBody>
      </p:sp>
      <p:sp>
        <p:nvSpPr>
          <p:cNvPr id="15" name="Shape 13"/>
          <p:cNvSpPr/>
          <p:nvPr/>
        </p:nvSpPr>
        <p:spPr>
          <a:xfrm>
            <a:off x="6309360" y="3044952"/>
            <a:ext cx="2377440" cy="0"/>
          </a:xfrm>
          <a:prstGeom prst="line">
            <a:avLst/>
          </a:prstGeom>
          <a:noFill/>
          <a:ln w="6350">
            <a:solidFill>
              <a:srgbClr val="6464FF"/>
            </a:solidFill>
            <a:prstDash val="solid"/>
          </a:ln>
        </p:spPr>
        <p:txBody>
          <a:bodyPr/>
          <a:lstStyle/>
          <a:p>
            <a:endParaRPr lang="en-US"/>
          </a:p>
        </p:txBody>
      </p:sp>
      <p:sp>
        <p:nvSpPr>
          <p:cNvPr id="16" name="Text 14"/>
          <p:cNvSpPr/>
          <p:nvPr/>
        </p:nvSpPr>
        <p:spPr>
          <a:xfrm>
            <a:off x="5943600" y="3118104"/>
            <a:ext cx="3108960" cy="548640"/>
          </a:xfrm>
          <a:prstGeom prst="rect">
            <a:avLst/>
          </a:prstGeom>
          <a:noFill/>
          <a:ln/>
        </p:spPr>
        <p:txBody>
          <a:bodyPr wrap="square" lIns="0" tIns="0" rIns="0" bIns="0" rtlCol="0" anchor="ctr"/>
          <a:lstStyle/>
          <a:p>
            <a:pPr marL="0" indent="0" algn="ctr">
              <a:buNone/>
            </a:pPr>
            <a:r>
              <a:rPr lang="en-US" sz="3400" b="1" dirty="0">
                <a:solidFill>
                  <a:srgbClr val="FFFFFF"/>
                </a:solidFill>
                <a:latin typeface="Space Grotesk" pitchFamily="34" charset="0"/>
                <a:ea typeface="Space Grotesk" pitchFamily="34" charset="-122"/>
                <a:cs typeface="Space Grotesk" pitchFamily="34" charset="-120"/>
              </a:rPr>
              <a:t>241</a:t>
            </a:r>
            <a:endParaRPr lang="en-US" sz="3400" dirty="0"/>
          </a:p>
        </p:txBody>
      </p:sp>
      <p:sp>
        <p:nvSpPr>
          <p:cNvPr id="17" name="Text 15"/>
          <p:cNvSpPr/>
          <p:nvPr/>
        </p:nvSpPr>
        <p:spPr>
          <a:xfrm>
            <a:off x="5989320" y="3630168"/>
            <a:ext cx="3017520" cy="292608"/>
          </a:xfrm>
          <a:prstGeom prst="rect">
            <a:avLst/>
          </a:prstGeom>
          <a:noFill/>
          <a:ln/>
        </p:spPr>
        <p:txBody>
          <a:bodyPr wrap="square" lIns="0" tIns="0" rIns="0" bIns="0" rtlCol="0" anchor="ctr"/>
          <a:lstStyle/>
          <a:p>
            <a:pPr marL="0" indent="0" algn="ctr">
              <a:buNone/>
            </a:pPr>
            <a:r>
              <a:rPr lang="en-US" sz="1050" dirty="0">
                <a:solidFill>
                  <a:srgbClr val="6464FF"/>
                </a:solidFill>
                <a:latin typeface="Inter" pitchFamily="34" charset="0"/>
                <a:ea typeface="Inter" pitchFamily="34" charset="-122"/>
                <a:cs typeface="Inter" pitchFamily="34" charset="-120"/>
              </a:rPr>
              <a:t>day breach dwell, the status quo</a:t>
            </a:r>
            <a:endParaRPr lang="en-US" sz="1050" dirty="0"/>
          </a:p>
        </p:txBody>
      </p:sp>
      <p:sp>
        <p:nvSpPr>
          <p:cNvPr id="18" name="Shape 16"/>
          <p:cNvSpPr/>
          <p:nvPr/>
        </p:nvSpPr>
        <p:spPr>
          <a:xfrm>
            <a:off x="6309360" y="3977640"/>
            <a:ext cx="2377440" cy="0"/>
          </a:xfrm>
          <a:prstGeom prst="line">
            <a:avLst/>
          </a:prstGeom>
          <a:noFill/>
          <a:ln w="6350">
            <a:solidFill>
              <a:srgbClr val="6464FF"/>
            </a:solidFill>
            <a:prstDash val="solid"/>
          </a:ln>
        </p:spPr>
        <p:txBody>
          <a:bodyPr/>
          <a:lstStyle/>
          <a:p>
            <a:endParaRPr lang="en-US"/>
          </a:p>
        </p:txBody>
      </p:sp>
      <p:sp>
        <p:nvSpPr>
          <p:cNvPr id="19" name="Text 17"/>
          <p:cNvSpPr/>
          <p:nvPr/>
        </p:nvSpPr>
        <p:spPr>
          <a:xfrm>
            <a:off x="5943600" y="4050792"/>
            <a:ext cx="3108960" cy="548640"/>
          </a:xfrm>
          <a:prstGeom prst="rect">
            <a:avLst/>
          </a:prstGeom>
          <a:noFill/>
          <a:ln/>
        </p:spPr>
        <p:txBody>
          <a:bodyPr wrap="square" lIns="0" tIns="0" rIns="0" bIns="0" rtlCol="0" anchor="ctr"/>
          <a:lstStyle/>
          <a:p>
            <a:pPr marL="0" indent="0" algn="ctr">
              <a:buNone/>
            </a:pPr>
            <a:r>
              <a:rPr lang="en-US" sz="3400" b="1" dirty="0">
                <a:solidFill>
                  <a:srgbClr val="FFFFFF"/>
                </a:solidFill>
                <a:latin typeface="Space Grotesk" pitchFamily="34" charset="0"/>
                <a:ea typeface="Space Grotesk" pitchFamily="34" charset="-122"/>
                <a:cs typeface="Space Grotesk" pitchFamily="34" charset="-120"/>
              </a:rPr>
              <a:t>1</a:t>
            </a:r>
            <a:endParaRPr lang="en-US" sz="3400" dirty="0"/>
          </a:p>
        </p:txBody>
      </p:sp>
      <p:sp>
        <p:nvSpPr>
          <p:cNvPr id="20" name="Text 18"/>
          <p:cNvSpPr/>
          <p:nvPr/>
        </p:nvSpPr>
        <p:spPr>
          <a:xfrm>
            <a:off x="5989320" y="4562856"/>
            <a:ext cx="3017520" cy="292608"/>
          </a:xfrm>
          <a:prstGeom prst="rect">
            <a:avLst/>
          </a:prstGeom>
          <a:noFill/>
          <a:ln/>
        </p:spPr>
        <p:txBody>
          <a:bodyPr wrap="square" lIns="0" tIns="0" rIns="0" bIns="0" rtlCol="0" anchor="ctr"/>
          <a:lstStyle/>
          <a:p>
            <a:pPr marL="0" indent="0" algn="ctr">
              <a:buNone/>
            </a:pPr>
            <a:r>
              <a:rPr lang="en-US" sz="1050" dirty="0">
                <a:solidFill>
                  <a:srgbClr val="6464FF"/>
                </a:solidFill>
                <a:latin typeface="Inter" pitchFamily="34" charset="0"/>
                <a:ea typeface="Inter" pitchFamily="34" charset="-122"/>
                <a:cs typeface="Inter" pitchFamily="34" charset="-120"/>
              </a:rPr>
              <a:t>platform, code to kernel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01</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The Threat Landscape, 2026</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AI gave the attacker machine scale. The defender's architecture did not keep up.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Recent attack patterns reshaping the SOC</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a:t>
            </a:r>
            <a:endParaRPr lang="en-US" sz="750" dirty="0"/>
          </a:p>
        </p:txBody>
      </p:sp>
      <p:sp>
        <p:nvSpPr>
          <p:cNvPr id="8" name="Shape 6"/>
          <p:cNvSpPr/>
          <p:nvPr/>
        </p:nvSpPr>
        <p:spPr>
          <a:xfrm>
            <a:off x="365760" y="86868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9" name="Shape 7"/>
          <p:cNvSpPr/>
          <p:nvPr/>
        </p:nvSpPr>
        <p:spPr>
          <a:xfrm>
            <a:off x="365760" y="868680"/>
            <a:ext cx="2761488" cy="54864"/>
          </a:xfrm>
          <a:prstGeom prst="rect">
            <a:avLst/>
          </a:prstGeom>
          <a:solidFill>
            <a:srgbClr val="C80019"/>
          </a:solidFill>
          <a:ln w="12700">
            <a:solidFill>
              <a:srgbClr val="333333"/>
            </a:solidFill>
            <a:prstDash val="solid"/>
          </a:ln>
        </p:spPr>
        <p:txBody>
          <a:bodyPr/>
          <a:lstStyle/>
          <a:p>
            <a:endParaRPr lang="en-US"/>
          </a:p>
        </p:txBody>
      </p:sp>
      <p:sp>
        <p:nvSpPr>
          <p:cNvPr id="10" name="Text 8"/>
          <p:cNvSpPr/>
          <p:nvPr/>
        </p:nvSpPr>
        <p:spPr>
          <a:xfrm>
            <a:off x="502920" y="101498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AI-driven supply chain</a:t>
            </a:r>
            <a:endParaRPr lang="en-US" sz="1300" dirty="0"/>
          </a:p>
        </p:txBody>
      </p:sp>
      <p:sp>
        <p:nvSpPr>
          <p:cNvPr id="11" name="Text 9"/>
          <p:cNvSpPr/>
          <p:nvPr/>
        </p:nvSpPr>
        <p:spPr>
          <a:xfrm>
            <a:off x="502920" y="152704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Poisoned packages and models. Nx and LiteLLM style compromises ship malicious code straight into the build.</a:t>
            </a:r>
            <a:endParaRPr lang="en-US" sz="950" dirty="0"/>
          </a:p>
        </p:txBody>
      </p:sp>
      <p:sp>
        <p:nvSpPr>
          <p:cNvPr id="12" name="Shape 10"/>
          <p:cNvSpPr/>
          <p:nvPr/>
        </p:nvSpPr>
        <p:spPr>
          <a:xfrm>
            <a:off x="3273552" y="86868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13" name="Shape 11"/>
          <p:cNvSpPr/>
          <p:nvPr/>
        </p:nvSpPr>
        <p:spPr>
          <a:xfrm>
            <a:off x="3273552" y="868680"/>
            <a:ext cx="2761488" cy="54864"/>
          </a:xfrm>
          <a:prstGeom prst="rect">
            <a:avLst/>
          </a:prstGeom>
          <a:solidFill>
            <a:srgbClr val="C80019"/>
          </a:solidFill>
          <a:ln w="12700">
            <a:solidFill>
              <a:srgbClr val="333333"/>
            </a:solidFill>
            <a:prstDash val="solid"/>
          </a:ln>
        </p:spPr>
        <p:txBody>
          <a:bodyPr/>
          <a:lstStyle/>
          <a:p>
            <a:endParaRPr lang="en-US"/>
          </a:p>
        </p:txBody>
      </p:sp>
      <p:sp>
        <p:nvSpPr>
          <p:cNvPr id="14" name="Text 12"/>
          <p:cNvSpPr/>
          <p:nvPr/>
        </p:nvSpPr>
        <p:spPr>
          <a:xfrm>
            <a:off x="3410712" y="101498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Agentic malware</a:t>
            </a:r>
            <a:endParaRPr lang="en-US" sz="1300" dirty="0"/>
          </a:p>
        </p:txBody>
      </p:sp>
      <p:sp>
        <p:nvSpPr>
          <p:cNvPr id="15" name="Text 13"/>
          <p:cNvSpPr/>
          <p:nvPr/>
        </p:nvSpPr>
        <p:spPr>
          <a:xfrm>
            <a:off x="3410712" y="152704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LLMs run the operator loop, turning one commodity compromise into mass exploitation beyond human pace.</a:t>
            </a:r>
            <a:endParaRPr lang="en-US" sz="950" dirty="0"/>
          </a:p>
        </p:txBody>
      </p:sp>
      <p:sp>
        <p:nvSpPr>
          <p:cNvPr id="16" name="Shape 14"/>
          <p:cNvSpPr/>
          <p:nvPr/>
        </p:nvSpPr>
        <p:spPr>
          <a:xfrm>
            <a:off x="6181344" y="86868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17" name="Shape 15"/>
          <p:cNvSpPr/>
          <p:nvPr/>
        </p:nvSpPr>
        <p:spPr>
          <a:xfrm>
            <a:off x="6181344" y="868680"/>
            <a:ext cx="2761488" cy="54864"/>
          </a:xfrm>
          <a:prstGeom prst="rect">
            <a:avLst/>
          </a:prstGeom>
          <a:solidFill>
            <a:srgbClr val="C80019"/>
          </a:solidFill>
          <a:ln w="12700">
            <a:solidFill>
              <a:srgbClr val="333333"/>
            </a:solidFill>
            <a:prstDash val="solid"/>
          </a:ln>
        </p:spPr>
        <p:txBody>
          <a:bodyPr/>
          <a:lstStyle/>
          <a:p>
            <a:endParaRPr lang="en-US"/>
          </a:p>
        </p:txBody>
      </p:sp>
      <p:sp>
        <p:nvSpPr>
          <p:cNvPr id="18" name="Text 16"/>
          <p:cNvSpPr/>
          <p:nvPr/>
        </p:nvSpPr>
        <p:spPr>
          <a:xfrm>
            <a:off x="6318504" y="101498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Prompt injection &amp; jailbreaks</a:t>
            </a:r>
            <a:endParaRPr lang="en-US" sz="1300" dirty="0"/>
          </a:p>
        </p:txBody>
      </p:sp>
      <p:sp>
        <p:nvSpPr>
          <p:cNvPr id="19" name="Text 17"/>
          <p:cNvSpPr/>
          <p:nvPr/>
        </p:nvSpPr>
        <p:spPr>
          <a:xfrm>
            <a:off x="6318504" y="152704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First-party LLM apps manipulated to leak data, run unsafe code, or bypass guardrails at inference.</a:t>
            </a:r>
            <a:endParaRPr lang="en-US" sz="950" dirty="0"/>
          </a:p>
        </p:txBody>
      </p:sp>
      <p:sp>
        <p:nvSpPr>
          <p:cNvPr id="20" name="Shape 18"/>
          <p:cNvSpPr/>
          <p:nvPr/>
        </p:nvSpPr>
        <p:spPr>
          <a:xfrm>
            <a:off x="365760" y="274320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21" name="Shape 19"/>
          <p:cNvSpPr/>
          <p:nvPr/>
        </p:nvSpPr>
        <p:spPr>
          <a:xfrm>
            <a:off x="365760" y="2743200"/>
            <a:ext cx="2761488" cy="54864"/>
          </a:xfrm>
          <a:prstGeom prst="rect">
            <a:avLst/>
          </a:prstGeom>
          <a:solidFill>
            <a:srgbClr val="C80019"/>
          </a:solidFill>
          <a:ln w="12700">
            <a:solidFill>
              <a:srgbClr val="333333"/>
            </a:solidFill>
            <a:prstDash val="solid"/>
          </a:ln>
        </p:spPr>
        <p:txBody>
          <a:bodyPr/>
          <a:lstStyle/>
          <a:p>
            <a:endParaRPr lang="en-US"/>
          </a:p>
        </p:txBody>
      </p:sp>
      <p:sp>
        <p:nvSpPr>
          <p:cNvPr id="22" name="Text 20"/>
          <p:cNvSpPr/>
          <p:nvPr/>
        </p:nvSpPr>
        <p:spPr>
          <a:xfrm>
            <a:off x="502920" y="288950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Malicious MCP servers &amp; tools</a:t>
            </a:r>
            <a:endParaRPr lang="en-US" sz="1300" dirty="0"/>
          </a:p>
        </p:txBody>
      </p:sp>
      <p:sp>
        <p:nvSpPr>
          <p:cNvPr id="23" name="Text 21"/>
          <p:cNvSpPr/>
          <p:nvPr/>
        </p:nvSpPr>
        <p:spPr>
          <a:xfrm>
            <a:off x="502920" y="340156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Agent tool-calling abused. A rogue MCP server becomes remote code execution inside the agent.</a:t>
            </a:r>
            <a:endParaRPr lang="en-US" sz="950" dirty="0"/>
          </a:p>
        </p:txBody>
      </p:sp>
      <p:sp>
        <p:nvSpPr>
          <p:cNvPr id="24" name="Shape 22"/>
          <p:cNvSpPr/>
          <p:nvPr/>
        </p:nvSpPr>
        <p:spPr>
          <a:xfrm>
            <a:off x="3273552" y="274320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25" name="Shape 23"/>
          <p:cNvSpPr/>
          <p:nvPr/>
        </p:nvSpPr>
        <p:spPr>
          <a:xfrm>
            <a:off x="3273552" y="2743200"/>
            <a:ext cx="2761488" cy="54864"/>
          </a:xfrm>
          <a:prstGeom prst="rect">
            <a:avLst/>
          </a:prstGeom>
          <a:solidFill>
            <a:srgbClr val="C80019"/>
          </a:solidFill>
          <a:ln w="12700">
            <a:solidFill>
              <a:srgbClr val="333333"/>
            </a:solidFill>
            <a:prstDash val="solid"/>
          </a:ln>
        </p:spPr>
        <p:txBody>
          <a:bodyPr/>
          <a:lstStyle/>
          <a:p>
            <a:endParaRPr lang="en-US"/>
          </a:p>
        </p:txBody>
      </p:sp>
      <p:sp>
        <p:nvSpPr>
          <p:cNvPr id="26" name="Text 24"/>
          <p:cNvSpPr/>
          <p:nvPr/>
        </p:nvSpPr>
        <p:spPr>
          <a:xfrm>
            <a:off x="3410712" y="288950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Shadow AI data leakage</a:t>
            </a:r>
            <a:endParaRPr lang="en-US" sz="1300" dirty="0"/>
          </a:p>
        </p:txBody>
      </p:sp>
      <p:sp>
        <p:nvSpPr>
          <p:cNvPr id="27" name="Text 25"/>
          <p:cNvSpPr/>
          <p:nvPr/>
        </p:nvSpPr>
        <p:spPr>
          <a:xfrm>
            <a:off x="3410712" y="340156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Unsanctioned model use exfiltrates PII and secrets. 97% of breached AI lacked access controls.</a:t>
            </a:r>
            <a:endParaRPr lang="en-US" sz="950" dirty="0"/>
          </a:p>
        </p:txBody>
      </p:sp>
      <p:sp>
        <p:nvSpPr>
          <p:cNvPr id="28" name="Shape 26"/>
          <p:cNvSpPr/>
          <p:nvPr/>
        </p:nvSpPr>
        <p:spPr>
          <a:xfrm>
            <a:off x="6181344" y="2743200"/>
            <a:ext cx="2761488" cy="1737360"/>
          </a:xfrm>
          <a:prstGeom prst="roundRect">
            <a:avLst>
              <a:gd name="adj" fmla="val 2632"/>
            </a:avLst>
          </a:prstGeom>
          <a:solidFill>
            <a:srgbClr val="FFF0F2"/>
          </a:solidFill>
          <a:ln w="9525">
            <a:solidFill>
              <a:srgbClr val="C80019"/>
            </a:solidFill>
            <a:prstDash val="solid"/>
          </a:ln>
        </p:spPr>
        <p:txBody>
          <a:bodyPr/>
          <a:lstStyle/>
          <a:p>
            <a:endParaRPr lang="en-US"/>
          </a:p>
        </p:txBody>
      </p:sp>
      <p:sp>
        <p:nvSpPr>
          <p:cNvPr id="29" name="Shape 27"/>
          <p:cNvSpPr/>
          <p:nvPr/>
        </p:nvSpPr>
        <p:spPr>
          <a:xfrm>
            <a:off x="6181344" y="2743200"/>
            <a:ext cx="2761488" cy="54864"/>
          </a:xfrm>
          <a:prstGeom prst="rect">
            <a:avLst/>
          </a:prstGeom>
          <a:solidFill>
            <a:srgbClr val="C80019"/>
          </a:solidFill>
          <a:ln w="12700">
            <a:solidFill>
              <a:srgbClr val="333333"/>
            </a:solidFill>
            <a:prstDash val="solid"/>
          </a:ln>
        </p:spPr>
        <p:txBody>
          <a:bodyPr/>
          <a:lstStyle/>
          <a:p>
            <a:endParaRPr lang="en-US"/>
          </a:p>
        </p:txBody>
      </p:sp>
      <p:sp>
        <p:nvSpPr>
          <p:cNvPr id="30" name="Text 28"/>
          <p:cNvSpPr/>
          <p:nvPr/>
        </p:nvSpPr>
        <p:spPr>
          <a:xfrm>
            <a:off x="6318504" y="2889504"/>
            <a:ext cx="2487168" cy="502920"/>
          </a:xfrm>
          <a:prstGeom prst="rect">
            <a:avLst/>
          </a:prstGeom>
          <a:noFill/>
          <a:ln/>
        </p:spPr>
        <p:txBody>
          <a:bodyPr wrap="square" lIns="0" tIns="0" rIns="0" bIns="0" rtlCol="0" anchor="t"/>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Cloud identity attacks</a:t>
            </a:r>
            <a:endParaRPr lang="en-US" sz="1300" dirty="0"/>
          </a:p>
        </p:txBody>
      </p:sp>
      <p:sp>
        <p:nvSpPr>
          <p:cNvPr id="31" name="Text 29"/>
          <p:cNvSpPr/>
          <p:nvPr/>
        </p:nvSpPr>
        <p:spPr>
          <a:xfrm>
            <a:off x="6318504" y="3401568"/>
            <a:ext cx="2487168" cy="100584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Token theft, OAuth abuse, MFA fatigue. Identity is the new perimeter and it is under siege.</a:t>
            </a:r>
            <a:endParaRPr lang="en-US" sz="950" dirty="0"/>
          </a:p>
        </p:txBody>
      </p:sp>
      <p:sp>
        <p:nvSpPr>
          <p:cNvPr id="32" name="Text 30"/>
          <p:cNvSpPr/>
          <p:nvPr/>
        </p:nvSpPr>
        <p:spPr>
          <a:xfrm>
            <a:off x="365760" y="4590288"/>
            <a:ext cx="8412480" cy="320040"/>
          </a:xfrm>
          <a:prstGeom prst="rect">
            <a:avLst/>
          </a:prstGeom>
          <a:noFill/>
          <a:ln/>
        </p:spPr>
        <p:txBody>
          <a:bodyPr wrap="square" lIns="0" tIns="0" rIns="0" bIns="0" rtlCol="0" anchor="ctr"/>
          <a:lstStyle/>
          <a:p>
            <a:pPr marL="0" indent="0" algn="ctr">
              <a:buNone/>
            </a:pPr>
            <a:r>
              <a:rPr lang="en-US" sz="950" i="1" dirty="0">
                <a:solidFill>
                  <a:srgbClr val="0000C8"/>
                </a:solidFill>
                <a:latin typeface="Inter" pitchFamily="34" charset="0"/>
                <a:ea typeface="Inter" pitchFamily="34" charset="-122"/>
                <a:cs typeface="Inter" pitchFamily="34" charset="-120"/>
              </a:rPr>
              <a:t>Time to exploit is collapsing. Gartner: by 2028, 50% of cybersecurity incident response effort will focus on incidents involving custom-built AI applications.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numbers behind the crisis</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a:t>
            </a:r>
            <a:endParaRPr lang="en-US" sz="750" dirty="0"/>
          </a:p>
        </p:txBody>
      </p:sp>
      <p:sp>
        <p:nvSpPr>
          <p:cNvPr id="8" name="Shape 6"/>
          <p:cNvSpPr/>
          <p:nvPr/>
        </p:nvSpPr>
        <p:spPr>
          <a:xfrm>
            <a:off x="365760" y="77724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777240"/>
            <a:ext cx="64008" cy="1207008"/>
          </a:xfrm>
          <a:prstGeom prst="rect">
            <a:avLst/>
          </a:prstGeom>
          <a:solidFill>
            <a:srgbClr val="0000C8"/>
          </a:solidFill>
          <a:ln w="12700">
            <a:solidFill>
              <a:srgbClr val="333333"/>
            </a:solidFill>
            <a:prstDash val="solid"/>
          </a:ln>
        </p:spPr>
        <p:txBody>
          <a:bodyPr/>
          <a:lstStyle/>
          <a:p>
            <a:endParaRPr lang="en-US"/>
          </a:p>
        </p:txBody>
      </p:sp>
      <p:sp>
        <p:nvSpPr>
          <p:cNvPr id="10" name="Text 8"/>
          <p:cNvSpPr/>
          <p:nvPr/>
        </p:nvSpPr>
        <p:spPr>
          <a:xfrm>
            <a:off x="530352" y="886968"/>
            <a:ext cx="1828800" cy="457200"/>
          </a:xfrm>
          <a:prstGeom prst="rect">
            <a:avLst/>
          </a:prstGeom>
          <a:noFill/>
          <a:ln/>
        </p:spPr>
        <p:txBody>
          <a:bodyPr wrap="square" lIns="0" tIns="0" rIns="0" bIns="0" rtlCol="0" anchor="t"/>
          <a:lstStyle/>
          <a:p>
            <a:pPr marL="0" indent="0">
              <a:buNone/>
            </a:pPr>
            <a:r>
              <a:rPr lang="en-US" sz="2100" b="1" dirty="0">
                <a:solidFill>
                  <a:srgbClr val="0000C8"/>
                </a:solidFill>
                <a:latin typeface="Space Grotesk" pitchFamily="34" charset="0"/>
                <a:ea typeface="Space Grotesk" pitchFamily="34" charset="-122"/>
                <a:cs typeface="Space Grotesk" pitchFamily="34" charset="-120"/>
              </a:rPr>
              <a:t>960</a:t>
            </a:r>
            <a:endParaRPr lang="en-US" sz="2100" dirty="0"/>
          </a:p>
        </p:txBody>
      </p:sp>
      <p:sp>
        <p:nvSpPr>
          <p:cNvPr id="11" name="Text 9"/>
          <p:cNvSpPr/>
          <p:nvPr/>
        </p:nvSpPr>
        <p:spPr>
          <a:xfrm>
            <a:off x="530352" y="134416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alerts / day</a:t>
            </a:r>
            <a:endParaRPr lang="en-US" sz="1000" dirty="0"/>
          </a:p>
        </p:txBody>
      </p:sp>
      <p:sp>
        <p:nvSpPr>
          <p:cNvPr id="12" name="Text 10"/>
          <p:cNvSpPr/>
          <p:nvPr/>
        </p:nvSpPr>
        <p:spPr>
          <a:xfrm>
            <a:off x="530352" y="161848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3,000+ at enterprise scale</a:t>
            </a:r>
            <a:endParaRPr lang="en-US" sz="850" dirty="0"/>
          </a:p>
        </p:txBody>
      </p:sp>
      <p:sp>
        <p:nvSpPr>
          <p:cNvPr id="13" name="Shape 11"/>
          <p:cNvSpPr/>
          <p:nvPr/>
        </p:nvSpPr>
        <p:spPr>
          <a:xfrm>
            <a:off x="2560320" y="77724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14" name="Shape 12"/>
          <p:cNvSpPr/>
          <p:nvPr/>
        </p:nvSpPr>
        <p:spPr>
          <a:xfrm>
            <a:off x="2560320" y="777240"/>
            <a:ext cx="64008" cy="1207008"/>
          </a:xfrm>
          <a:prstGeom prst="rect">
            <a:avLst/>
          </a:prstGeom>
          <a:solidFill>
            <a:srgbClr val="C80019"/>
          </a:solidFill>
          <a:ln w="12700">
            <a:solidFill>
              <a:srgbClr val="333333"/>
            </a:solidFill>
            <a:prstDash val="solid"/>
          </a:ln>
        </p:spPr>
        <p:txBody>
          <a:bodyPr/>
          <a:lstStyle/>
          <a:p>
            <a:endParaRPr lang="en-US"/>
          </a:p>
        </p:txBody>
      </p:sp>
      <p:sp>
        <p:nvSpPr>
          <p:cNvPr id="15" name="Text 13"/>
          <p:cNvSpPr/>
          <p:nvPr/>
        </p:nvSpPr>
        <p:spPr>
          <a:xfrm>
            <a:off x="2724912" y="88696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40%</a:t>
            </a:r>
            <a:endParaRPr lang="en-US" sz="2100" dirty="0"/>
          </a:p>
        </p:txBody>
      </p:sp>
      <p:sp>
        <p:nvSpPr>
          <p:cNvPr id="16" name="Text 14"/>
          <p:cNvSpPr/>
          <p:nvPr/>
        </p:nvSpPr>
        <p:spPr>
          <a:xfrm>
            <a:off x="2724912" y="134416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never investigated</a:t>
            </a:r>
            <a:endParaRPr lang="en-US" sz="1000" dirty="0"/>
          </a:p>
        </p:txBody>
      </p:sp>
      <p:sp>
        <p:nvSpPr>
          <p:cNvPr id="17" name="Text 15"/>
          <p:cNvSpPr/>
          <p:nvPr/>
        </p:nvSpPr>
        <p:spPr>
          <a:xfrm>
            <a:off x="2724912" y="161848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alerts that go untouched</a:t>
            </a:r>
            <a:endParaRPr lang="en-US" sz="850" dirty="0"/>
          </a:p>
        </p:txBody>
      </p:sp>
      <p:sp>
        <p:nvSpPr>
          <p:cNvPr id="18" name="Shape 16"/>
          <p:cNvSpPr/>
          <p:nvPr/>
        </p:nvSpPr>
        <p:spPr>
          <a:xfrm>
            <a:off x="4754880" y="77724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19" name="Shape 17"/>
          <p:cNvSpPr/>
          <p:nvPr/>
        </p:nvSpPr>
        <p:spPr>
          <a:xfrm>
            <a:off x="4754880" y="777240"/>
            <a:ext cx="64008" cy="1207008"/>
          </a:xfrm>
          <a:prstGeom prst="rect">
            <a:avLst/>
          </a:prstGeom>
          <a:solidFill>
            <a:srgbClr val="C80019"/>
          </a:solidFill>
          <a:ln w="12700">
            <a:solidFill>
              <a:srgbClr val="333333"/>
            </a:solidFill>
            <a:prstDash val="solid"/>
          </a:ln>
        </p:spPr>
        <p:txBody>
          <a:bodyPr/>
          <a:lstStyle/>
          <a:p>
            <a:endParaRPr lang="en-US"/>
          </a:p>
        </p:txBody>
      </p:sp>
      <p:sp>
        <p:nvSpPr>
          <p:cNvPr id="20" name="Text 18"/>
          <p:cNvSpPr/>
          <p:nvPr/>
        </p:nvSpPr>
        <p:spPr>
          <a:xfrm>
            <a:off x="4919472" y="88696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50-80%</a:t>
            </a:r>
            <a:endParaRPr lang="en-US" sz="2100" dirty="0"/>
          </a:p>
        </p:txBody>
      </p:sp>
      <p:sp>
        <p:nvSpPr>
          <p:cNvPr id="21" name="Text 19"/>
          <p:cNvSpPr/>
          <p:nvPr/>
        </p:nvSpPr>
        <p:spPr>
          <a:xfrm>
            <a:off x="4919472" y="134416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false positives</a:t>
            </a:r>
            <a:endParaRPr lang="en-US" sz="1000" dirty="0"/>
          </a:p>
        </p:txBody>
      </p:sp>
      <p:sp>
        <p:nvSpPr>
          <p:cNvPr id="22" name="Text 20"/>
          <p:cNvSpPr/>
          <p:nvPr/>
        </p:nvSpPr>
        <p:spPr>
          <a:xfrm>
            <a:off x="4919472" y="161848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of everything that fires</a:t>
            </a:r>
            <a:endParaRPr lang="en-US" sz="850" dirty="0"/>
          </a:p>
        </p:txBody>
      </p:sp>
      <p:sp>
        <p:nvSpPr>
          <p:cNvPr id="23" name="Shape 21"/>
          <p:cNvSpPr/>
          <p:nvPr/>
        </p:nvSpPr>
        <p:spPr>
          <a:xfrm>
            <a:off x="6949440" y="77724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24" name="Shape 22"/>
          <p:cNvSpPr/>
          <p:nvPr/>
        </p:nvSpPr>
        <p:spPr>
          <a:xfrm>
            <a:off x="6949440" y="777240"/>
            <a:ext cx="64008" cy="1207008"/>
          </a:xfrm>
          <a:prstGeom prst="rect">
            <a:avLst/>
          </a:prstGeom>
          <a:solidFill>
            <a:srgbClr val="0000C8"/>
          </a:solidFill>
          <a:ln w="12700">
            <a:solidFill>
              <a:srgbClr val="333333"/>
            </a:solidFill>
            <a:prstDash val="solid"/>
          </a:ln>
        </p:spPr>
        <p:txBody>
          <a:bodyPr/>
          <a:lstStyle/>
          <a:p>
            <a:endParaRPr lang="en-US"/>
          </a:p>
        </p:txBody>
      </p:sp>
      <p:sp>
        <p:nvSpPr>
          <p:cNvPr id="25" name="Text 23"/>
          <p:cNvSpPr/>
          <p:nvPr/>
        </p:nvSpPr>
        <p:spPr>
          <a:xfrm>
            <a:off x="7114032" y="886968"/>
            <a:ext cx="1828800" cy="457200"/>
          </a:xfrm>
          <a:prstGeom prst="rect">
            <a:avLst/>
          </a:prstGeom>
          <a:noFill/>
          <a:ln/>
        </p:spPr>
        <p:txBody>
          <a:bodyPr wrap="square" lIns="0" tIns="0" rIns="0" bIns="0" rtlCol="0" anchor="t"/>
          <a:lstStyle/>
          <a:p>
            <a:pPr marL="0" indent="0">
              <a:buNone/>
            </a:pPr>
            <a:r>
              <a:rPr lang="en-US" sz="2100" b="1" dirty="0">
                <a:solidFill>
                  <a:srgbClr val="0000C8"/>
                </a:solidFill>
                <a:latin typeface="Space Grotesk" pitchFamily="34" charset="0"/>
                <a:ea typeface="Space Grotesk" pitchFamily="34" charset="-122"/>
                <a:cs typeface="Space Grotesk" pitchFamily="34" charset="-120"/>
              </a:rPr>
              <a:t>~70 min</a:t>
            </a:r>
            <a:endParaRPr lang="en-US" sz="2100" dirty="0"/>
          </a:p>
        </p:txBody>
      </p:sp>
      <p:sp>
        <p:nvSpPr>
          <p:cNvPr id="26" name="Text 24"/>
          <p:cNvSpPr/>
          <p:nvPr/>
        </p:nvSpPr>
        <p:spPr>
          <a:xfrm>
            <a:off x="7114032" y="134416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to work one alert</a:t>
            </a:r>
            <a:endParaRPr lang="en-US" sz="1000" dirty="0"/>
          </a:p>
        </p:txBody>
      </p:sp>
      <p:sp>
        <p:nvSpPr>
          <p:cNvPr id="27" name="Text 25"/>
          <p:cNvSpPr/>
          <p:nvPr/>
        </p:nvSpPr>
        <p:spPr>
          <a:xfrm>
            <a:off x="7114032" y="161848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fully, by hand</a:t>
            </a:r>
            <a:endParaRPr lang="en-US" sz="850" dirty="0"/>
          </a:p>
        </p:txBody>
      </p:sp>
      <p:sp>
        <p:nvSpPr>
          <p:cNvPr id="28" name="Shape 26"/>
          <p:cNvSpPr/>
          <p:nvPr/>
        </p:nvSpPr>
        <p:spPr>
          <a:xfrm>
            <a:off x="365760" y="210312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29" name="Shape 27"/>
          <p:cNvSpPr/>
          <p:nvPr/>
        </p:nvSpPr>
        <p:spPr>
          <a:xfrm>
            <a:off x="365760" y="2103120"/>
            <a:ext cx="64008" cy="1207008"/>
          </a:xfrm>
          <a:prstGeom prst="rect">
            <a:avLst/>
          </a:prstGeom>
          <a:solidFill>
            <a:srgbClr val="C80019"/>
          </a:solidFill>
          <a:ln w="12700">
            <a:solidFill>
              <a:srgbClr val="333333"/>
            </a:solidFill>
            <a:prstDash val="solid"/>
          </a:ln>
        </p:spPr>
        <p:txBody>
          <a:bodyPr/>
          <a:lstStyle/>
          <a:p>
            <a:endParaRPr lang="en-US"/>
          </a:p>
        </p:txBody>
      </p:sp>
      <p:sp>
        <p:nvSpPr>
          <p:cNvPr id="30" name="Text 28"/>
          <p:cNvSpPr/>
          <p:nvPr/>
        </p:nvSpPr>
        <p:spPr>
          <a:xfrm>
            <a:off x="530352" y="221284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71%</a:t>
            </a:r>
            <a:endParaRPr lang="en-US" sz="2100" dirty="0"/>
          </a:p>
        </p:txBody>
      </p:sp>
      <p:sp>
        <p:nvSpPr>
          <p:cNvPr id="31" name="Text 29"/>
          <p:cNvSpPr/>
          <p:nvPr/>
        </p:nvSpPr>
        <p:spPr>
          <a:xfrm>
            <a:off x="530352" y="267004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analyst burnout</a:t>
            </a:r>
            <a:endParaRPr lang="en-US" sz="1000" dirty="0"/>
          </a:p>
        </p:txBody>
      </p:sp>
      <p:sp>
        <p:nvSpPr>
          <p:cNvPr id="32" name="Text 30"/>
          <p:cNvSpPr/>
          <p:nvPr/>
        </p:nvSpPr>
        <p:spPr>
          <a:xfrm>
            <a:off x="530352" y="294436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64% plan to quit in a year</a:t>
            </a:r>
            <a:endParaRPr lang="en-US" sz="850" dirty="0"/>
          </a:p>
        </p:txBody>
      </p:sp>
      <p:sp>
        <p:nvSpPr>
          <p:cNvPr id="33" name="Shape 31"/>
          <p:cNvSpPr/>
          <p:nvPr/>
        </p:nvSpPr>
        <p:spPr>
          <a:xfrm>
            <a:off x="2560320" y="210312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34" name="Shape 32"/>
          <p:cNvSpPr/>
          <p:nvPr/>
        </p:nvSpPr>
        <p:spPr>
          <a:xfrm>
            <a:off x="2560320" y="2103120"/>
            <a:ext cx="64008" cy="1207008"/>
          </a:xfrm>
          <a:prstGeom prst="rect">
            <a:avLst/>
          </a:prstGeom>
          <a:solidFill>
            <a:srgbClr val="0000C8"/>
          </a:solidFill>
          <a:ln w="12700">
            <a:solidFill>
              <a:srgbClr val="333333"/>
            </a:solidFill>
            <a:prstDash val="solid"/>
          </a:ln>
        </p:spPr>
        <p:txBody>
          <a:bodyPr/>
          <a:lstStyle/>
          <a:p>
            <a:endParaRPr lang="en-US"/>
          </a:p>
        </p:txBody>
      </p:sp>
      <p:sp>
        <p:nvSpPr>
          <p:cNvPr id="35" name="Text 33"/>
          <p:cNvSpPr/>
          <p:nvPr/>
        </p:nvSpPr>
        <p:spPr>
          <a:xfrm>
            <a:off x="2724912" y="2212848"/>
            <a:ext cx="1828800" cy="457200"/>
          </a:xfrm>
          <a:prstGeom prst="rect">
            <a:avLst/>
          </a:prstGeom>
          <a:noFill/>
          <a:ln/>
        </p:spPr>
        <p:txBody>
          <a:bodyPr wrap="square" lIns="0" tIns="0" rIns="0" bIns="0" rtlCol="0" anchor="t"/>
          <a:lstStyle/>
          <a:p>
            <a:pPr marL="0" indent="0">
              <a:buNone/>
            </a:pPr>
            <a:r>
              <a:rPr lang="en-US" sz="2100" b="1" dirty="0">
                <a:solidFill>
                  <a:srgbClr val="0000C8"/>
                </a:solidFill>
                <a:latin typeface="Space Grotesk" pitchFamily="34" charset="0"/>
                <a:ea typeface="Space Grotesk" pitchFamily="34" charset="-122"/>
                <a:cs typeface="Space Grotesk" pitchFamily="34" charset="-120"/>
              </a:rPr>
              <a:t>18-24</a:t>
            </a:r>
            <a:endParaRPr lang="en-US" sz="2100" dirty="0"/>
          </a:p>
        </p:txBody>
      </p:sp>
      <p:sp>
        <p:nvSpPr>
          <p:cNvPr id="36" name="Text 34"/>
          <p:cNvSpPr/>
          <p:nvPr/>
        </p:nvSpPr>
        <p:spPr>
          <a:xfrm>
            <a:off x="2724912" y="267004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month tenure</a:t>
            </a:r>
            <a:endParaRPr lang="en-US" sz="1000" dirty="0"/>
          </a:p>
        </p:txBody>
      </p:sp>
      <p:sp>
        <p:nvSpPr>
          <p:cNvPr id="37" name="Text 35"/>
          <p:cNvSpPr/>
          <p:nvPr/>
        </p:nvSpPr>
        <p:spPr>
          <a:xfrm>
            <a:off x="2724912" y="294436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knowledge walks out</a:t>
            </a:r>
            <a:endParaRPr lang="en-US" sz="850" dirty="0"/>
          </a:p>
        </p:txBody>
      </p:sp>
      <p:sp>
        <p:nvSpPr>
          <p:cNvPr id="38" name="Shape 36"/>
          <p:cNvSpPr/>
          <p:nvPr/>
        </p:nvSpPr>
        <p:spPr>
          <a:xfrm>
            <a:off x="4754880" y="210312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39" name="Shape 37"/>
          <p:cNvSpPr/>
          <p:nvPr/>
        </p:nvSpPr>
        <p:spPr>
          <a:xfrm>
            <a:off x="4754880" y="2103120"/>
            <a:ext cx="64008" cy="1207008"/>
          </a:xfrm>
          <a:prstGeom prst="rect">
            <a:avLst/>
          </a:prstGeom>
          <a:solidFill>
            <a:srgbClr val="C80019"/>
          </a:solidFill>
          <a:ln w="12700">
            <a:solidFill>
              <a:srgbClr val="333333"/>
            </a:solidFill>
            <a:prstDash val="solid"/>
          </a:ln>
        </p:spPr>
        <p:txBody>
          <a:bodyPr/>
          <a:lstStyle/>
          <a:p>
            <a:endParaRPr lang="en-US"/>
          </a:p>
        </p:txBody>
      </p:sp>
      <p:sp>
        <p:nvSpPr>
          <p:cNvPr id="40" name="Text 38"/>
          <p:cNvSpPr/>
          <p:nvPr/>
        </p:nvSpPr>
        <p:spPr>
          <a:xfrm>
            <a:off x="4919472" y="221284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$10.22M</a:t>
            </a:r>
            <a:endParaRPr lang="en-US" sz="2100" dirty="0"/>
          </a:p>
        </p:txBody>
      </p:sp>
      <p:sp>
        <p:nvSpPr>
          <p:cNvPr id="41" name="Text 39"/>
          <p:cNvSpPr/>
          <p:nvPr/>
        </p:nvSpPr>
        <p:spPr>
          <a:xfrm>
            <a:off x="4919472" y="267004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US breach cost</a:t>
            </a:r>
            <a:endParaRPr lang="en-US" sz="1000" dirty="0"/>
          </a:p>
        </p:txBody>
      </p:sp>
      <p:sp>
        <p:nvSpPr>
          <p:cNvPr id="42" name="Text 40"/>
          <p:cNvSpPr/>
          <p:nvPr/>
        </p:nvSpPr>
        <p:spPr>
          <a:xfrm>
            <a:off x="4919472" y="294436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record high, 2025</a:t>
            </a:r>
            <a:endParaRPr lang="en-US" sz="850" dirty="0"/>
          </a:p>
        </p:txBody>
      </p:sp>
      <p:sp>
        <p:nvSpPr>
          <p:cNvPr id="43" name="Shape 41"/>
          <p:cNvSpPr/>
          <p:nvPr/>
        </p:nvSpPr>
        <p:spPr>
          <a:xfrm>
            <a:off x="6949440" y="210312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44" name="Shape 42"/>
          <p:cNvSpPr/>
          <p:nvPr/>
        </p:nvSpPr>
        <p:spPr>
          <a:xfrm>
            <a:off x="6949440" y="2103120"/>
            <a:ext cx="64008" cy="1207008"/>
          </a:xfrm>
          <a:prstGeom prst="rect">
            <a:avLst/>
          </a:prstGeom>
          <a:solidFill>
            <a:srgbClr val="C80019"/>
          </a:solidFill>
          <a:ln w="12700">
            <a:solidFill>
              <a:srgbClr val="333333"/>
            </a:solidFill>
            <a:prstDash val="solid"/>
          </a:ln>
        </p:spPr>
        <p:txBody>
          <a:bodyPr/>
          <a:lstStyle/>
          <a:p>
            <a:endParaRPr lang="en-US"/>
          </a:p>
        </p:txBody>
      </p:sp>
      <p:sp>
        <p:nvSpPr>
          <p:cNvPr id="45" name="Text 43"/>
          <p:cNvSpPr/>
          <p:nvPr/>
        </p:nvSpPr>
        <p:spPr>
          <a:xfrm>
            <a:off x="7114032" y="221284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241</a:t>
            </a:r>
            <a:endParaRPr lang="en-US" sz="2100" dirty="0"/>
          </a:p>
        </p:txBody>
      </p:sp>
      <p:sp>
        <p:nvSpPr>
          <p:cNvPr id="46" name="Text 44"/>
          <p:cNvSpPr/>
          <p:nvPr/>
        </p:nvSpPr>
        <p:spPr>
          <a:xfrm>
            <a:off x="7114032" y="267004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day dwell time</a:t>
            </a:r>
            <a:endParaRPr lang="en-US" sz="1000" dirty="0"/>
          </a:p>
        </p:txBody>
      </p:sp>
      <p:sp>
        <p:nvSpPr>
          <p:cNvPr id="47" name="Text 45"/>
          <p:cNvSpPr/>
          <p:nvPr/>
        </p:nvSpPr>
        <p:spPr>
          <a:xfrm>
            <a:off x="7114032" y="294436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to identify + contain</a:t>
            </a:r>
            <a:endParaRPr lang="en-US" sz="850" dirty="0"/>
          </a:p>
        </p:txBody>
      </p:sp>
      <p:sp>
        <p:nvSpPr>
          <p:cNvPr id="48" name="Shape 46"/>
          <p:cNvSpPr/>
          <p:nvPr/>
        </p:nvSpPr>
        <p:spPr>
          <a:xfrm>
            <a:off x="365760" y="342900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49" name="Shape 47"/>
          <p:cNvSpPr/>
          <p:nvPr/>
        </p:nvSpPr>
        <p:spPr>
          <a:xfrm>
            <a:off x="365760" y="3429000"/>
            <a:ext cx="64008" cy="1207008"/>
          </a:xfrm>
          <a:prstGeom prst="rect">
            <a:avLst/>
          </a:prstGeom>
          <a:solidFill>
            <a:srgbClr val="C80019"/>
          </a:solidFill>
          <a:ln w="12700">
            <a:solidFill>
              <a:srgbClr val="333333"/>
            </a:solidFill>
            <a:prstDash val="solid"/>
          </a:ln>
        </p:spPr>
        <p:txBody>
          <a:bodyPr/>
          <a:lstStyle/>
          <a:p>
            <a:endParaRPr lang="en-US"/>
          </a:p>
        </p:txBody>
      </p:sp>
      <p:sp>
        <p:nvSpPr>
          <p:cNvPr id="50" name="Text 48"/>
          <p:cNvSpPr/>
          <p:nvPr/>
        </p:nvSpPr>
        <p:spPr>
          <a:xfrm>
            <a:off x="530352" y="353872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$670K</a:t>
            </a:r>
            <a:endParaRPr lang="en-US" sz="2100" dirty="0"/>
          </a:p>
        </p:txBody>
      </p:sp>
      <p:sp>
        <p:nvSpPr>
          <p:cNvPr id="51" name="Text 49"/>
          <p:cNvSpPr/>
          <p:nvPr/>
        </p:nvSpPr>
        <p:spPr>
          <a:xfrm>
            <a:off x="530352" y="399592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shadow-AI premium</a:t>
            </a:r>
            <a:endParaRPr lang="en-US" sz="1000" dirty="0"/>
          </a:p>
        </p:txBody>
      </p:sp>
      <p:sp>
        <p:nvSpPr>
          <p:cNvPr id="52" name="Text 50"/>
          <p:cNvSpPr/>
          <p:nvPr/>
        </p:nvSpPr>
        <p:spPr>
          <a:xfrm>
            <a:off x="530352" y="427024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added per breach</a:t>
            </a:r>
            <a:endParaRPr lang="en-US" sz="850" dirty="0"/>
          </a:p>
        </p:txBody>
      </p:sp>
      <p:sp>
        <p:nvSpPr>
          <p:cNvPr id="53" name="Shape 51"/>
          <p:cNvSpPr/>
          <p:nvPr/>
        </p:nvSpPr>
        <p:spPr>
          <a:xfrm>
            <a:off x="2560320" y="342900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54" name="Shape 52"/>
          <p:cNvSpPr/>
          <p:nvPr/>
        </p:nvSpPr>
        <p:spPr>
          <a:xfrm>
            <a:off x="2560320" y="3429000"/>
            <a:ext cx="64008" cy="1207008"/>
          </a:xfrm>
          <a:prstGeom prst="rect">
            <a:avLst/>
          </a:prstGeom>
          <a:solidFill>
            <a:srgbClr val="C80019"/>
          </a:solidFill>
          <a:ln w="12700">
            <a:solidFill>
              <a:srgbClr val="333333"/>
            </a:solidFill>
            <a:prstDash val="solid"/>
          </a:ln>
        </p:spPr>
        <p:txBody>
          <a:bodyPr/>
          <a:lstStyle/>
          <a:p>
            <a:endParaRPr lang="en-US"/>
          </a:p>
        </p:txBody>
      </p:sp>
      <p:sp>
        <p:nvSpPr>
          <p:cNvPr id="55" name="Text 53"/>
          <p:cNvSpPr/>
          <p:nvPr/>
        </p:nvSpPr>
        <p:spPr>
          <a:xfrm>
            <a:off x="2724912" y="3538728"/>
            <a:ext cx="1828800" cy="457200"/>
          </a:xfrm>
          <a:prstGeom prst="rect">
            <a:avLst/>
          </a:prstGeom>
          <a:noFill/>
          <a:ln/>
        </p:spPr>
        <p:txBody>
          <a:bodyPr wrap="square" lIns="0" tIns="0" rIns="0" bIns="0" rtlCol="0" anchor="t"/>
          <a:lstStyle/>
          <a:p>
            <a:pPr marL="0" indent="0">
              <a:buNone/>
            </a:pPr>
            <a:r>
              <a:rPr lang="en-US" sz="2100" b="1" dirty="0">
                <a:solidFill>
                  <a:srgbClr val="C80019"/>
                </a:solidFill>
                <a:latin typeface="Space Grotesk" pitchFamily="34" charset="0"/>
                <a:ea typeface="Space Grotesk" pitchFamily="34" charset="-122"/>
                <a:cs typeface="Space Grotesk" pitchFamily="34" charset="-120"/>
              </a:rPr>
              <a:t>13%</a:t>
            </a:r>
            <a:endParaRPr lang="en-US" sz="2100" dirty="0"/>
          </a:p>
        </p:txBody>
      </p:sp>
      <p:sp>
        <p:nvSpPr>
          <p:cNvPr id="56" name="Text 54"/>
          <p:cNvSpPr/>
          <p:nvPr/>
        </p:nvSpPr>
        <p:spPr>
          <a:xfrm>
            <a:off x="2724912" y="399592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breached AI models</a:t>
            </a:r>
            <a:endParaRPr lang="en-US" sz="1000" dirty="0"/>
          </a:p>
        </p:txBody>
      </p:sp>
      <p:sp>
        <p:nvSpPr>
          <p:cNvPr id="57" name="Text 55"/>
          <p:cNvSpPr/>
          <p:nvPr/>
        </p:nvSpPr>
        <p:spPr>
          <a:xfrm>
            <a:off x="2724912" y="427024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97% had no AI controls</a:t>
            </a:r>
            <a:endParaRPr lang="en-US" sz="850" dirty="0"/>
          </a:p>
        </p:txBody>
      </p:sp>
      <p:sp>
        <p:nvSpPr>
          <p:cNvPr id="58" name="Shape 56"/>
          <p:cNvSpPr/>
          <p:nvPr/>
        </p:nvSpPr>
        <p:spPr>
          <a:xfrm>
            <a:off x="4754880" y="342900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59" name="Shape 57"/>
          <p:cNvSpPr/>
          <p:nvPr/>
        </p:nvSpPr>
        <p:spPr>
          <a:xfrm>
            <a:off x="4754880" y="3429000"/>
            <a:ext cx="64008" cy="1207008"/>
          </a:xfrm>
          <a:prstGeom prst="rect">
            <a:avLst/>
          </a:prstGeom>
          <a:solidFill>
            <a:srgbClr val="0046FF"/>
          </a:solidFill>
          <a:ln w="12700">
            <a:solidFill>
              <a:srgbClr val="333333"/>
            </a:solidFill>
            <a:prstDash val="solid"/>
          </a:ln>
        </p:spPr>
        <p:txBody>
          <a:bodyPr/>
          <a:lstStyle/>
          <a:p>
            <a:endParaRPr lang="en-US"/>
          </a:p>
        </p:txBody>
      </p:sp>
      <p:sp>
        <p:nvSpPr>
          <p:cNvPr id="60" name="Text 58"/>
          <p:cNvSpPr/>
          <p:nvPr/>
        </p:nvSpPr>
        <p:spPr>
          <a:xfrm>
            <a:off x="4919472" y="3538728"/>
            <a:ext cx="1828800" cy="457200"/>
          </a:xfrm>
          <a:prstGeom prst="rect">
            <a:avLst/>
          </a:prstGeom>
          <a:noFill/>
          <a:ln/>
        </p:spPr>
        <p:txBody>
          <a:bodyPr wrap="square" lIns="0" tIns="0" rIns="0" bIns="0" rtlCol="0" anchor="t"/>
          <a:lstStyle/>
          <a:p>
            <a:pPr marL="0" indent="0">
              <a:buNone/>
            </a:pPr>
            <a:r>
              <a:rPr lang="en-US" sz="2100" b="1" dirty="0">
                <a:solidFill>
                  <a:srgbClr val="0046FF"/>
                </a:solidFill>
                <a:latin typeface="Space Grotesk" pitchFamily="34" charset="0"/>
                <a:ea typeface="Space Grotesk" pitchFamily="34" charset="-122"/>
                <a:cs typeface="Space Grotesk" pitchFamily="34" charset="-120"/>
              </a:rPr>
              <a:t>$1.9M</a:t>
            </a:r>
            <a:endParaRPr lang="en-US" sz="2100" dirty="0"/>
          </a:p>
        </p:txBody>
      </p:sp>
      <p:sp>
        <p:nvSpPr>
          <p:cNvPr id="61" name="Text 59"/>
          <p:cNvSpPr/>
          <p:nvPr/>
        </p:nvSpPr>
        <p:spPr>
          <a:xfrm>
            <a:off x="4919472" y="399592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saved with AI SecOps</a:t>
            </a:r>
            <a:endParaRPr lang="en-US" sz="1000" dirty="0"/>
          </a:p>
        </p:txBody>
      </p:sp>
      <p:sp>
        <p:nvSpPr>
          <p:cNvPr id="62" name="Text 60"/>
          <p:cNvSpPr/>
          <p:nvPr/>
        </p:nvSpPr>
        <p:spPr>
          <a:xfrm>
            <a:off x="4919472" y="427024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and 80 fewer days</a:t>
            </a:r>
            <a:endParaRPr lang="en-US" sz="850" dirty="0"/>
          </a:p>
        </p:txBody>
      </p:sp>
      <p:sp>
        <p:nvSpPr>
          <p:cNvPr id="63" name="Shape 61"/>
          <p:cNvSpPr/>
          <p:nvPr/>
        </p:nvSpPr>
        <p:spPr>
          <a:xfrm>
            <a:off x="6949440" y="3429000"/>
            <a:ext cx="2057400" cy="1207008"/>
          </a:xfrm>
          <a:prstGeom prst="roundRect">
            <a:avLst>
              <a:gd name="adj" fmla="val 3788"/>
            </a:avLst>
          </a:prstGeom>
          <a:solidFill>
            <a:srgbClr val="F2F4FA"/>
          </a:solidFill>
          <a:ln w="9525">
            <a:solidFill>
              <a:srgbClr val="DDDDEE"/>
            </a:solidFill>
            <a:prstDash val="solid"/>
          </a:ln>
        </p:spPr>
        <p:txBody>
          <a:bodyPr/>
          <a:lstStyle/>
          <a:p>
            <a:endParaRPr lang="en-US"/>
          </a:p>
        </p:txBody>
      </p:sp>
      <p:sp>
        <p:nvSpPr>
          <p:cNvPr id="64" name="Shape 62"/>
          <p:cNvSpPr/>
          <p:nvPr/>
        </p:nvSpPr>
        <p:spPr>
          <a:xfrm>
            <a:off x="6949440" y="3429000"/>
            <a:ext cx="64008" cy="1207008"/>
          </a:xfrm>
          <a:prstGeom prst="rect">
            <a:avLst/>
          </a:prstGeom>
          <a:solidFill>
            <a:srgbClr val="0046FF"/>
          </a:solidFill>
          <a:ln w="12700">
            <a:solidFill>
              <a:srgbClr val="333333"/>
            </a:solidFill>
            <a:prstDash val="solid"/>
          </a:ln>
        </p:spPr>
        <p:txBody>
          <a:bodyPr/>
          <a:lstStyle/>
          <a:p>
            <a:endParaRPr lang="en-US"/>
          </a:p>
        </p:txBody>
      </p:sp>
      <p:sp>
        <p:nvSpPr>
          <p:cNvPr id="65" name="Text 63"/>
          <p:cNvSpPr/>
          <p:nvPr/>
        </p:nvSpPr>
        <p:spPr>
          <a:xfrm>
            <a:off x="7114032" y="3538728"/>
            <a:ext cx="1828800" cy="457200"/>
          </a:xfrm>
          <a:prstGeom prst="rect">
            <a:avLst/>
          </a:prstGeom>
          <a:noFill/>
          <a:ln/>
        </p:spPr>
        <p:txBody>
          <a:bodyPr wrap="square" lIns="0" tIns="0" rIns="0" bIns="0" rtlCol="0" anchor="t"/>
          <a:lstStyle/>
          <a:p>
            <a:pPr marL="0" indent="0">
              <a:buNone/>
            </a:pPr>
            <a:r>
              <a:rPr lang="en-US" sz="2100" b="1" dirty="0">
                <a:solidFill>
                  <a:srgbClr val="0046FF"/>
                </a:solidFill>
                <a:latin typeface="Space Grotesk" pitchFamily="34" charset="0"/>
                <a:ea typeface="Space Grotesk" pitchFamily="34" charset="-122"/>
                <a:cs typeface="Space Grotesk" pitchFamily="34" charset="-120"/>
              </a:rPr>
              <a:t>42%</a:t>
            </a:r>
            <a:endParaRPr lang="en-US" sz="2100" dirty="0"/>
          </a:p>
        </p:txBody>
      </p:sp>
      <p:sp>
        <p:nvSpPr>
          <p:cNvPr id="66" name="Text 64"/>
          <p:cNvSpPr/>
          <p:nvPr/>
        </p:nvSpPr>
        <p:spPr>
          <a:xfrm>
            <a:off x="7114032" y="3995928"/>
            <a:ext cx="1828800" cy="292608"/>
          </a:xfrm>
          <a:prstGeom prst="rect">
            <a:avLst/>
          </a:prstGeom>
          <a:noFill/>
          <a:ln/>
        </p:spPr>
        <p:txBody>
          <a:bodyPr wrap="square" lIns="0" tIns="0" rIns="0" bIns="0" rtlCol="0" anchor="t"/>
          <a:lstStyle/>
          <a:p>
            <a:pPr marL="0" indent="0">
              <a:buNone/>
            </a:pPr>
            <a:r>
              <a:rPr lang="en-US" sz="1000" b="1" dirty="0">
                <a:solidFill>
                  <a:srgbClr val="0D1B4B"/>
                </a:solidFill>
                <a:latin typeface="Inter" pitchFamily="34" charset="0"/>
                <a:ea typeface="Inter" pitchFamily="34" charset="-122"/>
                <a:cs typeface="Inter" pitchFamily="34" charset="-120"/>
              </a:rPr>
              <a:t>CAGR</a:t>
            </a:r>
            <a:endParaRPr lang="en-US" sz="1000" dirty="0"/>
          </a:p>
        </p:txBody>
      </p:sp>
      <p:sp>
        <p:nvSpPr>
          <p:cNvPr id="67" name="Text 65"/>
          <p:cNvSpPr/>
          <p:nvPr/>
        </p:nvSpPr>
        <p:spPr>
          <a:xfrm>
            <a:off x="7114032" y="4270248"/>
            <a:ext cx="1828800" cy="310896"/>
          </a:xfrm>
          <a:prstGeom prst="rect">
            <a:avLst/>
          </a:prstGeom>
          <a:noFill/>
          <a:ln/>
        </p:spPr>
        <p:txBody>
          <a:bodyPr wrap="square" lIns="0" tIns="0" rIns="0" bIns="0" rtlCol="0" anchor="t"/>
          <a:lstStyle/>
          <a:p>
            <a:pPr marL="0" indent="0">
              <a:buNone/>
            </a:pPr>
            <a:r>
              <a:rPr lang="en-US" sz="850" dirty="0">
                <a:solidFill>
                  <a:srgbClr val="44507A"/>
                </a:solidFill>
                <a:latin typeface="Inter" pitchFamily="34" charset="0"/>
                <a:ea typeface="Inter" pitchFamily="34" charset="-122"/>
                <a:cs typeface="Inter" pitchFamily="34" charset="-120"/>
              </a:rPr>
              <a:t>agentic AI security mkt</a:t>
            </a:r>
            <a:endParaRPr lang="en-US" sz="850" dirty="0"/>
          </a:p>
        </p:txBody>
      </p:sp>
      <p:sp>
        <p:nvSpPr>
          <p:cNvPr id="68" name="Text 66"/>
          <p:cNvSpPr/>
          <p:nvPr/>
        </p:nvSpPr>
        <p:spPr>
          <a:xfrm>
            <a:off x="365760" y="4617720"/>
            <a:ext cx="8412480" cy="274320"/>
          </a:xfrm>
          <a:prstGeom prst="rect">
            <a:avLst/>
          </a:prstGeom>
          <a:noFill/>
          <a:ln/>
        </p:spPr>
        <p:txBody>
          <a:bodyPr wrap="square" lIns="0" tIns="0" rIns="0" bIns="0" rtlCol="0" anchor="t"/>
          <a:lstStyle/>
          <a:p>
            <a:pPr marL="0" indent="0" algn="ctr">
              <a:buNone/>
            </a:pPr>
            <a:r>
              <a:rPr lang="en-US" sz="800" i="1" dirty="0">
                <a:solidFill>
                  <a:srgbClr val="44507A"/>
                </a:solidFill>
                <a:latin typeface="Inter" pitchFamily="34" charset="0"/>
                <a:ea typeface="Inter" pitchFamily="34" charset="-122"/>
                <a:cs typeface="Inter" pitchFamily="34" charset="-120"/>
              </a:rPr>
              <a:t>Sources: IBM Cost of a Data Breach 2025, Gurucul Pulse of the AI SOC 2025, Gartner, Mordor Intelligence.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AI changed both sides of the equation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5</a:t>
            </a:r>
            <a:endParaRPr lang="en-US" sz="750" dirty="0"/>
          </a:p>
        </p:txBody>
      </p:sp>
      <p:sp>
        <p:nvSpPr>
          <p:cNvPr id="8" name="Shape 6"/>
          <p:cNvSpPr/>
          <p:nvPr/>
        </p:nvSpPr>
        <p:spPr>
          <a:xfrm>
            <a:off x="365760" y="868680"/>
            <a:ext cx="4114800" cy="411480"/>
          </a:xfrm>
          <a:prstGeom prst="rect">
            <a:avLst/>
          </a:prstGeom>
          <a:solidFill>
            <a:srgbClr val="C80019"/>
          </a:solidFill>
          <a:ln w="12700">
            <a:solidFill>
              <a:srgbClr val="333333"/>
            </a:solidFill>
            <a:prstDash val="solid"/>
          </a:ln>
        </p:spPr>
        <p:txBody>
          <a:bodyPr/>
          <a:lstStyle/>
          <a:p>
            <a:endParaRPr lang="en-US"/>
          </a:p>
        </p:txBody>
      </p:sp>
      <p:sp>
        <p:nvSpPr>
          <p:cNvPr id="9" name="Text 7"/>
          <p:cNvSpPr/>
          <p:nvPr/>
        </p:nvSpPr>
        <p:spPr>
          <a:xfrm>
            <a:off x="365760" y="868680"/>
            <a:ext cx="4114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Space Grotesk" pitchFamily="34" charset="0"/>
                <a:ea typeface="Space Grotesk" pitchFamily="34" charset="-122"/>
                <a:cs typeface="Space Grotesk" pitchFamily="34" charset="-120"/>
              </a:rPr>
              <a:t>THE ATTACK SURFACE EXPANDED</a:t>
            </a:r>
            <a:endParaRPr lang="en-US" sz="1200" dirty="0"/>
          </a:p>
        </p:txBody>
      </p:sp>
      <p:sp>
        <p:nvSpPr>
          <p:cNvPr id="10" name="Shape 8"/>
          <p:cNvSpPr/>
          <p:nvPr/>
        </p:nvSpPr>
        <p:spPr>
          <a:xfrm>
            <a:off x="365760" y="1371600"/>
            <a:ext cx="4114800" cy="603504"/>
          </a:xfrm>
          <a:prstGeom prst="roundRect">
            <a:avLst>
              <a:gd name="adj" fmla="val 7576"/>
            </a:avLst>
          </a:prstGeom>
          <a:solidFill>
            <a:srgbClr val="FFF0F2"/>
          </a:solidFill>
          <a:ln w="9525">
            <a:solidFill>
              <a:srgbClr val="C80019"/>
            </a:solidFill>
            <a:prstDash val="solid"/>
          </a:ln>
        </p:spPr>
        <p:txBody>
          <a:bodyPr/>
          <a:lstStyle/>
          <a:p>
            <a:endParaRPr lang="en-US"/>
          </a:p>
        </p:txBody>
      </p:sp>
      <p:sp>
        <p:nvSpPr>
          <p:cNvPr id="11" name="Text 9"/>
          <p:cNvSpPr/>
          <p:nvPr/>
        </p:nvSpPr>
        <p:spPr>
          <a:xfrm>
            <a:off x="502920" y="1371600"/>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Models, agents, and pipelines are new, unmonitored targets</a:t>
            </a:r>
            <a:endParaRPr lang="en-US" sz="1000" dirty="0"/>
          </a:p>
        </p:txBody>
      </p:sp>
      <p:sp>
        <p:nvSpPr>
          <p:cNvPr id="12" name="Shape 10"/>
          <p:cNvSpPr/>
          <p:nvPr/>
        </p:nvSpPr>
        <p:spPr>
          <a:xfrm>
            <a:off x="365760" y="2048256"/>
            <a:ext cx="4114800" cy="603504"/>
          </a:xfrm>
          <a:prstGeom prst="roundRect">
            <a:avLst>
              <a:gd name="adj" fmla="val 7576"/>
            </a:avLst>
          </a:prstGeom>
          <a:solidFill>
            <a:srgbClr val="FFF0F2"/>
          </a:solidFill>
          <a:ln w="9525">
            <a:solidFill>
              <a:srgbClr val="C80019"/>
            </a:solidFill>
            <a:prstDash val="solid"/>
          </a:ln>
        </p:spPr>
        <p:txBody>
          <a:bodyPr/>
          <a:lstStyle/>
          <a:p>
            <a:endParaRPr lang="en-US"/>
          </a:p>
        </p:txBody>
      </p:sp>
      <p:sp>
        <p:nvSpPr>
          <p:cNvPr id="13" name="Text 11"/>
          <p:cNvSpPr/>
          <p:nvPr/>
        </p:nvSpPr>
        <p:spPr>
          <a:xfrm>
            <a:off x="502920" y="2048256"/>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Agentic AI with shell + network access is an untrusted workload</a:t>
            </a:r>
            <a:endParaRPr lang="en-US" sz="1000" dirty="0"/>
          </a:p>
        </p:txBody>
      </p:sp>
      <p:sp>
        <p:nvSpPr>
          <p:cNvPr id="14" name="Shape 12"/>
          <p:cNvSpPr/>
          <p:nvPr/>
        </p:nvSpPr>
        <p:spPr>
          <a:xfrm>
            <a:off x="365760" y="2724912"/>
            <a:ext cx="4114800" cy="603504"/>
          </a:xfrm>
          <a:prstGeom prst="roundRect">
            <a:avLst>
              <a:gd name="adj" fmla="val 7576"/>
            </a:avLst>
          </a:prstGeom>
          <a:solidFill>
            <a:srgbClr val="FFF0F2"/>
          </a:solidFill>
          <a:ln w="9525">
            <a:solidFill>
              <a:srgbClr val="C80019"/>
            </a:solidFill>
            <a:prstDash val="solid"/>
          </a:ln>
        </p:spPr>
        <p:txBody>
          <a:bodyPr/>
          <a:lstStyle/>
          <a:p>
            <a:endParaRPr lang="en-US"/>
          </a:p>
        </p:txBody>
      </p:sp>
      <p:sp>
        <p:nvSpPr>
          <p:cNvPr id="15" name="Text 13"/>
          <p:cNvSpPr/>
          <p:nvPr/>
        </p:nvSpPr>
        <p:spPr>
          <a:xfrm>
            <a:off x="502920" y="2724912"/>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Public model endpoints and MCP servers exposed by default</a:t>
            </a:r>
            <a:endParaRPr lang="en-US" sz="1000" dirty="0"/>
          </a:p>
        </p:txBody>
      </p:sp>
      <p:sp>
        <p:nvSpPr>
          <p:cNvPr id="16" name="Shape 14"/>
          <p:cNvSpPr/>
          <p:nvPr/>
        </p:nvSpPr>
        <p:spPr>
          <a:xfrm>
            <a:off x="365760" y="3401568"/>
            <a:ext cx="4114800" cy="603504"/>
          </a:xfrm>
          <a:prstGeom prst="roundRect">
            <a:avLst>
              <a:gd name="adj" fmla="val 7576"/>
            </a:avLst>
          </a:prstGeom>
          <a:solidFill>
            <a:srgbClr val="FFF0F2"/>
          </a:solidFill>
          <a:ln w="9525">
            <a:solidFill>
              <a:srgbClr val="C80019"/>
            </a:solidFill>
            <a:prstDash val="solid"/>
          </a:ln>
        </p:spPr>
        <p:txBody>
          <a:bodyPr/>
          <a:lstStyle/>
          <a:p>
            <a:endParaRPr lang="en-US"/>
          </a:p>
        </p:txBody>
      </p:sp>
      <p:sp>
        <p:nvSpPr>
          <p:cNvPr id="17" name="Text 15"/>
          <p:cNvSpPr/>
          <p:nvPr/>
        </p:nvSpPr>
        <p:spPr>
          <a:xfrm>
            <a:off x="502920" y="3401568"/>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Training data, vector stores, and RAG sources hold regulated data</a:t>
            </a:r>
            <a:endParaRPr lang="en-US" sz="1000" dirty="0"/>
          </a:p>
        </p:txBody>
      </p:sp>
      <p:sp>
        <p:nvSpPr>
          <p:cNvPr id="18" name="Shape 16"/>
          <p:cNvSpPr/>
          <p:nvPr/>
        </p:nvSpPr>
        <p:spPr>
          <a:xfrm>
            <a:off x="4663440" y="868680"/>
            <a:ext cx="4114800" cy="411480"/>
          </a:xfrm>
          <a:prstGeom prst="rect">
            <a:avLst/>
          </a:prstGeom>
          <a:solidFill>
            <a:srgbClr val="0046FF"/>
          </a:solidFill>
          <a:ln w="12700">
            <a:solidFill>
              <a:srgbClr val="333333"/>
            </a:solidFill>
            <a:prstDash val="solid"/>
          </a:ln>
        </p:spPr>
        <p:txBody>
          <a:bodyPr/>
          <a:lstStyle/>
          <a:p>
            <a:endParaRPr lang="en-US"/>
          </a:p>
        </p:txBody>
      </p:sp>
      <p:sp>
        <p:nvSpPr>
          <p:cNvPr id="19" name="Text 17"/>
          <p:cNvSpPr/>
          <p:nvPr/>
        </p:nvSpPr>
        <p:spPr>
          <a:xfrm>
            <a:off x="4663440" y="868680"/>
            <a:ext cx="4114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Space Grotesk" pitchFamily="34" charset="0"/>
                <a:ea typeface="Space Grotesk" pitchFamily="34" charset="-122"/>
                <a:cs typeface="Space Grotesk" pitchFamily="34" charset="-120"/>
              </a:rPr>
              <a:t>THE ATTACKER GOT FASTER</a:t>
            </a:r>
            <a:endParaRPr lang="en-US" sz="1200" dirty="0"/>
          </a:p>
        </p:txBody>
      </p:sp>
      <p:sp>
        <p:nvSpPr>
          <p:cNvPr id="20" name="Shape 18"/>
          <p:cNvSpPr/>
          <p:nvPr/>
        </p:nvSpPr>
        <p:spPr>
          <a:xfrm>
            <a:off x="4663440" y="1371600"/>
            <a:ext cx="4114800" cy="603504"/>
          </a:xfrm>
          <a:prstGeom prst="roundRect">
            <a:avLst>
              <a:gd name="adj" fmla="val 7576"/>
            </a:avLst>
          </a:prstGeom>
          <a:solidFill>
            <a:srgbClr val="EEF3FF"/>
          </a:solidFill>
          <a:ln w="9525">
            <a:solidFill>
              <a:srgbClr val="0046FF"/>
            </a:solidFill>
            <a:prstDash val="solid"/>
          </a:ln>
        </p:spPr>
        <p:txBody>
          <a:bodyPr/>
          <a:lstStyle/>
          <a:p>
            <a:endParaRPr lang="en-US"/>
          </a:p>
        </p:txBody>
      </p:sp>
      <p:sp>
        <p:nvSpPr>
          <p:cNvPr id="21" name="Shape 19"/>
          <p:cNvSpPr/>
          <p:nvPr/>
        </p:nvSpPr>
        <p:spPr>
          <a:xfrm>
            <a:off x="4663440" y="1371600"/>
            <a:ext cx="64008" cy="603504"/>
          </a:xfrm>
          <a:prstGeom prst="rect">
            <a:avLst/>
          </a:prstGeom>
          <a:solidFill>
            <a:srgbClr val="0046FF"/>
          </a:solidFill>
          <a:ln w="12700">
            <a:solidFill>
              <a:srgbClr val="333333"/>
            </a:solidFill>
            <a:prstDash val="solid"/>
          </a:ln>
        </p:spPr>
        <p:txBody>
          <a:bodyPr/>
          <a:lstStyle/>
          <a:p>
            <a:endParaRPr lang="en-US"/>
          </a:p>
        </p:txBody>
      </p:sp>
      <p:sp>
        <p:nvSpPr>
          <p:cNvPr id="22" name="Text 20"/>
          <p:cNvSpPr/>
          <p:nvPr/>
        </p:nvSpPr>
        <p:spPr>
          <a:xfrm>
            <a:off x="4828032" y="1371600"/>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LLMs run the operator loop at machine scale</a:t>
            </a:r>
            <a:endParaRPr lang="en-US" sz="1000" dirty="0"/>
          </a:p>
        </p:txBody>
      </p:sp>
      <p:sp>
        <p:nvSpPr>
          <p:cNvPr id="23" name="Shape 21"/>
          <p:cNvSpPr/>
          <p:nvPr/>
        </p:nvSpPr>
        <p:spPr>
          <a:xfrm>
            <a:off x="4663440" y="2048256"/>
            <a:ext cx="4114800" cy="603504"/>
          </a:xfrm>
          <a:prstGeom prst="roundRect">
            <a:avLst>
              <a:gd name="adj" fmla="val 7576"/>
            </a:avLst>
          </a:prstGeom>
          <a:solidFill>
            <a:srgbClr val="EEF3FF"/>
          </a:solidFill>
          <a:ln w="9525">
            <a:solidFill>
              <a:srgbClr val="0046FF"/>
            </a:solidFill>
            <a:prstDash val="solid"/>
          </a:ln>
        </p:spPr>
        <p:txBody>
          <a:bodyPr/>
          <a:lstStyle/>
          <a:p>
            <a:endParaRPr lang="en-US"/>
          </a:p>
        </p:txBody>
      </p:sp>
      <p:sp>
        <p:nvSpPr>
          <p:cNvPr id="24" name="Shape 22"/>
          <p:cNvSpPr/>
          <p:nvPr/>
        </p:nvSpPr>
        <p:spPr>
          <a:xfrm>
            <a:off x="4663440" y="2048256"/>
            <a:ext cx="64008" cy="603504"/>
          </a:xfrm>
          <a:prstGeom prst="rect">
            <a:avLst/>
          </a:prstGeom>
          <a:solidFill>
            <a:srgbClr val="0046FF"/>
          </a:solidFill>
          <a:ln w="12700">
            <a:solidFill>
              <a:srgbClr val="333333"/>
            </a:solidFill>
            <a:prstDash val="solid"/>
          </a:ln>
        </p:spPr>
        <p:txBody>
          <a:bodyPr/>
          <a:lstStyle/>
          <a:p>
            <a:endParaRPr lang="en-US"/>
          </a:p>
        </p:txBody>
      </p:sp>
      <p:sp>
        <p:nvSpPr>
          <p:cNvPr id="25" name="Text 23"/>
          <p:cNvSpPr/>
          <p:nvPr/>
        </p:nvSpPr>
        <p:spPr>
          <a:xfrm>
            <a:off x="4828032" y="2048256"/>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Time from disclosure to exploit measured in hours</a:t>
            </a:r>
            <a:endParaRPr lang="en-US" sz="1000" dirty="0"/>
          </a:p>
        </p:txBody>
      </p:sp>
      <p:sp>
        <p:nvSpPr>
          <p:cNvPr id="26" name="Shape 24"/>
          <p:cNvSpPr/>
          <p:nvPr/>
        </p:nvSpPr>
        <p:spPr>
          <a:xfrm>
            <a:off x="4663440" y="2724912"/>
            <a:ext cx="4114800" cy="603504"/>
          </a:xfrm>
          <a:prstGeom prst="roundRect">
            <a:avLst>
              <a:gd name="adj" fmla="val 7576"/>
            </a:avLst>
          </a:prstGeom>
          <a:solidFill>
            <a:srgbClr val="EEF3FF"/>
          </a:solidFill>
          <a:ln w="9525">
            <a:solidFill>
              <a:srgbClr val="0046FF"/>
            </a:solidFill>
            <a:prstDash val="solid"/>
          </a:ln>
        </p:spPr>
        <p:txBody>
          <a:bodyPr/>
          <a:lstStyle/>
          <a:p>
            <a:endParaRPr lang="en-US"/>
          </a:p>
        </p:txBody>
      </p:sp>
      <p:sp>
        <p:nvSpPr>
          <p:cNvPr id="27" name="Shape 25"/>
          <p:cNvSpPr/>
          <p:nvPr/>
        </p:nvSpPr>
        <p:spPr>
          <a:xfrm>
            <a:off x="4663440" y="2724912"/>
            <a:ext cx="64008" cy="603504"/>
          </a:xfrm>
          <a:prstGeom prst="rect">
            <a:avLst/>
          </a:prstGeom>
          <a:solidFill>
            <a:srgbClr val="0046FF"/>
          </a:solidFill>
          <a:ln w="12700">
            <a:solidFill>
              <a:srgbClr val="333333"/>
            </a:solidFill>
            <a:prstDash val="solid"/>
          </a:ln>
        </p:spPr>
        <p:txBody>
          <a:bodyPr/>
          <a:lstStyle/>
          <a:p>
            <a:endParaRPr lang="en-US"/>
          </a:p>
        </p:txBody>
      </p:sp>
      <p:sp>
        <p:nvSpPr>
          <p:cNvPr id="28" name="Text 26"/>
          <p:cNvSpPr/>
          <p:nvPr/>
        </p:nvSpPr>
        <p:spPr>
          <a:xfrm>
            <a:off x="4828032" y="2724912"/>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One compromise fans out into mass exploitation</a:t>
            </a:r>
            <a:endParaRPr lang="en-US" sz="1000" dirty="0"/>
          </a:p>
        </p:txBody>
      </p:sp>
      <p:sp>
        <p:nvSpPr>
          <p:cNvPr id="29" name="Shape 27"/>
          <p:cNvSpPr/>
          <p:nvPr/>
        </p:nvSpPr>
        <p:spPr>
          <a:xfrm>
            <a:off x="4663440" y="3401568"/>
            <a:ext cx="4114800" cy="603504"/>
          </a:xfrm>
          <a:prstGeom prst="roundRect">
            <a:avLst>
              <a:gd name="adj" fmla="val 7576"/>
            </a:avLst>
          </a:prstGeom>
          <a:solidFill>
            <a:srgbClr val="EEF3FF"/>
          </a:solidFill>
          <a:ln w="9525">
            <a:solidFill>
              <a:srgbClr val="0046FF"/>
            </a:solidFill>
            <a:prstDash val="solid"/>
          </a:ln>
        </p:spPr>
        <p:txBody>
          <a:bodyPr/>
          <a:lstStyle/>
          <a:p>
            <a:endParaRPr lang="en-US"/>
          </a:p>
        </p:txBody>
      </p:sp>
      <p:sp>
        <p:nvSpPr>
          <p:cNvPr id="30" name="Shape 28"/>
          <p:cNvSpPr/>
          <p:nvPr/>
        </p:nvSpPr>
        <p:spPr>
          <a:xfrm>
            <a:off x="4663440" y="3401568"/>
            <a:ext cx="64008" cy="603504"/>
          </a:xfrm>
          <a:prstGeom prst="rect">
            <a:avLst/>
          </a:prstGeom>
          <a:solidFill>
            <a:srgbClr val="0046FF"/>
          </a:solidFill>
          <a:ln w="12700">
            <a:solidFill>
              <a:srgbClr val="333333"/>
            </a:solidFill>
            <a:prstDash val="solid"/>
          </a:ln>
        </p:spPr>
        <p:txBody>
          <a:bodyPr/>
          <a:lstStyle/>
          <a:p>
            <a:endParaRPr lang="en-US"/>
          </a:p>
        </p:txBody>
      </p:sp>
      <p:sp>
        <p:nvSpPr>
          <p:cNvPr id="31" name="Text 29"/>
          <p:cNvSpPr/>
          <p:nvPr/>
        </p:nvSpPr>
        <p:spPr>
          <a:xfrm>
            <a:off x="4828032" y="3401568"/>
            <a:ext cx="3886200" cy="603504"/>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Polymorphic payloads defeat signature detection</a:t>
            </a:r>
            <a:endParaRPr lang="en-US" sz="1000" dirty="0"/>
          </a:p>
        </p:txBody>
      </p:sp>
      <p:sp>
        <p:nvSpPr>
          <p:cNvPr id="32" name="Text 30"/>
          <p:cNvSpPr/>
          <p:nvPr/>
        </p:nvSpPr>
        <p:spPr>
          <a:xfrm>
            <a:off x="365760" y="4251960"/>
            <a:ext cx="8412480" cy="457200"/>
          </a:xfrm>
          <a:prstGeom prst="rect">
            <a:avLst/>
          </a:prstGeom>
          <a:noFill/>
          <a:ln/>
        </p:spPr>
        <p:txBody>
          <a:bodyPr wrap="square" lIns="0" tIns="0" rIns="0" bIns="0" rtlCol="0" anchor="ctr"/>
          <a:lstStyle/>
          <a:p>
            <a:pPr marL="0" indent="0" algn="ctr">
              <a:buNone/>
            </a:pPr>
            <a:r>
              <a:rPr lang="en-US" sz="1100" b="1" i="1" dirty="0">
                <a:solidFill>
                  <a:srgbClr val="0000C8"/>
                </a:solidFill>
                <a:latin typeface="Inter" pitchFamily="34" charset="0"/>
                <a:ea typeface="Inter" pitchFamily="34" charset="-122"/>
                <a:cs typeface="Inter" pitchFamily="34" charset="-120"/>
              </a:rPr>
              <a:t>A SOC that cannot see, reason about, and contain AI workloads, and whose own agents are not secured, is already behind.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02</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The SOC Is Broken</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Not from bad effort. From an architecture built for a world that ended.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reactive model hit a wall</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7</a:t>
            </a:r>
            <a:endParaRPr lang="en-US" sz="750" dirty="0"/>
          </a:p>
        </p:txBody>
      </p:sp>
      <p:sp>
        <p:nvSpPr>
          <p:cNvPr id="8" name="Shape 6"/>
          <p:cNvSpPr/>
          <p:nvPr/>
        </p:nvSpPr>
        <p:spPr>
          <a:xfrm>
            <a:off x="365760" y="822960"/>
            <a:ext cx="2743200" cy="3840480"/>
          </a:xfrm>
          <a:prstGeom prst="roundRect">
            <a:avLst>
              <a:gd name="adj" fmla="val 1667"/>
            </a:avLst>
          </a:prstGeom>
          <a:solidFill>
            <a:srgbClr val="0000C8"/>
          </a:solidFill>
          <a:ln w="9525">
            <a:solidFill>
              <a:srgbClr val="0000C8"/>
            </a:solidFill>
            <a:prstDash val="solid"/>
          </a:ln>
        </p:spPr>
        <p:txBody>
          <a:bodyPr/>
          <a:lstStyle/>
          <a:p>
            <a:endParaRPr lang="en-US"/>
          </a:p>
        </p:txBody>
      </p:sp>
      <p:sp>
        <p:nvSpPr>
          <p:cNvPr id="9" name="Text 7"/>
          <p:cNvSpPr/>
          <p:nvPr/>
        </p:nvSpPr>
        <p:spPr>
          <a:xfrm>
            <a:off x="365760" y="1371600"/>
            <a:ext cx="2743200" cy="1005840"/>
          </a:xfrm>
          <a:prstGeom prst="rect">
            <a:avLst/>
          </a:prstGeom>
          <a:noFill/>
          <a:ln/>
        </p:spPr>
        <p:txBody>
          <a:bodyPr wrap="square" lIns="0" tIns="0" rIns="0" bIns="0" rtlCol="0" anchor="t"/>
          <a:lstStyle/>
          <a:p>
            <a:pPr marL="0" indent="0" algn="ctr">
              <a:buNone/>
            </a:pPr>
            <a:r>
              <a:rPr lang="en-US" sz="7600" b="1" dirty="0">
                <a:solidFill>
                  <a:srgbClr val="FFFFFF"/>
                </a:solidFill>
                <a:latin typeface="Space Grotesk" pitchFamily="34" charset="0"/>
                <a:ea typeface="Space Grotesk" pitchFamily="34" charset="-122"/>
                <a:cs typeface="Space Grotesk" pitchFamily="34" charset="-120"/>
              </a:rPr>
              <a:t>40%</a:t>
            </a:r>
            <a:endParaRPr lang="en-US" sz="7600" dirty="0"/>
          </a:p>
        </p:txBody>
      </p:sp>
      <p:sp>
        <p:nvSpPr>
          <p:cNvPr id="10" name="Text 8"/>
          <p:cNvSpPr/>
          <p:nvPr/>
        </p:nvSpPr>
        <p:spPr>
          <a:xfrm>
            <a:off x="502920" y="2468880"/>
            <a:ext cx="2468880" cy="548640"/>
          </a:xfrm>
          <a:prstGeom prst="rect">
            <a:avLst/>
          </a:prstGeom>
          <a:noFill/>
          <a:ln/>
        </p:spPr>
        <p:txBody>
          <a:bodyPr wrap="square" lIns="0" tIns="0" rIns="0" bIns="0" rtlCol="0" anchor="t"/>
          <a:lstStyle/>
          <a:p>
            <a:pPr marL="0" indent="0" algn="ctr">
              <a:buNone/>
            </a:pPr>
            <a:r>
              <a:rPr lang="en-US" sz="1300" b="1" dirty="0">
                <a:solidFill>
                  <a:srgbClr val="D6E4F7"/>
                </a:solidFill>
                <a:latin typeface="Inter" pitchFamily="34" charset="0"/>
                <a:ea typeface="Inter" pitchFamily="34" charset="-122"/>
                <a:cs typeface="Inter" pitchFamily="34" charset="-120"/>
              </a:rPr>
              <a:t>of alerts are never investigated</a:t>
            </a:r>
            <a:endParaRPr lang="en-US" sz="1300" dirty="0"/>
          </a:p>
        </p:txBody>
      </p:sp>
      <p:sp>
        <p:nvSpPr>
          <p:cNvPr id="11" name="Text 9"/>
          <p:cNvSpPr/>
          <p:nvPr/>
        </p:nvSpPr>
        <p:spPr>
          <a:xfrm>
            <a:off x="502920" y="3200400"/>
            <a:ext cx="2468880" cy="1097280"/>
          </a:xfrm>
          <a:prstGeom prst="rect">
            <a:avLst/>
          </a:prstGeom>
          <a:noFill/>
          <a:ln/>
        </p:spPr>
        <p:txBody>
          <a:bodyPr wrap="square" lIns="0" tIns="0" rIns="0" bIns="0" rtlCol="0" anchor="t"/>
          <a:lstStyle/>
          <a:p>
            <a:pPr marL="0" indent="0" algn="ctr">
              <a:buNone/>
            </a:pPr>
            <a:r>
              <a:rPr lang="en-US" sz="1050" dirty="0">
                <a:solidFill>
                  <a:srgbClr val="D6E4F7"/>
                </a:solidFill>
                <a:latin typeface="Inter" pitchFamily="34" charset="0"/>
                <a:ea typeface="Inter" pitchFamily="34" charset="-122"/>
                <a:cs typeface="Inter" pitchFamily="34" charset="-120"/>
              </a:rPr>
              <a:t>You cannot read what you cannot reach. This is the structural gap, and it grows every year.</a:t>
            </a:r>
            <a:endParaRPr lang="en-US" sz="1050" dirty="0"/>
          </a:p>
        </p:txBody>
      </p:sp>
      <p:sp>
        <p:nvSpPr>
          <p:cNvPr id="12" name="Text 10"/>
          <p:cNvSpPr/>
          <p:nvPr/>
        </p:nvSpPr>
        <p:spPr>
          <a:xfrm>
            <a:off x="3291840" y="822960"/>
            <a:ext cx="5486400" cy="320040"/>
          </a:xfrm>
          <a:prstGeom prst="rect">
            <a:avLst/>
          </a:prstGeom>
          <a:noFill/>
          <a:ln/>
        </p:spPr>
        <p:txBody>
          <a:bodyPr wrap="square" lIns="0" tIns="0" rIns="0" bIns="0" rtlCol="0" anchor="t"/>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The reactive loop, and where each step fails</a:t>
            </a:r>
            <a:endParaRPr lang="en-US" sz="1200" dirty="0"/>
          </a:p>
        </p:txBody>
      </p:sp>
      <p:sp>
        <p:nvSpPr>
          <p:cNvPr id="13" name="Shape 11"/>
          <p:cNvSpPr/>
          <p:nvPr/>
        </p:nvSpPr>
        <p:spPr>
          <a:xfrm>
            <a:off x="3291840" y="1234440"/>
            <a:ext cx="5486400" cy="585216"/>
          </a:xfrm>
          <a:prstGeom prst="roundRect">
            <a:avLst>
              <a:gd name="adj" fmla="val 7813"/>
            </a:avLst>
          </a:prstGeom>
          <a:solidFill>
            <a:srgbClr val="F2F4FA"/>
          </a:solidFill>
          <a:ln w="9525">
            <a:solidFill>
              <a:srgbClr val="DDDDEE"/>
            </a:solidFill>
            <a:prstDash val="solid"/>
          </a:ln>
        </p:spPr>
        <p:txBody>
          <a:bodyPr/>
          <a:lstStyle/>
          <a:p>
            <a:endParaRPr lang="en-US"/>
          </a:p>
        </p:txBody>
      </p:sp>
      <p:sp>
        <p:nvSpPr>
          <p:cNvPr id="14" name="Shape 12"/>
          <p:cNvSpPr/>
          <p:nvPr/>
        </p:nvSpPr>
        <p:spPr>
          <a:xfrm>
            <a:off x="3291840" y="1234440"/>
            <a:ext cx="64008" cy="585216"/>
          </a:xfrm>
          <a:prstGeom prst="rect">
            <a:avLst/>
          </a:prstGeom>
          <a:solidFill>
            <a:srgbClr val="C80019"/>
          </a:solidFill>
          <a:ln w="12700">
            <a:solidFill>
              <a:srgbClr val="333333"/>
            </a:solidFill>
            <a:prstDash val="solid"/>
          </a:ln>
        </p:spPr>
        <p:txBody>
          <a:bodyPr/>
          <a:lstStyle/>
          <a:p>
            <a:endParaRPr lang="en-US"/>
          </a:p>
        </p:txBody>
      </p:sp>
      <p:sp>
        <p:nvSpPr>
          <p:cNvPr id="15" name="Text 13"/>
          <p:cNvSpPr/>
          <p:nvPr/>
        </p:nvSpPr>
        <p:spPr>
          <a:xfrm>
            <a:off x="3456432" y="1234440"/>
            <a:ext cx="1371600" cy="585216"/>
          </a:xfrm>
          <a:prstGeom prst="rect">
            <a:avLst/>
          </a:prstGeom>
          <a:noFill/>
          <a:ln/>
        </p:spPr>
        <p:txBody>
          <a:bodyPr wrap="square" lIns="0" tIns="0" rIns="0" bIns="0" rtlCol="0" anchor="ctr"/>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Collect logs</a:t>
            </a:r>
            <a:endParaRPr lang="en-US" sz="1200" dirty="0"/>
          </a:p>
        </p:txBody>
      </p:sp>
      <p:sp>
        <p:nvSpPr>
          <p:cNvPr id="16" name="Text 14"/>
          <p:cNvSpPr/>
          <p:nvPr/>
        </p:nvSpPr>
        <p:spPr>
          <a:xfrm>
            <a:off x="4846320" y="1234440"/>
            <a:ext cx="3840480" cy="58521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from ~30 disconnected tools, each its own queue</a:t>
            </a:r>
            <a:endParaRPr lang="en-US" sz="950" dirty="0"/>
          </a:p>
        </p:txBody>
      </p:sp>
      <p:sp>
        <p:nvSpPr>
          <p:cNvPr id="17" name="Shape 15"/>
          <p:cNvSpPr/>
          <p:nvPr/>
        </p:nvSpPr>
        <p:spPr>
          <a:xfrm>
            <a:off x="3291840" y="1892808"/>
            <a:ext cx="5486400" cy="585216"/>
          </a:xfrm>
          <a:prstGeom prst="roundRect">
            <a:avLst>
              <a:gd name="adj" fmla="val 7813"/>
            </a:avLst>
          </a:prstGeom>
          <a:solidFill>
            <a:srgbClr val="FFFFFF"/>
          </a:solidFill>
          <a:ln w="9525">
            <a:solidFill>
              <a:srgbClr val="DDDDEE"/>
            </a:solidFill>
            <a:prstDash val="solid"/>
          </a:ln>
        </p:spPr>
        <p:txBody>
          <a:bodyPr/>
          <a:lstStyle/>
          <a:p>
            <a:endParaRPr lang="en-US"/>
          </a:p>
        </p:txBody>
      </p:sp>
      <p:sp>
        <p:nvSpPr>
          <p:cNvPr id="18" name="Shape 16"/>
          <p:cNvSpPr/>
          <p:nvPr/>
        </p:nvSpPr>
        <p:spPr>
          <a:xfrm>
            <a:off x="3291840" y="1892808"/>
            <a:ext cx="64008" cy="585216"/>
          </a:xfrm>
          <a:prstGeom prst="rect">
            <a:avLst/>
          </a:prstGeom>
          <a:solidFill>
            <a:srgbClr val="C80019"/>
          </a:solidFill>
          <a:ln w="12700">
            <a:solidFill>
              <a:srgbClr val="333333"/>
            </a:solidFill>
            <a:prstDash val="solid"/>
          </a:ln>
        </p:spPr>
        <p:txBody>
          <a:bodyPr/>
          <a:lstStyle/>
          <a:p>
            <a:endParaRPr lang="en-US"/>
          </a:p>
        </p:txBody>
      </p:sp>
      <p:sp>
        <p:nvSpPr>
          <p:cNvPr id="19" name="Text 17"/>
          <p:cNvSpPr/>
          <p:nvPr/>
        </p:nvSpPr>
        <p:spPr>
          <a:xfrm>
            <a:off x="3456432" y="1892808"/>
            <a:ext cx="1371600" cy="585216"/>
          </a:xfrm>
          <a:prstGeom prst="rect">
            <a:avLst/>
          </a:prstGeom>
          <a:noFill/>
          <a:ln/>
        </p:spPr>
        <p:txBody>
          <a:bodyPr wrap="square" lIns="0" tIns="0" rIns="0" bIns="0" rtlCol="0" anchor="ctr"/>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Write rules</a:t>
            </a:r>
            <a:endParaRPr lang="en-US" sz="1200" dirty="0"/>
          </a:p>
        </p:txBody>
      </p:sp>
      <p:sp>
        <p:nvSpPr>
          <p:cNvPr id="20" name="Text 18"/>
          <p:cNvSpPr/>
          <p:nvPr/>
        </p:nvSpPr>
        <p:spPr>
          <a:xfrm>
            <a:off x="4846320" y="1892808"/>
            <a:ext cx="3840480" cy="58521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static detections that decay as the environment drifts</a:t>
            </a:r>
            <a:endParaRPr lang="en-US" sz="950" dirty="0"/>
          </a:p>
        </p:txBody>
      </p:sp>
      <p:sp>
        <p:nvSpPr>
          <p:cNvPr id="21" name="Shape 19"/>
          <p:cNvSpPr/>
          <p:nvPr/>
        </p:nvSpPr>
        <p:spPr>
          <a:xfrm>
            <a:off x="3291840" y="2551176"/>
            <a:ext cx="5486400" cy="585216"/>
          </a:xfrm>
          <a:prstGeom prst="roundRect">
            <a:avLst>
              <a:gd name="adj" fmla="val 7813"/>
            </a:avLst>
          </a:prstGeom>
          <a:solidFill>
            <a:srgbClr val="F2F4FA"/>
          </a:solidFill>
          <a:ln w="9525">
            <a:solidFill>
              <a:srgbClr val="DDDDEE"/>
            </a:solidFill>
            <a:prstDash val="solid"/>
          </a:ln>
        </p:spPr>
        <p:txBody>
          <a:bodyPr/>
          <a:lstStyle/>
          <a:p>
            <a:endParaRPr lang="en-US"/>
          </a:p>
        </p:txBody>
      </p:sp>
      <p:sp>
        <p:nvSpPr>
          <p:cNvPr id="22" name="Shape 20"/>
          <p:cNvSpPr/>
          <p:nvPr/>
        </p:nvSpPr>
        <p:spPr>
          <a:xfrm>
            <a:off x="3291840" y="2551176"/>
            <a:ext cx="64008" cy="585216"/>
          </a:xfrm>
          <a:prstGeom prst="rect">
            <a:avLst/>
          </a:prstGeom>
          <a:solidFill>
            <a:srgbClr val="C80019"/>
          </a:solidFill>
          <a:ln w="12700">
            <a:solidFill>
              <a:srgbClr val="333333"/>
            </a:solidFill>
            <a:prstDash val="solid"/>
          </a:ln>
        </p:spPr>
        <p:txBody>
          <a:bodyPr/>
          <a:lstStyle/>
          <a:p>
            <a:endParaRPr lang="en-US"/>
          </a:p>
        </p:txBody>
      </p:sp>
      <p:sp>
        <p:nvSpPr>
          <p:cNvPr id="23" name="Text 21"/>
          <p:cNvSpPr/>
          <p:nvPr/>
        </p:nvSpPr>
        <p:spPr>
          <a:xfrm>
            <a:off x="3456432" y="2551176"/>
            <a:ext cx="1371600" cy="585216"/>
          </a:xfrm>
          <a:prstGeom prst="rect">
            <a:avLst/>
          </a:prstGeom>
          <a:noFill/>
          <a:ln/>
        </p:spPr>
        <p:txBody>
          <a:bodyPr wrap="square" lIns="0" tIns="0" rIns="0" bIns="0" rtlCol="0" anchor="ctr"/>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Alert</a:t>
            </a:r>
            <a:endParaRPr lang="en-US" sz="1200" dirty="0"/>
          </a:p>
        </p:txBody>
      </p:sp>
      <p:sp>
        <p:nvSpPr>
          <p:cNvPr id="24" name="Text 22"/>
          <p:cNvSpPr/>
          <p:nvPr/>
        </p:nvSpPr>
        <p:spPr>
          <a:xfrm>
            <a:off x="4846320" y="2551176"/>
            <a:ext cx="3840480" cy="58521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960+ a day, 50 to 80% of them false positives</a:t>
            </a:r>
            <a:endParaRPr lang="en-US" sz="950" dirty="0"/>
          </a:p>
        </p:txBody>
      </p:sp>
      <p:sp>
        <p:nvSpPr>
          <p:cNvPr id="25" name="Shape 23"/>
          <p:cNvSpPr/>
          <p:nvPr/>
        </p:nvSpPr>
        <p:spPr>
          <a:xfrm>
            <a:off x="3291840" y="3209544"/>
            <a:ext cx="5486400" cy="585216"/>
          </a:xfrm>
          <a:prstGeom prst="roundRect">
            <a:avLst>
              <a:gd name="adj" fmla="val 7813"/>
            </a:avLst>
          </a:prstGeom>
          <a:solidFill>
            <a:srgbClr val="FFFFFF"/>
          </a:solidFill>
          <a:ln w="9525">
            <a:solidFill>
              <a:srgbClr val="DDDDEE"/>
            </a:solidFill>
            <a:prstDash val="solid"/>
          </a:ln>
        </p:spPr>
        <p:txBody>
          <a:bodyPr/>
          <a:lstStyle/>
          <a:p>
            <a:endParaRPr lang="en-US"/>
          </a:p>
        </p:txBody>
      </p:sp>
      <p:sp>
        <p:nvSpPr>
          <p:cNvPr id="26" name="Shape 24"/>
          <p:cNvSpPr/>
          <p:nvPr/>
        </p:nvSpPr>
        <p:spPr>
          <a:xfrm>
            <a:off x="3291840" y="3209544"/>
            <a:ext cx="64008" cy="585216"/>
          </a:xfrm>
          <a:prstGeom prst="rect">
            <a:avLst/>
          </a:prstGeom>
          <a:solidFill>
            <a:srgbClr val="C80019"/>
          </a:solidFill>
          <a:ln w="12700">
            <a:solidFill>
              <a:srgbClr val="333333"/>
            </a:solidFill>
            <a:prstDash val="solid"/>
          </a:ln>
        </p:spPr>
        <p:txBody>
          <a:bodyPr/>
          <a:lstStyle/>
          <a:p>
            <a:endParaRPr lang="en-US"/>
          </a:p>
        </p:txBody>
      </p:sp>
      <p:sp>
        <p:nvSpPr>
          <p:cNvPr id="27" name="Text 25"/>
          <p:cNvSpPr/>
          <p:nvPr/>
        </p:nvSpPr>
        <p:spPr>
          <a:xfrm>
            <a:off x="3456432" y="3209544"/>
            <a:ext cx="1371600" cy="585216"/>
          </a:xfrm>
          <a:prstGeom prst="rect">
            <a:avLst/>
          </a:prstGeom>
          <a:noFill/>
          <a:ln/>
        </p:spPr>
        <p:txBody>
          <a:bodyPr wrap="square" lIns="0" tIns="0" rIns="0" bIns="0" rtlCol="0" anchor="ctr"/>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Investigate</a:t>
            </a:r>
            <a:endParaRPr lang="en-US" sz="1200" dirty="0"/>
          </a:p>
        </p:txBody>
      </p:sp>
      <p:sp>
        <p:nvSpPr>
          <p:cNvPr id="28" name="Text 26"/>
          <p:cNvSpPr/>
          <p:nvPr/>
        </p:nvSpPr>
        <p:spPr>
          <a:xfrm>
            <a:off x="4846320" y="3209544"/>
            <a:ext cx="3840480" cy="58521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~70 minutes each, by hand, pivoting across consoles</a:t>
            </a:r>
            <a:endParaRPr lang="en-US" sz="950" dirty="0"/>
          </a:p>
        </p:txBody>
      </p:sp>
      <p:sp>
        <p:nvSpPr>
          <p:cNvPr id="29" name="Shape 27"/>
          <p:cNvSpPr/>
          <p:nvPr/>
        </p:nvSpPr>
        <p:spPr>
          <a:xfrm>
            <a:off x="3291840" y="3867912"/>
            <a:ext cx="5486400" cy="585216"/>
          </a:xfrm>
          <a:prstGeom prst="roundRect">
            <a:avLst>
              <a:gd name="adj" fmla="val 7813"/>
            </a:avLst>
          </a:prstGeom>
          <a:solidFill>
            <a:srgbClr val="F2F4FA"/>
          </a:solidFill>
          <a:ln w="9525">
            <a:solidFill>
              <a:srgbClr val="DDDDEE"/>
            </a:solidFill>
            <a:prstDash val="solid"/>
          </a:ln>
        </p:spPr>
        <p:txBody>
          <a:bodyPr/>
          <a:lstStyle/>
          <a:p>
            <a:endParaRPr lang="en-US"/>
          </a:p>
        </p:txBody>
      </p:sp>
      <p:sp>
        <p:nvSpPr>
          <p:cNvPr id="30" name="Shape 28"/>
          <p:cNvSpPr/>
          <p:nvPr/>
        </p:nvSpPr>
        <p:spPr>
          <a:xfrm>
            <a:off x="3291840" y="3867912"/>
            <a:ext cx="64008" cy="585216"/>
          </a:xfrm>
          <a:prstGeom prst="rect">
            <a:avLst/>
          </a:prstGeom>
          <a:solidFill>
            <a:srgbClr val="C80019"/>
          </a:solidFill>
          <a:ln w="12700">
            <a:solidFill>
              <a:srgbClr val="333333"/>
            </a:solidFill>
            <a:prstDash val="solid"/>
          </a:ln>
        </p:spPr>
        <p:txBody>
          <a:bodyPr/>
          <a:lstStyle/>
          <a:p>
            <a:endParaRPr lang="en-US"/>
          </a:p>
        </p:txBody>
      </p:sp>
      <p:sp>
        <p:nvSpPr>
          <p:cNvPr id="31" name="Text 29"/>
          <p:cNvSpPr/>
          <p:nvPr/>
        </p:nvSpPr>
        <p:spPr>
          <a:xfrm>
            <a:off x="3456432" y="3867912"/>
            <a:ext cx="1371600" cy="585216"/>
          </a:xfrm>
          <a:prstGeom prst="rect">
            <a:avLst/>
          </a:prstGeom>
          <a:noFill/>
          <a:ln/>
        </p:spPr>
        <p:txBody>
          <a:bodyPr wrap="square" lIns="0" tIns="0" rIns="0" bIns="0" rtlCol="0" anchor="ctr"/>
          <a:lstStyle/>
          <a:p>
            <a:pPr marL="0" indent="0">
              <a:buNone/>
            </a:pPr>
            <a:r>
              <a:rPr lang="en-US" sz="1200" b="1" dirty="0">
                <a:solidFill>
                  <a:srgbClr val="0000C8"/>
                </a:solidFill>
                <a:latin typeface="Space Grotesk" pitchFamily="34" charset="0"/>
                <a:ea typeface="Space Grotesk" pitchFamily="34" charset="-122"/>
                <a:cs typeface="Space Grotesk" pitchFamily="34" charset="-120"/>
              </a:rPr>
              <a:t>Respond</a:t>
            </a:r>
            <a:endParaRPr lang="en-US" sz="1200" dirty="0"/>
          </a:p>
        </p:txBody>
      </p:sp>
      <p:sp>
        <p:nvSpPr>
          <p:cNvPr id="32" name="Text 30"/>
          <p:cNvSpPr/>
          <p:nvPr/>
        </p:nvSpPr>
        <p:spPr>
          <a:xfrm>
            <a:off x="4846320" y="3867912"/>
            <a:ext cx="3840480" cy="58521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after the action already ran. You are cleaning up</a:t>
            </a:r>
            <a:endParaRPr lang="en-US" sz="950" dirty="0"/>
          </a:p>
        </p:txBody>
      </p:sp>
      <p:sp>
        <p:nvSpPr>
          <p:cNvPr id="33" name="Text 31"/>
          <p:cNvSpPr/>
          <p:nvPr/>
        </p:nvSpPr>
        <p:spPr>
          <a:xfrm>
            <a:off x="3291840" y="4572000"/>
            <a:ext cx="5486400" cy="320040"/>
          </a:xfrm>
          <a:prstGeom prst="rect">
            <a:avLst/>
          </a:prstGeom>
          <a:noFill/>
          <a:ln/>
        </p:spPr>
        <p:txBody>
          <a:bodyPr wrap="square" lIns="0" tIns="0" rIns="0" bIns="0" rtlCol="0" anchor="t"/>
          <a:lstStyle/>
          <a:p>
            <a:pPr marL="0" indent="0">
              <a:buNone/>
            </a:pPr>
            <a:r>
              <a:rPr lang="en-US" sz="950" i="1" dirty="0">
                <a:solidFill>
                  <a:srgbClr val="44507A"/>
                </a:solidFill>
                <a:latin typeface="Inter" pitchFamily="34" charset="0"/>
                <a:ea typeface="Inter" pitchFamily="34" charset="-122"/>
                <a:cs typeface="Inter" pitchFamily="34" charset="-120"/>
              </a:rPr>
              <a:t>If critical incidents climb from 2-3 a week toward 20-30 plus daily zero-days, this stops being possible at human speed.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tools underneath make it worse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8</a:t>
            </a:r>
            <a:endParaRPr lang="en-US" sz="750" dirty="0"/>
          </a:p>
        </p:txBody>
      </p:sp>
      <p:sp>
        <p:nvSpPr>
          <p:cNvPr id="8" name="Shape 6"/>
          <p:cNvSpPr/>
          <p:nvPr/>
        </p:nvSpPr>
        <p:spPr>
          <a:xfrm>
            <a:off x="365760" y="822960"/>
            <a:ext cx="4160520" cy="3703320"/>
          </a:xfrm>
          <a:prstGeom prst="roundRect">
            <a:avLst>
              <a:gd name="adj" fmla="val 1235"/>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822960"/>
            <a:ext cx="4160520" cy="411480"/>
          </a:xfrm>
          <a:prstGeom prst="rect">
            <a:avLst/>
          </a:prstGeom>
          <a:solidFill>
            <a:srgbClr val="0000C8"/>
          </a:solidFill>
          <a:ln w="12700">
            <a:solidFill>
              <a:srgbClr val="333333"/>
            </a:solidFill>
            <a:prstDash val="solid"/>
          </a:ln>
        </p:spPr>
        <p:txBody>
          <a:bodyPr/>
          <a:lstStyle/>
          <a:p>
            <a:endParaRPr lang="en-US"/>
          </a:p>
        </p:txBody>
      </p:sp>
      <p:sp>
        <p:nvSpPr>
          <p:cNvPr id="10" name="Text 8"/>
          <p:cNvSpPr/>
          <p:nvPr/>
        </p:nvSpPr>
        <p:spPr>
          <a:xfrm>
            <a:off x="365760" y="822960"/>
            <a:ext cx="4160520" cy="411480"/>
          </a:xfrm>
          <a:prstGeom prst="rect">
            <a:avLst/>
          </a:prstGeom>
          <a:noFill/>
          <a:ln/>
        </p:spPr>
        <p:txBody>
          <a:bodyPr wrap="square" lIns="0" tIns="0" rIns="0" bIns="0" rtlCol="0" anchor="ctr"/>
          <a:lstStyle/>
          <a:p>
            <a:pPr marL="0" indent="0" algn="ctr">
              <a:buNone/>
            </a:pPr>
            <a:r>
              <a:rPr lang="en-US" sz="1250" b="1" dirty="0">
                <a:solidFill>
                  <a:srgbClr val="FFFFFF"/>
                </a:solidFill>
                <a:latin typeface="Space Grotesk" pitchFamily="34" charset="0"/>
                <a:ea typeface="Space Grotesk" pitchFamily="34" charset="-122"/>
                <a:cs typeface="Space Grotesk" pitchFamily="34" charset="-120"/>
              </a:rPr>
              <a:t>THE SIEM IS A COST TRAP</a:t>
            </a:r>
            <a:endParaRPr lang="en-US" sz="1250" dirty="0"/>
          </a:p>
        </p:txBody>
      </p:sp>
      <p:sp>
        <p:nvSpPr>
          <p:cNvPr id="11" name="Text 9"/>
          <p:cNvSpPr/>
          <p:nvPr/>
        </p:nvSpPr>
        <p:spPr>
          <a:xfrm>
            <a:off x="548640" y="1371600"/>
            <a:ext cx="1417320" cy="548640"/>
          </a:xfrm>
          <a:prstGeom prst="rect">
            <a:avLst/>
          </a:prstGeom>
          <a:noFill/>
          <a:ln/>
        </p:spPr>
        <p:txBody>
          <a:bodyPr wrap="square" lIns="0" tIns="0" rIns="0" bIns="0" rtlCol="0" anchor="ctr"/>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$2.46-5.22</a:t>
            </a:r>
            <a:endParaRPr lang="en-US" sz="1300" dirty="0"/>
          </a:p>
        </p:txBody>
      </p:sp>
      <p:sp>
        <p:nvSpPr>
          <p:cNvPr id="12" name="Text 10"/>
          <p:cNvSpPr/>
          <p:nvPr/>
        </p:nvSpPr>
        <p:spPr>
          <a:xfrm>
            <a:off x="2011680" y="1371600"/>
            <a:ext cx="2423160" cy="548640"/>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per GB/day ingested (Sentinel). Splunk similar or worse.</a:t>
            </a:r>
            <a:endParaRPr lang="en-US" sz="900" dirty="0"/>
          </a:p>
        </p:txBody>
      </p:sp>
      <p:sp>
        <p:nvSpPr>
          <p:cNvPr id="13" name="Text 11"/>
          <p:cNvSpPr/>
          <p:nvPr/>
        </p:nvSpPr>
        <p:spPr>
          <a:xfrm>
            <a:off x="548640" y="1975104"/>
            <a:ext cx="1417320" cy="548640"/>
          </a:xfrm>
          <a:prstGeom prst="rect">
            <a:avLst/>
          </a:prstGeom>
          <a:noFill/>
          <a:ln/>
        </p:spPr>
        <p:txBody>
          <a:bodyPr wrap="square" lIns="0" tIns="0" rIns="0" bIns="0" rtlCol="0" anchor="ctr"/>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20-30%</a:t>
            </a:r>
            <a:endParaRPr lang="en-US" sz="1300" dirty="0"/>
          </a:p>
        </p:txBody>
      </p:sp>
      <p:sp>
        <p:nvSpPr>
          <p:cNvPr id="14" name="Text 12"/>
          <p:cNvSpPr/>
          <p:nvPr/>
        </p:nvSpPr>
        <p:spPr>
          <a:xfrm>
            <a:off x="2011680" y="1975104"/>
            <a:ext cx="2423160" cy="548640"/>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annual telemetry growth. The bill scales against you.</a:t>
            </a:r>
            <a:endParaRPr lang="en-US" sz="900" dirty="0"/>
          </a:p>
        </p:txBody>
      </p:sp>
      <p:sp>
        <p:nvSpPr>
          <p:cNvPr id="15" name="Text 13"/>
          <p:cNvSpPr/>
          <p:nvPr/>
        </p:nvSpPr>
        <p:spPr>
          <a:xfrm>
            <a:off x="548640" y="2578608"/>
            <a:ext cx="1417320" cy="548640"/>
          </a:xfrm>
          <a:prstGeom prst="rect">
            <a:avLst/>
          </a:prstGeom>
          <a:noFill/>
          <a:ln/>
        </p:spPr>
        <p:txBody>
          <a:bodyPr wrap="square" lIns="0" tIns="0" rIns="0" bIns="0" rtlCol="0" anchor="ctr"/>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$1.5-4M</a:t>
            </a:r>
            <a:endParaRPr lang="en-US" sz="1300" dirty="0"/>
          </a:p>
        </p:txBody>
      </p:sp>
      <p:sp>
        <p:nvSpPr>
          <p:cNvPr id="16" name="Text 14"/>
          <p:cNvSpPr/>
          <p:nvPr/>
        </p:nvSpPr>
        <p:spPr>
          <a:xfrm>
            <a:off x="2011680" y="2578608"/>
            <a:ext cx="2423160" cy="548640"/>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all-in yearly TCO for a mid-size enterprise.</a:t>
            </a:r>
            <a:endParaRPr lang="en-US" sz="900" dirty="0"/>
          </a:p>
        </p:txBody>
      </p:sp>
      <p:sp>
        <p:nvSpPr>
          <p:cNvPr id="17" name="Text 15"/>
          <p:cNvSpPr/>
          <p:nvPr/>
        </p:nvSpPr>
        <p:spPr>
          <a:xfrm>
            <a:off x="548640" y="3182112"/>
            <a:ext cx="1417320" cy="548640"/>
          </a:xfrm>
          <a:prstGeom prst="rect">
            <a:avLst/>
          </a:prstGeom>
          <a:noFill/>
          <a:ln/>
        </p:spPr>
        <p:txBody>
          <a:bodyPr wrap="square" lIns="0" tIns="0" rIns="0" bIns="0" rtlCol="0" anchor="ctr"/>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2-3x</a:t>
            </a:r>
            <a:endParaRPr lang="en-US" sz="1300" dirty="0"/>
          </a:p>
        </p:txBody>
      </p:sp>
      <p:sp>
        <p:nvSpPr>
          <p:cNvPr id="18" name="Text 16"/>
          <p:cNvSpPr/>
          <p:nvPr/>
        </p:nvSpPr>
        <p:spPr>
          <a:xfrm>
            <a:off x="2011680" y="3182112"/>
            <a:ext cx="2423160" cy="548640"/>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license, once you add staffing and integration.</a:t>
            </a:r>
            <a:endParaRPr lang="en-US" sz="900" dirty="0"/>
          </a:p>
        </p:txBody>
      </p:sp>
      <p:sp>
        <p:nvSpPr>
          <p:cNvPr id="19" name="Text 17"/>
          <p:cNvSpPr/>
          <p:nvPr/>
        </p:nvSpPr>
        <p:spPr>
          <a:xfrm>
            <a:off x="548640" y="3785616"/>
            <a:ext cx="1417320" cy="548640"/>
          </a:xfrm>
          <a:prstGeom prst="rect">
            <a:avLst/>
          </a:prstGeom>
          <a:noFill/>
          <a:ln/>
        </p:spPr>
        <p:txBody>
          <a:bodyPr wrap="square" lIns="0" tIns="0" rIns="0" bIns="0" rtlCol="0" anchor="ctr"/>
          <a:lstStyle/>
          <a:p>
            <a:pPr marL="0" indent="0">
              <a:buNone/>
            </a:pPr>
            <a:r>
              <a:rPr lang="en-US" sz="1300" b="1" dirty="0">
                <a:solidFill>
                  <a:srgbClr val="C80019"/>
                </a:solidFill>
                <a:latin typeface="Space Grotesk" pitchFamily="34" charset="0"/>
                <a:ea typeface="Space Grotesk" pitchFamily="34" charset="-122"/>
                <a:cs typeface="Space Grotesk" pitchFamily="34" charset="-120"/>
              </a:rPr>
              <a:t>68%</a:t>
            </a:r>
            <a:endParaRPr lang="en-US" sz="1300" dirty="0"/>
          </a:p>
        </p:txBody>
      </p:sp>
      <p:sp>
        <p:nvSpPr>
          <p:cNvPr id="20" name="Text 18"/>
          <p:cNvSpPr/>
          <p:nvPr/>
        </p:nvSpPr>
        <p:spPr>
          <a:xfrm>
            <a:off x="2011680" y="3785616"/>
            <a:ext cx="2423160" cy="548640"/>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of teams are unhappy with their SIEM (Latio survey).</a:t>
            </a:r>
            <a:endParaRPr lang="en-US" sz="900" dirty="0"/>
          </a:p>
        </p:txBody>
      </p:sp>
      <p:sp>
        <p:nvSpPr>
          <p:cNvPr id="21" name="Shape 19"/>
          <p:cNvSpPr/>
          <p:nvPr/>
        </p:nvSpPr>
        <p:spPr>
          <a:xfrm>
            <a:off x="4663440" y="822960"/>
            <a:ext cx="4114800" cy="3703320"/>
          </a:xfrm>
          <a:prstGeom prst="roundRect">
            <a:avLst>
              <a:gd name="adj" fmla="val 1235"/>
            </a:avLst>
          </a:prstGeom>
          <a:solidFill>
            <a:srgbClr val="F2F4FA"/>
          </a:solidFill>
          <a:ln w="9525">
            <a:solidFill>
              <a:srgbClr val="DDDDEE"/>
            </a:solidFill>
            <a:prstDash val="solid"/>
          </a:ln>
        </p:spPr>
        <p:txBody>
          <a:bodyPr/>
          <a:lstStyle/>
          <a:p>
            <a:endParaRPr lang="en-US"/>
          </a:p>
        </p:txBody>
      </p:sp>
      <p:sp>
        <p:nvSpPr>
          <p:cNvPr id="22" name="Shape 20"/>
          <p:cNvSpPr/>
          <p:nvPr/>
        </p:nvSpPr>
        <p:spPr>
          <a:xfrm>
            <a:off x="4663440" y="822960"/>
            <a:ext cx="4114800" cy="411480"/>
          </a:xfrm>
          <a:prstGeom prst="rect">
            <a:avLst/>
          </a:prstGeom>
          <a:solidFill>
            <a:srgbClr val="0000C8"/>
          </a:solidFill>
          <a:ln w="12700">
            <a:solidFill>
              <a:srgbClr val="333333"/>
            </a:solidFill>
            <a:prstDash val="solid"/>
          </a:ln>
        </p:spPr>
        <p:txBody>
          <a:bodyPr/>
          <a:lstStyle/>
          <a:p>
            <a:endParaRPr lang="en-US"/>
          </a:p>
        </p:txBody>
      </p:sp>
      <p:sp>
        <p:nvSpPr>
          <p:cNvPr id="23" name="Text 21"/>
          <p:cNvSpPr/>
          <p:nvPr/>
        </p:nvSpPr>
        <p:spPr>
          <a:xfrm>
            <a:off x="4663440" y="822960"/>
            <a:ext cx="411480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Space Grotesk" pitchFamily="34" charset="0"/>
                <a:ea typeface="Space Grotesk" pitchFamily="34" charset="-122"/>
                <a:cs typeface="Space Grotesk" pitchFamily="34" charset="-120"/>
              </a:rPr>
              <a:t>POINT TOOLS FRAGMENT THE PICTURE</a:t>
            </a:r>
            <a:endParaRPr lang="en-US" sz="1150" dirty="0"/>
          </a:p>
        </p:txBody>
      </p:sp>
      <p:sp>
        <p:nvSpPr>
          <p:cNvPr id="24" name="Text 22"/>
          <p:cNvSpPr/>
          <p:nvPr/>
        </p:nvSpPr>
        <p:spPr>
          <a:xfrm>
            <a:off x="4846320" y="1417320"/>
            <a:ext cx="3749040" cy="548640"/>
          </a:xfrm>
          <a:prstGeom prst="rect">
            <a:avLst/>
          </a:prstGeom>
          <a:noFill/>
          <a:ln/>
        </p:spPr>
        <p:txBody>
          <a:bodyPr wrap="square" lIns="0" tIns="0" rIns="0" bIns="0" rtlCol="0" anchor="t"/>
          <a:lstStyle/>
          <a:p>
            <a:pPr marL="0" indent="0" algn="ctr">
              <a:buNone/>
            </a:pPr>
            <a:r>
              <a:rPr lang="en-US" sz="1000" b="1" dirty="0">
                <a:solidFill>
                  <a:srgbClr val="0000C8"/>
                </a:solidFill>
                <a:latin typeface="Inter" pitchFamily="34" charset="0"/>
                <a:ea typeface="Inter" pitchFamily="34" charset="-122"/>
                <a:cs typeface="Inter" pitchFamily="34" charset="-120"/>
              </a:rPr>
              <a:t>EDR  ·  CSPM  ·  CWPP  ·  identity  ·  SaaS security  ·  threat intel  ·  email  ·  network</a:t>
            </a:r>
            <a:endParaRPr lang="en-US" sz="1000" dirty="0"/>
          </a:p>
        </p:txBody>
      </p:sp>
      <p:sp>
        <p:nvSpPr>
          <p:cNvPr id="25" name="Shape 23"/>
          <p:cNvSpPr/>
          <p:nvPr/>
        </p:nvSpPr>
        <p:spPr>
          <a:xfrm>
            <a:off x="4846320" y="2103120"/>
            <a:ext cx="3749040" cy="493776"/>
          </a:xfrm>
          <a:prstGeom prst="roundRect">
            <a:avLst>
              <a:gd name="adj" fmla="val 9259"/>
            </a:avLst>
          </a:prstGeom>
          <a:solidFill>
            <a:srgbClr val="FFF0F2"/>
          </a:solidFill>
          <a:ln w="9525">
            <a:solidFill>
              <a:srgbClr val="C80019"/>
            </a:solidFill>
            <a:prstDash val="solid"/>
          </a:ln>
        </p:spPr>
        <p:txBody>
          <a:bodyPr/>
          <a:lstStyle/>
          <a:p>
            <a:endParaRPr lang="en-US"/>
          </a:p>
        </p:txBody>
      </p:sp>
      <p:sp>
        <p:nvSpPr>
          <p:cNvPr id="26" name="Text 24"/>
          <p:cNvSpPr/>
          <p:nvPr/>
        </p:nvSpPr>
        <p:spPr>
          <a:xfrm>
            <a:off x="4983480" y="2103120"/>
            <a:ext cx="3520440" cy="49377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  Each tool alerts in isolation, no shared context</a:t>
            </a:r>
            <a:endParaRPr lang="en-US" sz="950" dirty="0"/>
          </a:p>
        </p:txBody>
      </p:sp>
      <p:sp>
        <p:nvSpPr>
          <p:cNvPr id="27" name="Shape 25"/>
          <p:cNvSpPr/>
          <p:nvPr/>
        </p:nvSpPr>
        <p:spPr>
          <a:xfrm>
            <a:off x="4846320" y="2670048"/>
            <a:ext cx="3749040" cy="493776"/>
          </a:xfrm>
          <a:prstGeom prst="roundRect">
            <a:avLst>
              <a:gd name="adj" fmla="val 9259"/>
            </a:avLst>
          </a:prstGeom>
          <a:solidFill>
            <a:srgbClr val="FFF0F2"/>
          </a:solidFill>
          <a:ln w="9525">
            <a:solidFill>
              <a:srgbClr val="C80019"/>
            </a:solidFill>
            <a:prstDash val="solid"/>
          </a:ln>
        </p:spPr>
        <p:txBody>
          <a:bodyPr/>
          <a:lstStyle/>
          <a:p>
            <a:endParaRPr lang="en-US"/>
          </a:p>
        </p:txBody>
      </p:sp>
      <p:sp>
        <p:nvSpPr>
          <p:cNvPr id="28" name="Text 26"/>
          <p:cNvSpPr/>
          <p:nvPr/>
        </p:nvSpPr>
        <p:spPr>
          <a:xfrm>
            <a:off x="4983480" y="2670048"/>
            <a:ext cx="3520440" cy="49377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  The analyst becomes the integration layer, by hand</a:t>
            </a:r>
            <a:endParaRPr lang="en-US" sz="950" dirty="0"/>
          </a:p>
        </p:txBody>
      </p:sp>
      <p:sp>
        <p:nvSpPr>
          <p:cNvPr id="29" name="Shape 27"/>
          <p:cNvSpPr/>
          <p:nvPr/>
        </p:nvSpPr>
        <p:spPr>
          <a:xfrm>
            <a:off x="4846320" y="3236976"/>
            <a:ext cx="3749040" cy="493776"/>
          </a:xfrm>
          <a:prstGeom prst="roundRect">
            <a:avLst>
              <a:gd name="adj" fmla="val 9259"/>
            </a:avLst>
          </a:prstGeom>
          <a:solidFill>
            <a:srgbClr val="FFF0F2"/>
          </a:solidFill>
          <a:ln w="9525">
            <a:solidFill>
              <a:srgbClr val="C80019"/>
            </a:solidFill>
            <a:prstDash val="solid"/>
          </a:ln>
        </p:spPr>
        <p:txBody>
          <a:bodyPr/>
          <a:lstStyle/>
          <a:p>
            <a:endParaRPr lang="en-US"/>
          </a:p>
        </p:txBody>
      </p:sp>
      <p:sp>
        <p:nvSpPr>
          <p:cNvPr id="30" name="Text 28"/>
          <p:cNvSpPr/>
          <p:nvPr/>
        </p:nvSpPr>
        <p:spPr>
          <a:xfrm>
            <a:off x="4983480" y="3236976"/>
            <a:ext cx="3520440" cy="49377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  Context lives in someone's head, then they quit</a:t>
            </a:r>
            <a:endParaRPr lang="en-US" sz="950" dirty="0"/>
          </a:p>
        </p:txBody>
      </p:sp>
      <p:sp>
        <p:nvSpPr>
          <p:cNvPr id="31" name="Shape 29"/>
          <p:cNvSpPr/>
          <p:nvPr/>
        </p:nvSpPr>
        <p:spPr>
          <a:xfrm>
            <a:off x="4846320" y="3803904"/>
            <a:ext cx="3749040" cy="493776"/>
          </a:xfrm>
          <a:prstGeom prst="roundRect">
            <a:avLst>
              <a:gd name="adj" fmla="val 9259"/>
            </a:avLst>
          </a:prstGeom>
          <a:solidFill>
            <a:srgbClr val="FFF0F2"/>
          </a:solidFill>
          <a:ln w="9525">
            <a:solidFill>
              <a:srgbClr val="C80019"/>
            </a:solidFill>
            <a:prstDash val="solid"/>
          </a:ln>
        </p:spPr>
        <p:txBody>
          <a:bodyPr/>
          <a:lstStyle/>
          <a:p>
            <a:endParaRPr lang="en-US"/>
          </a:p>
        </p:txBody>
      </p:sp>
      <p:sp>
        <p:nvSpPr>
          <p:cNvPr id="32" name="Text 30"/>
          <p:cNvSpPr/>
          <p:nvPr/>
        </p:nvSpPr>
        <p:spPr>
          <a:xfrm>
            <a:off x="4983480" y="3803904"/>
            <a:ext cx="3520440" cy="493776"/>
          </a:xfrm>
          <a:prstGeom prst="rect">
            <a:avLst/>
          </a:prstGeom>
          <a:noFill/>
          <a:ln/>
        </p:spPr>
        <p:txBody>
          <a:bodyPr wrap="square" lIns="0" tIns="0" rIns="0" bIns="0" rtlCol="0" anchor="ctr"/>
          <a:lstStyle/>
          <a:p>
            <a:pPr marL="0" indent="0">
              <a:buNone/>
            </a:pPr>
            <a:r>
              <a:rPr lang="en-US" sz="950" dirty="0">
                <a:solidFill>
                  <a:srgbClr val="0D1B4B"/>
                </a:solidFill>
                <a:latin typeface="Inter" pitchFamily="34" charset="0"/>
                <a:ea typeface="Inter" pitchFamily="34" charset="-122"/>
                <a:cs typeface="Inter" pitchFamily="34" charset="-120"/>
              </a:rPr>
              <a:t>✕  Bolt an AI tool on top and it inherits every weakness below it</a:t>
            </a:r>
            <a:endParaRPr lang="en-US" sz="950" dirty="0"/>
          </a:p>
        </p:txBody>
      </p:sp>
      <p:sp>
        <p:nvSpPr>
          <p:cNvPr id="33" name="Text 31"/>
          <p:cNvSpPr/>
          <p:nvPr/>
        </p:nvSpPr>
        <p:spPr>
          <a:xfrm>
            <a:off x="365760" y="4617720"/>
            <a:ext cx="8412480" cy="274320"/>
          </a:xfrm>
          <a:prstGeom prst="rect">
            <a:avLst/>
          </a:prstGeom>
          <a:noFill/>
          <a:ln/>
        </p:spPr>
        <p:txBody>
          <a:bodyPr wrap="square" lIns="0" tIns="0" rIns="0" bIns="0" rtlCol="0" anchor="t"/>
          <a:lstStyle/>
          <a:p>
            <a:pPr marL="0" indent="0" algn="ctr">
              <a:buNone/>
            </a:pPr>
            <a:r>
              <a:rPr lang="en-US" sz="900" i="1" dirty="0">
                <a:solidFill>
                  <a:srgbClr val="0000C8"/>
                </a:solidFill>
                <a:latin typeface="Inter" pitchFamily="34" charset="0"/>
                <a:ea typeface="Inter" pitchFamily="34" charset="-122"/>
                <a:cs typeface="Inter" pitchFamily="34" charset="-120"/>
              </a:rPr>
              <a:t>"No AI analyst automation can solve an underlying data problem."  — Latio Security Operations Report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03</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Why AI-SOC, Now</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The market is bifurcating. The winners enforce, the rest investigate.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First wave failed. Second wave is table stakes.</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10</a:t>
            </a:r>
            <a:endParaRPr lang="en-US" sz="750" dirty="0"/>
          </a:p>
        </p:txBody>
      </p:sp>
      <p:sp>
        <p:nvSpPr>
          <p:cNvPr id="8" name="Shape 6"/>
          <p:cNvSpPr/>
          <p:nvPr/>
        </p:nvSpPr>
        <p:spPr>
          <a:xfrm>
            <a:off x="365760" y="822960"/>
            <a:ext cx="4160520" cy="411480"/>
          </a:xfrm>
          <a:prstGeom prst="rect">
            <a:avLst/>
          </a:prstGeom>
          <a:solidFill>
            <a:srgbClr val="C80019"/>
          </a:solidFill>
          <a:ln w="12700">
            <a:solidFill>
              <a:srgbClr val="333333"/>
            </a:solidFill>
            <a:prstDash val="solid"/>
          </a:ln>
        </p:spPr>
        <p:txBody>
          <a:bodyPr/>
          <a:lstStyle/>
          <a:p>
            <a:endParaRPr lang="en-US"/>
          </a:p>
        </p:txBody>
      </p:sp>
      <p:sp>
        <p:nvSpPr>
          <p:cNvPr id="9" name="Text 7"/>
          <p:cNvSpPr/>
          <p:nvPr/>
        </p:nvSpPr>
        <p:spPr>
          <a:xfrm>
            <a:off x="365760" y="822960"/>
            <a:ext cx="41605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Space Grotesk" pitchFamily="34" charset="0"/>
                <a:ea typeface="Space Grotesk" pitchFamily="34" charset="-122"/>
                <a:cs typeface="Space Grotesk" pitchFamily="34" charset="-120"/>
              </a:rPr>
              <a:t>WAVE 1  ·  SOAR + A CHATBOT</a:t>
            </a:r>
            <a:endParaRPr lang="en-US" sz="1200" dirty="0"/>
          </a:p>
        </p:txBody>
      </p:sp>
      <p:sp>
        <p:nvSpPr>
          <p:cNvPr id="10" name="Shape 8"/>
          <p:cNvSpPr/>
          <p:nvPr/>
        </p:nvSpPr>
        <p:spPr>
          <a:xfrm>
            <a:off x="365760" y="1325880"/>
            <a:ext cx="4160520" cy="493776"/>
          </a:xfrm>
          <a:prstGeom prst="roundRect">
            <a:avLst>
              <a:gd name="adj" fmla="val 9259"/>
            </a:avLst>
          </a:prstGeom>
          <a:solidFill>
            <a:srgbClr val="FFF0F2"/>
          </a:solidFill>
          <a:ln w="9525">
            <a:solidFill>
              <a:srgbClr val="DDDDEE"/>
            </a:solidFill>
            <a:prstDash val="solid"/>
          </a:ln>
        </p:spPr>
        <p:txBody>
          <a:bodyPr/>
          <a:lstStyle/>
          <a:p>
            <a:endParaRPr lang="en-US"/>
          </a:p>
        </p:txBody>
      </p:sp>
      <p:sp>
        <p:nvSpPr>
          <p:cNvPr id="11" name="Text 9"/>
          <p:cNvSpPr/>
          <p:nvPr/>
        </p:nvSpPr>
        <p:spPr>
          <a:xfrm>
            <a:off x="502920" y="1325880"/>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Summaries that add nothing to the alert</a:t>
            </a:r>
            <a:endParaRPr lang="en-US" sz="1000" dirty="0"/>
          </a:p>
        </p:txBody>
      </p:sp>
      <p:sp>
        <p:nvSpPr>
          <p:cNvPr id="12" name="Shape 10"/>
          <p:cNvSpPr/>
          <p:nvPr/>
        </p:nvSpPr>
        <p:spPr>
          <a:xfrm>
            <a:off x="365760" y="1892808"/>
            <a:ext cx="4160520" cy="493776"/>
          </a:xfrm>
          <a:prstGeom prst="roundRect">
            <a:avLst>
              <a:gd name="adj" fmla="val 9259"/>
            </a:avLst>
          </a:prstGeom>
          <a:solidFill>
            <a:srgbClr val="FFFFFF"/>
          </a:solidFill>
          <a:ln w="9525">
            <a:solidFill>
              <a:srgbClr val="DDDDEE"/>
            </a:solidFill>
            <a:prstDash val="solid"/>
          </a:ln>
        </p:spPr>
        <p:txBody>
          <a:bodyPr/>
          <a:lstStyle/>
          <a:p>
            <a:endParaRPr lang="en-US"/>
          </a:p>
        </p:txBody>
      </p:sp>
      <p:sp>
        <p:nvSpPr>
          <p:cNvPr id="13" name="Text 11"/>
          <p:cNvSpPr/>
          <p:nvPr/>
        </p:nvSpPr>
        <p:spPr>
          <a:xfrm>
            <a:off x="502920" y="1892808"/>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Enrichments cheaper to run in the SIEM</a:t>
            </a:r>
            <a:endParaRPr lang="en-US" sz="1000" dirty="0"/>
          </a:p>
        </p:txBody>
      </p:sp>
      <p:sp>
        <p:nvSpPr>
          <p:cNvPr id="14" name="Shape 12"/>
          <p:cNvSpPr/>
          <p:nvPr/>
        </p:nvSpPr>
        <p:spPr>
          <a:xfrm>
            <a:off x="365760" y="2459736"/>
            <a:ext cx="4160520" cy="493776"/>
          </a:xfrm>
          <a:prstGeom prst="roundRect">
            <a:avLst>
              <a:gd name="adj" fmla="val 9259"/>
            </a:avLst>
          </a:prstGeom>
          <a:solidFill>
            <a:srgbClr val="FFF0F2"/>
          </a:solidFill>
          <a:ln w="9525">
            <a:solidFill>
              <a:srgbClr val="DDDDEE"/>
            </a:solidFill>
            <a:prstDash val="solid"/>
          </a:ln>
        </p:spPr>
        <p:txBody>
          <a:bodyPr/>
          <a:lstStyle/>
          <a:p>
            <a:endParaRPr lang="en-US"/>
          </a:p>
        </p:txBody>
      </p:sp>
      <p:sp>
        <p:nvSpPr>
          <p:cNvPr id="15" name="Text 13"/>
          <p:cNvSpPr/>
          <p:nvPr/>
        </p:nvSpPr>
        <p:spPr>
          <a:xfrm>
            <a:off x="502920" y="2459736"/>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Verbose output instead of a decision</a:t>
            </a:r>
            <a:endParaRPr lang="en-US" sz="1000" dirty="0"/>
          </a:p>
        </p:txBody>
      </p:sp>
      <p:sp>
        <p:nvSpPr>
          <p:cNvPr id="16" name="Shape 14"/>
          <p:cNvSpPr/>
          <p:nvPr/>
        </p:nvSpPr>
        <p:spPr>
          <a:xfrm>
            <a:off x="365760" y="3026664"/>
            <a:ext cx="4160520" cy="493776"/>
          </a:xfrm>
          <a:prstGeom prst="roundRect">
            <a:avLst>
              <a:gd name="adj" fmla="val 9259"/>
            </a:avLst>
          </a:prstGeom>
          <a:solidFill>
            <a:srgbClr val="FFFFFF"/>
          </a:solidFill>
          <a:ln w="9525">
            <a:solidFill>
              <a:srgbClr val="DDDDEE"/>
            </a:solidFill>
            <a:prstDash val="solid"/>
          </a:ln>
        </p:spPr>
        <p:txBody>
          <a:bodyPr/>
          <a:lstStyle/>
          <a:p>
            <a:endParaRPr lang="en-US"/>
          </a:p>
        </p:txBody>
      </p:sp>
      <p:sp>
        <p:nvSpPr>
          <p:cNvPr id="17" name="Text 15"/>
          <p:cNvSpPr/>
          <p:nvPr/>
        </p:nvSpPr>
        <p:spPr>
          <a:xfrm>
            <a:off x="502920" y="3026664"/>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Unoptimized queries that drive up cost</a:t>
            </a:r>
            <a:endParaRPr lang="en-US" sz="1000" dirty="0"/>
          </a:p>
        </p:txBody>
      </p:sp>
      <p:sp>
        <p:nvSpPr>
          <p:cNvPr id="18" name="Shape 16"/>
          <p:cNvSpPr/>
          <p:nvPr/>
        </p:nvSpPr>
        <p:spPr>
          <a:xfrm>
            <a:off x="365760" y="3593592"/>
            <a:ext cx="4160520" cy="493776"/>
          </a:xfrm>
          <a:prstGeom prst="roundRect">
            <a:avLst>
              <a:gd name="adj" fmla="val 9259"/>
            </a:avLst>
          </a:prstGeom>
          <a:solidFill>
            <a:srgbClr val="FFF0F2"/>
          </a:solidFill>
          <a:ln w="9525">
            <a:solidFill>
              <a:srgbClr val="DDDDEE"/>
            </a:solidFill>
            <a:prstDash val="solid"/>
          </a:ln>
        </p:spPr>
        <p:txBody>
          <a:bodyPr/>
          <a:lstStyle/>
          <a:p>
            <a:endParaRPr lang="en-US"/>
          </a:p>
        </p:txBody>
      </p:sp>
      <p:sp>
        <p:nvSpPr>
          <p:cNvPr id="19" name="Text 17"/>
          <p:cNvSpPr/>
          <p:nvPr/>
        </p:nvSpPr>
        <p:spPr>
          <a:xfrm>
            <a:off x="502920" y="3593592"/>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Spins in circles over incomplete data</a:t>
            </a:r>
            <a:endParaRPr lang="en-US" sz="1000" dirty="0"/>
          </a:p>
        </p:txBody>
      </p:sp>
      <p:sp>
        <p:nvSpPr>
          <p:cNvPr id="20" name="Shape 18"/>
          <p:cNvSpPr/>
          <p:nvPr/>
        </p:nvSpPr>
        <p:spPr>
          <a:xfrm>
            <a:off x="4617720" y="822960"/>
            <a:ext cx="4160520" cy="411480"/>
          </a:xfrm>
          <a:prstGeom prst="rect">
            <a:avLst/>
          </a:prstGeom>
          <a:solidFill>
            <a:srgbClr val="0046FF"/>
          </a:solidFill>
          <a:ln w="12700">
            <a:solidFill>
              <a:srgbClr val="333333"/>
            </a:solidFill>
            <a:prstDash val="solid"/>
          </a:ln>
        </p:spPr>
        <p:txBody>
          <a:bodyPr/>
          <a:lstStyle/>
          <a:p>
            <a:endParaRPr lang="en-US"/>
          </a:p>
        </p:txBody>
      </p:sp>
      <p:sp>
        <p:nvSpPr>
          <p:cNvPr id="21" name="Text 19"/>
          <p:cNvSpPr/>
          <p:nvPr/>
        </p:nvSpPr>
        <p:spPr>
          <a:xfrm>
            <a:off x="4617720" y="822960"/>
            <a:ext cx="41605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Space Grotesk" pitchFamily="34" charset="0"/>
                <a:ea typeface="Space Grotesk" pitchFamily="34" charset="-122"/>
                <a:cs typeface="Space Grotesk" pitchFamily="34" charset="-120"/>
              </a:rPr>
              <a:t>WAVE 2  ·  INVESTIGATES WITH YOU</a:t>
            </a:r>
            <a:endParaRPr lang="en-US" sz="1200" dirty="0"/>
          </a:p>
        </p:txBody>
      </p:sp>
      <p:sp>
        <p:nvSpPr>
          <p:cNvPr id="22" name="Shape 20"/>
          <p:cNvSpPr/>
          <p:nvPr/>
        </p:nvSpPr>
        <p:spPr>
          <a:xfrm>
            <a:off x="4617720" y="1325880"/>
            <a:ext cx="4160520" cy="493776"/>
          </a:xfrm>
          <a:prstGeom prst="roundRect">
            <a:avLst>
              <a:gd name="adj" fmla="val 9259"/>
            </a:avLst>
          </a:prstGeom>
          <a:solidFill>
            <a:srgbClr val="EEF3FF"/>
          </a:solidFill>
          <a:ln w="9525">
            <a:solidFill>
              <a:srgbClr val="DDDDEE"/>
            </a:solidFill>
            <a:prstDash val="solid"/>
          </a:ln>
        </p:spPr>
        <p:txBody>
          <a:bodyPr/>
          <a:lstStyle/>
          <a:p>
            <a:endParaRPr lang="en-US"/>
          </a:p>
        </p:txBody>
      </p:sp>
      <p:sp>
        <p:nvSpPr>
          <p:cNvPr id="23" name="Shape 21"/>
          <p:cNvSpPr/>
          <p:nvPr/>
        </p:nvSpPr>
        <p:spPr>
          <a:xfrm>
            <a:off x="4617720" y="1325880"/>
            <a:ext cx="64008" cy="493776"/>
          </a:xfrm>
          <a:prstGeom prst="rect">
            <a:avLst/>
          </a:prstGeom>
          <a:solidFill>
            <a:srgbClr val="0046FF"/>
          </a:solidFill>
          <a:ln w="12700">
            <a:solidFill>
              <a:srgbClr val="333333"/>
            </a:solidFill>
            <a:prstDash val="solid"/>
          </a:ln>
        </p:spPr>
        <p:txBody>
          <a:bodyPr/>
          <a:lstStyle/>
          <a:p>
            <a:endParaRPr lang="en-US"/>
          </a:p>
        </p:txBody>
      </p:sp>
      <p:sp>
        <p:nvSpPr>
          <p:cNvPr id="24" name="Text 22"/>
          <p:cNvSpPr/>
          <p:nvPr/>
        </p:nvSpPr>
        <p:spPr>
          <a:xfrm>
            <a:off x="4782312" y="1325880"/>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Takes action on the analyst's behalf</a:t>
            </a:r>
            <a:endParaRPr lang="en-US" sz="1000" dirty="0"/>
          </a:p>
        </p:txBody>
      </p:sp>
      <p:sp>
        <p:nvSpPr>
          <p:cNvPr id="25" name="Shape 23"/>
          <p:cNvSpPr/>
          <p:nvPr/>
        </p:nvSpPr>
        <p:spPr>
          <a:xfrm>
            <a:off x="4617720" y="1892808"/>
            <a:ext cx="4160520" cy="493776"/>
          </a:xfrm>
          <a:prstGeom prst="roundRect">
            <a:avLst>
              <a:gd name="adj" fmla="val 9259"/>
            </a:avLst>
          </a:prstGeom>
          <a:solidFill>
            <a:srgbClr val="FFFFFF"/>
          </a:solidFill>
          <a:ln w="9525">
            <a:solidFill>
              <a:srgbClr val="DDDDEE"/>
            </a:solidFill>
            <a:prstDash val="solid"/>
          </a:ln>
        </p:spPr>
        <p:txBody>
          <a:bodyPr/>
          <a:lstStyle/>
          <a:p>
            <a:endParaRPr lang="en-US"/>
          </a:p>
        </p:txBody>
      </p:sp>
      <p:sp>
        <p:nvSpPr>
          <p:cNvPr id="26" name="Shape 24"/>
          <p:cNvSpPr/>
          <p:nvPr/>
        </p:nvSpPr>
        <p:spPr>
          <a:xfrm>
            <a:off x="4617720" y="1892808"/>
            <a:ext cx="64008" cy="493776"/>
          </a:xfrm>
          <a:prstGeom prst="rect">
            <a:avLst/>
          </a:prstGeom>
          <a:solidFill>
            <a:srgbClr val="0046FF"/>
          </a:solidFill>
          <a:ln w="12700">
            <a:solidFill>
              <a:srgbClr val="333333"/>
            </a:solidFill>
            <a:prstDash val="solid"/>
          </a:ln>
        </p:spPr>
        <p:txBody>
          <a:bodyPr/>
          <a:lstStyle/>
          <a:p>
            <a:endParaRPr lang="en-US"/>
          </a:p>
        </p:txBody>
      </p:sp>
      <p:sp>
        <p:nvSpPr>
          <p:cNvPr id="27" name="Text 25"/>
          <p:cNvSpPr/>
          <p:nvPr/>
        </p:nvSpPr>
        <p:spPr>
          <a:xfrm>
            <a:off x="4782312" y="1892808"/>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Investigates alongside, not a summary at the end</a:t>
            </a:r>
            <a:endParaRPr lang="en-US" sz="1000" dirty="0"/>
          </a:p>
        </p:txBody>
      </p:sp>
      <p:sp>
        <p:nvSpPr>
          <p:cNvPr id="28" name="Shape 26"/>
          <p:cNvSpPr/>
          <p:nvPr/>
        </p:nvSpPr>
        <p:spPr>
          <a:xfrm>
            <a:off x="4617720" y="2459736"/>
            <a:ext cx="4160520" cy="493776"/>
          </a:xfrm>
          <a:prstGeom prst="roundRect">
            <a:avLst>
              <a:gd name="adj" fmla="val 9259"/>
            </a:avLst>
          </a:prstGeom>
          <a:solidFill>
            <a:srgbClr val="EEF3FF"/>
          </a:solidFill>
          <a:ln w="9525">
            <a:solidFill>
              <a:srgbClr val="DDDDEE"/>
            </a:solidFill>
            <a:prstDash val="solid"/>
          </a:ln>
        </p:spPr>
        <p:txBody>
          <a:bodyPr/>
          <a:lstStyle/>
          <a:p>
            <a:endParaRPr lang="en-US"/>
          </a:p>
        </p:txBody>
      </p:sp>
      <p:sp>
        <p:nvSpPr>
          <p:cNvPr id="29" name="Shape 27"/>
          <p:cNvSpPr/>
          <p:nvPr/>
        </p:nvSpPr>
        <p:spPr>
          <a:xfrm>
            <a:off x="4617720" y="2459736"/>
            <a:ext cx="64008" cy="493776"/>
          </a:xfrm>
          <a:prstGeom prst="rect">
            <a:avLst/>
          </a:prstGeom>
          <a:solidFill>
            <a:srgbClr val="0046FF"/>
          </a:solidFill>
          <a:ln w="12700">
            <a:solidFill>
              <a:srgbClr val="333333"/>
            </a:solidFill>
            <a:prstDash val="solid"/>
          </a:ln>
        </p:spPr>
        <p:txBody>
          <a:bodyPr/>
          <a:lstStyle/>
          <a:p>
            <a:endParaRPr lang="en-US"/>
          </a:p>
        </p:txBody>
      </p:sp>
      <p:sp>
        <p:nvSpPr>
          <p:cNvPr id="30" name="Text 28"/>
          <p:cNvSpPr/>
          <p:nvPr/>
        </p:nvSpPr>
        <p:spPr>
          <a:xfrm>
            <a:off x="4782312" y="2459736"/>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Learns organization context continuously</a:t>
            </a:r>
            <a:endParaRPr lang="en-US" sz="1000" dirty="0"/>
          </a:p>
        </p:txBody>
      </p:sp>
      <p:sp>
        <p:nvSpPr>
          <p:cNvPr id="31" name="Shape 29"/>
          <p:cNvSpPr/>
          <p:nvPr/>
        </p:nvSpPr>
        <p:spPr>
          <a:xfrm>
            <a:off x="4617720" y="3026664"/>
            <a:ext cx="4160520" cy="493776"/>
          </a:xfrm>
          <a:prstGeom prst="roundRect">
            <a:avLst>
              <a:gd name="adj" fmla="val 9259"/>
            </a:avLst>
          </a:prstGeom>
          <a:solidFill>
            <a:srgbClr val="FFFFFF"/>
          </a:solidFill>
          <a:ln w="9525">
            <a:solidFill>
              <a:srgbClr val="DDDDEE"/>
            </a:solidFill>
            <a:prstDash val="solid"/>
          </a:ln>
        </p:spPr>
        <p:txBody>
          <a:bodyPr/>
          <a:lstStyle/>
          <a:p>
            <a:endParaRPr lang="en-US"/>
          </a:p>
        </p:txBody>
      </p:sp>
      <p:sp>
        <p:nvSpPr>
          <p:cNvPr id="32" name="Shape 30"/>
          <p:cNvSpPr/>
          <p:nvPr/>
        </p:nvSpPr>
        <p:spPr>
          <a:xfrm>
            <a:off x="4617720" y="3026664"/>
            <a:ext cx="64008" cy="493776"/>
          </a:xfrm>
          <a:prstGeom prst="rect">
            <a:avLst/>
          </a:prstGeom>
          <a:solidFill>
            <a:srgbClr val="0046FF"/>
          </a:solidFill>
          <a:ln w="12700">
            <a:solidFill>
              <a:srgbClr val="333333"/>
            </a:solidFill>
            <a:prstDash val="solid"/>
          </a:ln>
        </p:spPr>
        <p:txBody>
          <a:bodyPr/>
          <a:lstStyle/>
          <a:p>
            <a:endParaRPr lang="en-US"/>
          </a:p>
        </p:txBody>
      </p:sp>
      <p:sp>
        <p:nvSpPr>
          <p:cNvPr id="33" name="Text 31"/>
          <p:cNvSpPr/>
          <p:nvPr/>
        </p:nvSpPr>
        <p:spPr>
          <a:xfrm>
            <a:off x="4782312" y="3026664"/>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Leaves the analyst in control of the workflow</a:t>
            </a:r>
            <a:endParaRPr lang="en-US" sz="1000" dirty="0"/>
          </a:p>
        </p:txBody>
      </p:sp>
      <p:sp>
        <p:nvSpPr>
          <p:cNvPr id="34" name="Shape 32"/>
          <p:cNvSpPr/>
          <p:nvPr/>
        </p:nvSpPr>
        <p:spPr>
          <a:xfrm>
            <a:off x="4617720" y="3593592"/>
            <a:ext cx="4160520" cy="493776"/>
          </a:xfrm>
          <a:prstGeom prst="roundRect">
            <a:avLst>
              <a:gd name="adj" fmla="val 9259"/>
            </a:avLst>
          </a:prstGeom>
          <a:solidFill>
            <a:srgbClr val="EEF3FF"/>
          </a:solidFill>
          <a:ln w="9525">
            <a:solidFill>
              <a:srgbClr val="DDDDEE"/>
            </a:solidFill>
            <a:prstDash val="solid"/>
          </a:ln>
        </p:spPr>
        <p:txBody>
          <a:bodyPr/>
          <a:lstStyle/>
          <a:p>
            <a:endParaRPr lang="en-US"/>
          </a:p>
        </p:txBody>
      </p:sp>
      <p:sp>
        <p:nvSpPr>
          <p:cNvPr id="35" name="Shape 33"/>
          <p:cNvSpPr/>
          <p:nvPr/>
        </p:nvSpPr>
        <p:spPr>
          <a:xfrm>
            <a:off x="4617720" y="3593592"/>
            <a:ext cx="64008" cy="493776"/>
          </a:xfrm>
          <a:prstGeom prst="rect">
            <a:avLst/>
          </a:prstGeom>
          <a:solidFill>
            <a:srgbClr val="0046FF"/>
          </a:solidFill>
          <a:ln w="12700">
            <a:solidFill>
              <a:srgbClr val="333333"/>
            </a:solidFill>
            <a:prstDash val="solid"/>
          </a:ln>
        </p:spPr>
        <p:txBody>
          <a:bodyPr/>
          <a:lstStyle/>
          <a:p>
            <a:endParaRPr lang="en-US"/>
          </a:p>
        </p:txBody>
      </p:sp>
      <p:sp>
        <p:nvSpPr>
          <p:cNvPr id="36" name="Text 34"/>
          <p:cNvSpPr/>
          <p:nvPr/>
        </p:nvSpPr>
        <p:spPr>
          <a:xfrm>
            <a:off x="4782312" y="3593592"/>
            <a:ext cx="3931920" cy="493776"/>
          </a:xfrm>
          <a:prstGeom prst="rect">
            <a:avLst/>
          </a:prstGeom>
          <a:noFill/>
          <a:ln/>
        </p:spPr>
        <p:txBody>
          <a:bodyPr wrap="square" lIns="0" tIns="0" rIns="0" bIns="0" rtlCol="0" anchor="ctr"/>
          <a:lstStyle/>
          <a:p>
            <a:pPr marL="0" indent="0">
              <a:buNone/>
            </a:pPr>
            <a:r>
              <a:rPr lang="en-US" sz="1000" dirty="0">
                <a:solidFill>
                  <a:srgbClr val="0D1B4B"/>
                </a:solidFill>
                <a:latin typeface="Inter" pitchFamily="34" charset="0"/>
                <a:ea typeface="Inter" pitchFamily="34" charset="-122"/>
                <a:cs typeface="Inter" pitchFamily="34" charset="-120"/>
              </a:rPr>
              <a:t>✓  Tunable toward autonomy, glass-box reasoning</a:t>
            </a:r>
            <a:endParaRPr lang="en-US" sz="1000" dirty="0"/>
          </a:p>
        </p:txBody>
      </p:sp>
      <p:sp>
        <p:nvSpPr>
          <p:cNvPr id="37" name="Text 35"/>
          <p:cNvSpPr/>
          <p:nvPr/>
        </p:nvSpPr>
        <p:spPr>
          <a:xfrm>
            <a:off x="365760" y="4572000"/>
            <a:ext cx="8412480" cy="365760"/>
          </a:xfrm>
          <a:prstGeom prst="rect">
            <a:avLst/>
          </a:prstGeom>
          <a:noFill/>
          <a:ln/>
        </p:spPr>
        <p:txBody>
          <a:bodyPr wrap="square" lIns="0" tIns="0" rIns="0" bIns="0" rtlCol="0" anchor="ctr"/>
          <a:lstStyle/>
          <a:p>
            <a:pPr marL="0" indent="0" algn="ctr">
              <a:buNone/>
            </a:pPr>
            <a:r>
              <a:rPr lang="en-US" sz="1100" b="1" i="1" dirty="0">
                <a:solidFill>
                  <a:srgbClr val="0000C8"/>
                </a:solidFill>
                <a:latin typeface="Inter" pitchFamily="34" charset="0"/>
                <a:ea typeface="Inter" pitchFamily="34" charset="-122"/>
                <a:cs typeface="Inter" pitchFamily="34" charset="-120"/>
              </a:rPr>
              <a:t>Wave 2 fixed the analyst experience. AccuKnox adds Wave 3: closing the loop into runtime enforcement.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category, and the credibility gap</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11</a:t>
            </a:r>
            <a:endParaRPr lang="en-US" sz="750" dirty="0"/>
          </a:p>
        </p:txBody>
      </p:sp>
      <p:sp>
        <p:nvSpPr>
          <p:cNvPr id="8" name="Shape 6"/>
          <p:cNvSpPr/>
          <p:nvPr/>
        </p:nvSpPr>
        <p:spPr>
          <a:xfrm>
            <a:off x="365760" y="822960"/>
            <a:ext cx="2761488" cy="2560320"/>
          </a:xfrm>
          <a:prstGeom prst="roundRect">
            <a:avLst>
              <a:gd name="adj" fmla="val 1786"/>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822960"/>
            <a:ext cx="2761488" cy="457200"/>
          </a:xfrm>
          <a:prstGeom prst="rect">
            <a:avLst/>
          </a:prstGeom>
          <a:solidFill>
            <a:srgbClr val="0000C8"/>
          </a:solidFill>
          <a:ln w="12700">
            <a:solidFill>
              <a:srgbClr val="333333"/>
            </a:solidFill>
            <a:prstDash val="solid"/>
          </a:ln>
        </p:spPr>
        <p:txBody>
          <a:bodyPr/>
          <a:lstStyle/>
          <a:p>
            <a:endParaRPr lang="en-US"/>
          </a:p>
        </p:txBody>
      </p:sp>
      <p:sp>
        <p:nvSpPr>
          <p:cNvPr id="10" name="Text 8"/>
          <p:cNvSpPr/>
          <p:nvPr/>
        </p:nvSpPr>
        <p:spPr>
          <a:xfrm>
            <a:off x="475488" y="822960"/>
            <a:ext cx="254203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Space Grotesk" pitchFamily="34" charset="0"/>
                <a:ea typeface="Space Grotesk" pitchFamily="34" charset="-122"/>
                <a:cs typeface="Space Grotesk" pitchFamily="34" charset="-120"/>
              </a:rPr>
              <a:t>INCUMBENTS EXTENDING IN</a:t>
            </a:r>
            <a:endParaRPr lang="en-US" sz="1050" dirty="0"/>
          </a:p>
        </p:txBody>
      </p:sp>
      <p:sp>
        <p:nvSpPr>
          <p:cNvPr id="11" name="Text 9"/>
          <p:cNvSpPr/>
          <p:nvPr/>
        </p:nvSpPr>
        <p:spPr>
          <a:xfrm>
            <a:off x="502920" y="1371600"/>
            <a:ext cx="2487168" cy="502920"/>
          </a:xfrm>
          <a:prstGeom prst="rect">
            <a:avLst/>
          </a:prstGeom>
          <a:noFill/>
          <a:ln/>
        </p:spPr>
        <p:txBody>
          <a:bodyPr wrap="square" lIns="0" tIns="0" rIns="0" bIns="0" rtlCol="0" anchor="t"/>
          <a:lstStyle/>
          <a:p>
            <a:pPr marL="0" indent="0" algn="ctr">
              <a:buNone/>
            </a:pPr>
            <a:r>
              <a:rPr lang="en-US" sz="1100" b="1" dirty="0">
                <a:solidFill>
                  <a:srgbClr val="0000C8"/>
                </a:solidFill>
                <a:latin typeface="Space Grotesk" pitchFamily="34" charset="0"/>
                <a:ea typeface="Space Grotesk" pitchFamily="34" charset="-122"/>
                <a:cs typeface="Space Grotesk" pitchFamily="34" charset="-120"/>
              </a:rPr>
              <a:t>SentinelOne, Datadog, Microsoft</a:t>
            </a:r>
            <a:endParaRPr lang="en-US" sz="1100" dirty="0"/>
          </a:p>
        </p:txBody>
      </p:sp>
      <p:sp>
        <p:nvSpPr>
          <p:cNvPr id="12" name="Text 10"/>
          <p:cNvSpPr/>
          <p:nvPr/>
        </p:nvSpPr>
        <p:spPr>
          <a:xfrm>
            <a:off x="530352" y="1920240"/>
            <a:ext cx="2432304" cy="1371600"/>
          </a:xfrm>
          <a:prstGeom prst="rect">
            <a:avLst/>
          </a:prstGeom>
          <a:noFill/>
          <a:ln/>
        </p:spPr>
        <p:txBody>
          <a:bodyPr wrap="square" lIns="0" tIns="0" rIns="0" bIns="0" rtlCol="0" anchor="t"/>
          <a:lstStyle/>
          <a:p>
            <a:pPr marL="0" indent="0" algn="ctr">
              <a:buNone/>
            </a:pPr>
            <a:r>
              <a:rPr lang="en-US" sz="950" dirty="0">
                <a:solidFill>
                  <a:srgbClr val="0D1B4B"/>
                </a:solidFill>
                <a:latin typeface="Inter" pitchFamily="34" charset="0"/>
                <a:ea typeface="Inter" pitchFamily="34" charset="-122"/>
                <a:cs typeface="Inter" pitchFamily="34" charset="-120"/>
              </a:rPr>
              <a:t>Installed base, data already there. Closed, endpoint-rooted, no kernel enforcement, AI security bolted on.</a:t>
            </a:r>
            <a:endParaRPr lang="en-US" sz="950" dirty="0"/>
          </a:p>
        </p:txBody>
      </p:sp>
      <p:sp>
        <p:nvSpPr>
          <p:cNvPr id="13" name="Shape 11"/>
          <p:cNvSpPr/>
          <p:nvPr/>
        </p:nvSpPr>
        <p:spPr>
          <a:xfrm>
            <a:off x="3273552" y="822960"/>
            <a:ext cx="2761488" cy="2560320"/>
          </a:xfrm>
          <a:prstGeom prst="roundRect">
            <a:avLst>
              <a:gd name="adj" fmla="val 1786"/>
            </a:avLst>
          </a:prstGeom>
          <a:solidFill>
            <a:srgbClr val="F2F4FA"/>
          </a:solidFill>
          <a:ln w="9525">
            <a:solidFill>
              <a:srgbClr val="DDDDEE"/>
            </a:solidFill>
            <a:prstDash val="solid"/>
          </a:ln>
        </p:spPr>
        <p:txBody>
          <a:bodyPr/>
          <a:lstStyle/>
          <a:p>
            <a:endParaRPr lang="en-US"/>
          </a:p>
        </p:txBody>
      </p:sp>
      <p:sp>
        <p:nvSpPr>
          <p:cNvPr id="14" name="Shape 12"/>
          <p:cNvSpPr/>
          <p:nvPr/>
        </p:nvSpPr>
        <p:spPr>
          <a:xfrm>
            <a:off x="3273552" y="822960"/>
            <a:ext cx="2761488" cy="457200"/>
          </a:xfrm>
          <a:prstGeom prst="rect">
            <a:avLst/>
          </a:prstGeom>
          <a:solidFill>
            <a:srgbClr val="6464FF"/>
          </a:solidFill>
          <a:ln w="12700">
            <a:solidFill>
              <a:srgbClr val="333333"/>
            </a:solidFill>
            <a:prstDash val="solid"/>
          </a:ln>
        </p:spPr>
        <p:txBody>
          <a:bodyPr/>
          <a:lstStyle/>
          <a:p>
            <a:endParaRPr lang="en-US"/>
          </a:p>
        </p:txBody>
      </p:sp>
      <p:sp>
        <p:nvSpPr>
          <p:cNvPr id="15" name="Text 13"/>
          <p:cNvSpPr/>
          <p:nvPr/>
        </p:nvSpPr>
        <p:spPr>
          <a:xfrm>
            <a:off x="3383280" y="822960"/>
            <a:ext cx="254203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Space Grotesk" pitchFamily="34" charset="0"/>
                <a:ea typeface="Space Grotesk" pitchFamily="34" charset="-122"/>
                <a:cs typeface="Space Grotesk" pitchFamily="34" charset="-120"/>
              </a:rPr>
              <a:t>AGENTIC DATA PLATFORMS</a:t>
            </a:r>
            <a:endParaRPr lang="en-US" sz="1050" dirty="0"/>
          </a:p>
        </p:txBody>
      </p:sp>
      <p:sp>
        <p:nvSpPr>
          <p:cNvPr id="16" name="Text 14"/>
          <p:cNvSpPr/>
          <p:nvPr/>
        </p:nvSpPr>
        <p:spPr>
          <a:xfrm>
            <a:off x="3410712" y="1371600"/>
            <a:ext cx="2487168" cy="502920"/>
          </a:xfrm>
          <a:prstGeom prst="rect">
            <a:avLst/>
          </a:prstGeom>
          <a:noFill/>
          <a:ln/>
        </p:spPr>
        <p:txBody>
          <a:bodyPr wrap="square" lIns="0" tIns="0" rIns="0" bIns="0" rtlCol="0" anchor="t"/>
          <a:lstStyle/>
          <a:p>
            <a:pPr marL="0" indent="0" algn="ctr">
              <a:buNone/>
            </a:pPr>
            <a:r>
              <a:rPr lang="en-US" sz="1100" b="1" dirty="0">
                <a:solidFill>
                  <a:srgbClr val="6464FF"/>
                </a:solidFill>
                <a:latin typeface="Space Grotesk" pitchFamily="34" charset="0"/>
                <a:ea typeface="Space Grotesk" pitchFamily="34" charset="-122"/>
                <a:cs typeface="Space Grotesk" pitchFamily="34" charset="-120"/>
              </a:rPr>
              <a:t>Exaforce, Mate, 7AI, Artemis</a:t>
            </a:r>
            <a:endParaRPr lang="en-US" sz="1100" dirty="0"/>
          </a:p>
        </p:txBody>
      </p:sp>
      <p:sp>
        <p:nvSpPr>
          <p:cNvPr id="17" name="Text 15"/>
          <p:cNvSpPr/>
          <p:nvPr/>
        </p:nvSpPr>
        <p:spPr>
          <a:xfrm>
            <a:off x="3438144" y="1920240"/>
            <a:ext cx="2432304" cy="1371600"/>
          </a:xfrm>
          <a:prstGeom prst="rect">
            <a:avLst/>
          </a:prstGeom>
          <a:noFill/>
          <a:ln/>
        </p:spPr>
        <p:txBody>
          <a:bodyPr wrap="square" lIns="0" tIns="0" rIns="0" bIns="0" rtlCol="0" anchor="t"/>
          <a:lstStyle/>
          <a:p>
            <a:pPr marL="0" indent="0" algn="ctr">
              <a:buNone/>
            </a:pPr>
            <a:r>
              <a:rPr lang="en-US" sz="950" dirty="0">
                <a:solidFill>
                  <a:srgbClr val="0D1B4B"/>
                </a:solidFill>
                <a:latin typeface="Inter" pitchFamily="34" charset="0"/>
                <a:ea typeface="Inter" pitchFamily="34" charset="-122"/>
                <a:cs typeface="Inter" pitchFamily="34" charset="-120"/>
              </a:rPr>
              <a:t>Modern data layer, polished UX, fast. Log-grounded (hallucination risk), no enforcement, mostly closed.</a:t>
            </a:r>
            <a:endParaRPr lang="en-US" sz="950" dirty="0"/>
          </a:p>
        </p:txBody>
      </p:sp>
      <p:sp>
        <p:nvSpPr>
          <p:cNvPr id="18" name="Shape 16"/>
          <p:cNvSpPr/>
          <p:nvPr/>
        </p:nvSpPr>
        <p:spPr>
          <a:xfrm>
            <a:off x="6181344" y="822960"/>
            <a:ext cx="2761488" cy="2560320"/>
          </a:xfrm>
          <a:prstGeom prst="roundRect">
            <a:avLst>
              <a:gd name="adj" fmla="val 1786"/>
            </a:avLst>
          </a:prstGeom>
          <a:solidFill>
            <a:srgbClr val="F2F4FA"/>
          </a:solidFill>
          <a:ln w="9525">
            <a:solidFill>
              <a:srgbClr val="DDDDEE"/>
            </a:solidFill>
            <a:prstDash val="solid"/>
          </a:ln>
        </p:spPr>
        <p:txBody>
          <a:bodyPr/>
          <a:lstStyle/>
          <a:p>
            <a:endParaRPr lang="en-US"/>
          </a:p>
        </p:txBody>
      </p:sp>
      <p:sp>
        <p:nvSpPr>
          <p:cNvPr id="19" name="Shape 17"/>
          <p:cNvSpPr/>
          <p:nvPr/>
        </p:nvSpPr>
        <p:spPr>
          <a:xfrm>
            <a:off x="6181344" y="822960"/>
            <a:ext cx="2761488" cy="457200"/>
          </a:xfrm>
          <a:prstGeom prst="rect">
            <a:avLst/>
          </a:prstGeom>
          <a:solidFill>
            <a:srgbClr val="0046FF"/>
          </a:solidFill>
          <a:ln w="12700">
            <a:solidFill>
              <a:srgbClr val="333333"/>
            </a:solidFill>
            <a:prstDash val="solid"/>
          </a:ln>
        </p:spPr>
        <p:txBody>
          <a:bodyPr/>
          <a:lstStyle/>
          <a:p>
            <a:endParaRPr lang="en-US"/>
          </a:p>
        </p:txBody>
      </p:sp>
      <p:sp>
        <p:nvSpPr>
          <p:cNvPr id="20" name="Text 18"/>
          <p:cNvSpPr/>
          <p:nvPr/>
        </p:nvSpPr>
        <p:spPr>
          <a:xfrm>
            <a:off x="6291072" y="822960"/>
            <a:ext cx="254203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Space Grotesk" pitchFamily="34" charset="0"/>
                <a:ea typeface="Space Grotesk" pitchFamily="34" charset="-122"/>
                <a:cs typeface="Space Grotesk" pitchFamily="34" charset="-120"/>
              </a:rPr>
              <a:t>AUTONOMOUS ANALYST TOOLS</a:t>
            </a:r>
            <a:endParaRPr lang="en-US" sz="1050" dirty="0"/>
          </a:p>
        </p:txBody>
      </p:sp>
      <p:sp>
        <p:nvSpPr>
          <p:cNvPr id="21" name="Text 19"/>
          <p:cNvSpPr/>
          <p:nvPr/>
        </p:nvSpPr>
        <p:spPr>
          <a:xfrm>
            <a:off x="6318504" y="1371600"/>
            <a:ext cx="2487168" cy="502920"/>
          </a:xfrm>
          <a:prstGeom prst="rect">
            <a:avLst/>
          </a:prstGeom>
          <a:noFill/>
          <a:ln/>
        </p:spPr>
        <p:txBody>
          <a:bodyPr wrap="square" lIns="0" tIns="0" rIns="0" bIns="0" rtlCol="0" anchor="t"/>
          <a:lstStyle/>
          <a:p>
            <a:pPr marL="0" indent="0" algn="ctr">
              <a:buNone/>
            </a:pPr>
            <a:r>
              <a:rPr lang="en-US" sz="1100" b="1" dirty="0">
                <a:solidFill>
                  <a:srgbClr val="0046FF"/>
                </a:solidFill>
                <a:latin typeface="Space Grotesk" pitchFamily="34" charset="0"/>
                <a:ea typeface="Space Grotesk" pitchFamily="34" charset="-122"/>
                <a:cs typeface="Space Grotesk" pitchFamily="34" charset="-120"/>
              </a:rPr>
              <a:t>Dropzone, Prophet, Radiant, Intezer</a:t>
            </a:r>
            <a:endParaRPr lang="en-US" sz="1100" dirty="0"/>
          </a:p>
        </p:txBody>
      </p:sp>
      <p:sp>
        <p:nvSpPr>
          <p:cNvPr id="22" name="Text 20"/>
          <p:cNvSpPr/>
          <p:nvPr/>
        </p:nvSpPr>
        <p:spPr>
          <a:xfrm>
            <a:off x="6345936" y="1920240"/>
            <a:ext cx="2432304" cy="1371600"/>
          </a:xfrm>
          <a:prstGeom prst="rect">
            <a:avLst/>
          </a:prstGeom>
          <a:noFill/>
          <a:ln/>
        </p:spPr>
        <p:txBody>
          <a:bodyPr wrap="square" lIns="0" tIns="0" rIns="0" bIns="0" rtlCol="0" anchor="t"/>
          <a:lstStyle/>
          <a:p>
            <a:pPr marL="0" indent="0" algn="ctr">
              <a:buNone/>
            </a:pPr>
            <a:r>
              <a:rPr lang="en-US" sz="950" dirty="0">
                <a:solidFill>
                  <a:srgbClr val="0D1B4B"/>
                </a:solidFill>
                <a:latin typeface="Inter" pitchFamily="34" charset="0"/>
                <a:ea typeface="Inter" pitchFamily="34" charset="-122"/>
                <a:cs typeface="Inter" pitchFamily="34" charset="-120"/>
              </a:rPr>
              <a:t>Fast time-to-value, clean ROI. Narrow (triage only), depend on the data and tools beneath them.</a:t>
            </a:r>
            <a:endParaRPr lang="en-US" sz="950" dirty="0"/>
          </a:p>
        </p:txBody>
      </p:sp>
      <p:sp>
        <p:nvSpPr>
          <p:cNvPr id="23" name="Shape 21"/>
          <p:cNvSpPr/>
          <p:nvPr/>
        </p:nvSpPr>
        <p:spPr>
          <a:xfrm>
            <a:off x="365760" y="3566160"/>
            <a:ext cx="4160520" cy="1051560"/>
          </a:xfrm>
          <a:prstGeom prst="roundRect">
            <a:avLst>
              <a:gd name="adj" fmla="val 4348"/>
            </a:avLst>
          </a:prstGeom>
          <a:solidFill>
            <a:srgbClr val="EEF3FF"/>
          </a:solidFill>
          <a:ln w="9525">
            <a:solidFill>
              <a:srgbClr val="0046FF"/>
            </a:solidFill>
            <a:prstDash val="solid"/>
          </a:ln>
        </p:spPr>
        <p:txBody>
          <a:bodyPr/>
          <a:lstStyle/>
          <a:p>
            <a:endParaRPr lang="en-US"/>
          </a:p>
        </p:txBody>
      </p:sp>
      <p:sp>
        <p:nvSpPr>
          <p:cNvPr id="24" name="Text 22"/>
          <p:cNvSpPr/>
          <p:nvPr/>
        </p:nvSpPr>
        <p:spPr>
          <a:xfrm>
            <a:off x="502920" y="3703320"/>
            <a:ext cx="3886200" cy="502920"/>
          </a:xfrm>
          <a:prstGeom prst="rect">
            <a:avLst/>
          </a:prstGeom>
          <a:noFill/>
          <a:ln/>
        </p:spPr>
        <p:txBody>
          <a:bodyPr wrap="square" lIns="0" tIns="0" rIns="0" bIns="0" rtlCol="0" anchor="t"/>
          <a:lstStyle/>
          <a:p>
            <a:pPr marL="0" indent="0" algn="ctr">
              <a:buNone/>
            </a:pPr>
            <a:r>
              <a:rPr lang="en-US" sz="2400" b="1" dirty="0">
                <a:solidFill>
                  <a:srgbClr val="0046FF"/>
                </a:solidFill>
                <a:latin typeface="Space Grotesk" pitchFamily="34" charset="0"/>
                <a:ea typeface="Space Grotesk" pitchFamily="34" charset="-122"/>
                <a:cs typeface="Space Grotesk" pitchFamily="34" charset="-120"/>
              </a:rPr>
              <a:t>$1.65B → $13.52B</a:t>
            </a:r>
            <a:endParaRPr lang="en-US" sz="2400" dirty="0"/>
          </a:p>
        </p:txBody>
      </p:sp>
      <p:sp>
        <p:nvSpPr>
          <p:cNvPr id="25" name="Text 23"/>
          <p:cNvSpPr/>
          <p:nvPr/>
        </p:nvSpPr>
        <p:spPr>
          <a:xfrm>
            <a:off x="502920" y="4206240"/>
            <a:ext cx="3886200" cy="365760"/>
          </a:xfrm>
          <a:prstGeom prst="rect">
            <a:avLst/>
          </a:prstGeom>
          <a:noFill/>
          <a:ln/>
        </p:spPr>
        <p:txBody>
          <a:bodyPr wrap="square" lIns="0" tIns="0" rIns="0" bIns="0" rtlCol="0" anchor="t"/>
          <a:lstStyle/>
          <a:p>
            <a:pPr marL="0" indent="0" algn="ctr">
              <a:buNone/>
            </a:pPr>
            <a:r>
              <a:rPr lang="en-US" sz="1000" dirty="0">
                <a:solidFill>
                  <a:srgbClr val="0D1B4B"/>
                </a:solidFill>
                <a:latin typeface="Inter" pitchFamily="34" charset="0"/>
                <a:ea typeface="Inter" pitchFamily="34" charset="-122"/>
                <a:cs typeface="Inter" pitchFamily="34" charset="-120"/>
              </a:rPr>
              <a:t>agentic AI security market by 2032, 42% CAGR. The budget is real.</a:t>
            </a:r>
            <a:endParaRPr lang="en-US" sz="1000" dirty="0"/>
          </a:p>
        </p:txBody>
      </p:sp>
      <p:sp>
        <p:nvSpPr>
          <p:cNvPr id="26" name="Shape 24"/>
          <p:cNvSpPr/>
          <p:nvPr/>
        </p:nvSpPr>
        <p:spPr>
          <a:xfrm>
            <a:off x="4617720" y="3566160"/>
            <a:ext cx="4160520" cy="1051560"/>
          </a:xfrm>
          <a:prstGeom prst="roundRect">
            <a:avLst>
              <a:gd name="adj" fmla="val 4348"/>
            </a:avLst>
          </a:prstGeom>
          <a:solidFill>
            <a:srgbClr val="FFF0F2"/>
          </a:solidFill>
          <a:ln w="9525">
            <a:solidFill>
              <a:srgbClr val="C80019"/>
            </a:solidFill>
            <a:prstDash val="solid"/>
          </a:ln>
        </p:spPr>
        <p:txBody>
          <a:bodyPr/>
          <a:lstStyle/>
          <a:p>
            <a:endParaRPr lang="en-US"/>
          </a:p>
        </p:txBody>
      </p:sp>
      <p:sp>
        <p:nvSpPr>
          <p:cNvPr id="27" name="Text 25"/>
          <p:cNvSpPr/>
          <p:nvPr/>
        </p:nvSpPr>
        <p:spPr>
          <a:xfrm>
            <a:off x="4754880" y="3703320"/>
            <a:ext cx="3886200" cy="502920"/>
          </a:xfrm>
          <a:prstGeom prst="rect">
            <a:avLst/>
          </a:prstGeom>
          <a:noFill/>
          <a:ln/>
        </p:spPr>
        <p:txBody>
          <a:bodyPr wrap="square" lIns="0" tIns="0" rIns="0" bIns="0" rtlCol="0" anchor="t"/>
          <a:lstStyle/>
          <a:p>
            <a:pPr marL="0" indent="0" algn="ctr">
              <a:buNone/>
            </a:pPr>
            <a:r>
              <a:rPr lang="en-US" sz="2400" b="1" dirty="0">
                <a:solidFill>
                  <a:srgbClr val="C80019"/>
                </a:solidFill>
                <a:latin typeface="Space Grotesk" pitchFamily="34" charset="0"/>
                <a:ea typeface="Space Grotesk" pitchFamily="34" charset="-122"/>
                <a:cs typeface="Space Grotesk" pitchFamily="34" charset="-120"/>
              </a:rPr>
              <a:t>40%+ canceled by 2027</a:t>
            </a:r>
            <a:endParaRPr lang="en-US" sz="2400" dirty="0"/>
          </a:p>
        </p:txBody>
      </p:sp>
      <p:sp>
        <p:nvSpPr>
          <p:cNvPr id="28" name="Text 26"/>
          <p:cNvSpPr/>
          <p:nvPr/>
        </p:nvSpPr>
        <p:spPr>
          <a:xfrm>
            <a:off x="4754880" y="4206240"/>
            <a:ext cx="3886200" cy="365760"/>
          </a:xfrm>
          <a:prstGeom prst="rect">
            <a:avLst/>
          </a:prstGeom>
          <a:noFill/>
          <a:ln/>
        </p:spPr>
        <p:txBody>
          <a:bodyPr wrap="square" lIns="0" tIns="0" rIns="0" bIns="0" rtlCol="0" anchor="t"/>
          <a:lstStyle/>
          <a:p>
            <a:pPr marL="0" indent="0" algn="ctr">
              <a:buNone/>
            </a:pPr>
            <a:r>
              <a:rPr lang="en-US" sz="1000" dirty="0">
                <a:solidFill>
                  <a:srgbClr val="0D1B4B"/>
                </a:solidFill>
                <a:latin typeface="Inter" pitchFamily="34" charset="0"/>
                <a:ea typeface="Inter" pitchFamily="34" charset="-122"/>
                <a:cs typeface="Inter" pitchFamily="34" charset="-120"/>
              </a:rPr>
              <a:t>of agentic AI projects (Gartner). Survivors prove a hard outcome.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04</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AccuKnox's Unique Position</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Everyone else starts at the alert or the log. We start at the kernel.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We did not bolt this on. We built up to it.</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13</a:t>
            </a:r>
            <a:endParaRPr lang="en-US" sz="750" dirty="0"/>
          </a:p>
        </p:txBody>
      </p:sp>
      <p:sp>
        <p:nvSpPr>
          <p:cNvPr id="8" name="Shape 6"/>
          <p:cNvSpPr/>
          <p:nvPr/>
        </p:nvSpPr>
        <p:spPr>
          <a:xfrm>
            <a:off x="0" y="457200"/>
            <a:ext cx="3017520" cy="4480560"/>
          </a:xfrm>
          <a:prstGeom prst="rect">
            <a:avLst/>
          </a:prstGeom>
          <a:solidFill>
            <a:srgbClr val="0000C8"/>
          </a:solidFill>
          <a:ln w="12700">
            <a:solidFill>
              <a:srgbClr val="333333"/>
            </a:solidFill>
            <a:prstDash val="solid"/>
          </a:ln>
        </p:spPr>
        <p:txBody>
          <a:bodyPr/>
          <a:lstStyle/>
          <a:p>
            <a:endParaRPr lang="en-US"/>
          </a:p>
        </p:txBody>
      </p:sp>
      <p:sp>
        <p:nvSpPr>
          <p:cNvPr id="9" name="Text 7"/>
          <p:cNvSpPr/>
          <p:nvPr/>
        </p:nvSpPr>
        <p:spPr>
          <a:xfrm>
            <a:off x="292608" y="1051560"/>
            <a:ext cx="2468880" cy="1280160"/>
          </a:xfrm>
          <a:prstGeom prst="rect">
            <a:avLst/>
          </a:prstGeom>
          <a:noFill/>
          <a:ln/>
        </p:spPr>
        <p:txBody>
          <a:bodyPr wrap="square" lIns="0" tIns="0" rIns="0" bIns="0" rtlCol="0" anchor="t"/>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Competitors have only the top box.</a:t>
            </a:r>
            <a:endParaRPr lang="en-US" sz="1900" dirty="0"/>
          </a:p>
        </p:txBody>
      </p:sp>
      <p:sp>
        <p:nvSpPr>
          <p:cNvPr id="10" name="Text 8"/>
          <p:cNvSpPr/>
          <p:nvPr/>
        </p:nvSpPr>
        <p:spPr>
          <a:xfrm>
            <a:off x="292608" y="2468880"/>
            <a:ext cx="2468880" cy="1554480"/>
          </a:xfrm>
          <a:prstGeom prst="rect">
            <a:avLst/>
          </a:prstGeom>
          <a:noFill/>
          <a:ln/>
        </p:spPr>
        <p:txBody>
          <a:bodyPr wrap="square" lIns="0" tIns="0" rIns="0" bIns="0" rtlCol="0" anchor="t"/>
          <a:lstStyle/>
          <a:p>
            <a:pPr marL="0" indent="0">
              <a:buNone/>
            </a:pPr>
            <a:r>
              <a:rPr lang="en-US" sz="1100" dirty="0">
                <a:solidFill>
                  <a:srgbClr val="D6E4F7"/>
                </a:solidFill>
                <a:latin typeface="Inter" pitchFamily="34" charset="0"/>
                <a:ea typeface="Inter" pitchFamily="34" charset="-122"/>
                <a:cs typeface="Inter" pitchFamily="34" charset="-120"/>
              </a:rPr>
              <a:t>We already shipped the three layers underneath, on open source, with 1M+ KubeArmor downloads.</a:t>
            </a:r>
            <a:endParaRPr lang="en-US" sz="1100" dirty="0"/>
          </a:p>
        </p:txBody>
      </p:sp>
      <p:sp>
        <p:nvSpPr>
          <p:cNvPr id="11" name="Shape 9"/>
          <p:cNvSpPr/>
          <p:nvPr/>
        </p:nvSpPr>
        <p:spPr>
          <a:xfrm>
            <a:off x="3291840" y="868680"/>
            <a:ext cx="5486400" cy="822960"/>
          </a:xfrm>
          <a:prstGeom prst="roundRect">
            <a:avLst>
              <a:gd name="adj" fmla="val 5556"/>
            </a:avLst>
          </a:prstGeom>
          <a:solidFill>
            <a:srgbClr val="EEF3FF"/>
          </a:solidFill>
          <a:ln w="9525">
            <a:solidFill>
              <a:srgbClr val="0046FF"/>
            </a:solidFill>
            <a:prstDash val="solid"/>
          </a:ln>
        </p:spPr>
        <p:txBody>
          <a:bodyPr/>
          <a:lstStyle/>
          <a:p>
            <a:endParaRPr lang="en-US"/>
          </a:p>
        </p:txBody>
      </p:sp>
      <p:sp>
        <p:nvSpPr>
          <p:cNvPr id="12" name="Shape 10"/>
          <p:cNvSpPr/>
          <p:nvPr/>
        </p:nvSpPr>
        <p:spPr>
          <a:xfrm>
            <a:off x="3291840" y="868680"/>
            <a:ext cx="118872" cy="822960"/>
          </a:xfrm>
          <a:prstGeom prst="rect">
            <a:avLst/>
          </a:prstGeom>
          <a:solidFill>
            <a:srgbClr val="0046FF"/>
          </a:solidFill>
          <a:ln w="12700">
            <a:solidFill>
              <a:srgbClr val="333333"/>
            </a:solidFill>
            <a:prstDash val="solid"/>
          </a:ln>
        </p:spPr>
        <p:txBody>
          <a:bodyPr/>
          <a:lstStyle/>
          <a:p>
            <a:endParaRPr lang="en-US"/>
          </a:p>
        </p:txBody>
      </p:sp>
      <p:sp>
        <p:nvSpPr>
          <p:cNvPr id="13" name="Text 11"/>
          <p:cNvSpPr/>
          <p:nvPr/>
        </p:nvSpPr>
        <p:spPr>
          <a:xfrm>
            <a:off x="3520440" y="987552"/>
            <a:ext cx="5120640" cy="365760"/>
          </a:xfrm>
          <a:prstGeom prst="rect">
            <a:avLst/>
          </a:prstGeom>
          <a:noFill/>
          <a:ln/>
        </p:spPr>
        <p:txBody>
          <a:bodyPr wrap="square" lIns="0" tIns="0" rIns="0" bIns="0" rtlCol="0" anchor="t"/>
          <a:lstStyle/>
          <a:p>
            <a:pPr marL="0" indent="0">
              <a:buNone/>
            </a:pPr>
            <a:r>
              <a:rPr lang="en-US" sz="1400" b="1" dirty="0">
                <a:solidFill>
                  <a:srgbClr val="0D1B4B"/>
                </a:solidFill>
                <a:latin typeface="Space Grotesk" pitchFamily="34" charset="0"/>
                <a:ea typeface="Space Grotesk" pitchFamily="34" charset="-122"/>
                <a:cs typeface="Space Grotesk" pitchFamily="34" charset="-120"/>
              </a:rPr>
              <a:t>AI-SOC</a:t>
            </a:r>
            <a:endParaRPr lang="en-US" sz="1400" dirty="0"/>
          </a:p>
        </p:txBody>
      </p:sp>
      <p:sp>
        <p:nvSpPr>
          <p:cNvPr id="14" name="Text 12"/>
          <p:cNvSpPr/>
          <p:nvPr/>
        </p:nvSpPr>
        <p:spPr>
          <a:xfrm>
            <a:off x="3520440" y="1344168"/>
            <a:ext cx="5120640" cy="292608"/>
          </a:xfrm>
          <a:prstGeom prst="rect">
            <a:avLst/>
          </a:prstGeom>
          <a:noFill/>
          <a:ln/>
        </p:spPr>
        <p:txBody>
          <a:bodyPr wrap="square" lIns="0" tIns="0" rIns="0" bIns="0" rtlCol="0" anchor="t"/>
          <a:lstStyle/>
          <a:p>
            <a:pPr marL="0" indent="0">
              <a:buNone/>
            </a:pPr>
            <a:r>
              <a:rPr lang="en-US" sz="1000" dirty="0">
                <a:solidFill>
                  <a:srgbClr val="44507A"/>
                </a:solidFill>
                <a:latin typeface="Inter" pitchFamily="34" charset="0"/>
                <a:ea typeface="Inter" pitchFamily="34" charset="-122"/>
                <a:cs typeface="Inter" pitchFamily="34" charset="-120"/>
              </a:rPr>
              <a:t>the new intelligence layer</a:t>
            </a:r>
            <a:endParaRPr lang="en-US" sz="1000" dirty="0"/>
          </a:p>
        </p:txBody>
      </p:sp>
      <p:sp>
        <p:nvSpPr>
          <p:cNvPr id="15" name="Shape 13"/>
          <p:cNvSpPr/>
          <p:nvPr/>
        </p:nvSpPr>
        <p:spPr>
          <a:xfrm>
            <a:off x="5943600" y="777240"/>
            <a:ext cx="0" cy="91440"/>
          </a:xfrm>
          <a:prstGeom prst="line">
            <a:avLst/>
          </a:prstGeom>
          <a:noFill/>
          <a:ln w="19050">
            <a:solidFill>
              <a:srgbClr val="44507A"/>
            </a:solidFill>
            <a:prstDash val="solid"/>
            <a:tailEnd type="triangle"/>
          </a:ln>
        </p:spPr>
        <p:txBody>
          <a:bodyPr/>
          <a:lstStyle/>
          <a:p>
            <a:endParaRPr lang="en-US"/>
          </a:p>
        </p:txBody>
      </p:sp>
      <p:sp>
        <p:nvSpPr>
          <p:cNvPr id="16" name="Shape 14"/>
          <p:cNvSpPr/>
          <p:nvPr/>
        </p:nvSpPr>
        <p:spPr>
          <a:xfrm>
            <a:off x="3291840" y="1819656"/>
            <a:ext cx="5486400" cy="822960"/>
          </a:xfrm>
          <a:prstGeom prst="roundRect">
            <a:avLst>
              <a:gd name="adj" fmla="val 5556"/>
            </a:avLst>
          </a:prstGeom>
          <a:solidFill>
            <a:srgbClr val="F2F4FA"/>
          </a:solidFill>
          <a:ln w="9525">
            <a:solidFill>
              <a:srgbClr val="DDDDEE"/>
            </a:solidFill>
            <a:prstDash val="solid"/>
          </a:ln>
        </p:spPr>
        <p:txBody>
          <a:bodyPr/>
          <a:lstStyle/>
          <a:p>
            <a:endParaRPr lang="en-US"/>
          </a:p>
        </p:txBody>
      </p:sp>
      <p:sp>
        <p:nvSpPr>
          <p:cNvPr id="17" name="Shape 15"/>
          <p:cNvSpPr/>
          <p:nvPr/>
        </p:nvSpPr>
        <p:spPr>
          <a:xfrm>
            <a:off x="3291840" y="1819656"/>
            <a:ext cx="118872" cy="822960"/>
          </a:xfrm>
          <a:prstGeom prst="rect">
            <a:avLst/>
          </a:prstGeom>
          <a:solidFill>
            <a:srgbClr val="6464FF"/>
          </a:solidFill>
          <a:ln w="12700">
            <a:solidFill>
              <a:srgbClr val="333333"/>
            </a:solidFill>
            <a:prstDash val="solid"/>
          </a:ln>
        </p:spPr>
        <p:txBody>
          <a:bodyPr/>
          <a:lstStyle/>
          <a:p>
            <a:endParaRPr lang="en-US"/>
          </a:p>
        </p:txBody>
      </p:sp>
      <p:sp>
        <p:nvSpPr>
          <p:cNvPr id="18" name="Text 16"/>
          <p:cNvSpPr/>
          <p:nvPr/>
        </p:nvSpPr>
        <p:spPr>
          <a:xfrm>
            <a:off x="3520440" y="1938528"/>
            <a:ext cx="5120640" cy="365760"/>
          </a:xfrm>
          <a:prstGeom prst="rect">
            <a:avLst/>
          </a:prstGeom>
          <a:noFill/>
          <a:ln/>
        </p:spPr>
        <p:txBody>
          <a:bodyPr wrap="square" lIns="0" tIns="0" rIns="0" bIns="0" rtlCol="0" anchor="t"/>
          <a:lstStyle/>
          <a:p>
            <a:pPr marL="0" indent="0">
              <a:buNone/>
            </a:pPr>
            <a:r>
              <a:rPr lang="en-US" sz="1400" b="1" dirty="0">
                <a:solidFill>
                  <a:srgbClr val="0D1B4B"/>
                </a:solidFill>
                <a:latin typeface="Space Grotesk" pitchFamily="34" charset="0"/>
                <a:ea typeface="Space Grotesk" pitchFamily="34" charset="-122"/>
                <a:cs typeface="Space Grotesk" pitchFamily="34" charset="-120"/>
              </a:rPr>
              <a:t>Agentic AI infrastructure</a:t>
            </a:r>
            <a:endParaRPr lang="en-US" sz="1400" dirty="0"/>
          </a:p>
        </p:txBody>
      </p:sp>
      <p:sp>
        <p:nvSpPr>
          <p:cNvPr id="19" name="Text 17"/>
          <p:cNvSpPr/>
          <p:nvPr/>
        </p:nvSpPr>
        <p:spPr>
          <a:xfrm>
            <a:off x="3520440" y="2295144"/>
            <a:ext cx="5120640" cy="292608"/>
          </a:xfrm>
          <a:prstGeom prst="rect">
            <a:avLst/>
          </a:prstGeom>
          <a:noFill/>
          <a:ln/>
        </p:spPr>
        <p:txBody>
          <a:bodyPr wrap="square" lIns="0" tIns="0" rIns="0" bIns="0" rtlCol="0" anchor="t"/>
          <a:lstStyle/>
          <a:p>
            <a:pPr marL="0" indent="0">
              <a:buNone/>
            </a:pPr>
            <a:r>
              <a:rPr lang="en-US" sz="1000" dirty="0">
                <a:solidFill>
                  <a:srgbClr val="44507A"/>
                </a:solidFill>
                <a:latin typeface="Inter" pitchFamily="34" charset="0"/>
                <a:ea typeface="Inter" pitchFamily="34" charset="-122"/>
                <a:cs typeface="Inter" pitchFamily="34" charset="-120"/>
              </a:rPr>
              <a:t>ClawArmor, ModelArmor — shipping</a:t>
            </a:r>
            <a:endParaRPr lang="en-US" sz="1000" dirty="0"/>
          </a:p>
        </p:txBody>
      </p:sp>
      <p:sp>
        <p:nvSpPr>
          <p:cNvPr id="20" name="Shape 18"/>
          <p:cNvSpPr/>
          <p:nvPr/>
        </p:nvSpPr>
        <p:spPr>
          <a:xfrm>
            <a:off x="5943600" y="1728216"/>
            <a:ext cx="0" cy="91440"/>
          </a:xfrm>
          <a:prstGeom prst="line">
            <a:avLst/>
          </a:prstGeom>
          <a:noFill/>
          <a:ln w="19050">
            <a:solidFill>
              <a:srgbClr val="44507A"/>
            </a:solidFill>
            <a:prstDash val="solid"/>
            <a:tailEnd type="triangle"/>
          </a:ln>
        </p:spPr>
        <p:txBody>
          <a:bodyPr/>
          <a:lstStyle/>
          <a:p>
            <a:endParaRPr lang="en-US"/>
          </a:p>
        </p:txBody>
      </p:sp>
      <p:sp>
        <p:nvSpPr>
          <p:cNvPr id="21" name="Shape 19"/>
          <p:cNvSpPr/>
          <p:nvPr/>
        </p:nvSpPr>
        <p:spPr>
          <a:xfrm>
            <a:off x="3291840" y="2770632"/>
            <a:ext cx="5486400" cy="822960"/>
          </a:xfrm>
          <a:prstGeom prst="roundRect">
            <a:avLst>
              <a:gd name="adj" fmla="val 5556"/>
            </a:avLst>
          </a:prstGeom>
          <a:solidFill>
            <a:srgbClr val="F2F4FA"/>
          </a:solidFill>
          <a:ln w="9525">
            <a:solidFill>
              <a:srgbClr val="DDDDEE"/>
            </a:solidFill>
            <a:prstDash val="solid"/>
          </a:ln>
        </p:spPr>
        <p:txBody>
          <a:bodyPr/>
          <a:lstStyle/>
          <a:p>
            <a:endParaRPr lang="en-US"/>
          </a:p>
        </p:txBody>
      </p:sp>
      <p:sp>
        <p:nvSpPr>
          <p:cNvPr id="22" name="Shape 20"/>
          <p:cNvSpPr/>
          <p:nvPr/>
        </p:nvSpPr>
        <p:spPr>
          <a:xfrm>
            <a:off x="3291840" y="2770632"/>
            <a:ext cx="118872" cy="822960"/>
          </a:xfrm>
          <a:prstGeom prst="rect">
            <a:avLst/>
          </a:prstGeom>
          <a:solidFill>
            <a:srgbClr val="6464FF"/>
          </a:solidFill>
          <a:ln w="12700">
            <a:solidFill>
              <a:srgbClr val="333333"/>
            </a:solidFill>
            <a:prstDash val="solid"/>
          </a:ln>
        </p:spPr>
        <p:txBody>
          <a:bodyPr/>
          <a:lstStyle/>
          <a:p>
            <a:endParaRPr lang="en-US"/>
          </a:p>
        </p:txBody>
      </p:sp>
      <p:sp>
        <p:nvSpPr>
          <p:cNvPr id="23" name="Text 21"/>
          <p:cNvSpPr/>
          <p:nvPr/>
        </p:nvSpPr>
        <p:spPr>
          <a:xfrm>
            <a:off x="3520440" y="2889504"/>
            <a:ext cx="5120640" cy="365760"/>
          </a:xfrm>
          <a:prstGeom prst="rect">
            <a:avLst/>
          </a:prstGeom>
          <a:noFill/>
          <a:ln/>
        </p:spPr>
        <p:txBody>
          <a:bodyPr wrap="square" lIns="0" tIns="0" rIns="0" bIns="0" rtlCol="0" anchor="t"/>
          <a:lstStyle/>
          <a:p>
            <a:pPr marL="0" indent="0">
              <a:buNone/>
            </a:pPr>
            <a:r>
              <a:rPr lang="en-US" sz="1400" b="1" dirty="0">
                <a:solidFill>
                  <a:srgbClr val="0D1B4B"/>
                </a:solidFill>
                <a:latin typeface="Space Grotesk" pitchFamily="34" charset="0"/>
                <a:ea typeface="Space Grotesk" pitchFamily="34" charset="-122"/>
                <a:cs typeface="Space Grotesk" pitchFamily="34" charset="-120"/>
              </a:rPr>
              <a:t>CNAPP asset + blast radius graph</a:t>
            </a:r>
            <a:endParaRPr lang="en-US" sz="1400" dirty="0"/>
          </a:p>
        </p:txBody>
      </p:sp>
      <p:sp>
        <p:nvSpPr>
          <p:cNvPr id="24" name="Text 22"/>
          <p:cNvSpPr/>
          <p:nvPr/>
        </p:nvSpPr>
        <p:spPr>
          <a:xfrm>
            <a:off x="3520440" y="3246120"/>
            <a:ext cx="5120640" cy="292608"/>
          </a:xfrm>
          <a:prstGeom prst="rect">
            <a:avLst/>
          </a:prstGeom>
          <a:noFill/>
          <a:ln/>
        </p:spPr>
        <p:txBody>
          <a:bodyPr wrap="square" lIns="0" tIns="0" rIns="0" bIns="0" rtlCol="0" anchor="t"/>
          <a:lstStyle/>
          <a:p>
            <a:pPr marL="0" indent="0">
              <a:buNone/>
            </a:pPr>
            <a:r>
              <a:rPr lang="en-US" sz="1000" dirty="0">
                <a:solidFill>
                  <a:srgbClr val="44507A"/>
                </a:solidFill>
                <a:latin typeface="Inter" pitchFamily="34" charset="0"/>
                <a:ea typeface="Inter" pitchFamily="34" charset="-122"/>
                <a:cs typeface="Inter" pitchFamily="34" charset="-120"/>
              </a:rPr>
              <a:t>CSPM, CWPP, KSPM, CIEM — shipping</a:t>
            </a:r>
            <a:endParaRPr lang="en-US" sz="1000" dirty="0"/>
          </a:p>
        </p:txBody>
      </p:sp>
      <p:sp>
        <p:nvSpPr>
          <p:cNvPr id="25" name="Shape 23"/>
          <p:cNvSpPr/>
          <p:nvPr/>
        </p:nvSpPr>
        <p:spPr>
          <a:xfrm>
            <a:off x="5943600" y="2679192"/>
            <a:ext cx="0" cy="91440"/>
          </a:xfrm>
          <a:prstGeom prst="line">
            <a:avLst/>
          </a:prstGeom>
          <a:noFill/>
          <a:ln w="19050">
            <a:solidFill>
              <a:srgbClr val="44507A"/>
            </a:solidFill>
            <a:prstDash val="solid"/>
            <a:tailEnd type="triangle"/>
          </a:ln>
        </p:spPr>
        <p:txBody>
          <a:bodyPr/>
          <a:lstStyle/>
          <a:p>
            <a:endParaRPr lang="en-US"/>
          </a:p>
        </p:txBody>
      </p:sp>
      <p:sp>
        <p:nvSpPr>
          <p:cNvPr id="26" name="Shape 24"/>
          <p:cNvSpPr/>
          <p:nvPr/>
        </p:nvSpPr>
        <p:spPr>
          <a:xfrm>
            <a:off x="3291840" y="3721608"/>
            <a:ext cx="5486400" cy="822960"/>
          </a:xfrm>
          <a:prstGeom prst="roundRect">
            <a:avLst>
              <a:gd name="adj" fmla="val 5556"/>
            </a:avLst>
          </a:prstGeom>
          <a:solidFill>
            <a:srgbClr val="D6E4F7"/>
          </a:solidFill>
          <a:ln w="9525">
            <a:solidFill>
              <a:srgbClr val="DDDDEE"/>
            </a:solidFill>
            <a:prstDash val="solid"/>
          </a:ln>
        </p:spPr>
        <p:txBody>
          <a:bodyPr/>
          <a:lstStyle/>
          <a:p>
            <a:endParaRPr lang="en-US"/>
          </a:p>
        </p:txBody>
      </p:sp>
      <p:sp>
        <p:nvSpPr>
          <p:cNvPr id="27" name="Shape 25"/>
          <p:cNvSpPr/>
          <p:nvPr/>
        </p:nvSpPr>
        <p:spPr>
          <a:xfrm>
            <a:off x="3291840" y="3721608"/>
            <a:ext cx="118872" cy="822960"/>
          </a:xfrm>
          <a:prstGeom prst="rect">
            <a:avLst/>
          </a:prstGeom>
          <a:solidFill>
            <a:srgbClr val="0000C8"/>
          </a:solidFill>
          <a:ln w="12700">
            <a:solidFill>
              <a:srgbClr val="333333"/>
            </a:solidFill>
            <a:prstDash val="solid"/>
          </a:ln>
        </p:spPr>
        <p:txBody>
          <a:bodyPr/>
          <a:lstStyle/>
          <a:p>
            <a:endParaRPr lang="en-US"/>
          </a:p>
        </p:txBody>
      </p:sp>
      <p:sp>
        <p:nvSpPr>
          <p:cNvPr id="28" name="Text 26"/>
          <p:cNvSpPr/>
          <p:nvPr/>
        </p:nvSpPr>
        <p:spPr>
          <a:xfrm>
            <a:off x="3520440" y="3840480"/>
            <a:ext cx="5120640" cy="365760"/>
          </a:xfrm>
          <a:prstGeom prst="rect">
            <a:avLst/>
          </a:prstGeom>
          <a:noFill/>
          <a:ln/>
        </p:spPr>
        <p:txBody>
          <a:bodyPr wrap="square" lIns="0" tIns="0" rIns="0" bIns="0" rtlCol="0" anchor="t"/>
          <a:lstStyle/>
          <a:p>
            <a:pPr marL="0" indent="0">
              <a:buNone/>
            </a:pPr>
            <a:r>
              <a:rPr lang="en-US" sz="1400" b="1" dirty="0">
                <a:solidFill>
                  <a:srgbClr val="0D1B4B"/>
                </a:solidFill>
                <a:latin typeface="Space Grotesk" pitchFamily="34" charset="0"/>
                <a:ea typeface="Space Grotesk" pitchFamily="34" charset="-122"/>
                <a:cs typeface="Space Grotesk" pitchFamily="34" charset="-120"/>
              </a:rPr>
              <a:t>Runtime enforcement, eBPF + KubeArmor</a:t>
            </a:r>
            <a:endParaRPr lang="en-US" sz="1400" dirty="0"/>
          </a:p>
        </p:txBody>
      </p:sp>
      <p:sp>
        <p:nvSpPr>
          <p:cNvPr id="29" name="Text 27"/>
          <p:cNvSpPr/>
          <p:nvPr/>
        </p:nvSpPr>
        <p:spPr>
          <a:xfrm>
            <a:off x="3520440" y="4197096"/>
            <a:ext cx="5120640" cy="292608"/>
          </a:xfrm>
          <a:prstGeom prst="rect">
            <a:avLst/>
          </a:prstGeom>
          <a:noFill/>
          <a:ln/>
        </p:spPr>
        <p:txBody>
          <a:bodyPr wrap="square" lIns="0" tIns="0" rIns="0" bIns="0" rtlCol="0" anchor="t"/>
          <a:lstStyle/>
          <a:p>
            <a:pPr marL="0" indent="0">
              <a:buNone/>
            </a:pPr>
            <a:r>
              <a:rPr lang="en-US" sz="1000" dirty="0">
                <a:solidFill>
                  <a:srgbClr val="44507A"/>
                </a:solidFill>
                <a:latin typeface="Inter" pitchFamily="34" charset="0"/>
                <a:ea typeface="Inter" pitchFamily="34" charset="-122"/>
                <a:cs typeface="Inter" pitchFamily="34" charset="-120"/>
              </a:rPr>
              <a:t>kernel-level, near-zero overhead — shipping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Three claims no competitor can make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14</a:t>
            </a:r>
            <a:endParaRPr lang="en-US" sz="750" dirty="0"/>
          </a:p>
        </p:txBody>
      </p:sp>
      <p:sp>
        <p:nvSpPr>
          <p:cNvPr id="8" name="Shape 6"/>
          <p:cNvSpPr/>
          <p:nvPr/>
        </p:nvSpPr>
        <p:spPr>
          <a:xfrm>
            <a:off x="365760" y="822960"/>
            <a:ext cx="2761488" cy="3657600"/>
          </a:xfrm>
          <a:prstGeom prst="roundRect">
            <a:avLst>
              <a:gd name="adj" fmla="val 1656"/>
            </a:avLst>
          </a:prstGeom>
          <a:solidFill>
            <a:srgbClr val="FFFFFF"/>
          </a:solidFill>
          <a:ln w="9525">
            <a:solidFill>
              <a:srgbClr val="DDDDEE"/>
            </a:solidFill>
            <a:prstDash val="solid"/>
          </a:ln>
        </p:spPr>
        <p:txBody>
          <a:bodyPr/>
          <a:lstStyle/>
          <a:p>
            <a:endParaRPr lang="en-US"/>
          </a:p>
        </p:txBody>
      </p:sp>
      <p:sp>
        <p:nvSpPr>
          <p:cNvPr id="9" name="Shape 7"/>
          <p:cNvSpPr/>
          <p:nvPr/>
        </p:nvSpPr>
        <p:spPr>
          <a:xfrm>
            <a:off x="365760" y="822960"/>
            <a:ext cx="2761488" cy="64008"/>
          </a:xfrm>
          <a:prstGeom prst="rect">
            <a:avLst/>
          </a:prstGeom>
          <a:solidFill>
            <a:srgbClr val="0046FF"/>
          </a:solidFill>
          <a:ln w="12700">
            <a:solidFill>
              <a:srgbClr val="333333"/>
            </a:solidFill>
            <a:prstDash val="solid"/>
          </a:ln>
        </p:spPr>
        <p:txBody>
          <a:bodyPr/>
          <a:lstStyle/>
          <a:p>
            <a:endParaRPr lang="en-US"/>
          </a:p>
        </p:txBody>
      </p:sp>
      <p:sp>
        <p:nvSpPr>
          <p:cNvPr id="10" name="Shape 8"/>
          <p:cNvSpPr/>
          <p:nvPr/>
        </p:nvSpPr>
        <p:spPr>
          <a:xfrm>
            <a:off x="1472184" y="1051560"/>
            <a:ext cx="548640" cy="548640"/>
          </a:xfrm>
          <a:prstGeom prst="ellipse">
            <a:avLst/>
          </a:prstGeom>
          <a:solidFill>
            <a:srgbClr val="0000C8"/>
          </a:solidFill>
          <a:ln w="12700">
            <a:solidFill>
              <a:srgbClr val="333333"/>
            </a:solidFill>
            <a:prstDash val="solid"/>
          </a:ln>
        </p:spPr>
        <p:txBody>
          <a:bodyPr/>
          <a:lstStyle/>
          <a:p>
            <a:endParaRPr lang="en-US"/>
          </a:p>
        </p:txBody>
      </p:sp>
      <p:sp>
        <p:nvSpPr>
          <p:cNvPr id="11" name="Text 9"/>
          <p:cNvSpPr/>
          <p:nvPr/>
        </p:nvSpPr>
        <p:spPr>
          <a:xfrm>
            <a:off x="1472184" y="10515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1</a:t>
            </a:r>
            <a:endParaRPr lang="en-US" sz="2200" dirty="0"/>
          </a:p>
        </p:txBody>
      </p:sp>
      <p:sp>
        <p:nvSpPr>
          <p:cNvPr id="12" name="Text 10"/>
          <p:cNvSpPr/>
          <p:nvPr/>
        </p:nvSpPr>
        <p:spPr>
          <a:xfrm>
            <a:off x="475488" y="1783080"/>
            <a:ext cx="2542032" cy="640080"/>
          </a:xfrm>
          <a:prstGeom prst="rect">
            <a:avLst/>
          </a:prstGeom>
          <a:noFill/>
          <a:ln/>
        </p:spPr>
        <p:txBody>
          <a:bodyPr wrap="square" lIns="0" tIns="0" rIns="0" bIns="0" rtlCol="0" anchor="t"/>
          <a:lstStyle/>
          <a:p>
            <a:pPr marL="0" indent="0" algn="ctr">
              <a:buNone/>
            </a:pPr>
            <a:r>
              <a:rPr lang="en-US" sz="1450" b="1" dirty="0">
                <a:solidFill>
                  <a:srgbClr val="0000C8"/>
                </a:solidFill>
                <a:latin typeface="Space Grotesk" pitchFamily="34" charset="0"/>
                <a:ea typeface="Space Grotesk" pitchFamily="34" charset="-122"/>
                <a:cs typeface="Space Grotesk" pitchFamily="34" charset="-120"/>
              </a:rPr>
              <a:t>We block at the kernel</a:t>
            </a:r>
            <a:endParaRPr lang="en-US" sz="1450" dirty="0"/>
          </a:p>
        </p:txBody>
      </p:sp>
      <p:sp>
        <p:nvSpPr>
          <p:cNvPr id="13" name="Text 11"/>
          <p:cNvSpPr/>
          <p:nvPr/>
        </p:nvSpPr>
        <p:spPr>
          <a:xfrm>
            <a:off x="548640" y="2423160"/>
            <a:ext cx="2395728" cy="1920240"/>
          </a:xfrm>
          <a:prstGeom prst="rect">
            <a:avLst/>
          </a:prstGeom>
          <a:noFill/>
          <a:ln/>
        </p:spPr>
        <p:txBody>
          <a:bodyPr wrap="square" lIns="0" tIns="0" rIns="0" bIns="0" rtlCol="0" anchor="t"/>
          <a:lstStyle/>
          <a:p>
            <a:pPr marL="0" indent="0" algn="ctr">
              <a:buNone/>
            </a:pPr>
            <a:r>
              <a:rPr lang="en-US" sz="980" dirty="0">
                <a:solidFill>
                  <a:srgbClr val="0D1B4B"/>
                </a:solidFill>
                <a:latin typeface="Inter" pitchFamily="34" charset="0"/>
                <a:ea typeface="Inter" pitchFamily="34" charset="-122"/>
                <a:cs typeface="Inter" pitchFamily="34" charset="-120"/>
              </a:rPr>
              <a:t>An investigation that concludes malicious generates an eBPF + KubeArmor policy that denies the syscall before it completes. Process, file, and network rules as versioned YAML. Everyone else fires an API call after the fact.</a:t>
            </a:r>
            <a:endParaRPr lang="en-US" sz="980" dirty="0"/>
          </a:p>
        </p:txBody>
      </p:sp>
      <p:sp>
        <p:nvSpPr>
          <p:cNvPr id="14" name="Shape 12"/>
          <p:cNvSpPr/>
          <p:nvPr/>
        </p:nvSpPr>
        <p:spPr>
          <a:xfrm>
            <a:off x="3273552" y="822960"/>
            <a:ext cx="2761488" cy="3657600"/>
          </a:xfrm>
          <a:prstGeom prst="roundRect">
            <a:avLst>
              <a:gd name="adj" fmla="val 1656"/>
            </a:avLst>
          </a:prstGeom>
          <a:solidFill>
            <a:srgbClr val="FFFFFF"/>
          </a:solidFill>
          <a:ln w="9525">
            <a:solidFill>
              <a:srgbClr val="DDDDEE"/>
            </a:solidFill>
            <a:prstDash val="solid"/>
          </a:ln>
        </p:spPr>
        <p:txBody>
          <a:bodyPr/>
          <a:lstStyle/>
          <a:p>
            <a:endParaRPr lang="en-US"/>
          </a:p>
        </p:txBody>
      </p:sp>
      <p:sp>
        <p:nvSpPr>
          <p:cNvPr id="15" name="Shape 13"/>
          <p:cNvSpPr/>
          <p:nvPr/>
        </p:nvSpPr>
        <p:spPr>
          <a:xfrm>
            <a:off x="3273552" y="822960"/>
            <a:ext cx="2761488" cy="64008"/>
          </a:xfrm>
          <a:prstGeom prst="rect">
            <a:avLst/>
          </a:prstGeom>
          <a:solidFill>
            <a:srgbClr val="0046FF"/>
          </a:solidFill>
          <a:ln w="12700">
            <a:solidFill>
              <a:srgbClr val="333333"/>
            </a:solidFill>
            <a:prstDash val="solid"/>
          </a:ln>
        </p:spPr>
        <p:txBody>
          <a:bodyPr/>
          <a:lstStyle/>
          <a:p>
            <a:endParaRPr lang="en-US"/>
          </a:p>
        </p:txBody>
      </p:sp>
      <p:sp>
        <p:nvSpPr>
          <p:cNvPr id="16" name="Shape 14"/>
          <p:cNvSpPr/>
          <p:nvPr/>
        </p:nvSpPr>
        <p:spPr>
          <a:xfrm>
            <a:off x="4379976" y="1051560"/>
            <a:ext cx="548640" cy="548640"/>
          </a:xfrm>
          <a:prstGeom prst="ellipse">
            <a:avLst/>
          </a:prstGeom>
          <a:solidFill>
            <a:srgbClr val="0000C8"/>
          </a:solidFill>
          <a:ln w="12700">
            <a:solidFill>
              <a:srgbClr val="333333"/>
            </a:solidFill>
            <a:prstDash val="solid"/>
          </a:ln>
        </p:spPr>
        <p:txBody>
          <a:bodyPr/>
          <a:lstStyle/>
          <a:p>
            <a:endParaRPr lang="en-US"/>
          </a:p>
        </p:txBody>
      </p:sp>
      <p:sp>
        <p:nvSpPr>
          <p:cNvPr id="17" name="Text 15"/>
          <p:cNvSpPr/>
          <p:nvPr/>
        </p:nvSpPr>
        <p:spPr>
          <a:xfrm>
            <a:off x="4379976" y="10515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2</a:t>
            </a:r>
            <a:endParaRPr lang="en-US" sz="2200" dirty="0"/>
          </a:p>
        </p:txBody>
      </p:sp>
      <p:sp>
        <p:nvSpPr>
          <p:cNvPr id="18" name="Text 16"/>
          <p:cNvSpPr/>
          <p:nvPr/>
        </p:nvSpPr>
        <p:spPr>
          <a:xfrm>
            <a:off x="3383280" y="1783080"/>
            <a:ext cx="2542032" cy="640080"/>
          </a:xfrm>
          <a:prstGeom prst="rect">
            <a:avLst/>
          </a:prstGeom>
          <a:noFill/>
          <a:ln/>
        </p:spPr>
        <p:txBody>
          <a:bodyPr wrap="square" lIns="0" tIns="0" rIns="0" bIns="0" rtlCol="0" anchor="t"/>
          <a:lstStyle/>
          <a:p>
            <a:pPr marL="0" indent="0" algn="ctr">
              <a:buNone/>
            </a:pPr>
            <a:r>
              <a:rPr lang="en-US" sz="1450" b="1" dirty="0">
                <a:solidFill>
                  <a:srgbClr val="0000C8"/>
                </a:solidFill>
                <a:latin typeface="Space Grotesk" pitchFamily="34" charset="0"/>
                <a:ea typeface="Space Grotesk" pitchFamily="34" charset="-122"/>
                <a:cs typeface="Space Grotesk" pitchFamily="34" charset="-120"/>
              </a:rPr>
              <a:t>We reason over runtime truth</a:t>
            </a:r>
            <a:endParaRPr lang="en-US" sz="1450" dirty="0"/>
          </a:p>
        </p:txBody>
      </p:sp>
      <p:sp>
        <p:nvSpPr>
          <p:cNvPr id="19" name="Text 17"/>
          <p:cNvSpPr/>
          <p:nvPr/>
        </p:nvSpPr>
        <p:spPr>
          <a:xfrm>
            <a:off x="3456432" y="2423160"/>
            <a:ext cx="2395728" cy="1920240"/>
          </a:xfrm>
          <a:prstGeom prst="rect">
            <a:avLst/>
          </a:prstGeom>
          <a:noFill/>
          <a:ln/>
        </p:spPr>
        <p:txBody>
          <a:bodyPr wrap="square" lIns="0" tIns="0" rIns="0" bIns="0" rtlCol="0" anchor="t"/>
          <a:lstStyle/>
          <a:p>
            <a:pPr marL="0" indent="0" algn="ctr">
              <a:buNone/>
            </a:pPr>
            <a:r>
              <a:rPr lang="en-US" sz="980" dirty="0">
                <a:solidFill>
                  <a:srgbClr val="0D1B4B"/>
                </a:solidFill>
                <a:latin typeface="Inter" pitchFamily="34" charset="0"/>
                <a:ea typeface="Inter" pitchFamily="34" charset="-122"/>
                <a:cs typeface="Inter" pitchFamily="34" charset="-120"/>
              </a:rPr>
              <a:t>Kernel telemetry (execve, open, connect, ptrace) plus the CNAPP graph, normalized to a common taxonomy and enriched on ingest. Not a CloudTrail event that arrives late or a log that stops firing silently.</a:t>
            </a:r>
            <a:endParaRPr lang="en-US" sz="980" dirty="0"/>
          </a:p>
        </p:txBody>
      </p:sp>
      <p:sp>
        <p:nvSpPr>
          <p:cNvPr id="20" name="Shape 18"/>
          <p:cNvSpPr/>
          <p:nvPr/>
        </p:nvSpPr>
        <p:spPr>
          <a:xfrm>
            <a:off x="6181344" y="822960"/>
            <a:ext cx="2761488" cy="3657600"/>
          </a:xfrm>
          <a:prstGeom prst="roundRect">
            <a:avLst>
              <a:gd name="adj" fmla="val 1656"/>
            </a:avLst>
          </a:prstGeom>
          <a:solidFill>
            <a:srgbClr val="FFFFFF"/>
          </a:solidFill>
          <a:ln w="9525">
            <a:solidFill>
              <a:srgbClr val="DDDDEE"/>
            </a:solidFill>
            <a:prstDash val="solid"/>
          </a:ln>
        </p:spPr>
        <p:txBody>
          <a:bodyPr/>
          <a:lstStyle/>
          <a:p>
            <a:endParaRPr lang="en-US"/>
          </a:p>
        </p:txBody>
      </p:sp>
      <p:sp>
        <p:nvSpPr>
          <p:cNvPr id="21" name="Shape 19"/>
          <p:cNvSpPr/>
          <p:nvPr/>
        </p:nvSpPr>
        <p:spPr>
          <a:xfrm>
            <a:off x="6181344" y="822960"/>
            <a:ext cx="2761488" cy="64008"/>
          </a:xfrm>
          <a:prstGeom prst="rect">
            <a:avLst/>
          </a:prstGeom>
          <a:solidFill>
            <a:srgbClr val="0046FF"/>
          </a:solidFill>
          <a:ln w="12700">
            <a:solidFill>
              <a:srgbClr val="333333"/>
            </a:solidFill>
            <a:prstDash val="solid"/>
          </a:ln>
        </p:spPr>
        <p:txBody>
          <a:bodyPr/>
          <a:lstStyle/>
          <a:p>
            <a:endParaRPr lang="en-US"/>
          </a:p>
        </p:txBody>
      </p:sp>
      <p:sp>
        <p:nvSpPr>
          <p:cNvPr id="22" name="Shape 20"/>
          <p:cNvSpPr/>
          <p:nvPr/>
        </p:nvSpPr>
        <p:spPr>
          <a:xfrm>
            <a:off x="7287768" y="1051560"/>
            <a:ext cx="548640" cy="548640"/>
          </a:xfrm>
          <a:prstGeom prst="ellipse">
            <a:avLst/>
          </a:prstGeom>
          <a:solidFill>
            <a:srgbClr val="0000C8"/>
          </a:solidFill>
          <a:ln w="12700">
            <a:solidFill>
              <a:srgbClr val="333333"/>
            </a:solidFill>
            <a:prstDash val="solid"/>
          </a:ln>
        </p:spPr>
        <p:txBody>
          <a:bodyPr/>
          <a:lstStyle/>
          <a:p>
            <a:endParaRPr lang="en-US"/>
          </a:p>
        </p:txBody>
      </p:sp>
      <p:sp>
        <p:nvSpPr>
          <p:cNvPr id="23" name="Text 21"/>
          <p:cNvSpPr/>
          <p:nvPr/>
        </p:nvSpPr>
        <p:spPr>
          <a:xfrm>
            <a:off x="7287768" y="10515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3</a:t>
            </a:r>
            <a:endParaRPr lang="en-US" sz="2200" dirty="0"/>
          </a:p>
        </p:txBody>
      </p:sp>
      <p:sp>
        <p:nvSpPr>
          <p:cNvPr id="24" name="Text 22"/>
          <p:cNvSpPr/>
          <p:nvPr/>
        </p:nvSpPr>
        <p:spPr>
          <a:xfrm>
            <a:off x="6291072" y="1783080"/>
            <a:ext cx="2542032" cy="640080"/>
          </a:xfrm>
          <a:prstGeom prst="rect">
            <a:avLst/>
          </a:prstGeom>
          <a:noFill/>
          <a:ln/>
        </p:spPr>
        <p:txBody>
          <a:bodyPr wrap="square" lIns="0" tIns="0" rIns="0" bIns="0" rtlCol="0" anchor="t"/>
          <a:lstStyle/>
          <a:p>
            <a:pPr marL="0" indent="0" algn="ctr">
              <a:buNone/>
            </a:pPr>
            <a:r>
              <a:rPr lang="en-US" sz="1450" b="1" dirty="0">
                <a:solidFill>
                  <a:srgbClr val="0000C8"/>
                </a:solidFill>
                <a:latin typeface="Space Grotesk" pitchFamily="34" charset="0"/>
                <a:ea typeface="Space Grotesk" pitchFamily="34" charset="-122"/>
                <a:cs typeface="Space Grotesk" pitchFamily="34" charset="-120"/>
              </a:rPr>
              <a:t>We secure the AI agents</a:t>
            </a:r>
            <a:endParaRPr lang="en-US" sz="1450" dirty="0"/>
          </a:p>
        </p:txBody>
      </p:sp>
      <p:sp>
        <p:nvSpPr>
          <p:cNvPr id="25" name="Text 23"/>
          <p:cNvSpPr/>
          <p:nvPr/>
        </p:nvSpPr>
        <p:spPr>
          <a:xfrm>
            <a:off x="6364224" y="2423160"/>
            <a:ext cx="2395728" cy="1920240"/>
          </a:xfrm>
          <a:prstGeom prst="rect">
            <a:avLst/>
          </a:prstGeom>
          <a:noFill/>
          <a:ln/>
        </p:spPr>
        <p:txBody>
          <a:bodyPr wrap="square" lIns="0" tIns="0" rIns="0" bIns="0" rtlCol="0" anchor="t"/>
          <a:lstStyle/>
          <a:p>
            <a:pPr marL="0" indent="0" algn="ctr">
              <a:buNone/>
            </a:pPr>
            <a:r>
              <a:rPr lang="en-US" sz="980" dirty="0">
                <a:solidFill>
                  <a:srgbClr val="0D1B4B"/>
                </a:solidFill>
                <a:latin typeface="Inter" pitchFamily="34" charset="0"/>
                <a:ea typeface="Inter" pitchFamily="34" charset="-122"/>
                <a:cs typeface="Inter" pitchFamily="34" charset="-120"/>
              </a:rPr>
              <a:t>KnoxClaw + ModelArmor sandbox the SOC's own agents in-kernel: workspace-only files, process allowlist, egress control. SPIFFE identity, OpenFGA authorization, AI-BOM, red teaming. No one else enforces this.</a:t>
            </a:r>
            <a:endParaRPr lang="en-US" sz="980" dirty="0"/>
          </a:p>
        </p:txBody>
      </p:sp>
      <p:sp>
        <p:nvSpPr>
          <p:cNvPr id="26" name="Text 24"/>
          <p:cNvSpPr/>
          <p:nvPr/>
        </p:nvSpPr>
        <p:spPr>
          <a:xfrm>
            <a:off x="365760" y="4572000"/>
            <a:ext cx="8412480" cy="320040"/>
          </a:xfrm>
          <a:prstGeom prst="rect">
            <a:avLst/>
          </a:prstGeom>
          <a:noFill/>
          <a:ln/>
        </p:spPr>
        <p:txBody>
          <a:bodyPr wrap="square" lIns="0" tIns="0" rIns="0" bIns="0" rtlCol="0" anchor="t"/>
          <a:lstStyle/>
          <a:p>
            <a:pPr marL="0" indent="0" algn="ctr">
              <a:buNone/>
            </a:pPr>
            <a:r>
              <a:rPr lang="en-US" sz="950" i="1" dirty="0">
                <a:solidFill>
                  <a:srgbClr val="44507A"/>
                </a:solidFill>
                <a:latin typeface="Inter" pitchFamily="34" charset="0"/>
                <a:ea typeface="Inter" pitchFamily="34" charset="-122"/>
                <a:cs typeface="Inter" pitchFamily="34" charset="-120"/>
              </a:rPr>
              <a:t>And the core is open source — KubeArmor + ModelArmor, CNCF, auditable. The 80% of teams that distrust black boxes have a reason to trust this.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differentiator, in one table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15</a:t>
            </a:r>
            <a:endParaRPr lang="en-US" sz="750" dirty="0"/>
          </a:p>
        </p:txBody>
      </p:sp>
      <p:sp>
        <p:nvSpPr>
          <p:cNvPr id="8" name="Shape 6"/>
          <p:cNvSpPr/>
          <p:nvPr/>
        </p:nvSpPr>
        <p:spPr>
          <a:xfrm>
            <a:off x="365760" y="777240"/>
            <a:ext cx="2880360" cy="384048"/>
          </a:xfrm>
          <a:prstGeom prst="rect">
            <a:avLst/>
          </a:prstGeom>
          <a:solidFill>
            <a:srgbClr val="0000C8"/>
          </a:solidFill>
          <a:ln w="12700">
            <a:solidFill>
              <a:srgbClr val="333333"/>
            </a:solidFill>
            <a:prstDash val="solid"/>
          </a:ln>
        </p:spPr>
        <p:txBody>
          <a:bodyPr/>
          <a:lstStyle/>
          <a:p>
            <a:endParaRPr lang="en-US"/>
          </a:p>
        </p:txBody>
      </p:sp>
      <p:sp>
        <p:nvSpPr>
          <p:cNvPr id="9" name="Text 7"/>
          <p:cNvSpPr/>
          <p:nvPr/>
        </p:nvSpPr>
        <p:spPr>
          <a:xfrm>
            <a:off x="365760" y="777240"/>
            <a:ext cx="2880360" cy="384048"/>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Capability</a:t>
            </a:r>
            <a:endParaRPr lang="en-US" sz="1000" dirty="0"/>
          </a:p>
        </p:txBody>
      </p:sp>
      <p:sp>
        <p:nvSpPr>
          <p:cNvPr id="10" name="Shape 8"/>
          <p:cNvSpPr/>
          <p:nvPr/>
        </p:nvSpPr>
        <p:spPr>
          <a:xfrm>
            <a:off x="3246120" y="777240"/>
            <a:ext cx="1280160" cy="384048"/>
          </a:xfrm>
          <a:prstGeom prst="rect">
            <a:avLst/>
          </a:prstGeom>
          <a:solidFill>
            <a:srgbClr val="0046FF"/>
          </a:solidFill>
          <a:ln w="12700">
            <a:solidFill>
              <a:srgbClr val="333333"/>
            </a:solidFill>
            <a:prstDash val="solid"/>
          </a:ln>
        </p:spPr>
        <p:txBody>
          <a:bodyPr/>
          <a:lstStyle/>
          <a:p>
            <a:endParaRPr lang="en-US"/>
          </a:p>
        </p:txBody>
      </p:sp>
      <p:sp>
        <p:nvSpPr>
          <p:cNvPr id="11" name="Text 9"/>
          <p:cNvSpPr/>
          <p:nvPr/>
        </p:nvSpPr>
        <p:spPr>
          <a:xfrm>
            <a:off x="3246120" y="777240"/>
            <a:ext cx="128016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AccuKnox</a:t>
            </a:r>
            <a:endParaRPr lang="en-US" sz="900" dirty="0"/>
          </a:p>
        </p:txBody>
      </p:sp>
      <p:sp>
        <p:nvSpPr>
          <p:cNvPr id="12" name="Shape 10"/>
          <p:cNvSpPr/>
          <p:nvPr/>
        </p:nvSpPr>
        <p:spPr>
          <a:xfrm>
            <a:off x="4526280" y="777240"/>
            <a:ext cx="1097280" cy="384048"/>
          </a:xfrm>
          <a:prstGeom prst="rect">
            <a:avLst/>
          </a:prstGeom>
          <a:solidFill>
            <a:srgbClr val="0000C8"/>
          </a:solidFill>
          <a:ln w="12700">
            <a:solidFill>
              <a:srgbClr val="333333"/>
            </a:solidFill>
            <a:prstDash val="solid"/>
          </a:ln>
        </p:spPr>
        <p:txBody>
          <a:bodyPr/>
          <a:lstStyle/>
          <a:p>
            <a:endParaRPr lang="en-US"/>
          </a:p>
        </p:txBody>
      </p:sp>
      <p:sp>
        <p:nvSpPr>
          <p:cNvPr id="13" name="Text 11"/>
          <p:cNvSpPr/>
          <p:nvPr/>
        </p:nvSpPr>
        <p:spPr>
          <a:xfrm>
            <a:off x="4526280" y="777240"/>
            <a:ext cx="10972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Exaforce</a:t>
            </a:r>
            <a:endParaRPr lang="en-US" sz="900" dirty="0"/>
          </a:p>
        </p:txBody>
      </p:sp>
      <p:sp>
        <p:nvSpPr>
          <p:cNvPr id="14" name="Shape 12"/>
          <p:cNvSpPr/>
          <p:nvPr/>
        </p:nvSpPr>
        <p:spPr>
          <a:xfrm>
            <a:off x="5623560" y="777240"/>
            <a:ext cx="1097280" cy="384048"/>
          </a:xfrm>
          <a:prstGeom prst="rect">
            <a:avLst/>
          </a:prstGeom>
          <a:solidFill>
            <a:srgbClr val="0000C8"/>
          </a:solidFill>
          <a:ln w="12700">
            <a:solidFill>
              <a:srgbClr val="333333"/>
            </a:solidFill>
            <a:prstDash val="solid"/>
          </a:ln>
        </p:spPr>
        <p:txBody>
          <a:bodyPr/>
          <a:lstStyle/>
          <a:p>
            <a:endParaRPr lang="en-US"/>
          </a:p>
        </p:txBody>
      </p:sp>
      <p:sp>
        <p:nvSpPr>
          <p:cNvPr id="15" name="Text 13"/>
          <p:cNvSpPr/>
          <p:nvPr/>
        </p:nvSpPr>
        <p:spPr>
          <a:xfrm>
            <a:off x="5623560" y="777240"/>
            <a:ext cx="10972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S1 Purple</a:t>
            </a:r>
            <a:endParaRPr lang="en-US" sz="900" dirty="0"/>
          </a:p>
        </p:txBody>
      </p:sp>
      <p:sp>
        <p:nvSpPr>
          <p:cNvPr id="16" name="Shape 14"/>
          <p:cNvSpPr/>
          <p:nvPr/>
        </p:nvSpPr>
        <p:spPr>
          <a:xfrm>
            <a:off x="6720840" y="777240"/>
            <a:ext cx="1051560" cy="384048"/>
          </a:xfrm>
          <a:prstGeom prst="rect">
            <a:avLst/>
          </a:prstGeom>
          <a:solidFill>
            <a:srgbClr val="0000C8"/>
          </a:solidFill>
          <a:ln w="12700">
            <a:solidFill>
              <a:srgbClr val="333333"/>
            </a:solidFill>
            <a:prstDash val="solid"/>
          </a:ln>
        </p:spPr>
        <p:txBody>
          <a:bodyPr/>
          <a:lstStyle/>
          <a:p>
            <a:endParaRPr lang="en-US"/>
          </a:p>
        </p:txBody>
      </p:sp>
      <p:sp>
        <p:nvSpPr>
          <p:cNvPr id="17" name="Text 15"/>
          <p:cNvSpPr/>
          <p:nvPr/>
        </p:nvSpPr>
        <p:spPr>
          <a:xfrm>
            <a:off x="6720840" y="777240"/>
            <a:ext cx="105156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Mate</a:t>
            </a:r>
            <a:endParaRPr lang="en-US" sz="900" dirty="0"/>
          </a:p>
        </p:txBody>
      </p:sp>
      <p:sp>
        <p:nvSpPr>
          <p:cNvPr id="18" name="Shape 16"/>
          <p:cNvSpPr/>
          <p:nvPr/>
        </p:nvSpPr>
        <p:spPr>
          <a:xfrm>
            <a:off x="7772400" y="777240"/>
            <a:ext cx="1005840" cy="384048"/>
          </a:xfrm>
          <a:prstGeom prst="rect">
            <a:avLst/>
          </a:prstGeom>
          <a:solidFill>
            <a:srgbClr val="0000C8"/>
          </a:solidFill>
          <a:ln w="12700">
            <a:solidFill>
              <a:srgbClr val="333333"/>
            </a:solidFill>
            <a:prstDash val="solid"/>
          </a:ln>
        </p:spPr>
        <p:txBody>
          <a:bodyPr/>
          <a:lstStyle/>
          <a:p>
            <a:endParaRPr lang="en-US"/>
          </a:p>
        </p:txBody>
      </p:sp>
      <p:sp>
        <p:nvSpPr>
          <p:cNvPr id="19" name="Text 17"/>
          <p:cNvSpPr/>
          <p:nvPr/>
        </p:nvSpPr>
        <p:spPr>
          <a:xfrm>
            <a:off x="7772400" y="777240"/>
            <a:ext cx="100584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Dropzone</a:t>
            </a:r>
            <a:endParaRPr lang="en-US" sz="900" dirty="0"/>
          </a:p>
        </p:txBody>
      </p:sp>
      <p:sp>
        <p:nvSpPr>
          <p:cNvPr id="20" name="Shape 18"/>
          <p:cNvSpPr/>
          <p:nvPr/>
        </p:nvSpPr>
        <p:spPr>
          <a:xfrm>
            <a:off x="365760" y="1161288"/>
            <a:ext cx="2880360" cy="365760"/>
          </a:xfrm>
          <a:prstGeom prst="rect">
            <a:avLst/>
          </a:prstGeom>
          <a:solidFill>
            <a:srgbClr val="F2F4FA"/>
          </a:solidFill>
          <a:ln w="12700">
            <a:solidFill>
              <a:srgbClr val="333333"/>
            </a:solidFill>
            <a:prstDash val="solid"/>
          </a:ln>
        </p:spPr>
        <p:txBody>
          <a:bodyPr/>
          <a:lstStyle/>
          <a:p>
            <a:endParaRPr lang="en-US"/>
          </a:p>
        </p:txBody>
      </p:sp>
      <p:sp>
        <p:nvSpPr>
          <p:cNvPr id="21" name="Shape 19"/>
          <p:cNvSpPr/>
          <p:nvPr/>
        </p:nvSpPr>
        <p:spPr>
          <a:xfrm>
            <a:off x="365760" y="1161288"/>
            <a:ext cx="2880360" cy="365760"/>
          </a:xfrm>
          <a:prstGeom prst="rect">
            <a:avLst/>
          </a:prstGeom>
          <a:noFill/>
          <a:ln w="6350">
            <a:solidFill>
              <a:srgbClr val="DDDDEE"/>
            </a:solidFill>
            <a:prstDash val="solid"/>
          </a:ln>
        </p:spPr>
        <p:txBody>
          <a:bodyPr/>
          <a:lstStyle/>
          <a:p>
            <a:endParaRPr lang="en-US"/>
          </a:p>
        </p:txBody>
      </p:sp>
      <p:sp>
        <p:nvSpPr>
          <p:cNvPr id="22" name="Text 20"/>
          <p:cNvSpPr/>
          <p:nvPr/>
        </p:nvSpPr>
        <p:spPr>
          <a:xfrm>
            <a:off x="457200" y="1161288"/>
            <a:ext cx="2743200" cy="365760"/>
          </a:xfrm>
          <a:prstGeom prst="rect">
            <a:avLst/>
          </a:prstGeom>
          <a:noFill/>
          <a:ln/>
        </p:spPr>
        <p:txBody>
          <a:bodyPr wrap="square" lIns="0" tIns="0" rIns="0" bIns="0" rtlCol="0" anchor="ctr"/>
          <a:lstStyle/>
          <a:p>
            <a:pPr marL="0" indent="0">
              <a:buNone/>
            </a:pPr>
            <a:r>
              <a:rPr lang="en-US" sz="930" dirty="0">
                <a:solidFill>
                  <a:srgbClr val="0D1B4B"/>
                </a:solidFill>
                <a:latin typeface="Inter" pitchFamily="34" charset="0"/>
                <a:ea typeface="Inter" pitchFamily="34" charset="-122"/>
                <a:cs typeface="Inter" pitchFamily="34" charset="-120"/>
              </a:rPr>
              <a:t>Detect / triage / investigate</a:t>
            </a:r>
            <a:endParaRPr lang="en-US" sz="930" dirty="0"/>
          </a:p>
        </p:txBody>
      </p:sp>
      <p:sp>
        <p:nvSpPr>
          <p:cNvPr id="23" name="Shape 21"/>
          <p:cNvSpPr/>
          <p:nvPr/>
        </p:nvSpPr>
        <p:spPr>
          <a:xfrm>
            <a:off x="3246120" y="1161288"/>
            <a:ext cx="1280160" cy="365760"/>
          </a:xfrm>
          <a:prstGeom prst="rect">
            <a:avLst/>
          </a:prstGeom>
          <a:solidFill>
            <a:srgbClr val="EEF3FF"/>
          </a:solidFill>
          <a:ln w="6350">
            <a:solidFill>
              <a:srgbClr val="DDDDEE"/>
            </a:solidFill>
            <a:prstDash val="solid"/>
          </a:ln>
        </p:spPr>
        <p:txBody>
          <a:bodyPr/>
          <a:lstStyle/>
          <a:p>
            <a:endParaRPr lang="en-US"/>
          </a:p>
        </p:txBody>
      </p:sp>
      <p:sp>
        <p:nvSpPr>
          <p:cNvPr id="24" name="Text 22"/>
          <p:cNvSpPr/>
          <p:nvPr/>
        </p:nvSpPr>
        <p:spPr>
          <a:xfrm>
            <a:off x="3246120" y="116128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25" name="Shape 23"/>
          <p:cNvSpPr/>
          <p:nvPr/>
        </p:nvSpPr>
        <p:spPr>
          <a:xfrm>
            <a:off x="4526280" y="1161288"/>
            <a:ext cx="1097280" cy="365760"/>
          </a:xfrm>
          <a:prstGeom prst="rect">
            <a:avLst/>
          </a:prstGeom>
          <a:solidFill>
            <a:srgbClr val="F2F4FA"/>
          </a:solidFill>
          <a:ln w="6350">
            <a:solidFill>
              <a:srgbClr val="DDDDEE"/>
            </a:solidFill>
            <a:prstDash val="solid"/>
          </a:ln>
        </p:spPr>
        <p:txBody>
          <a:bodyPr/>
          <a:lstStyle/>
          <a:p>
            <a:endParaRPr lang="en-US"/>
          </a:p>
        </p:txBody>
      </p:sp>
      <p:sp>
        <p:nvSpPr>
          <p:cNvPr id="26" name="Text 24"/>
          <p:cNvSpPr/>
          <p:nvPr/>
        </p:nvSpPr>
        <p:spPr>
          <a:xfrm>
            <a:off x="4526280" y="116128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27" name="Shape 25"/>
          <p:cNvSpPr/>
          <p:nvPr/>
        </p:nvSpPr>
        <p:spPr>
          <a:xfrm>
            <a:off x="5623560" y="1161288"/>
            <a:ext cx="1097280" cy="365760"/>
          </a:xfrm>
          <a:prstGeom prst="rect">
            <a:avLst/>
          </a:prstGeom>
          <a:solidFill>
            <a:srgbClr val="F2F4FA"/>
          </a:solidFill>
          <a:ln w="6350">
            <a:solidFill>
              <a:srgbClr val="DDDDEE"/>
            </a:solidFill>
            <a:prstDash val="solid"/>
          </a:ln>
        </p:spPr>
        <p:txBody>
          <a:bodyPr/>
          <a:lstStyle/>
          <a:p>
            <a:endParaRPr lang="en-US"/>
          </a:p>
        </p:txBody>
      </p:sp>
      <p:sp>
        <p:nvSpPr>
          <p:cNvPr id="28" name="Text 26"/>
          <p:cNvSpPr/>
          <p:nvPr/>
        </p:nvSpPr>
        <p:spPr>
          <a:xfrm>
            <a:off x="5623560" y="116128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29" name="Shape 27"/>
          <p:cNvSpPr/>
          <p:nvPr/>
        </p:nvSpPr>
        <p:spPr>
          <a:xfrm>
            <a:off x="6720840" y="1161288"/>
            <a:ext cx="1051560" cy="365760"/>
          </a:xfrm>
          <a:prstGeom prst="rect">
            <a:avLst/>
          </a:prstGeom>
          <a:solidFill>
            <a:srgbClr val="F2F4FA"/>
          </a:solidFill>
          <a:ln w="6350">
            <a:solidFill>
              <a:srgbClr val="DDDDEE"/>
            </a:solidFill>
            <a:prstDash val="solid"/>
          </a:ln>
        </p:spPr>
        <p:txBody>
          <a:bodyPr/>
          <a:lstStyle/>
          <a:p>
            <a:endParaRPr lang="en-US"/>
          </a:p>
        </p:txBody>
      </p:sp>
      <p:sp>
        <p:nvSpPr>
          <p:cNvPr id="30" name="Text 28"/>
          <p:cNvSpPr/>
          <p:nvPr/>
        </p:nvSpPr>
        <p:spPr>
          <a:xfrm>
            <a:off x="6720840" y="1161288"/>
            <a:ext cx="105156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31" name="Shape 29"/>
          <p:cNvSpPr/>
          <p:nvPr/>
        </p:nvSpPr>
        <p:spPr>
          <a:xfrm>
            <a:off x="7772400" y="1161288"/>
            <a:ext cx="1005840" cy="365760"/>
          </a:xfrm>
          <a:prstGeom prst="rect">
            <a:avLst/>
          </a:prstGeom>
          <a:solidFill>
            <a:srgbClr val="F2F4FA"/>
          </a:solidFill>
          <a:ln w="6350">
            <a:solidFill>
              <a:srgbClr val="DDDDEE"/>
            </a:solidFill>
            <a:prstDash val="solid"/>
          </a:ln>
        </p:spPr>
        <p:txBody>
          <a:bodyPr/>
          <a:lstStyle/>
          <a:p>
            <a:endParaRPr lang="en-US"/>
          </a:p>
        </p:txBody>
      </p:sp>
      <p:sp>
        <p:nvSpPr>
          <p:cNvPr id="32" name="Text 30"/>
          <p:cNvSpPr/>
          <p:nvPr/>
        </p:nvSpPr>
        <p:spPr>
          <a:xfrm>
            <a:off x="7772400" y="1161288"/>
            <a:ext cx="100584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33" name="Shape 31"/>
          <p:cNvSpPr/>
          <p:nvPr/>
        </p:nvSpPr>
        <p:spPr>
          <a:xfrm>
            <a:off x="365760" y="1527048"/>
            <a:ext cx="2880360" cy="365760"/>
          </a:xfrm>
          <a:prstGeom prst="rect">
            <a:avLst/>
          </a:prstGeom>
          <a:solidFill>
            <a:srgbClr val="FFFFFF"/>
          </a:solidFill>
          <a:ln w="12700">
            <a:solidFill>
              <a:srgbClr val="333333"/>
            </a:solidFill>
            <a:prstDash val="solid"/>
          </a:ln>
        </p:spPr>
        <p:txBody>
          <a:bodyPr/>
          <a:lstStyle/>
          <a:p>
            <a:endParaRPr lang="en-US"/>
          </a:p>
        </p:txBody>
      </p:sp>
      <p:sp>
        <p:nvSpPr>
          <p:cNvPr id="34" name="Shape 32"/>
          <p:cNvSpPr/>
          <p:nvPr/>
        </p:nvSpPr>
        <p:spPr>
          <a:xfrm>
            <a:off x="365760" y="1527048"/>
            <a:ext cx="2880360" cy="365760"/>
          </a:xfrm>
          <a:prstGeom prst="rect">
            <a:avLst/>
          </a:prstGeom>
          <a:noFill/>
          <a:ln w="6350">
            <a:solidFill>
              <a:srgbClr val="DDDDEE"/>
            </a:solidFill>
            <a:prstDash val="solid"/>
          </a:ln>
        </p:spPr>
        <p:txBody>
          <a:bodyPr/>
          <a:lstStyle/>
          <a:p>
            <a:endParaRPr lang="en-US"/>
          </a:p>
        </p:txBody>
      </p:sp>
      <p:sp>
        <p:nvSpPr>
          <p:cNvPr id="35" name="Text 33"/>
          <p:cNvSpPr/>
          <p:nvPr/>
        </p:nvSpPr>
        <p:spPr>
          <a:xfrm>
            <a:off x="457200" y="1527048"/>
            <a:ext cx="2743200" cy="365760"/>
          </a:xfrm>
          <a:prstGeom prst="rect">
            <a:avLst/>
          </a:prstGeom>
          <a:noFill/>
          <a:ln/>
        </p:spPr>
        <p:txBody>
          <a:bodyPr wrap="square" lIns="0" tIns="0" rIns="0" bIns="0" rtlCol="0" anchor="ctr"/>
          <a:lstStyle/>
          <a:p>
            <a:pPr marL="0" indent="0">
              <a:buNone/>
            </a:pPr>
            <a:r>
              <a:rPr lang="en-US" sz="930" dirty="0">
                <a:solidFill>
                  <a:srgbClr val="0D1B4B"/>
                </a:solidFill>
                <a:latin typeface="Inter" pitchFamily="34" charset="0"/>
                <a:ea typeface="Inter" pitchFamily="34" charset="-122"/>
                <a:cs typeface="Inter" pitchFamily="34" charset="-120"/>
              </a:rPr>
              <a:t>Respond via integration</a:t>
            </a:r>
            <a:endParaRPr lang="en-US" sz="930" dirty="0"/>
          </a:p>
        </p:txBody>
      </p:sp>
      <p:sp>
        <p:nvSpPr>
          <p:cNvPr id="36" name="Shape 34"/>
          <p:cNvSpPr/>
          <p:nvPr/>
        </p:nvSpPr>
        <p:spPr>
          <a:xfrm>
            <a:off x="3246120" y="1527048"/>
            <a:ext cx="1280160" cy="365760"/>
          </a:xfrm>
          <a:prstGeom prst="rect">
            <a:avLst/>
          </a:prstGeom>
          <a:solidFill>
            <a:srgbClr val="EEF3FF"/>
          </a:solidFill>
          <a:ln w="6350">
            <a:solidFill>
              <a:srgbClr val="DDDDEE"/>
            </a:solidFill>
            <a:prstDash val="solid"/>
          </a:ln>
        </p:spPr>
        <p:txBody>
          <a:bodyPr/>
          <a:lstStyle/>
          <a:p>
            <a:endParaRPr lang="en-US"/>
          </a:p>
        </p:txBody>
      </p:sp>
      <p:sp>
        <p:nvSpPr>
          <p:cNvPr id="37" name="Text 35"/>
          <p:cNvSpPr/>
          <p:nvPr/>
        </p:nvSpPr>
        <p:spPr>
          <a:xfrm>
            <a:off x="3246120" y="152704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38" name="Shape 36"/>
          <p:cNvSpPr/>
          <p:nvPr/>
        </p:nvSpPr>
        <p:spPr>
          <a:xfrm>
            <a:off x="4526280" y="1527048"/>
            <a:ext cx="1097280" cy="365760"/>
          </a:xfrm>
          <a:prstGeom prst="rect">
            <a:avLst/>
          </a:prstGeom>
          <a:solidFill>
            <a:srgbClr val="FFFFFF"/>
          </a:solidFill>
          <a:ln w="6350">
            <a:solidFill>
              <a:srgbClr val="DDDDEE"/>
            </a:solidFill>
            <a:prstDash val="solid"/>
          </a:ln>
        </p:spPr>
        <p:txBody>
          <a:bodyPr/>
          <a:lstStyle/>
          <a:p>
            <a:endParaRPr lang="en-US"/>
          </a:p>
        </p:txBody>
      </p:sp>
      <p:sp>
        <p:nvSpPr>
          <p:cNvPr id="39" name="Text 37"/>
          <p:cNvSpPr/>
          <p:nvPr/>
        </p:nvSpPr>
        <p:spPr>
          <a:xfrm>
            <a:off x="4526280" y="152704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40" name="Shape 38"/>
          <p:cNvSpPr/>
          <p:nvPr/>
        </p:nvSpPr>
        <p:spPr>
          <a:xfrm>
            <a:off x="5623560" y="1527048"/>
            <a:ext cx="1097280" cy="365760"/>
          </a:xfrm>
          <a:prstGeom prst="rect">
            <a:avLst/>
          </a:prstGeom>
          <a:solidFill>
            <a:srgbClr val="FFFFFF"/>
          </a:solidFill>
          <a:ln w="6350">
            <a:solidFill>
              <a:srgbClr val="DDDDEE"/>
            </a:solidFill>
            <a:prstDash val="solid"/>
          </a:ln>
        </p:spPr>
        <p:txBody>
          <a:bodyPr/>
          <a:lstStyle/>
          <a:p>
            <a:endParaRPr lang="en-US"/>
          </a:p>
        </p:txBody>
      </p:sp>
      <p:sp>
        <p:nvSpPr>
          <p:cNvPr id="41" name="Text 39"/>
          <p:cNvSpPr/>
          <p:nvPr/>
        </p:nvSpPr>
        <p:spPr>
          <a:xfrm>
            <a:off x="5623560" y="152704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42" name="Shape 40"/>
          <p:cNvSpPr/>
          <p:nvPr/>
        </p:nvSpPr>
        <p:spPr>
          <a:xfrm>
            <a:off x="6720840" y="1527048"/>
            <a:ext cx="1051560" cy="365760"/>
          </a:xfrm>
          <a:prstGeom prst="rect">
            <a:avLst/>
          </a:prstGeom>
          <a:solidFill>
            <a:srgbClr val="FFFFFF"/>
          </a:solidFill>
          <a:ln w="6350">
            <a:solidFill>
              <a:srgbClr val="DDDDEE"/>
            </a:solidFill>
            <a:prstDash val="solid"/>
          </a:ln>
        </p:spPr>
        <p:txBody>
          <a:bodyPr/>
          <a:lstStyle/>
          <a:p>
            <a:endParaRPr lang="en-US"/>
          </a:p>
        </p:txBody>
      </p:sp>
      <p:sp>
        <p:nvSpPr>
          <p:cNvPr id="43" name="Text 41"/>
          <p:cNvSpPr/>
          <p:nvPr/>
        </p:nvSpPr>
        <p:spPr>
          <a:xfrm>
            <a:off x="6720840" y="1527048"/>
            <a:ext cx="105156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44" name="Shape 42"/>
          <p:cNvSpPr/>
          <p:nvPr/>
        </p:nvSpPr>
        <p:spPr>
          <a:xfrm>
            <a:off x="7772400" y="1527048"/>
            <a:ext cx="1005840" cy="365760"/>
          </a:xfrm>
          <a:prstGeom prst="rect">
            <a:avLst/>
          </a:prstGeom>
          <a:solidFill>
            <a:srgbClr val="FFFFFF"/>
          </a:solidFill>
          <a:ln w="6350">
            <a:solidFill>
              <a:srgbClr val="DDDDEE"/>
            </a:solidFill>
            <a:prstDash val="solid"/>
          </a:ln>
        </p:spPr>
        <p:txBody>
          <a:bodyPr/>
          <a:lstStyle/>
          <a:p>
            <a:endParaRPr lang="en-US"/>
          </a:p>
        </p:txBody>
      </p:sp>
      <p:sp>
        <p:nvSpPr>
          <p:cNvPr id="45" name="Text 43"/>
          <p:cNvSpPr/>
          <p:nvPr/>
        </p:nvSpPr>
        <p:spPr>
          <a:xfrm>
            <a:off x="7772400" y="1527048"/>
            <a:ext cx="100584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46" name="Shape 44"/>
          <p:cNvSpPr/>
          <p:nvPr/>
        </p:nvSpPr>
        <p:spPr>
          <a:xfrm>
            <a:off x="365760" y="1892808"/>
            <a:ext cx="2880360" cy="365760"/>
          </a:xfrm>
          <a:prstGeom prst="rect">
            <a:avLst/>
          </a:prstGeom>
          <a:solidFill>
            <a:srgbClr val="F2F4FA"/>
          </a:solidFill>
          <a:ln w="12700">
            <a:solidFill>
              <a:srgbClr val="333333"/>
            </a:solidFill>
            <a:prstDash val="solid"/>
          </a:ln>
        </p:spPr>
        <p:txBody>
          <a:bodyPr/>
          <a:lstStyle/>
          <a:p>
            <a:endParaRPr lang="en-US"/>
          </a:p>
        </p:txBody>
      </p:sp>
      <p:sp>
        <p:nvSpPr>
          <p:cNvPr id="47" name="Shape 45"/>
          <p:cNvSpPr/>
          <p:nvPr/>
        </p:nvSpPr>
        <p:spPr>
          <a:xfrm>
            <a:off x="365760" y="1892808"/>
            <a:ext cx="2880360" cy="365760"/>
          </a:xfrm>
          <a:prstGeom prst="rect">
            <a:avLst/>
          </a:prstGeom>
          <a:noFill/>
          <a:ln w="6350">
            <a:solidFill>
              <a:srgbClr val="DDDDEE"/>
            </a:solidFill>
            <a:prstDash val="solid"/>
          </a:ln>
        </p:spPr>
        <p:txBody>
          <a:bodyPr/>
          <a:lstStyle/>
          <a:p>
            <a:endParaRPr lang="en-US"/>
          </a:p>
        </p:txBody>
      </p:sp>
      <p:sp>
        <p:nvSpPr>
          <p:cNvPr id="48" name="Text 46"/>
          <p:cNvSpPr/>
          <p:nvPr/>
        </p:nvSpPr>
        <p:spPr>
          <a:xfrm>
            <a:off x="457200" y="1892808"/>
            <a:ext cx="2743200" cy="365760"/>
          </a:xfrm>
          <a:prstGeom prst="rect">
            <a:avLst/>
          </a:prstGeom>
          <a:noFill/>
          <a:ln/>
        </p:spPr>
        <p:txBody>
          <a:bodyPr wrap="square" lIns="0" tIns="0" rIns="0" bIns="0" rtlCol="0" anchor="ctr"/>
          <a:lstStyle/>
          <a:p>
            <a:pPr marL="0" indent="0">
              <a:buNone/>
            </a:pPr>
            <a:r>
              <a:rPr lang="en-US" sz="930" dirty="0">
                <a:solidFill>
                  <a:srgbClr val="0D1B4B"/>
                </a:solidFill>
                <a:latin typeface="Inter" pitchFamily="34" charset="0"/>
                <a:ea typeface="Inter" pitchFamily="34" charset="-122"/>
                <a:cs typeface="Inter" pitchFamily="34" charset="-120"/>
              </a:rPr>
              <a:t>Natural-language investigation</a:t>
            </a:r>
            <a:endParaRPr lang="en-US" sz="930" dirty="0"/>
          </a:p>
        </p:txBody>
      </p:sp>
      <p:sp>
        <p:nvSpPr>
          <p:cNvPr id="49" name="Shape 47"/>
          <p:cNvSpPr/>
          <p:nvPr/>
        </p:nvSpPr>
        <p:spPr>
          <a:xfrm>
            <a:off x="3246120" y="1892808"/>
            <a:ext cx="1280160" cy="365760"/>
          </a:xfrm>
          <a:prstGeom prst="rect">
            <a:avLst/>
          </a:prstGeom>
          <a:solidFill>
            <a:srgbClr val="EEF3FF"/>
          </a:solidFill>
          <a:ln w="6350">
            <a:solidFill>
              <a:srgbClr val="DDDDEE"/>
            </a:solidFill>
            <a:prstDash val="solid"/>
          </a:ln>
        </p:spPr>
        <p:txBody>
          <a:bodyPr/>
          <a:lstStyle/>
          <a:p>
            <a:endParaRPr lang="en-US"/>
          </a:p>
        </p:txBody>
      </p:sp>
      <p:sp>
        <p:nvSpPr>
          <p:cNvPr id="50" name="Text 48"/>
          <p:cNvSpPr/>
          <p:nvPr/>
        </p:nvSpPr>
        <p:spPr>
          <a:xfrm>
            <a:off x="3246120" y="189280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51" name="Shape 49"/>
          <p:cNvSpPr/>
          <p:nvPr/>
        </p:nvSpPr>
        <p:spPr>
          <a:xfrm>
            <a:off x="4526280" y="1892808"/>
            <a:ext cx="1097280" cy="365760"/>
          </a:xfrm>
          <a:prstGeom prst="rect">
            <a:avLst/>
          </a:prstGeom>
          <a:solidFill>
            <a:srgbClr val="F2F4FA"/>
          </a:solidFill>
          <a:ln w="6350">
            <a:solidFill>
              <a:srgbClr val="DDDDEE"/>
            </a:solidFill>
            <a:prstDash val="solid"/>
          </a:ln>
        </p:spPr>
        <p:txBody>
          <a:bodyPr/>
          <a:lstStyle/>
          <a:p>
            <a:endParaRPr lang="en-US"/>
          </a:p>
        </p:txBody>
      </p:sp>
      <p:sp>
        <p:nvSpPr>
          <p:cNvPr id="52" name="Text 50"/>
          <p:cNvSpPr/>
          <p:nvPr/>
        </p:nvSpPr>
        <p:spPr>
          <a:xfrm>
            <a:off x="4526280" y="189280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53" name="Shape 51"/>
          <p:cNvSpPr/>
          <p:nvPr/>
        </p:nvSpPr>
        <p:spPr>
          <a:xfrm>
            <a:off x="5623560" y="1892808"/>
            <a:ext cx="1097280" cy="365760"/>
          </a:xfrm>
          <a:prstGeom prst="rect">
            <a:avLst/>
          </a:prstGeom>
          <a:solidFill>
            <a:srgbClr val="F2F4FA"/>
          </a:solidFill>
          <a:ln w="6350">
            <a:solidFill>
              <a:srgbClr val="DDDDEE"/>
            </a:solidFill>
            <a:prstDash val="solid"/>
          </a:ln>
        </p:spPr>
        <p:txBody>
          <a:bodyPr/>
          <a:lstStyle/>
          <a:p>
            <a:endParaRPr lang="en-US"/>
          </a:p>
        </p:txBody>
      </p:sp>
      <p:sp>
        <p:nvSpPr>
          <p:cNvPr id="54" name="Text 52"/>
          <p:cNvSpPr/>
          <p:nvPr/>
        </p:nvSpPr>
        <p:spPr>
          <a:xfrm>
            <a:off x="5623560" y="189280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55" name="Shape 53"/>
          <p:cNvSpPr/>
          <p:nvPr/>
        </p:nvSpPr>
        <p:spPr>
          <a:xfrm>
            <a:off x="6720840" y="1892808"/>
            <a:ext cx="1051560" cy="365760"/>
          </a:xfrm>
          <a:prstGeom prst="rect">
            <a:avLst/>
          </a:prstGeom>
          <a:solidFill>
            <a:srgbClr val="F2F4FA"/>
          </a:solidFill>
          <a:ln w="6350">
            <a:solidFill>
              <a:srgbClr val="DDDDEE"/>
            </a:solidFill>
            <a:prstDash val="solid"/>
          </a:ln>
        </p:spPr>
        <p:txBody>
          <a:bodyPr/>
          <a:lstStyle/>
          <a:p>
            <a:endParaRPr lang="en-US"/>
          </a:p>
        </p:txBody>
      </p:sp>
      <p:sp>
        <p:nvSpPr>
          <p:cNvPr id="56" name="Text 54"/>
          <p:cNvSpPr/>
          <p:nvPr/>
        </p:nvSpPr>
        <p:spPr>
          <a:xfrm>
            <a:off x="6720840" y="1892808"/>
            <a:ext cx="105156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57" name="Shape 55"/>
          <p:cNvSpPr/>
          <p:nvPr/>
        </p:nvSpPr>
        <p:spPr>
          <a:xfrm>
            <a:off x="7772400" y="1892808"/>
            <a:ext cx="1005840" cy="365760"/>
          </a:xfrm>
          <a:prstGeom prst="rect">
            <a:avLst/>
          </a:prstGeom>
          <a:solidFill>
            <a:srgbClr val="F2F4FA"/>
          </a:solidFill>
          <a:ln w="6350">
            <a:solidFill>
              <a:srgbClr val="DDDDEE"/>
            </a:solidFill>
            <a:prstDash val="solid"/>
          </a:ln>
        </p:spPr>
        <p:txBody>
          <a:bodyPr/>
          <a:lstStyle/>
          <a:p>
            <a:endParaRPr lang="en-US"/>
          </a:p>
        </p:txBody>
      </p:sp>
      <p:sp>
        <p:nvSpPr>
          <p:cNvPr id="58" name="Text 56"/>
          <p:cNvSpPr/>
          <p:nvPr/>
        </p:nvSpPr>
        <p:spPr>
          <a:xfrm>
            <a:off x="7772400" y="1892808"/>
            <a:ext cx="100584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59" name="Shape 57"/>
          <p:cNvSpPr/>
          <p:nvPr/>
        </p:nvSpPr>
        <p:spPr>
          <a:xfrm>
            <a:off x="365760" y="2258568"/>
            <a:ext cx="2880360" cy="365760"/>
          </a:xfrm>
          <a:prstGeom prst="rect">
            <a:avLst/>
          </a:prstGeom>
          <a:solidFill>
            <a:srgbClr val="FFFFFF"/>
          </a:solidFill>
          <a:ln w="12700">
            <a:solidFill>
              <a:srgbClr val="333333"/>
            </a:solidFill>
            <a:prstDash val="solid"/>
          </a:ln>
        </p:spPr>
        <p:txBody>
          <a:bodyPr/>
          <a:lstStyle/>
          <a:p>
            <a:endParaRPr lang="en-US"/>
          </a:p>
        </p:txBody>
      </p:sp>
      <p:sp>
        <p:nvSpPr>
          <p:cNvPr id="60" name="Shape 58"/>
          <p:cNvSpPr/>
          <p:nvPr/>
        </p:nvSpPr>
        <p:spPr>
          <a:xfrm>
            <a:off x="365760" y="2258568"/>
            <a:ext cx="2880360" cy="365760"/>
          </a:xfrm>
          <a:prstGeom prst="rect">
            <a:avLst/>
          </a:prstGeom>
          <a:noFill/>
          <a:ln w="6350">
            <a:solidFill>
              <a:srgbClr val="DDDDEE"/>
            </a:solidFill>
            <a:prstDash val="solid"/>
          </a:ln>
        </p:spPr>
        <p:txBody>
          <a:bodyPr/>
          <a:lstStyle/>
          <a:p>
            <a:endParaRPr lang="en-US"/>
          </a:p>
        </p:txBody>
      </p:sp>
      <p:sp>
        <p:nvSpPr>
          <p:cNvPr id="61" name="Text 59"/>
          <p:cNvSpPr/>
          <p:nvPr/>
        </p:nvSpPr>
        <p:spPr>
          <a:xfrm>
            <a:off x="457200" y="2258568"/>
            <a:ext cx="2743200" cy="365760"/>
          </a:xfrm>
          <a:prstGeom prst="rect">
            <a:avLst/>
          </a:prstGeom>
          <a:noFill/>
          <a:ln/>
        </p:spPr>
        <p:txBody>
          <a:bodyPr wrap="square" lIns="0" tIns="0" rIns="0" bIns="0" rtlCol="0" anchor="ctr"/>
          <a:lstStyle/>
          <a:p>
            <a:pPr marL="0" indent="0">
              <a:buNone/>
            </a:pPr>
            <a:r>
              <a:rPr lang="en-US" sz="930" dirty="0">
                <a:solidFill>
                  <a:srgbClr val="0D1B4B"/>
                </a:solidFill>
                <a:latin typeface="Inter" pitchFamily="34" charset="0"/>
                <a:ea typeface="Inter" pitchFamily="34" charset="-122"/>
                <a:cs typeface="Inter" pitchFamily="34" charset="-120"/>
              </a:rPr>
              <a:t>Detection-as-code, MITRE-mapped</a:t>
            </a:r>
            <a:endParaRPr lang="en-US" sz="930" dirty="0"/>
          </a:p>
        </p:txBody>
      </p:sp>
      <p:sp>
        <p:nvSpPr>
          <p:cNvPr id="62" name="Shape 60"/>
          <p:cNvSpPr/>
          <p:nvPr/>
        </p:nvSpPr>
        <p:spPr>
          <a:xfrm>
            <a:off x="3246120" y="2258568"/>
            <a:ext cx="1280160" cy="365760"/>
          </a:xfrm>
          <a:prstGeom prst="rect">
            <a:avLst/>
          </a:prstGeom>
          <a:solidFill>
            <a:srgbClr val="EEF3FF"/>
          </a:solidFill>
          <a:ln w="6350">
            <a:solidFill>
              <a:srgbClr val="DDDDEE"/>
            </a:solidFill>
            <a:prstDash val="solid"/>
          </a:ln>
        </p:spPr>
        <p:txBody>
          <a:bodyPr/>
          <a:lstStyle/>
          <a:p>
            <a:endParaRPr lang="en-US"/>
          </a:p>
        </p:txBody>
      </p:sp>
      <p:sp>
        <p:nvSpPr>
          <p:cNvPr id="63" name="Text 61"/>
          <p:cNvSpPr/>
          <p:nvPr/>
        </p:nvSpPr>
        <p:spPr>
          <a:xfrm>
            <a:off x="3246120" y="225856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64" name="Shape 62"/>
          <p:cNvSpPr/>
          <p:nvPr/>
        </p:nvSpPr>
        <p:spPr>
          <a:xfrm>
            <a:off x="4526280" y="2258568"/>
            <a:ext cx="1097280" cy="365760"/>
          </a:xfrm>
          <a:prstGeom prst="rect">
            <a:avLst/>
          </a:prstGeom>
          <a:solidFill>
            <a:srgbClr val="FFFFFF"/>
          </a:solidFill>
          <a:ln w="6350">
            <a:solidFill>
              <a:srgbClr val="DDDDEE"/>
            </a:solidFill>
            <a:prstDash val="solid"/>
          </a:ln>
        </p:spPr>
        <p:txBody>
          <a:bodyPr/>
          <a:lstStyle/>
          <a:p>
            <a:endParaRPr lang="en-US"/>
          </a:p>
        </p:txBody>
      </p:sp>
      <p:sp>
        <p:nvSpPr>
          <p:cNvPr id="65" name="Text 63"/>
          <p:cNvSpPr/>
          <p:nvPr/>
        </p:nvSpPr>
        <p:spPr>
          <a:xfrm>
            <a:off x="4526280" y="225856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66" name="Shape 64"/>
          <p:cNvSpPr/>
          <p:nvPr/>
        </p:nvSpPr>
        <p:spPr>
          <a:xfrm>
            <a:off x="5623560" y="2258568"/>
            <a:ext cx="1097280" cy="365760"/>
          </a:xfrm>
          <a:prstGeom prst="rect">
            <a:avLst/>
          </a:prstGeom>
          <a:solidFill>
            <a:srgbClr val="FFFFFF"/>
          </a:solidFill>
          <a:ln w="6350">
            <a:solidFill>
              <a:srgbClr val="DDDDEE"/>
            </a:solidFill>
            <a:prstDash val="solid"/>
          </a:ln>
        </p:spPr>
        <p:txBody>
          <a:bodyPr/>
          <a:lstStyle/>
          <a:p>
            <a:endParaRPr lang="en-US"/>
          </a:p>
        </p:txBody>
      </p:sp>
      <p:sp>
        <p:nvSpPr>
          <p:cNvPr id="67" name="Text 65"/>
          <p:cNvSpPr/>
          <p:nvPr/>
        </p:nvSpPr>
        <p:spPr>
          <a:xfrm>
            <a:off x="5623560" y="2258568"/>
            <a:ext cx="109728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68" name="Shape 66"/>
          <p:cNvSpPr/>
          <p:nvPr/>
        </p:nvSpPr>
        <p:spPr>
          <a:xfrm>
            <a:off x="6720840" y="2258568"/>
            <a:ext cx="1051560" cy="365760"/>
          </a:xfrm>
          <a:prstGeom prst="rect">
            <a:avLst/>
          </a:prstGeom>
          <a:solidFill>
            <a:srgbClr val="FFFFFF"/>
          </a:solidFill>
          <a:ln w="6350">
            <a:solidFill>
              <a:srgbClr val="DDDDEE"/>
            </a:solidFill>
            <a:prstDash val="solid"/>
          </a:ln>
        </p:spPr>
        <p:txBody>
          <a:bodyPr/>
          <a:lstStyle/>
          <a:p>
            <a:endParaRPr lang="en-US"/>
          </a:p>
        </p:txBody>
      </p:sp>
      <p:sp>
        <p:nvSpPr>
          <p:cNvPr id="69" name="Text 67"/>
          <p:cNvSpPr/>
          <p:nvPr/>
        </p:nvSpPr>
        <p:spPr>
          <a:xfrm>
            <a:off x="6720840" y="2258568"/>
            <a:ext cx="1051560" cy="365760"/>
          </a:xfrm>
          <a:prstGeom prst="rect">
            <a:avLst/>
          </a:prstGeom>
          <a:noFill/>
          <a:ln/>
        </p:spPr>
        <p:txBody>
          <a:bodyPr wrap="square" lIns="0" tIns="0" rIns="0" bIns="0" rtlCol="0" anchor="ctr"/>
          <a:lstStyle/>
          <a:p>
            <a:pPr marL="0" indent="0" algn="ctr">
              <a:buNone/>
            </a:pPr>
            <a:r>
              <a:rPr lang="en-US" sz="1300" b="1" dirty="0">
                <a:solidFill>
                  <a:srgbClr val="44507A"/>
                </a:solidFill>
                <a:latin typeface="Space Grotesk" pitchFamily="34" charset="0"/>
                <a:ea typeface="Space Grotesk" pitchFamily="34" charset="-122"/>
                <a:cs typeface="Space Grotesk" pitchFamily="34" charset="-120"/>
              </a:rPr>
              <a:t>✓</a:t>
            </a:r>
            <a:endParaRPr lang="en-US" sz="1300" dirty="0"/>
          </a:p>
        </p:txBody>
      </p:sp>
      <p:sp>
        <p:nvSpPr>
          <p:cNvPr id="70" name="Shape 68"/>
          <p:cNvSpPr/>
          <p:nvPr/>
        </p:nvSpPr>
        <p:spPr>
          <a:xfrm>
            <a:off x="7772400" y="2258568"/>
            <a:ext cx="1005840" cy="365760"/>
          </a:xfrm>
          <a:prstGeom prst="rect">
            <a:avLst/>
          </a:prstGeom>
          <a:solidFill>
            <a:srgbClr val="FFFFFF"/>
          </a:solidFill>
          <a:ln w="6350">
            <a:solidFill>
              <a:srgbClr val="DDDDEE"/>
            </a:solidFill>
            <a:prstDash val="solid"/>
          </a:ln>
        </p:spPr>
        <p:txBody>
          <a:bodyPr/>
          <a:lstStyle/>
          <a:p>
            <a:endParaRPr lang="en-US"/>
          </a:p>
        </p:txBody>
      </p:sp>
      <p:sp>
        <p:nvSpPr>
          <p:cNvPr id="71" name="Text 69"/>
          <p:cNvSpPr/>
          <p:nvPr/>
        </p:nvSpPr>
        <p:spPr>
          <a:xfrm>
            <a:off x="7772400" y="225856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72" name="Shape 70"/>
          <p:cNvSpPr/>
          <p:nvPr/>
        </p:nvSpPr>
        <p:spPr>
          <a:xfrm>
            <a:off x="365760" y="2624328"/>
            <a:ext cx="2880360" cy="365760"/>
          </a:xfrm>
          <a:prstGeom prst="rect">
            <a:avLst/>
          </a:prstGeom>
          <a:solidFill>
            <a:srgbClr val="EAF0FF"/>
          </a:solidFill>
          <a:ln w="12700">
            <a:solidFill>
              <a:srgbClr val="333333"/>
            </a:solidFill>
            <a:prstDash val="solid"/>
          </a:ln>
        </p:spPr>
        <p:txBody>
          <a:bodyPr/>
          <a:lstStyle/>
          <a:p>
            <a:endParaRPr lang="en-US"/>
          </a:p>
        </p:txBody>
      </p:sp>
      <p:sp>
        <p:nvSpPr>
          <p:cNvPr id="73" name="Shape 71"/>
          <p:cNvSpPr/>
          <p:nvPr/>
        </p:nvSpPr>
        <p:spPr>
          <a:xfrm>
            <a:off x="365760" y="2624328"/>
            <a:ext cx="2880360" cy="365760"/>
          </a:xfrm>
          <a:prstGeom prst="rect">
            <a:avLst/>
          </a:prstGeom>
          <a:noFill/>
          <a:ln w="6350">
            <a:solidFill>
              <a:srgbClr val="DDDDEE"/>
            </a:solidFill>
            <a:prstDash val="solid"/>
          </a:ln>
        </p:spPr>
        <p:txBody>
          <a:bodyPr/>
          <a:lstStyle/>
          <a:p>
            <a:endParaRPr lang="en-US"/>
          </a:p>
        </p:txBody>
      </p:sp>
      <p:sp>
        <p:nvSpPr>
          <p:cNvPr id="74" name="Text 72"/>
          <p:cNvSpPr/>
          <p:nvPr/>
        </p:nvSpPr>
        <p:spPr>
          <a:xfrm>
            <a:off x="457200" y="2624328"/>
            <a:ext cx="2743200" cy="365760"/>
          </a:xfrm>
          <a:prstGeom prst="rect">
            <a:avLst/>
          </a:prstGeom>
          <a:noFill/>
          <a:ln/>
        </p:spPr>
        <p:txBody>
          <a:bodyPr wrap="square" lIns="0" tIns="0" rIns="0" bIns="0" rtlCol="0" anchor="ctr"/>
          <a:lstStyle/>
          <a:p>
            <a:pPr marL="0" indent="0">
              <a:buNone/>
            </a:pPr>
            <a:r>
              <a:rPr lang="en-US" sz="930" b="1" dirty="0">
                <a:solidFill>
                  <a:srgbClr val="0000C8"/>
                </a:solidFill>
                <a:latin typeface="Inter" pitchFamily="34" charset="0"/>
                <a:ea typeface="Inter" pitchFamily="34" charset="-122"/>
                <a:cs typeface="Inter" pitchFamily="34" charset="-120"/>
              </a:rPr>
              <a:t>Runtime kernel ENFORCEMENT</a:t>
            </a:r>
            <a:endParaRPr lang="en-US" sz="930" dirty="0"/>
          </a:p>
        </p:txBody>
      </p:sp>
      <p:sp>
        <p:nvSpPr>
          <p:cNvPr id="75" name="Shape 73"/>
          <p:cNvSpPr/>
          <p:nvPr/>
        </p:nvSpPr>
        <p:spPr>
          <a:xfrm>
            <a:off x="3246120" y="2624328"/>
            <a:ext cx="1280160" cy="365760"/>
          </a:xfrm>
          <a:prstGeom prst="rect">
            <a:avLst/>
          </a:prstGeom>
          <a:solidFill>
            <a:srgbClr val="EEF3FF"/>
          </a:solidFill>
          <a:ln w="6350">
            <a:solidFill>
              <a:srgbClr val="DDDDEE"/>
            </a:solidFill>
            <a:prstDash val="solid"/>
          </a:ln>
        </p:spPr>
        <p:txBody>
          <a:bodyPr/>
          <a:lstStyle/>
          <a:p>
            <a:endParaRPr lang="en-US"/>
          </a:p>
        </p:txBody>
      </p:sp>
      <p:sp>
        <p:nvSpPr>
          <p:cNvPr id="76" name="Text 74"/>
          <p:cNvSpPr/>
          <p:nvPr/>
        </p:nvSpPr>
        <p:spPr>
          <a:xfrm>
            <a:off x="3246120" y="262432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77" name="Shape 75"/>
          <p:cNvSpPr/>
          <p:nvPr/>
        </p:nvSpPr>
        <p:spPr>
          <a:xfrm>
            <a:off x="4526280" y="2624328"/>
            <a:ext cx="1097280" cy="365760"/>
          </a:xfrm>
          <a:prstGeom prst="rect">
            <a:avLst/>
          </a:prstGeom>
          <a:solidFill>
            <a:srgbClr val="F2F4FA"/>
          </a:solidFill>
          <a:ln w="6350">
            <a:solidFill>
              <a:srgbClr val="DDDDEE"/>
            </a:solidFill>
            <a:prstDash val="solid"/>
          </a:ln>
        </p:spPr>
        <p:txBody>
          <a:bodyPr/>
          <a:lstStyle/>
          <a:p>
            <a:endParaRPr lang="en-US"/>
          </a:p>
        </p:txBody>
      </p:sp>
      <p:sp>
        <p:nvSpPr>
          <p:cNvPr id="78" name="Text 76"/>
          <p:cNvSpPr/>
          <p:nvPr/>
        </p:nvSpPr>
        <p:spPr>
          <a:xfrm>
            <a:off x="4526280" y="262432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79" name="Shape 77"/>
          <p:cNvSpPr/>
          <p:nvPr/>
        </p:nvSpPr>
        <p:spPr>
          <a:xfrm>
            <a:off x="5623560" y="2624328"/>
            <a:ext cx="1097280" cy="365760"/>
          </a:xfrm>
          <a:prstGeom prst="rect">
            <a:avLst/>
          </a:prstGeom>
          <a:solidFill>
            <a:srgbClr val="F2F4FA"/>
          </a:solidFill>
          <a:ln w="6350">
            <a:solidFill>
              <a:srgbClr val="DDDDEE"/>
            </a:solidFill>
            <a:prstDash val="solid"/>
          </a:ln>
        </p:spPr>
        <p:txBody>
          <a:bodyPr/>
          <a:lstStyle/>
          <a:p>
            <a:endParaRPr lang="en-US"/>
          </a:p>
        </p:txBody>
      </p:sp>
      <p:sp>
        <p:nvSpPr>
          <p:cNvPr id="80" name="Text 78"/>
          <p:cNvSpPr/>
          <p:nvPr/>
        </p:nvSpPr>
        <p:spPr>
          <a:xfrm>
            <a:off x="5623560" y="262432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81" name="Shape 79"/>
          <p:cNvSpPr/>
          <p:nvPr/>
        </p:nvSpPr>
        <p:spPr>
          <a:xfrm>
            <a:off x="6720840" y="2624328"/>
            <a:ext cx="1051560" cy="365760"/>
          </a:xfrm>
          <a:prstGeom prst="rect">
            <a:avLst/>
          </a:prstGeom>
          <a:solidFill>
            <a:srgbClr val="F2F4FA"/>
          </a:solidFill>
          <a:ln w="6350">
            <a:solidFill>
              <a:srgbClr val="DDDDEE"/>
            </a:solidFill>
            <a:prstDash val="solid"/>
          </a:ln>
        </p:spPr>
        <p:txBody>
          <a:bodyPr/>
          <a:lstStyle/>
          <a:p>
            <a:endParaRPr lang="en-US"/>
          </a:p>
        </p:txBody>
      </p:sp>
      <p:sp>
        <p:nvSpPr>
          <p:cNvPr id="82" name="Text 80"/>
          <p:cNvSpPr/>
          <p:nvPr/>
        </p:nvSpPr>
        <p:spPr>
          <a:xfrm>
            <a:off x="6720840" y="2624328"/>
            <a:ext cx="105156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83" name="Shape 81"/>
          <p:cNvSpPr/>
          <p:nvPr/>
        </p:nvSpPr>
        <p:spPr>
          <a:xfrm>
            <a:off x="7772400" y="2624328"/>
            <a:ext cx="1005840" cy="365760"/>
          </a:xfrm>
          <a:prstGeom prst="rect">
            <a:avLst/>
          </a:prstGeom>
          <a:solidFill>
            <a:srgbClr val="F2F4FA"/>
          </a:solidFill>
          <a:ln w="6350">
            <a:solidFill>
              <a:srgbClr val="DDDDEE"/>
            </a:solidFill>
            <a:prstDash val="solid"/>
          </a:ln>
        </p:spPr>
        <p:txBody>
          <a:bodyPr/>
          <a:lstStyle/>
          <a:p>
            <a:endParaRPr lang="en-US"/>
          </a:p>
        </p:txBody>
      </p:sp>
      <p:sp>
        <p:nvSpPr>
          <p:cNvPr id="84" name="Text 82"/>
          <p:cNvSpPr/>
          <p:nvPr/>
        </p:nvSpPr>
        <p:spPr>
          <a:xfrm>
            <a:off x="7772400" y="262432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85" name="Shape 83"/>
          <p:cNvSpPr/>
          <p:nvPr/>
        </p:nvSpPr>
        <p:spPr>
          <a:xfrm>
            <a:off x="365760" y="2990088"/>
            <a:ext cx="2880360" cy="365760"/>
          </a:xfrm>
          <a:prstGeom prst="rect">
            <a:avLst/>
          </a:prstGeom>
          <a:solidFill>
            <a:srgbClr val="EAF0FF"/>
          </a:solidFill>
          <a:ln w="12700">
            <a:solidFill>
              <a:srgbClr val="333333"/>
            </a:solidFill>
            <a:prstDash val="solid"/>
          </a:ln>
        </p:spPr>
        <p:txBody>
          <a:bodyPr/>
          <a:lstStyle/>
          <a:p>
            <a:endParaRPr lang="en-US"/>
          </a:p>
        </p:txBody>
      </p:sp>
      <p:sp>
        <p:nvSpPr>
          <p:cNvPr id="86" name="Shape 84"/>
          <p:cNvSpPr/>
          <p:nvPr/>
        </p:nvSpPr>
        <p:spPr>
          <a:xfrm>
            <a:off x="365760" y="2990088"/>
            <a:ext cx="2880360" cy="365760"/>
          </a:xfrm>
          <a:prstGeom prst="rect">
            <a:avLst/>
          </a:prstGeom>
          <a:noFill/>
          <a:ln w="6350">
            <a:solidFill>
              <a:srgbClr val="DDDDEE"/>
            </a:solidFill>
            <a:prstDash val="solid"/>
          </a:ln>
        </p:spPr>
        <p:txBody>
          <a:bodyPr/>
          <a:lstStyle/>
          <a:p>
            <a:endParaRPr lang="en-US"/>
          </a:p>
        </p:txBody>
      </p:sp>
      <p:sp>
        <p:nvSpPr>
          <p:cNvPr id="87" name="Text 85"/>
          <p:cNvSpPr/>
          <p:nvPr/>
        </p:nvSpPr>
        <p:spPr>
          <a:xfrm>
            <a:off x="457200" y="2990088"/>
            <a:ext cx="2743200" cy="365760"/>
          </a:xfrm>
          <a:prstGeom prst="rect">
            <a:avLst/>
          </a:prstGeom>
          <a:noFill/>
          <a:ln/>
        </p:spPr>
        <p:txBody>
          <a:bodyPr wrap="square" lIns="0" tIns="0" rIns="0" bIns="0" rtlCol="0" anchor="ctr"/>
          <a:lstStyle/>
          <a:p>
            <a:pPr marL="0" indent="0">
              <a:buNone/>
            </a:pPr>
            <a:r>
              <a:rPr lang="en-US" sz="930" b="1" dirty="0">
                <a:solidFill>
                  <a:srgbClr val="0000C8"/>
                </a:solidFill>
                <a:latin typeface="Inter" pitchFamily="34" charset="0"/>
                <a:ea typeface="Inter" pitchFamily="34" charset="-122"/>
                <a:cs typeface="Inter" pitchFamily="34" charset="-120"/>
              </a:rPr>
              <a:t>Runtime ground-truth data (eBPF)</a:t>
            </a:r>
            <a:endParaRPr lang="en-US" sz="930" dirty="0"/>
          </a:p>
        </p:txBody>
      </p:sp>
      <p:sp>
        <p:nvSpPr>
          <p:cNvPr id="88" name="Shape 86"/>
          <p:cNvSpPr/>
          <p:nvPr/>
        </p:nvSpPr>
        <p:spPr>
          <a:xfrm>
            <a:off x="3246120" y="2990088"/>
            <a:ext cx="1280160" cy="365760"/>
          </a:xfrm>
          <a:prstGeom prst="rect">
            <a:avLst/>
          </a:prstGeom>
          <a:solidFill>
            <a:srgbClr val="EEF3FF"/>
          </a:solidFill>
          <a:ln w="6350">
            <a:solidFill>
              <a:srgbClr val="DDDDEE"/>
            </a:solidFill>
            <a:prstDash val="solid"/>
          </a:ln>
        </p:spPr>
        <p:txBody>
          <a:bodyPr/>
          <a:lstStyle/>
          <a:p>
            <a:endParaRPr lang="en-US"/>
          </a:p>
        </p:txBody>
      </p:sp>
      <p:sp>
        <p:nvSpPr>
          <p:cNvPr id="89" name="Text 87"/>
          <p:cNvSpPr/>
          <p:nvPr/>
        </p:nvSpPr>
        <p:spPr>
          <a:xfrm>
            <a:off x="3246120" y="299008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90" name="Shape 88"/>
          <p:cNvSpPr/>
          <p:nvPr/>
        </p:nvSpPr>
        <p:spPr>
          <a:xfrm>
            <a:off x="4526280" y="2990088"/>
            <a:ext cx="1097280" cy="365760"/>
          </a:xfrm>
          <a:prstGeom prst="rect">
            <a:avLst/>
          </a:prstGeom>
          <a:solidFill>
            <a:srgbClr val="FFFFFF"/>
          </a:solidFill>
          <a:ln w="6350">
            <a:solidFill>
              <a:srgbClr val="DDDDEE"/>
            </a:solidFill>
            <a:prstDash val="solid"/>
          </a:ln>
        </p:spPr>
        <p:txBody>
          <a:bodyPr/>
          <a:lstStyle/>
          <a:p>
            <a:endParaRPr lang="en-US"/>
          </a:p>
        </p:txBody>
      </p:sp>
      <p:sp>
        <p:nvSpPr>
          <p:cNvPr id="91" name="Text 89"/>
          <p:cNvSpPr/>
          <p:nvPr/>
        </p:nvSpPr>
        <p:spPr>
          <a:xfrm>
            <a:off x="4526280" y="299008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92" name="Shape 90"/>
          <p:cNvSpPr/>
          <p:nvPr/>
        </p:nvSpPr>
        <p:spPr>
          <a:xfrm>
            <a:off x="5623560" y="2990088"/>
            <a:ext cx="1097280" cy="365760"/>
          </a:xfrm>
          <a:prstGeom prst="rect">
            <a:avLst/>
          </a:prstGeom>
          <a:solidFill>
            <a:srgbClr val="FFFFFF"/>
          </a:solidFill>
          <a:ln w="6350">
            <a:solidFill>
              <a:srgbClr val="DDDDEE"/>
            </a:solidFill>
            <a:prstDash val="solid"/>
          </a:ln>
        </p:spPr>
        <p:txBody>
          <a:bodyPr/>
          <a:lstStyle/>
          <a:p>
            <a:endParaRPr lang="en-US"/>
          </a:p>
        </p:txBody>
      </p:sp>
      <p:sp>
        <p:nvSpPr>
          <p:cNvPr id="93" name="Text 91"/>
          <p:cNvSpPr/>
          <p:nvPr/>
        </p:nvSpPr>
        <p:spPr>
          <a:xfrm>
            <a:off x="5623560" y="299008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94" name="Shape 92"/>
          <p:cNvSpPr/>
          <p:nvPr/>
        </p:nvSpPr>
        <p:spPr>
          <a:xfrm>
            <a:off x="6720840" y="2990088"/>
            <a:ext cx="1051560" cy="365760"/>
          </a:xfrm>
          <a:prstGeom prst="rect">
            <a:avLst/>
          </a:prstGeom>
          <a:solidFill>
            <a:srgbClr val="FFFFFF"/>
          </a:solidFill>
          <a:ln w="6350">
            <a:solidFill>
              <a:srgbClr val="DDDDEE"/>
            </a:solidFill>
            <a:prstDash val="solid"/>
          </a:ln>
        </p:spPr>
        <p:txBody>
          <a:bodyPr/>
          <a:lstStyle/>
          <a:p>
            <a:endParaRPr lang="en-US"/>
          </a:p>
        </p:txBody>
      </p:sp>
      <p:sp>
        <p:nvSpPr>
          <p:cNvPr id="95" name="Text 93"/>
          <p:cNvSpPr/>
          <p:nvPr/>
        </p:nvSpPr>
        <p:spPr>
          <a:xfrm>
            <a:off x="6720840" y="2990088"/>
            <a:ext cx="105156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96" name="Shape 94"/>
          <p:cNvSpPr/>
          <p:nvPr/>
        </p:nvSpPr>
        <p:spPr>
          <a:xfrm>
            <a:off x="7772400" y="2990088"/>
            <a:ext cx="1005840" cy="365760"/>
          </a:xfrm>
          <a:prstGeom prst="rect">
            <a:avLst/>
          </a:prstGeom>
          <a:solidFill>
            <a:srgbClr val="FFFFFF"/>
          </a:solidFill>
          <a:ln w="6350">
            <a:solidFill>
              <a:srgbClr val="DDDDEE"/>
            </a:solidFill>
            <a:prstDash val="solid"/>
          </a:ln>
        </p:spPr>
        <p:txBody>
          <a:bodyPr/>
          <a:lstStyle/>
          <a:p>
            <a:endParaRPr lang="en-US"/>
          </a:p>
        </p:txBody>
      </p:sp>
      <p:sp>
        <p:nvSpPr>
          <p:cNvPr id="97" name="Text 95"/>
          <p:cNvSpPr/>
          <p:nvPr/>
        </p:nvSpPr>
        <p:spPr>
          <a:xfrm>
            <a:off x="7772400" y="299008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98" name="Shape 96"/>
          <p:cNvSpPr/>
          <p:nvPr/>
        </p:nvSpPr>
        <p:spPr>
          <a:xfrm>
            <a:off x="365760" y="3355848"/>
            <a:ext cx="2880360" cy="365760"/>
          </a:xfrm>
          <a:prstGeom prst="rect">
            <a:avLst/>
          </a:prstGeom>
          <a:solidFill>
            <a:srgbClr val="EAF0FF"/>
          </a:solidFill>
          <a:ln w="12700">
            <a:solidFill>
              <a:srgbClr val="333333"/>
            </a:solidFill>
            <a:prstDash val="solid"/>
          </a:ln>
        </p:spPr>
        <p:txBody>
          <a:bodyPr/>
          <a:lstStyle/>
          <a:p>
            <a:endParaRPr lang="en-US"/>
          </a:p>
        </p:txBody>
      </p:sp>
      <p:sp>
        <p:nvSpPr>
          <p:cNvPr id="99" name="Shape 97"/>
          <p:cNvSpPr/>
          <p:nvPr/>
        </p:nvSpPr>
        <p:spPr>
          <a:xfrm>
            <a:off x="365760" y="3355848"/>
            <a:ext cx="2880360" cy="365760"/>
          </a:xfrm>
          <a:prstGeom prst="rect">
            <a:avLst/>
          </a:prstGeom>
          <a:noFill/>
          <a:ln w="6350">
            <a:solidFill>
              <a:srgbClr val="DDDDEE"/>
            </a:solidFill>
            <a:prstDash val="solid"/>
          </a:ln>
        </p:spPr>
        <p:txBody>
          <a:bodyPr/>
          <a:lstStyle/>
          <a:p>
            <a:endParaRPr lang="en-US"/>
          </a:p>
        </p:txBody>
      </p:sp>
      <p:sp>
        <p:nvSpPr>
          <p:cNvPr id="100" name="Text 98"/>
          <p:cNvSpPr/>
          <p:nvPr/>
        </p:nvSpPr>
        <p:spPr>
          <a:xfrm>
            <a:off x="457200" y="3355848"/>
            <a:ext cx="2743200" cy="365760"/>
          </a:xfrm>
          <a:prstGeom prst="rect">
            <a:avLst/>
          </a:prstGeom>
          <a:noFill/>
          <a:ln/>
        </p:spPr>
        <p:txBody>
          <a:bodyPr wrap="square" lIns="0" tIns="0" rIns="0" bIns="0" rtlCol="0" anchor="ctr"/>
          <a:lstStyle/>
          <a:p>
            <a:pPr marL="0" indent="0">
              <a:buNone/>
            </a:pPr>
            <a:r>
              <a:rPr lang="en-US" sz="930" b="1" dirty="0">
                <a:solidFill>
                  <a:srgbClr val="0000C8"/>
                </a:solidFill>
                <a:latin typeface="Inter" pitchFamily="34" charset="0"/>
                <a:ea typeface="Inter" pitchFamily="34" charset="-122"/>
                <a:cs typeface="Inter" pitchFamily="34" charset="-120"/>
              </a:rPr>
              <a:t>Secures its own AI agents</a:t>
            </a:r>
            <a:endParaRPr lang="en-US" sz="930" dirty="0"/>
          </a:p>
        </p:txBody>
      </p:sp>
      <p:sp>
        <p:nvSpPr>
          <p:cNvPr id="101" name="Shape 99"/>
          <p:cNvSpPr/>
          <p:nvPr/>
        </p:nvSpPr>
        <p:spPr>
          <a:xfrm>
            <a:off x="3246120" y="3355848"/>
            <a:ext cx="1280160" cy="365760"/>
          </a:xfrm>
          <a:prstGeom prst="rect">
            <a:avLst/>
          </a:prstGeom>
          <a:solidFill>
            <a:srgbClr val="EEF3FF"/>
          </a:solidFill>
          <a:ln w="6350">
            <a:solidFill>
              <a:srgbClr val="DDDDEE"/>
            </a:solidFill>
            <a:prstDash val="solid"/>
          </a:ln>
        </p:spPr>
        <p:txBody>
          <a:bodyPr/>
          <a:lstStyle/>
          <a:p>
            <a:endParaRPr lang="en-US"/>
          </a:p>
        </p:txBody>
      </p:sp>
      <p:sp>
        <p:nvSpPr>
          <p:cNvPr id="102" name="Text 100"/>
          <p:cNvSpPr/>
          <p:nvPr/>
        </p:nvSpPr>
        <p:spPr>
          <a:xfrm>
            <a:off x="3246120" y="335584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103" name="Shape 101"/>
          <p:cNvSpPr/>
          <p:nvPr/>
        </p:nvSpPr>
        <p:spPr>
          <a:xfrm>
            <a:off x="4526280" y="3355848"/>
            <a:ext cx="1097280" cy="365760"/>
          </a:xfrm>
          <a:prstGeom prst="rect">
            <a:avLst/>
          </a:prstGeom>
          <a:solidFill>
            <a:srgbClr val="F2F4FA"/>
          </a:solidFill>
          <a:ln w="6350">
            <a:solidFill>
              <a:srgbClr val="DDDDEE"/>
            </a:solidFill>
            <a:prstDash val="solid"/>
          </a:ln>
        </p:spPr>
        <p:txBody>
          <a:bodyPr/>
          <a:lstStyle/>
          <a:p>
            <a:endParaRPr lang="en-US"/>
          </a:p>
        </p:txBody>
      </p:sp>
      <p:sp>
        <p:nvSpPr>
          <p:cNvPr id="104" name="Text 102"/>
          <p:cNvSpPr/>
          <p:nvPr/>
        </p:nvSpPr>
        <p:spPr>
          <a:xfrm>
            <a:off x="4526280" y="335584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05" name="Shape 103"/>
          <p:cNvSpPr/>
          <p:nvPr/>
        </p:nvSpPr>
        <p:spPr>
          <a:xfrm>
            <a:off x="5623560" y="3355848"/>
            <a:ext cx="1097280" cy="365760"/>
          </a:xfrm>
          <a:prstGeom prst="rect">
            <a:avLst/>
          </a:prstGeom>
          <a:solidFill>
            <a:srgbClr val="F2F4FA"/>
          </a:solidFill>
          <a:ln w="6350">
            <a:solidFill>
              <a:srgbClr val="DDDDEE"/>
            </a:solidFill>
            <a:prstDash val="solid"/>
          </a:ln>
        </p:spPr>
        <p:txBody>
          <a:bodyPr/>
          <a:lstStyle/>
          <a:p>
            <a:endParaRPr lang="en-US"/>
          </a:p>
        </p:txBody>
      </p:sp>
      <p:sp>
        <p:nvSpPr>
          <p:cNvPr id="106" name="Text 104"/>
          <p:cNvSpPr/>
          <p:nvPr/>
        </p:nvSpPr>
        <p:spPr>
          <a:xfrm>
            <a:off x="5623560" y="335584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07" name="Shape 105"/>
          <p:cNvSpPr/>
          <p:nvPr/>
        </p:nvSpPr>
        <p:spPr>
          <a:xfrm>
            <a:off x="6720840" y="3355848"/>
            <a:ext cx="1051560" cy="365760"/>
          </a:xfrm>
          <a:prstGeom prst="rect">
            <a:avLst/>
          </a:prstGeom>
          <a:solidFill>
            <a:srgbClr val="F2F4FA"/>
          </a:solidFill>
          <a:ln w="6350">
            <a:solidFill>
              <a:srgbClr val="DDDDEE"/>
            </a:solidFill>
            <a:prstDash val="solid"/>
          </a:ln>
        </p:spPr>
        <p:txBody>
          <a:bodyPr/>
          <a:lstStyle/>
          <a:p>
            <a:endParaRPr lang="en-US"/>
          </a:p>
        </p:txBody>
      </p:sp>
      <p:sp>
        <p:nvSpPr>
          <p:cNvPr id="108" name="Text 106"/>
          <p:cNvSpPr/>
          <p:nvPr/>
        </p:nvSpPr>
        <p:spPr>
          <a:xfrm>
            <a:off x="6720840" y="3355848"/>
            <a:ext cx="105156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09" name="Shape 107"/>
          <p:cNvSpPr/>
          <p:nvPr/>
        </p:nvSpPr>
        <p:spPr>
          <a:xfrm>
            <a:off x="7772400" y="3355848"/>
            <a:ext cx="1005840" cy="365760"/>
          </a:xfrm>
          <a:prstGeom prst="rect">
            <a:avLst/>
          </a:prstGeom>
          <a:solidFill>
            <a:srgbClr val="F2F4FA"/>
          </a:solidFill>
          <a:ln w="6350">
            <a:solidFill>
              <a:srgbClr val="DDDDEE"/>
            </a:solidFill>
            <a:prstDash val="solid"/>
          </a:ln>
        </p:spPr>
        <p:txBody>
          <a:bodyPr/>
          <a:lstStyle/>
          <a:p>
            <a:endParaRPr lang="en-US"/>
          </a:p>
        </p:txBody>
      </p:sp>
      <p:sp>
        <p:nvSpPr>
          <p:cNvPr id="110" name="Text 108"/>
          <p:cNvSpPr/>
          <p:nvPr/>
        </p:nvSpPr>
        <p:spPr>
          <a:xfrm>
            <a:off x="7772400" y="335584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11" name="Shape 109"/>
          <p:cNvSpPr/>
          <p:nvPr/>
        </p:nvSpPr>
        <p:spPr>
          <a:xfrm>
            <a:off x="365760" y="3721608"/>
            <a:ext cx="2880360" cy="365760"/>
          </a:xfrm>
          <a:prstGeom prst="rect">
            <a:avLst/>
          </a:prstGeom>
          <a:solidFill>
            <a:srgbClr val="EAF0FF"/>
          </a:solidFill>
          <a:ln w="12700">
            <a:solidFill>
              <a:srgbClr val="333333"/>
            </a:solidFill>
            <a:prstDash val="solid"/>
          </a:ln>
        </p:spPr>
        <p:txBody>
          <a:bodyPr/>
          <a:lstStyle/>
          <a:p>
            <a:endParaRPr lang="en-US"/>
          </a:p>
        </p:txBody>
      </p:sp>
      <p:sp>
        <p:nvSpPr>
          <p:cNvPr id="112" name="Shape 110"/>
          <p:cNvSpPr/>
          <p:nvPr/>
        </p:nvSpPr>
        <p:spPr>
          <a:xfrm>
            <a:off x="365760" y="3721608"/>
            <a:ext cx="2880360" cy="365760"/>
          </a:xfrm>
          <a:prstGeom prst="rect">
            <a:avLst/>
          </a:prstGeom>
          <a:noFill/>
          <a:ln w="6350">
            <a:solidFill>
              <a:srgbClr val="DDDDEE"/>
            </a:solidFill>
            <a:prstDash val="solid"/>
          </a:ln>
        </p:spPr>
        <p:txBody>
          <a:bodyPr/>
          <a:lstStyle/>
          <a:p>
            <a:endParaRPr lang="en-US"/>
          </a:p>
        </p:txBody>
      </p:sp>
      <p:sp>
        <p:nvSpPr>
          <p:cNvPr id="113" name="Text 111"/>
          <p:cNvSpPr/>
          <p:nvPr/>
        </p:nvSpPr>
        <p:spPr>
          <a:xfrm>
            <a:off x="457200" y="3721608"/>
            <a:ext cx="2743200" cy="365760"/>
          </a:xfrm>
          <a:prstGeom prst="rect">
            <a:avLst/>
          </a:prstGeom>
          <a:noFill/>
          <a:ln/>
        </p:spPr>
        <p:txBody>
          <a:bodyPr wrap="square" lIns="0" tIns="0" rIns="0" bIns="0" rtlCol="0" anchor="ctr"/>
          <a:lstStyle/>
          <a:p>
            <a:pPr marL="0" indent="0">
              <a:buNone/>
            </a:pPr>
            <a:r>
              <a:rPr lang="en-US" sz="930" b="1" dirty="0">
                <a:solidFill>
                  <a:srgbClr val="0000C8"/>
                </a:solidFill>
                <a:latin typeface="Inter" pitchFamily="34" charset="0"/>
                <a:ea typeface="Inter" pitchFamily="34" charset="-122"/>
                <a:cs typeface="Inter" pitchFamily="34" charset="-120"/>
              </a:rPr>
              <a:t>Air-gapped / on-prem</a:t>
            </a:r>
            <a:endParaRPr lang="en-US" sz="930" dirty="0"/>
          </a:p>
        </p:txBody>
      </p:sp>
      <p:sp>
        <p:nvSpPr>
          <p:cNvPr id="114" name="Shape 112"/>
          <p:cNvSpPr/>
          <p:nvPr/>
        </p:nvSpPr>
        <p:spPr>
          <a:xfrm>
            <a:off x="3246120" y="3721608"/>
            <a:ext cx="1280160" cy="365760"/>
          </a:xfrm>
          <a:prstGeom prst="rect">
            <a:avLst/>
          </a:prstGeom>
          <a:solidFill>
            <a:srgbClr val="EEF3FF"/>
          </a:solidFill>
          <a:ln w="6350">
            <a:solidFill>
              <a:srgbClr val="DDDDEE"/>
            </a:solidFill>
            <a:prstDash val="solid"/>
          </a:ln>
        </p:spPr>
        <p:txBody>
          <a:bodyPr/>
          <a:lstStyle/>
          <a:p>
            <a:endParaRPr lang="en-US"/>
          </a:p>
        </p:txBody>
      </p:sp>
      <p:sp>
        <p:nvSpPr>
          <p:cNvPr id="115" name="Text 113"/>
          <p:cNvSpPr/>
          <p:nvPr/>
        </p:nvSpPr>
        <p:spPr>
          <a:xfrm>
            <a:off x="3246120" y="372160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116" name="Shape 114"/>
          <p:cNvSpPr/>
          <p:nvPr/>
        </p:nvSpPr>
        <p:spPr>
          <a:xfrm>
            <a:off x="4526280" y="3721608"/>
            <a:ext cx="1097280" cy="365760"/>
          </a:xfrm>
          <a:prstGeom prst="rect">
            <a:avLst/>
          </a:prstGeom>
          <a:solidFill>
            <a:srgbClr val="FFFFFF"/>
          </a:solidFill>
          <a:ln w="6350">
            <a:solidFill>
              <a:srgbClr val="DDDDEE"/>
            </a:solidFill>
            <a:prstDash val="solid"/>
          </a:ln>
        </p:spPr>
        <p:txBody>
          <a:bodyPr/>
          <a:lstStyle/>
          <a:p>
            <a:endParaRPr lang="en-US"/>
          </a:p>
        </p:txBody>
      </p:sp>
      <p:sp>
        <p:nvSpPr>
          <p:cNvPr id="117" name="Text 115"/>
          <p:cNvSpPr/>
          <p:nvPr/>
        </p:nvSpPr>
        <p:spPr>
          <a:xfrm>
            <a:off x="4526280" y="372160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18" name="Shape 116"/>
          <p:cNvSpPr/>
          <p:nvPr/>
        </p:nvSpPr>
        <p:spPr>
          <a:xfrm>
            <a:off x="5623560" y="3721608"/>
            <a:ext cx="1097280" cy="365760"/>
          </a:xfrm>
          <a:prstGeom prst="rect">
            <a:avLst/>
          </a:prstGeom>
          <a:solidFill>
            <a:srgbClr val="FFFFFF"/>
          </a:solidFill>
          <a:ln w="6350">
            <a:solidFill>
              <a:srgbClr val="DDDDEE"/>
            </a:solidFill>
            <a:prstDash val="solid"/>
          </a:ln>
        </p:spPr>
        <p:txBody>
          <a:bodyPr/>
          <a:lstStyle/>
          <a:p>
            <a:endParaRPr lang="en-US"/>
          </a:p>
        </p:txBody>
      </p:sp>
      <p:sp>
        <p:nvSpPr>
          <p:cNvPr id="119" name="Text 117"/>
          <p:cNvSpPr/>
          <p:nvPr/>
        </p:nvSpPr>
        <p:spPr>
          <a:xfrm>
            <a:off x="5623560" y="372160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20" name="Shape 118"/>
          <p:cNvSpPr/>
          <p:nvPr/>
        </p:nvSpPr>
        <p:spPr>
          <a:xfrm>
            <a:off x="6720840" y="3721608"/>
            <a:ext cx="1051560" cy="365760"/>
          </a:xfrm>
          <a:prstGeom prst="rect">
            <a:avLst/>
          </a:prstGeom>
          <a:solidFill>
            <a:srgbClr val="FFFFFF"/>
          </a:solidFill>
          <a:ln w="6350">
            <a:solidFill>
              <a:srgbClr val="DDDDEE"/>
            </a:solidFill>
            <a:prstDash val="solid"/>
          </a:ln>
        </p:spPr>
        <p:txBody>
          <a:bodyPr/>
          <a:lstStyle/>
          <a:p>
            <a:endParaRPr lang="en-US"/>
          </a:p>
        </p:txBody>
      </p:sp>
      <p:sp>
        <p:nvSpPr>
          <p:cNvPr id="121" name="Text 119"/>
          <p:cNvSpPr/>
          <p:nvPr/>
        </p:nvSpPr>
        <p:spPr>
          <a:xfrm>
            <a:off x="6720840" y="3721608"/>
            <a:ext cx="105156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22" name="Shape 120"/>
          <p:cNvSpPr/>
          <p:nvPr/>
        </p:nvSpPr>
        <p:spPr>
          <a:xfrm>
            <a:off x="7772400" y="3721608"/>
            <a:ext cx="1005840" cy="365760"/>
          </a:xfrm>
          <a:prstGeom prst="rect">
            <a:avLst/>
          </a:prstGeom>
          <a:solidFill>
            <a:srgbClr val="FFFFFF"/>
          </a:solidFill>
          <a:ln w="6350">
            <a:solidFill>
              <a:srgbClr val="DDDDEE"/>
            </a:solidFill>
            <a:prstDash val="solid"/>
          </a:ln>
        </p:spPr>
        <p:txBody>
          <a:bodyPr/>
          <a:lstStyle/>
          <a:p>
            <a:endParaRPr lang="en-US"/>
          </a:p>
        </p:txBody>
      </p:sp>
      <p:sp>
        <p:nvSpPr>
          <p:cNvPr id="123" name="Text 121"/>
          <p:cNvSpPr/>
          <p:nvPr/>
        </p:nvSpPr>
        <p:spPr>
          <a:xfrm>
            <a:off x="7772400" y="372160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24" name="Shape 122"/>
          <p:cNvSpPr/>
          <p:nvPr/>
        </p:nvSpPr>
        <p:spPr>
          <a:xfrm>
            <a:off x="365760" y="4087368"/>
            <a:ext cx="2880360" cy="365760"/>
          </a:xfrm>
          <a:prstGeom prst="rect">
            <a:avLst/>
          </a:prstGeom>
          <a:solidFill>
            <a:srgbClr val="EAF0FF"/>
          </a:solidFill>
          <a:ln w="12700">
            <a:solidFill>
              <a:srgbClr val="333333"/>
            </a:solidFill>
            <a:prstDash val="solid"/>
          </a:ln>
        </p:spPr>
        <p:txBody>
          <a:bodyPr/>
          <a:lstStyle/>
          <a:p>
            <a:endParaRPr lang="en-US"/>
          </a:p>
        </p:txBody>
      </p:sp>
      <p:sp>
        <p:nvSpPr>
          <p:cNvPr id="125" name="Shape 123"/>
          <p:cNvSpPr/>
          <p:nvPr/>
        </p:nvSpPr>
        <p:spPr>
          <a:xfrm>
            <a:off x="365760" y="4087368"/>
            <a:ext cx="2880360" cy="365760"/>
          </a:xfrm>
          <a:prstGeom prst="rect">
            <a:avLst/>
          </a:prstGeom>
          <a:noFill/>
          <a:ln w="6350">
            <a:solidFill>
              <a:srgbClr val="DDDDEE"/>
            </a:solidFill>
            <a:prstDash val="solid"/>
          </a:ln>
        </p:spPr>
        <p:txBody>
          <a:bodyPr/>
          <a:lstStyle/>
          <a:p>
            <a:endParaRPr lang="en-US"/>
          </a:p>
        </p:txBody>
      </p:sp>
      <p:sp>
        <p:nvSpPr>
          <p:cNvPr id="126" name="Text 124"/>
          <p:cNvSpPr/>
          <p:nvPr/>
        </p:nvSpPr>
        <p:spPr>
          <a:xfrm>
            <a:off x="457200" y="4087368"/>
            <a:ext cx="2743200" cy="365760"/>
          </a:xfrm>
          <a:prstGeom prst="rect">
            <a:avLst/>
          </a:prstGeom>
          <a:noFill/>
          <a:ln/>
        </p:spPr>
        <p:txBody>
          <a:bodyPr wrap="square" lIns="0" tIns="0" rIns="0" bIns="0" rtlCol="0" anchor="ctr"/>
          <a:lstStyle/>
          <a:p>
            <a:pPr marL="0" indent="0">
              <a:buNone/>
            </a:pPr>
            <a:r>
              <a:rPr lang="en-US" sz="930" b="1" dirty="0">
                <a:solidFill>
                  <a:srgbClr val="0000C8"/>
                </a:solidFill>
                <a:latin typeface="Inter" pitchFamily="34" charset="0"/>
                <a:ea typeface="Inter" pitchFamily="34" charset="-122"/>
                <a:cs typeface="Inter" pitchFamily="34" charset="-120"/>
              </a:rPr>
              <a:t>Open-source core</a:t>
            </a:r>
            <a:endParaRPr lang="en-US" sz="930" dirty="0"/>
          </a:p>
        </p:txBody>
      </p:sp>
      <p:sp>
        <p:nvSpPr>
          <p:cNvPr id="127" name="Shape 125"/>
          <p:cNvSpPr/>
          <p:nvPr/>
        </p:nvSpPr>
        <p:spPr>
          <a:xfrm>
            <a:off x="3246120" y="4087368"/>
            <a:ext cx="1280160" cy="365760"/>
          </a:xfrm>
          <a:prstGeom prst="rect">
            <a:avLst/>
          </a:prstGeom>
          <a:solidFill>
            <a:srgbClr val="EEF3FF"/>
          </a:solidFill>
          <a:ln w="6350">
            <a:solidFill>
              <a:srgbClr val="DDDDEE"/>
            </a:solidFill>
            <a:prstDash val="solid"/>
          </a:ln>
        </p:spPr>
        <p:txBody>
          <a:bodyPr/>
          <a:lstStyle/>
          <a:p>
            <a:endParaRPr lang="en-US"/>
          </a:p>
        </p:txBody>
      </p:sp>
      <p:sp>
        <p:nvSpPr>
          <p:cNvPr id="128" name="Text 126"/>
          <p:cNvSpPr/>
          <p:nvPr/>
        </p:nvSpPr>
        <p:spPr>
          <a:xfrm>
            <a:off x="3246120" y="4087368"/>
            <a:ext cx="1280160" cy="365760"/>
          </a:xfrm>
          <a:prstGeom prst="rect">
            <a:avLst/>
          </a:prstGeom>
          <a:noFill/>
          <a:ln/>
        </p:spPr>
        <p:txBody>
          <a:bodyPr wrap="square" lIns="0" tIns="0" rIns="0" bIns="0" rtlCol="0" anchor="ctr"/>
          <a:lstStyle/>
          <a:p>
            <a:pPr marL="0" indent="0" algn="ctr">
              <a:buNone/>
            </a:pPr>
            <a:r>
              <a:rPr lang="en-US" sz="1300" b="1" dirty="0">
                <a:solidFill>
                  <a:srgbClr val="0046FF"/>
                </a:solidFill>
                <a:latin typeface="Space Grotesk" pitchFamily="34" charset="0"/>
                <a:ea typeface="Space Grotesk" pitchFamily="34" charset="-122"/>
                <a:cs typeface="Space Grotesk" pitchFamily="34" charset="-120"/>
              </a:rPr>
              <a:t>✓</a:t>
            </a:r>
            <a:endParaRPr lang="en-US" sz="1300" dirty="0"/>
          </a:p>
        </p:txBody>
      </p:sp>
      <p:sp>
        <p:nvSpPr>
          <p:cNvPr id="129" name="Shape 127"/>
          <p:cNvSpPr/>
          <p:nvPr/>
        </p:nvSpPr>
        <p:spPr>
          <a:xfrm>
            <a:off x="4526280" y="4087368"/>
            <a:ext cx="1097280" cy="365760"/>
          </a:xfrm>
          <a:prstGeom prst="rect">
            <a:avLst/>
          </a:prstGeom>
          <a:solidFill>
            <a:srgbClr val="F2F4FA"/>
          </a:solidFill>
          <a:ln w="6350">
            <a:solidFill>
              <a:srgbClr val="DDDDEE"/>
            </a:solidFill>
            <a:prstDash val="solid"/>
          </a:ln>
        </p:spPr>
        <p:txBody>
          <a:bodyPr/>
          <a:lstStyle/>
          <a:p>
            <a:endParaRPr lang="en-US"/>
          </a:p>
        </p:txBody>
      </p:sp>
      <p:sp>
        <p:nvSpPr>
          <p:cNvPr id="130" name="Text 128"/>
          <p:cNvSpPr/>
          <p:nvPr/>
        </p:nvSpPr>
        <p:spPr>
          <a:xfrm>
            <a:off x="4526280" y="408736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31" name="Shape 129"/>
          <p:cNvSpPr/>
          <p:nvPr/>
        </p:nvSpPr>
        <p:spPr>
          <a:xfrm>
            <a:off x="5623560" y="4087368"/>
            <a:ext cx="1097280" cy="365760"/>
          </a:xfrm>
          <a:prstGeom prst="rect">
            <a:avLst/>
          </a:prstGeom>
          <a:solidFill>
            <a:srgbClr val="F2F4FA"/>
          </a:solidFill>
          <a:ln w="6350">
            <a:solidFill>
              <a:srgbClr val="DDDDEE"/>
            </a:solidFill>
            <a:prstDash val="solid"/>
          </a:ln>
        </p:spPr>
        <p:txBody>
          <a:bodyPr/>
          <a:lstStyle/>
          <a:p>
            <a:endParaRPr lang="en-US"/>
          </a:p>
        </p:txBody>
      </p:sp>
      <p:sp>
        <p:nvSpPr>
          <p:cNvPr id="132" name="Text 130"/>
          <p:cNvSpPr/>
          <p:nvPr/>
        </p:nvSpPr>
        <p:spPr>
          <a:xfrm>
            <a:off x="5623560" y="4087368"/>
            <a:ext cx="109728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33" name="Shape 131"/>
          <p:cNvSpPr/>
          <p:nvPr/>
        </p:nvSpPr>
        <p:spPr>
          <a:xfrm>
            <a:off x="6720840" y="4087368"/>
            <a:ext cx="1051560" cy="365760"/>
          </a:xfrm>
          <a:prstGeom prst="rect">
            <a:avLst/>
          </a:prstGeom>
          <a:solidFill>
            <a:srgbClr val="F2F4FA"/>
          </a:solidFill>
          <a:ln w="6350">
            <a:solidFill>
              <a:srgbClr val="DDDDEE"/>
            </a:solidFill>
            <a:prstDash val="solid"/>
          </a:ln>
        </p:spPr>
        <p:txBody>
          <a:bodyPr/>
          <a:lstStyle/>
          <a:p>
            <a:endParaRPr lang="en-US"/>
          </a:p>
        </p:txBody>
      </p:sp>
      <p:sp>
        <p:nvSpPr>
          <p:cNvPr id="134" name="Text 132"/>
          <p:cNvSpPr/>
          <p:nvPr/>
        </p:nvSpPr>
        <p:spPr>
          <a:xfrm>
            <a:off x="6720840" y="4087368"/>
            <a:ext cx="105156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35" name="Shape 133"/>
          <p:cNvSpPr/>
          <p:nvPr/>
        </p:nvSpPr>
        <p:spPr>
          <a:xfrm>
            <a:off x="7772400" y="4087368"/>
            <a:ext cx="1005840" cy="365760"/>
          </a:xfrm>
          <a:prstGeom prst="rect">
            <a:avLst/>
          </a:prstGeom>
          <a:solidFill>
            <a:srgbClr val="F2F4FA"/>
          </a:solidFill>
          <a:ln w="6350">
            <a:solidFill>
              <a:srgbClr val="DDDDEE"/>
            </a:solidFill>
            <a:prstDash val="solid"/>
          </a:ln>
        </p:spPr>
        <p:txBody>
          <a:bodyPr/>
          <a:lstStyle/>
          <a:p>
            <a:endParaRPr lang="en-US"/>
          </a:p>
        </p:txBody>
      </p:sp>
      <p:sp>
        <p:nvSpPr>
          <p:cNvPr id="136" name="Text 134"/>
          <p:cNvSpPr/>
          <p:nvPr/>
        </p:nvSpPr>
        <p:spPr>
          <a:xfrm>
            <a:off x="7772400" y="4087368"/>
            <a:ext cx="1005840" cy="365760"/>
          </a:xfrm>
          <a:prstGeom prst="rect">
            <a:avLst/>
          </a:prstGeom>
          <a:noFill/>
          <a:ln/>
        </p:spPr>
        <p:txBody>
          <a:bodyPr wrap="square" lIns="0" tIns="0" rIns="0" bIns="0" rtlCol="0" anchor="ctr"/>
          <a:lstStyle/>
          <a:p>
            <a:pPr marL="0" indent="0" algn="ctr">
              <a:buNone/>
            </a:pPr>
            <a:r>
              <a:rPr lang="en-US" sz="1200" b="1" dirty="0">
                <a:solidFill>
                  <a:srgbClr val="B8C0D8"/>
                </a:solidFill>
                <a:latin typeface="Space Grotesk" pitchFamily="34" charset="0"/>
                <a:ea typeface="Space Grotesk" pitchFamily="34" charset="-122"/>
                <a:cs typeface="Space Grotesk" pitchFamily="34" charset="-120"/>
              </a:rPr>
              <a:t>–</a:t>
            </a:r>
            <a:endParaRPr lang="en-US" sz="1200" dirty="0"/>
          </a:p>
        </p:txBody>
      </p:sp>
      <p:sp>
        <p:nvSpPr>
          <p:cNvPr id="137" name="Text 135"/>
          <p:cNvSpPr/>
          <p:nvPr/>
        </p:nvSpPr>
        <p:spPr>
          <a:xfrm>
            <a:off x="365760" y="4526280"/>
            <a:ext cx="8412480" cy="365760"/>
          </a:xfrm>
          <a:prstGeom prst="rect">
            <a:avLst/>
          </a:prstGeom>
          <a:noFill/>
          <a:ln/>
        </p:spPr>
        <p:txBody>
          <a:bodyPr wrap="square" lIns="0" tIns="0" rIns="0" bIns="0" rtlCol="0" anchor="ctr"/>
          <a:lstStyle/>
          <a:p>
            <a:pPr marL="0" indent="0" algn="ctr">
              <a:buNone/>
            </a:pPr>
            <a:r>
              <a:rPr lang="en-US" sz="1050" b="1" i="1" dirty="0">
                <a:solidFill>
                  <a:srgbClr val="0000C8"/>
                </a:solidFill>
                <a:latin typeface="Inter" pitchFamily="34" charset="0"/>
                <a:ea typeface="Inter" pitchFamily="34" charset="-122"/>
                <a:cs typeface="Inter" pitchFamily="34" charset="-120"/>
              </a:rPr>
              <a:t>Everyone shares the top four rows. The bottom five are the AccuKnox column, alone. That is the moat.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05</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Solution Architecture</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A data layer built for agents. An enforcement layer no one else has.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four-layer architecture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17</a:t>
            </a:r>
            <a:endParaRPr lang="en-US" sz="750" dirty="0"/>
          </a:p>
        </p:txBody>
      </p:sp>
      <p:sp>
        <p:nvSpPr>
          <p:cNvPr id="8" name="Shape 6"/>
          <p:cNvSpPr/>
          <p:nvPr/>
        </p:nvSpPr>
        <p:spPr>
          <a:xfrm>
            <a:off x="365760" y="822960"/>
            <a:ext cx="7315200" cy="777240"/>
          </a:xfrm>
          <a:prstGeom prst="roundRect">
            <a:avLst>
              <a:gd name="adj" fmla="val 5882"/>
            </a:avLst>
          </a:prstGeom>
          <a:solidFill>
            <a:srgbClr val="EEF3FF"/>
          </a:solidFill>
          <a:ln w="9525">
            <a:solidFill>
              <a:srgbClr val="DDDDEE"/>
            </a:solidFill>
            <a:prstDash val="solid"/>
          </a:ln>
        </p:spPr>
        <p:txBody>
          <a:bodyPr/>
          <a:lstStyle/>
          <a:p>
            <a:endParaRPr lang="en-US"/>
          </a:p>
        </p:txBody>
      </p:sp>
      <p:sp>
        <p:nvSpPr>
          <p:cNvPr id="9" name="Shape 7"/>
          <p:cNvSpPr/>
          <p:nvPr/>
        </p:nvSpPr>
        <p:spPr>
          <a:xfrm>
            <a:off x="365760" y="822960"/>
            <a:ext cx="457200" cy="777240"/>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365760" y="822960"/>
            <a:ext cx="45720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4</a:t>
            </a:r>
            <a:endParaRPr lang="en-US" sz="2200" dirty="0"/>
          </a:p>
        </p:txBody>
      </p:sp>
      <p:sp>
        <p:nvSpPr>
          <p:cNvPr id="11" name="Text 9"/>
          <p:cNvSpPr/>
          <p:nvPr/>
        </p:nvSpPr>
        <p:spPr>
          <a:xfrm>
            <a:off x="960120" y="914400"/>
            <a:ext cx="2377440" cy="594360"/>
          </a:xfrm>
          <a:prstGeom prst="rect">
            <a:avLst/>
          </a:prstGeom>
          <a:noFill/>
          <a:ln/>
        </p:spPr>
        <p:txBody>
          <a:bodyPr wrap="square" lIns="0" tIns="0" rIns="0" bIns="0" rtlCol="0" anchor="ctr"/>
          <a:lstStyle/>
          <a:p>
            <a:pPr marL="0" indent="0">
              <a:buNone/>
            </a:pPr>
            <a:r>
              <a:rPr lang="en-US" sz="1300" b="1" dirty="0">
                <a:solidFill>
                  <a:srgbClr val="0D1B4B"/>
                </a:solidFill>
                <a:latin typeface="Space Grotesk" pitchFamily="34" charset="0"/>
                <a:ea typeface="Space Grotesk" pitchFamily="34" charset="-122"/>
                <a:cs typeface="Space Grotesk" pitchFamily="34" charset="-120"/>
              </a:rPr>
              <a:t>Enforcement &amp; Response</a:t>
            </a:r>
            <a:endParaRPr lang="en-US" sz="1300" dirty="0"/>
          </a:p>
        </p:txBody>
      </p:sp>
      <p:sp>
        <p:nvSpPr>
          <p:cNvPr id="12" name="Text 10"/>
          <p:cNvSpPr/>
          <p:nvPr/>
        </p:nvSpPr>
        <p:spPr>
          <a:xfrm>
            <a:off x="3383280" y="877824"/>
            <a:ext cx="4206240" cy="676656"/>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Orchestrated response (SaaS, identity) + KERNEL ENFORCEMENT via eBPF/KubeArmor. Policy-as-code, dry-run, versioned.</a:t>
            </a:r>
            <a:endParaRPr lang="en-US" sz="900" dirty="0"/>
          </a:p>
        </p:txBody>
      </p:sp>
      <p:sp>
        <p:nvSpPr>
          <p:cNvPr id="13" name="Shape 11"/>
          <p:cNvSpPr/>
          <p:nvPr/>
        </p:nvSpPr>
        <p:spPr>
          <a:xfrm>
            <a:off x="365760" y="1691640"/>
            <a:ext cx="7315200" cy="777240"/>
          </a:xfrm>
          <a:prstGeom prst="roundRect">
            <a:avLst>
              <a:gd name="adj" fmla="val 5882"/>
            </a:avLst>
          </a:prstGeom>
          <a:solidFill>
            <a:srgbClr val="F2F4FA"/>
          </a:solidFill>
          <a:ln w="9525">
            <a:solidFill>
              <a:srgbClr val="DDDDEE"/>
            </a:solidFill>
            <a:prstDash val="solid"/>
          </a:ln>
        </p:spPr>
        <p:txBody>
          <a:bodyPr/>
          <a:lstStyle/>
          <a:p>
            <a:endParaRPr lang="en-US"/>
          </a:p>
        </p:txBody>
      </p:sp>
      <p:sp>
        <p:nvSpPr>
          <p:cNvPr id="14" name="Shape 12"/>
          <p:cNvSpPr/>
          <p:nvPr/>
        </p:nvSpPr>
        <p:spPr>
          <a:xfrm>
            <a:off x="365760" y="1691640"/>
            <a:ext cx="457200" cy="777240"/>
          </a:xfrm>
          <a:prstGeom prst="rect">
            <a:avLst/>
          </a:prstGeom>
          <a:solidFill>
            <a:srgbClr val="6464FF"/>
          </a:solidFill>
          <a:ln w="12700">
            <a:solidFill>
              <a:srgbClr val="333333"/>
            </a:solidFill>
            <a:prstDash val="solid"/>
          </a:ln>
        </p:spPr>
        <p:txBody>
          <a:bodyPr/>
          <a:lstStyle/>
          <a:p>
            <a:endParaRPr lang="en-US"/>
          </a:p>
        </p:txBody>
      </p:sp>
      <p:sp>
        <p:nvSpPr>
          <p:cNvPr id="15" name="Text 13"/>
          <p:cNvSpPr/>
          <p:nvPr/>
        </p:nvSpPr>
        <p:spPr>
          <a:xfrm>
            <a:off x="365760" y="1691640"/>
            <a:ext cx="45720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3</a:t>
            </a:r>
            <a:endParaRPr lang="en-US" sz="2200" dirty="0"/>
          </a:p>
        </p:txBody>
      </p:sp>
      <p:sp>
        <p:nvSpPr>
          <p:cNvPr id="16" name="Text 14"/>
          <p:cNvSpPr/>
          <p:nvPr/>
        </p:nvSpPr>
        <p:spPr>
          <a:xfrm>
            <a:off x="960120" y="1783080"/>
            <a:ext cx="2377440" cy="594360"/>
          </a:xfrm>
          <a:prstGeom prst="rect">
            <a:avLst/>
          </a:prstGeom>
          <a:noFill/>
          <a:ln/>
        </p:spPr>
        <p:txBody>
          <a:bodyPr wrap="square" lIns="0" tIns="0" rIns="0" bIns="0" rtlCol="0" anchor="ctr"/>
          <a:lstStyle/>
          <a:p>
            <a:pPr marL="0" indent="0">
              <a:buNone/>
            </a:pPr>
            <a:r>
              <a:rPr lang="en-US" sz="1300" b="1" dirty="0">
                <a:solidFill>
                  <a:srgbClr val="0D1B4B"/>
                </a:solidFill>
                <a:latin typeface="Space Grotesk" pitchFamily="34" charset="0"/>
                <a:ea typeface="Space Grotesk" pitchFamily="34" charset="-122"/>
                <a:cs typeface="Space Grotesk" pitchFamily="34" charset="-120"/>
              </a:rPr>
              <a:t>Agentic layer</a:t>
            </a:r>
            <a:endParaRPr lang="en-US" sz="1300" dirty="0"/>
          </a:p>
        </p:txBody>
      </p:sp>
      <p:sp>
        <p:nvSpPr>
          <p:cNvPr id="17" name="Text 15"/>
          <p:cNvSpPr/>
          <p:nvPr/>
        </p:nvSpPr>
        <p:spPr>
          <a:xfrm>
            <a:off x="3383280" y="1746504"/>
            <a:ext cx="4206240" cy="676656"/>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Specialized agents per evidence shape: Detect, Triage, Investigate, Respond, Hunt. MCP-style tools. ClawArmor first.</a:t>
            </a:r>
            <a:endParaRPr lang="en-US" sz="900" dirty="0"/>
          </a:p>
        </p:txBody>
      </p:sp>
      <p:sp>
        <p:nvSpPr>
          <p:cNvPr id="18" name="Shape 16"/>
          <p:cNvSpPr/>
          <p:nvPr/>
        </p:nvSpPr>
        <p:spPr>
          <a:xfrm>
            <a:off x="365760" y="2560320"/>
            <a:ext cx="7315200" cy="777240"/>
          </a:xfrm>
          <a:prstGeom prst="roundRect">
            <a:avLst>
              <a:gd name="adj" fmla="val 5882"/>
            </a:avLst>
          </a:prstGeom>
          <a:solidFill>
            <a:srgbClr val="F2F4FA"/>
          </a:solidFill>
          <a:ln w="9525">
            <a:solidFill>
              <a:srgbClr val="DDDDEE"/>
            </a:solidFill>
            <a:prstDash val="solid"/>
          </a:ln>
        </p:spPr>
        <p:txBody>
          <a:bodyPr/>
          <a:lstStyle/>
          <a:p>
            <a:endParaRPr lang="en-US"/>
          </a:p>
        </p:txBody>
      </p:sp>
      <p:sp>
        <p:nvSpPr>
          <p:cNvPr id="19" name="Shape 17"/>
          <p:cNvSpPr/>
          <p:nvPr/>
        </p:nvSpPr>
        <p:spPr>
          <a:xfrm>
            <a:off x="365760" y="2560320"/>
            <a:ext cx="457200" cy="777240"/>
          </a:xfrm>
          <a:prstGeom prst="rect">
            <a:avLst/>
          </a:prstGeom>
          <a:solidFill>
            <a:srgbClr val="6464FF"/>
          </a:solidFill>
          <a:ln w="12700">
            <a:solidFill>
              <a:srgbClr val="333333"/>
            </a:solidFill>
            <a:prstDash val="solid"/>
          </a:ln>
        </p:spPr>
        <p:txBody>
          <a:bodyPr/>
          <a:lstStyle/>
          <a:p>
            <a:endParaRPr lang="en-US"/>
          </a:p>
        </p:txBody>
      </p:sp>
      <p:sp>
        <p:nvSpPr>
          <p:cNvPr id="20" name="Text 18"/>
          <p:cNvSpPr/>
          <p:nvPr/>
        </p:nvSpPr>
        <p:spPr>
          <a:xfrm>
            <a:off x="365760" y="2560320"/>
            <a:ext cx="45720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2</a:t>
            </a:r>
            <a:endParaRPr lang="en-US" sz="2200" dirty="0"/>
          </a:p>
        </p:txBody>
      </p:sp>
      <p:sp>
        <p:nvSpPr>
          <p:cNvPr id="21" name="Text 19"/>
          <p:cNvSpPr/>
          <p:nvPr/>
        </p:nvSpPr>
        <p:spPr>
          <a:xfrm>
            <a:off x="960120" y="2651760"/>
            <a:ext cx="2377440" cy="594360"/>
          </a:xfrm>
          <a:prstGeom prst="rect">
            <a:avLst/>
          </a:prstGeom>
          <a:noFill/>
          <a:ln/>
        </p:spPr>
        <p:txBody>
          <a:bodyPr wrap="square" lIns="0" tIns="0" rIns="0" bIns="0" rtlCol="0" anchor="ctr"/>
          <a:lstStyle/>
          <a:p>
            <a:pPr marL="0" indent="0">
              <a:buNone/>
            </a:pPr>
            <a:r>
              <a:rPr lang="en-US" sz="1300" b="1" dirty="0">
                <a:solidFill>
                  <a:srgbClr val="0D1B4B"/>
                </a:solidFill>
                <a:latin typeface="Space Grotesk" pitchFamily="34" charset="0"/>
                <a:ea typeface="Space Grotesk" pitchFamily="34" charset="-122"/>
                <a:cs typeface="Space Grotesk" pitchFamily="34" charset="-120"/>
              </a:rPr>
              <a:t>Context &amp; knowledge graph</a:t>
            </a:r>
            <a:endParaRPr lang="en-US" sz="1300" dirty="0"/>
          </a:p>
        </p:txBody>
      </p:sp>
      <p:sp>
        <p:nvSpPr>
          <p:cNvPr id="22" name="Text 20"/>
          <p:cNvSpPr/>
          <p:nvPr/>
        </p:nvSpPr>
        <p:spPr>
          <a:xfrm>
            <a:off x="3383280" y="2615184"/>
            <a:ext cx="4206240" cy="676656"/>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Identities, assets, ownership, crown-jewel paths, prior reasoning. Seeded by the CNAPP graph. Memory with decay.</a:t>
            </a:r>
            <a:endParaRPr lang="en-US" sz="900" dirty="0"/>
          </a:p>
        </p:txBody>
      </p:sp>
      <p:sp>
        <p:nvSpPr>
          <p:cNvPr id="23" name="Shape 21"/>
          <p:cNvSpPr/>
          <p:nvPr/>
        </p:nvSpPr>
        <p:spPr>
          <a:xfrm>
            <a:off x="365760" y="3429000"/>
            <a:ext cx="7315200" cy="777240"/>
          </a:xfrm>
          <a:prstGeom prst="roundRect">
            <a:avLst>
              <a:gd name="adj" fmla="val 5882"/>
            </a:avLst>
          </a:prstGeom>
          <a:solidFill>
            <a:srgbClr val="D6E4F7"/>
          </a:solidFill>
          <a:ln w="9525">
            <a:solidFill>
              <a:srgbClr val="DDDDEE"/>
            </a:solidFill>
            <a:prstDash val="solid"/>
          </a:ln>
        </p:spPr>
        <p:txBody>
          <a:bodyPr/>
          <a:lstStyle/>
          <a:p>
            <a:endParaRPr lang="en-US"/>
          </a:p>
        </p:txBody>
      </p:sp>
      <p:sp>
        <p:nvSpPr>
          <p:cNvPr id="24" name="Shape 22"/>
          <p:cNvSpPr/>
          <p:nvPr/>
        </p:nvSpPr>
        <p:spPr>
          <a:xfrm>
            <a:off x="365760" y="3429000"/>
            <a:ext cx="457200" cy="777240"/>
          </a:xfrm>
          <a:prstGeom prst="rect">
            <a:avLst/>
          </a:prstGeom>
          <a:solidFill>
            <a:srgbClr val="0000C8"/>
          </a:solidFill>
          <a:ln w="12700">
            <a:solidFill>
              <a:srgbClr val="333333"/>
            </a:solidFill>
            <a:prstDash val="solid"/>
          </a:ln>
        </p:spPr>
        <p:txBody>
          <a:bodyPr/>
          <a:lstStyle/>
          <a:p>
            <a:endParaRPr lang="en-US"/>
          </a:p>
        </p:txBody>
      </p:sp>
      <p:sp>
        <p:nvSpPr>
          <p:cNvPr id="25" name="Text 23"/>
          <p:cNvSpPr/>
          <p:nvPr/>
        </p:nvSpPr>
        <p:spPr>
          <a:xfrm>
            <a:off x="365760" y="3429000"/>
            <a:ext cx="45720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Space Grotesk" pitchFamily="34" charset="0"/>
                <a:ea typeface="Space Grotesk" pitchFamily="34" charset="-122"/>
                <a:cs typeface="Space Grotesk" pitchFamily="34" charset="-120"/>
              </a:rPr>
              <a:t>1</a:t>
            </a:r>
            <a:endParaRPr lang="en-US" sz="2200" dirty="0"/>
          </a:p>
        </p:txBody>
      </p:sp>
      <p:sp>
        <p:nvSpPr>
          <p:cNvPr id="26" name="Text 24"/>
          <p:cNvSpPr/>
          <p:nvPr/>
        </p:nvSpPr>
        <p:spPr>
          <a:xfrm>
            <a:off x="960120" y="3520440"/>
            <a:ext cx="2377440" cy="594360"/>
          </a:xfrm>
          <a:prstGeom prst="rect">
            <a:avLst/>
          </a:prstGeom>
          <a:noFill/>
          <a:ln/>
        </p:spPr>
        <p:txBody>
          <a:bodyPr wrap="square" lIns="0" tIns="0" rIns="0" bIns="0" rtlCol="0" anchor="ctr"/>
          <a:lstStyle/>
          <a:p>
            <a:pPr marL="0" indent="0">
              <a:buNone/>
            </a:pPr>
            <a:r>
              <a:rPr lang="en-US" sz="1300" b="1" dirty="0">
                <a:solidFill>
                  <a:srgbClr val="0D1B4B"/>
                </a:solidFill>
                <a:latin typeface="Space Grotesk" pitchFamily="34" charset="0"/>
                <a:ea typeface="Space Grotesk" pitchFamily="34" charset="-122"/>
                <a:cs typeface="Space Grotesk" pitchFamily="34" charset="-120"/>
              </a:rPr>
              <a:t>Data layer</a:t>
            </a:r>
            <a:endParaRPr lang="en-US" sz="1300" dirty="0"/>
          </a:p>
        </p:txBody>
      </p:sp>
      <p:sp>
        <p:nvSpPr>
          <p:cNvPr id="27" name="Text 25"/>
          <p:cNvSpPr/>
          <p:nvPr/>
        </p:nvSpPr>
        <p:spPr>
          <a:xfrm>
            <a:off x="3383280" y="3483864"/>
            <a:ext cx="4206240" cy="676656"/>
          </a:xfrm>
          <a:prstGeom prst="rect">
            <a:avLst/>
          </a:prstGeom>
          <a:noFill/>
          <a:ln/>
        </p:spPr>
        <p:txBody>
          <a:bodyPr wrap="square" lIns="0" tIns="0" rIns="0" bIns="0" rtlCol="0" anchor="ctr"/>
          <a:lstStyle/>
          <a:p>
            <a:pPr marL="0" indent="0">
              <a:buNone/>
            </a:pPr>
            <a:r>
              <a:rPr lang="en-US" sz="900" dirty="0">
                <a:solidFill>
                  <a:srgbClr val="0D1B4B"/>
                </a:solidFill>
                <a:latin typeface="Inter" pitchFamily="34" charset="0"/>
                <a:ea typeface="Inter" pitchFamily="34" charset="-122"/>
                <a:cs typeface="Inter" pitchFamily="34" charset="-120"/>
              </a:rPr>
              <a:t>Runtime eBPF telemetry (ground truth) + ingested cloud/identity/SaaS/TI, OCSF-normalized. Hot (ClickHouse/OpenSearch) + cold (object store).</a:t>
            </a:r>
            <a:endParaRPr lang="en-US" sz="900" dirty="0"/>
          </a:p>
        </p:txBody>
      </p:sp>
      <p:sp>
        <p:nvSpPr>
          <p:cNvPr id="28" name="Shape 26"/>
          <p:cNvSpPr/>
          <p:nvPr/>
        </p:nvSpPr>
        <p:spPr>
          <a:xfrm>
            <a:off x="7818120" y="822960"/>
            <a:ext cx="960120" cy="3337560"/>
          </a:xfrm>
          <a:prstGeom prst="rect">
            <a:avLst/>
          </a:prstGeom>
          <a:solidFill>
            <a:srgbClr val="C80019"/>
          </a:solidFill>
          <a:ln w="12700">
            <a:solidFill>
              <a:srgbClr val="333333"/>
            </a:solidFill>
            <a:prstDash val="solid"/>
          </a:ln>
        </p:spPr>
        <p:txBody>
          <a:bodyPr/>
          <a:lstStyle/>
          <a:p>
            <a:endParaRPr lang="en-US"/>
          </a:p>
        </p:txBody>
      </p:sp>
      <p:sp>
        <p:nvSpPr>
          <p:cNvPr id="29" name="Text 27"/>
          <p:cNvSpPr/>
          <p:nvPr/>
        </p:nvSpPr>
        <p:spPr>
          <a:xfrm>
            <a:off x="7818120" y="822960"/>
            <a:ext cx="960120" cy="3337560"/>
          </a:xfrm>
          <a:prstGeom prst="rect">
            <a:avLst/>
          </a:prstGeom>
          <a:noFill/>
          <a:ln/>
        </p:spPr>
        <p:txBody>
          <a:bodyPr wrap="square" lIns="0" tIns="0" rIns="0" bIns="0" rtlCol="0" anchor="ctr"/>
          <a:lstStyle/>
          <a:p>
            <a:pPr marL="0" indent="0" algn="ctr">
              <a:buNone/>
            </a:pPr>
            <a:r>
              <a:rPr lang="en-US" sz="1000" b="1" dirty="0">
                <a:solidFill>
                  <a:srgbClr val="FFFFFF"/>
                </a:solidFill>
                <a:latin typeface="Space Grotesk" pitchFamily="34" charset="0"/>
                <a:ea typeface="Space Grotesk" pitchFamily="34" charset="-122"/>
                <a:cs typeface="Space Grotesk" pitchFamily="34" charset="-120"/>
              </a:rPr>
              <a:t>AGENT SECURITY KnoxClaw across all layers</a:t>
            </a:r>
            <a:endParaRPr lang="en-US" sz="1000" dirty="0"/>
          </a:p>
        </p:txBody>
      </p:sp>
      <p:sp>
        <p:nvSpPr>
          <p:cNvPr id="30" name="Text 28"/>
          <p:cNvSpPr/>
          <p:nvPr/>
        </p:nvSpPr>
        <p:spPr>
          <a:xfrm>
            <a:off x="365760" y="4526280"/>
            <a:ext cx="8412480" cy="411480"/>
          </a:xfrm>
          <a:prstGeom prst="rect">
            <a:avLst/>
          </a:prstGeom>
          <a:noFill/>
          <a:ln/>
        </p:spPr>
        <p:txBody>
          <a:bodyPr wrap="square" lIns="0" tIns="0" rIns="0" bIns="0" rtlCol="0" anchor="ctr"/>
          <a:lstStyle/>
          <a:p>
            <a:pPr marL="0" indent="0" algn="ctr">
              <a:buNone/>
            </a:pPr>
            <a:r>
              <a:rPr lang="en-US" sz="900" i="1" dirty="0">
                <a:solidFill>
                  <a:srgbClr val="44507A"/>
                </a:solidFill>
                <a:latin typeface="Inter" pitchFamily="34" charset="0"/>
                <a:ea typeface="Inter" pitchFamily="34" charset="-122"/>
                <a:cs typeface="Inter" pitchFamily="34" charset="-120"/>
              </a:rPr>
              <a:t>Performance targets: millions of events/sec, 1 TB+/day/tenant, sub-second hot queries (the agent's context budget), inline kernel enforcement at near-zero overhead.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Multi-model AI, built against hallucination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18</a:t>
            </a:r>
            <a:endParaRPr lang="en-US" sz="750" dirty="0"/>
          </a:p>
        </p:txBody>
      </p:sp>
      <p:sp>
        <p:nvSpPr>
          <p:cNvPr id="8" name="Shape 6"/>
          <p:cNvSpPr/>
          <p:nvPr/>
        </p:nvSpPr>
        <p:spPr>
          <a:xfrm>
            <a:off x="365760" y="822960"/>
            <a:ext cx="4114800" cy="1280160"/>
          </a:xfrm>
          <a:prstGeom prst="roundRect">
            <a:avLst>
              <a:gd name="adj" fmla="val 3571"/>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822960"/>
            <a:ext cx="4114800" cy="384048"/>
          </a:xfrm>
          <a:prstGeom prst="rect">
            <a:avLst/>
          </a:prstGeom>
          <a:solidFill>
            <a:srgbClr val="0000C8"/>
          </a:solidFill>
          <a:ln w="12700">
            <a:solidFill>
              <a:srgbClr val="333333"/>
            </a:solidFill>
            <a:prstDash val="solid"/>
          </a:ln>
        </p:spPr>
        <p:txBody>
          <a:bodyPr/>
          <a:lstStyle/>
          <a:p>
            <a:endParaRPr lang="en-US"/>
          </a:p>
        </p:txBody>
      </p:sp>
      <p:sp>
        <p:nvSpPr>
          <p:cNvPr id="10" name="Text 8"/>
          <p:cNvSpPr/>
          <p:nvPr/>
        </p:nvSpPr>
        <p:spPr>
          <a:xfrm>
            <a:off x="502920" y="822960"/>
            <a:ext cx="3840480" cy="384048"/>
          </a:xfrm>
          <a:prstGeom prst="rect">
            <a:avLst/>
          </a:prstGeom>
          <a:noFill/>
          <a:ln/>
        </p:spPr>
        <p:txBody>
          <a:bodyPr wrap="square" lIns="0" tIns="0" rIns="0" bIns="0" rtlCol="0" anchor="ctr"/>
          <a:lstStyle/>
          <a:p>
            <a:pPr marL="0" indent="0">
              <a:buNone/>
            </a:pPr>
            <a:r>
              <a:rPr lang="en-US" sz="1250" b="1" dirty="0">
                <a:solidFill>
                  <a:srgbClr val="FFFFFF"/>
                </a:solidFill>
                <a:latin typeface="Space Grotesk" pitchFamily="34" charset="0"/>
                <a:ea typeface="Space Grotesk" pitchFamily="34" charset="-122"/>
                <a:cs typeface="Space Grotesk" pitchFamily="34" charset="-120"/>
              </a:rPr>
              <a:t>Semantic model</a:t>
            </a:r>
            <a:endParaRPr lang="en-US" sz="1250" dirty="0"/>
          </a:p>
        </p:txBody>
      </p:sp>
      <p:sp>
        <p:nvSpPr>
          <p:cNvPr id="11" name="Text 9"/>
          <p:cNvSpPr/>
          <p:nvPr/>
        </p:nvSpPr>
        <p:spPr>
          <a:xfrm>
            <a:off x="530352" y="1280160"/>
            <a:ext cx="3794760" cy="777240"/>
          </a:xfrm>
          <a:prstGeom prst="rect">
            <a:avLst/>
          </a:prstGeom>
          <a:noFill/>
          <a:ln/>
        </p:spPr>
        <p:txBody>
          <a:bodyPr wrap="square" lIns="0" tIns="0" rIns="0" bIns="0" rtlCol="0" anchor="t"/>
          <a:lstStyle/>
          <a:p>
            <a:pPr marL="0" indent="0">
              <a:buNone/>
            </a:pPr>
            <a:r>
              <a:rPr lang="en-US" sz="980" dirty="0">
                <a:solidFill>
                  <a:srgbClr val="0D1B4B"/>
                </a:solidFill>
                <a:latin typeface="Inter" pitchFamily="34" charset="0"/>
                <a:ea typeface="Inter" pitchFamily="34" charset="-122"/>
                <a:cs typeface="Inter" pitchFamily="34" charset="-120"/>
              </a:rPr>
              <a:t>Maintains the living map of identities, resources, and actions. Resolves entities across sources. Deterministic, not generated.</a:t>
            </a:r>
            <a:endParaRPr lang="en-US" sz="980" dirty="0"/>
          </a:p>
        </p:txBody>
      </p:sp>
      <p:sp>
        <p:nvSpPr>
          <p:cNvPr id="12" name="Shape 10"/>
          <p:cNvSpPr/>
          <p:nvPr/>
        </p:nvSpPr>
        <p:spPr>
          <a:xfrm>
            <a:off x="4617720" y="822960"/>
            <a:ext cx="4114800" cy="1280160"/>
          </a:xfrm>
          <a:prstGeom prst="roundRect">
            <a:avLst>
              <a:gd name="adj" fmla="val 3571"/>
            </a:avLst>
          </a:prstGeom>
          <a:solidFill>
            <a:srgbClr val="F2F4FA"/>
          </a:solidFill>
          <a:ln w="9525">
            <a:solidFill>
              <a:srgbClr val="DDDDEE"/>
            </a:solidFill>
            <a:prstDash val="solid"/>
          </a:ln>
        </p:spPr>
        <p:txBody>
          <a:bodyPr/>
          <a:lstStyle/>
          <a:p>
            <a:endParaRPr lang="en-US"/>
          </a:p>
        </p:txBody>
      </p:sp>
      <p:sp>
        <p:nvSpPr>
          <p:cNvPr id="13" name="Shape 11"/>
          <p:cNvSpPr/>
          <p:nvPr/>
        </p:nvSpPr>
        <p:spPr>
          <a:xfrm>
            <a:off x="4617720" y="822960"/>
            <a:ext cx="4114800" cy="384048"/>
          </a:xfrm>
          <a:prstGeom prst="rect">
            <a:avLst/>
          </a:prstGeom>
          <a:solidFill>
            <a:srgbClr val="6464FF"/>
          </a:solidFill>
          <a:ln w="12700">
            <a:solidFill>
              <a:srgbClr val="333333"/>
            </a:solidFill>
            <a:prstDash val="solid"/>
          </a:ln>
        </p:spPr>
        <p:txBody>
          <a:bodyPr/>
          <a:lstStyle/>
          <a:p>
            <a:endParaRPr lang="en-US"/>
          </a:p>
        </p:txBody>
      </p:sp>
      <p:sp>
        <p:nvSpPr>
          <p:cNvPr id="14" name="Text 12"/>
          <p:cNvSpPr/>
          <p:nvPr/>
        </p:nvSpPr>
        <p:spPr>
          <a:xfrm>
            <a:off x="4754880" y="822960"/>
            <a:ext cx="3840480" cy="384048"/>
          </a:xfrm>
          <a:prstGeom prst="rect">
            <a:avLst/>
          </a:prstGeom>
          <a:noFill/>
          <a:ln/>
        </p:spPr>
        <p:txBody>
          <a:bodyPr wrap="square" lIns="0" tIns="0" rIns="0" bIns="0" rtlCol="0" anchor="ctr"/>
          <a:lstStyle/>
          <a:p>
            <a:pPr marL="0" indent="0">
              <a:buNone/>
            </a:pPr>
            <a:r>
              <a:rPr lang="en-US" sz="1250" b="1" dirty="0">
                <a:solidFill>
                  <a:srgbClr val="FFFFFF"/>
                </a:solidFill>
                <a:latin typeface="Space Grotesk" pitchFamily="34" charset="0"/>
                <a:ea typeface="Space Grotesk" pitchFamily="34" charset="-122"/>
                <a:cs typeface="Space Grotesk" pitchFamily="34" charset="-120"/>
              </a:rPr>
              <a:t>Behavioral model</a:t>
            </a:r>
            <a:endParaRPr lang="en-US" sz="1250" dirty="0"/>
          </a:p>
        </p:txBody>
      </p:sp>
      <p:sp>
        <p:nvSpPr>
          <p:cNvPr id="15" name="Text 13"/>
          <p:cNvSpPr/>
          <p:nvPr/>
        </p:nvSpPr>
        <p:spPr>
          <a:xfrm>
            <a:off x="4782312" y="1280160"/>
            <a:ext cx="3794760" cy="777240"/>
          </a:xfrm>
          <a:prstGeom prst="rect">
            <a:avLst/>
          </a:prstGeom>
          <a:noFill/>
          <a:ln/>
        </p:spPr>
        <p:txBody>
          <a:bodyPr wrap="square" lIns="0" tIns="0" rIns="0" bIns="0" rtlCol="0" anchor="t"/>
          <a:lstStyle/>
          <a:p>
            <a:pPr marL="0" indent="0">
              <a:buNone/>
            </a:pPr>
            <a:r>
              <a:rPr lang="en-US" sz="980" dirty="0">
                <a:solidFill>
                  <a:srgbClr val="0D1B4B"/>
                </a:solidFill>
                <a:latin typeface="Inter" pitchFamily="34" charset="0"/>
                <a:ea typeface="Inter" pitchFamily="34" charset="-122"/>
                <a:cs typeface="Inter" pitchFamily="34" charset="-120"/>
              </a:rPr>
              <a:t>Establishes normal per entity, quantifies deviation as explainable, reproducible anomaly scores. Statistical, not LLM-estimated.</a:t>
            </a:r>
            <a:endParaRPr lang="en-US" sz="980" dirty="0"/>
          </a:p>
        </p:txBody>
      </p:sp>
      <p:sp>
        <p:nvSpPr>
          <p:cNvPr id="16" name="Shape 14"/>
          <p:cNvSpPr/>
          <p:nvPr/>
        </p:nvSpPr>
        <p:spPr>
          <a:xfrm>
            <a:off x="365760" y="2240280"/>
            <a:ext cx="4114800" cy="1280160"/>
          </a:xfrm>
          <a:prstGeom prst="roundRect">
            <a:avLst>
              <a:gd name="adj" fmla="val 3571"/>
            </a:avLst>
          </a:prstGeom>
          <a:solidFill>
            <a:srgbClr val="F2F4FA"/>
          </a:solidFill>
          <a:ln w="9525">
            <a:solidFill>
              <a:srgbClr val="DDDDEE"/>
            </a:solidFill>
            <a:prstDash val="solid"/>
          </a:ln>
        </p:spPr>
        <p:txBody>
          <a:bodyPr/>
          <a:lstStyle/>
          <a:p>
            <a:endParaRPr lang="en-US"/>
          </a:p>
        </p:txBody>
      </p:sp>
      <p:sp>
        <p:nvSpPr>
          <p:cNvPr id="17" name="Shape 15"/>
          <p:cNvSpPr/>
          <p:nvPr/>
        </p:nvSpPr>
        <p:spPr>
          <a:xfrm>
            <a:off x="365760" y="2240280"/>
            <a:ext cx="4114800" cy="384048"/>
          </a:xfrm>
          <a:prstGeom prst="rect">
            <a:avLst/>
          </a:prstGeom>
          <a:solidFill>
            <a:srgbClr val="0046FF"/>
          </a:solidFill>
          <a:ln w="12700">
            <a:solidFill>
              <a:srgbClr val="333333"/>
            </a:solidFill>
            <a:prstDash val="solid"/>
          </a:ln>
        </p:spPr>
        <p:txBody>
          <a:bodyPr/>
          <a:lstStyle/>
          <a:p>
            <a:endParaRPr lang="en-US"/>
          </a:p>
        </p:txBody>
      </p:sp>
      <p:sp>
        <p:nvSpPr>
          <p:cNvPr id="18" name="Text 16"/>
          <p:cNvSpPr/>
          <p:nvPr/>
        </p:nvSpPr>
        <p:spPr>
          <a:xfrm>
            <a:off x="502920" y="2240280"/>
            <a:ext cx="3840480" cy="384048"/>
          </a:xfrm>
          <a:prstGeom prst="rect">
            <a:avLst/>
          </a:prstGeom>
          <a:noFill/>
          <a:ln/>
        </p:spPr>
        <p:txBody>
          <a:bodyPr wrap="square" lIns="0" tIns="0" rIns="0" bIns="0" rtlCol="0" anchor="ctr"/>
          <a:lstStyle/>
          <a:p>
            <a:pPr marL="0" indent="0">
              <a:buNone/>
            </a:pPr>
            <a:r>
              <a:rPr lang="en-US" sz="1250" b="1" dirty="0">
                <a:solidFill>
                  <a:srgbClr val="FFFFFF"/>
                </a:solidFill>
                <a:latin typeface="Space Grotesk" pitchFamily="34" charset="0"/>
                <a:ea typeface="Space Grotesk" pitchFamily="34" charset="-122"/>
                <a:cs typeface="Space Grotesk" pitchFamily="34" charset="-120"/>
              </a:rPr>
              <a:t>Reasoning model (LLM)</a:t>
            </a:r>
            <a:endParaRPr lang="en-US" sz="1250" dirty="0"/>
          </a:p>
        </p:txBody>
      </p:sp>
      <p:sp>
        <p:nvSpPr>
          <p:cNvPr id="19" name="Text 17"/>
          <p:cNvSpPr/>
          <p:nvPr/>
        </p:nvSpPr>
        <p:spPr>
          <a:xfrm>
            <a:off x="530352" y="2697480"/>
            <a:ext cx="3794760" cy="777240"/>
          </a:xfrm>
          <a:prstGeom prst="rect">
            <a:avLst/>
          </a:prstGeom>
          <a:noFill/>
          <a:ln/>
        </p:spPr>
        <p:txBody>
          <a:bodyPr wrap="square" lIns="0" tIns="0" rIns="0" bIns="0" rtlCol="0" anchor="t"/>
          <a:lstStyle/>
          <a:p>
            <a:pPr marL="0" indent="0">
              <a:buNone/>
            </a:pPr>
            <a:r>
              <a:rPr lang="en-US" sz="980" dirty="0">
                <a:solidFill>
                  <a:srgbClr val="0D1B4B"/>
                </a:solidFill>
                <a:latin typeface="Inter" pitchFamily="34" charset="0"/>
                <a:ea typeface="Inter" pitchFamily="34" charset="-122"/>
                <a:cs typeface="Inter" pitchFamily="34" charset="-120"/>
              </a:rPr>
              <a:t>Reasons over validated entities and computed scores as inputs. Never invents facts or scores. Synthesizes, explains, plans.</a:t>
            </a:r>
            <a:endParaRPr lang="en-US" sz="980" dirty="0"/>
          </a:p>
        </p:txBody>
      </p:sp>
      <p:sp>
        <p:nvSpPr>
          <p:cNvPr id="20" name="Shape 18"/>
          <p:cNvSpPr/>
          <p:nvPr/>
        </p:nvSpPr>
        <p:spPr>
          <a:xfrm>
            <a:off x="4617720" y="2240280"/>
            <a:ext cx="4114800" cy="1280160"/>
          </a:xfrm>
          <a:prstGeom prst="roundRect">
            <a:avLst>
              <a:gd name="adj" fmla="val 3571"/>
            </a:avLst>
          </a:prstGeom>
          <a:solidFill>
            <a:srgbClr val="F2F4FA"/>
          </a:solidFill>
          <a:ln w="9525">
            <a:solidFill>
              <a:srgbClr val="DDDDEE"/>
            </a:solidFill>
            <a:prstDash val="solid"/>
          </a:ln>
        </p:spPr>
        <p:txBody>
          <a:bodyPr/>
          <a:lstStyle/>
          <a:p>
            <a:endParaRPr lang="en-US"/>
          </a:p>
        </p:txBody>
      </p:sp>
      <p:sp>
        <p:nvSpPr>
          <p:cNvPr id="21" name="Shape 19"/>
          <p:cNvSpPr/>
          <p:nvPr/>
        </p:nvSpPr>
        <p:spPr>
          <a:xfrm>
            <a:off x="4617720" y="2240280"/>
            <a:ext cx="4114800" cy="384048"/>
          </a:xfrm>
          <a:prstGeom prst="rect">
            <a:avLst/>
          </a:prstGeom>
          <a:solidFill>
            <a:srgbClr val="6464FF"/>
          </a:solidFill>
          <a:ln w="12700">
            <a:solidFill>
              <a:srgbClr val="333333"/>
            </a:solidFill>
            <a:prstDash val="solid"/>
          </a:ln>
        </p:spPr>
        <p:txBody>
          <a:bodyPr/>
          <a:lstStyle/>
          <a:p>
            <a:endParaRPr lang="en-US"/>
          </a:p>
        </p:txBody>
      </p:sp>
      <p:sp>
        <p:nvSpPr>
          <p:cNvPr id="22" name="Text 20"/>
          <p:cNvSpPr/>
          <p:nvPr/>
        </p:nvSpPr>
        <p:spPr>
          <a:xfrm>
            <a:off x="4754880" y="2240280"/>
            <a:ext cx="3840480" cy="384048"/>
          </a:xfrm>
          <a:prstGeom prst="rect">
            <a:avLst/>
          </a:prstGeom>
          <a:noFill/>
          <a:ln/>
        </p:spPr>
        <p:txBody>
          <a:bodyPr wrap="square" lIns="0" tIns="0" rIns="0" bIns="0" rtlCol="0" anchor="ctr"/>
          <a:lstStyle/>
          <a:p>
            <a:pPr marL="0" indent="0">
              <a:buNone/>
            </a:pPr>
            <a:r>
              <a:rPr lang="en-US" sz="1250" b="1" dirty="0">
                <a:solidFill>
                  <a:srgbClr val="FFFFFF"/>
                </a:solidFill>
                <a:latin typeface="Space Grotesk" pitchFamily="34" charset="0"/>
                <a:ea typeface="Space Grotesk" pitchFamily="34" charset="-122"/>
                <a:cs typeface="Space Grotesk" pitchFamily="34" charset="-120"/>
              </a:rPr>
              <a:t>Knowledge model</a:t>
            </a:r>
            <a:endParaRPr lang="en-US" sz="1250" dirty="0"/>
          </a:p>
        </p:txBody>
      </p:sp>
      <p:sp>
        <p:nvSpPr>
          <p:cNvPr id="23" name="Text 21"/>
          <p:cNvSpPr/>
          <p:nvPr/>
        </p:nvSpPr>
        <p:spPr>
          <a:xfrm>
            <a:off x="4782312" y="2697480"/>
            <a:ext cx="3794760" cy="777240"/>
          </a:xfrm>
          <a:prstGeom prst="rect">
            <a:avLst/>
          </a:prstGeom>
          <a:noFill/>
          <a:ln/>
        </p:spPr>
        <p:txBody>
          <a:bodyPr wrap="square" lIns="0" tIns="0" rIns="0" bIns="0" rtlCol="0" anchor="t"/>
          <a:lstStyle/>
          <a:p>
            <a:pPr marL="0" indent="0">
              <a:buNone/>
            </a:pPr>
            <a:r>
              <a:rPr lang="en-US" sz="980" dirty="0">
                <a:solidFill>
                  <a:srgbClr val="0D1B4B"/>
                </a:solidFill>
                <a:latin typeface="Inter" pitchFamily="34" charset="0"/>
                <a:ea typeface="Inter" pitchFamily="34" charset="-122"/>
                <a:cs typeface="Inter" pitchFamily="34" charset="-120"/>
              </a:rPr>
              <a:t>Blends LLM reasoning with curated intel, historic decisions, and hard-coded business rules. Confidence with decay.</a:t>
            </a:r>
            <a:endParaRPr lang="en-US" sz="980" dirty="0"/>
          </a:p>
        </p:txBody>
      </p:sp>
      <p:sp>
        <p:nvSpPr>
          <p:cNvPr id="24" name="Shape 22"/>
          <p:cNvSpPr/>
          <p:nvPr/>
        </p:nvSpPr>
        <p:spPr>
          <a:xfrm>
            <a:off x="365760" y="3749040"/>
            <a:ext cx="8412480" cy="868680"/>
          </a:xfrm>
          <a:prstGeom prst="roundRect">
            <a:avLst>
              <a:gd name="adj" fmla="val 5263"/>
            </a:avLst>
          </a:prstGeom>
          <a:solidFill>
            <a:srgbClr val="EEF3FF"/>
          </a:solidFill>
          <a:ln w="9525">
            <a:solidFill>
              <a:srgbClr val="0046FF"/>
            </a:solidFill>
            <a:prstDash val="solid"/>
          </a:ln>
        </p:spPr>
        <p:txBody>
          <a:bodyPr/>
          <a:lstStyle/>
          <a:p>
            <a:endParaRPr lang="en-US"/>
          </a:p>
        </p:txBody>
      </p:sp>
      <p:sp>
        <p:nvSpPr>
          <p:cNvPr id="25" name="Text 23"/>
          <p:cNvSpPr/>
          <p:nvPr/>
        </p:nvSpPr>
        <p:spPr>
          <a:xfrm>
            <a:off x="502920" y="3822192"/>
            <a:ext cx="8229600" cy="274320"/>
          </a:xfrm>
          <a:prstGeom prst="rect">
            <a:avLst/>
          </a:prstGeom>
          <a:noFill/>
          <a:ln/>
        </p:spPr>
        <p:txBody>
          <a:bodyPr wrap="square" lIns="0" tIns="0" rIns="0" bIns="0" rtlCol="0" anchor="t"/>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Hallucination control, by design</a:t>
            </a:r>
            <a:endParaRPr lang="en-US" sz="1100" dirty="0"/>
          </a:p>
        </p:txBody>
      </p:sp>
      <p:sp>
        <p:nvSpPr>
          <p:cNvPr id="26" name="Text 24"/>
          <p:cNvSpPr/>
          <p:nvPr/>
        </p:nvSpPr>
        <p:spPr>
          <a:xfrm>
            <a:off x="502920" y="4114800"/>
            <a:ext cx="8229600" cy="457200"/>
          </a:xfrm>
          <a:prstGeom prst="rect">
            <a:avLst/>
          </a:prstGeom>
          <a:noFill/>
          <a:ln/>
        </p:spPr>
        <p:txBody>
          <a:bodyPr wrap="square" lIns="0" tIns="0" rIns="0" bIns="0" rtlCol="0" anchor="t"/>
          <a:lstStyle/>
          <a:p>
            <a:pPr marL="0" indent="0">
              <a:buNone/>
            </a:pPr>
            <a:r>
              <a:rPr lang="en-US" sz="930" dirty="0">
                <a:solidFill>
                  <a:srgbClr val="0D1B4B"/>
                </a:solidFill>
                <a:latin typeface="Inter" pitchFamily="34" charset="0"/>
                <a:ea typeface="Inter" pitchFamily="34" charset="-122"/>
                <a:cs typeface="Inter" pitchFamily="34" charset="-120"/>
              </a:rPr>
              <a:t>No hallucinated facts (LLM gets validated inputs, never guesses)  ·  No inconsistent scoring (deterministic algorithms, not run-to-run LLM estimation)  ·  No fabricated event IDs  ·  When data does not exist, the agent says so.</a:t>
            </a:r>
            <a:endParaRPr lang="en-US" sz="9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Securing the agents themselves</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19</a:t>
            </a:r>
            <a:endParaRPr lang="en-US" sz="750" dirty="0"/>
          </a:p>
        </p:txBody>
      </p:sp>
      <p:sp>
        <p:nvSpPr>
          <p:cNvPr id="8" name="Text 6"/>
          <p:cNvSpPr/>
          <p:nvPr/>
        </p:nvSpPr>
        <p:spPr>
          <a:xfrm>
            <a:off x="365760" y="777240"/>
            <a:ext cx="8412480" cy="548640"/>
          </a:xfrm>
          <a:prstGeom prst="rect">
            <a:avLst/>
          </a:prstGeom>
          <a:noFill/>
          <a:ln/>
        </p:spPr>
        <p:txBody>
          <a:bodyPr wrap="square" lIns="0" tIns="0" rIns="0" bIns="0" rtlCol="0" anchor="t"/>
          <a:lstStyle/>
          <a:p>
            <a:pPr marL="0" indent="0">
              <a:buNone/>
            </a:pPr>
            <a:r>
              <a:rPr lang="en-US" sz="1000" i="1" dirty="0">
                <a:solidFill>
                  <a:srgbClr val="0000C8"/>
                </a:solidFill>
                <a:latin typeface="Inter" pitchFamily="34" charset="0"/>
                <a:ea typeface="Inter" pitchFamily="34" charset="-122"/>
                <a:cs typeface="Inter" pitchFamily="34" charset="-120"/>
              </a:rPr>
              <a:t>An agent with shell, filesystem, and network access is, functionally, a compromised workload. AccuKnox treats it like one. This is the Harvey "isolate SOC agents on the trust boundary" lesson, enforced in-kernel.</a:t>
            </a:r>
            <a:endParaRPr lang="en-US" sz="1000" dirty="0"/>
          </a:p>
        </p:txBody>
      </p:sp>
      <p:sp>
        <p:nvSpPr>
          <p:cNvPr id="9" name="Shape 7"/>
          <p:cNvSpPr/>
          <p:nvPr/>
        </p:nvSpPr>
        <p:spPr>
          <a:xfrm>
            <a:off x="365760" y="1417320"/>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10" name="Shape 8"/>
          <p:cNvSpPr/>
          <p:nvPr/>
        </p:nvSpPr>
        <p:spPr>
          <a:xfrm>
            <a:off x="365760" y="1417320"/>
            <a:ext cx="64008" cy="914400"/>
          </a:xfrm>
          <a:prstGeom prst="rect">
            <a:avLst/>
          </a:prstGeom>
          <a:solidFill>
            <a:srgbClr val="C80019"/>
          </a:solidFill>
          <a:ln w="12700">
            <a:solidFill>
              <a:srgbClr val="333333"/>
            </a:solidFill>
            <a:prstDash val="solid"/>
          </a:ln>
        </p:spPr>
        <p:txBody>
          <a:bodyPr/>
          <a:lstStyle/>
          <a:p>
            <a:endParaRPr lang="en-US"/>
          </a:p>
        </p:txBody>
      </p:sp>
      <p:sp>
        <p:nvSpPr>
          <p:cNvPr id="11" name="Text 9"/>
          <p:cNvSpPr/>
          <p:nvPr/>
        </p:nvSpPr>
        <p:spPr>
          <a:xfrm>
            <a:off x="548640" y="1508760"/>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Kernel sandbox (KnoxClaw)</a:t>
            </a:r>
            <a:endParaRPr lang="en-US" sz="1150" dirty="0"/>
          </a:p>
        </p:txBody>
      </p:sp>
      <p:sp>
        <p:nvSpPr>
          <p:cNvPr id="12" name="Text 10"/>
          <p:cNvSpPr/>
          <p:nvPr/>
        </p:nvSpPr>
        <p:spPr>
          <a:xfrm>
            <a:off x="548640" y="1837944"/>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Each agent under an eBPF/KubeArmor policy: workspace-only files, process allowlist, egress control. Blocks before the syscall.</a:t>
            </a:r>
            <a:endParaRPr lang="en-US" sz="900" dirty="0"/>
          </a:p>
        </p:txBody>
      </p:sp>
      <p:sp>
        <p:nvSpPr>
          <p:cNvPr id="13" name="Shape 11"/>
          <p:cNvSpPr/>
          <p:nvPr/>
        </p:nvSpPr>
        <p:spPr>
          <a:xfrm>
            <a:off x="4617720" y="1417320"/>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14" name="Shape 12"/>
          <p:cNvSpPr/>
          <p:nvPr/>
        </p:nvSpPr>
        <p:spPr>
          <a:xfrm>
            <a:off x="4617720" y="1417320"/>
            <a:ext cx="64008" cy="914400"/>
          </a:xfrm>
          <a:prstGeom prst="rect">
            <a:avLst/>
          </a:prstGeom>
          <a:solidFill>
            <a:srgbClr val="C80019"/>
          </a:solidFill>
          <a:ln w="12700">
            <a:solidFill>
              <a:srgbClr val="333333"/>
            </a:solidFill>
            <a:prstDash val="solid"/>
          </a:ln>
        </p:spPr>
        <p:txBody>
          <a:bodyPr/>
          <a:lstStyle/>
          <a:p>
            <a:endParaRPr lang="en-US"/>
          </a:p>
        </p:txBody>
      </p:sp>
      <p:sp>
        <p:nvSpPr>
          <p:cNvPr id="15" name="Text 13"/>
          <p:cNvSpPr/>
          <p:nvPr/>
        </p:nvSpPr>
        <p:spPr>
          <a:xfrm>
            <a:off x="4800600" y="1508760"/>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Least privilege per step</a:t>
            </a:r>
            <a:endParaRPr lang="en-US" sz="1150" dirty="0"/>
          </a:p>
        </p:txBody>
      </p:sp>
      <p:sp>
        <p:nvSpPr>
          <p:cNvPr id="16" name="Text 14"/>
          <p:cNvSpPr/>
          <p:nvPr/>
        </p:nvSpPr>
        <p:spPr>
          <a:xfrm>
            <a:off x="4800600" y="1837944"/>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Upstream-caller-aware authorization. SPIFFE identity, OpenFGA policy. Each agent step gets only the tools it needs.</a:t>
            </a:r>
            <a:endParaRPr lang="en-US" sz="900" dirty="0"/>
          </a:p>
        </p:txBody>
      </p:sp>
      <p:sp>
        <p:nvSpPr>
          <p:cNvPr id="17" name="Shape 15"/>
          <p:cNvSpPr/>
          <p:nvPr/>
        </p:nvSpPr>
        <p:spPr>
          <a:xfrm>
            <a:off x="365760" y="2441448"/>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18" name="Shape 16"/>
          <p:cNvSpPr/>
          <p:nvPr/>
        </p:nvSpPr>
        <p:spPr>
          <a:xfrm>
            <a:off x="365760" y="2441448"/>
            <a:ext cx="64008" cy="914400"/>
          </a:xfrm>
          <a:prstGeom prst="rect">
            <a:avLst/>
          </a:prstGeom>
          <a:solidFill>
            <a:srgbClr val="C80019"/>
          </a:solidFill>
          <a:ln w="12700">
            <a:solidFill>
              <a:srgbClr val="333333"/>
            </a:solidFill>
            <a:prstDash val="solid"/>
          </a:ln>
        </p:spPr>
        <p:txBody>
          <a:bodyPr/>
          <a:lstStyle/>
          <a:p>
            <a:endParaRPr lang="en-US"/>
          </a:p>
        </p:txBody>
      </p:sp>
      <p:sp>
        <p:nvSpPr>
          <p:cNvPr id="19" name="Text 17"/>
          <p:cNvSpPr/>
          <p:nvPr/>
        </p:nvSpPr>
        <p:spPr>
          <a:xfrm>
            <a:off x="548640" y="2532888"/>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Supply chain integrity</a:t>
            </a:r>
            <a:endParaRPr lang="en-US" sz="1150" dirty="0"/>
          </a:p>
        </p:txBody>
      </p:sp>
      <p:sp>
        <p:nvSpPr>
          <p:cNvPr id="20" name="Text 18"/>
          <p:cNvSpPr/>
          <p:nvPr/>
        </p:nvSpPr>
        <p:spPr>
          <a:xfrm>
            <a:off x="548640" y="2862072"/>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AI-BOM inventories every model, tool, and dependency, verified and monitored. The LiteLLM-style compromise surfaces here.</a:t>
            </a:r>
            <a:endParaRPr lang="en-US" sz="900" dirty="0"/>
          </a:p>
        </p:txBody>
      </p:sp>
      <p:sp>
        <p:nvSpPr>
          <p:cNvPr id="21" name="Shape 19"/>
          <p:cNvSpPr/>
          <p:nvPr/>
        </p:nvSpPr>
        <p:spPr>
          <a:xfrm>
            <a:off x="4617720" y="2441448"/>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22" name="Shape 20"/>
          <p:cNvSpPr/>
          <p:nvPr/>
        </p:nvSpPr>
        <p:spPr>
          <a:xfrm>
            <a:off x="4617720" y="2441448"/>
            <a:ext cx="64008" cy="914400"/>
          </a:xfrm>
          <a:prstGeom prst="rect">
            <a:avLst/>
          </a:prstGeom>
          <a:solidFill>
            <a:srgbClr val="C80019"/>
          </a:solidFill>
          <a:ln w="12700">
            <a:solidFill>
              <a:srgbClr val="333333"/>
            </a:solidFill>
            <a:prstDash val="solid"/>
          </a:ln>
        </p:spPr>
        <p:txBody>
          <a:bodyPr/>
          <a:lstStyle/>
          <a:p>
            <a:endParaRPr lang="en-US"/>
          </a:p>
        </p:txBody>
      </p:sp>
      <p:sp>
        <p:nvSpPr>
          <p:cNvPr id="23" name="Text 21"/>
          <p:cNvSpPr/>
          <p:nvPr/>
        </p:nvSpPr>
        <p:spPr>
          <a:xfrm>
            <a:off x="4800600" y="2532888"/>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Adversarial robustness</a:t>
            </a:r>
            <a:endParaRPr lang="en-US" sz="1150" dirty="0"/>
          </a:p>
        </p:txBody>
      </p:sp>
      <p:sp>
        <p:nvSpPr>
          <p:cNvPr id="24" name="Text 22"/>
          <p:cNvSpPr/>
          <p:nvPr/>
        </p:nvSpPr>
        <p:spPr>
          <a:xfrm>
            <a:off x="4800600" y="2862072"/>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AI Red Teaming for prompt injection, jailbreak, exfiltration, tool misuse, before and during production.</a:t>
            </a:r>
            <a:endParaRPr lang="en-US" sz="900" dirty="0"/>
          </a:p>
        </p:txBody>
      </p:sp>
      <p:sp>
        <p:nvSpPr>
          <p:cNvPr id="25" name="Shape 23"/>
          <p:cNvSpPr/>
          <p:nvPr/>
        </p:nvSpPr>
        <p:spPr>
          <a:xfrm>
            <a:off x="365760" y="3465576"/>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26" name="Shape 24"/>
          <p:cNvSpPr/>
          <p:nvPr/>
        </p:nvSpPr>
        <p:spPr>
          <a:xfrm>
            <a:off x="365760" y="3465576"/>
            <a:ext cx="64008" cy="914400"/>
          </a:xfrm>
          <a:prstGeom prst="rect">
            <a:avLst/>
          </a:prstGeom>
          <a:solidFill>
            <a:srgbClr val="C80019"/>
          </a:solidFill>
          <a:ln w="12700">
            <a:solidFill>
              <a:srgbClr val="333333"/>
            </a:solidFill>
            <a:prstDash val="solid"/>
          </a:ln>
        </p:spPr>
        <p:txBody>
          <a:bodyPr/>
          <a:lstStyle/>
          <a:p>
            <a:endParaRPr lang="en-US"/>
          </a:p>
        </p:txBody>
      </p:sp>
      <p:sp>
        <p:nvSpPr>
          <p:cNvPr id="27" name="Text 25"/>
          <p:cNvSpPr/>
          <p:nvPr/>
        </p:nvSpPr>
        <p:spPr>
          <a:xfrm>
            <a:off x="548640" y="3557016"/>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Prompt firewall</a:t>
            </a:r>
            <a:endParaRPr lang="en-US" sz="1150" dirty="0"/>
          </a:p>
        </p:txBody>
      </p:sp>
      <p:sp>
        <p:nvSpPr>
          <p:cNvPr id="28" name="Text 26"/>
          <p:cNvSpPr/>
          <p:nvPr/>
        </p:nvSpPr>
        <p:spPr>
          <a:xfrm>
            <a:off x="548640" y="3886200"/>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GPU-optimized inference-time inspection for injection and sensitive data in agent inputs.</a:t>
            </a:r>
            <a:endParaRPr lang="en-US" sz="900" dirty="0"/>
          </a:p>
        </p:txBody>
      </p:sp>
      <p:sp>
        <p:nvSpPr>
          <p:cNvPr id="29" name="Shape 27"/>
          <p:cNvSpPr/>
          <p:nvPr/>
        </p:nvSpPr>
        <p:spPr>
          <a:xfrm>
            <a:off x="4617720" y="3465576"/>
            <a:ext cx="4114800" cy="914400"/>
          </a:xfrm>
          <a:prstGeom prst="roundRect">
            <a:avLst>
              <a:gd name="adj" fmla="val 5000"/>
            </a:avLst>
          </a:prstGeom>
          <a:solidFill>
            <a:srgbClr val="F2F4FA"/>
          </a:solidFill>
          <a:ln w="9525">
            <a:solidFill>
              <a:srgbClr val="DDDDEE"/>
            </a:solidFill>
            <a:prstDash val="solid"/>
          </a:ln>
        </p:spPr>
        <p:txBody>
          <a:bodyPr/>
          <a:lstStyle/>
          <a:p>
            <a:endParaRPr lang="en-US"/>
          </a:p>
        </p:txBody>
      </p:sp>
      <p:sp>
        <p:nvSpPr>
          <p:cNvPr id="30" name="Shape 28"/>
          <p:cNvSpPr/>
          <p:nvPr/>
        </p:nvSpPr>
        <p:spPr>
          <a:xfrm>
            <a:off x="4617720" y="3465576"/>
            <a:ext cx="64008" cy="914400"/>
          </a:xfrm>
          <a:prstGeom prst="rect">
            <a:avLst/>
          </a:prstGeom>
          <a:solidFill>
            <a:srgbClr val="C80019"/>
          </a:solidFill>
          <a:ln w="12700">
            <a:solidFill>
              <a:srgbClr val="333333"/>
            </a:solidFill>
            <a:prstDash val="solid"/>
          </a:ln>
        </p:spPr>
        <p:txBody>
          <a:bodyPr/>
          <a:lstStyle/>
          <a:p>
            <a:endParaRPr lang="en-US"/>
          </a:p>
        </p:txBody>
      </p:sp>
      <p:sp>
        <p:nvSpPr>
          <p:cNvPr id="31" name="Text 29"/>
          <p:cNvSpPr/>
          <p:nvPr/>
        </p:nvSpPr>
        <p:spPr>
          <a:xfrm>
            <a:off x="4800600" y="3557016"/>
            <a:ext cx="3840480" cy="365760"/>
          </a:xfrm>
          <a:prstGeom prst="rect">
            <a:avLst/>
          </a:prstGeom>
          <a:noFill/>
          <a:ln/>
        </p:spPr>
        <p:txBody>
          <a:bodyPr wrap="square" lIns="0" tIns="0" rIns="0" bIns="0" rtlCol="0" anchor="t"/>
          <a:lstStyle/>
          <a:p>
            <a:pPr marL="0" indent="0">
              <a:buNone/>
            </a:pPr>
            <a:r>
              <a:rPr lang="en-US" sz="1150" b="1" dirty="0">
                <a:solidFill>
                  <a:srgbClr val="0000C8"/>
                </a:solidFill>
                <a:latin typeface="Space Grotesk" pitchFamily="34" charset="0"/>
                <a:ea typeface="Space Grotesk" pitchFamily="34" charset="-122"/>
                <a:cs typeface="Space Grotesk" pitchFamily="34" charset="-120"/>
              </a:rPr>
              <a:t>Full audit + privilege separation</a:t>
            </a:r>
            <a:endParaRPr lang="en-US" sz="1150" dirty="0"/>
          </a:p>
        </p:txBody>
      </p:sp>
      <p:sp>
        <p:nvSpPr>
          <p:cNvPr id="32" name="Text 30"/>
          <p:cNvSpPr/>
          <p:nvPr/>
        </p:nvSpPr>
        <p:spPr>
          <a:xfrm>
            <a:off x="4800600" y="3886200"/>
            <a:ext cx="3794760" cy="457200"/>
          </a:xfrm>
          <a:prstGeom prst="rect">
            <a:avLst/>
          </a:prstGeom>
          <a:noFill/>
          <a:ln/>
        </p:spPr>
        <p:txBody>
          <a:bodyPr wrap="square" lIns="0" tIns="0" rIns="0" bIns="0" rtlCol="0" anchor="t"/>
          <a:lstStyle/>
          <a:p>
            <a:pPr marL="0" indent="0">
              <a:buNone/>
            </a:pPr>
            <a:r>
              <a:rPr lang="en-US" sz="900" dirty="0">
                <a:solidFill>
                  <a:srgbClr val="0D1B4B"/>
                </a:solidFill>
                <a:latin typeface="Inter" pitchFamily="34" charset="0"/>
                <a:ea typeface="Inter" pitchFamily="34" charset="-122"/>
                <a:cs typeface="Inter" pitchFamily="34" charset="-120"/>
              </a:rPr>
              <a:t>Every agent action and policy violation logged. SOC agents run on a different trust boundary than what they protect.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06</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The User Journey</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One continuous loop, from alert ingestion to kernel enforcement.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Flowchart 1 — from alert to enforcement</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21</a:t>
            </a:r>
            <a:endParaRPr lang="en-US" sz="750" dirty="0"/>
          </a:p>
        </p:txBody>
      </p:sp>
      <p:sp>
        <p:nvSpPr>
          <p:cNvPr id="8" name="Shape 6"/>
          <p:cNvSpPr/>
          <p:nvPr/>
        </p:nvSpPr>
        <p:spPr>
          <a:xfrm>
            <a:off x="365760" y="1143000"/>
            <a:ext cx="1627632" cy="603504"/>
          </a:xfrm>
          <a:prstGeom prst="roundRect">
            <a:avLst>
              <a:gd name="adj" fmla="val 7576"/>
            </a:avLst>
          </a:prstGeom>
          <a:solidFill>
            <a:srgbClr val="0000C8"/>
          </a:solidFill>
          <a:ln w="9525">
            <a:solidFill>
              <a:srgbClr val="0000C8"/>
            </a:solidFill>
            <a:prstDash val="solid"/>
          </a:ln>
        </p:spPr>
        <p:txBody>
          <a:bodyPr/>
          <a:lstStyle/>
          <a:p>
            <a:endParaRPr lang="en-US"/>
          </a:p>
        </p:txBody>
      </p:sp>
      <p:sp>
        <p:nvSpPr>
          <p:cNvPr id="9" name="Text 7"/>
          <p:cNvSpPr/>
          <p:nvPr/>
        </p:nvSpPr>
        <p:spPr>
          <a:xfrm>
            <a:off x="411480" y="1143000"/>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1  Telemetry</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ingest (eBPF)</a:t>
            </a:r>
            <a:endParaRPr lang="en-US" sz="900" dirty="0"/>
          </a:p>
        </p:txBody>
      </p:sp>
      <p:sp>
        <p:nvSpPr>
          <p:cNvPr id="10" name="Shape 8"/>
          <p:cNvSpPr/>
          <p:nvPr/>
        </p:nvSpPr>
        <p:spPr>
          <a:xfrm>
            <a:off x="2176272" y="1143000"/>
            <a:ext cx="1627632" cy="603504"/>
          </a:xfrm>
          <a:prstGeom prst="roundRect">
            <a:avLst>
              <a:gd name="adj" fmla="val 7576"/>
            </a:avLst>
          </a:prstGeom>
          <a:solidFill>
            <a:srgbClr val="0000C8"/>
          </a:solidFill>
          <a:ln w="9525">
            <a:solidFill>
              <a:srgbClr val="0000C8"/>
            </a:solidFill>
            <a:prstDash val="solid"/>
          </a:ln>
        </p:spPr>
        <p:txBody>
          <a:bodyPr/>
          <a:lstStyle/>
          <a:p>
            <a:endParaRPr lang="en-US"/>
          </a:p>
        </p:txBody>
      </p:sp>
      <p:sp>
        <p:nvSpPr>
          <p:cNvPr id="11" name="Text 9"/>
          <p:cNvSpPr/>
          <p:nvPr/>
        </p:nvSpPr>
        <p:spPr>
          <a:xfrm>
            <a:off x="2221992" y="1143000"/>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2  Detection</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agent fires</a:t>
            </a:r>
            <a:endParaRPr lang="en-US" sz="900" dirty="0"/>
          </a:p>
        </p:txBody>
      </p:sp>
      <p:sp>
        <p:nvSpPr>
          <p:cNvPr id="12" name="Shape 10"/>
          <p:cNvSpPr/>
          <p:nvPr/>
        </p:nvSpPr>
        <p:spPr>
          <a:xfrm>
            <a:off x="3986784" y="1143000"/>
            <a:ext cx="1627632" cy="603504"/>
          </a:xfrm>
          <a:prstGeom prst="roundRect">
            <a:avLst>
              <a:gd name="adj" fmla="val 7576"/>
            </a:avLst>
          </a:prstGeom>
          <a:solidFill>
            <a:srgbClr val="0000C8"/>
          </a:solidFill>
          <a:ln w="9525">
            <a:solidFill>
              <a:srgbClr val="0000C8"/>
            </a:solidFill>
            <a:prstDash val="solid"/>
          </a:ln>
        </p:spPr>
        <p:txBody>
          <a:bodyPr/>
          <a:lstStyle/>
          <a:p>
            <a:endParaRPr lang="en-US"/>
          </a:p>
        </p:txBody>
      </p:sp>
      <p:sp>
        <p:nvSpPr>
          <p:cNvPr id="13" name="Text 11"/>
          <p:cNvSpPr/>
          <p:nvPr/>
        </p:nvSpPr>
        <p:spPr>
          <a:xfrm>
            <a:off x="4032504" y="1143000"/>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3  Triage agent</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investigates</a:t>
            </a:r>
            <a:endParaRPr lang="en-US" sz="900" dirty="0"/>
          </a:p>
        </p:txBody>
      </p:sp>
      <p:sp>
        <p:nvSpPr>
          <p:cNvPr id="14" name="Shape 12"/>
          <p:cNvSpPr/>
          <p:nvPr/>
        </p:nvSpPr>
        <p:spPr>
          <a:xfrm>
            <a:off x="5797296" y="1143000"/>
            <a:ext cx="1627632" cy="603504"/>
          </a:xfrm>
          <a:prstGeom prst="roundRect">
            <a:avLst>
              <a:gd name="adj" fmla="val 7576"/>
            </a:avLst>
          </a:prstGeom>
          <a:solidFill>
            <a:srgbClr val="6464FF"/>
          </a:solidFill>
          <a:ln w="9525">
            <a:solidFill>
              <a:srgbClr val="6464FF"/>
            </a:solidFill>
            <a:prstDash val="solid"/>
          </a:ln>
        </p:spPr>
        <p:txBody>
          <a:bodyPr/>
          <a:lstStyle/>
          <a:p>
            <a:endParaRPr lang="en-US"/>
          </a:p>
        </p:txBody>
      </p:sp>
      <p:sp>
        <p:nvSpPr>
          <p:cNvPr id="15" name="Text 13"/>
          <p:cNvSpPr/>
          <p:nvPr/>
        </p:nvSpPr>
        <p:spPr>
          <a:xfrm>
            <a:off x="5843016" y="1143000"/>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4  Verdict +</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confidence</a:t>
            </a:r>
            <a:endParaRPr lang="en-US" sz="900" dirty="0"/>
          </a:p>
        </p:txBody>
      </p:sp>
      <p:sp>
        <p:nvSpPr>
          <p:cNvPr id="16" name="Shape 14"/>
          <p:cNvSpPr/>
          <p:nvPr/>
        </p:nvSpPr>
        <p:spPr>
          <a:xfrm>
            <a:off x="1993392" y="1444752"/>
            <a:ext cx="164592" cy="0"/>
          </a:xfrm>
          <a:prstGeom prst="line">
            <a:avLst/>
          </a:prstGeom>
          <a:noFill/>
          <a:ln w="19050">
            <a:solidFill>
              <a:srgbClr val="0000C8"/>
            </a:solidFill>
            <a:prstDash val="solid"/>
            <a:tailEnd type="triangle"/>
          </a:ln>
        </p:spPr>
        <p:txBody>
          <a:bodyPr/>
          <a:lstStyle/>
          <a:p>
            <a:endParaRPr lang="en-US"/>
          </a:p>
        </p:txBody>
      </p:sp>
      <p:sp>
        <p:nvSpPr>
          <p:cNvPr id="17" name="Shape 15"/>
          <p:cNvSpPr/>
          <p:nvPr/>
        </p:nvSpPr>
        <p:spPr>
          <a:xfrm>
            <a:off x="3803904" y="1444752"/>
            <a:ext cx="164592" cy="0"/>
          </a:xfrm>
          <a:prstGeom prst="line">
            <a:avLst/>
          </a:prstGeom>
          <a:noFill/>
          <a:ln w="19050">
            <a:solidFill>
              <a:srgbClr val="0000C8"/>
            </a:solidFill>
            <a:prstDash val="solid"/>
            <a:tailEnd type="triangle"/>
          </a:ln>
        </p:spPr>
        <p:txBody>
          <a:bodyPr/>
          <a:lstStyle/>
          <a:p>
            <a:endParaRPr lang="en-US"/>
          </a:p>
        </p:txBody>
      </p:sp>
      <p:sp>
        <p:nvSpPr>
          <p:cNvPr id="18" name="Shape 16"/>
          <p:cNvSpPr/>
          <p:nvPr/>
        </p:nvSpPr>
        <p:spPr>
          <a:xfrm>
            <a:off x="5614416" y="1444752"/>
            <a:ext cx="164592" cy="0"/>
          </a:xfrm>
          <a:prstGeom prst="line">
            <a:avLst/>
          </a:prstGeom>
          <a:noFill/>
          <a:ln w="19050">
            <a:solidFill>
              <a:srgbClr val="0000C8"/>
            </a:solidFill>
            <a:prstDash val="solid"/>
            <a:tailEnd type="triangle"/>
          </a:ln>
        </p:spPr>
        <p:txBody>
          <a:bodyPr/>
          <a:lstStyle/>
          <a:p>
            <a:endParaRPr lang="en-US"/>
          </a:p>
        </p:txBody>
      </p:sp>
      <p:sp>
        <p:nvSpPr>
          <p:cNvPr id="19" name="Text 17"/>
          <p:cNvSpPr/>
          <p:nvPr/>
        </p:nvSpPr>
        <p:spPr>
          <a:xfrm>
            <a:off x="365760" y="1773936"/>
            <a:ext cx="5212080" cy="219456"/>
          </a:xfrm>
          <a:prstGeom prst="rect">
            <a:avLst/>
          </a:prstGeom>
          <a:noFill/>
          <a:ln/>
        </p:spPr>
        <p:txBody>
          <a:bodyPr wrap="square" lIns="0" tIns="0" rIns="0" bIns="0" rtlCol="0" anchor="t"/>
          <a:lstStyle/>
          <a:p>
            <a:pPr marL="0" indent="0">
              <a:buNone/>
            </a:pPr>
            <a:r>
              <a:rPr lang="en-US" sz="800" i="1" dirty="0">
                <a:solidFill>
                  <a:srgbClr val="44507A"/>
                </a:solidFill>
                <a:latin typeface="Inter" pitchFamily="34" charset="0"/>
                <a:ea typeface="Inter" pitchFamily="34" charset="-122"/>
                <a:cs typeface="Inter" pitchFamily="34" charset="-120"/>
              </a:rPr>
              <a:t>false positives auto-closed, never reach the queue</a:t>
            </a:r>
            <a:endParaRPr lang="en-US" sz="800" dirty="0"/>
          </a:p>
        </p:txBody>
      </p:sp>
      <p:sp>
        <p:nvSpPr>
          <p:cNvPr id="20" name="Shape 18"/>
          <p:cNvSpPr/>
          <p:nvPr/>
        </p:nvSpPr>
        <p:spPr>
          <a:xfrm>
            <a:off x="6611112" y="1746504"/>
            <a:ext cx="0" cy="795528"/>
          </a:xfrm>
          <a:prstGeom prst="line">
            <a:avLst/>
          </a:prstGeom>
          <a:noFill/>
          <a:ln w="19050">
            <a:solidFill>
              <a:srgbClr val="6464FF"/>
            </a:solidFill>
            <a:prstDash val="solid"/>
            <a:tailEnd type="triangle"/>
          </a:ln>
        </p:spPr>
        <p:txBody>
          <a:bodyPr/>
          <a:lstStyle/>
          <a:p>
            <a:endParaRPr lang="en-US"/>
          </a:p>
        </p:txBody>
      </p:sp>
      <p:sp>
        <p:nvSpPr>
          <p:cNvPr id="21" name="Text 19"/>
          <p:cNvSpPr/>
          <p:nvPr/>
        </p:nvSpPr>
        <p:spPr>
          <a:xfrm>
            <a:off x="6665976" y="1892808"/>
            <a:ext cx="1097280" cy="219456"/>
          </a:xfrm>
          <a:prstGeom prst="rect">
            <a:avLst/>
          </a:prstGeom>
          <a:noFill/>
          <a:ln/>
        </p:spPr>
        <p:txBody>
          <a:bodyPr wrap="square" lIns="0" tIns="0" rIns="0" bIns="0" rtlCol="0" anchor="t"/>
          <a:lstStyle/>
          <a:p>
            <a:pPr marL="0" indent="0">
              <a:buNone/>
            </a:pPr>
            <a:r>
              <a:rPr lang="en-US" sz="800" i="1" dirty="0">
                <a:solidFill>
                  <a:srgbClr val="6464FF"/>
                </a:solidFill>
                <a:latin typeface="Inter" pitchFamily="34" charset="0"/>
                <a:ea typeface="Inter" pitchFamily="34" charset="-122"/>
                <a:cs typeface="Inter" pitchFamily="34" charset="-120"/>
              </a:rPr>
              <a:t>escalated</a:t>
            </a:r>
            <a:endParaRPr lang="en-US" sz="800" dirty="0"/>
          </a:p>
        </p:txBody>
      </p:sp>
      <p:sp>
        <p:nvSpPr>
          <p:cNvPr id="22" name="Shape 20"/>
          <p:cNvSpPr/>
          <p:nvPr/>
        </p:nvSpPr>
        <p:spPr>
          <a:xfrm>
            <a:off x="5797296" y="2542032"/>
            <a:ext cx="1627632" cy="603504"/>
          </a:xfrm>
          <a:prstGeom prst="roundRect">
            <a:avLst>
              <a:gd name="adj" fmla="val 7576"/>
            </a:avLst>
          </a:prstGeom>
          <a:solidFill>
            <a:srgbClr val="6464FF"/>
          </a:solidFill>
          <a:ln w="9525">
            <a:solidFill>
              <a:srgbClr val="6464FF"/>
            </a:solidFill>
            <a:prstDash val="solid"/>
          </a:ln>
        </p:spPr>
        <p:txBody>
          <a:bodyPr/>
          <a:lstStyle/>
          <a:p>
            <a:endParaRPr lang="en-US"/>
          </a:p>
        </p:txBody>
      </p:sp>
      <p:sp>
        <p:nvSpPr>
          <p:cNvPr id="23" name="Text 21"/>
          <p:cNvSpPr/>
          <p:nvPr/>
        </p:nvSpPr>
        <p:spPr>
          <a:xfrm>
            <a:off x="5843016" y="2542032"/>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5  Analyst reviews</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the real case</a:t>
            </a:r>
            <a:endParaRPr lang="en-US" sz="900" dirty="0"/>
          </a:p>
        </p:txBody>
      </p:sp>
      <p:sp>
        <p:nvSpPr>
          <p:cNvPr id="24" name="Shape 22"/>
          <p:cNvSpPr/>
          <p:nvPr/>
        </p:nvSpPr>
        <p:spPr>
          <a:xfrm>
            <a:off x="3986784" y="2542032"/>
            <a:ext cx="1627632" cy="603504"/>
          </a:xfrm>
          <a:prstGeom prst="roundRect">
            <a:avLst>
              <a:gd name="adj" fmla="val 7576"/>
            </a:avLst>
          </a:prstGeom>
          <a:solidFill>
            <a:srgbClr val="6464FF"/>
          </a:solidFill>
          <a:ln w="9525">
            <a:solidFill>
              <a:srgbClr val="6464FF"/>
            </a:solidFill>
            <a:prstDash val="solid"/>
          </a:ln>
        </p:spPr>
        <p:txBody>
          <a:bodyPr/>
          <a:lstStyle/>
          <a:p>
            <a:endParaRPr lang="en-US"/>
          </a:p>
        </p:txBody>
      </p:sp>
      <p:sp>
        <p:nvSpPr>
          <p:cNvPr id="25" name="Text 23"/>
          <p:cNvSpPr/>
          <p:nvPr/>
        </p:nvSpPr>
        <p:spPr>
          <a:xfrm>
            <a:off x="4032504" y="2542032"/>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6  Investigate</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together (NL)</a:t>
            </a:r>
            <a:endParaRPr lang="en-US" sz="900" dirty="0"/>
          </a:p>
        </p:txBody>
      </p:sp>
      <p:sp>
        <p:nvSpPr>
          <p:cNvPr id="26" name="Shape 24"/>
          <p:cNvSpPr/>
          <p:nvPr/>
        </p:nvSpPr>
        <p:spPr>
          <a:xfrm>
            <a:off x="2176272" y="2542032"/>
            <a:ext cx="1627632" cy="603504"/>
          </a:xfrm>
          <a:prstGeom prst="roundRect">
            <a:avLst>
              <a:gd name="adj" fmla="val 7576"/>
            </a:avLst>
          </a:prstGeom>
          <a:solidFill>
            <a:srgbClr val="6464FF"/>
          </a:solidFill>
          <a:ln w="9525">
            <a:solidFill>
              <a:srgbClr val="6464FF"/>
            </a:solidFill>
            <a:prstDash val="solid"/>
          </a:ln>
        </p:spPr>
        <p:txBody>
          <a:bodyPr/>
          <a:lstStyle/>
          <a:p>
            <a:endParaRPr lang="en-US"/>
          </a:p>
        </p:txBody>
      </p:sp>
      <p:sp>
        <p:nvSpPr>
          <p:cNvPr id="27" name="Text 25"/>
          <p:cNvSpPr/>
          <p:nvPr/>
        </p:nvSpPr>
        <p:spPr>
          <a:xfrm>
            <a:off x="2221992" y="2542032"/>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7  Response plan</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risk-scoped</a:t>
            </a:r>
            <a:endParaRPr lang="en-US" sz="900" dirty="0"/>
          </a:p>
        </p:txBody>
      </p:sp>
      <p:sp>
        <p:nvSpPr>
          <p:cNvPr id="28" name="Shape 26"/>
          <p:cNvSpPr/>
          <p:nvPr/>
        </p:nvSpPr>
        <p:spPr>
          <a:xfrm>
            <a:off x="365760" y="2542032"/>
            <a:ext cx="1627632" cy="603504"/>
          </a:xfrm>
          <a:prstGeom prst="roundRect">
            <a:avLst>
              <a:gd name="adj" fmla="val 7576"/>
            </a:avLst>
          </a:prstGeom>
          <a:solidFill>
            <a:srgbClr val="0000C8"/>
          </a:solidFill>
          <a:ln w="9525">
            <a:solidFill>
              <a:srgbClr val="0000C8"/>
            </a:solidFill>
            <a:prstDash val="solid"/>
          </a:ln>
        </p:spPr>
        <p:txBody>
          <a:bodyPr/>
          <a:lstStyle/>
          <a:p>
            <a:endParaRPr lang="en-US"/>
          </a:p>
        </p:txBody>
      </p:sp>
      <p:sp>
        <p:nvSpPr>
          <p:cNvPr id="29" name="Text 27"/>
          <p:cNvSpPr/>
          <p:nvPr/>
        </p:nvSpPr>
        <p:spPr>
          <a:xfrm>
            <a:off x="411480" y="2542032"/>
            <a:ext cx="1536192"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Workload</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protected?</a:t>
            </a:r>
            <a:endParaRPr lang="en-US" sz="900" dirty="0"/>
          </a:p>
        </p:txBody>
      </p:sp>
      <p:sp>
        <p:nvSpPr>
          <p:cNvPr id="30" name="Shape 28"/>
          <p:cNvSpPr/>
          <p:nvPr/>
        </p:nvSpPr>
        <p:spPr>
          <a:xfrm>
            <a:off x="5797296" y="2843784"/>
            <a:ext cx="0" cy="0"/>
          </a:xfrm>
          <a:prstGeom prst="line">
            <a:avLst/>
          </a:prstGeom>
          <a:noFill/>
          <a:ln w="19050">
            <a:solidFill>
              <a:srgbClr val="6464FF"/>
            </a:solidFill>
            <a:prstDash val="solid"/>
            <a:tailEnd type="triangle"/>
          </a:ln>
        </p:spPr>
        <p:txBody>
          <a:bodyPr/>
          <a:lstStyle/>
          <a:p>
            <a:endParaRPr lang="en-US"/>
          </a:p>
        </p:txBody>
      </p:sp>
      <p:sp>
        <p:nvSpPr>
          <p:cNvPr id="31" name="Shape 29"/>
          <p:cNvSpPr/>
          <p:nvPr/>
        </p:nvSpPr>
        <p:spPr>
          <a:xfrm>
            <a:off x="3986784" y="2843784"/>
            <a:ext cx="0" cy="0"/>
          </a:xfrm>
          <a:prstGeom prst="line">
            <a:avLst/>
          </a:prstGeom>
          <a:noFill/>
          <a:ln w="19050">
            <a:solidFill>
              <a:srgbClr val="6464FF"/>
            </a:solidFill>
            <a:prstDash val="solid"/>
            <a:tailEnd type="triangle"/>
          </a:ln>
        </p:spPr>
        <p:txBody>
          <a:bodyPr/>
          <a:lstStyle/>
          <a:p>
            <a:endParaRPr lang="en-US"/>
          </a:p>
        </p:txBody>
      </p:sp>
      <p:sp>
        <p:nvSpPr>
          <p:cNvPr id="32" name="Shape 30"/>
          <p:cNvSpPr/>
          <p:nvPr/>
        </p:nvSpPr>
        <p:spPr>
          <a:xfrm>
            <a:off x="2176272" y="2843784"/>
            <a:ext cx="0" cy="0"/>
          </a:xfrm>
          <a:prstGeom prst="line">
            <a:avLst/>
          </a:prstGeom>
          <a:noFill/>
          <a:ln w="19050">
            <a:solidFill>
              <a:srgbClr val="6464FF"/>
            </a:solidFill>
            <a:prstDash val="solid"/>
            <a:tailEnd type="triangle"/>
          </a:ln>
        </p:spPr>
        <p:txBody>
          <a:bodyPr/>
          <a:lstStyle/>
          <a:p>
            <a:endParaRPr lang="en-US"/>
          </a:p>
        </p:txBody>
      </p:sp>
      <p:sp>
        <p:nvSpPr>
          <p:cNvPr id="33" name="Shape 31"/>
          <p:cNvSpPr/>
          <p:nvPr/>
        </p:nvSpPr>
        <p:spPr>
          <a:xfrm>
            <a:off x="365760" y="3703320"/>
            <a:ext cx="2468880" cy="603504"/>
          </a:xfrm>
          <a:prstGeom prst="roundRect">
            <a:avLst>
              <a:gd name="adj" fmla="val 7576"/>
            </a:avLst>
          </a:prstGeom>
          <a:solidFill>
            <a:srgbClr val="0046FF"/>
          </a:solidFill>
          <a:ln w="9525">
            <a:solidFill>
              <a:srgbClr val="0046FF"/>
            </a:solidFill>
            <a:prstDash val="solid"/>
          </a:ln>
        </p:spPr>
        <p:txBody>
          <a:bodyPr/>
          <a:lstStyle/>
          <a:p>
            <a:endParaRPr lang="en-US"/>
          </a:p>
        </p:txBody>
      </p:sp>
      <p:sp>
        <p:nvSpPr>
          <p:cNvPr id="34" name="Text 32"/>
          <p:cNvSpPr/>
          <p:nvPr/>
        </p:nvSpPr>
        <p:spPr>
          <a:xfrm>
            <a:off x="411480" y="3703320"/>
            <a:ext cx="2377440"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KERNEL ENFORCE</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eBPF denies the syscall</a:t>
            </a:r>
            <a:endParaRPr lang="en-US" sz="900" dirty="0"/>
          </a:p>
        </p:txBody>
      </p:sp>
      <p:sp>
        <p:nvSpPr>
          <p:cNvPr id="35" name="Shape 33"/>
          <p:cNvSpPr/>
          <p:nvPr/>
        </p:nvSpPr>
        <p:spPr>
          <a:xfrm>
            <a:off x="3017520" y="3703320"/>
            <a:ext cx="2468880" cy="603504"/>
          </a:xfrm>
          <a:prstGeom prst="roundRect">
            <a:avLst>
              <a:gd name="adj" fmla="val 7576"/>
            </a:avLst>
          </a:prstGeom>
          <a:solidFill>
            <a:srgbClr val="0000C8"/>
          </a:solidFill>
          <a:ln w="9525">
            <a:solidFill>
              <a:srgbClr val="0000C8"/>
            </a:solidFill>
            <a:prstDash val="solid"/>
          </a:ln>
        </p:spPr>
        <p:txBody>
          <a:bodyPr/>
          <a:lstStyle/>
          <a:p>
            <a:endParaRPr lang="en-US"/>
          </a:p>
        </p:txBody>
      </p:sp>
      <p:sp>
        <p:nvSpPr>
          <p:cNvPr id="36" name="Text 34"/>
          <p:cNvSpPr/>
          <p:nvPr/>
        </p:nvSpPr>
        <p:spPr>
          <a:xfrm>
            <a:off x="3063240" y="3703320"/>
            <a:ext cx="2377440" cy="603504"/>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Orchestrate response</a:t>
            </a:r>
            <a:endParaRPr lang="en-US" sz="900" dirty="0"/>
          </a:p>
          <a:p>
            <a:pPr marL="0" indent="0" algn="ctr">
              <a:buNone/>
            </a:pPr>
            <a:r>
              <a:rPr lang="en-US" sz="900" b="1" dirty="0">
                <a:solidFill>
                  <a:srgbClr val="FFFFFF"/>
                </a:solidFill>
                <a:latin typeface="Space Grotesk" pitchFamily="34" charset="0"/>
                <a:ea typeface="Space Grotesk" pitchFamily="34" charset="-122"/>
                <a:cs typeface="Space Grotesk" pitchFamily="34" charset="-120"/>
              </a:rPr>
              <a:t>(SaaS / identity)</a:t>
            </a:r>
            <a:endParaRPr lang="en-US" sz="900" dirty="0"/>
          </a:p>
        </p:txBody>
      </p:sp>
      <p:sp>
        <p:nvSpPr>
          <p:cNvPr id="37" name="Shape 35"/>
          <p:cNvSpPr/>
          <p:nvPr/>
        </p:nvSpPr>
        <p:spPr>
          <a:xfrm>
            <a:off x="5852160" y="3703320"/>
            <a:ext cx="2926080" cy="603504"/>
          </a:xfrm>
          <a:prstGeom prst="roundRect">
            <a:avLst>
              <a:gd name="adj" fmla="val 7576"/>
            </a:avLst>
          </a:prstGeom>
          <a:solidFill>
            <a:srgbClr val="FFF0F2"/>
          </a:solidFill>
          <a:ln w="9525">
            <a:solidFill>
              <a:srgbClr val="FFF0F2"/>
            </a:solidFill>
            <a:prstDash val="solid"/>
          </a:ln>
        </p:spPr>
        <p:txBody>
          <a:bodyPr/>
          <a:lstStyle/>
          <a:p>
            <a:endParaRPr lang="en-US"/>
          </a:p>
        </p:txBody>
      </p:sp>
      <p:sp>
        <p:nvSpPr>
          <p:cNvPr id="38" name="Text 36"/>
          <p:cNvSpPr/>
          <p:nvPr/>
        </p:nvSpPr>
        <p:spPr>
          <a:xfrm>
            <a:off x="5897880" y="3703320"/>
            <a:ext cx="2834640" cy="603504"/>
          </a:xfrm>
          <a:prstGeom prst="rect">
            <a:avLst/>
          </a:prstGeom>
          <a:noFill/>
          <a:ln/>
        </p:spPr>
        <p:txBody>
          <a:bodyPr wrap="square" lIns="0" tIns="0" rIns="0" bIns="0" rtlCol="0" anchor="ctr"/>
          <a:lstStyle/>
          <a:p>
            <a:pPr marL="0" indent="0" algn="ctr">
              <a:buNone/>
            </a:pPr>
            <a:r>
              <a:rPr lang="en-US" sz="900" b="1" dirty="0">
                <a:solidFill>
                  <a:srgbClr val="0D1B4B"/>
                </a:solidFill>
                <a:latin typeface="Space Grotesk" pitchFamily="34" charset="0"/>
                <a:ea typeface="Space Grotesk" pitchFamily="34" charset="-122"/>
                <a:cs typeface="Space Grotesk" pitchFamily="34" charset="-120"/>
              </a:rPr>
              <a:t>Compounds → new</a:t>
            </a:r>
            <a:endParaRPr lang="en-US" sz="900" dirty="0"/>
          </a:p>
          <a:p>
            <a:pPr marL="0" indent="0" algn="ctr">
              <a:buNone/>
            </a:pPr>
            <a:r>
              <a:rPr lang="en-US" sz="900" b="1" dirty="0">
                <a:solidFill>
                  <a:srgbClr val="0D1B4B"/>
                </a:solidFill>
                <a:latin typeface="Space Grotesk" pitchFamily="34" charset="0"/>
                <a:ea typeface="Space Grotesk" pitchFamily="34" charset="-122"/>
                <a:cs typeface="Space Grotesk" pitchFamily="34" charset="-120"/>
              </a:rPr>
              <a:t>detection / policy</a:t>
            </a:r>
            <a:endParaRPr lang="en-US" sz="900" dirty="0"/>
          </a:p>
        </p:txBody>
      </p:sp>
      <p:sp>
        <p:nvSpPr>
          <p:cNvPr id="39" name="Shape 37"/>
          <p:cNvSpPr/>
          <p:nvPr/>
        </p:nvSpPr>
        <p:spPr>
          <a:xfrm>
            <a:off x="1179576" y="3145536"/>
            <a:ext cx="411480" cy="557784"/>
          </a:xfrm>
          <a:prstGeom prst="line">
            <a:avLst/>
          </a:prstGeom>
          <a:noFill/>
          <a:ln w="19050">
            <a:solidFill>
              <a:srgbClr val="0046FF"/>
            </a:solidFill>
            <a:prstDash val="solid"/>
            <a:tailEnd type="triangle"/>
          </a:ln>
        </p:spPr>
        <p:txBody>
          <a:bodyPr/>
          <a:lstStyle/>
          <a:p>
            <a:endParaRPr lang="en-US"/>
          </a:p>
        </p:txBody>
      </p:sp>
      <p:sp>
        <p:nvSpPr>
          <p:cNvPr id="40" name="Text 38"/>
          <p:cNvSpPr/>
          <p:nvPr/>
        </p:nvSpPr>
        <p:spPr>
          <a:xfrm>
            <a:off x="813816" y="3154680"/>
            <a:ext cx="548640" cy="201168"/>
          </a:xfrm>
          <a:prstGeom prst="rect">
            <a:avLst/>
          </a:prstGeom>
          <a:noFill/>
          <a:ln/>
        </p:spPr>
        <p:txBody>
          <a:bodyPr wrap="square" lIns="0" tIns="0" rIns="0" bIns="0" rtlCol="0" anchor="t"/>
          <a:lstStyle/>
          <a:p>
            <a:pPr marL="0" indent="0">
              <a:buNone/>
            </a:pPr>
            <a:r>
              <a:rPr lang="en-US" sz="750" i="1" dirty="0">
                <a:solidFill>
                  <a:srgbClr val="0046FF"/>
                </a:solidFill>
                <a:latin typeface="Inter" pitchFamily="34" charset="0"/>
                <a:ea typeface="Inter" pitchFamily="34" charset="-122"/>
                <a:cs typeface="Inter" pitchFamily="34" charset="-120"/>
              </a:rPr>
              <a:t>yes</a:t>
            </a:r>
            <a:endParaRPr lang="en-US" sz="750" dirty="0"/>
          </a:p>
        </p:txBody>
      </p:sp>
      <p:sp>
        <p:nvSpPr>
          <p:cNvPr id="41" name="Shape 39"/>
          <p:cNvSpPr/>
          <p:nvPr/>
        </p:nvSpPr>
        <p:spPr>
          <a:xfrm>
            <a:off x="1728216" y="3145536"/>
            <a:ext cx="2523744" cy="557784"/>
          </a:xfrm>
          <a:prstGeom prst="line">
            <a:avLst/>
          </a:prstGeom>
          <a:noFill/>
          <a:ln w="19050">
            <a:solidFill>
              <a:srgbClr val="0000C8"/>
            </a:solidFill>
            <a:prstDash val="solid"/>
            <a:tailEnd type="triangle"/>
          </a:ln>
        </p:spPr>
        <p:txBody>
          <a:bodyPr/>
          <a:lstStyle/>
          <a:p>
            <a:endParaRPr lang="en-US"/>
          </a:p>
        </p:txBody>
      </p:sp>
      <p:sp>
        <p:nvSpPr>
          <p:cNvPr id="42" name="Text 40"/>
          <p:cNvSpPr/>
          <p:nvPr/>
        </p:nvSpPr>
        <p:spPr>
          <a:xfrm>
            <a:off x="2414016" y="3154680"/>
            <a:ext cx="914400" cy="201168"/>
          </a:xfrm>
          <a:prstGeom prst="rect">
            <a:avLst/>
          </a:prstGeom>
          <a:noFill/>
          <a:ln/>
        </p:spPr>
        <p:txBody>
          <a:bodyPr wrap="square" lIns="0" tIns="0" rIns="0" bIns="0" rtlCol="0" anchor="t"/>
          <a:lstStyle/>
          <a:p>
            <a:pPr marL="0" indent="0">
              <a:buNone/>
            </a:pPr>
            <a:r>
              <a:rPr lang="en-US" sz="750" i="1" dirty="0">
                <a:solidFill>
                  <a:srgbClr val="44507A"/>
                </a:solidFill>
                <a:latin typeface="Inter" pitchFamily="34" charset="0"/>
                <a:ea typeface="Inter" pitchFamily="34" charset="-122"/>
                <a:cs typeface="Inter" pitchFamily="34" charset="-120"/>
              </a:rPr>
              <a:t>no kernel</a:t>
            </a:r>
            <a:endParaRPr lang="en-US" sz="750" dirty="0"/>
          </a:p>
        </p:txBody>
      </p:sp>
      <p:sp>
        <p:nvSpPr>
          <p:cNvPr id="43" name="Shape 41"/>
          <p:cNvSpPr/>
          <p:nvPr/>
        </p:nvSpPr>
        <p:spPr>
          <a:xfrm>
            <a:off x="5486400" y="4005072"/>
            <a:ext cx="365760" cy="0"/>
          </a:xfrm>
          <a:prstGeom prst="line">
            <a:avLst/>
          </a:prstGeom>
          <a:noFill/>
          <a:ln w="19050">
            <a:solidFill>
              <a:srgbClr val="C80019"/>
            </a:solidFill>
            <a:prstDash val="solid"/>
            <a:tailEnd type="triangle"/>
          </a:ln>
        </p:spPr>
        <p:txBody>
          <a:bodyPr/>
          <a:lstStyle/>
          <a:p>
            <a:endParaRPr lang="en-US"/>
          </a:p>
        </p:txBody>
      </p:sp>
      <p:sp>
        <p:nvSpPr>
          <p:cNvPr id="44" name="Text 42"/>
          <p:cNvSpPr/>
          <p:nvPr/>
        </p:nvSpPr>
        <p:spPr>
          <a:xfrm>
            <a:off x="365760" y="4572000"/>
            <a:ext cx="8412480" cy="320040"/>
          </a:xfrm>
          <a:prstGeom prst="rect">
            <a:avLst/>
          </a:prstGeom>
          <a:noFill/>
          <a:ln/>
        </p:spPr>
        <p:txBody>
          <a:bodyPr wrap="square" lIns="0" tIns="0" rIns="0" bIns="0" rtlCol="0" anchor="t"/>
          <a:lstStyle/>
          <a:p>
            <a:pPr marL="0" indent="0" algn="ctr">
              <a:buNone/>
            </a:pPr>
            <a:r>
              <a:rPr lang="en-US" sz="950" i="1" dirty="0">
                <a:solidFill>
                  <a:srgbClr val="0000C8"/>
                </a:solidFill>
                <a:latin typeface="Inter" pitchFamily="34" charset="0"/>
                <a:ea typeface="Inter" pitchFamily="34" charset="-122"/>
                <a:cs typeface="Inter" pitchFamily="34" charset="-120"/>
              </a:rPr>
              <a:t>The seventh step, kernel enforcement, is the one no competitor's flowchart contains.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Flowchart 2 — the self-compounding loop</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22</a:t>
            </a:r>
            <a:endParaRPr lang="en-US" sz="750" dirty="0"/>
          </a:p>
        </p:txBody>
      </p:sp>
      <p:sp>
        <p:nvSpPr>
          <p:cNvPr id="8" name="Text 6"/>
          <p:cNvSpPr/>
          <p:nvPr/>
        </p:nvSpPr>
        <p:spPr>
          <a:xfrm>
            <a:off x="365760" y="777240"/>
            <a:ext cx="8412480" cy="457200"/>
          </a:xfrm>
          <a:prstGeom prst="rect">
            <a:avLst/>
          </a:prstGeom>
          <a:noFill/>
          <a:ln/>
        </p:spPr>
        <p:txBody>
          <a:bodyPr wrap="square" lIns="0" tIns="0" rIns="0" bIns="0" rtlCol="0" anchor="t"/>
          <a:lstStyle/>
          <a:p>
            <a:pPr marL="0" indent="0" algn="ctr">
              <a:buNone/>
            </a:pPr>
            <a:r>
              <a:rPr lang="en-US" sz="1050" i="1" dirty="0">
                <a:solidFill>
                  <a:srgbClr val="0000C8"/>
                </a:solidFill>
                <a:latin typeface="Inter" pitchFamily="34" charset="0"/>
                <a:ea typeface="Inter" pitchFamily="34" charset="-122"/>
                <a:cs typeface="Inter" pitchFamily="34" charset="-120"/>
              </a:rPr>
              <a:t>Continuous Detection → Continuous Response → Continuous Enforcement. Each cycle writes back, so the SOC gets smarter and quieter.</a:t>
            </a:r>
            <a:endParaRPr lang="en-US" sz="1050" dirty="0"/>
          </a:p>
        </p:txBody>
      </p:sp>
      <p:sp>
        <p:nvSpPr>
          <p:cNvPr id="9" name="Shape 7"/>
          <p:cNvSpPr/>
          <p:nvPr/>
        </p:nvSpPr>
        <p:spPr>
          <a:xfrm>
            <a:off x="3657600" y="2377440"/>
            <a:ext cx="1828800" cy="914400"/>
          </a:xfrm>
          <a:prstGeom prst="ellipse">
            <a:avLst/>
          </a:prstGeom>
          <a:solidFill>
            <a:srgbClr val="F2F4FA"/>
          </a:solidFill>
          <a:ln w="12700">
            <a:solidFill>
              <a:srgbClr val="DDDDEE"/>
            </a:solidFill>
            <a:prstDash val="solid"/>
          </a:ln>
        </p:spPr>
        <p:txBody>
          <a:bodyPr/>
          <a:lstStyle/>
          <a:p>
            <a:endParaRPr lang="en-US"/>
          </a:p>
        </p:txBody>
      </p:sp>
      <p:sp>
        <p:nvSpPr>
          <p:cNvPr id="10" name="Text 8"/>
          <p:cNvSpPr/>
          <p:nvPr/>
        </p:nvSpPr>
        <p:spPr>
          <a:xfrm>
            <a:off x="3703320" y="2514600"/>
            <a:ext cx="1737360" cy="640080"/>
          </a:xfrm>
          <a:prstGeom prst="rect">
            <a:avLst/>
          </a:prstGeom>
          <a:noFill/>
          <a:ln/>
        </p:spPr>
        <p:txBody>
          <a:bodyPr wrap="square" lIns="0" tIns="0" rIns="0" bIns="0" rtlCol="0" anchor="ctr"/>
          <a:lstStyle/>
          <a:p>
            <a:pPr marL="0" indent="0" algn="ctr">
              <a:buNone/>
            </a:pPr>
            <a:r>
              <a:rPr lang="en-US" sz="1100" b="1" dirty="0">
                <a:solidFill>
                  <a:srgbClr val="0000C8"/>
                </a:solidFill>
                <a:latin typeface="Space Grotesk" pitchFamily="34" charset="0"/>
                <a:ea typeface="Space Grotesk" pitchFamily="34" charset="-122"/>
                <a:cs typeface="Space Grotesk" pitchFamily="34" charset="-120"/>
              </a:rPr>
              <a:t>Compounds every cycle</a:t>
            </a:r>
            <a:endParaRPr lang="en-US" sz="1100" dirty="0"/>
          </a:p>
        </p:txBody>
      </p:sp>
      <p:sp>
        <p:nvSpPr>
          <p:cNvPr id="11" name="Shape 9"/>
          <p:cNvSpPr/>
          <p:nvPr/>
        </p:nvSpPr>
        <p:spPr>
          <a:xfrm>
            <a:off x="3657600" y="1188720"/>
            <a:ext cx="1828800" cy="640080"/>
          </a:xfrm>
          <a:prstGeom prst="roundRect">
            <a:avLst>
              <a:gd name="adj" fmla="val 7143"/>
            </a:avLst>
          </a:prstGeom>
          <a:solidFill>
            <a:srgbClr val="0000C8"/>
          </a:solidFill>
          <a:ln w="9525">
            <a:solidFill>
              <a:srgbClr val="0000C8"/>
            </a:solidFill>
            <a:prstDash val="solid"/>
          </a:ln>
        </p:spPr>
        <p:txBody>
          <a:bodyPr/>
          <a:lstStyle/>
          <a:p>
            <a:endParaRPr lang="en-US"/>
          </a:p>
        </p:txBody>
      </p:sp>
      <p:sp>
        <p:nvSpPr>
          <p:cNvPr id="12" name="Text 10"/>
          <p:cNvSpPr/>
          <p:nvPr/>
        </p:nvSpPr>
        <p:spPr>
          <a:xfrm>
            <a:off x="3657600" y="1188720"/>
            <a:ext cx="18288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Space Grotesk" pitchFamily="34" charset="0"/>
                <a:ea typeface="Space Grotesk" pitchFamily="34" charset="-122"/>
                <a:cs typeface="Space Grotesk" pitchFamily="34" charset="-120"/>
              </a:rPr>
              <a:t>DETECT</a:t>
            </a:r>
            <a:endParaRPr lang="en-US" sz="1100" dirty="0"/>
          </a:p>
        </p:txBody>
      </p:sp>
      <p:sp>
        <p:nvSpPr>
          <p:cNvPr id="13" name="Shape 11"/>
          <p:cNvSpPr/>
          <p:nvPr/>
        </p:nvSpPr>
        <p:spPr>
          <a:xfrm>
            <a:off x="5166360" y="2514600"/>
            <a:ext cx="1828800" cy="640080"/>
          </a:xfrm>
          <a:prstGeom prst="roundRect">
            <a:avLst>
              <a:gd name="adj" fmla="val 7143"/>
            </a:avLst>
          </a:prstGeom>
          <a:solidFill>
            <a:srgbClr val="6464FF"/>
          </a:solidFill>
          <a:ln w="9525">
            <a:solidFill>
              <a:srgbClr val="6464FF"/>
            </a:solidFill>
            <a:prstDash val="solid"/>
          </a:ln>
        </p:spPr>
        <p:txBody>
          <a:bodyPr/>
          <a:lstStyle/>
          <a:p>
            <a:endParaRPr lang="en-US"/>
          </a:p>
        </p:txBody>
      </p:sp>
      <p:sp>
        <p:nvSpPr>
          <p:cNvPr id="14" name="Text 12"/>
          <p:cNvSpPr/>
          <p:nvPr/>
        </p:nvSpPr>
        <p:spPr>
          <a:xfrm>
            <a:off x="5166360" y="2514600"/>
            <a:ext cx="18288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Space Grotesk" pitchFamily="34" charset="0"/>
                <a:ea typeface="Space Grotesk" pitchFamily="34" charset="-122"/>
                <a:cs typeface="Space Grotesk" pitchFamily="34" charset="-120"/>
              </a:rPr>
              <a:t>INVESTIGATE</a:t>
            </a:r>
            <a:endParaRPr lang="en-US" sz="1100" dirty="0"/>
          </a:p>
        </p:txBody>
      </p:sp>
      <p:sp>
        <p:nvSpPr>
          <p:cNvPr id="15" name="Shape 13"/>
          <p:cNvSpPr/>
          <p:nvPr/>
        </p:nvSpPr>
        <p:spPr>
          <a:xfrm>
            <a:off x="3657600" y="3840480"/>
            <a:ext cx="1828800" cy="640080"/>
          </a:xfrm>
          <a:prstGeom prst="roundRect">
            <a:avLst>
              <a:gd name="adj" fmla="val 7143"/>
            </a:avLst>
          </a:prstGeom>
          <a:solidFill>
            <a:srgbClr val="0046FF"/>
          </a:solidFill>
          <a:ln w="9525">
            <a:solidFill>
              <a:srgbClr val="0046FF"/>
            </a:solidFill>
            <a:prstDash val="solid"/>
          </a:ln>
        </p:spPr>
        <p:txBody>
          <a:bodyPr/>
          <a:lstStyle/>
          <a:p>
            <a:endParaRPr lang="en-US"/>
          </a:p>
        </p:txBody>
      </p:sp>
      <p:sp>
        <p:nvSpPr>
          <p:cNvPr id="16" name="Text 14"/>
          <p:cNvSpPr/>
          <p:nvPr/>
        </p:nvSpPr>
        <p:spPr>
          <a:xfrm>
            <a:off x="3657600" y="3840480"/>
            <a:ext cx="18288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Space Grotesk" pitchFamily="34" charset="0"/>
                <a:ea typeface="Space Grotesk" pitchFamily="34" charset="-122"/>
                <a:cs typeface="Space Grotesk" pitchFamily="34" charset="-120"/>
              </a:rPr>
              <a:t>RESOLVE / ENFORCE</a:t>
            </a:r>
            <a:endParaRPr lang="en-US" sz="1100" dirty="0"/>
          </a:p>
        </p:txBody>
      </p:sp>
      <p:sp>
        <p:nvSpPr>
          <p:cNvPr id="17" name="Shape 15"/>
          <p:cNvSpPr/>
          <p:nvPr/>
        </p:nvSpPr>
        <p:spPr>
          <a:xfrm>
            <a:off x="2148840" y="2514600"/>
            <a:ext cx="1828800" cy="640080"/>
          </a:xfrm>
          <a:prstGeom prst="roundRect">
            <a:avLst>
              <a:gd name="adj" fmla="val 7143"/>
            </a:avLst>
          </a:prstGeom>
          <a:solidFill>
            <a:srgbClr val="6464FF"/>
          </a:solidFill>
          <a:ln w="9525">
            <a:solidFill>
              <a:srgbClr val="6464FF"/>
            </a:solidFill>
            <a:prstDash val="solid"/>
          </a:ln>
        </p:spPr>
        <p:txBody>
          <a:bodyPr/>
          <a:lstStyle/>
          <a:p>
            <a:endParaRPr lang="en-US"/>
          </a:p>
        </p:txBody>
      </p:sp>
      <p:sp>
        <p:nvSpPr>
          <p:cNvPr id="18" name="Text 16"/>
          <p:cNvSpPr/>
          <p:nvPr/>
        </p:nvSpPr>
        <p:spPr>
          <a:xfrm>
            <a:off x="2148840" y="2514600"/>
            <a:ext cx="18288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Space Grotesk" pitchFamily="34" charset="0"/>
                <a:ea typeface="Space Grotesk" pitchFamily="34" charset="-122"/>
                <a:cs typeface="Space Grotesk" pitchFamily="34" charset="-120"/>
              </a:rPr>
              <a:t>COMPRESS → DETECTION</a:t>
            </a:r>
            <a:endParaRPr lang="en-US" sz="1100" dirty="0"/>
          </a:p>
        </p:txBody>
      </p:sp>
      <p:sp>
        <p:nvSpPr>
          <p:cNvPr id="19" name="Shape 17"/>
          <p:cNvSpPr/>
          <p:nvPr/>
        </p:nvSpPr>
        <p:spPr>
          <a:xfrm>
            <a:off x="5394960" y="1737360"/>
            <a:ext cx="1188720" cy="640080"/>
          </a:xfrm>
          <a:prstGeom prst="line">
            <a:avLst/>
          </a:prstGeom>
          <a:noFill/>
          <a:ln w="19050">
            <a:solidFill>
              <a:srgbClr val="6464FF"/>
            </a:solidFill>
            <a:prstDash val="solid"/>
            <a:tailEnd type="triangle"/>
          </a:ln>
        </p:spPr>
        <p:txBody>
          <a:bodyPr/>
          <a:lstStyle/>
          <a:p>
            <a:endParaRPr lang="en-US"/>
          </a:p>
        </p:txBody>
      </p:sp>
      <p:sp>
        <p:nvSpPr>
          <p:cNvPr id="20" name="Shape 18"/>
          <p:cNvSpPr/>
          <p:nvPr/>
        </p:nvSpPr>
        <p:spPr>
          <a:xfrm>
            <a:off x="5715000" y="3200400"/>
            <a:ext cx="0" cy="640080"/>
          </a:xfrm>
          <a:prstGeom prst="line">
            <a:avLst/>
          </a:prstGeom>
          <a:noFill/>
          <a:ln w="19050">
            <a:solidFill>
              <a:srgbClr val="0046FF"/>
            </a:solidFill>
            <a:prstDash val="solid"/>
            <a:tailEnd type="triangle"/>
          </a:ln>
        </p:spPr>
        <p:txBody>
          <a:bodyPr/>
          <a:lstStyle/>
          <a:p>
            <a:endParaRPr lang="en-US"/>
          </a:p>
        </p:txBody>
      </p:sp>
      <p:sp>
        <p:nvSpPr>
          <p:cNvPr id="21" name="Shape 19"/>
          <p:cNvSpPr/>
          <p:nvPr/>
        </p:nvSpPr>
        <p:spPr>
          <a:xfrm>
            <a:off x="3749040" y="3931920"/>
            <a:ext cx="0" cy="0"/>
          </a:xfrm>
          <a:prstGeom prst="line">
            <a:avLst/>
          </a:prstGeom>
          <a:noFill/>
          <a:ln w="19050">
            <a:solidFill>
              <a:srgbClr val="6464FF"/>
            </a:solidFill>
            <a:prstDash val="solid"/>
            <a:tailEnd type="triangle"/>
          </a:ln>
        </p:spPr>
        <p:txBody>
          <a:bodyPr/>
          <a:lstStyle/>
          <a:p>
            <a:endParaRPr lang="en-US"/>
          </a:p>
        </p:txBody>
      </p:sp>
      <p:sp>
        <p:nvSpPr>
          <p:cNvPr id="22" name="Shape 20"/>
          <p:cNvSpPr/>
          <p:nvPr/>
        </p:nvSpPr>
        <p:spPr>
          <a:xfrm>
            <a:off x="3429000" y="2468880"/>
            <a:ext cx="1005840" cy="0"/>
          </a:xfrm>
          <a:prstGeom prst="line">
            <a:avLst/>
          </a:prstGeom>
          <a:noFill/>
          <a:ln w="19050">
            <a:solidFill>
              <a:srgbClr val="0000C8"/>
            </a:solidFill>
            <a:prstDash val="solid"/>
            <a:tailEnd type="triangle"/>
          </a:ln>
        </p:spPr>
        <p:txBody>
          <a:bodyPr/>
          <a:lstStyle/>
          <a:p>
            <a:endParaRPr lang="en-US"/>
          </a:p>
        </p:txBody>
      </p:sp>
      <p:sp>
        <p:nvSpPr>
          <p:cNvPr id="23" name="Text 21"/>
          <p:cNvSpPr/>
          <p:nvPr/>
        </p:nvSpPr>
        <p:spPr>
          <a:xfrm>
            <a:off x="365760" y="4572000"/>
            <a:ext cx="8412480" cy="320040"/>
          </a:xfrm>
          <a:prstGeom prst="rect">
            <a:avLst/>
          </a:prstGeom>
          <a:noFill/>
          <a:ln/>
        </p:spPr>
        <p:txBody>
          <a:bodyPr wrap="square" lIns="0" tIns="0" rIns="0" bIns="0" rtlCol="0" anchor="t"/>
          <a:lstStyle/>
          <a:p>
            <a:pPr marL="0" indent="0" algn="ctr">
              <a:buNone/>
            </a:pPr>
            <a:r>
              <a:rPr lang="en-US" sz="950" i="1" dirty="0">
                <a:solidFill>
                  <a:srgbClr val="44507A"/>
                </a:solidFill>
                <a:latin typeface="Inter" pitchFamily="34" charset="0"/>
                <a:ea typeface="Inter" pitchFamily="34" charset="-122"/>
                <a:cs typeface="Inter" pitchFamily="34" charset="-120"/>
              </a:rPr>
              <a:t>"A detection is an investigation run often enough to automate. A policy is one run often enough to enforce."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screen no competitor can show</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23</a:t>
            </a:r>
            <a:endParaRPr lang="en-US" sz="750" dirty="0"/>
          </a:p>
        </p:txBody>
      </p:sp>
      <p:sp>
        <p:nvSpPr>
          <p:cNvPr id="8" name="Text 6"/>
          <p:cNvSpPr/>
          <p:nvPr/>
        </p:nvSpPr>
        <p:spPr>
          <a:xfrm>
            <a:off x="365760" y="731520"/>
            <a:ext cx="8412480" cy="365760"/>
          </a:xfrm>
          <a:prstGeom prst="rect">
            <a:avLst/>
          </a:prstGeom>
          <a:noFill/>
          <a:ln/>
        </p:spPr>
        <p:txBody>
          <a:bodyPr wrap="square" lIns="0" tIns="0" rIns="0" bIns="0" rtlCol="0" anchor="t"/>
          <a:lstStyle/>
          <a:p>
            <a:pPr marL="0" indent="0" algn="ctr">
              <a:buNone/>
            </a:pPr>
            <a:r>
              <a:rPr lang="en-US" sz="1050" i="1" dirty="0">
                <a:solidFill>
                  <a:srgbClr val="0000C8"/>
                </a:solidFill>
                <a:latin typeface="Inter" pitchFamily="34" charset="0"/>
                <a:ea typeface="Inter" pitchFamily="34" charset="-122"/>
                <a:cs typeface="Inter" pitchFamily="34" charset="-120"/>
              </a:rPr>
              <a:t>A real case: a cryptominer on a production GKE node. The attack chain, halted mid-kill-chain by a kernel block.</a:t>
            </a:r>
            <a:endParaRPr lang="en-US" sz="1050" dirty="0"/>
          </a:p>
        </p:txBody>
      </p:sp>
      <p:sp>
        <p:nvSpPr>
          <p:cNvPr id="9" name="Shape 7"/>
          <p:cNvSpPr/>
          <p:nvPr/>
        </p:nvSpPr>
        <p:spPr>
          <a:xfrm>
            <a:off x="457200" y="1371600"/>
            <a:ext cx="1691640" cy="1371600"/>
          </a:xfrm>
          <a:prstGeom prst="roundRect">
            <a:avLst>
              <a:gd name="adj" fmla="val 3333"/>
            </a:avLst>
          </a:prstGeom>
          <a:solidFill>
            <a:srgbClr val="FFF0F2"/>
          </a:solidFill>
          <a:ln w="9525">
            <a:solidFill>
              <a:srgbClr val="C80019"/>
            </a:solidFill>
            <a:prstDash val="solid"/>
          </a:ln>
        </p:spPr>
        <p:txBody>
          <a:bodyPr/>
          <a:lstStyle/>
          <a:p>
            <a:endParaRPr lang="en-US"/>
          </a:p>
        </p:txBody>
      </p:sp>
      <p:sp>
        <p:nvSpPr>
          <p:cNvPr id="10" name="Text 8"/>
          <p:cNvSpPr/>
          <p:nvPr/>
        </p:nvSpPr>
        <p:spPr>
          <a:xfrm>
            <a:off x="548640" y="1463040"/>
            <a:ext cx="1508760" cy="274320"/>
          </a:xfrm>
          <a:prstGeom prst="rect">
            <a:avLst/>
          </a:prstGeom>
          <a:noFill/>
          <a:ln/>
        </p:spPr>
        <p:txBody>
          <a:bodyPr wrap="square" lIns="0" tIns="0" rIns="0" bIns="0" rtlCol="0" anchor="t"/>
          <a:lstStyle/>
          <a:p>
            <a:pPr marL="0" indent="0">
              <a:buNone/>
            </a:pPr>
            <a:r>
              <a:rPr lang="en-US" sz="800" dirty="0">
                <a:solidFill>
                  <a:srgbClr val="44507A"/>
                </a:solidFill>
                <a:latin typeface="Inter" pitchFamily="34" charset="0"/>
                <a:ea typeface="Inter" pitchFamily="34" charset="-122"/>
                <a:cs typeface="Inter" pitchFamily="34" charset="-120"/>
              </a:rPr>
              <a:t>Initial Access</a:t>
            </a:r>
            <a:endParaRPr lang="en-US" sz="800" dirty="0"/>
          </a:p>
        </p:txBody>
      </p:sp>
      <p:sp>
        <p:nvSpPr>
          <p:cNvPr id="11" name="Text 9"/>
          <p:cNvSpPr/>
          <p:nvPr/>
        </p:nvSpPr>
        <p:spPr>
          <a:xfrm>
            <a:off x="548640" y="1783080"/>
            <a:ext cx="1508760" cy="548640"/>
          </a:xfrm>
          <a:prstGeom prst="rect">
            <a:avLst/>
          </a:prstGeom>
          <a:noFill/>
          <a:ln/>
        </p:spPr>
        <p:txBody>
          <a:bodyPr wrap="square" lIns="0" tIns="0" rIns="0" bIns="0" rtlCol="0" anchor="t"/>
          <a:lstStyle/>
          <a:p>
            <a:pPr marL="0" indent="0">
              <a:buNone/>
            </a:pPr>
            <a:r>
              <a:rPr lang="en-US" sz="1100" b="1" dirty="0">
                <a:solidFill>
                  <a:srgbClr val="C80019"/>
                </a:solidFill>
                <a:latin typeface="Space Grotesk" pitchFamily="34" charset="0"/>
                <a:ea typeface="Space Grotesk" pitchFamily="34" charset="-122"/>
                <a:cs typeface="Space Grotesk" pitchFamily="34" charset="-120"/>
              </a:rPr>
              <a:t>Compromised image</a:t>
            </a:r>
            <a:endParaRPr lang="en-US" sz="1100" dirty="0"/>
          </a:p>
        </p:txBody>
      </p:sp>
      <p:sp>
        <p:nvSpPr>
          <p:cNvPr id="12" name="Text 10"/>
          <p:cNvSpPr/>
          <p:nvPr/>
        </p:nvSpPr>
        <p:spPr>
          <a:xfrm>
            <a:off x="548640" y="2377440"/>
            <a:ext cx="1508760" cy="274320"/>
          </a:xfrm>
          <a:prstGeom prst="rect">
            <a:avLst/>
          </a:prstGeom>
          <a:noFill/>
          <a:ln/>
        </p:spPr>
        <p:txBody>
          <a:bodyPr wrap="square" lIns="0" tIns="0" rIns="0" bIns="0" rtlCol="0" anchor="t"/>
          <a:lstStyle/>
          <a:p>
            <a:pPr marL="0" indent="0">
              <a:buNone/>
            </a:pPr>
            <a:r>
              <a:rPr lang="en-US" sz="900" dirty="0">
                <a:solidFill>
                  <a:srgbClr val="0000C8"/>
                </a:solidFill>
                <a:latin typeface="Inter" pitchFamily="34" charset="0"/>
                <a:ea typeface="Inter" pitchFamily="34" charset="-122"/>
                <a:cs typeface="Inter" pitchFamily="34" charset="-120"/>
              </a:rPr>
              <a:t>T1525</a:t>
            </a:r>
            <a:endParaRPr lang="en-US" sz="900" dirty="0"/>
          </a:p>
        </p:txBody>
      </p:sp>
      <p:sp>
        <p:nvSpPr>
          <p:cNvPr id="13" name="Shape 11"/>
          <p:cNvSpPr/>
          <p:nvPr/>
        </p:nvSpPr>
        <p:spPr>
          <a:xfrm>
            <a:off x="2148840" y="2057400"/>
            <a:ext cx="182880" cy="0"/>
          </a:xfrm>
          <a:prstGeom prst="line">
            <a:avLst/>
          </a:prstGeom>
          <a:noFill/>
          <a:ln w="19050">
            <a:solidFill>
              <a:srgbClr val="C80019"/>
            </a:solidFill>
            <a:prstDash val="solid"/>
            <a:tailEnd type="triangle"/>
          </a:ln>
        </p:spPr>
        <p:txBody>
          <a:bodyPr/>
          <a:lstStyle/>
          <a:p>
            <a:endParaRPr lang="en-US"/>
          </a:p>
        </p:txBody>
      </p:sp>
      <p:sp>
        <p:nvSpPr>
          <p:cNvPr id="14" name="Shape 12"/>
          <p:cNvSpPr/>
          <p:nvPr/>
        </p:nvSpPr>
        <p:spPr>
          <a:xfrm>
            <a:off x="2331720" y="1371600"/>
            <a:ext cx="1691640" cy="1371600"/>
          </a:xfrm>
          <a:prstGeom prst="roundRect">
            <a:avLst>
              <a:gd name="adj" fmla="val 3333"/>
            </a:avLst>
          </a:prstGeom>
          <a:solidFill>
            <a:srgbClr val="FFF0F2"/>
          </a:solidFill>
          <a:ln w="9525">
            <a:solidFill>
              <a:srgbClr val="C80019"/>
            </a:solidFill>
            <a:prstDash val="solid"/>
          </a:ln>
        </p:spPr>
        <p:txBody>
          <a:bodyPr/>
          <a:lstStyle/>
          <a:p>
            <a:endParaRPr lang="en-US"/>
          </a:p>
        </p:txBody>
      </p:sp>
      <p:sp>
        <p:nvSpPr>
          <p:cNvPr id="15" name="Text 13"/>
          <p:cNvSpPr/>
          <p:nvPr/>
        </p:nvSpPr>
        <p:spPr>
          <a:xfrm>
            <a:off x="2423160" y="1463040"/>
            <a:ext cx="1508760" cy="274320"/>
          </a:xfrm>
          <a:prstGeom prst="rect">
            <a:avLst/>
          </a:prstGeom>
          <a:noFill/>
          <a:ln/>
        </p:spPr>
        <p:txBody>
          <a:bodyPr wrap="square" lIns="0" tIns="0" rIns="0" bIns="0" rtlCol="0" anchor="t"/>
          <a:lstStyle/>
          <a:p>
            <a:pPr marL="0" indent="0">
              <a:buNone/>
            </a:pPr>
            <a:r>
              <a:rPr lang="en-US" sz="800" dirty="0">
                <a:solidFill>
                  <a:srgbClr val="44507A"/>
                </a:solidFill>
                <a:latin typeface="Inter" pitchFamily="34" charset="0"/>
                <a:ea typeface="Inter" pitchFamily="34" charset="-122"/>
                <a:cs typeface="Inter" pitchFamily="34" charset="-120"/>
              </a:rPr>
              <a:t>C2</a:t>
            </a:r>
            <a:endParaRPr lang="en-US" sz="800" dirty="0"/>
          </a:p>
        </p:txBody>
      </p:sp>
      <p:sp>
        <p:nvSpPr>
          <p:cNvPr id="16" name="Text 14"/>
          <p:cNvSpPr/>
          <p:nvPr/>
        </p:nvSpPr>
        <p:spPr>
          <a:xfrm>
            <a:off x="2423160" y="1783080"/>
            <a:ext cx="1508760" cy="548640"/>
          </a:xfrm>
          <a:prstGeom prst="rect">
            <a:avLst/>
          </a:prstGeom>
          <a:noFill/>
          <a:ln/>
        </p:spPr>
        <p:txBody>
          <a:bodyPr wrap="square" lIns="0" tIns="0" rIns="0" bIns="0" rtlCol="0" anchor="t"/>
          <a:lstStyle/>
          <a:p>
            <a:pPr marL="0" indent="0">
              <a:buNone/>
            </a:pPr>
            <a:r>
              <a:rPr lang="en-US" sz="1100" b="1" dirty="0">
                <a:solidFill>
                  <a:srgbClr val="C80019"/>
                </a:solidFill>
                <a:latin typeface="Space Grotesk" pitchFamily="34" charset="0"/>
                <a:ea typeface="Space Grotesk" pitchFamily="34" charset="-122"/>
                <a:cs typeface="Space Grotesk" pitchFamily="34" charset="-120"/>
              </a:rPr>
              <a:t>Download from pool</a:t>
            </a:r>
            <a:endParaRPr lang="en-US" sz="1100" dirty="0"/>
          </a:p>
        </p:txBody>
      </p:sp>
      <p:sp>
        <p:nvSpPr>
          <p:cNvPr id="17" name="Text 15"/>
          <p:cNvSpPr/>
          <p:nvPr/>
        </p:nvSpPr>
        <p:spPr>
          <a:xfrm>
            <a:off x="2423160" y="2377440"/>
            <a:ext cx="1508760" cy="274320"/>
          </a:xfrm>
          <a:prstGeom prst="rect">
            <a:avLst/>
          </a:prstGeom>
          <a:noFill/>
          <a:ln/>
        </p:spPr>
        <p:txBody>
          <a:bodyPr wrap="square" lIns="0" tIns="0" rIns="0" bIns="0" rtlCol="0" anchor="t"/>
          <a:lstStyle/>
          <a:p>
            <a:pPr marL="0" indent="0">
              <a:buNone/>
            </a:pPr>
            <a:r>
              <a:rPr lang="en-US" sz="900" dirty="0">
                <a:solidFill>
                  <a:srgbClr val="0000C8"/>
                </a:solidFill>
                <a:latin typeface="Inter" pitchFamily="34" charset="0"/>
                <a:ea typeface="Inter" pitchFamily="34" charset="-122"/>
                <a:cs typeface="Inter" pitchFamily="34" charset="-120"/>
              </a:rPr>
              <a:t>T1071</a:t>
            </a:r>
            <a:endParaRPr lang="en-US" sz="900" dirty="0"/>
          </a:p>
        </p:txBody>
      </p:sp>
      <p:sp>
        <p:nvSpPr>
          <p:cNvPr id="18" name="Shape 16"/>
          <p:cNvSpPr/>
          <p:nvPr/>
        </p:nvSpPr>
        <p:spPr>
          <a:xfrm>
            <a:off x="4023360" y="2057400"/>
            <a:ext cx="182880" cy="0"/>
          </a:xfrm>
          <a:prstGeom prst="line">
            <a:avLst/>
          </a:prstGeom>
          <a:noFill/>
          <a:ln w="19050">
            <a:solidFill>
              <a:srgbClr val="C80019"/>
            </a:solidFill>
            <a:prstDash val="solid"/>
            <a:tailEnd type="triangle"/>
          </a:ln>
        </p:spPr>
        <p:txBody>
          <a:bodyPr/>
          <a:lstStyle/>
          <a:p>
            <a:endParaRPr lang="en-US"/>
          </a:p>
        </p:txBody>
      </p:sp>
      <p:sp>
        <p:nvSpPr>
          <p:cNvPr id="19" name="Shape 17"/>
          <p:cNvSpPr/>
          <p:nvPr/>
        </p:nvSpPr>
        <p:spPr>
          <a:xfrm>
            <a:off x="4206240" y="1371600"/>
            <a:ext cx="1691640" cy="1371600"/>
          </a:xfrm>
          <a:prstGeom prst="roundRect">
            <a:avLst>
              <a:gd name="adj" fmla="val 3333"/>
            </a:avLst>
          </a:prstGeom>
          <a:solidFill>
            <a:srgbClr val="FFF0F2"/>
          </a:solidFill>
          <a:ln w="9525">
            <a:solidFill>
              <a:srgbClr val="C80019"/>
            </a:solidFill>
            <a:prstDash val="solid"/>
          </a:ln>
        </p:spPr>
        <p:txBody>
          <a:bodyPr/>
          <a:lstStyle/>
          <a:p>
            <a:endParaRPr lang="en-US"/>
          </a:p>
        </p:txBody>
      </p:sp>
      <p:sp>
        <p:nvSpPr>
          <p:cNvPr id="20" name="Text 18"/>
          <p:cNvSpPr/>
          <p:nvPr/>
        </p:nvSpPr>
        <p:spPr>
          <a:xfrm>
            <a:off x="4297680" y="1463040"/>
            <a:ext cx="1508760" cy="274320"/>
          </a:xfrm>
          <a:prstGeom prst="rect">
            <a:avLst/>
          </a:prstGeom>
          <a:noFill/>
          <a:ln/>
        </p:spPr>
        <p:txBody>
          <a:bodyPr wrap="square" lIns="0" tIns="0" rIns="0" bIns="0" rtlCol="0" anchor="t"/>
          <a:lstStyle/>
          <a:p>
            <a:pPr marL="0" indent="0">
              <a:buNone/>
            </a:pPr>
            <a:r>
              <a:rPr lang="en-US" sz="800" dirty="0">
                <a:solidFill>
                  <a:srgbClr val="44507A"/>
                </a:solidFill>
                <a:latin typeface="Inter" pitchFamily="34" charset="0"/>
                <a:ea typeface="Inter" pitchFamily="34" charset="-122"/>
                <a:cs typeface="Inter" pitchFamily="34" charset="-120"/>
              </a:rPr>
              <a:t>Execution</a:t>
            </a:r>
            <a:endParaRPr lang="en-US" sz="800" dirty="0"/>
          </a:p>
        </p:txBody>
      </p:sp>
      <p:sp>
        <p:nvSpPr>
          <p:cNvPr id="21" name="Text 19"/>
          <p:cNvSpPr/>
          <p:nvPr/>
        </p:nvSpPr>
        <p:spPr>
          <a:xfrm>
            <a:off x="4297680" y="1783080"/>
            <a:ext cx="1508760" cy="548640"/>
          </a:xfrm>
          <a:prstGeom prst="rect">
            <a:avLst/>
          </a:prstGeom>
          <a:noFill/>
          <a:ln/>
        </p:spPr>
        <p:txBody>
          <a:bodyPr wrap="square" lIns="0" tIns="0" rIns="0" bIns="0" rtlCol="0" anchor="t"/>
          <a:lstStyle/>
          <a:p>
            <a:pPr marL="0" indent="0">
              <a:buNone/>
            </a:pPr>
            <a:r>
              <a:rPr lang="en-US" sz="1100" b="1" dirty="0">
                <a:solidFill>
                  <a:srgbClr val="C80019"/>
                </a:solidFill>
                <a:latin typeface="Space Grotesk" pitchFamily="34" charset="0"/>
                <a:ea typeface="Space Grotesk" pitchFamily="34" charset="-122"/>
                <a:cs typeface="Space Grotesk" pitchFamily="34" charset="-120"/>
              </a:rPr>
              <a:t>Write to /tmp</a:t>
            </a:r>
            <a:endParaRPr lang="en-US" sz="1100" dirty="0"/>
          </a:p>
        </p:txBody>
      </p:sp>
      <p:sp>
        <p:nvSpPr>
          <p:cNvPr id="22" name="Text 20"/>
          <p:cNvSpPr/>
          <p:nvPr/>
        </p:nvSpPr>
        <p:spPr>
          <a:xfrm>
            <a:off x="4297680" y="2377440"/>
            <a:ext cx="1508760" cy="274320"/>
          </a:xfrm>
          <a:prstGeom prst="rect">
            <a:avLst/>
          </a:prstGeom>
          <a:noFill/>
          <a:ln/>
        </p:spPr>
        <p:txBody>
          <a:bodyPr wrap="square" lIns="0" tIns="0" rIns="0" bIns="0" rtlCol="0" anchor="t"/>
          <a:lstStyle/>
          <a:p>
            <a:pPr marL="0" indent="0">
              <a:buNone/>
            </a:pPr>
            <a:r>
              <a:rPr lang="en-US" sz="900" dirty="0">
                <a:solidFill>
                  <a:srgbClr val="0000C8"/>
                </a:solidFill>
                <a:latin typeface="Inter" pitchFamily="34" charset="0"/>
                <a:ea typeface="Inter" pitchFamily="34" charset="-122"/>
                <a:cs typeface="Inter" pitchFamily="34" charset="-120"/>
              </a:rPr>
              <a:t>T1059</a:t>
            </a:r>
            <a:endParaRPr lang="en-US" sz="900" dirty="0"/>
          </a:p>
        </p:txBody>
      </p:sp>
      <p:sp>
        <p:nvSpPr>
          <p:cNvPr id="23" name="Shape 21"/>
          <p:cNvSpPr/>
          <p:nvPr/>
        </p:nvSpPr>
        <p:spPr>
          <a:xfrm>
            <a:off x="6172200" y="1280160"/>
            <a:ext cx="109728" cy="1554480"/>
          </a:xfrm>
          <a:prstGeom prst="rect">
            <a:avLst/>
          </a:prstGeom>
          <a:solidFill>
            <a:srgbClr val="0046FF"/>
          </a:solidFill>
          <a:ln w="12700">
            <a:solidFill>
              <a:srgbClr val="333333"/>
            </a:solidFill>
            <a:prstDash val="solid"/>
          </a:ln>
        </p:spPr>
        <p:txBody>
          <a:bodyPr/>
          <a:lstStyle/>
          <a:p>
            <a:endParaRPr lang="en-US"/>
          </a:p>
        </p:txBody>
      </p:sp>
      <p:sp>
        <p:nvSpPr>
          <p:cNvPr id="24" name="Text 22"/>
          <p:cNvSpPr/>
          <p:nvPr/>
        </p:nvSpPr>
        <p:spPr>
          <a:xfrm rot="16200000">
            <a:off x="5897880" y="1280160"/>
            <a:ext cx="658368" cy="1554480"/>
          </a:xfrm>
          <a:prstGeom prst="rect">
            <a:avLst/>
          </a:prstGeom>
          <a:noFill/>
          <a:ln/>
        </p:spPr>
        <p:txBody>
          <a:bodyPr wrap="square" lIns="0" tIns="0" rIns="0" bIns="0" rtlCol="0" anchor="ctr"/>
          <a:lstStyle/>
          <a:p>
            <a:pPr marL="0" indent="0" algn="ctr">
              <a:buNone/>
            </a:pPr>
            <a:r>
              <a:rPr lang="en-US" sz="900" b="1" dirty="0">
                <a:solidFill>
                  <a:srgbClr val="0046FF"/>
                </a:solidFill>
                <a:latin typeface="Space Grotesk" pitchFamily="34" charset="0"/>
                <a:ea typeface="Space Grotesk" pitchFamily="34" charset="-122"/>
                <a:cs typeface="Space Grotesk" pitchFamily="34" charset="-120"/>
              </a:rPr>
              <a:t>KERNEL BLOCK</a:t>
            </a:r>
            <a:endParaRPr lang="en-US" sz="900" dirty="0"/>
          </a:p>
        </p:txBody>
      </p:sp>
      <p:sp>
        <p:nvSpPr>
          <p:cNvPr id="25" name="Shape 23"/>
          <p:cNvSpPr/>
          <p:nvPr/>
        </p:nvSpPr>
        <p:spPr>
          <a:xfrm>
            <a:off x="6492240" y="1371600"/>
            <a:ext cx="1097280" cy="1371600"/>
          </a:xfrm>
          <a:prstGeom prst="roundRect">
            <a:avLst>
              <a:gd name="adj" fmla="val 4167"/>
            </a:avLst>
          </a:prstGeom>
          <a:solidFill>
            <a:srgbClr val="EDEDED"/>
          </a:solidFill>
          <a:ln w="9525">
            <a:solidFill>
              <a:srgbClr val="D8D8D8"/>
            </a:solidFill>
            <a:prstDash val="solid"/>
          </a:ln>
        </p:spPr>
        <p:txBody>
          <a:bodyPr/>
          <a:lstStyle/>
          <a:p>
            <a:endParaRPr lang="en-US"/>
          </a:p>
        </p:txBody>
      </p:sp>
      <p:sp>
        <p:nvSpPr>
          <p:cNvPr id="26" name="Text 24"/>
          <p:cNvSpPr/>
          <p:nvPr/>
        </p:nvSpPr>
        <p:spPr>
          <a:xfrm>
            <a:off x="6565392" y="1463040"/>
            <a:ext cx="960120" cy="274320"/>
          </a:xfrm>
          <a:prstGeom prst="rect">
            <a:avLst/>
          </a:prstGeom>
          <a:noFill/>
          <a:ln/>
        </p:spPr>
        <p:txBody>
          <a:bodyPr wrap="square" lIns="0" tIns="0" rIns="0" bIns="0" rtlCol="0" anchor="t"/>
          <a:lstStyle/>
          <a:p>
            <a:pPr marL="0" indent="0">
              <a:buNone/>
            </a:pPr>
            <a:r>
              <a:rPr lang="en-US" sz="750" dirty="0">
                <a:solidFill>
                  <a:srgbClr val="9AA0B0"/>
                </a:solidFill>
                <a:latin typeface="Inter" pitchFamily="34" charset="0"/>
                <a:ea typeface="Inter" pitchFamily="34" charset="-122"/>
                <a:cs typeface="Inter" pitchFamily="34" charset="-120"/>
              </a:rPr>
              <a:t>Impact</a:t>
            </a:r>
            <a:endParaRPr lang="en-US" sz="750" dirty="0"/>
          </a:p>
        </p:txBody>
      </p:sp>
      <p:sp>
        <p:nvSpPr>
          <p:cNvPr id="27" name="Text 25"/>
          <p:cNvSpPr/>
          <p:nvPr/>
        </p:nvSpPr>
        <p:spPr>
          <a:xfrm>
            <a:off x="6565392" y="1783080"/>
            <a:ext cx="960120" cy="548640"/>
          </a:xfrm>
          <a:prstGeom prst="rect">
            <a:avLst/>
          </a:prstGeom>
          <a:noFill/>
          <a:ln/>
        </p:spPr>
        <p:txBody>
          <a:bodyPr wrap="square" lIns="0" tIns="0" rIns="0" bIns="0" rtlCol="0" anchor="t"/>
          <a:lstStyle/>
          <a:p>
            <a:pPr marL="0" indent="0">
              <a:buNone/>
            </a:pPr>
            <a:r>
              <a:rPr lang="en-US" sz="950" b="1" dirty="0">
                <a:solidFill>
                  <a:srgbClr val="9AA0B0"/>
                </a:solidFill>
                <a:latin typeface="Space Grotesk" pitchFamily="34" charset="0"/>
                <a:ea typeface="Space Grotesk" pitchFamily="34" charset="-122"/>
                <a:cs typeface="Space Grotesk" pitchFamily="34" charset="-120"/>
              </a:rPr>
              <a:t>Execute miner</a:t>
            </a:r>
            <a:endParaRPr lang="en-US" sz="950" dirty="0"/>
          </a:p>
        </p:txBody>
      </p:sp>
      <p:sp>
        <p:nvSpPr>
          <p:cNvPr id="28" name="Text 26"/>
          <p:cNvSpPr/>
          <p:nvPr/>
        </p:nvSpPr>
        <p:spPr>
          <a:xfrm>
            <a:off x="6565392" y="2423160"/>
            <a:ext cx="960120" cy="228600"/>
          </a:xfrm>
          <a:prstGeom prst="rect">
            <a:avLst/>
          </a:prstGeom>
          <a:noFill/>
          <a:ln/>
        </p:spPr>
        <p:txBody>
          <a:bodyPr wrap="square" lIns="0" tIns="0" rIns="0" bIns="0" rtlCol="0" anchor="t"/>
          <a:lstStyle/>
          <a:p>
            <a:pPr marL="0" indent="0" algn="ctr">
              <a:buNone/>
            </a:pPr>
            <a:r>
              <a:rPr lang="en-US" sz="700" b="1" dirty="0">
                <a:solidFill>
                  <a:srgbClr val="0046FF"/>
                </a:solidFill>
                <a:latin typeface="Inter" pitchFamily="34" charset="0"/>
                <a:ea typeface="Inter" pitchFamily="34" charset="-122"/>
                <a:cs typeface="Inter" pitchFamily="34" charset="-120"/>
              </a:rPr>
              <a:t>PREVENTED</a:t>
            </a:r>
            <a:endParaRPr lang="en-US" sz="700" dirty="0"/>
          </a:p>
        </p:txBody>
      </p:sp>
      <p:sp>
        <p:nvSpPr>
          <p:cNvPr id="29" name="Shape 27"/>
          <p:cNvSpPr/>
          <p:nvPr/>
        </p:nvSpPr>
        <p:spPr>
          <a:xfrm>
            <a:off x="7680960" y="1371600"/>
            <a:ext cx="1097280" cy="1371600"/>
          </a:xfrm>
          <a:prstGeom prst="roundRect">
            <a:avLst>
              <a:gd name="adj" fmla="val 4167"/>
            </a:avLst>
          </a:prstGeom>
          <a:solidFill>
            <a:srgbClr val="EDEDED"/>
          </a:solidFill>
          <a:ln w="9525">
            <a:solidFill>
              <a:srgbClr val="D8D8D8"/>
            </a:solidFill>
            <a:prstDash val="solid"/>
          </a:ln>
        </p:spPr>
        <p:txBody>
          <a:bodyPr/>
          <a:lstStyle/>
          <a:p>
            <a:endParaRPr lang="en-US"/>
          </a:p>
        </p:txBody>
      </p:sp>
      <p:sp>
        <p:nvSpPr>
          <p:cNvPr id="30" name="Text 28"/>
          <p:cNvSpPr/>
          <p:nvPr/>
        </p:nvSpPr>
        <p:spPr>
          <a:xfrm>
            <a:off x="7754112" y="1463040"/>
            <a:ext cx="960120" cy="274320"/>
          </a:xfrm>
          <a:prstGeom prst="rect">
            <a:avLst/>
          </a:prstGeom>
          <a:noFill/>
          <a:ln/>
        </p:spPr>
        <p:txBody>
          <a:bodyPr wrap="square" lIns="0" tIns="0" rIns="0" bIns="0" rtlCol="0" anchor="t"/>
          <a:lstStyle/>
          <a:p>
            <a:pPr marL="0" indent="0">
              <a:buNone/>
            </a:pPr>
            <a:r>
              <a:rPr lang="en-US" sz="750" dirty="0">
                <a:solidFill>
                  <a:srgbClr val="9AA0B0"/>
                </a:solidFill>
                <a:latin typeface="Inter" pitchFamily="34" charset="0"/>
                <a:ea typeface="Inter" pitchFamily="34" charset="-122"/>
                <a:cs typeface="Inter" pitchFamily="34" charset="-120"/>
              </a:rPr>
              <a:t>Impact</a:t>
            </a:r>
            <a:endParaRPr lang="en-US" sz="750" dirty="0"/>
          </a:p>
        </p:txBody>
      </p:sp>
      <p:sp>
        <p:nvSpPr>
          <p:cNvPr id="31" name="Text 29"/>
          <p:cNvSpPr/>
          <p:nvPr/>
        </p:nvSpPr>
        <p:spPr>
          <a:xfrm>
            <a:off x="7754112" y="1783080"/>
            <a:ext cx="960120" cy="548640"/>
          </a:xfrm>
          <a:prstGeom prst="rect">
            <a:avLst/>
          </a:prstGeom>
          <a:noFill/>
          <a:ln/>
        </p:spPr>
        <p:txBody>
          <a:bodyPr wrap="square" lIns="0" tIns="0" rIns="0" bIns="0" rtlCol="0" anchor="t"/>
          <a:lstStyle/>
          <a:p>
            <a:pPr marL="0" indent="0">
              <a:buNone/>
            </a:pPr>
            <a:r>
              <a:rPr lang="en-US" sz="950" b="1" dirty="0">
                <a:solidFill>
                  <a:srgbClr val="9AA0B0"/>
                </a:solidFill>
                <a:latin typeface="Space Grotesk" pitchFamily="34" charset="0"/>
                <a:ea typeface="Space Grotesk" pitchFamily="34" charset="-122"/>
                <a:cs typeface="Space Grotesk" pitchFamily="34" charset="-120"/>
              </a:rPr>
              <a:t>Spread to pods</a:t>
            </a:r>
            <a:endParaRPr lang="en-US" sz="950" dirty="0"/>
          </a:p>
        </p:txBody>
      </p:sp>
      <p:sp>
        <p:nvSpPr>
          <p:cNvPr id="32" name="Text 30"/>
          <p:cNvSpPr/>
          <p:nvPr/>
        </p:nvSpPr>
        <p:spPr>
          <a:xfrm>
            <a:off x="7754112" y="2423160"/>
            <a:ext cx="960120" cy="228600"/>
          </a:xfrm>
          <a:prstGeom prst="rect">
            <a:avLst/>
          </a:prstGeom>
          <a:noFill/>
          <a:ln/>
        </p:spPr>
        <p:txBody>
          <a:bodyPr wrap="square" lIns="0" tIns="0" rIns="0" bIns="0" rtlCol="0" anchor="t"/>
          <a:lstStyle/>
          <a:p>
            <a:pPr marL="0" indent="0" algn="ctr">
              <a:buNone/>
            </a:pPr>
            <a:r>
              <a:rPr lang="en-US" sz="700" b="1" dirty="0">
                <a:solidFill>
                  <a:srgbClr val="0046FF"/>
                </a:solidFill>
                <a:latin typeface="Inter" pitchFamily="34" charset="0"/>
                <a:ea typeface="Inter" pitchFamily="34" charset="-122"/>
                <a:cs typeface="Inter" pitchFamily="34" charset="-120"/>
              </a:rPr>
              <a:t>PREVENTED</a:t>
            </a:r>
            <a:endParaRPr lang="en-US" sz="700" dirty="0"/>
          </a:p>
        </p:txBody>
      </p:sp>
      <p:sp>
        <p:nvSpPr>
          <p:cNvPr id="33" name="Shape 31"/>
          <p:cNvSpPr/>
          <p:nvPr/>
        </p:nvSpPr>
        <p:spPr>
          <a:xfrm>
            <a:off x="365760" y="3063240"/>
            <a:ext cx="8412480" cy="1417320"/>
          </a:xfrm>
          <a:prstGeom prst="roundRect">
            <a:avLst>
              <a:gd name="adj" fmla="val 3226"/>
            </a:avLst>
          </a:prstGeom>
          <a:solidFill>
            <a:srgbClr val="F2F4FA"/>
          </a:solidFill>
          <a:ln w="9525">
            <a:solidFill>
              <a:srgbClr val="DDDDEE"/>
            </a:solidFill>
            <a:prstDash val="solid"/>
          </a:ln>
        </p:spPr>
        <p:txBody>
          <a:bodyPr/>
          <a:lstStyle/>
          <a:p>
            <a:endParaRPr lang="en-US"/>
          </a:p>
        </p:txBody>
      </p:sp>
      <p:sp>
        <p:nvSpPr>
          <p:cNvPr id="34" name="Text 32"/>
          <p:cNvSpPr/>
          <p:nvPr/>
        </p:nvSpPr>
        <p:spPr>
          <a:xfrm>
            <a:off x="502920" y="3154680"/>
            <a:ext cx="8229600" cy="274320"/>
          </a:xfrm>
          <a:prstGeom prst="rect">
            <a:avLst/>
          </a:prstGeom>
          <a:noFill/>
          <a:ln/>
        </p:spPr>
        <p:txBody>
          <a:bodyPr wrap="square" lIns="0" tIns="0" rIns="0" bIns="0" rtlCol="0" anchor="t"/>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Glass-box reasoning behind the verdict</a:t>
            </a:r>
            <a:endParaRPr lang="en-US" sz="1100" dirty="0"/>
          </a:p>
        </p:txBody>
      </p:sp>
      <p:sp>
        <p:nvSpPr>
          <p:cNvPr id="35" name="Text 33"/>
          <p:cNvSpPr/>
          <p:nvPr/>
        </p:nvSpPr>
        <p:spPr>
          <a:xfrm>
            <a:off x="548640" y="3474720"/>
            <a:ext cx="8138160" cy="292608"/>
          </a:xfrm>
          <a:prstGeom prst="rect">
            <a:avLst/>
          </a:prstGeom>
          <a:noFill/>
          <a:ln/>
        </p:spPr>
        <p:txBody>
          <a:bodyPr wrap="square" lIns="0" tIns="0" rIns="0" bIns="0" rtlCol="0" anchor="t"/>
          <a:lstStyle/>
          <a:p>
            <a:pPr marL="0" indent="0">
              <a:buNone/>
            </a:pPr>
            <a:r>
              <a:rPr lang="en-US" sz="930" dirty="0">
                <a:solidFill>
                  <a:srgbClr val="0D1B4B"/>
                </a:solidFill>
                <a:latin typeface="Inter" pitchFamily="34" charset="0"/>
                <a:ea typeface="Inter" pitchFamily="34" charset="-122"/>
                <a:cs typeface="Inter" pitchFamily="34" charset="-120"/>
              </a:rPr>
              <a:t>1.  Image digest not in approved registry allowlist — queried KSPM admission log</a:t>
            </a:r>
            <a:endParaRPr lang="en-US" sz="930" dirty="0"/>
          </a:p>
        </p:txBody>
      </p:sp>
      <p:sp>
        <p:nvSpPr>
          <p:cNvPr id="36" name="Text 34"/>
          <p:cNvSpPr/>
          <p:nvPr/>
        </p:nvSpPr>
        <p:spPr>
          <a:xfrm>
            <a:off x="548640" y="3785616"/>
            <a:ext cx="8138160" cy="292608"/>
          </a:xfrm>
          <a:prstGeom prst="rect">
            <a:avLst/>
          </a:prstGeom>
          <a:noFill/>
          <a:ln/>
        </p:spPr>
        <p:txBody>
          <a:bodyPr wrap="square" lIns="0" tIns="0" rIns="0" bIns="0" rtlCol="0" anchor="t"/>
          <a:lstStyle/>
          <a:p>
            <a:pPr marL="0" indent="0">
              <a:buNone/>
            </a:pPr>
            <a:r>
              <a:rPr lang="en-US" sz="930" dirty="0">
                <a:solidFill>
                  <a:srgbClr val="0D1B4B"/>
                </a:solidFill>
                <a:latin typeface="Inter" pitchFamily="34" charset="0"/>
                <a:ea typeface="Inter" pitchFamily="34" charset="-122"/>
                <a:cs typeface="Inter" pitchFamily="34" charset="-120"/>
              </a:rPr>
              <a:t>2.  Egress 185.x.x.x matches a mining-pool C2 in the IOC feed — queried KubeArmor network events</a:t>
            </a:r>
            <a:endParaRPr lang="en-US" sz="930" dirty="0"/>
          </a:p>
        </p:txBody>
      </p:sp>
      <p:sp>
        <p:nvSpPr>
          <p:cNvPr id="37" name="Text 35"/>
          <p:cNvSpPr/>
          <p:nvPr/>
        </p:nvSpPr>
        <p:spPr>
          <a:xfrm>
            <a:off x="548640" y="4096512"/>
            <a:ext cx="8138160" cy="292608"/>
          </a:xfrm>
          <a:prstGeom prst="rect">
            <a:avLst/>
          </a:prstGeom>
          <a:noFill/>
          <a:ln/>
        </p:spPr>
        <p:txBody>
          <a:bodyPr wrap="square" lIns="0" tIns="0" rIns="0" bIns="0" rtlCol="0" anchor="t"/>
          <a:lstStyle/>
          <a:p>
            <a:pPr marL="0" indent="0">
              <a:buNone/>
            </a:pPr>
            <a:r>
              <a:rPr lang="en-US" sz="930" dirty="0">
                <a:solidFill>
                  <a:srgbClr val="0D1B4B"/>
                </a:solidFill>
                <a:latin typeface="Inter" pitchFamily="34" charset="0"/>
                <a:ea typeface="Inter" pitchFamily="34" charset="-122"/>
                <a:cs typeface="Inter" pitchFamily="34" charset="-120"/>
              </a:rPr>
              <a:t>3.  download → write-to-/tmp → exec sequence, behavioral score 0.97 — queried eBPF runtime telemetry</a:t>
            </a:r>
            <a:endParaRPr lang="en-US" sz="9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07</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15 Use Cases</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Where runtime enforcement changes the outcome, not just the response time.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Use cases 1-5 — cloud and container runtime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25</a:t>
            </a:r>
            <a:endParaRPr lang="en-US" sz="750" dirty="0"/>
          </a:p>
        </p:txBody>
      </p:sp>
      <p:sp>
        <p:nvSpPr>
          <p:cNvPr id="8" name="Shape 6"/>
          <p:cNvSpPr/>
          <p:nvPr/>
        </p:nvSpPr>
        <p:spPr>
          <a:xfrm>
            <a:off x="365760" y="777240"/>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777240"/>
            <a:ext cx="64008" cy="713232"/>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548640" y="832104"/>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Cryptojacking on K8s</a:t>
            </a:r>
            <a:endParaRPr lang="en-US" sz="1100" dirty="0"/>
          </a:p>
        </p:txBody>
      </p:sp>
      <p:sp>
        <p:nvSpPr>
          <p:cNvPr id="11" name="Text 9"/>
          <p:cNvSpPr/>
          <p:nvPr/>
        </p:nvSpPr>
        <p:spPr>
          <a:xfrm>
            <a:off x="2926080" y="832104"/>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Correlate image provenance, C2 egress, and the download→exec sequence from eBPF.</a:t>
            </a:r>
            <a:endParaRPr lang="en-US" sz="880" dirty="0"/>
          </a:p>
        </p:txBody>
      </p:sp>
      <p:sp>
        <p:nvSpPr>
          <p:cNvPr id="12" name="Shape 10"/>
          <p:cNvSpPr/>
          <p:nvPr/>
        </p:nvSpPr>
        <p:spPr>
          <a:xfrm>
            <a:off x="6263640" y="868680"/>
            <a:ext cx="2423160" cy="530352"/>
          </a:xfrm>
          <a:prstGeom prst="rect">
            <a:avLst/>
          </a:prstGeom>
          <a:solidFill>
            <a:srgbClr val="EEF3FF"/>
          </a:solidFill>
          <a:ln w="12700">
            <a:solidFill>
              <a:srgbClr val="333333"/>
            </a:solidFill>
            <a:prstDash val="solid"/>
          </a:ln>
        </p:spPr>
        <p:txBody>
          <a:bodyPr/>
          <a:lstStyle/>
          <a:p>
            <a:endParaRPr lang="en-US"/>
          </a:p>
        </p:txBody>
      </p:sp>
      <p:sp>
        <p:nvSpPr>
          <p:cNvPr id="13" name="Shape 11"/>
          <p:cNvSpPr/>
          <p:nvPr/>
        </p:nvSpPr>
        <p:spPr>
          <a:xfrm>
            <a:off x="6263640" y="868680"/>
            <a:ext cx="2423160" cy="530352"/>
          </a:xfrm>
          <a:prstGeom prst="rect">
            <a:avLst/>
          </a:prstGeom>
          <a:noFill/>
          <a:ln w="6350">
            <a:solidFill>
              <a:srgbClr val="0046FF"/>
            </a:solidFill>
            <a:prstDash val="solid"/>
          </a:ln>
        </p:spPr>
        <p:txBody>
          <a:bodyPr/>
          <a:lstStyle/>
          <a:p>
            <a:endParaRPr lang="en-US"/>
          </a:p>
        </p:txBody>
      </p:sp>
      <p:sp>
        <p:nvSpPr>
          <p:cNvPr id="14" name="Text 12"/>
          <p:cNvSpPr/>
          <p:nvPr/>
        </p:nvSpPr>
        <p:spPr>
          <a:xfrm>
            <a:off x="6382512" y="868680"/>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Kernel blocks execve from /tmp before the miner runs</a:t>
            </a:r>
            <a:endParaRPr lang="en-US" sz="860" dirty="0"/>
          </a:p>
        </p:txBody>
      </p:sp>
      <p:sp>
        <p:nvSpPr>
          <p:cNvPr id="15" name="Shape 13"/>
          <p:cNvSpPr/>
          <p:nvPr/>
        </p:nvSpPr>
        <p:spPr>
          <a:xfrm>
            <a:off x="365760" y="1563624"/>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16" name="Shape 14"/>
          <p:cNvSpPr/>
          <p:nvPr/>
        </p:nvSpPr>
        <p:spPr>
          <a:xfrm>
            <a:off x="365760" y="1563624"/>
            <a:ext cx="64008" cy="713232"/>
          </a:xfrm>
          <a:prstGeom prst="rect">
            <a:avLst/>
          </a:prstGeom>
          <a:solidFill>
            <a:srgbClr val="0046FF"/>
          </a:solidFill>
          <a:ln w="12700">
            <a:solidFill>
              <a:srgbClr val="333333"/>
            </a:solidFill>
            <a:prstDash val="solid"/>
          </a:ln>
        </p:spPr>
        <p:txBody>
          <a:bodyPr/>
          <a:lstStyle/>
          <a:p>
            <a:endParaRPr lang="en-US"/>
          </a:p>
        </p:txBody>
      </p:sp>
      <p:sp>
        <p:nvSpPr>
          <p:cNvPr id="17" name="Text 15"/>
          <p:cNvSpPr/>
          <p:nvPr/>
        </p:nvSpPr>
        <p:spPr>
          <a:xfrm>
            <a:off x="548640" y="1618488"/>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Compromised image / supply chain</a:t>
            </a:r>
            <a:endParaRPr lang="en-US" sz="1100" dirty="0"/>
          </a:p>
        </p:txBody>
      </p:sp>
      <p:sp>
        <p:nvSpPr>
          <p:cNvPr id="18" name="Text 16"/>
          <p:cNvSpPr/>
          <p:nvPr/>
        </p:nvSpPr>
        <p:spPr>
          <a:xfrm>
            <a:off x="2926080" y="1618488"/>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Detect malicious runtime behavior from a poisoned image (Nx, LiteLLM style), not just a CVE.</a:t>
            </a:r>
            <a:endParaRPr lang="en-US" sz="880" dirty="0"/>
          </a:p>
        </p:txBody>
      </p:sp>
      <p:sp>
        <p:nvSpPr>
          <p:cNvPr id="19" name="Shape 17"/>
          <p:cNvSpPr/>
          <p:nvPr/>
        </p:nvSpPr>
        <p:spPr>
          <a:xfrm>
            <a:off x="6263640" y="1655064"/>
            <a:ext cx="2423160" cy="530352"/>
          </a:xfrm>
          <a:prstGeom prst="rect">
            <a:avLst/>
          </a:prstGeom>
          <a:solidFill>
            <a:srgbClr val="EEF3FF"/>
          </a:solidFill>
          <a:ln w="12700">
            <a:solidFill>
              <a:srgbClr val="333333"/>
            </a:solidFill>
            <a:prstDash val="solid"/>
          </a:ln>
        </p:spPr>
        <p:txBody>
          <a:bodyPr/>
          <a:lstStyle/>
          <a:p>
            <a:endParaRPr lang="en-US"/>
          </a:p>
        </p:txBody>
      </p:sp>
      <p:sp>
        <p:nvSpPr>
          <p:cNvPr id="20" name="Shape 18"/>
          <p:cNvSpPr/>
          <p:nvPr/>
        </p:nvSpPr>
        <p:spPr>
          <a:xfrm>
            <a:off x="6263640" y="1655064"/>
            <a:ext cx="2423160" cy="530352"/>
          </a:xfrm>
          <a:prstGeom prst="rect">
            <a:avLst/>
          </a:prstGeom>
          <a:noFill/>
          <a:ln w="6350">
            <a:solidFill>
              <a:srgbClr val="0046FF"/>
            </a:solidFill>
            <a:prstDash val="solid"/>
          </a:ln>
        </p:spPr>
        <p:txBody>
          <a:bodyPr/>
          <a:lstStyle/>
          <a:p>
            <a:endParaRPr lang="en-US"/>
          </a:p>
        </p:txBody>
      </p:sp>
      <p:sp>
        <p:nvSpPr>
          <p:cNvPr id="21" name="Text 19"/>
          <p:cNvSpPr/>
          <p:nvPr/>
        </p:nvSpPr>
        <p:spPr>
          <a:xfrm>
            <a:off x="6382512" y="1655064"/>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Block the anomalous syscall, quarantine the pod</a:t>
            </a:r>
            <a:endParaRPr lang="en-US" sz="860" dirty="0"/>
          </a:p>
        </p:txBody>
      </p:sp>
      <p:sp>
        <p:nvSpPr>
          <p:cNvPr id="22" name="Shape 20"/>
          <p:cNvSpPr/>
          <p:nvPr/>
        </p:nvSpPr>
        <p:spPr>
          <a:xfrm>
            <a:off x="365760" y="2350008"/>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23" name="Shape 21"/>
          <p:cNvSpPr/>
          <p:nvPr/>
        </p:nvSpPr>
        <p:spPr>
          <a:xfrm>
            <a:off x="365760" y="2350008"/>
            <a:ext cx="64008" cy="713232"/>
          </a:xfrm>
          <a:prstGeom prst="rect">
            <a:avLst/>
          </a:prstGeom>
          <a:solidFill>
            <a:srgbClr val="0046FF"/>
          </a:solidFill>
          <a:ln w="12700">
            <a:solidFill>
              <a:srgbClr val="333333"/>
            </a:solidFill>
            <a:prstDash val="solid"/>
          </a:ln>
        </p:spPr>
        <p:txBody>
          <a:bodyPr/>
          <a:lstStyle/>
          <a:p>
            <a:endParaRPr lang="en-US"/>
          </a:p>
        </p:txBody>
      </p:sp>
      <p:sp>
        <p:nvSpPr>
          <p:cNvPr id="24" name="Text 22"/>
          <p:cNvSpPr/>
          <p:nvPr/>
        </p:nvSpPr>
        <p:spPr>
          <a:xfrm>
            <a:off x="548640" y="2404872"/>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Container escape / priv-esc</a:t>
            </a:r>
            <a:endParaRPr lang="en-US" sz="1100" dirty="0"/>
          </a:p>
        </p:txBody>
      </p:sp>
      <p:sp>
        <p:nvSpPr>
          <p:cNvPr id="25" name="Text 23"/>
          <p:cNvSpPr/>
          <p:nvPr/>
        </p:nvSpPr>
        <p:spPr>
          <a:xfrm>
            <a:off x="2926080" y="2404872"/>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Spot ptrace, unexpected capabilities, and host-path access at the kernel.</a:t>
            </a:r>
            <a:endParaRPr lang="en-US" sz="880" dirty="0"/>
          </a:p>
        </p:txBody>
      </p:sp>
      <p:sp>
        <p:nvSpPr>
          <p:cNvPr id="26" name="Shape 24"/>
          <p:cNvSpPr/>
          <p:nvPr/>
        </p:nvSpPr>
        <p:spPr>
          <a:xfrm>
            <a:off x="6263640" y="2441448"/>
            <a:ext cx="2423160" cy="530352"/>
          </a:xfrm>
          <a:prstGeom prst="rect">
            <a:avLst/>
          </a:prstGeom>
          <a:solidFill>
            <a:srgbClr val="EEF3FF"/>
          </a:solidFill>
          <a:ln w="12700">
            <a:solidFill>
              <a:srgbClr val="333333"/>
            </a:solidFill>
            <a:prstDash val="solid"/>
          </a:ln>
        </p:spPr>
        <p:txBody>
          <a:bodyPr/>
          <a:lstStyle/>
          <a:p>
            <a:endParaRPr lang="en-US"/>
          </a:p>
        </p:txBody>
      </p:sp>
      <p:sp>
        <p:nvSpPr>
          <p:cNvPr id="27" name="Shape 25"/>
          <p:cNvSpPr/>
          <p:nvPr/>
        </p:nvSpPr>
        <p:spPr>
          <a:xfrm>
            <a:off x="6263640" y="2441448"/>
            <a:ext cx="2423160" cy="530352"/>
          </a:xfrm>
          <a:prstGeom prst="rect">
            <a:avLst/>
          </a:prstGeom>
          <a:noFill/>
          <a:ln w="6350">
            <a:solidFill>
              <a:srgbClr val="0046FF"/>
            </a:solidFill>
            <a:prstDash val="solid"/>
          </a:ln>
        </p:spPr>
        <p:txBody>
          <a:bodyPr/>
          <a:lstStyle/>
          <a:p>
            <a:endParaRPr lang="en-US"/>
          </a:p>
        </p:txBody>
      </p:sp>
      <p:sp>
        <p:nvSpPr>
          <p:cNvPr id="28" name="Text 26"/>
          <p:cNvSpPr/>
          <p:nvPr/>
        </p:nvSpPr>
        <p:spPr>
          <a:xfrm>
            <a:off x="6382512" y="2441448"/>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Deny the escape syscall inline, near-zero overhead</a:t>
            </a:r>
            <a:endParaRPr lang="en-US" sz="860" dirty="0"/>
          </a:p>
        </p:txBody>
      </p:sp>
      <p:sp>
        <p:nvSpPr>
          <p:cNvPr id="29" name="Shape 27"/>
          <p:cNvSpPr/>
          <p:nvPr/>
        </p:nvSpPr>
        <p:spPr>
          <a:xfrm>
            <a:off x="365760" y="3136392"/>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30" name="Shape 28"/>
          <p:cNvSpPr/>
          <p:nvPr/>
        </p:nvSpPr>
        <p:spPr>
          <a:xfrm>
            <a:off x="365760" y="3136392"/>
            <a:ext cx="64008" cy="713232"/>
          </a:xfrm>
          <a:prstGeom prst="rect">
            <a:avLst/>
          </a:prstGeom>
          <a:solidFill>
            <a:srgbClr val="0046FF"/>
          </a:solidFill>
          <a:ln w="12700">
            <a:solidFill>
              <a:srgbClr val="333333"/>
            </a:solidFill>
            <a:prstDash val="solid"/>
          </a:ln>
        </p:spPr>
        <p:txBody>
          <a:bodyPr/>
          <a:lstStyle/>
          <a:p>
            <a:endParaRPr lang="en-US"/>
          </a:p>
        </p:txBody>
      </p:sp>
      <p:sp>
        <p:nvSpPr>
          <p:cNvPr id="31" name="Text 29"/>
          <p:cNvSpPr/>
          <p:nvPr/>
        </p:nvSpPr>
        <p:spPr>
          <a:xfrm>
            <a:off x="548640" y="3191256"/>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Ransomware precursor</a:t>
            </a:r>
            <a:endParaRPr lang="en-US" sz="1100" dirty="0"/>
          </a:p>
        </p:txBody>
      </p:sp>
      <p:sp>
        <p:nvSpPr>
          <p:cNvPr id="32" name="Text 30"/>
          <p:cNvSpPr/>
          <p:nvPr/>
        </p:nvSpPr>
        <p:spPr>
          <a:xfrm>
            <a:off x="2926080" y="3191256"/>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Detect mass file-encryption behavior on a workload in real time.</a:t>
            </a:r>
            <a:endParaRPr lang="en-US" sz="880" dirty="0"/>
          </a:p>
        </p:txBody>
      </p:sp>
      <p:sp>
        <p:nvSpPr>
          <p:cNvPr id="33" name="Shape 31"/>
          <p:cNvSpPr/>
          <p:nvPr/>
        </p:nvSpPr>
        <p:spPr>
          <a:xfrm>
            <a:off x="6263640" y="3227832"/>
            <a:ext cx="2423160" cy="530352"/>
          </a:xfrm>
          <a:prstGeom prst="rect">
            <a:avLst/>
          </a:prstGeom>
          <a:solidFill>
            <a:srgbClr val="EEF3FF"/>
          </a:solidFill>
          <a:ln w="12700">
            <a:solidFill>
              <a:srgbClr val="333333"/>
            </a:solidFill>
            <a:prstDash val="solid"/>
          </a:ln>
        </p:spPr>
        <p:txBody>
          <a:bodyPr/>
          <a:lstStyle/>
          <a:p>
            <a:endParaRPr lang="en-US"/>
          </a:p>
        </p:txBody>
      </p:sp>
      <p:sp>
        <p:nvSpPr>
          <p:cNvPr id="34" name="Shape 32"/>
          <p:cNvSpPr/>
          <p:nvPr/>
        </p:nvSpPr>
        <p:spPr>
          <a:xfrm>
            <a:off x="6263640" y="3227832"/>
            <a:ext cx="2423160" cy="530352"/>
          </a:xfrm>
          <a:prstGeom prst="rect">
            <a:avLst/>
          </a:prstGeom>
          <a:noFill/>
          <a:ln w="6350">
            <a:solidFill>
              <a:srgbClr val="0046FF"/>
            </a:solidFill>
            <a:prstDash val="solid"/>
          </a:ln>
        </p:spPr>
        <p:txBody>
          <a:bodyPr/>
          <a:lstStyle/>
          <a:p>
            <a:endParaRPr lang="en-US"/>
          </a:p>
        </p:txBody>
      </p:sp>
      <p:sp>
        <p:nvSpPr>
          <p:cNvPr id="35" name="Text 33"/>
          <p:cNvSpPr/>
          <p:nvPr/>
        </p:nvSpPr>
        <p:spPr>
          <a:xfrm>
            <a:off x="6382512" y="3227832"/>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Block the file writes at the syscall, contain the host</a:t>
            </a:r>
            <a:endParaRPr lang="en-US" sz="860" dirty="0"/>
          </a:p>
        </p:txBody>
      </p:sp>
      <p:sp>
        <p:nvSpPr>
          <p:cNvPr id="36" name="Shape 34"/>
          <p:cNvSpPr/>
          <p:nvPr/>
        </p:nvSpPr>
        <p:spPr>
          <a:xfrm>
            <a:off x="365760" y="3922776"/>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37" name="Shape 35"/>
          <p:cNvSpPr/>
          <p:nvPr/>
        </p:nvSpPr>
        <p:spPr>
          <a:xfrm>
            <a:off x="365760" y="3922776"/>
            <a:ext cx="64008" cy="713232"/>
          </a:xfrm>
          <a:prstGeom prst="rect">
            <a:avLst/>
          </a:prstGeom>
          <a:solidFill>
            <a:srgbClr val="0046FF"/>
          </a:solidFill>
          <a:ln w="12700">
            <a:solidFill>
              <a:srgbClr val="333333"/>
            </a:solidFill>
            <a:prstDash val="solid"/>
          </a:ln>
        </p:spPr>
        <p:txBody>
          <a:bodyPr/>
          <a:lstStyle/>
          <a:p>
            <a:endParaRPr lang="en-US"/>
          </a:p>
        </p:txBody>
      </p:sp>
      <p:sp>
        <p:nvSpPr>
          <p:cNvPr id="38" name="Text 36"/>
          <p:cNvSpPr/>
          <p:nvPr/>
        </p:nvSpPr>
        <p:spPr>
          <a:xfrm>
            <a:off x="548640" y="3977640"/>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Cloud privilege escalation</a:t>
            </a:r>
            <a:endParaRPr lang="en-US" sz="1100" dirty="0"/>
          </a:p>
        </p:txBody>
      </p:sp>
      <p:sp>
        <p:nvSpPr>
          <p:cNvPr id="39" name="Text 37"/>
          <p:cNvSpPr/>
          <p:nvPr/>
        </p:nvSpPr>
        <p:spPr>
          <a:xfrm>
            <a:off x="2926080" y="3977640"/>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Correlate CloudTrail + CIEM: risky role chains and IAM policy attach.</a:t>
            </a:r>
            <a:endParaRPr lang="en-US" sz="880" dirty="0"/>
          </a:p>
        </p:txBody>
      </p:sp>
      <p:sp>
        <p:nvSpPr>
          <p:cNvPr id="40" name="Shape 38"/>
          <p:cNvSpPr/>
          <p:nvPr/>
        </p:nvSpPr>
        <p:spPr>
          <a:xfrm>
            <a:off x="6263640" y="4014216"/>
            <a:ext cx="2423160" cy="530352"/>
          </a:xfrm>
          <a:prstGeom prst="rect">
            <a:avLst/>
          </a:prstGeom>
          <a:solidFill>
            <a:srgbClr val="EEF3FF"/>
          </a:solidFill>
          <a:ln w="12700">
            <a:solidFill>
              <a:srgbClr val="333333"/>
            </a:solidFill>
            <a:prstDash val="solid"/>
          </a:ln>
        </p:spPr>
        <p:txBody>
          <a:bodyPr/>
          <a:lstStyle/>
          <a:p>
            <a:endParaRPr lang="en-US"/>
          </a:p>
        </p:txBody>
      </p:sp>
      <p:sp>
        <p:nvSpPr>
          <p:cNvPr id="41" name="Shape 39"/>
          <p:cNvSpPr/>
          <p:nvPr/>
        </p:nvSpPr>
        <p:spPr>
          <a:xfrm>
            <a:off x="6263640" y="4014216"/>
            <a:ext cx="2423160" cy="530352"/>
          </a:xfrm>
          <a:prstGeom prst="rect">
            <a:avLst/>
          </a:prstGeom>
          <a:noFill/>
          <a:ln w="6350">
            <a:solidFill>
              <a:srgbClr val="0046FF"/>
            </a:solidFill>
            <a:prstDash val="solid"/>
          </a:ln>
        </p:spPr>
        <p:txBody>
          <a:bodyPr/>
          <a:lstStyle/>
          <a:p>
            <a:endParaRPr lang="en-US"/>
          </a:p>
        </p:txBody>
      </p:sp>
      <p:sp>
        <p:nvSpPr>
          <p:cNvPr id="42" name="Text 40"/>
          <p:cNvSpPr/>
          <p:nvPr/>
        </p:nvSpPr>
        <p:spPr>
          <a:xfrm>
            <a:off x="6382512" y="4014216"/>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Auto-remediate the role, alert with full blast radius</a:t>
            </a:r>
            <a:endParaRPr lang="en-US" sz="860" dirty="0"/>
          </a:p>
        </p:txBody>
      </p:sp>
      <p:sp>
        <p:nvSpPr>
          <p:cNvPr id="43" name="Text 41"/>
          <p:cNvSpPr/>
          <p:nvPr/>
        </p:nvSpPr>
        <p:spPr>
          <a:xfrm>
            <a:off x="365760" y="4572000"/>
            <a:ext cx="8412480" cy="274320"/>
          </a:xfrm>
          <a:prstGeom prst="rect">
            <a:avLst/>
          </a:prstGeom>
          <a:noFill/>
          <a:ln/>
        </p:spPr>
        <p:txBody>
          <a:bodyPr wrap="square" lIns="0" tIns="0" rIns="0" bIns="0" rtlCol="0" anchor="t"/>
          <a:lstStyle/>
          <a:p>
            <a:pPr marL="0" indent="0" algn="ctr">
              <a:buNone/>
            </a:pPr>
            <a:r>
              <a:rPr lang="en-US" sz="850" i="1" dirty="0">
                <a:solidFill>
                  <a:srgbClr val="44507A"/>
                </a:solidFill>
                <a:latin typeface="Inter" pitchFamily="34" charset="0"/>
                <a:ea typeface="Inter" pitchFamily="34" charset="-122"/>
                <a:cs typeface="Inter" pitchFamily="34" charset="-120"/>
              </a:rPr>
              <a:t>Threat  →  what AccuKnox does  →  the enforcement outcome (blue).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Use cases 6-10 — identity, data, and SaaS</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26</a:t>
            </a:r>
            <a:endParaRPr lang="en-US" sz="750" dirty="0"/>
          </a:p>
        </p:txBody>
      </p:sp>
      <p:sp>
        <p:nvSpPr>
          <p:cNvPr id="8" name="Shape 6"/>
          <p:cNvSpPr/>
          <p:nvPr/>
        </p:nvSpPr>
        <p:spPr>
          <a:xfrm>
            <a:off x="365760" y="777240"/>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777240"/>
            <a:ext cx="64008" cy="713232"/>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548640" y="832104"/>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Credential theft → lateral move</a:t>
            </a:r>
            <a:endParaRPr lang="en-US" sz="1100" dirty="0"/>
          </a:p>
        </p:txBody>
      </p:sp>
      <p:sp>
        <p:nvSpPr>
          <p:cNvPr id="11" name="Text 9"/>
          <p:cNvSpPr/>
          <p:nvPr/>
        </p:nvSpPr>
        <p:spPr>
          <a:xfrm>
            <a:off x="2926080" y="832104"/>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Stitch Okta MFA-fatigue, anomalous auth, and session context into one chain.</a:t>
            </a:r>
            <a:endParaRPr lang="en-US" sz="880" dirty="0"/>
          </a:p>
        </p:txBody>
      </p:sp>
      <p:sp>
        <p:nvSpPr>
          <p:cNvPr id="12" name="Shape 10"/>
          <p:cNvSpPr/>
          <p:nvPr/>
        </p:nvSpPr>
        <p:spPr>
          <a:xfrm>
            <a:off x="6263640" y="868680"/>
            <a:ext cx="2423160" cy="530352"/>
          </a:xfrm>
          <a:prstGeom prst="rect">
            <a:avLst/>
          </a:prstGeom>
          <a:solidFill>
            <a:srgbClr val="EEF3FF"/>
          </a:solidFill>
          <a:ln w="12700">
            <a:solidFill>
              <a:srgbClr val="333333"/>
            </a:solidFill>
            <a:prstDash val="solid"/>
          </a:ln>
        </p:spPr>
        <p:txBody>
          <a:bodyPr/>
          <a:lstStyle/>
          <a:p>
            <a:endParaRPr lang="en-US"/>
          </a:p>
        </p:txBody>
      </p:sp>
      <p:sp>
        <p:nvSpPr>
          <p:cNvPr id="13" name="Shape 11"/>
          <p:cNvSpPr/>
          <p:nvPr/>
        </p:nvSpPr>
        <p:spPr>
          <a:xfrm>
            <a:off x="6263640" y="868680"/>
            <a:ext cx="2423160" cy="530352"/>
          </a:xfrm>
          <a:prstGeom prst="rect">
            <a:avLst/>
          </a:prstGeom>
          <a:noFill/>
          <a:ln w="6350">
            <a:solidFill>
              <a:srgbClr val="0046FF"/>
            </a:solidFill>
            <a:prstDash val="solid"/>
          </a:ln>
        </p:spPr>
        <p:txBody>
          <a:bodyPr/>
          <a:lstStyle/>
          <a:p>
            <a:endParaRPr lang="en-US"/>
          </a:p>
        </p:txBody>
      </p:sp>
      <p:sp>
        <p:nvSpPr>
          <p:cNvPr id="14" name="Text 12"/>
          <p:cNvSpPr/>
          <p:nvPr/>
        </p:nvSpPr>
        <p:spPr>
          <a:xfrm>
            <a:off x="6382512" y="868680"/>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Revoke session, isolate host, one-click contain</a:t>
            </a:r>
            <a:endParaRPr lang="en-US" sz="860" dirty="0"/>
          </a:p>
        </p:txBody>
      </p:sp>
      <p:sp>
        <p:nvSpPr>
          <p:cNvPr id="15" name="Shape 13"/>
          <p:cNvSpPr/>
          <p:nvPr/>
        </p:nvSpPr>
        <p:spPr>
          <a:xfrm>
            <a:off x="365760" y="1563624"/>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16" name="Shape 14"/>
          <p:cNvSpPr/>
          <p:nvPr/>
        </p:nvSpPr>
        <p:spPr>
          <a:xfrm>
            <a:off x="365760" y="1563624"/>
            <a:ext cx="64008" cy="713232"/>
          </a:xfrm>
          <a:prstGeom prst="rect">
            <a:avLst/>
          </a:prstGeom>
          <a:solidFill>
            <a:srgbClr val="0046FF"/>
          </a:solidFill>
          <a:ln w="12700">
            <a:solidFill>
              <a:srgbClr val="333333"/>
            </a:solidFill>
            <a:prstDash val="solid"/>
          </a:ln>
        </p:spPr>
        <p:txBody>
          <a:bodyPr/>
          <a:lstStyle/>
          <a:p>
            <a:endParaRPr lang="en-US"/>
          </a:p>
        </p:txBody>
      </p:sp>
      <p:sp>
        <p:nvSpPr>
          <p:cNvPr id="17" name="Text 15"/>
          <p:cNvSpPr/>
          <p:nvPr/>
        </p:nvSpPr>
        <p:spPr>
          <a:xfrm>
            <a:off x="548640" y="1618488"/>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Data exfiltration from cloud</a:t>
            </a:r>
            <a:endParaRPr lang="en-US" sz="1100" dirty="0"/>
          </a:p>
        </p:txBody>
      </p:sp>
      <p:sp>
        <p:nvSpPr>
          <p:cNvPr id="18" name="Text 16"/>
          <p:cNvSpPr/>
          <p:nvPr/>
        </p:nvSpPr>
        <p:spPr>
          <a:xfrm>
            <a:off x="2926080" y="1618488"/>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Behavioral baseline flags abnormal S3 access by a departing-employee identity.</a:t>
            </a:r>
            <a:endParaRPr lang="en-US" sz="880" dirty="0"/>
          </a:p>
        </p:txBody>
      </p:sp>
      <p:sp>
        <p:nvSpPr>
          <p:cNvPr id="19" name="Shape 17"/>
          <p:cNvSpPr/>
          <p:nvPr/>
        </p:nvSpPr>
        <p:spPr>
          <a:xfrm>
            <a:off x="6263640" y="1655064"/>
            <a:ext cx="2423160" cy="530352"/>
          </a:xfrm>
          <a:prstGeom prst="rect">
            <a:avLst/>
          </a:prstGeom>
          <a:solidFill>
            <a:srgbClr val="EEF3FF"/>
          </a:solidFill>
          <a:ln w="12700">
            <a:solidFill>
              <a:srgbClr val="333333"/>
            </a:solidFill>
            <a:prstDash val="solid"/>
          </a:ln>
        </p:spPr>
        <p:txBody>
          <a:bodyPr/>
          <a:lstStyle/>
          <a:p>
            <a:endParaRPr lang="en-US"/>
          </a:p>
        </p:txBody>
      </p:sp>
      <p:sp>
        <p:nvSpPr>
          <p:cNvPr id="20" name="Shape 18"/>
          <p:cNvSpPr/>
          <p:nvPr/>
        </p:nvSpPr>
        <p:spPr>
          <a:xfrm>
            <a:off x="6263640" y="1655064"/>
            <a:ext cx="2423160" cy="530352"/>
          </a:xfrm>
          <a:prstGeom prst="rect">
            <a:avLst/>
          </a:prstGeom>
          <a:noFill/>
          <a:ln w="6350">
            <a:solidFill>
              <a:srgbClr val="0046FF"/>
            </a:solidFill>
            <a:prstDash val="solid"/>
          </a:ln>
        </p:spPr>
        <p:txBody>
          <a:bodyPr/>
          <a:lstStyle/>
          <a:p>
            <a:endParaRPr lang="en-US"/>
          </a:p>
        </p:txBody>
      </p:sp>
      <p:sp>
        <p:nvSpPr>
          <p:cNvPr id="21" name="Text 19"/>
          <p:cNvSpPr/>
          <p:nvPr/>
        </p:nvSpPr>
        <p:spPr>
          <a:xfrm>
            <a:off x="6382512" y="1655064"/>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Block egress, quarantine the access key</a:t>
            </a:r>
            <a:endParaRPr lang="en-US" sz="860" dirty="0"/>
          </a:p>
        </p:txBody>
      </p:sp>
      <p:sp>
        <p:nvSpPr>
          <p:cNvPr id="22" name="Shape 20"/>
          <p:cNvSpPr/>
          <p:nvPr/>
        </p:nvSpPr>
        <p:spPr>
          <a:xfrm>
            <a:off x="365760" y="2350008"/>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23" name="Shape 21"/>
          <p:cNvSpPr/>
          <p:nvPr/>
        </p:nvSpPr>
        <p:spPr>
          <a:xfrm>
            <a:off x="365760" y="2350008"/>
            <a:ext cx="64008" cy="713232"/>
          </a:xfrm>
          <a:prstGeom prst="rect">
            <a:avLst/>
          </a:prstGeom>
          <a:solidFill>
            <a:srgbClr val="0046FF"/>
          </a:solidFill>
          <a:ln w="12700">
            <a:solidFill>
              <a:srgbClr val="333333"/>
            </a:solidFill>
            <a:prstDash val="solid"/>
          </a:ln>
        </p:spPr>
        <p:txBody>
          <a:bodyPr/>
          <a:lstStyle/>
          <a:p>
            <a:endParaRPr lang="en-US"/>
          </a:p>
        </p:txBody>
      </p:sp>
      <p:sp>
        <p:nvSpPr>
          <p:cNvPr id="24" name="Text 22"/>
          <p:cNvSpPr/>
          <p:nvPr/>
        </p:nvSpPr>
        <p:spPr>
          <a:xfrm>
            <a:off x="548640" y="2404872"/>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Insider threat</a:t>
            </a:r>
            <a:endParaRPr lang="en-US" sz="1100" dirty="0"/>
          </a:p>
        </p:txBody>
      </p:sp>
      <p:sp>
        <p:nvSpPr>
          <p:cNvPr id="25" name="Text 23"/>
          <p:cNvSpPr/>
          <p:nvPr/>
        </p:nvSpPr>
        <p:spPr>
          <a:xfrm>
            <a:off x="2926080" y="2404872"/>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Correlate HR signal, off-hours behavior, and mass download across the graph.</a:t>
            </a:r>
            <a:endParaRPr lang="en-US" sz="880" dirty="0"/>
          </a:p>
        </p:txBody>
      </p:sp>
      <p:sp>
        <p:nvSpPr>
          <p:cNvPr id="26" name="Shape 24"/>
          <p:cNvSpPr/>
          <p:nvPr/>
        </p:nvSpPr>
        <p:spPr>
          <a:xfrm>
            <a:off x="6263640" y="2441448"/>
            <a:ext cx="2423160" cy="530352"/>
          </a:xfrm>
          <a:prstGeom prst="rect">
            <a:avLst/>
          </a:prstGeom>
          <a:solidFill>
            <a:srgbClr val="EEF3FF"/>
          </a:solidFill>
          <a:ln w="12700">
            <a:solidFill>
              <a:srgbClr val="333333"/>
            </a:solidFill>
            <a:prstDash val="solid"/>
          </a:ln>
        </p:spPr>
        <p:txBody>
          <a:bodyPr/>
          <a:lstStyle/>
          <a:p>
            <a:endParaRPr lang="en-US"/>
          </a:p>
        </p:txBody>
      </p:sp>
      <p:sp>
        <p:nvSpPr>
          <p:cNvPr id="27" name="Shape 25"/>
          <p:cNvSpPr/>
          <p:nvPr/>
        </p:nvSpPr>
        <p:spPr>
          <a:xfrm>
            <a:off x="6263640" y="2441448"/>
            <a:ext cx="2423160" cy="530352"/>
          </a:xfrm>
          <a:prstGeom prst="rect">
            <a:avLst/>
          </a:prstGeom>
          <a:noFill/>
          <a:ln w="6350">
            <a:solidFill>
              <a:srgbClr val="0046FF"/>
            </a:solidFill>
            <a:prstDash val="solid"/>
          </a:ln>
        </p:spPr>
        <p:txBody>
          <a:bodyPr/>
          <a:lstStyle/>
          <a:p>
            <a:endParaRPr lang="en-US"/>
          </a:p>
        </p:txBody>
      </p:sp>
      <p:sp>
        <p:nvSpPr>
          <p:cNvPr id="28" name="Text 26"/>
          <p:cNvSpPr/>
          <p:nvPr/>
        </p:nvSpPr>
        <p:spPr>
          <a:xfrm>
            <a:off x="6382512" y="2441448"/>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Gate access, escalate with evidence and intent</a:t>
            </a:r>
            <a:endParaRPr lang="en-US" sz="860" dirty="0"/>
          </a:p>
        </p:txBody>
      </p:sp>
      <p:sp>
        <p:nvSpPr>
          <p:cNvPr id="29" name="Shape 27"/>
          <p:cNvSpPr/>
          <p:nvPr/>
        </p:nvSpPr>
        <p:spPr>
          <a:xfrm>
            <a:off x="365760" y="3136392"/>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30" name="Shape 28"/>
          <p:cNvSpPr/>
          <p:nvPr/>
        </p:nvSpPr>
        <p:spPr>
          <a:xfrm>
            <a:off x="365760" y="3136392"/>
            <a:ext cx="64008" cy="713232"/>
          </a:xfrm>
          <a:prstGeom prst="rect">
            <a:avLst/>
          </a:prstGeom>
          <a:solidFill>
            <a:srgbClr val="0046FF"/>
          </a:solidFill>
          <a:ln w="12700">
            <a:solidFill>
              <a:srgbClr val="333333"/>
            </a:solidFill>
            <a:prstDash val="solid"/>
          </a:ln>
        </p:spPr>
        <p:txBody>
          <a:bodyPr/>
          <a:lstStyle/>
          <a:p>
            <a:endParaRPr lang="en-US"/>
          </a:p>
        </p:txBody>
      </p:sp>
      <p:sp>
        <p:nvSpPr>
          <p:cNvPr id="31" name="Text 29"/>
          <p:cNvSpPr/>
          <p:nvPr/>
        </p:nvSpPr>
        <p:spPr>
          <a:xfrm>
            <a:off x="548640" y="3191256"/>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Phishing → endpoint compromise</a:t>
            </a:r>
            <a:endParaRPr lang="en-US" sz="1100" dirty="0"/>
          </a:p>
        </p:txBody>
      </p:sp>
      <p:sp>
        <p:nvSpPr>
          <p:cNvPr id="32" name="Text 30"/>
          <p:cNvSpPr/>
          <p:nvPr/>
        </p:nvSpPr>
        <p:spPr>
          <a:xfrm>
            <a:off x="2926080" y="3191256"/>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Trace the email → endpoint → identity attack path automatically.</a:t>
            </a:r>
            <a:endParaRPr lang="en-US" sz="880" dirty="0"/>
          </a:p>
        </p:txBody>
      </p:sp>
      <p:sp>
        <p:nvSpPr>
          <p:cNvPr id="33" name="Shape 31"/>
          <p:cNvSpPr/>
          <p:nvPr/>
        </p:nvSpPr>
        <p:spPr>
          <a:xfrm>
            <a:off x="6263640" y="3227832"/>
            <a:ext cx="2423160" cy="530352"/>
          </a:xfrm>
          <a:prstGeom prst="rect">
            <a:avLst/>
          </a:prstGeom>
          <a:solidFill>
            <a:srgbClr val="EEF3FF"/>
          </a:solidFill>
          <a:ln w="12700">
            <a:solidFill>
              <a:srgbClr val="333333"/>
            </a:solidFill>
            <a:prstDash val="solid"/>
          </a:ln>
        </p:spPr>
        <p:txBody>
          <a:bodyPr/>
          <a:lstStyle/>
          <a:p>
            <a:endParaRPr lang="en-US"/>
          </a:p>
        </p:txBody>
      </p:sp>
      <p:sp>
        <p:nvSpPr>
          <p:cNvPr id="34" name="Shape 32"/>
          <p:cNvSpPr/>
          <p:nvPr/>
        </p:nvSpPr>
        <p:spPr>
          <a:xfrm>
            <a:off x="6263640" y="3227832"/>
            <a:ext cx="2423160" cy="530352"/>
          </a:xfrm>
          <a:prstGeom prst="rect">
            <a:avLst/>
          </a:prstGeom>
          <a:noFill/>
          <a:ln w="6350">
            <a:solidFill>
              <a:srgbClr val="0046FF"/>
            </a:solidFill>
            <a:prstDash val="solid"/>
          </a:ln>
        </p:spPr>
        <p:txBody>
          <a:bodyPr/>
          <a:lstStyle/>
          <a:p>
            <a:endParaRPr lang="en-US"/>
          </a:p>
        </p:txBody>
      </p:sp>
      <p:sp>
        <p:nvSpPr>
          <p:cNvPr id="35" name="Text 33"/>
          <p:cNvSpPr/>
          <p:nvPr/>
        </p:nvSpPr>
        <p:spPr>
          <a:xfrm>
            <a:off x="6382512" y="3227832"/>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Quarantine the mail, isolate the endpoint</a:t>
            </a:r>
            <a:endParaRPr lang="en-US" sz="860" dirty="0"/>
          </a:p>
        </p:txBody>
      </p:sp>
      <p:sp>
        <p:nvSpPr>
          <p:cNvPr id="36" name="Shape 34"/>
          <p:cNvSpPr/>
          <p:nvPr/>
        </p:nvSpPr>
        <p:spPr>
          <a:xfrm>
            <a:off x="365760" y="3922776"/>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37" name="Shape 35"/>
          <p:cNvSpPr/>
          <p:nvPr/>
        </p:nvSpPr>
        <p:spPr>
          <a:xfrm>
            <a:off x="365760" y="3922776"/>
            <a:ext cx="64008" cy="713232"/>
          </a:xfrm>
          <a:prstGeom prst="rect">
            <a:avLst/>
          </a:prstGeom>
          <a:solidFill>
            <a:srgbClr val="0046FF"/>
          </a:solidFill>
          <a:ln w="12700">
            <a:solidFill>
              <a:srgbClr val="333333"/>
            </a:solidFill>
            <a:prstDash val="solid"/>
          </a:ln>
        </p:spPr>
        <p:txBody>
          <a:bodyPr/>
          <a:lstStyle/>
          <a:p>
            <a:endParaRPr lang="en-US"/>
          </a:p>
        </p:txBody>
      </p:sp>
      <p:sp>
        <p:nvSpPr>
          <p:cNvPr id="38" name="Text 36"/>
          <p:cNvSpPr/>
          <p:nvPr/>
        </p:nvSpPr>
        <p:spPr>
          <a:xfrm>
            <a:off x="548640" y="3977640"/>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SaaS account takeover</a:t>
            </a:r>
            <a:endParaRPr lang="en-US" sz="1100" dirty="0"/>
          </a:p>
        </p:txBody>
      </p:sp>
      <p:sp>
        <p:nvSpPr>
          <p:cNvPr id="39" name="Text 37"/>
          <p:cNvSpPr/>
          <p:nvPr/>
        </p:nvSpPr>
        <p:spPr>
          <a:xfrm>
            <a:off x="2926080" y="3977640"/>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Detect impossible travel and OAuth abuse across Workspace / O365 / GitHub.</a:t>
            </a:r>
            <a:endParaRPr lang="en-US" sz="880" dirty="0"/>
          </a:p>
        </p:txBody>
      </p:sp>
      <p:sp>
        <p:nvSpPr>
          <p:cNvPr id="40" name="Shape 38"/>
          <p:cNvSpPr/>
          <p:nvPr/>
        </p:nvSpPr>
        <p:spPr>
          <a:xfrm>
            <a:off x="6263640" y="4014216"/>
            <a:ext cx="2423160" cy="530352"/>
          </a:xfrm>
          <a:prstGeom prst="rect">
            <a:avLst/>
          </a:prstGeom>
          <a:solidFill>
            <a:srgbClr val="EEF3FF"/>
          </a:solidFill>
          <a:ln w="12700">
            <a:solidFill>
              <a:srgbClr val="333333"/>
            </a:solidFill>
            <a:prstDash val="solid"/>
          </a:ln>
        </p:spPr>
        <p:txBody>
          <a:bodyPr/>
          <a:lstStyle/>
          <a:p>
            <a:endParaRPr lang="en-US"/>
          </a:p>
        </p:txBody>
      </p:sp>
      <p:sp>
        <p:nvSpPr>
          <p:cNvPr id="41" name="Shape 39"/>
          <p:cNvSpPr/>
          <p:nvPr/>
        </p:nvSpPr>
        <p:spPr>
          <a:xfrm>
            <a:off x="6263640" y="4014216"/>
            <a:ext cx="2423160" cy="530352"/>
          </a:xfrm>
          <a:prstGeom prst="rect">
            <a:avLst/>
          </a:prstGeom>
          <a:noFill/>
          <a:ln w="6350">
            <a:solidFill>
              <a:srgbClr val="0046FF"/>
            </a:solidFill>
            <a:prstDash val="solid"/>
          </a:ln>
        </p:spPr>
        <p:txBody>
          <a:bodyPr/>
          <a:lstStyle/>
          <a:p>
            <a:endParaRPr lang="en-US"/>
          </a:p>
        </p:txBody>
      </p:sp>
      <p:sp>
        <p:nvSpPr>
          <p:cNvPr id="42" name="Text 40"/>
          <p:cNvSpPr/>
          <p:nvPr/>
        </p:nvSpPr>
        <p:spPr>
          <a:xfrm>
            <a:off x="6382512" y="4014216"/>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Revoke tokens, force re-auth, orchestrate response</a:t>
            </a:r>
            <a:endParaRPr lang="en-US" sz="860" dirty="0"/>
          </a:p>
        </p:txBody>
      </p:sp>
      <p:sp>
        <p:nvSpPr>
          <p:cNvPr id="43" name="Text 41"/>
          <p:cNvSpPr/>
          <p:nvPr/>
        </p:nvSpPr>
        <p:spPr>
          <a:xfrm>
            <a:off x="365760" y="4572000"/>
            <a:ext cx="8412480" cy="274320"/>
          </a:xfrm>
          <a:prstGeom prst="rect">
            <a:avLst/>
          </a:prstGeom>
          <a:noFill/>
          <a:ln/>
        </p:spPr>
        <p:txBody>
          <a:bodyPr wrap="square" lIns="0" tIns="0" rIns="0" bIns="0" rtlCol="0" anchor="t"/>
          <a:lstStyle/>
          <a:p>
            <a:pPr marL="0" indent="0" algn="ctr">
              <a:buNone/>
            </a:pPr>
            <a:r>
              <a:rPr lang="en-US" sz="850" i="1" dirty="0">
                <a:solidFill>
                  <a:srgbClr val="44507A"/>
                </a:solidFill>
                <a:latin typeface="Inter" pitchFamily="34" charset="0"/>
                <a:ea typeface="Inter" pitchFamily="34" charset="-122"/>
                <a:cs typeface="Inter" pitchFamily="34" charset="-120"/>
              </a:rPr>
              <a:t>Threat  →  what AccuKnox does  →  the enforcement outcome (blue).</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Use cases 11-15 — AI workloads and operations</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27</a:t>
            </a:r>
            <a:endParaRPr lang="en-US" sz="750" dirty="0"/>
          </a:p>
        </p:txBody>
      </p:sp>
      <p:sp>
        <p:nvSpPr>
          <p:cNvPr id="8" name="Shape 6"/>
          <p:cNvSpPr/>
          <p:nvPr/>
        </p:nvSpPr>
        <p:spPr>
          <a:xfrm>
            <a:off x="365760" y="777240"/>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9" name="Shape 7"/>
          <p:cNvSpPr/>
          <p:nvPr/>
        </p:nvSpPr>
        <p:spPr>
          <a:xfrm>
            <a:off x="365760" y="777240"/>
            <a:ext cx="64008" cy="713232"/>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548640" y="832104"/>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Prompt injection on an LLM app</a:t>
            </a:r>
            <a:endParaRPr lang="en-US" sz="1100" dirty="0"/>
          </a:p>
        </p:txBody>
      </p:sp>
      <p:sp>
        <p:nvSpPr>
          <p:cNvPr id="11" name="Text 9"/>
          <p:cNvSpPr/>
          <p:nvPr/>
        </p:nvSpPr>
        <p:spPr>
          <a:xfrm>
            <a:off x="2926080" y="832104"/>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Prompt Firewall inspects inference-time inputs; AI-DR watches runtime behavior.</a:t>
            </a:r>
            <a:endParaRPr lang="en-US" sz="880" dirty="0"/>
          </a:p>
        </p:txBody>
      </p:sp>
      <p:sp>
        <p:nvSpPr>
          <p:cNvPr id="12" name="Shape 10"/>
          <p:cNvSpPr/>
          <p:nvPr/>
        </p:nvSpPr>
        <p:spPr>
          <a:xfrm>
            <a:off x="6263640" y="868680"/>
            <a:ext cx="2423160" cy="530352"/>
          </a:xfrm>
          <a:prstGeom prst="rect">
            <a:avLst/>
          </a:prstGeom>
          <a:solidFill>
            <a:srgbClr val="EEF3FF"/>
          </a:solidFill>
          <a:ln w="12700">
            <a:solidFill>
              <a:srgbClr val="333333"/>
            </a:solidFill>
            <a:prstDash val="solid"/>
          </a:ln>
        </p:spPr>
        <p:txBody>
          <a:bodyPr/>
          <a:lstStyle/>
          <a:p>
            <a:endParaRPr lang="en-US"/>
          </a:p>
        </p:txBody>
      </p:sp>
      <p:sp>
        <p:nvSpPr>
          <p:cNvPr id="13" name="Shape 11"/>
          <p:cNvSpPr/>
          <p:nvPr/>
        </p:nvSpPr>
        <p:spPr>
          <a:xfrm>
            <a:off x="6263640" y="868680"/>
            <a:ext cx="2423160" cy="530352"/>
          </a:xfrm>
          <a:prstGeom prst="rect">
            <a:avLst/>
          </a:prstGeom>
          <a:noFill/>
          <a:ln w="6350">
            <a:solidFill>
              <a:srgbClr val="0046FF"/>
            </a:solidFill>
            <a:prstDash val="solid"/>
          </a:ln>
        </p:spPr>
        <p:txBody>
          <a:bodyPr/>
          <a:lstStyle/>
          <a:p>
            <a:endParaRPr lang="en-US"/>
          </a:p>
        </p:txBody>
      </p:sp>
      <p:sp>
        <p:nvSpPr>
          <p:cNvPr id="14" name="Text 12"/>
          <p:cNvSpPr/>
          <p:nvPr/>
        </p:nvSpPr>
        <p:spPr>
          <a:xfrm>
            <a:off x="6382512" y="868680"/>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Block the injected prompt before it executes a tool</a:t>
            </a:r>
            <a:endParaRPr lang="en-US" sz="860" dirty="0"/>
          </a:p>
        </p:txBody>
      </p:sp>
      <p:sp>
        <p:nvSpPr>
          <p:cNvPr id="15" name="Shape 13"/>
          <p:cNvSpPr/>
          <p:nvPr/>
        </p:nvSpPr>
        <p:spPr>
          <a:xfrm>
            <a:off x="365760" y="1563624"/>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16" name="Shape 14"/>
          <p:cNvSpPr/>
          <p:nvPr/>
        </p:nvSpPr>
        <p:spPr>
          <a:xfrm>
            <a:off x="365760" y="1563624"/>
            <a:ext cx="64008" cy="713232"/>
          </a:xfrm>
          <a:prstGeom prst="rect">
            <a:avLst/>
          </a:prstGeom>
          <a:solidFill>
            <a:srgbClr val="0046FF"/>
          </a:solidFill>
          <a:ln w="12700">
            <a:solidFill>
              <a:srgbClr val="333333"/>
            </a:solidFill>
            <a:prstDash val="solid"/>
          </a:ln>
        </p:spPr>
        <p:txBody>
          <a:bodyPr/>
          <a:lstStyle/>
          <a:p>
            <a:endParaRPr lang="en-US"/>
          </a:p>
        </p:txBody>
      </p:sp>
      <p:sp>
        <p:nvSpPr>
          <p:cNvPr id="17" name="Text 15"/>
          <p:cNvSpPr/>
          <p:nvPr/>
        </p:nvSpPr>
        <p:spPr>
          <a:xfrm>
            <a:off x="548640" y="1618488"/>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Rogue / compromised AI agent</a:t>
            </a:r>
            <a:endParaRPr lang="en-US" sz="1100" dirty="0"/>
          </a:p>
        </p:txBody>
      </p:sp>
      <p:sp>
        <p:nvSpPr>
          <p:cNvPr id="18" name="Text 16"/>
          <p:cNvSpPr/>
          <p:nvPr/>
        </p:nvSpPr>
        <p:spPr>
          <a:xfrm>
            <a:off x="2926080" y="1618488"/>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KnoxClaw watches the agent's syscalls against its allowlist policy.</a:t>
            </a:r>
            <a:endParaRPr lang="en-US" sz="880" dirty="0"/>
          </a:p>
        </p:txBody>
      </p:sp>
      <p:sp>
        <p:nvSpPr>
          <p:cNvPr id="19" name="Shape 17"/>
          <p:cNvSpPr/>
          <p:nvPr/>
        </p:nvSpPr>
        <p:spPr>
          <a:xfrm>
            <a:off x="6263640" y="1655064"/>
            <a:ext cx="2423160" cy="530352"/>
          </a:xfrm>
          <a:prstGeom prst="rect">
            <a:avLst/>
          </a:prstGeom>
          <a:solidFill>
            <a:srgbClr val="EEF3FF"/>
          </a:solidFill>
          <a:ln w="12700">
            <a:solidFill>
              <a:srgbClr val="333333"/>
            </a:solidFill>
            <a:prstDash val="solid"/>
          </a:ln>
        </p:spPr>
        <p:txBody>
          <a:bodyPr/>
          <a:lstStyle/>
          <a:p>
            <a:endParaRPr lang="en-US"/>
          </a:p>
        </p:txBody>
      </p:sp>
      <p:sp>
        <p:nvSpPr>
          <p:cNvPr id="20" name="Shape 18"/>
          <p:cNvSpPr/>
          <p:nvPr/>
        </p:nvSpPr>
        <p:spPr>
          <a:xfrm>
            <a:off x="6263640" y="1655064"/>
            <a:ext cx="2423160" cy="530352"/>
          </a:xfrm>
          <a:prstGeom prst="rect">
            <a:avLst/>
          </a:prstGeom>
          <a:noFill/>
          <a:ln w="6350">
            <a:solidFill>
              <a:srgbClr val="0046FF"/>
            </a:solidFill>
            <a:prstDash val="solid"/>
          </a:ln>
        </p:spPr>
        <p:txBody>
          <a:bodyPr/>
          <a:lstStyle/>
          <a:p>
            <a:endParaRPr lang="en-US"/>
          </a:p>
        </p:txBody>
      </p:sp>
      <p:sp>
        <p:nvSpPr>
          <p:cNvPr id="21" name="Text 19"/>
          <p:cNvSpPr/>
          <p:nvPr/>
        </p:nvSpPr>
        <p:spPr>
          <a:xfrm>
            <a:off x="6382512" y="1655064"/>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Kernel blocks any action outside the sandbox</a:t>
            </a:r>
            <a:endParaRPr lang="en-US" sz="860" dirty="0"/>
          </a:p>
        </p:txBody>
      </p:sp>
      <p:sp>
        <p:nvSpPr>
          <p:cNvPr id="22" name="Shape 20"/>
          <p:cNvSpPr/>
          <p:nvPr/>
        </p:nvSpPr>
        <p:spPr>
          <a:xfrm>
            <a:off x="365760" y="2350008"/>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23" name="Shape 21"/>
          <p:cNvSpPr/>
          <p:nvPr/>
        </p:nvSpPr>
        <p:spPr>
          <a:xfrm>
            <a:off x="365760" y="2350008"/>
            <a:ext cx="64008" cy="713232"/>
          </a:xfrm>
          <a:prstGeom prst="rect">
            <a:avLst/>
          </a:prstGeom>
          <a:solidFill>
            <a:srgbClr val="0046FF"/>
          </a:solidFill>
          <a:ln w="12700">
            <a:solidFill>
              <a:srgbClr val="333333"/>
            </a:solidFill>
            <a:prstDash val="solid"/>
          </a:ln>
        </p:spPr>
        <p:txBody>
          <a:bodyPr/>
          <a:lstStyle/>
          <a:p>
            <a:endParaRPr lang="en-US"/>
          </a:p>
        </p:txBody>
      </p:sp>
      <p:sp>
        <p:nvSpPr>
          <p:cNvPr id="24" name="Text 22"/>
          <p:cNvSpPr/>
          <p:nvPr/>
        </p:nvSpPr>
        <p:spPr>
          <a:xfrm>
            <a:off x="548640" y="2404872"/>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Public model endpoint exposure</a:t>
            </a:r>
            <a:endParaRPr lang="en-US" sz="1100" dirty="0"/>
          </a:p>
        </p:txBody>
      </p:sp>
      <p:sp>
        <p:nvSpPr>
          <p:cNvPr id="25" name="Text 23"/>
          <p:cNvSpPr/>
          <p:nvPr/>
        </p:nvSpPr>
        <p:spPr>
          <a:xfrm>
            <a:off x="2926080" y="2404872"/>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AI-SPM discovers exposed endpoints and MCP servers; AI-DR flags abnormal use.</a:t>
            </a:r>
            <a:endParaRPr lang="en-US" sz="880" dirty="0"/>
          </a:p>
        </p:txBody>
      </p:sp>
      <p:sp>
        <p:nvSpPr>
          <p:cNvPr id="26" name="Shape 24"/>
          <p:cNvSpPr/>
          <p:nvPr/>
        </p:nvSpPr>
        <p:spPr>
          <a:xfrm>
            <a:off x="6263640" y="2441448"/>
            <a:ext cx="2423160" cy="530352"/>
          </a:xfrm>
          <a:prstGeom prst="rect">
            <a:avLst/>
          </a:prstGeom>
          <a:solidFill>
            <a:srgbClr val="EEF3FF"/>
          </a:solidFill>
          <a:ln w="12700">
            <a:solidFill>
              <a:srgbClr val="333333"/>
            </a:solidFill>
            <a:prstDash val="solid"/>
          </a:ln>
        </p:spPr>
        <p:txBody>
          <a:bodyPr/>
          <a:lstStyle/>
          <a:p>
            <a:endParaRPr lang="en-US"/>
          </a:p>
        </p:txBody>
      </p:sp>
      <p:sp>
        <p:nvSpPr>
          <p:cNvPr id="27" name="Shape 25"/>
          <p:cNvSpPr/>
          <p:nvPr/>
        </p:nvSpPr>
        <p:spPr>
          <a:xfrm>
            <a:off x="6263640" y="2441448"/>
            <a:ext cx="2423160" cy="530352"/>
          </a:xfrm>
          <a:prstGeom prst="rect">
            <a:avLst/>
          </a:prstGeom>
          <a:noFill/>
          <a:ln w="6350">
            <a:solidFill>
              <a:srgbClr val="0046FF"/>
            </a:solidFill>
            <a:prstDash val="solid"/>
          </a:ln>
        </p:spPr>
        <p:txBody>
          <a:bodyPr/>
          <a:lstStyle/>
          <a:p>
            <a:endParaRPr lang="en-US"/>
          </a:p>
        </p:txBody>
      </p:sp>
      <p:sp>
        <p:nvSpPr>
          <p:cNvPr id="28" name="Text 26"/>
          <p:cNvSpPr/>
          <p:nvPr/>
        </p:nvSpPr>
        <p:spPr>
          <a:xfrm>
            <a:off x="6382512" y="2441448"/>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Auto-remediate exposure, restrict egress</a:t>
            </a:r>
            <a:endParaRPr lang="en-US" sz="860" dirty="0"/>
          </a:p>
        </p:txBody>
      </p:sp>
      <p:sp>
        <p:nvSpPr>
          <p:cNvPr id="29" name="Shape 27"/>
          <p:cNvSpPr/>
          <p:nvPr/>
        </p:nvSpPr>
        <p:spPr>
          <a:xfrm>
            <a:off x="365760" y="3136392"/>
            <a:ext cx="8412480" cy="713232"/>
          </a:xfrm>
          <a:prstGeom prst="roundRect">
            <a:avLst>
              <a:gd name="adj" fmla="val 6410"/>
            </a:avLst>
          </a:prstGeom>
          <a:solidFill>
            <a:srgbClr val="FFFFFF"/>
          </a:solidFill>
          <a:ln w="9525">
            <a:solidFill>
              <a:srgbClr val="DDDDEE"/>
            </a:solidFill>
            <a:prstDash val="solid"/>
          </a:ln>
        </p:spPr>
        <p:txBody>
          <a:bodyPr/>
          <a:lstStyle/>
          <a:p>
            <a:endParaRPr lang="en-US"/>
          </a:p>
        </p:txBody>
      </p:sp>
      <p:sp>
        <p:nvSpPr>
          <p:cNvPr id="30" name="Shape 28"/>
          <p:cNvSpPr/>
          <p:nvPr/>
        </p:nvSpPr>
        <p:spPr>
          <a:xfrm>
            <a:off x="365760" y="3136392"/>
            <a:ext cx="64008" cy="713232"/>
          </a:xfrm>
          <a:prstGeom prst="rect">
            <a:avLst/>
          </a:prstGeom>
          <a:solidFill>
            <a:srgbClr val="0046FF"/>
          </a:solidFill>
          <a:ln w="12700">
            <a:solidFill>
              <a:srgbClr val="333333"/>
            </a:solidFill>
            <a:prstDash val="solid"/>
          </a:ln>
        </p:spPr>
        <p:txBody>
          <a:bodyPr/>
          <a:lstStyle/>
          <a:p>
            <a:endParaRPr lang="en-US"/>
          </a:p>
        </p:txBody>
      </p:sp>
      <p:sp>
        <p:nvSpPr>
          <p:cNvPr id="31" name="Text 29"/>
          <p:cNvSpPr/>
          <p:nvPr/>
        </p:nvSpPr>
        <p:spPr>
          <a:xfrm>
            <a:off x="548640" y="3191256"/>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Shadow AI data leakage</a:t>
            </a:r>
            <a:endParaRPr lang="en-US" sz="1100" dirty="0"/>
          </a:p>
        </p:txBody>
      </p:sp>
      <p:sp>
        <p:nvSpPr>
          <p:cNvPr id="32" name="Text 30"/>
          <p:cNvSpPr/>
          <p:nvPr/>
        </p:nvSpPr>
        <p:spPr>
          <a:xfrm>
            <a:off x="2926080" y="3191256"/>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Discover unsanctioned model use and classify PII / secrets in the data path.</a:t>
            </a:r>
            <a:endParaRPr lang="en-US" sz="880" dirty="0"/>
          </a:p>
        </p:txBody>
      </p:sp>
      <p:sp>
        <p:nvSpPr>
          <p:cNvPr id="33" name="Shape 31"/>
          <p:cNvSpPr/>
          <p:nvPr/>
        </p:nvSpPr>
        <p:spPr>
          <a:xfrm>
            <a:off x="6263640" y="3227832"/>
            <a:ext cx="2423160" cy="530352"/>
          </a:xfrm>
          <a:prstGeom prst="rect">
            <a:avLst/>
          </a:prstGeom>
          <a:solidFill>
            <a:srgbClr val="EEF3FF"/>
          </a:solidFill>
          <a:ln w="12700">
            <a:solidFill>
              <a:srgbClr val="333333"/>
            </a:solidFill>
            <a:prstDash val="solid"/>
          </a:ln>
        </p:spPr>
        <p:txBody>
          <a:bodyPr/>
          <a:lstStyle/>
          <a:p>
            <a:endParaRPr lang="en-US"/>
          </a:p>
        </p:txBody>
      </p:sp>
      <p:sp>
        <p:nvSpPr>
          <p:cNvPr id="34" name="Shape 32"/>
          <p:cNvSpPr/>
          <p:nvPr/>
        </p:nvSpPr>
        <p:spPr>
          <a:xfrm>
            <a:off x="6263640" y="3227832"/>
            <a:ext cx="2423160" cy="530352"/>
          </a:xfrm>
          <a:prstGeom prst="rect">
            <a:avLst/>
          </a:prstGeom>
          <a:noFill/>
          <a:ln w="6350">
            <a:solidFill>
              <a:srgbClr val="0046FF"/>
            </a:solidFill>
            <a:prstDash val="solid"/>
          </a:ln>
        </p:spPr>
        <p:txBody>
          <a:bodyPr/>
          <a:lstStyle/>
          <a:p>
            <a:endParaRPr lang="en-US"/>
          </a:p>
        </p:txBody>
      </p:sp>
      <p:sp>
        <p:nvSpPr>
          <p:cNvPr id="35" name="Text 33"/>
          <p:cNvSpPr/>
          <p:nvPr/>
        </p:nvSpPr>
        <p:spPr>
          <a:xfrm>
            <a:off x="6382512" y="3227832"/>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DLP block, policy-enforce at the workload</a:t>
            </a:r>
            <a:endParaRPr lang="en-US" sz="860" dirty="0"/>
          </a:p>
        </p:txBody>
      </p:sp>
      <p:sp>
        <p:nvSpPr>
          <p:cNvPr id="36" name="Shape 34"/>
          <p:cNvSpPr/>
          <p:nvPr/>
        </p:nvSpPr>
        <p:spPr>
          <a:xfrm>
            <a:off x="365760" y="3922776"/>
            <a:ext cx="8412480" cy="713232"/>
          </a:xfrm>
          <a:prstGeom prst="roundRect">
            <a:avLst>
              <a:gd name="adj" fmla="val 6410"/>
            </a:avLst>
          </a:prstGeom>
          <a:solidFill>
            <a:srgbClr val="F2F4FA"/>
          </a:solidFill>
          <a:ln w="9525">
            <a:solidFill>
              <a:srgbClr val="DDDDEE"/>
            </a:solidFill>
            <a:prstDash val="solid"/>
          </a:ln>
        </p:spPr>
        <p:txBody>
          <a:bodyPr/>
          <a:lstStyle/>
          <a:p>
            <a:endParaRPr lang="en-US"/>
          </a:p>
        </p:txBody>
      </p:sp>
      <p:sp>
        <p:nvSpPr>
          <p:cNvPr id="37" name="Shape 35"/>
          <p:cNvSpPr/>
          <p:nvPr/>
        </p:nvSpPr>
        <p:spPr>
          <a:xfrm>
            <a:off x="365760" y="3922776"/>
            <a:ext cx="64008" cy="713232"/>
          </a:xfrm>
          <a:prstGeom prst="rect">
            <a:avLst/>
          </a:prstGeom>
          <a:solidFill>
            <a:srgbClr val="0046FF"/>
          </a:solidFill>
          <a:ln w="12700">
            <a:solidFill>
              <a:srgbClr val="333333"/>
            </a:solidFill>
            <a:prstDash val="solid"/>
          </a:ln>
        </p:spPr>
        <p:txBody>
          <a:bodyPr/>
          <a:lstStyle/>
          <a:p>
            <a:endParaRPr lang="en-US"/>
          </a:p>
        </p:txBody>
      </p:sp>
      <p:sp>
        <p:nvSpPr>
          <p:cNvPr id="38" name="Text 36"/>
          <p:cNvSpPr/>
          <p:nvPr/>
        </p:nvSpPr>
        <p:spPr>
          <a:xfrm>
            <a:off x="548640" y="3977640"/>
            <a:ext cx="2286000" cy="603504"/>
          </a:xfrm>
          <a:prstGeom prst="rect">
            <a:avLst/>
          </a:prstGeom>
          <a:noFill/>
          <a:ln/>
        </p:spPr>
        <p:txBody>
          <a:bodyPr wrap="square" lIns="0" tIns="0" rIns="0" bIns="0" rtlCol="0" anchor="ctr"/>
          <a:lstStyle/>
          <a:p>
            <a:pPr marL="0" indent="0">
              <a:buNone/>
            </a:pPr>
            <a:r>
              <a:rPr lang="en-US" sz="1100" b="1" dirty="0">
                <a:solidFill>
                  <a:srgbClr val="0000C8"/>
                </a:solidFill>
                <a:latin typeface="Space Grotesk" pitchFamily="34" charset="0"/>
                <a:ea typeface="Space Grotesk" pitchFamily="34" charset="-122"/>
                <a:cs typeface="Space Grotesk" pitchFamily="34" charset="-120"/>
              </a:rPr>
              <a:t>Continuous audit &amp; evidence</a:t>
            </a:r>
            <a:endParaRPr lang="en-US" sz="1100" dirty="0"/>
          </a:p>
        </p:txBody>
      </p:sp>
      <p:sp>
        <p:nvSpPr>
          <p:cNvPr id="39" name="Text 37"/>
          <p:cNvSpPr/>
          <p:nvPr/>
        </p:nvSpPr>
        <p:spPr>
          <a:xfrm>
            <a:off x="2926080" y="3977640"/>
            <a:ext cx="3200400" cy="603504"/>
          </a:xfrm>
          <a:prstGeom prst="rect">
            <a:avLst/>
          </a:prstGeom>
          <a:noFill/>
          <a:ln/>
        </p:spPr>
        <p:txBody>
          <a:bodyPr wrap="square" lIns="0" tIns="0" rIns="0" bIns="0" rtlCol="0" anchor="ctr"/>
          <a:lstStyle/>
          <a:p>
            <a:pPr marL="0" indent="0">
              <a:buNone/>
            </a:pPr>
            <a:r>
              <a:rPr lang="en-US" sz="880" dirty="0">
                <a:solidFill>
                  <a:srgbClr val="0D1B4B"/>
                </a:solidFill>
                <a:latin typeface="Inter" pitchFamily="34" charset="0"/>
                <a:ea typeface="Inter" pitchFamily="34" charset="-122"/>
                <a:cs typeface="Inter" pitchFamily="34" charset="-120"/>
              </a:rPr>
              <a:t>Auto-map enforcement actions to 33+ frameworks, collect evidence continuously.</a:t>
            </a:r>
            <a:endParaRPr lang="en-US" sz="880" dirty="0"/>
          </a:p>
        </p:txBody>
      </p:sp>
      <p:sp>
        <p:nvSpPr>
          <p:cNvPr id="40" name="Shape 38"/>
          <p:cNvSpPr/>
          <p:nvPr/>
        </p:nvSpPr>
        <p:spPr>
          <a:xfrm>
            <a:off x="6263640" y="4014216"/>
            <a:ext cx="2423160" cy="530352"/>
          </a:xfrm>
          <a:prstGeom prst="rect">
            <a:avLst/>
          </a:prstGeom>
          <a:solidFill>
            <a:srgbClr val="EEF3FF"/>
          </a:solidFill>
          <a:ln w="12700">
            <a:solidFill>
              <a:srgbClr val="333333"/>
            </a:solidFill>
            <a:prstDash val="solid"/>
          </a:ln>
        </p:spPr>
        <p:txBody>
          <a:bodyPr/>
          <a:lstStyle/>
          <a:p>
            <a:endParaRPr lang="en-US"/>
          </a:p>
        </p:txBody>
      </p:sp>
      <p:sp>
        <p:nvSpPr>
          <p:cNvPr id="41" name="Shape 39"/>
          <p:cNvSpPr/>
          <p:nvPr/>
        </p:nvSpPr>
        <p:spPr>
          <a:xfrm>
            <a:off x="6263640" y="4014216"/>
            <a:ext cx="2423160" cy="530352"/>
          </a:xfrm>
          <a:prstGeom prst="rect">
            <a:avLst/>
          </a:prstGeom>
          <a:noFill/>
          <a:ln w="6350">
            <a:solidFill>
              <a:srgbClr val="0046FF"/>
            </a:solidFill>
            <a:prstDash val="solid"/>
          </a:ln>
        </p:spPr>
        <p:txBody>
          <a:bodyPr/>
          <a:lstStyle/>
          <a:p>
            <a:endParaRPr lang="en-US"/>
          </a:p>
        </p:txBody>
      </p:sp>
      <p:sp>
        <p:nvSpPr>
          <p:cNvPr id="42" name="Text 40"/>
          <p:cNvSpPr/>
          <p:nvPr/>
        </p:nvSpPr>
        <p:spPr>
          <a:xfrm>
            <a:off x="6382512" y="4014216"/>
            <a:ext cx="2194560" cy="530352"/>
          </a:xfrm>
          <a:prstGeom prst="rect">
            <a:avLst/>
          </a:prstGeom>
          <a:noFill/>
          <a:ln/>
        </p:spPr>
        <p:txBody>
          <a:bodyPr wrap="square" lIns="0" tIns="0" rIns="0" bIns="0" rtlCol="0" anchor="ctr"/>
          <a:lstStyle/>
          <a:p>
            <a:pPr marL="0" indent="0">
              <a:buNone/>
            </a:pPr>
            <a:r>
              <a:rPr lang="en-US" sz="860" b="1" dirty="0">
                <a:solidFill>
                  <a:srgbClr val="0046FF"/>
                </a:solidFill>
                <a:latin typeface="Inter" pitchFamily="34" charset="0"/>
                <a:ea typeface="Inter" pitchFamily="34" charset="-122"/>
                <a:cs typeface="Inter" pitchFamily="34" charset="-120"/>
              </a:rPr>
              <a:t>Audit prep from 60 hours to under 5 per quarter</a:t>
            </a:r>
            <a:endParaRPr lang="en-US" sz="860" dirty="0"/>
          </a:p>
        </p:txBody>
      </p:sp>
      <p:sp>
        <p:nvSpPr>
          <p:cNvPr id="43" name="Text 41"/>
          <p:cNvSpPr/>
          <p:nvPr/>
        </p:nvSpPr>
        <p:spPr>
          <a:xfrm>
            <a:off x="365760" y="4572000"/>
            <a:ext cx="8412480" cy="274320"/>
          </a:xfrm>
          <a:prstGeom prst="rect">
            <a:avLst/>
          </a:prstGeom>
          <a:noFill/>
          <a:ln/>
        </p:spPr>
        <p:txBody>
          <a:bodyPr wrap="square" lIns="0" tIns="0" rIns="0" bIns="0" rtlCol="0" anchor="t"/>
          <a:lstStyle/>
          <a:p>
            <a:pPr marL="0" indent="0" algn="ctr">
              <a:buNone/>
            </a:pPr>
            <a:r>
              <a:rPr lang="en-US" sz="850" i="1" dirty="0">
                <a:solidFill>
                  <a:srgbClr val="44507A"/>
                </a:solidFill>
                <a:latin typeface="Inter" pitchFamily="34" charset="0"/>
                <a:ea typeface="Inter" pitchFamily="34" charset="-122"/>
                <a:cs typeface="Inter" pitchFamily="34" charset="-120"/>
              </a:rPr>
              <a:t>Threat  →  what AccuKnox does  →  the enforcement outcome (blue).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08</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Versus the Field</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Studied every serious vendor. The same gap appears every time.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Competitor UI/UX teardown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29</a:t>
            </a:r>
            <a:endParaRPr lang="en-US" sz="750" dirty="0"/>
          </a:p>
        </p:txBody>
      </p:sp>
      <p:sp>
        <p:nvSpPr>
          <p:cNvPr id="8" name="Shape 6"/>
          <p:cNvSpPr/>
          <p:nvPr/>
        </p:nvSpPr>
        <p:spPr>
          <a:xfrm>
            <a:off x="365760" y="777240"/>
            <a:ext cx="1325880" cy="365760"/>
          </a:xfrm>
          <a:prstGeom prst="rect">
            <a:avLst/>
          </a:prstGeom>
          <a:solidFill>
            <a:srgbClr val="0000C8"/>
          </a:solidFill>
          <a:ln w="12700">
            <a:solidFill>
              <a:srgbClr val="333333"/>
            </a:solidFill>
            <a:prstDash val="solid"/>
          </a:ln>
        </p:spPr>
        <p:txBody>
          <a:bodyPr/>
          <a:lstStyle/>
          <a:p>
            <a:endParaRPr lang="en-US"/>
          </a:p>
        </p:txBody>
      </p:sp>
      <p:sp>
        <p:nvSpPr>
          <p:cNvPr id="9" name="Text 7"/>
          <p:cNvSpPr/>
          <p:nvPr/>
        </p:nvSpPr>
        <p:spPr>
          <a:xfrm>
            <a:off x="438912" y="777240"/>
            <a:ext cx="1234440" cy="365760"/>
          </a:xfrm>
          <a:prstGeom prst="rect">
            <a:avLst/>
          </a:prstGeom>
          <a:noFill/>
          <a:ln/>
        </p:spPr>
        <p:txBody>
          <a:bodyPr wrap="square" lIns="0" tIns="0" rIns="0" bIns="0" rtlCol="0" anchor="ctr"/>
          <a:lstStyle/>
          <a:p>
            <a:pPr marL="0" indent="0">
              <a:buNone/>
            </a:pPr>
            <a:r>
              <a:rPr lang="en-US" sz="950" b="1" dirty="0">
                <a:solidFill>
                  <a:srgbClr val="FFFFFF"/>
                </a:solidFill>
                <a:latin typeface="Space Grotesk" pitchFamily="34" charset="0"/>
                <a:ea typeface="Space Grotesk" pitchFamily="34" charset="-122"/>
                <a:cs typeface="Space Grotesk" pitchFamily="34" charset="-120"/>
              </a:rPr>
              <a:t>Vendor</a:t>
            </a:r>
            <a:endParaRPr lang="en-US" sz="950" dirty="0"/>
          </a:p>
        </p:txBody>
      </p:sp>
      <p:sp>
        <p:nvSpPr>
          <p:cNvPr id="10" name="Shape 8"/>
          <p:cNvSpPr/>
          <p:nvPr/>
        </p:nvSpPr>
        <p:spPr>
          <a:xfrm>
            <a:off x="1691640" y="777240"/>
            <a:ext cx="2971800" cy="365760"/>
          </a:xfrm>
          <a:prstGeom prst="rect">
            <a:avLst/>
          </a:prstGeom>
          <a:solidFill>
            <a:srgbClr val="0000C8"/>
          </a:solidFill>
          <a:ln w="12700">
            <a:solidFill>
              <a:srgbClr val="333333"/>
            </a:solidFill>
            <a:prstDash val="solid"/>
          </a:ln>
        </p:spPr>
        <p:txBody>
          <a:bodyPr/>
          <a:lstStyle/>
          <a:p>
            <a:endParaRPr lang="en-US"/>
          </a:p>
        </p:txBody>
      </p:sp>
      <p:sp>
        <p:nvSpPr>
          <p:cNvPr id="11" name="Text 9"/>
          <p:cNvSpPr/>
          <p:nvPr/>
        </p:nvSpPr>
        <p:spPr>
          <a:xfrm>
            <a:off x="1764792" y="777240"/>
            <a:ext cx="2880360" cy="365760"/>
          </a:xfrm>
          <a:prstGeom prst="rect">
            <a:avLst/>
          </a:prstGeom>
          <a:noFill/>
          <a:ln/>
        </p:spPr>
        <p:txBody>
          <a:bodyPr wrap="square" lIns="0" tIns="0" rIns="0" bIns="0" rtlCol="0" anchor="ctr"/>
          <a:lstStyle/>
          <a:p>
            <a:pPr marL="0" indent="0">
              <a:buNone/>
            </a:pPr>
            <a:r>
              <a:rPr lang="en-US" sz="950" b="1" dirty="0">
                <a:solidFill>
                  <a:srgbClr val="FFFFFF"/>
                </a:solidFill>
                <a:latin typeface="Space Grotesk" pitchFamily="34" charset="0"/>
                <a:ea typeface="Space Grotesk" pitchFamily="34" charset="-122"/>
                <a:cs typeface="Space Grotesk" pitchFamily="34" charset="-120"/>
              </a:rPr>
              <a:t>Signature screens</a:t>
            </a:r>
            <a:endParaRPr lang="en-US" sz="950" dirty="0"/>
          </a:p>
        </p:txBody>
      </p:sp>
      <p:sp>
        <p:nvSpPr>
          <p:cNvPr id="12" name="Shape 10"/>
          <p:cNvSpPr/>
          <p:nvPr/>
        </p:nvSpPr>
        <p:spPr>
          <a:xfrm>
            <a:off x="4663440" y="777240"/>
            <a:ext cx="1645920" cy="365760"/>
          </a:xfrm>
          <a:prstGeom prst="rect">
            <a:avLst/>
          </a:prstGeom>
          <a:solidFill>
            <a:srgbClr val="0000C8"/>
          </a:solidFill>
          <a:ln w="12700">
            <a:solidFill>
              <a:srgbClr val="333333"/>
            </a:solidFill>
            <a:prstDash val="solid"/>
          </a:ln>
        </p:spPr>
        <p:txBody>
          <a:bodyPr/>
          <a:lstStyle/>
          <a:p>
            <a:endParaRPr lang="en-US"/>
          </a:p>
        </p:txBody>
      </p:sp>
      <p:sp>
        <p:nvSpPr>
          <p:cNvPr id="13" name="Text 11"/>
          <p:cNvSpPr/>
          <p:nvPr/>
        </p:nvSpPr>
        <p:spPr>
          <a:xfrm>
            <a:off x="4736592" y="777240"/>
            <a:ext cx="1554480" cy="365760"/>
          </a:xfrm>
          <a:prstGeom prst="rect">
            <a:avLst/>
          </a:prstGeom>
          <a:noFill/>
          <a:ln/>
        </p:spPr>
        <p:txBody>
          <a:bodyPr wrap="square" lIns="0" tIns="0" rIns="0" bIns="0" rtlCol="0" anchor="ctr"/>
          <a:lstStyle/>
          <a:p>
            <a:pPr marL="0" indent="0">
              <a:buNone/>
            </a:pPr>
            <a:r>
              <a:rPr lang="en-US" sz="950" b="1" dirty="0">
                <a:solidFill>
                  <a:srgbClr val="FFFFFF"/>
                </a:solidFill>
                <a:latin typeface="Space Grotesk" pitchFamily="34" charset="0"/>
                <a:ea typeface="Space Grotesk" pitchFamily="34" charset="-122"/>
                <a:cs typeface="Space Grotesk" pitchFamily="34" charset="-120"/>
              </a:rPr>
              <a:t>Autonomy</a:t>
            </a:r>
            <a:endParaRPr lang="en-US" sz="950" dirty="0"/>
          </a:p>
        </p:txBody>
      </p:sp>
      <p:sp>
        <p:nvSpPr>
          <p:cNvPr id="14" name="Shape 12"/>
          <p:cNvSpPr/>
          <p:nvPr/>
        </p:nvSpPr>
        <p:spPr>
          <a:xfrm>
            <a:off x="6309360" y="777240"/>
            <a:ext cx="2468880" cy="365760"/>
          </a:xfrm>
          <a:prstGeom prst="rect">
            <a:avLst/>
          </a:prstGeom>
          <a:solidFill>
            <a:srgbClr val="0000C8"/>
          </a:solidFill>
          <a:ln w="12700">
            <a:solidFill>
              <a:srgbClr val="333333"/>
            </a:solidFill>
            <a:prstDash val="solid"/>
          </a:ln>
        </p:spPr>
        <p:txBody>
          <a:bodyPr/>
          <a:lstStyle/>
          <a:p>
            <a:endParaRPr lang="en-US"/>
          </a:p>
        </p:txBody>
      </p:sp>
      <p:sp>
        <p:nvSpPr>
          <p:cNvPr id="15" name="Text 13"/>
          <p:cNvSpPr/>
          <p:nvPr/>
        </p:nvSpPr>
        <p:spPr>
          <a:xfrm>
            <a:off x="6382512" y="777240"/>
            <a:ext cx="2377440" cy="365760"/>
          </a:xfrm>
          <a:prstGeom prst="rect">
            <a:avLst/>
          </a:prstGeom>
          <a:noFill/>
          <a:ln/>
        </p:spPr>
        <p:txBody>
          <a:bodyPr wrap="square" lIns="0" tIns="0" rIns="0" bIns="0" rtlCol="0" anchor="ctr"/>
          <a:lstStyle/>
          <a:p>
            <a:pPr marL="0" indent="0">
              <a:buNone/>
            </a:pPr>
            <a:r>
              <a:rPr lang="en-US" sz="950" b="1" dirty="0">
                <a:solidFill>
                  <a:srgbClr val="FFFFFF"/>
                </a:solidFill>
                <a:latin typeface="Space Grotesk" pitchFamily="34" charset="0"/>
                <a:ea typeface="Space Grotesk" pitchFamily="34" charset="-122"/>
                <a:cs typeface="Space Grotesk" pitchFamily="34" charset="-120"/>
              </a:rPr>
              <a:t>Where AccuKnox wins</a:t>
            </a:r>
            <a:endParaRPr lang="en-US" sz="950" dirty="0"/>
          </a:p>
        </p:txBody>
      </p:sp>
      <p:sp>
        <p:nvSpPr>
          <p:cNvPr id="16" name="Shape 14"/>
          <p:cNvSpPr/>
          <p:nvPr/>
        </p:nvSpPr>
        <p:spPr>
          <a:xfrm>
            <a:off x="365760" y="1143000"/>
            <a:ext cx="1325880" cy="475488"/>
          </a:xfrm>
          <a:prstGeom prst="rect">
            <a:avLst/>
          </a:prstGeom>
          <a:solidFill>
            <a:srgbClr val="F2F4FA"/>
          </a:solidFill>
          <a:ln w="6350">
            <a:solidFill>
              <a:srgbClr val="DDDDEE"/>
            </a:solidFill>
            <a:prstDash val="solid"/>
          </a:ln>
        </p:spPr>
        <p:txBody>
          <a:bodyPr/>
          <a:lstStyle/>
          <a:p>
            <a:endParaRPr lang="en-US"/>
          </a:p>
        </p:txBody>
      </p:sp>
      <p:sp>
        <p:nvSpPr>
          <p:cNvPr id="17" name="Shape 15"/>
          <p:cNvSpPr/>
          <p:nvPr/>
        </p:nvSpPr>
        <p:spPr>
          <a:xfrm>
            <a:off x="1691640" y="1143000"/>
            <a:ext cx="2971800" cy="475488"/>
          </a:xfrm>
          <a:prstGeom prst="rect">
            <a:avLst/>
          </a:prstGeom>
          <a:solidFill>
            <a:srgbClr val="F2F4FA"/>
          </a:solidFill>
          <a:ln w="6350">
            <a:solidFill>
              <a:srgbClr val="DDDDEE"/>
            </a:solidFill>
            <a:prstDash val="solid"/>
          </a:ln>
        </p:spPr>
        <p:txBody>
          <a:bodyPr/>
          <a:lstStyle/>
          <a:p>
            <a:endParaRPr lang="en-US"/>
          </a:p>
        </p:txBody>
      </p:sp>
      <p:sp>
        <p:nvSpPr>
          <p:cNvPr id="18" name="Shape 16"/>
          <p:cNvSpPr/>
          <p:nvPr/>
        </p:nvSpPr>
        <p:spPr>
          <a:xfrm>
            <a:off x="4663440" y="1143000"/>
            <a:ext cx="1645920" cy="475488"/>
          </a:xfrm>
          <a:prstGeom prst="rect">
            <a:avLst/>
          </a:prstGeom>
          <a:solidFill>
            <a:srgbClr val="F2F4FA"/>
          </a:solidFill>
          <a:ln w="6350">
            <a:solidFill>
              <a:srgbClr val="DDDDEE"/>
            </a:solidFill>
            <a:prstDash val="solid"/>
          </a:ln>
        </p:spPr>
        <p:txBody>
          <a:bodyPr/>
          <a:lstStyle/>
          <a:p>
            <a:endParaRPr lang="en-US"/>
          </a:p>
        </p:txBody>
      </p:sp>
      <p:sp>
        <p:nvSpPr>
          <p:cNvPr id="19" name="Shape 17"/>
          <p:cNvSpPr/>
          <p:nvPr/>
        </p:nvSpPr>
        <p:spPr>
          <a:xfrm>
            <a:off x="6309360" y="1143000"/>
            <a:ext cx="2468880" cy="475488"/>
          </a:xfrm>
          <a:prstGeom prst="rect">
            <a:avLst/>
          </a:prstGeom>
          <a:solidFill>
            <a:srgbClr val="F2F4FA"/>
          </a:solidFill>
          <a:ln w="6350">
            <a:solidFill>
              <a:srgbClr val="DDDDEE"/>
            </a:solidFill>
            <a:prstDash val="solid"/>
          </a:ln>
        </p:spPr>
        <p:txBody>
          <a:bodyPr/>
          <a:lstStyle/>
          <a:p>
            <a:endParaRPr lang="en-US"/>
          </a:p>
        </p:txBody>
      </p:sp>
      <p:sp>
        <p:nvSpPr>
          <p:cNvPr id="20" name="Text 18"/>
          <p:cNvSpPr/>
          <p:nvPr/>
        </p:nvSpPr>
        <p:spPr>
          <a:xfrm>
            <a:off x="438912" y="1143000"/>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Exaforce</a:t>
            </a:r>
            <a:endParaRPr lang="en-US" sz="950" dirty="0"/>
          </a:p>
        </p:txBody>
      </p:sp>
      <p:sp>
        <p:nvSpPr>
          <p:cNvPr id="21" name="Text 19"/>
          <p:cNvSpPr/>
          <p:nvPr/>
        </p:nvSpPr>
        <p:spPr>
          <a:xfrm>
            <a:off x="1764792" y="1143000"/>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Command center, attack-chain graph, entity graph, NL search, workflow editor</a:t>
            </a:r>
            <a:endParaRPr lang="en-US" sz="830" dirty="0"/>
          </a:p>
        </p:txBody>
      </p:sp>
      <p:sp>
        <p:nvSpPr>
          <p:cNvPr id="22" name="Text 20"/>
          <p:cNvSpPr/>
          <p:nvPr/>
        </p:nvSpPr>
        <p:spPr>
          <a:xfrm>
            <a:off x="4736592" y="1143000"/>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Agentic, tunable</a:t>
            </a:r>
            <a:endParaRPr lang="en-US" sz="850" dirty="0"/>
          </a:p>
        </p:txBody>
      </p:sp>
      <p:sp>
        <p:nvSpPr>
          <p:cNvPr id="23" name="Text 21"/>
          <p:cNvSpPr/>
          <p:nvPr/>
        </p:nvSpPr>
        <p:spPr>
          <a:xfrm>
            <a:off x="6382512" y="1143000"/>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Logs not runtime; cannot enforce at kernel</a:t>
            </a:r>
            <a:endParaRPr lang="en-US" sz="830" dirty="0"/>
          </a:p>
        </p:txBody>
      </p:sp>
      <p:sp>
        <p:nvSpPr>
          <p:cNvPr id="24" name="Shape 22"/>
          <p:cNvSpPr/>
          <p:nvPr/>
        </p:nvSpPr>
        <p:spPr>
          <a:xfrm>
            <a:off x="365760" y="1618488"/>
            <a:ext cx="1325880" cy="475488"/>
          </a:xfrm>
          <a:prstGeom prst="rect">
            <a:avLst/>
          </a:prstGeom>
          <a:solidFill>
            <a:srgbClr val="FFFFFF"/>
          </a:solidFill>
          <a:ln w="6350">
            <a:solidFill>
              <a:srgbClr val="DDDDEE"/>
            </a:solidFill>
            <a:prstDash val="solid"/>
          </a:ln>
        </p:spPr>
        <p:txBody>
          <a:bodyPr/>
          <a:lstStyle/>
          <a:p>
            <a:endParaRPr lang="en-US"/>
          </a:p>
        </p:txBody>
      </p:sp>
      <p:sp>
        <p:nvSpPr>
          <p:cNvPr id="25" name="Shape 23"/>
          <p:cNvSpPr/>
          <p:nvPr/>
        </p:nvSpPr>
        <p:spPr>
          <a:xfrm>
            <a:off x="1691640" y="1618488"/>
            <a:ext cx="2971800" cy="475488"/>
          </a:xfrm>
          <a:prstGeom prst="rect">
            <a:avLst/>
          </a:prstGeom>
          <a:solidFill>
            <a:srgbClr val="FFFFFF"/>
          </a:solidFill>
          <a:ln w="6350">
            <a:solidFill>
              <a:srgbClr val="DDDDEE"/>
            </a:solidFill>
            <a:prstDash val="solid"/>
          </a:ln>
        </p:spPr>
        <p:txBody>
          <a:bodyPr/>
          <a:lstStyle/>
          <a:p>
            <a:endParaRPr lang="en-US"/>
          </a:p>
        </p:txBody>
      </p:sp>
      <p:sp>
        <p:nvSpPr>
          <p:cNvPr id="26" name="Shape 24"/>
          <p:cNvSpPr/>
          <p:nvPr/>
        </p:nvSpPr>
        <p:spPr>
          <a:xfrm>
            <a:off x="4663440" y="1618488"/>
            <a:ext cx="1645920" cy="475488"/>
          </a:xfrm>
          <a:prstGeom prst="rect">
            <a:avLst/>
          </a:prstGeom>
          <a:solidFill>
            <a:srgbClr val="FFFFFF"/>
          </a:solidFill>
          <a:ln w="6350">
            <a:solidFill>
              <a:srgbClr val="DDDDEE"/>
            </a:solidFill>
            <a:prstDash val="solid"/>
          </a:ln>
        </p:spPr>
        <p:txBody>
          <a:bodyPr/>
          <a:lstStyle/>
          <a:p>
            <a:endParaRPr lang="en-US"/>
          </a:p>
        </p:txBody>
      </p:sp>
      <p:sp>
        <p:nvSpPr>
          <p:cNvPr id="27" name="Shape 25"/>
          <p:cNvSpPr/>
          <p:nvPr/>
        </p:nvSpPr>
        <p:spPr>
          <a:xfrm>
            <a:off x="6309360" y="1618488"/>
            <a:ext cx="2468880" cy="475488"/>
          </a:xfrm>
          <a:prstGeom prst="rect">
            <a:avLst/>
          </a:prstGeom>
          <a:solidFill>
            <a:srgbClr val="FFFFFF"/>
          </a:solidFill>
          <a:ln w="6350">
            <a:solidFill>
              <a:srgbClr val="DDDDEE"/>
            </a:solidFill>
            <a:prstDash val="solid"/>
          </a:ln>
        </p:spPr>
        <p:txBody>
          <a:bodyPr/>
          <a:lstStyle/>
          <a:p>
            <a:endParaRPr lang="en-US"/>
          </a:p>
        </p:txBody>
      </p:sp>
      <p:sp>
        <p:nvSpPr>
          <p:cNvPr id="28" name="Text 26"/>
          <p:cNvSpPr/>
          <p:nvPr/>
        </p:nvSpPr>
        <p:spPr>
          <a:xfrm>
            <a:off x="438912" y="1618488"/>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Mate</a:t>
            </a:r>
            <a:endParaRPr lang="en-US" sz="950" dirty="0"/>
          </a:p>
        </p:txBody>
      </p:sp>
      <p:sp>
        <p:nvSpPr>
          <p:cNvPr id="29" name="Text 27"/>
          <p:cNvSpPr/>
          <p:nvPr/>
        </p:nvSpPr>
        <p:spPr>
          <a:xfrm>
            <a:off x="1764792" y="1618488"/>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Context-graph, coverage + MTTR dashboards, standalone console, browser ext.</a:t>
            </a:r>
            <a:endParaRPr lang="en-US" sz="830" dirty="0"/>
          </a:p>
        </p:txBody>
      </p:sp>
      <p:sp>
        <p:nvSpPr>
          <p:cNvPr id="30" name="Text 28"/>
          <p:cNvSpPr/>
          <p:nvPr/>
        </p:nvSpPr>
        <p:spPr>
          <a:xfrm>
            <a:off x="4736592" y="1618488"/>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Controllable</a:t>
            </a:r>
            <a:endParaRPr lang="en-US" sz="850" dirty="0"/>
          </a:p>
        </p:txBody>
      </p:sp>
      <p:sp>
        <p:nvSpPr>
          <p:cNvPr id="31" name="Text 29"/>
          <p:cNvSpPr/>
          <p:nvPr/>
        </p:nvSpPr>
        <p:spPr>
          <a:xfrm>
            <a:off x="6382512" y="1618488"/>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Graph from tickets, not kernel; no enforce</a:t>
            </a:r>
            <a:endParaRPr lang="en-US" sz="830" dirty="0"/>
          </a:p>
        </p:txBody>
      </p:sp>
      <p:sp>
        <p:nvSpPr>
          <p:cNvPr id="32" name="Shape 30"/>
          <p:cNvSpPr/>
          <p:nvPr/>
        </p:nvSpPr>
        <p:spPr>
          <a:xfrm>
            <a:off x="365760" y="2093976"/>
            <a:ext cx="1325880" cy="475488"/>
          </a:xfrm>
          <a:prstGeom prst="rect">
            <a:avLst/>
          </a:prstGeom>
          <a:solidFill>
            <a:srgbClr val="F2F4FA"/>
          </a:solidFill>
          <a:ln w="6350">
            <a:solidFill>
              <a:srgbClr val="DDDDEE"/>
            </a:solidFill>
            <a:prstDash val="solid"/>
          </a:ln>
        </p:spPr>
        <p:txBody>
          <a:bodyPr/>
          <a:lstStyle/>
          <a:p>
            <a:endParaRPr lang="en-US"/>
          </a:p>
        </p:txBody>
      </p:sp>
      <p:sp>
        <p:nvSpPr>
          <p:cNvPr id="33" name="Shape 31"/>
          <p:cNvSpPr/>
          <p:nvPr/>
        </p:nvSpPr>
        <p:spPr>
          <a:xfrm>
            <a:off x="1691640" y="2093976"/>
            <a:ext cx="2971800" cy="475488"/>
          </a:xfrm>
          <a:prstGeom prst="rect">
            <a:avLst/>
          </a:prstGeom>
          <a:solidFill>
            <a:srgbClr val="F2F4FA"/>
          </a:solidFill>
          <a:ln w="6350">
            <a:solidFill>
              <a:srgbClr val="DDDDEE"/>
            </a:solidFill>
            <a:prstDash val="solid"/>
          </a:ln>
        </p:spPr>
        <p:txBody>
          <a:bodyPr/>
          <a:lstStyle/>
          <a:p>
            <a:endParaRPr lang="en-US"/>
          </a:p>
        </p:txBody>
      </p:sp>
      <p:sp>
        <p:nvSpPr>
          <p:cNvPr id="34" name="Shape 32"/>
          <p:cNvSpPr/>
          <p:nvPr/>
        </p:nvSpPr>
        <p:spPr>
          <a:xfrm>
            <a:off x="4663440" y="2093976"/>
            <a:ext cx="1645920" cy="475488"/>
          </a:xfrm>
          <a:prstGeom prst="rect">
            <a:avLst/>
          </a:prstGeom>
          <a:solidFill>
            <a:srgbClr val="F2F4FA"/>
          </a:solidFill>
          <a:ln w="6350">
            <a:solidFill>
              <a:srgbClr val="DDDDEE"/>
            </a:solidFill>
            <a:prstDash val="solid"/>
          </a:ln>
        </p:spPr>
        <p:txBody>
          <a:bodyPr/>
          <a:lstStyle/>
          <a:p>
            <a:endParaRPr lang="en-US"/>
          </a:p>
        </p:txBody>
      </p:sp>
      <p:sp>
        <p:nvSpPr>
          <p:cNvPr id="35" name="Shape 33"/>
          <p:cNvSpPr/>
          <p:nvPr/>
        </p:nvSpPr>
        <p:spPr>
          <a:xfrm>
            <a:off x="6309360" y="2093976"/>
            <a:ext cx="2468880" cy="475488"/>
          </a:xfrm>
          <a:prstGeom prst="rect">
            <a:avLst/>
          </a:prstGeom>
          <a:solidFill>
            <a:srgbClr val="F2F4FA"/>
          </a:solidFill>
          <a:ln w="6350">
            <a:solidFill>
              <a:srgbClr val="DDDDEE"/>
            </a:solidFill>
            <a:prstDash val="solid"/>
          </a:ln>
        </p:spPr>
        <p:txBody>
          <a:bodyPr/>
          <a:lstStyle/>
          <a:p>
            <a:endParaRPr lang="en-US"/>
          </a:p>
        </p:txBody>
      </p:sp>
      <p:sp>
        <p:nvSpPr>
          <p:cNvPr id="36" name="Text 34"/>
          <p:cNvSpPr/>
          <p:nvPr/>
        </p:nvSpPr>
        <p:spPr>
          <a:xfrm>
            <a:off x="438912" y="2093976"/>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SentinelOne</a:t>
            </a:r>
            <a:endParaRPr lang="en-US" sz="950" dirty="0"/>
          </a:p>
        </p:txBody>
      </p:sp>
      <p:sp>
        <p:nvSpPr>
          <p:cNvPr id="37" name="Text 35"/>
          <p:cNvSpPr/>
          <p:nvPr/>
        </p:nvSpPr>
        <p:spPr>
          <a:xfrm>
            <a:off x="1764792" y="2093976"/>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Purple AI chat, explainable verdict, hyperautomation, notebooks</a:t>
            </a:r>
            <a:endParaRPr lang="en-US" sz="830" dirty="0"/>
          </a:p>
        </p:txBody>
      </p:sp>
      <p:sp>
        <p:nvSpPr>
          <p:cNvPr id="38" name="Text 36"/>
          <p:cNvSpPr/>
          <p:nvPr/>
        </p:nvSpPr>
        <p:spPr>
          <a:xfrm>
            <a:off x="4736592" y="2093976"/>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Gated to top tier</a:t>
            </a:r>
            <a:endParaRPr lang="en-US" sz="850" dirty="0"/>
          </a:p>
        </p:txBody>
      </p:sp>
      <p:sp>
        <p:nvSpPr>
          <p:cNvPr id="39" name="Text 37"/>
          <p:cNvSpPr/>
          <p:nvPr/>
        </p:nvSpPr>
        <p:spPr>
          <a:xfrm>
            <a:off x="6382512" y="2093976"/>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Closed, endpoint-rooted, AI security bolt-on</a:t>
            </a:r>
            <a:endParaRPr lang="en-US" sz="830" dirty="0"/>
          </a:p>
        </p:txBody>
      </p:sp>
      <p:sp>
        <p:nvSpPr>
          <p:cNvPr id="40" name="Shape 38"/>
          <p:cNvSpPr/>
          <p:nvPr/>
        </p:nvSpPr>
        <p:spPr>
          <a:xfrm>
            <a:off x="365760" y="2569464"/>
            <a:ext cx="1325880" cy="475488"/>
          </a:xfrm>
          <a:prstGeom prst="rect">
            <a:avLst/>
          </a:prstGeom>
          <a:solidFill>
            <a:srgbClr val="FFFFFF"/>
          </a:solidFill>
          <a:ln w="6350">
            <a:solidFill>
              <a:srgbClr val="DDDDEE"/>
            </a:solidFill>
            <a:prstDash val="solid"/>
          </a:ln>
        </p:spPr>
        <p:txBody>
          <a:bodyPr/>
          <a:lstStyle/>
          <a:p>
            <a:endParaRPr lang="en-US"/>
          </a:p>
        </p:txBody>
      </p:sp>
      <p:sp>
        <p:nvSpPr>
          <p:cNvPr id="41" name="Shape 39"/>
          <p:cNvSpPr/>
          <p:nvPr/>
        </p:nvSpPr>
        <p:spPr>
          <a:xfrm>
            <a:off x="1691640" y="2569464"/>
            <a:ext cx="2971800" cy="475488"/>
          </a:xfrm>
          <a:prstGeom prst="rect">
            <a:avLst/>
          </a:prstGeom>
          <a:solidFill>
            <a:srgbClr val="FFFFFF"/>
          </a:solidFill>
          <a:ln w="6350">
            <a:solidFill>
              <a:srgbClr val="DDDDEE"/>
            </a:solidFill>
            <a:prstDash val="solid"/>
          </a:ln>
        </p:spPr>
        <p:txBody>
          <a:bodyPr/>
          <a:lstStyle/>
          <a:p>
            <a:endParaRPr lang="en-US"/>
          </a:p>
        </p:txBody>
      </p:sp>
      <p:sp>
        <p:nvSpPr>
          <p:cNvPr id="42" name="Shape 40"/>
          <p:cNvSpPr/>
          <p:nvPr/>
        </p:nvSpPr>
        <p:spPr>
          <a:xfrm>
            <a:off x="4663440" y="2569464"/>
            <a:ext cx="1645920" cy="475488"/>
          </a:xfrm>
          <a:prstGeom prst="rect">
            <a:avLst/>
          </a:prstGeom>
          <a:solidFill>
            <a:srgbClr val="FFFFFF"/>
          </a:solidFill>
          <a:ln w="6350">
            <a:solidFill>
              <a:srgbClr val="DDDDEE"/>
            </a:solidFill>
            <a:prstDash val="solid"/>
          </a:ln>
        </p:spPr>
        <p:txBody>
          <a:bodyPr/>
          <a:lstStyle/>
          <a:p>
            <a:endParaRPr lang="en-US"/>
          </a:p>
        </p:txBody>
      </p:sp>
      <p:sp>
        <p:nvSpPr>
          <p:cNvPr id="43" name="Shape 41"/>
          <p:cNvSpPr/>
          <p:nvPr/>
        </p:nvSpPr>
        <p:spPr>
          <a:xfrm>
            <a:off x="6309360" y="2569464"/>
            <a:ext cx="2468880" cy="475488"/>
          </a:xfrm>
          <a:prstGeom prst="rect">
            <a:avLst/>
          </a:prstGeom>
          <a:solidFill>
            <a:srgbClr val="FFFFFF"/>
          </a:solidFill>
          <a:ln w="6350">
            <a:solidFill>
              <a:srgbClr val="DDDDEE"/>
            </a:solidFill>
            <a:prstDash val="solid"/>
          </a:ln>
        </p:spPr>
        <p:txBody>
          <a:bodyPr/>
          <a:lstStyle/>
          <a:p>
            <a:endParaRPr lang="en-US"/>
          </a:p>
        </p:txBody>
      </p:sp>
      <p:sp>
        <p:nvSpPr>
          <p:cNvPr id="44" name="Text 42"/>
          <p:cNvSpPr/>
          <p:nvPr/>
        </p:nvSpPr>
        <p:spPr>
          <a:xfrm>
            <a:off x="438912" y="2569464"/>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Dropzone</a:t>
            </a:r>
            <a:endParaRPr lang="en-US" sz="950" dirty="0"/>
          </a:p>
        </p:txBody>
      </p:sp>
      <p:sp>
        <p:nvSpPr>
          <p:cNvPr id="45" name="Text 43"/>
          <p:cNvSpPr/>
          <p:nvPr/>
        </p:nvSpPr>
        <p:spPr>
          <a:xfrm>
            <a:off x="1764792" y="2569464"/>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Glass-box reports, attack timeline, chat</a:t>
            </a:r>
            <a:endParaRPr lang="en-US" sz="830" dirty="0"/>
          </a:p>
        </p:txBody>
      </p:sp>
      <p:sp>
        <p:nvSpPr>
          <p:cNvPr id="46" name="Text 44"/>
          <p:cNvSpPr/>
          <p:nvPr/>
        </p:nvSpPr>
        <p:spPr>
          <a:xfrm>
            <a:off x="4736592" y="2569464"/>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Fully autonomous</a:t>
            </a:r>
            <a:endParaRPr lang="en-US" sz="850" dirty="0"/>
          </a:p>
        </p:txBody>
      </p:sp>
      <p:sp>
        <p:nvSpPr>
          <p:cNvPr id="47" name="Text 45"/>
          <p:cNvSpPr/>
          <p:nvPr/>
        </p:nvSpPr>
        <p:spPr>
          <a:xfrm>
            <a:off x="6382512" y="2569464"/>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Triage only; no posture, runtime, or enforce</a:t>
            </a:r>
            <a:endParaRPr lang="en-US" sz="830" dirty="0"/>
          </a:p>
        </p:txBody>
      </p:sp>
      <p:sp>
        <p:nvSpPr>
          <p:cNvPr id="48" name="Shape 46"/>
          <p:cNvSpPr/>
          <p:nvPr/>
        </p:nvSpPr>
        <p:spPr>
          <a:xfrm>
            <a:off x="365760" y="3044952"/>
            <a:ext cx="1325880" cy="475488"/>
          </a:xfrm>
          <a:prstGeom prst="rect">
            <a:avLst/>
          </a:prstGeom>
          <a:solidFill>
            <a:srgbClr val="F2F4FA"/>
          </a:solidFill>
          <a:ln w="6350">
            <a:solidFill>
              <a:srgbClr val="DDDDEE"/>
            </a:solidFill>
            <a:prstDash val="solid"/>
          </a:ln>
        </p:spPr>
        <p:txBody>
          <a:bodyPr/>
          <a:lstStyle/>
          <a:p>
            <a:endParaRPr lang="en-US"/>
          </a:p>
        </p:txBody>
      </p:sp>
      <p:sp>
        <p:nvSpPr>
          <p:cNvPr id="49" name="Shape 47"/>
          <p:cNvSpPr/>
          <p:nvPr/>
        </p:nvSpPr>
        <p:spPr>
          <a:xfrm>
            <a:off x="1691640" y="3044952"/>
            <a:ext cx="2971800" cy="475488"/>
          </a:xfrm>
          <a:prstGeom prst="rect">
            <a:avLst/>
          </a:prstGeom>
          <a:solidFill>
            <a:srgbClr val="F2F4FA"/>
          </a:solidFill>
          <a:ln w="6350">
            <a:solidFill>
              <a:srgbClr val="DDDDEE"/>
            </a:solidFill>
            <a:prstDash val="solid"/>
          </a:ln>
        </p:spPr>
        <p:txBody>
          <a:bodyPr/>
          <a:lstStyle/>
          <a:p>
            <a:endParaRPr lang="en-US"/>
          </a:p>
        </p:txBody>
      </p:sp>
      <p:sp>
        <p:nvSpPr>
          <p:cNvPr id="50" name="Shape 48"/>
          <p:cNvSpPr/>
          <p:nvPr/>
        </p:nvSpPr>
        <p:spPr>
          <a:xfrm>
            <a:off x="4663440" y="3044952"/>
            <a:ext cx="1645920" cy="475488"/>
          </a:xfrm>
          <a:prstGeom prst="rect">
            <a:avLst/>
          </a:prstGeom>
          <a:solidFill>
            <a:srgbClr val="F2F4FA"/>
          </a:solidFill>
          <a:ln w="6350">
            <a:solidFill>
              <a:srgbClr val="DDDDEE"/>
            </a:solidFill>
            <a:prstDash val="solid"/>
          </a:ln>
        </p:spPr>
        <p:txBody>
          <a:bodyPr/>
          <a:lstStyle/>
          <a:p>
            <a:endParaRPr lang="en-US"/>
          </a:p>
        </p:txBody>
      </p:sp>
      <p:sp>
        <p:nvSpPr>
          <p:cNvPr id="51" name="Shape 49"/>
          <p:cNvSpPr/>
          <p:nvPr/>
        </p:nvSpPr>
        <p:spPr>
          <a:xfrm>
            <a:off x="6309360" y="3044952"/>
            <a:ext cx="2468880" cy="475488"/>
          </a:xfrm>
          <a:prstGeom prst="rect">
            <a:avLst/>
          </a:prstGeom>
          <a:solidFill>
            <a:srgbClr val="F2F4FA"/>
          </a:solidFill>
          <a:ln w="6350">
            <a:solidFill>
              <a:srgbClr val="DDDDEE"/>
            </a:solidFill>
            <a:prstDash val="solid"/>
          </a:ln>
        </p:spPr>
        <p:txBody>
          <a:bodyPr/>
          <a:lstStyle/>
          <a:p>
            <a:endParaRPr lang="en-US"/>
          </a:p>
        </p:txBody>
      </p:sp>
      <p:sp>
        <p:nvSpPr>
          <p:cNvPr id="52" name="Text 50"/>
          <p:cNvSpPr/>
          <p:nvPr/>
        </p:nvSpPr>
        <p:spPr>
          <a:xfrm>
            <a:off x="438912" y="3044952"/>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Radiant</a:t>
            </a:r>
            <a:endParaRPr lang="en-US" sz="950" dirty="0"/>
          </a:p>
        </p:txBody>
      </p:sp>
      <p:sp>
        <p:nvSpPr>
          <p:cNvPr id="53" name="Text 51"/>
          <p:cNvSpPr/>
          <p:nvPr/>
        </p:nvSpPr>
        <p:spPr>
          <a:xfrm>
            <a:off x="1764792" y="3044952"/>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Cases dashboard, 1-3 alert queue, reasoning view</a:t>
            </a:r>
            <a:endParaRPr lang="en-US" sz="830" dirty="0"/>
          </a:p>
        </p:txBody>
      </p:sp>
      <p:sp>
        <p:nvSpPr>
          <p:cNvPr id="54" name="Text 52"/>
          <p:cNvSpPr/>
          <p:nvPr/>
        </p:nvSpPr>
        <p:spPr>
          <a:xfrm>
            <a:off x="4736592" y="3044952"/>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90%+ auto</a:t>
            </a:r>
            <a:endParaRPr lang="en-US" sz="850" dirty="0"/>
          </a:p>
        </p:txBody>
      </p:sp>
      <p:sp>
        <p:nvSpPr>
          <p:cNvPr id="55" name="Text 53"/>
          <p:cNvSpPr/>
          <p:nvPr/>
        </p:nvSpPr>
        <p:spPr>
          <a:xfrm>
            <a:off x="6382512" y="3044952"/>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Sits on your data; no kernel enforcement</a:t>
            </a:r>
            <a:endParaRPr lang="en-US" sz="830" dirty="0"/>
          </a:p>
        </p:txBody>
      </p:sp>
      <p:sp>
        <p:nvSpPr>
          <p:cNvPr id="56" name="Shape 54"/>
          <p:cNvSpPr/>
          <p:nvPr/>
        </p:nvSpPr>
        <p:spPr>
          <a:xfrm>
            <a:off x="365760" y="3520440"/>
            <a:ext cx="1325880" cy="475488"/>
          </a:xfrm>
          <a:prstGeom prst="rect">
            <a:avLst/>
          </a:prstGeom>
          <a:solidFill>
            <a:srgbClr val="FFFFFF"/>
          </a:solidFill>
          <a:ln w="6350">
            <a:solidFill>
              <a:srgbClr val="DDDDEE"/>
            </a:solidFill>
            <a:prstDash val="solid"/>
          </a:ln>
        </p:spPr>
        <p:txBody>
          <a:bodyPr/>
          <a:lstStyle/>
          <a:p>
            <a:endParaRPr lang="en-US"/>
          </a:p>
        </p:txBody>
      </p:sp>
      <p:sp>
        <p:nvSpPr>
          <p:cNvPr id="57" name="Shape 55"/>
          <p:cNvSpPr/>
          <p:nvPr/>
        </p:nvSpPr>
        <p:spPr>
          <a:xfrm>
            <a:off x="1691640" y="3520440"/>
            <a:ext cx="2971800" cy="475488"/>
          </a:xfrm>
          <a:prstGeom prst="rect">
            <a:avLst/>
          </a:prstGeom>
          <a:solidFill>
            <a:srgbClr val="FFFFFF"/>
          </a:solidFill>
          <a:ln w="6350">
            <a:solidFill>
              <a:srgbClr val="DDDDEE"/>
            </a:solidFill>
            <a:prstDash val="solid"/>
          </a:ln>
        </p:spPr>
        <p:txBody>
          <a:bodyPr/>
          <a:lstStyle/>
          <a:p>
            <a:endParaRPr lang="en-US"/>
          </a:p>
        </p:txBody>
      </p:sp>
      <p:sp>
        <p:nvSpPr>
          <p:cNvPr id="58" name="Shape 56"/>
          <p:cNvSpPr/>
          <p:nvPr/>
        </p:nvSpPr>
        <p:spPr>
          <a:xfrm>
            <a:off x="4663440" y="3520440"/>
            <a:ext cx="1645920" cy="475488"/>
          </a:xfrm>
          <a:prstGeom prst="rect">
            <a:avLst/>
          </a:prstGeom>
          <a:solidFill>
            <a:srgbClr val="FFFFFF"/>
          </a:solidFill>
          <a:ln w="6350">
            <a:solidFill>
              <a:srgbClr val="DDDDEE"/>
            </a:solidFill>
            <a:prstDash val="solid"/>
          </a:ln>
        </p:spPr>
        <p:txBody>
          <a:bodyPr/>
          <a:lstStyle/>
          <a:p>
            <a:endParaRPr lang="en-US"/>
          </a:p>
        </p:txBody>
      </p:sp>
      <p:sp>
        <p:nvSpPr>
          <p:cNvPr id="59" name="Shape 57"/>
          <p:cNvSpPr/>
          <p:nvPr/>
        </p:nvSpPr>
        <p:spPr>
          <a:xfrm>
            <a:off x="6309360" y="3520440"/>
            <a:ext cx="2468880" cy="475488"/>
          </a:xfrm>
          <a:prstGeom prst="rect">
            <a:avLst/>
          </a:prstGeom>
          <a:solidFill>
            <a:srgbClr val="FFFFFF"/>
          </a:solidFill>
          <a:ln w="6350">
            <a:solidFill>
              <a:srgbClr val="DDDDEE"/>
            </a:solidFill>
            <a:prstDash val="solid"/>
          </a:ln>
        </p:spPr>
        <p:txBody>
          <a:bodyPr/>
          <a:lstStyle/>
          <a:p>
            <a:endParaRPr lang="en-US"/>
          </a:p>
        </p:txBody>
      </p:sp>
      <p:sp>
        <p:nvSpPr>
          <p:cNvPr id="60" name="Text 58"/>
          <p:cNvSpPr/>
          <p:nvPr/>
        </p:nvSpPr>
        <p:spPr>
          <a:xfrm>
            <a:off x="438912" y="3520440"/>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Intezer</a:t>
            </a:r>
            <a:endParaRPr lang="en-US" sz="950" dirty="0"/>
          </a:p>
        </p:txBody>
      </p:sp>
      <p:sp>
        <p:nvSpPr>
          <p:cNvPr id="61" name="Text 59"/>
          <p:cNvSpPr/>
          <p:nvPr/>
        </p:nvSpPr>
        <p:spPr>
          <a:xfrm>
            <a:off x="1764792" y="3520440"/>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Forensic verdicts, triage queue, artifact views</a:t>
            </a:r>
            <a:endParaRPr lang="en-US" sz="830" dirty="0"/>
          </a:p>
        </p:txBody>
      </p:sp>
      <p:sp>
        <p:nvSpPr>
          <p:cNvPr id="62" name="Text 60"/>
          <p:cNvSpPr/>
          <p:nvPr/>
        </p:nvSpPr>
        <p:spPr>
          <a:xfrm>
            <a:off x="4736592" y="3520440"/>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Human-in-loop</a:t>
            </a:r>
            <a:endParaRPr lang="en-US" sz="850" dirty="0"/>
          </a:p>
        </p:txBody>
      </p:sp>
      <p:sp>
        <p:nvSpPr>
          <p:cNvPr id="63" name="Text 61"/>
          <p:cNvSpPr/>
          <p:nvPr/>
        </p:nvSpPr>
        <p:spPr>
          <a:xfrm>
            <a:off x="6382512" y="3520440"/>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Forensic depth, but no runtime enforcement</a:t>
            </a:r>
            <a:endParaRPr lang="en-US" sz="830" dirty="0"/>
          </a:p>
        </p:txBody>
      </p:sp>
      <p:sp>
        <p:nvSpPr>
          <p:cNvPr id="64" name="Shape 62"/>
          <p:cNvSpPr/>
          <p:nvPr/>
        </p:nvSpPr>
        <p:spPr>
          <a:xfrm>
            <a:off x="365760" y="3995928"/>
            <a:ext cx="1325880" cy="475488"/>
          </a:xfrm>
          <a:prstGeom prst="rect">
            <a:avLst/>
          </a:prstGeom>
          <a:solidFill>
            <a:srgbClr val="F2F4FA"/>
          </a:solidFill>
          <a:ln w="6350">
            <a:solidFill>
              <a:srgbClr val="DDDDEE"/>
            </a:solidFill>
            <a:prstDash val="solid"/>
          </a:ln>
        </p:spPr>
        <p:txBody>
          <a:bodyPr/>
          <a:lstStyle/>
          <a:p>
            <a:endParaRPr lang="en-US"/>
          </a:p>
        </p:txBody>
      </p:sp>
      <p:sp>
        <p:nvSpPr>
          <p:cNvPr id="65" name="Shape 63"/>
          <p:cNvSpPr/>
          <p:nvPr/>
        </p:nvSpPr>
        <p:spPr>
          <a:xfrm>
            <a:off x="1691640" y="3995928"/>
            <a:ext cx="2971800" cy="475488"/>
          </a:xfrm>
          <a:prstGeom prst="rect">
            <a:avLst/>
          </a:prstGeom>
          <a:solidFill>
            <a:srgbClr val="F2F4FA"/>
          </a:solidFill>
          <a:ln w="6350">
            <a:solidFill>
              <a:srgbClr val="DDDDEE"/>
            </a:solidFill>
            <a:prstDash val="solid"/>
          </a:ln>
        </p:spPr>
        <p:txBody>
          <a:bodyPr/>
          <a:lstStyle/>
          <a:p>
            <a:endParaRPr lang="en-US"/>
          </a:p>
        </p:txBody>
      </p:sp>
      <p:sp>
        <p:nvSpPr>
          <p:cNvPr id="66" name="Shape 64"/>
          <p:cNvSpPr/>
          <p:nvPr/>
        </p:nvSpPr>
        <p:spPr>
          <a:xfrm>
            <a:off x="4663440" y="3995928"/>
            <a:ext cx="1645920" cy="475488"/>
          </a:xfrm>
          <a:prstGeom prst="rect">
            <a:avLst/>
          </a:prstGeom>
          <a:solidFill>
            <a:srgbClr val="F2F4FA"/>
          </a:solidFill>
          <a:ln w="6350">
            <a:solidFill>
              <a:srgbClr val="DDDDEE"/>
            </a:solidFill>
            <a:prstDash val="solid"/>
          </a:ln>
        </p:spPr>
        <p:txBody>
          <a:bodyPr/>
          <a:lstStyle/>
          <a:p>
            <a:endParaRPr lang="en-US"/>
          </a:p>
        </p:txBody>
      </p:sp>
      <p:sp>
        <p:nvSpPr>
          <p:cNvPr id="67" name="Shape 65"/>
          <p:cNvSpPr/>
          <p:nvPr/>
        </p:nvSpPr>
        <p:spPr>
          <a:xfrm>
            <a:off x="6309360" y="3995928"/>
            <a:ext cx="2468880" cy="475488"/>
          </a:xfrm>
          <a:prstGeom prst="rect">
            <a:avLst/>
          </a:prstGeom>
          <a:solidFill>
            <a:srgbClr val="F2F4FA"/>
          </a:solidFill>
          <a:ln w="6350">
            <a:solidFill>
              <a:srgbClr val="DDDDEE"/>
            </a:solidFill>
            <a:prstDash val="solid"/>
          </a:ln>
        </p:spPr>
        <p:txBody>
          <a:bodyPr/>
          <a:lstStyle/>
          <a:p>
            <a:endParaRPr lang="en-US"/>
          </a:p>
        </p:txBody>
      </p:sp>
      <p:sp>
        <p:nvSpPr>
          <p:cNvPr id="68" name="Text 66"/>
          <p:cNvSpPr/>
          <p:nvPr/>
        </p:nvSpPr>
        <p:spPr>
          <a:xfrm>
            <a:off x="438912" y="3995928"/>
            <a:ext cx="1234440" cy="475488"/>
          </a:xfrm>
          <a:prstGeom prst="rect">
            <a:avLst/>
          </a:prstGeom>
          <a:noFill/>
          <a:ln/>
        </p:spPr>
        <p:txBody>
          <a:bodyPr wrap="square" lIns="0" tIns="0" rIns="0" bIns="0" rtlCol="0" anchor="ctr"/>
          <a:lstStyle/>
          <a:p>
            <a:pPr marL="0" indent="0">
              <a:buNone/>
            </a:pPr>
            <a:r>
              <a:rPr lang="en-US" sz="950" b="1" dirty="0">
                <a:solidFill>
                  <a:srgbClr val="0000C8"/>
                </a:solidFill>
                <a:latin typeface="Space Grotesk" pitchFamily="34" charset="0"/>
                <a:ea typeface="Space Grotesk" pitchFamily="34" charset="-122"/>
                <a:cs typeface="Space Grotesk" pitchFamily="34" charset="-120"/>
              </a:rPr>
              <a:t>7AI / Torq</a:t>
            </a:r>
            <a:endParaRPr lang="en-US" sz="950" dirty="0"/>
          </a:p>
        </p:txBody>
      </p:sp>
      <p:sp>
        <p:nvSpPr>
          <p:cNvPr id="69" name="Text 67"/>
          <p:cNvSpPr/>
          <p:nvPr/>
        </p:nvSpPr>
        <p:spPr>
          <a:xfrm>
            <a:off x="1764792" y="3995928"/>
            <a:ext cx="2862072" cy="475488"/>
          </a:xfrm>
          <a:prstGeom prst="rect">
            <a:avLst/>
          </a:prstGeom>
          <a:noFill/>
          <a:ln/>
        </p:spPr>
        <p:txBody>
          <a:bodyPr wrap="square" lIns="0" tIns="0" rIns="0" bIns="0" rtlCol="0" anchor="ctr"/>
          <a:lstStyle/>
          <a:p>
            <a:pPr marL="0" indent="0">
              <a:buNone/>
            </a:pPr>
            <a:r>
              <a:rPr lang="en-US" sz="830" dirty="0">
                <a:solidFill>
                  <a:srgbClr val="0D1B4B"/>
                </a:solidFill>
                <a:latin typeface="Inter" pitchFamily="34" charset="0"/>
                <a:ea typeface="Inter" pitchFamily="34" charset="-122"/>
                <a:cs typeface="Inter" pitchFamily="34" charset="-120"/>
              </a:rPr>
              <a:t>Kanban cases, workflow / agent builder, case interface</a:t>
            </a:r>
            <a:endParaRPr lang="en-US" sz="830" dirty="0"/>
          </a:p>
        </p:txBody>
      </p:sp>
      <p:sp>
        <p:nvSpPr>
          <p:cNvPr id="70" name="Text 68"/>
          <p:cNvSpPr/>
          <p:nvPr/>
        </p:nvSpPr>
        <p:spPr>
          <a:xfrm>
            <a:off x="4736592" y="3995928"/>
            <a:ext cx="1536192" cy="475488"/>
          </a:xfrm>
          <a:prstGeom prst="rect">
            <a:avLst/>
          </a:prstGeom>
          <a:noFill/>
          <a:ln/>
        </p:spPr>
        <p:txBody>
          <a:bodyPr wrap="square" lIns="0" tIns="0" rIns="0" bIns="0" rtlCol="0" anchor="ctr"/>
          <a:lstStyle/>
          <a:p>
            <a:pPr marL="0" indent="0">
              <a:buNone/>
            </a:pPr>
            <a:r>
              <a:rPr lang="en-US" sz="850" dirty="0">
                <a:solidFill>
                  <a:srgbClr val="44507A"/>
                </a:solidFill>
                <a:latin typeface="Inter" pitchFamily="34" charset="0"/>
                <a:ea typeface="Inter" pitchFamily="34" charset="-122"/>
                <a:cs typeface="Inter" pitchFamily="34" charset="-120"/>
              </a:rPr>
              <a:t>High autonomy</a:t>
            </a:r>
            <a:endParaRPr lang="en-US" sz="850" dirty="0"/>
          </a:p>
        </p:txBody>
      </p:sp>
      <p:sp>
        <p:nvSpPr>
          <p:cNvPr id="71" name="Text 69"/>
          <p:cNvSpPr/>
          <p:nvPr/>
        </p:nvSpPr>
        <p:spPr>
          <a:xfrm>
            <a:off x="6382512" y="3995928"/>
            <a:ext cx="2359152" cy="475488"/>
          </a:xfrm>
          <a:prstGeom prst="rect">
            <a:avLst/>
          </a:prstGeom>
          <a:noFill/>
          <a:ln/>
        </p:spPr>
        <p:txBody>
          <a:bodyPr wrap="square" lIns="0" tIns="0" rIns="0" bIns="0" rtlCol="0" anchor="ctr"/>
          <a:lstStyle/>
          <a:p>
            <a:pPr marL="0" indent="0">
              <a:buNone/>
            </a:pPr>
            <a:r>
              <a:rPr lang="en-US" sz="830" b="1" dirty="0">
                <a:solidFill>
                  <a:srgbClr val="0046FF"/>
                </a:solidFill>
                <a:latin typeface="Inter" pitchFamily="34" charset="0"/>
                <a:ea typeface="Inter" pitchFamily="34" charset="-122"/>
                <a:cs typeface="Inter" pitchFamily="34" charset="-120"/>
              </a:rPr>
              <a:t>Orchestration, not kernel-level prevention</a:t>
            </a:r>
            <a:endParaRPr lang="en-US" sz="830" dirty="0"/>
          </a:p>
        </p:txBody>
      </p:sp>
      <p:sp>
        <p:nvSpPr>
          <p:cNvPr id="72" name="Text 70"/>
          <p:cNvSpPr/>
          <p:nvPr/>
        </p:nvSpPr>
        <p:spPr>
          <a:xfrm>
            <a:off x="365760" y="4572000"/>
            <a:ext cx="8412480" cy="320040"/>
          </a:xfrm>
          <a:prstGeom prst="rect">
            <a:avLst/>
          </a:prstGeom>
          <a:noFill/>
          <a:ln/>
        </p:spPr>
        <p:txBody>
          <a:bodyPr wrap="square" lIns="0" tIns="0" rIns="0" bIns="0" rtlCol="0" anchor="t"/>
          <a:lstStyle/>
          <a:p>
            <a:pPr marL="0" indent="0" algn="ctr">
              <a:buNone/>
            </a:pPr>
            <a:r>
              <a:rPr lang="en-US" sz="880" i="1" dirty="0">
                <a:solidFill>
                  <a:srgbClr val="0000C8"/>
                </a:solidFill>
                <a:latin typeface="Inter" pitchFamily="34" charset="0"/>
                <a:ea typeface="Inter" pitchFamily="34" charset="-122"/>
                <a:cs typeface="Inter" pitchFamily="34" charset="-120"/>
              </a:rPr>
              <a:t>Full-resolution screenshots of every vendor's UI are in the competitor-screens folder. Every console ends at "respond." None enforce.</a:t>
            </a:r>
            <a:endParaRPr lang="en-US" sz="8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09</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Proof, Pricing, Next Step</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The outcomes are already on the board.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The numbers are already on the board</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31</a:t>
            </a:r>
            <a:endParaRPr lang="en-US" sz="750" dirty="0"/>
          </a:p>
        </p:txBody>
      </p:sp>
      <p:sp>
        <p:nvSpPr>
          <p:cNvPr id="8" name="Shape 6"/>
          <p:cNvSpPr/>
          <p:nvPr/>
        </p:nvSpPr>
        <p:spPr>
          <a:xfrm>
            <a:off x="320040" y="822960"/>
            <a:ext cx="2057400" cy="2194560"/>
          </a:xfrm>
          <a:prstGeom prst="roundRect">
            <a:avLst>
              <a:gd name="adj" fmla="val 2222"/>
            </a:avLst>
          </a:prstGeom>
          <a:solidFill>
            <a:srgbClr val="0000C8"/>
          </a:solidFill>
          <a:ln w="9525">
            <a:solidFill>
              <a:srgbClr val="0000C8"/>
            </a:solidFill>
            <a:prstDash val="solid"/>
          </a:ln>
        </p:spPr>
        <p:txBody>
          <a:bodyPr/>
          <a:lstStyle/>
          <a:p>
            <a:endParaRPr lang="en-US"/>
          </a:p>
        </p:txBody>
      </p:sp>
      <p:sp>
        <p:nvSpPr>
          <p:cNvPr id="9" name="Shape 7"/>
          <p:cNvSpPr/>
          <p:nvPr/>
        </p:nvSpPr>
        <p:spPr>
          <a:xfrm>
            <a:off x="320040" y="822960"/>
            <a:ext cx="2057400" cy="64008"/>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320040" y="1234440"/>
            <a:ext cx="2057400" cy="822960"/>
          </a:xfrm>
          <a:prstGeom prst="rect">
            <a:avLst/>
          </a:prstGeom>
          <a:noFill/>
          <a:ln/>
        </p:spPr>
        <p:txBody>
          <a:bodyPr wrap="square" lIns="0" tIns="0" rIns="0" bIns="0" rtlCol="0" anchor="t"/>
          <a:lstStyle/>
          <a:p>
            <a:pPr marL="0" indent="0" algn="ctr">
              <a:buNone/>
            </a:pPr>
            <a:r>
              <a:rPr lang="en-US" sz="3800" b="1" dirty="0">
                <a:solidFill>
                  <a:srgbClr val="FFFFFF"/>
                </a:solidFill>
                <a:latin typeface="Space Grotesk" pitchFamily="34" charset="0"/>
                <a:ea typeface="Space Grotesk" pitchFamily="34" charset="-122"/>
                <a:cs typeface="Space Grotesk" pitchFamily="34" charset="-120"/>
              </a:rPr>
              <a:t>85%</a:t>
            </a:r>
            <a:endParaRPr lang="en-US" sz="3800" dirty="0"/>
          </a:p>
        </p:txBody>
      </p:sp>
      <p:sp>
        <p:nvSpPr>
          <p:cNvPr id="11" name="Text 9"/>
          <p:cNvSpPr/>
          <p:nvPr/>
        </p:nvSpPr>
        <p:spPr>
          <a:xfrm>
            <a:off x="411480" y="2057400"/>
            <a:ext cx="1874520" cy="365760"/>
          </a:xfrm>
          <a:prstGeom prst="rect">
            <a:avLst/>
          </a:prstGeom>
          <a:noFill/>
          <a:ln/>
        </p:spPr>
        <p:txBody>
          <a:bodyPr wrap="square" lIns="0" tIns="0" rIns="0" bIns="0" rtlCol="0" anchor="t"/>
          <a:lstStyle/>
          <a:p>
            <a:pPr marL="0" indent="0" algn="ctr">
              <a:buNone/>
            </a:pPr>
            <a:r>
              <a:rPr lang="en-US" sz="1100" b="1" dirty="0">
                <a:solidFill>
                  <a:srgbClr val="D6E4F7"/>
                </a:solidFill>
                <a:latin typeface="Inter" pitchFamily="34" charset="0"/>
                <a:ea typeface="Inter" pitchFamily="34" charset="-122"/>
                <a:cs typeface="Inter" pitchFamily="34" charset="-120"/>
              </a:rPr>
              <a:t>less alert noise</a:t>
            </a:r>
            <a:endParaRPr lang="en-US" sz="1100" dirty="0"/>
          </a:p>
        </p:txBody>
      </p:sp>
      <p:sp>
        <p:nvSpPr>
          <p:cNvPr id="12" name="Text 10"/>
          <p:cNvSpPr/>
          <p:nvPr/>
        </p:nvSpPr>
        <p:spPr>
          <a:xfrm>
            <a:off x="411480" y="2468880"/>
            <a:ext cx="1874520" cy="457200"/>
          </a:xfrm>
          <a:prstGeom prst="rect">
            <a:avLst/>
          </a:prstGeom>
          <a:noFill/>
          <a:ln/>
        </p:spPr>
        <p:txBody>
          <a:bodyPr wrap="square" lIns="0" tIns="0" rIns="0" bIns="0" rtlCol="0" anchor="t"/>
          <a:lstStyle/>
          <a:p>
            <a:pPr marL="0" indent="0" algn="ctr">
              <a:buNone/>
            </a:pPr>
            <a:r>
              <a:rPr lang="en-US" sz="850" dirty="0">
                <a:solidFill>
                  <a:srgbClr val="6464FF"/>
                </a:solidFill>
                <a:latin typeface="Inter" pitchFamily="34" charset="0"/>
                <a:ea typeface="Inter" pitchFamily="34" charset="-122"/>
                <a:cs typeface="Inter" pitchFamily="34" charset="-120"/>
              </a:rPr>
              <a:t>across 18,000+ assets</a:t>
            </a:r>
            <a:endParaRPr lang="en-US" sz="850" dirty="0"/>
          </a:p>
        </p:txBody>
      </p:sp>
      <p:sp>
        <p:nvSpPr>
          <p:cNvPr id="13" name="Shape 11"/>
          <p:cNvSpPr/>
          <p:nvPr/>
        </p:nvSpPr>
        <p:spPr>
          <a:xfrm>
            <a:off x="2514600" y="822960"/>
            <a:ext cx="2057400" cy="2194560"/>
          </a:xfrm>
          <a:prstGeom prst="roundRect">
            <a:avLst>
              <a:gd name="adj" fmla="val 2222"/>
            </a:avLst>
          </a:prstGeom>
          <a:solidFill>
            <a:srgbClr val="0000C8"/>
          </a:solidFill>
          <a:ln w="9525">
            <a:solidFill>
              <a:srgbClr val="0000C8"/>
            </a:solidFill>
            <a:prstDash val="solid"/>
          </a:ln>
        </p:spPr>
        <p:txBody>
          <a:bodyPr/>
          <a:lstStyle/>
          <a:p>
            <a:endParaRPr lang="en-US"/>
          </a:p>
        </p:txBody>
      </p:sp>
      <p:sp>
        <p:nvSpPr>
          <p:cNvPr id="14" name="Shape 12"/>
          <p:cNvSpPr/>
          <p:nvPr/>
        </p:nvSpPr>
        <p:spPr>
          <a:xfrm>
            <a:off x="2514600" y="822960"/>
            <a:ext cx="2057400" cy="64008"/>
          </a:xfrm>
          <a:prstGeom prst="rect">
            <a:avLst/>
          </a:prstGeom>
          <a:solidFill>
            <a:srgbClr val="0046FF"/>
          </a:solidFill>
          <a:ln w="12700">
            <a:solidFill>
              <a:srgbClr val="333333"/>
            </a:solidFill>
            <a:prstDash val="solid"/>
          </a:ln>
        </p:spPr>
        <p:txBody>
          <a:bodyPr/>
          <a:lstStyle/>
          <a:p>
            <a:endParaRPr lang="en-US"/>
          </a:p>
        </p:txBody>
      </p:sp>
      <p:sp>
        <p:nvSpPr>
          <p:cNvPr id="15" name="Text 13"/>
          <p:cNvSpPr/>
          <p:nvPr/>
        </p:nvSpPr>
        <p:spPr>
          <a:xfrm>
            <a:off x="2514600" y="1234440"/>
            <a:ext cx="2057400" cy="822960"/>
          </a:xfrm>
          <a:prstGeom prst="rect">
            <a:avLst/>
          </a:prstGeom>
          <a:noFill/>
          <a:ln/>
        </p:spPr>
        <p:txBody>
          <a:bodyPr wrap="square" lIns="0" tIns="0" rIns="0" bIns="0" rtlCol="0" anchor="t"/>
          <a:lstStyle/>
          <a:p>
            <a:pPr marL="0" indent="0" algn="ctr">
              <a:buNone/>
            </a:pPr>
            <a:r>
              <a:rPr lang="en-US" sz="3800" b="1" dirty="0">
                <a:solidFill>
                  <a:srgbClr val="FFFFFF"/>
                </a:solidFill>
                <a:latin typeface="Space Grotesk" pitchFamily="34" charset="0"/>
                <a:ea typeface="Space Grotesk" pitchFamily="34" charset="-122"/>
                <a:cs typeface="Space Grotesk" pitchFamily="34" charset="-120"/>
              </a:rPr>
              <a:t>89%</a:t>
            </a:r>
            <a:endParaRPr lang="en-US" sz="3800" dirty="0"/>
          </a:p>
        </p:txBody>
      </p:sp>
      <p:sp>
        <p:nvSpPr>
          <p:cNvPr id="16" name="Text 14"/>
          <p:cNvSpPr/>
          <p:nvPr/>
        </p:nvSpPr>
        <p:spPr>
          <a:xfrm>
            <a:off x="2606040" y="2057400"/>
            <a:ext cx="1874520" cy="365760"/>
          </a:xfrm>
          <a:prstGeom prst="rect">
            <a:avLst/>
          </a:prstGeom>
          <a:noFill/>
          <a:ln/>
        </p:spPr>
        <p:txBody>
          <a:bodyPr wrap="square" lIns="0" tIns="0" rIns="0" bIns="0" rtlCol="0" anchor="t"/>
          <a:lstStyle/>
          <a:p>
            <a:pPr marL="0" indent="0" algn="ctr">
              <a:buNone/>
            </a:pPr>
            <a:r>
              <a:rPr lang="en-US" sz="1100" b="1" dirty="0">
                <a:solidFill>
                  <a:srgbClr val="D6E4F7"/>
                </a:solidFill>
                <a:latin typeface="Inter" pitchFamily="34" charset="0"/>
                <a:ea typeface="Inter" pitchFamily="34" charset="-122"/>
                <a:cs typeface="Inter" pitchFamily="34" charset="-120"/>
              </a:rPr>
              <a:t>fewer false positives</a:t>
            </a:r>
            <a:endParaRPr lang="en-US" sz="1100" dirty="0"/>
          </a:p>
        </p:txBody>
      </p:sp>
      <p:sp>
        <p:nvSpPr>
          <p:cNvPr id="17" name="Text 15"/>
          <p:cNvSpPr/>
          <p:nvPr/>
        </p:nvSpPr>
        <p:spPr>
          <a:xfrm>
            <a:off x="2606040" y="2468880"/>
            <a:ext cx="1874520" cy="457200"/>
          </a:xfrm>
          <a:prstGeom prst="rect">
            <a:avLst/>
          </a:prstGeom>
          <a:noFill/>
          <a:ln/>
        </p:spPr>
        <p:txBody>
          <a:bodyPr wrap="square" lIns="0" tIns="0" rIns="0" bIns="0" rtlCol="0" anchor="t"/>
          <a:lstStyle/>
          <a:p>
            <a:pPr marL="0" indent="0" algn="ctr">
              <a:buNone/>
            </a:pPr>
            <a:r>
              <a:rPr lang="en-US" sz="850" dirty="0">
                <a:solidFill>
                  <a:srgbClr val="6464FF"/>
                </a:solidFill>
                <a:latin typeface="Inter" pitchFamily="34" charset="0"/>
                <a:ea typeface="Inter" pitchFamily="34" charset="-122"/>
                <a:cs typeface="Inter" pitchFamily="34" charset="-120"/>
              </a:rPr>
              <a:t>vs the prior stack</a:t>
            </a:r>
            <a:endParaRPr lang="en-US" sz="850" dirty="0"/>
          </a:p>
        </p:txBody>
      </p:sp>
      <p:sp>
        <p:nvSpPr>
          <p:cNvPr id="18" name="Shape 16"/>
          <p:cNvSpPr/>
          <p:nvPr/>
        </p:nvSpPr>
        <p:spPr>
          <a:xfrm>
            <a:off x="4709160" y="822960"/>
            <a:ext cx="2057400" cy="2194560"/>
          </a:xfrm>
          <a:prstGeom prst="roundRect">
            <a:avLst>
              <a:gd name="adj" fmla="val 2222"/>
            </a:avLst>
          </a:prstGeom>
          <a:solidFill>
            <a:srgbClr val="0000C8"/>
          </a:solidFill>
          <a:ln w="9525">
            <a:solidFill>
              <a:srgbClr val="0000C8"/>
            </a:solidFill>
            <a:prstDash val="solid"/>
          </a:ln>
        </p:spPr>
        <p:txBody>
          <a:bodyPr/>
          <a:lstStyle/>
          <a:p>
            <a:endParaRPr lang="en-US"/>
          </a:p>
        </p:txBody>
      </p:sp>
      <p:sp>
        <p:nvSpPr>
          <p:cNvPr id="19" name="Shape 17"/>
          <p:cNvSpPr/>
          <p:nvPr/>
        </p:nvSpPr>
        <p:spPr>
          <a:xfrm>
            <a:off x="4709160" y="822960"/>
            <a:ext cx="2057400" cy="64008"/>
          </a:xfrm>
          <a:prstGeom prst="rect">
            <a:avLst/>
          </a:prstGeom>
          <a:solidFill>
            <a:srgbClr val="0046FF"/>
          </a:solidFill>
          <a:ln w="12700">
            <a:solidFill>
              <a:srgbClr val="333333"/>
            </a:solidFill>
            <a:prstDash val="solid"/>
          </a:ln>
        </p:spPr>
        <p:txBody>
          <a:bodyPr/>
          <a:lstStyle/>
          <a:p>
            <a:endParaRPr lang="en-US"/>
          </a:p>
        </p:txBody>
      </p:sp>
      <p:sp>
        <p:nvSpPr>
          <p:cNvPr id="20" name="Text 18"/>
          <p:cNvSpPr/>
          <p:nvPr/>
        </p:nvSpPr>
        <p:spPr>
          <a:xfrm>
            <a:off x="4709160" y="1234440"/>
            <a:ext cx="2057400" cy="822960"/>
          </a:xfrm>
          <a:prstGeom prst="rect">
            <a:avLst/>
          </a:prstGeom>
          <a:noFill/>
          <a:ln/>
        </p:spPr>
        <p:txBody>
          <a:bodyPr wrap="square" lIns="0" tIns="0" rIns="0" bIns="0" rtlCol="0" anchor="t"/>
          <a:lstStyle/>
          <a:p>
            <a:pPr marL="0" indent="0" algn="ctr">
              <a:buNone/>
            </a:pPr>
            <a:r>
              <a:rPr lang="en-US" sz="3800" b="1" dirty="0">
                <a:solidFill>
                  <a:srgbClr val="FFFFFF"/>
                </a:solidFill>
                <a:latin typeface="Space Grotesk" pitchFamily="34" charset="0"/>
                <a:ea typeface="Space Grotesk" pitchFamily="34" charset="-122"/>
                <a:cs typeface="Space Grotesk" pitchFamily="34" charset="-120"/>
              </a:rPr>
              <a:t>91%</a:t>
            </a:r>
            <a:endParaRPr lang="en-US" sz="3800" dirty="0"/>
          </a:p>
        </p:txBody>
      </p:sp>
      <p:sp>
        <p:nvSpPr>
          <p:cNvPr id="21" name="Text 19"/>
          <p:cNvSpPr/>
          <p:nvPr/>
        </p:nvSpPr>
        <p:spPr>
          <a:xfrm>
            <a:off x="4800600" y="2057400"/>
            <a:ext cx="1874520" cy="365760"/>
          </a:xfrm>
          <a:prstGeom prst="rect">
            <a:avLst/>
          </a:prstGeom>
          <a:noFill/>
          <a:ln/>
        </p:spPr>
        <p:txBody>
          <a:bodyPr wrap="square" lIns="0" tIns="0" rIns="0" bIns="0" rtlCol="0" anchor="t"/>
          <a:lstStyle/>
          <a:p>
            <a:pPr marL="0" indent="0" algn="ctr">
              <a:buNone/>
            </a:pPr>
            <a:r>
              <a:rPr lang="en-US" sz="1100" b="1" dirty="0">
                <a:solidFill>
                  <a:srgbClr val="D6E4F7"/>
                </a:solidFill>
                <a:latin typeface="Inter" pitchFamily="34" charset="0"/>
                <a:ea typeface="Inter" pitchFamily="34" charset="-122"/>
                <a:cs typeface="Inter" pitchFamily="34" charset="-120"/>
              </a:rPr>
              <a:t>faster remediation</a:t>
            </a:r>
            <a:endParaRPr lang="en-US" sz="1100" dirty="0"/>
          </a:p>
        </p:txBody>
      </p:sp>
      <p:sp>
        <p:nvSpPr>
          <p:cNvPr id="22" name="Text 20"/>
          <p:cNvSpPr/>
          <p:nvPr/>
        </p:nvSpPr>
        <p:spPr>
          <a:xfrm>
            <a:off x="4800600" y="2468880"/>
            <a:ext cx="1874520" cy="457200"/>
          </a:xfrm>
          <a:prstGeom prst="rect">
            <a:avLst/>
          </a:prstGeom>
          <a:noFill/>
          <a:ln/>
        </p:spPr>
        <p:txBody>
          <a:bodyPr wrap="square" lIns="0" tIns="0" rIns="0" bIns="0" rtlCol="0" anchor="t"/>
          <a:lstStyle/>
          <a:p>
            <a:pPr marL="0" indent="0" algn="ctr">
              <a:buNone/>
            </a:pPr>
            <a:r>
              <a:rPr lang="en-US" sz="850" dirty="0">
                <a:solidFill>
                  <a:srgbClr val="6464FF"/>
                </a:solidFill>
                <a:latin typeface="Inter" pitchFamily="34" charset="0"/>
                <a:ea typeface="Inter" pitchFamily="34" charset="-122"/>
                <a:cs typeface="Inter" pitchFamily="34" charset="-120"/>
              </a:rPr>
              <a:t>MTTR collapse</a:t>
            </a:r>
            <a:endParaRPr lang="en-US" sz="850" dirty="0"/>
          </a:p>
        </p:txBody>
      </p:sp>
      <p:sp>
        <p:nvSpPr>
          <p:cNvPr id="23" name="Shape 21"/>
          <p:cNvSpPr/>
          <p:nvPr/>
        </p:nvSpPr>
        <p:spPr>
          <a:xfrm>
            <a:off x="6903720" y="822960"/>
            <a:ext cx="2057400" cy="2194560"/>
          </a:xfrm>
          <a:prstGeom prst="roundRect">
            <a:avLst>
              <a:gd name="adj" fmla="val 2222"/>
            </a:avLst>
          </a:prstGeom>
          <a:solidFill>
            <a:srgbClr val="0000C8"/>
          </a:solidFill>
          <a:ln w="9525">
            <a:solidFill>
              <a:srgbClr val="0000C8"/>
            </a:solidFill>
            <a:prstDash val="solid"/>
          </a:ln>
        </p:spPr>
        <p:txBody>
          <a:bodyPr/>
          <a:lstStyle/>
          <a:p>
            <a:endParaRPr lang="en-US"/>
          </a:p>
        </p:txBody>
      </p:sp>
      <p:sp>
        <p:nvSpPr>
          <p:cNvPr id="24" name="Shape 22"/>
          <p:cNvSpPr/>
          <p:nvPr/>
        </p:nvSpPr>
        <p:spPr>
          <a:xfrm>
            <a:off x="6903720" y="822960"/>
            <a:ext cx="2057400" cy="64008"/>
          </a:xfrm>
          <a:prstGeom prst="rect">
            <a:avLst/>
          </a:prstGeom>
          <a:solidFill>
            <a:srgbClr val="0046FF"/>
          </a:solidFill>
          <a:ln w="12700">
            <a:solidFill>
              <a:srgbClr val="333333"/>
            </a:solidFill>
            <a:prstDash val="solid"/>
          </a:ln>
        </p:spPr>
        <p:txBody>
          <a:bodyPr/>
          <a:lstStyle/>
          <a:p>
            <a:endParaRPr lang="en-US"/>
          </a:p>
        </p:txBody>
      </p:sp>
      <p:sp>
        <p:nvSpPr>
          <p:cNvPr id="25" name="Text 23"/>
          <p:cNvSpPr/>
          <p:nvPr/>
        </p:nvSpPr>
        <p:spPr>
          <a:xfrm>
            <a:off x="6903720" y="1234440"/>
            <a:ext cx="2057400" cy="822960"/>
          </a:xfrm>
          <a:prstGeom prst="rect">
            <a:avLst/>
          </a:prstGeom>
          <a:noFill/>
          <a:ln/>
        </p:spPr>
        <p:txBody>
          <a:bodyPr wrap="square" lIns="0" tIns="0" rIns="0" bIns="0" rtlCol="0" anchor="t"/>
          <a:lstStyle/>
          <a:p>
            <a:pPr marL="0" indent="0" algn="ctr">
              <a:buNone/>
            </a:pPr>
            <a:r>
              <a:rPr lang="en-US" sz="3800" b="1" dirty="0">
                <a:solidFill>
                  <a:srgbClr val="FFFFFF"/>
                </a:solidFill>
                <a:latin typeface="Space Grotesk" pitchFamily="34" charset="0"/>
                <a:ea typeface="Space Grotesk" pitchFamily="34" charset="-122"/>
                <a:cs typeface="Space Grotesk" pitchFamily="34" charset="-120"/>
              </a:rPr>
              <a:t>60→5</a:t>
            </a:r>
            <a:endParaRPr lang="en-US" sz="3800" dirty="0"/>
          </a:p>
        </p:txBody>
      </p:sp>
      <p:sp>
        <p:nvSpPr>
          <p:cNvPr id="26" name="Text 24"/>
          <p:cNvSpPr/>
          <p:nvPr/>
        </p:nvSpPr>
        <p:spPr>
          <a:xfrm>
            <a:off x="6995160" y="2057400"/>
            <a:ext cx="1874520" cy="365760"/>
          </a:xfrm>
          <a:prstGeom prst="rect">
            <a:avLst/>
          </a:prstGeom>
          <a:noFill/>
          <a:ln/>
        </p:spPr>
        <p:txBody>
          <a:bodyPr wrap="square" lIns="0" tIns="0" rIns="0" bIns="0" rtlCol="0" anchor="t"/>
          <a:lstStyle/>
          <a:p>
            <a:pPr marL="0" indent="0" algn="ctr">
              <a:buNone/>
            </a:pPr>
            <a:r>
              <a:rPr lang="en-US" sz="1100" b="1" dirty="0">
                <a:solidFill>
                  <a:srgbClr val="D6E4F7"/>
                </a:solidFill>
                <a:latin typeface="Inter" pitchFamily="34" charset="0"/>
                <a:ea typeface="Inter" pitchFamily="34" charset="-122"/>
                <a:cs typeface="Inter" pitchFamily="34" charset="-120"/>
              </a:rPr>
              <a:t>audit hrs / quarter</a:t>
            </a:r>
            <a:endParaRPr lang="en-US" sz="1100" dirty="0"/>
          </a:p>
        </p:txBody>
      </p:sp>
      <p:sp>
        <p:nvSpPr>
          <p:cNvPr id="27" name="Text 25"/>
          <p:cNvSpPr/>
          <p:nvPr/>
        </p:nvSpPr>
        <p:spPr>
          <a:xfrm>
            <a:off x="6995160" y="2468880"/>
            <a:ext cx="1874520" cy="457200"/>
          </a:xfrm>
          <a:prstGeom prst="rect">
            <a:avLst/>
          </a:prstGeom>
          <a:noFill/>
          <a:ln/>
        </p:spPr>
        <p:txBody>
          <a:bodyPr wrap="square" lIns="0" tIns="0" rIns="0" bIns="0" rtlCol="0" anchor="t"/>
          <a:lstStyle/>
          <a:p>
            <a:pPr marL="0" indent="0" algn="ctr">
              <a:buNone/>
            </a:pPr>
            <a:r>
              <a:rPr lang="en-US" sz="850" dirty="0">
                <a:solidFill>
                  <a:srgbClr val="6464FF"/>
                </a:solidFill>
                <a:latin typeface="Inter" pitchFamily="34" charset="0"/>
                <a:ea typeface="Inter" pitchFamily="34" charset="-122"/>
                <a:cs typeface="Inter" pitchFamily="34" charset="-120"/>
              </a:rPr>
              <a:t>financial services client</a:t>
            </a:r>
            <a:endParaRPr lang="en-US" sz="850" dirty="0"/>
          </a:p>
        </p:txBody>
      </p:sp>
      <p:sp>
        <p:nvSpPr>
          <p:cNvPr id="28" name="Shape 26"/>
          <p:cNvSpPr/>
          <p:nvPr/>
        </p:nvSpPr>
        <p:spPr>
          <a:xfrm>
            <a:off x="320040" y="3200400"/>
            <a:ext cx="2057400" cy="914400"/>
          </a:xfrm>
          <a:prstGeom prst="roundRect">
            <a:avLst>
              <a:gd name="adj" fmla="val 5000"/>
            </a:avLst>
          </a:prstGeom>
          <a:solidFill>
            <a:srgbClr val="EEF3FF"/>
          </a:solidFill>
          <a:ln w="9525">
            <a:solidFill>
              <a:srgbClr val="0046FF"/>
            </a:solidFill>
            <a:prstDash val="solid"/>
          </a:ln>
        </p:spPr>
        <p:txBody>
          <a:bodyPr/>
          <a:lstStyle/>
          <a:p>
            <a:endParaRPr lang="en-US"/>
          </a:p>
        </p:txBody>
      </p:sp>
      <p:sp>
        <p:nvSpPr>
          <p:cNvPr id="29" name="Text 27"/>
          <p:cNvSpPr/>
          <p:nvPr/>
        </p:nvSpPr>
        <p:spPr>
          <a:xfrm>
            <a:off x="320040" y="3291840"/>
            <a:ext cx="2057400" cy="502920"/>
          </a:xfrm>
          <a:prstGeom prst="rect">
            <a:avLst/>
          </a:prstGeom>
          <a:noFill/>
          <a:ln/>
        </p:spPr>
        <p:txBody>
          <a:bodyPr wrap="square" lIns="0" tIns="0" rIns="0" bIns="0" rtlCol="0" anchor="t"/>
          <a:lstStyle/>
          <a:p>
            <a:pPr marL="0" indent="0" algn="ctr">
              <a:buNone/>
            </a:pPr>
            <a:r>
              <a:rPr lang="en-US" sz="2200" b="1" dirty="0">
                <a:solidFill>
                  <a:srgbClr val="0000C8"/>
                </a:solidFill>
                <a:latin typeface="Space Grotesk" pitchFamily="34" charset="0"/>
                <a:ea typeface="Space Grotesk" pitchFamily="34" charset="-122"/>
                <a:cs typeface="Space Grotesk" pitchFamily="34" charset="-120"/>
              </a:rPr>
              <a:t>1M+</a:t>
            </a:r>
            <a:endParaRPr lang="en-US" sz="2200" dirty="0"/>
          </a:p>
        </p:txBody>
      </p:sp>
      <p:sp>
        <p:nvSpPr>
          <p:cNvPr id="30" name="Text 28"/>
          <p:cNvSpPr/>
          <p:nvPr/>
        </p:nvSpPr>
        <p:spPr>
          <a:xfrm>
            <a:off x="411480" y="3794760"/>
            <a:ext cx="1874520" cy="292608"/>
          </a:xfrm>
          <a:prstGeom prst="rect">
            <a:avLst/>
          </a:prstGeom>
          <a:noFill/>
          <a:ln/>
        </p:spPr>
        <p:txBody>
          <a:bodyPr wrap="square" lIns="0" tIns="0" rIns="0" bIns="0" rtlCol="0" anchor="t"/>
          <a:lstStyle/>
          <a:p>
            <a:pPr marL="0" indent="0" algn="ctr">
              <a:buNone/>
            </a:pPr>
            <a:r>
              <a:rPr lang="en-US" sz="900" dirty="0">
                <a:solidFill>
                  <a:srgbClr val="0D1B4B"/>
                </a:solidFill>
                <a:latin typeface="Inter" pitchFamily="34" charset="0"/>
                <a:ea typeface="Inter" pitchFamily="34" charset="-122"/>
                <a:cs typeface="Inter" pitchFamily="34" charset="-120"/>
              </a:rPr>
              <a:t>KubeArmor downloads</a:t>
            </a:r>
            <a:endParaRPr lang="en-US" sz="900" dirty="0"/>
          </a:p>
        </p:txBody>
      </p:sp>
      <p:sp>
        <p:nvSpPr>
          <p:cNvPr id="31" name="Shape 29"/>
          <p:cNvSpPr/>
          <p:nvPr/>
        </p:nvSpPr>
        <p:spPr>
          <a:xfrm>
            <a:off x="2514600" y="3200400"/>
            <a:ext cx="2057400" cy="914400"/>
          </a:xfrm>
          <a:prstGeom prst="roundRect">
            <a:avLst>
              <a:gd name="adj" fmla="val 5000"/>
            </a:avLst>
          </a:prstGeom>
          <a:solidFill>
            <a:srgbClr val="EEF3FF"/>
          </a:solidFill>
          <a:ln w="9525">
            <a:solidFill>
              <a:srgbClr val="0046FF"/>
            </a:solidFill>
            <a:prstDash val="solid"/>
          </a:ln>
        </p:spPr>
        <p:txBody>
          <a:bodyPr/>
          <a:lstStyle/>
          <a:p>
            <a:endParaRPr lang="en-US"/>
          </a:p>
        </p:txBody>
      </p:sp>
      <p:sp>
        <p:nvSpPr>
          <p:cNvPr id="32" name="Text 30"/>
          <p:cNvSpPr/>
          <p:nvPr/>
        </p:nvSpPr>
        <p:spPr>
          <a:xfrm>
            <a:off x="2514600" y="3291840"/>
            <a:ext cx="2057400" cy="502920"/>
          </a:xfrm>
          <a:prstGeom prst="rect">
            <a:avLst/>
          </a:prstGeom>
          <a:noFill/>
          <a:ln/>
        </p:spPr>
        <p:txBody>
          <a:bodyPr wrap="square" lIns="0" tIns="0" rIns="0" bIns="0" rtlCol="0" anchor="t"/>
          <a:lstStyle/>
          <a:p>
            <a:pPr marL="0" indent="0" algn="ctr">
              <a:buNone/>
            </a:pPr>
            <a:r>
              <a:rPr lang="en-US" sz="2200" b="1" dirty="0">
                <a:solidFill>
                  <a:srgbClr val="0000C8"/>
                </a:solidFill>
                <a:latin typeface="Space Grotesk" pitchFamily="34" charset="0"/>
                <a:ea typeface="Space Grotesk" pitchFamily="34" charset="-122"/>
                <a:cs typeface="Space Grotesk" pitchFamily="34" charset="-120"/>
              </a:rPr>
              <a:t>33+</a:t>
            </a:r>
            <a:endParaRPr lang="en-US" sz="2200" dirty="0"/>
          </a:p>
        </p:txBody>
      </p:sp>
      <p:sp>
        <p:nvSpPr>
          <p:cNvPr id="33" name="Text 31"/>
          <p:cNvSpPr/>
          <p:nvPr/>
        </p:nvSpPr>
        <p:spPr>
          <a:xfrm>
            <a:off x="2606040" y="3794760"/>
            <a:ext cx="1874520" cy="292608"/>
          </a:xfrm>
          <a:prstGeom prst="rect">
            <a:avLst/>
          </a:prstGeom>
          <a:noFill/>
          <a:ln/>
        </p:spPr>
        <p:txBody>
          <a:bodyPr wrap="square" lIns="0" tIns="0" rIns="0" bIns="0" rtlCol="0" anchor="t"/>
          <a:lstStyle/>
          <a:p>
            <a:pPr marL="0" indent="0" algn="ctr">
              <a:buNone/>
            </a:pPr>
            <a:r>
              <a:rPr lang="en-US" sz="900" dirty="0">
                <a:solidFill>
                  <a:srgbClr val="0D1B4B"/>
                </a:solidFill>
                <a:latin typeface="Inter" pitchFamily="34" charset="0"/>
                <a:ea typeface="Inter" pitchFamily="34" charset="-122"/>
                <a:cs typeface="Inter" pitchFamily="34" charset="-120"/>
              </a:rPr>
              <a:t>compliance frameworks</a:t>
            </a:r>
            <a:endParaRPr lang="en-US" sz="900" dirty="0"/>
          </a:p>
        </p:txBody>
      </p:sp>
      <p:sp>
        <p:nvSpPr>
          <p:cNvPr id="34" name="Shape 32"/>
          <p:cNvSpPr/>
          <p:nvPr/>
        </p:nvSpPr>
        <p:spPr>
          <a:xfrm>
            <a:off x="4709160" y="3200400"/>
            <a:ext cx="2057400" cy="914400"/>
          </a:xfrm>
          <a:prstGeom prst="roundRect">
            <a:avLst>
              <a:gd name="adj" fmla="val 5000"/>
            </a:avLst>
          </a:prstGeom>
          <a:solidFill>
            <a:srgbClr val="EEF3FF"/>
          </a:solidFill>
          <a:ln w="9525">
            <a:solidFill>
              <a:srgbClr val="0046FF"/>
            </a:solidFill>
            <a:prstDash val="solid"/>
          </a:ln>
        </p:spPr>
        <p:txBody>
          <a:bodyPr/>
          <a:lstStyle/>
          <a:p>
            <a:endParaRPr lang="en-US"/>
          </a:p>
        </p:txBody>
      </p:sp>
      <p:sp>
        <p:nvSpPr>
          <p:cNvPr id="35" name="Text 33"/>
          <p:cNvSpPr/>
          <p:nvPr/>
        </p:nvSpPr>
        <p:spPr>
          <a:xfrm>
            <a:off x="4709160" y="3291840"/>
            <a:ext cx="2057400" cy="502920"/>
          </a:xfrm>
          <a:prstGeom prst="rect">
            <a:avLst/>
          </a:prstGeom>
          <a:noFill/>
          <a:ln/>
        </p:spPr>
        <p:txBody>
          <a:bodyPr wrap="square" lIns="0" tIns="0" rIns="0" bIns="0" rtlCol="0" anchor="t"/>
          <a:lstStyle/>
          <a:p>
            <a:pPr marL="0" indent="0" algn="ctr">
              <a:buNone/>
            </a:pPr>
            <a:r>
              <a:rPr lang="en-US" sz="2200" b="1" dirty="0">
                <a:solidFill>
                  <a:srgbClr val="0000C8"/>
                </a:solidFill>
                <a:latin typeface="Space Grotesk" pitchFamily="34" charset="0"/>
                <a:ea typeface="Space Grotesk" pitchFamily="34" charset="-122"/>
                <a:cs typeface="Space Grotesk" pitchFamily="34" charset="-120"/>
              </a:rPr>
              <a:t>10+</a:t>
            </a:r>
            <a:endParaRPr lang="en-US" sz="2200" dirty="0"/>
          </a:p>
        </p:txBody>
      </p:sp>
      <p:sp>
        <p:nvSpPr>
          <p:cNvPr id="36" name="Text 34"/>
          <p:cNvSpPr/>
          <p:nvPr/>
        </p:nvSpPr>
        <p:spPr>
          <a:xfrm>
            <a:off x="4800600" y="3794760"/>
            <a:ext cx="1874520" cy="292608"/>
          </a:xfrm>
          <a:prstGeom prst="rect">
            <a:avLst/>
          </a:prstGeom>
          <a:noFill/>
          <a:ln/>
        </p:spPr>
        <p:txBody>
          <a:bodyPr wrap="square" lIns="0" tIns="0" rIns="0" bIns="0" rtlCol="0" anchor="t"/>
          <a:lstStyle/>
          <a:p>
            <a:pPr marL="0" indent="0" algn="ctr">
              <a:buNone/>
            </a:pPr>
            <a:r>
              <a:rPr lang="en-US" sz="900" dirty="0">
                <a:solidFill>
                  <a:srgbClr val="0D1B4B"/>
                </a:solidFill>
                <a:latin typeface="Inter" pitchFamily="34" charset="0"/>
                <a:ea typeface="Inter" pitchFamily="34" charset="-122"/>
                <a:cs typeface="Inter" pitchFamily="34" charset="-120"/>
              </a:rPr>
              <a:t>Zero Trust patents</a:t>
            </a:r>
            <a:endParaRPr lang="en-US" sz="900" dirty="0"/>
          </a:p>
        </p:txBody>
      </p:sp>
      <p:sp>
        <p:nvSpPr>
          <p:cNvPr id="37" name="Shape 35"/>
          <p:cNvSpPr/>
          <p:nvPr/>
        </p:nvSpPr>
        <p:spPr>
          <a:xfrm>
            <a:off x="6903720" y="3200400"/>
            <a:ext cx="2057400" cy="914400"/>
          </a:xfrm>
          <a:prstGeom prst="roundRect">
            <a:avLst>
              <a:gd name="adj" fmla="val 5000"/>
            </a:avLst>
          </a:prstGeom>
          <a:solidFill>
            <a:srgbClr val="EEF3FF"/>
          </a:solidFill>
          <a:ln w="9525">
            <a:solidFill>
              <a:srgbClr val="0046FF"/>
            </a:solidFill>
            <a:prstDash val="solid"/>
          </a:ln>
        </p:spPr>
        <p:txBody>
          <a:bodyPr/>
          <a:lstStyle/>
          <a:p>
            <a:endParaRPr lang="en-US"/>
          </a:p>
        </p:txBody>
      </p:sp>
      <p:sp>
        <p:nvSpPr>
          <p:cNvPr id="38" name="Text 36"/>
          <p:cNvSpPr/>
          <p:nvPr/>
        </p:nvSpPr>
        <p:spPr>
          <a:xfrm>
            <a:off x="6903720" y="3291840"/>
            <a:ext cx="2057400" cy="502920"/>
          </a:xfrm>
          <a:prstGeom prst="rect">
            <a:avLst/>
          </a:prstGeom>
          <a:noFill/>
          <a:ln/>
        </p:spPr>
        <p:txBody>
          <a:bodyPr wrap="square" lIns="0" tIns="0" rIns="0" bIns="0" rtlCol="0" anchor="t"/>
          <a:lstStyle/>
          <a:p>
            <a:pPr marL="0" indent="0" algn="ctr">
              <a:buNone/>
            </a:pPr>
            <a:r>
              <a:rPr lang="en-US" sz="2200" b="1" dirty="0">
                <a:solidFill>
                  <a:srgbClr val="0000C8"/>
                </a:solidFill>
                <a:latin typeface="Space Grotesk" pitchFamily="34" charset="0"/>
                <a:ea typeface="Space Grotesk" pitchFamily="34" charset="-122"/>
                <a:cs typeface="Space Grotesk" pitchFamily="34" charset="-120"/>
              </a:rPr>
              <a:t>SRI</a:t>
            </a:r>
            <a:endParaRPr lang="en-US" sz="2200" dirty="0"/>
          </a:p>
        </p:txBody>
      </p:sp>
      <p:sp>
        <p:nvSpPr>
          <p:cNvPr id="39" name="Text 37"/>
          <p:cNvSpPr/>
          <p:nvPr/>
        </p:nvSpPr>
        <p:spPr>
          <a:xfrm>
            <a:off x="6995160" y="3794760"/>
            <a:ext cx="1874520" cy="292608"/>
          </a:xfrm>
          <a:prstGeom prst="rect">
            <a:avLst/>
          </a:prstGeom>
          <a:noFill/>
          <a:ln/>
        </p:spPr>
        <p:txBody>
          <a:bodyPr wrap="square" lIns="0" tIns="0" rIns="0" bIns="0" rtlCol="0" anchor="t"/>
          <a:lstStyle/>
          <a:p>
            <a:pPr marL="0" indent="0" algn="ctr">
              <a:buNone/>
            </a:pPr>
            <a:r>
              <a:rPr lang="en-US" sz="900" dirty="0">
                <a:solidFill>
                  <a:srgbClr val="0D1B4B"/>
                </a:solidFill>
                <a:latin typeface="Inter" pitchFamily="34" charset="0"/>
                <a:ea typeface="Inter" pitchFamily="34" charset="-122"/>
                <a:cs typeface="Inter" pitchFamily="34" charset="-120"/>
              </a:rPr>
              <a:t>International incubated</a:t>
            </a:r>
            <a:endParaRPr lang="en-US" sz="900" dirty="0"/>
          </a:p>
        </p:txBody>
      </p:sp>
      <p:sp>
        <p:nvSpPr>
          <p:cNvPr id="40" name="Text 38"/>
          <p:cNvSpPr/>
          <p:nvPr/>
        </p:nvSpPr>
        <p:spPr>
          <a:xfrm>
            <a:off x="365760" y="4297680"/>
            <a:ext cx="8412480" cy="365760"/>
          </a:xfrm>
          <a:prstGeom prst="rect">
            <a:avLst/>
          </a:prstGeom>
          <a:noFill/>
          <a:ln/>
        </p:spPr>
        <p:txBody>
          <a:bodyPr wrap="square" lIns="0" tIns="0" rIns="0" bIns="0" rtlCol="0" anchor="ctr"/>
          <a:lstStyle/>
          <a:p>
            <a:pPr marL="0" indent="0" algn="ctr">
              <a:buNone/>
            </a:pPr>
            <a:r>
              <a:rPr lang="en-US" sz="1000" i="1" dirty="0">
                <a:solidFill>
                  <a:srgbClr val="44507A"/>
                </a:solidFill>
                <a:latin typeface="Inter" pitchFamily="34" charset="0"/>
                <a:ea typeface="Inter" pitchFamily="34" charset="-122"/>
                <a:cs typeface="Inter" pitchFamily="34" charset="-120"/>
              </a:rPr>
              <a:t>Real AccuKnox results. Open source at the core. Backed by NVIDIA, National Grid Partners, Dolby Family Ventures.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Price the outcome, never the noise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32</a:t>
            </a:r>
            <a:endParaRPr lang="en-US" sz="750" dirty="0"/>
          </a:p>
        </p:txBody>
      </p:sp>
      <p:sp>
        <p:nvSpPr>
          <p:cNvPr id="8" name="Shape 6"/>
          <p:cNvSpPr/>
          <p:nvPr/>
        </p:nvSpPr>
        <p:spPr>
          <a:xfrm>
            <a:off x="365760" y="777240"/>
            <a:ext cx="4114800" cy="868680"/>
          </a:xfrm>
          <a:prstGeom prst="roundRect">
            <a:avLst>
              <a:gd name="adj" fmla="val 5263"/>
            </a:avLst>
          </a:prstGeom>
          <a:solidFill>
            <a:srgbClr val="FFF0F2"/>
          </a:solidFill>
          <a:ln w="9525">
            <a:solidFill>
              <a:srgbClr val="C80019"/>
            </a:solidFill>
            <a:prstDash val="solid"/>
          </a:ln>
        </p:spPr>
        <p:txBody>
          <a:bodyPr/>
          <a:lstStyle/>
          <a:p>
            <a:endParaRPr lang="en-US"/>
          </a:p>
        </p:txBody>
      </p:sp>
      <p:sp>
        <p:nvSpPr>
          <p:cNvPr id="9" name="Text 7"/>
          <p:cNvSpPr/>
          <p:nvPr/>
        </p:nvSpPr>
        <p:spPr>
          <a:xfrm>
            <a:off x="502920" y="850392"/>
            <a:ext cx="3840480" cy="320040"/>
          </a:xfrm>
          <a:prstGeom prst="rect">
            <a:avLst/>
          </a:prstGeom>
          <a:noFill/>
          <a:ln/>
        </p:spPr>
        <p:txBody>
          <a:bodyPr wrap="square" lIns="0" tIns="0" rIns="0" bIns="0" rtlCol="0" anchor="t"/>
          <a:lstStyle/>
          <a:p>
            <a:pPr marL="0" indent="0">
              <a:buNone/>
            </a:pPr>
            <a:r>
              <a:rPr lang="en-US" sz="1200" b="1" dirty="0">
                <a:solidFill>
                  <a:srgbClr val="C80019"/>
                </a:solidFill>
                <a:latin typeface="Space Grotesk" pitchFamily="34" charset="0"/>
                <a:ea typeface="Space Grotesk" pitchFamily="34" charset="-122"/>
                <a:cs typeface="Space Grotesk" pitchFamily="34" charset="-120"/>
              </a:rPr>
              <a:t>The old way</a:t>
            </a:r>
            <a:endParaRPr lang="en-US" sz="1200" dirty="0"/>
          </a:p>
        </p:txBody>
      </p:sp>
      <p:sp>
        <p:nvSpPr>
          <p:cNvPr id="10" name="Text 8"/>
          <p:cNvSpPr/>
          <p:nvPr/>
        </p:nvSpPr>
        <p:spPr>
          <a:xfrm>
            <a:off x="502920" y="1161288"/>
            <a:ext cx="3840480" cy="45720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Per GB, per alert. Your bill grows with the exact noise you are trying to kill. SIEM TCO $1.5-4M/yr.</a:t>
            </a:r>
            <a:endParaRPr lang="en-US" sz="950" dirty="0"/>
          </a:p>
        </p:txBody>
      </p:sp>
      <p:sp>
        <p:nvSpPr>
          <p:cNvPr id="11" name="Shape 9"/>
          <p:cNvSpPr/>
          <p:nvPr/>
        </p:nvSpPr>
        <p:spPr>
          <a:xfrm>
            <a:off x="4663440" y="777240"/>
            <a:ext cx="4114800" cy="868680"/>
          </a:xfrm>
          <a:prstGeom prst="roundRect">
            <a:avLst>
              <a:gd name="adj" fmla="val 5263"/>
            </a:avLst>
          </a:prstGeom>
          <a:solidFill>
            <a:srgbClr val="EEF3FF"/>
          </a:solidFill>
          <a:ln w="9525">
            <a:solidFill>
              <a:srgbClr val="0046FF"/>
            </a:solidFill>
            <a:prstDash val="solid"/>
          </a:ln>
        </p:spPr>
        <p:txBody>
          <a:bodyPr/>
          <a:lstStyle/>
          <a:p>
            <a:endParaRPr lang="en-US"/>
          </a:p>
        </p:txBody>
      </p:sp>
      <p:sp>
        <p:nvSpPr>
          <p:cNvPr id="12" name="Text 10"/>
          <p:cNvSpPr/>
          <p:nvPr/>
        </p:nvSpPr>
        <p:spPr>
          <a:xfrm>
            <a:off x="4800600" y="850392"/>
            <a:ext cx="3840480" cy="320040"/>
          </a:xfrm>
          <a:prstGeom prst="rect">
            <a:avLst/>
          </a:prstGeom>
          <a:noFill/>
          <a:ln/>
        </p:spPr>
        <p:txBody>
          <a:bodyPr wrap="square" lIns="0" tIns="0" rIns="0" bIns="0" rtlCol="0" anchor="t"/>
          <a:lstStyle/>
          <a:p>
            <a:pPr marL="0" indent="0">
              <a:buNone/>
            </a:pPr>
            <a:r>
              <a:rPr lang="en-US" sz="1200" b="1" dirty="0">
                <a:solidFill>
                  <a:srgbClr val="0046FF"/>
                </a:solidFill>
                <a:latin typeface="Space Grotesk" pitchFamily="34" charset="0"/>
                <a:ea typeface="Space Grotesk" pitchFamily="34" charset="-122"/>
                <a:cs typeface="Space Grotesk" pitchFamily="34" charset="-120"/>
              </a:rPr>
              <a:t>The AccuKnox way</a:t>
            </a:r>
            <a:endParaRPr lang="en-US" sz="1200" dirty="0"/>
          </a:p>
        </p:txBody>
      </p:sp>
      <p:sp>
        <p:nvSpPr>
          <p:cNvPr id="13" name="Text 11"/>
          <p:cNvSpPr/>
          <p:nvPr/>
        </p:nvSpPr>
        <p:spPr>
          <a:xfrm>
            <a:off x="4800600" y="1161288"/>
            <a:ext cx="3840480" cy="457200"/>
          </a:xfrm>
          <a:prstGeom prst="rect">
            <a:avLst/>
          </a:prstGeom>
          <a:noFill/>
          <a:ln/>
        </p:spPr>
        <p:txBody>
          <a:bodyPr wrap="square" lIns="0" tIns="0" rIns="0" bIns="0" rtlCol="0" anchor="t"/>
          <a:lstStyle/>
          <a:p>
            <a:pPr marL="0" indent="0">
              <a:buNone/>
            </a:pPr>
            <a:r>
              <a:rPr lang="en-US" sz="950" dirty="0">
                <a:solidFill>
                  <a:srgbClr val="0D1B4B"/>
                </a:solidFill>
                <a:latin typeface="Inter" pitchFamily="34" charset="0"/>
                <a:ea typeface="Inter" pitchFamily="34" charset="-122"/>
                <a:cs typeface="Inter" pitchFamily="34" charset="-120"/>
              </a:rPr>
              <a:t>Priced on AI-analyst capacity (~30% of a loaded human). Flat, predictable, platform bundled.</a:t>
            </a:r>
            <a:endParaRPr lang="en-US" sz="950" dirty="0"/>
          </a:p>
        </p:txBody>
      </p:sp>
      <p:sp>
        <p:nvSpPr>
          <p:cNvPr id="14" name="Shape 12"/>
          <p:cNvSpPr/>
          <p:nvPr/>
        </p:nvSpPr>
        <p:spPr>
          <a:xfrm>
            <a:off x="365760" y="1920240"/>
            <a:ext cx="2651760" cy="2468880"/>
          </a:xfrm>
          <a:prstGeom prst="roundRect">
            <a:avLst>
              <a:gd name="adj" fmla="val 1852"/>
            </a:avLst>
          </a:prstGeom>
          <a:solidFill>
            <a:srgbClr val="FFFFFF"/>
          </a:solidFill>
          <a:ln w="9525">
            <a:solidFill>
              <a:srgbClr val="DDDDEE"/>
            </a:solidFill>
            <a:prstDash val="solid"/>
          </a:ln>
        </p:spPr>
        <p:txBody>
          <a:bodyPr/>
          <a:lstStyle/>
          <a:p>
            <a:endParaRPr lang="en-US"/>
          </a:p>
        </p:txBody>
      </p:sp>
      <p:sp>
        <p:nvSpPr>
          <p:cNvPr id="15" name="Shape 13"/>
          <p:cNvSpPr/>
          <p:nvPr/>
        </p:nvSpPr>
        <p:spPr>
          <a:xfrm>
            <a:off x="365760" y="1920240"/>
            <a:ext cx="2651760" cy="45720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365760" y="192024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STARTER</a:t>
            </a:r>
            <a:endParaRPr lang="en-US" sz="1400" dirty="0"/>
          </a:p>
        </p:txBody>
      </p:sp>
      <p:sp>
        <p:nvSpPr>
          <p:cNvPr id="17" name="Text 15"/>
          <p:cNvSpPr/>
          <p:nvPr/>
        </p:nvSpPr>
        <p:spPr>
          <a:xfrm>
            <a:off x="548640" y="2514600"/>
            <a:ext cx="2286000" cy="1371600"/>
          </a:xfrm>
          <a:prstGeom prst="rect">
            <a:avLst/>
          </a:prstGeom>
          <a:noFill/>
          <a:ln/>
        </p:spPr>
        <p:txBody>
          <a:bodyPr wrap="square" lIns="0" tIns="0" rIns="0" bIns="0" rtlCol="0" anchor="t"/>
          <a:lstStyle/>
          <a:p>
            <a:pPr marL="0" indent="0" algn="ctr">
              <a:buNone/>
            </a:pPr>
            <a:r>
              <a:rPr lang="en-US" sz="930" dirty="0">
                <a:solidFill>
                  <a:srgbClr val="0D1B4B"/>
                </a:solidFill>
                <a:latin typeface="Inter" pitchFamily="34" charset="0"/>
                <a:ea typeface="Inter" pitchFamily="34" charset="-122"/>
                <a:cs typeface="Inter" pitchFamily="34" charset="-120"/>
              </a:rPr>
              <a:t>AI-assisted triage + investigation. 1 analyst unit (~2k investigations). Full data layer, 10 GB/day ingest.</a:t>
            </a:r>
            <a:endParaRPr lang="en-US" sz="930" dirty="0"/>
          </a:p>
        </p:txBody>
      </p:sp>
      <p:sp>
        <p:nvSpPr>
          <p:cNvPr id="18" name="Text 16"/>
          <p:cNvSpPr/>
          <p:nvPr/>
        </p:nvSpPr>
        <p:spPr>
          <a:xfrm>
            <a:off x="457200" y="3886200"/>
            <a:ext cx="2468880" cy="411480"/>
          </a:xfrm>
          <a:prstGeom prst="rect">
            <a:avLst/>
          </a:prstGeom>
          <a:noFill/>
          <a:ln/>
        </p:spPr>
        <p:txBody>
          <a:bodyPr wrap="square" lIns="0" tIns="0" rIns="0" bIns="0" rtlCol="0" anchor="t"/>
          <a:lstStyle/>
          <a:p>
            <a:pPr marL="0" indent="0" algn="ctr">
              <a:buNone/>
            </a:pPr>
            <a:r>
              <a:rPr lang="en-US" sz="1500" b="1" dirty="0">
                <a:solidFill>
                  <a:srgbClr val="0000C8"/>
                </a:solidFill>
                <a:latin typeface="Space Grotesk" pitchFamily="34" charset="0"/>
                <a:ea typeface="Space Grotesk" pitchFamily="34" charset="-122"/>
                <a:cs typeface="Space Grotesk" pitchFamily="34" charset="-120"/>
              </a:rPr>
              <a:t>$30-45k / yr</a:t>
            </a:r>
            <a:endParaRPr lang="en-US" sz="1500" dirty="0"/>
          </a:p>
        </p:txBody>
      </p:sp>
      <p:sp>
        <p:nvSpPr>
          <p:cNvPr id="19" name="Shape 17"/>
          <p:cNvSpPr/>
          <p:nvPr/>
        </p:nvSpPr>
        <p:spPr>
          <a:xfrm>
            <a:off x="3200400" y="1920240"/>
            <a:ext cx="2651760" cy="2468880"/>
          </a:xfrm>
          <a:prstGeom prst="roundRect">
            <a:avLst>
              <a:gd name="adj" fmla="val 1852"/>
            </a:avLst>
          </a:prstGeom>
          <a:solidFill>
            <a:srgbClr val="0000C8"/>
          </a:solidFill>
          <a:ln w="9525">
            <a:solidFill>
              <a:srgbClr val="0000C8"/>
            </a:solidFill>
            <a:prstDash val="solid"/>
          </a:ln>
        </p:spPr>
        <p:txBody>
          <a:bodyPr/>
          <a:lstStyle/>
          <a:p>
            <a:endParaRPr lang="en-US"/>
          </a:p>
        </p:txBody>
      </p:sp>
      <p:sp>
        <p:nvSpPr>
          <p:cNvPr id="20" name="Shape 18"/>
          <p:cNvSpPr/>
          <p:nvPr/>
        </p:nvSpPr>
        <p:spPr>
          <a:xfrm>
            <a:off x="3200400" y="1920240"/>
            <a:ext cx="2651760" cy="457200"/>
          </a:xfrm>
          <a:prstGeom prst="rect">
            <a:avLst/>
          </a:prstGeom>
          <a:solidFill>
            <a:srgbClr val="0046FF"/>
          </a:solidFill>
          <a:ln w="12700">
            <a:solidFill>
              <a:srgbClr val="333333"/>
            </a:solidFill>
            <a:prstDash val="solid"/>
          </a:ln>
        </p:spPr>
        <p:txBody>
          <a:bodyPr/>
          <a:lstStyle/>
          <a:p>
            <a:endParaRPr lang="en-US"/>
          </a:p>
        </p:txBody>
      </p:sp>
      <p:sp>
        <p:nvSpPr>
          <p:cNvPr id="21" name="Text 19"/>
          <p:cNvSpPr/>
          <p:nvPr/>
        </p:nvSpPr>
        <p:spPr>
          <a:xfrm>
            <a:off x="3200400" y="192024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PROFESSIONAL</a:t>
            </a:r>
            <a:endParaRPr lang="en-US" sz="1400" dirty="0"/>
          </a:p>
        </p:txBody>
      </p:sp>
      <p:sp>
        <p:nvSpPr>
          <p:cNvPr id="22" name="Text 20"/>
          <p:cNvSpPr/>
          <p:nvPr/>
        </p:nvSpPr>
        <p:spPr>
          <a:xfrm>
            <a:off x="3383280" y="2514600"/>
            <a:ext cx="2286000" cy="1371600"/>
          </a:xfrm>
          <a:prstGeom prst="rect">
            <a:avLst/>
          </a:prstGeom>
          <a:noFill/>
          <a:ln/>
        </p:spPr>
        <p:txBody>
          <a:bodyPr wrap="square" lIns="0" tIns="0" rIns="0" bIns="0" rtlCol="0" anchor="t"/>
          <a:lstStyle/>
          <a:p>
            <a:pPr marL="0" indent="0" algn="ctr">
              <a:buNone/>
            </a:pPr>
            <a:r>
              <a:rPr lang="en-US" sz="930" dirty="0">
                <a:solidFill>
                  <a:srgbClr val="D6E4F7"/>
                </a:solidFill>
                <a:latin typeface="Inter" pitchFamily="34" charset="0"/>
                <a:ea typeface="Inter" pitchFamily="34" charset="-122"/>
                <a:cs typeface="Inter" pitchFamily="34" charset="-120"/>
              </a:rPr>
              <a:t>Autonomous triage + RUNTIME ENFORCEMENT on covered workloads. Orchestrated response, detection-as-code, compliance.</a:t>
            </a:r>
            <a:endParaRPr lang="en-US" sz="930" dirty="0"/>
          </a:p>
        </p:txBody>
      </p:sp>
      <p:sp>
        <p:nvSpPr>
          <p:cNvPr id="23" name="Text 21"/>
          <p:cNvSpPr/>
          <p:nvPr/>
        </p:nvSpPr>
        <p:spPr>
          <a:xfrm>
            <a:off x="3291840" y="3886200"/>
            <a:ext cx="2468880" cy="411480"/>
          </a:xfrm>
          <a:prstGeom prst="rect">
            <a:avLst/>
          </a:prstGeom>
          <a:noFill/>
          <a:ln/>
        </p:spPr>
        <p:txBody>
          <a:bodyPr wrap="square" lIns="0" tIns="0" rIns="0" bIns="0" rtlCol="0" anchor="t"/>
          <a:lstStyle/>
          <a:p>
            <a:pPr marL="0" indent="0" algn="ctr">
              <a:buNone/>
            </a:pPr>
            <a:r>
              <a:rPr lang="en-US" sz="1500" b="1" dirty="0">
                <a:solidFill>
                  <a:srgbClr val="FFFFFF"/>
                </a:solidFill>
                <a:latin typeface="Space Grotesk" pitchFamily="34" charset="0"/>
                <a:ea typeface="Space Grotesk" pitchFamily="34" charset="-122"/>
                <a:cs typeface="Space Grotesk" pitchFamily="34" charset="-120"/>
              </a:rPr>
              <a:t>$90-180k / yr</a:t>
            </a:r>
            <a:endParaRPr lang="en-US" sz="1500" dirty="0"/>
          </a:p>
        </p:txBody>
      </p:sp>
      <p:sp>
        <p:nvSpPr>
          <p:cNvPr id="24" name="Text 22"/>
          <p:cNvSpPr/>
          <p:nvPr/>
        </p:nvSpPr>
        <p:spPr>
          <a:xfrm>
            <a:off x="3200400" y="1691640"/>
            <a:ext cx="2651760" cy="228600"/>
          </a:xfrm>
          <a:prstGeom prst="rect">
            <a:avLst/>
          </a:prstGeom>
          <a:noFill/>
          <a:ln/>
        </p:spPr>
        <p:txBody>
          <a:bodyPr wrap="square" lIns="0" tIns="0" rIns="0" bIns="0" rtlCol="0" anchor="t"/>
          <a:lstStyle/>
          <a:p>
            <a:pPr marL="0" indent="0" algn="ctr">
              <a:buNone/>
            </a:pPr>
            <a:r>
              <a:rPr lang="en-US" sz="850" b="1" dirty="0">
                <a:solidFill>
                  <a:srgbClr val="0046FF"/>
                </a:solidFill>
                <a:latin typeface="Inter" pitchFamily="34" charset="0"/>
                <a:ea typeface="Inter" pitchFamily="34" charset="-122"/>
                <a:cs typeface="Inter" pitchFamily="34" charset="-120"/>
              </a:rPr>
              <a:t>MOST POPULAR</a:t>
            </a:r>
            <a:endParaRPr lang="en-US" sz="850" dirty="0"/>
          </a:p>
        </p:txBody>
      </p:sp>
      <p:sp>
        <p:nvSpPr>
          <p:cNvPr id="25" name="Shape 23"/>
          <p:cNvSpPr/>
          <p:nvPr/>
        </p:nvSpPr>
        <p:spPr>
          <a:xfrm>
            <a:off x="6035040" y="1920240"/>
            <a:ext cx="2651760" cy="2468880"/>
          </a:xfrm>
          <a:prstGeom prst="roundRect">
            <a:avLst>
              <a:gd name="adj" fmla="val 1852"/>
            </a:avLst>
          </a:prstGeom>
          <a:solidFill>
            <a:srgbClr val="FFFFFF"/>
          </a:solidFill>
          <a:ln w="9525">
            <a:solidFill>
              <a:srgbClr val="DDDDEE"/>
            </a:solidFill>
            <a:prstDash val="solid"/>
          </a:ln>
        </p:spPr>
        <p:txBody>
          <a:bodyPr/>
          <a:lstStyle/>
          <a:p>
            <a:endParaRPr lang="en-US"/>
          </a:p>
        </p:txBody>
      </p:sp>
      <p:sp>
        <p:nvSpPr>
          <p:cNvPr id="26" name="Shape 24"/>
          <p:cNvSpPr/>
          <p:nvPr/>
        </p:nvSpPr>
        <p:spPr>
          <a:xfrm>
            <a:off x="6035040" y="1920240"/>
            <a:ext cx="2651760" cy="457200"/>
          </a:xfrm>
          <a:prstGeom prst="rect">
            <a:avLst/>
          </a:prstGeom>
          <a:solidFill>
            <a:srgbClr val="0000C8"/>
          </a:solidFill>
          <a:ln w="12700">
            <a:solidFill>
              <a:srgbClr val="333333"/>
            </a:solidFill>
            <a:prstDash val="solid"/>
          </a:ln>
        </p:spPr>
        <p:txBody>
          <a:bodyPr/>
          <a:lstStyle/>
          <a:p>
            <a:endParaRPr lang="en-US"/>
          </a:p>
        </p:txBody>
      </p:sp>
      <p:sp>
        <p:nvSpPr>
          <p:cNvPr id="27" name="Text 25"/>
          <p:cNvSpPr/>
          <p:nvPr/>
        </p:nvSpPr>
        <p:spPr>
          <a:xfrm>
            <a:off x="6035040" y="192024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Space Grotesk" pitchFamily="34" charset="0"/>
                <a:ea typeface="Space Grotesk" pitchFamily="34" charset="-122"/>
                <a:cs typeface="Space Grotesk" pitchFamily="34" charset="-120"/>
              </a:rPr>
              <a:t>ENTERPRISE</a:t>
            </a:r>
            <a:endParaRPr lang="en-US" sz="1400" dirty="0"/>
          </a:p>
        </p:txBody>
      </p:sp>
      <p:sp>
        <p:nvSpPr>
          <p:cNvPr id="28" name="Text 26"/>
          <p:cNvSpPr/>
          <p:nvPr/>
        </p:nvSpPr>
        <p:spPr>
          <a:xfrm>
            <a:off x="6217920" y="2514600"/>
            <a:ext cx="2286000" cy="1371600"/>
          </a:xfrm>
          <a:prstGeom prst="rect">
            <a:avLst/>
          </a:prstGeom>
          <a:noFill/>
          <a:ln/>
        </p:spPr>
        <p:txBody>
          <a:bodyPr wrap="square" lIns="0" tIns="0" rIns="0" bIns="0" rtlCol="0" anchor="t"/>
          <a:lstStyle/>
          <a:p>
            <a:pPr marL="0" indent="0" algn="ctr">
              <a:buNone/>
            </a:pPr>
            <a:r>
              <a:rPr lang="en-US" sz="930" dirty="0">
                <a:solidFill>
                  <a:srgbClr val="0D1B4B"/>
                </a:solidFill>
                <a:latin typeface="Inter" pitchFamily="34" charset="0"/>
                <a:ea typeface="Inter" pitchFamily="34" charset="-122"/>
                <a:cs typeface="Inter" pitchFamily="34" charset="-120"/>
              </a:rPr>
              <a:t>Full autonomy, agent security suite, air-gap, BYO-model, custom capacity, MSSP multi-tenant.</a:t>
            </a:r>
            <a:endParaRPr lang="en-US" sz="930" dirty="0"/>
          </a:p>
        </p:txBody>
      </p:sp>
      <p:sp>
        <p:nvSpPr>
          <p:cNvPr id="29" name="Text 27"/>
          <p:cNvSpPr/>
          <p:nvPr/>
        </p:nvSpPr>
        <p:spPr>
          <a:xfrm>
            <a:off x="6126480" y="3886200"/>
            <a:ext cx="2468880" cy="411480"/>
          </a:xfrm>
          <a:prstGeom prst="rect">
            <a:avLst/>
          </a:prstGeom>
          <a:noFill/>
          <a:ln/>
        </p:spPr>
        <p:txBody>
          <a:bodyPr wrap="square" lIns="0" tIns="0" rIns="0" bIns="0" rtlCol="0" anchor="t"/>
          <a:lstStyle/>
          <a:p>
            <a:pPr marL="0" indent="0" algn="ctr">
              <a:buNone/>
            </a:pPr>
            <a:r>
              <a:rPr lang="en-US" sz="1500" b="1" dirty="0">
                <a:solidFill>
                  <a:srgbClr val="0000C8"/>
                </a:solidFill>
                <a:latin typeface="Space Grotesk" pitchFamily="34" charset="0"/>
                <a:ea typeface="Space Grotesk" pitchFamily="34" charset="-122"/>
                <a:cs typeface="Space Grotesk" pitchFamily="34" charset="-120"/>
              </a:rPr>
              <a:t>Custom</a:t>
            </a:r>
            <a:endParaRPr lang="en-US" sz="1500" dirty="0"/>
          </a:p>
        </p:txBody>
      </p:sp>
      <p:sp>
        <p:nvSpPr>
          <p:cNvPr id="30" name="Text 28"/>
          <p:cNvSpPr/>
          <p:nvPr/>
        </p:nvSpPr>
        <p:spPr>
          <a:xfrm>
            <a:off x="365760" y="4526280"/>
            <a:ext cx="8412480" cy="320040"/>
          </a:xfrm>
          <a:prstGeom prst="rect">
            <a:avLst/>
          </a:prstGeom>
          <a:noFill/>
          <a:ln/>
        </p:spPr>
        <p:txBody>
          <a:bodyPr wrap="square" lIns="0" tIns="0" rIns="0" bIns="0" rtlCol="0" anchor="t"/>
          <a:lstStyle/>
          <a:p>
            <a:pPr marL="0" indent="0" algn="ctr">
              <a:buNone/>
            </a:pPr>
            <a:r>
              <a:rPr lang="en-US" sz="900" i="1" dirty="0">
                <a:solidFill>
                  <a:srgbClr val="44507A"/>
                </a:solidFill>
                <a:latin typeface="Inter" pitchFamily="34" charset="0"/>
                <a:ea typeface="Inter" pitchFamily="34" charset="-122"/>
                <a:cs typeface="Inter" pitchFamily="34" charset="-120"/>
              </a:rPr>
              <a:t>Price the outcome (analyst capacity replaced), bundle the platform, never bill the noise. Anchors directional, pending Finance.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46FF"/>
        </a:solidFill>
        <a:effectLst/>
      </p:bgPr>
    </p:bg>
    <p:spTree>
      <p:nvGrpSpPr>
        <p:cNvPr id="1" name=""/>
        <p:cNvGrpSpPr/>
        <p:nvPr/>
      </p:nvGrpSpPr>
      <p:grpSpPr>
        <a:xfrm>
          <a:off x="0" y="0"/>
          <a:ext cx="0" cy="0"/>
          <a:chOff x="0" y="0"/>
          <a:chExt cx="0" cy="0"/>
        </a:xfrm>
      </p:grpSpPr>
      <p:sp>
        <p:nvSpPr>
          <p:cNvPr id="2" name="Shape 0"/>
          <p:cNvSpPr/>
          <p:nvPr/>
        </p:nvSpPr>
        <p:spPr>
          <a:xfrm>
            <a:off x="-822960" y="2743200"/>
            <a:ext cx="3474720" cy="3474720"/>
          </a:xfrm>
          <a:prstGeom prst="ellipse">
            <a:avLst/>
          </a:prstGeom>
          <a:solidFill>
            <a:srgbClr val="0000C8">
              <a:alpha val="35000"/>
            </a:srgbClr>
          </a:solidFill>
          <a:ln w="12700">
            <a:solidFill>
              <a:srgbClr val="333333"/>
            </a:solidFill>
            <a:prstDash val="solid"/>
          </a:ln>
        </p:spPr>
        <p:txBody>
          <a:bodyPr/>
          <a:lstStyle/>
          <a:p>
            <a:endParaRPr lang="en-US"/>
          </a:p>
        </p:txBody>
      </p:sp>
      <p:sp>
        <p:nvSpPr>
          <p:cNvPr id="3" name="Shape 1"/>
          <p:cNvSpPr/>
          <p:nvPr/>
        </p:nvSpPr>
        <p:spPr>
          <a:xfrm>
            <a:off x="7040880" y="-640080"/>
            <a:ext cx="2926080" cy="2926080"/>
          </a:xfrm>
          <a:prstGeom prst="ellipse">
            <a:avLst/>
          </a:prstGeom>
          <a:solidFill>
            <a:srgbClr val="3366FF">
              <a:alpha val="30000"/>
            </a:srgbClr>
          </a:solidFill>
          <a:ln w="12700">
            <a:solidFill>
              <a:srgbClr val="333333"/>
            </a:solidFill>
            <a:prstDash val="solid"/>
          </a:ln>
        </p:spPr>
        <p:txBody>
          <a:bodyPr/>
          <a:lstStyle/>
          <a:p>
            <a:endParaRPr lang="en-US"/>
          </a:p>
        </p:txBody>
      </p:sp>
      <p:sp>
        <p:nvSpPr>
          <p:cNvPr id="4" name="Shape 2"/>
          <p:cNvSpPr/>
          <p:nvPr/>
        </p:nvSpPr>
        <p:spPr>
          <a:xfrm>
            <a:off x="7589520" y="3291840"/>
            <a:ext cx="1645920" cy="1645920"/>
          </a:xfrm>
          <a:prstGeom prst="ellipse">
            <a:avLst/>
          </a:prstGeom>
          <a:solidFill>
            <a:srgbClr val="0000C8">
              <a:alpha val="40000"/>
            </a:srgbClr>
          </a:solidFill>
          <a:ln w="12700">
            <a:solidFill>
              <a:srgbClr val="333333"/>
            </a:solidFill>
            <a:prstDash val="solid"/>
          </a:ln>
        </p:spPr>
        <p:txBody>
          <a:bodyPr/>
          <a:lstStyle/>
          <a:p>
            <a:endParaRPr lang="en-US"/>
          </a:p>
        </p:txBody>
      </p:sp>
      <p:sp>
        <p:nvSpPr>
          <p:cNvPr id="5" name="Text 3"/>
          <p:cNvSpPr/>
          <p:nvPr/>
        </p:nvSpPr>
        <p:spPr>
          <a:xfrm>
            <a:off x="914400" y="1188720"/>
            <a:ext cx="7315200" cy="457200"/>
          </a:xfrm>
          <a:prstGeom prst="rect">
            <a:avLst/>
          </a:prstGeom>
          <a:noFill/>
          <a:ln/>
        </p:spPr>
        <p:txBody>
          <a:bodyPr wrap="square" lIns="0" tIns="0" rIns="0" bIns="0" rtlCol="0" anchor="ctr"/>
          <a:lstStyle/>
          <a:p>
            <a:pPr marL="0" indent="0" algn="ctr">
              <a:buNone/>
            </a:pPr>
            <a:r>
              <a:rPr lang="en-US" sz="1600" b="1" dirty="0">
                <a:solidFill>
                  <a:srgbClr val="6464FF"/>
                </a:solidFill>
                <a:latin typeface="Space Grotesk" pitchFamily="34" charset="0"/>
                <a:ea typeface="Space Grotesk" pitchFamily="34" charset="-122"/>
                <a:cs typeface="Space Grotesk" pitchFamily="34" charset="-120"/>
              </a:rPr>
              <a:t>10</a:t>
            </a:r>
            <a:endParaRPr lang="en-US" sz="1600" dirty="0"/>
          </a:p>
        </p:txBody>
      </p:sp>
      <p:sp>
        <p:nvSpPr>
          <p:cNvPr id="6" name="Text 4"/>
          <p:cNvSpPr/>
          <p:nvPr/>
        </p:nvSpPr>
        <p:spPr>
          <a:xfrm>
            <a:off x="640080" y="1645920"/>
            <a:ext cx="78638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Space Grotesk" pitchFamily="34" charset="0"/>
                <a:ea typeface="Space Grotesk" pitchFamily="34" charset="-122"/>
                <a:cs typeface="Space Grotesk" pitchFamily="34" charset="-120"/>
              </a:rPr>
              <a:t>Inside the AccuKnox AI-SOC Console</a:t>
            </a:r>
            <a:endParaRPr lang="en-US" sz="3600" dirty="0"/>
          </a:p>
        </p:txBody>
      </p:sp>
      <p:sp>
        <p:nvSpPr>
          <p:cNvPr id="7" name="Text 5"/>
          <p:cNvSpPr/>
          <p:nvPr/>
        </p:nvSpPr>
        <p:spPr>
          <a:xfrm>
            <a:off x="1097280" y="2697480"/>
            <a:ext cx="6949440" cy="548640"/>
          </a:xfrm>
          <a:prstGeom prst="rect">
            <a:avLst/>
          </a:prstGeom>
          <a:noFill/>
          <a:ln/>
        </p:spPr>
        <p:txBody>
          <a:bodyPr wrap="square" lIns="0" tIns="0" rIns="0" bIns="0" rtlCol="0" anchor="ctr"/>
          <a:lstStyle/>
          <a:p>
            <a:pPr marL="0" indent="0" algn="ctr">
              <a:buNone/>
            </a:pPr>
            <a:r>
              <a:rPr lang="en-US" sz="1400" i="1" dirty="0">
                <a:solidFill>
                  <a:srgbClr val="D6E4F7"/>
                </a:solidFill>
                <a:latin typeface="Inter" pitchFamily="34" charset="0"/>
                <a:ea typeface="Inter" pitchFamily="34" charset="-122"/>
                <a:cs typeface="Inter" pitchFamily="34" charset="-120"/>
              </a:rPr>
              <a:t>Drop screenshots into the placeholders. Captions are pre-written.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Building your context graph</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34</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A  ·  SCREEN 4</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signature onboarding moment. A graph assembles in real time from runtime + identity + cloud + your existing tools. Memories created counter. Built within hours, not months. The wow that earns trust.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Command Center</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35</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B  ·  SCREEN 6</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Daily landing. Three metric tiles up top — including the one no competitor has: blocked at kernel today. A short priority list of cases needing judgment. A live agent activity feed on the right.</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Triage queue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36</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B  ·  SCREEN 8</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2,000+ alerts in, mostly auto-closed. A thin band escalated. Verdict, confidence, and status visible per row. The story is volume handled.</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Cases board (Kanban)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37</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B  ·  SCREEN 9</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Active investigations as cards across columns: New, Investigating, Awaiting approval, Contained, Closed. Cards in containment carry a kernel-policy badge.</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Case detail and verdict</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38</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10</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single case workspace. Verdict card with the conclusion and confidence. Tabs for Story, Evidence, Entities, Reasoning, Response. Chat copilot in the right drawer.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Attack chain timeline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39</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11</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differentiating screen. Initial access → C2 → execution as red nodes. A kernel-block wall mid-chain. Everything after, grayed out and stamped prevented. No competitor can render this.</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Reasoning panel (glass box)</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40</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12</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Show your work. Each reasoning step shows the question asked, the source queried, the actual query, the result, and how it changed the conclusion. Transparent by default, auditor friendly.</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Entity and identity graph</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41</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14</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Force-directed graph of identities, assets, resources, and actions. Anomalous nodes ringed in red. Crown-jewel paths highlighted. The visual face of the context graph.</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Blast radius view</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42</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15</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Radial view centered on the compromised asset. Rings show reachable assets and sensitive data in range. Reuses the CNAPP graph AccuKnox already maintains.</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Natural language investigation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43</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C  ·  SCREEN 16</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persistent copilot. The analyst types a question, the agent answers with linked evidence and source attribution. Cursor for the SOC. Citations clickable, no tool-switching.</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Response plan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44</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D  ·  SCREEN 21</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Steps with execution mode toggles (manual / one-click / autonomous). Orchestrated actions in blue. Kernel-enforcement actions in the heavier accent. Two action types, visibly distinct.</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Enforcement policy view</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45</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D  ·  SCREEN 24</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differentiator screen. The eBPF/KubeArmor policy generated from the investigation, as versioned YAML. Plain-language summary of what it blocks. Dry-run vs enforce toggle. Policy as code.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Runtime block timeline</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46</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D  ·  SCREEN 25</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signature screen. A live feed of malicious actions blocked at the kernel. Each entry pulses, the counter ticks. Every block traceable to the investigation that authorized the policy. This is the product's emotional payoff.</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Policy simulation / dry run</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47</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D  ·  SCREEN 26</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Test an enforcement policy against real traffic before enforcing. Shows what it would have blocked and any legitimate activity it would have caught. Safe by default.</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Detection as code editor</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48</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E  ·  SCREEN 29</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Author, tune, and version detections as code. Test against historical data. Sigma export. Diff view for suggested tunings.</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MITRE ATT&amp;CK coverage matrix</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49</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E  ·  SCREEN 30</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Tactics × techniques colored by coverage. Click a gap, the agent drafts a detection to close it.</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Agent fleet overview</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50</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F  ·  SCREEN 34</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Every AI-SOC agent as a roster card. Function, activity, autonomy level, sandbox status. ClawArmor + the specialists. The team is software.</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00C8"/>
          </a:solidFill>
          <a:ln w="12700">
            <a:solidFill>
              <a:srgbClr val="333333"/>
            </a:solidFill>
            <a:prstDash val="solid"/>
          </a:ln>
        </p:spPr>
        <p:txBody>
          <a:bodyPr/>
          <a:lstStyle/>
          <a:p>
            <a:endParaRPr lang="en-US"/>
          </a:p>
        </p:txBody>
      </p:sp>
      <p:sp>
        <p:nvSpPr>
          <p:cNvPr id="3" name="Text 1"/>
          <p:cNvSpPr/>
          <p:nvPr/>
        </p:nvSpPr>
        <p:spPr>
          <a:xfrm>
            <a:off x="365760" y="0"/>
            <a:ext cx="7315200" cy="457200"/>
          </a:xfrm>
          <a:prstGeom prst="rect">
            <a:avLst/>
          </a:prstGeom>
          <a:noFill/>
          <a:ln/>
        </p:spPr>
        <p:txBody>
          <a:bodyPr wrap="square" lIns="0" tIns="0" rIns="0" bIns="0" rtlCol="0" anchor="ctr"/>
          <a:lstStyle/>
          <a:p>
            <a:pPr marL="0" indent="0">
              <a:buNone/>
            </a:pPr>
            <a:r>
              <a:rPr lang="en-US" sz="1900" b="1" dirty="0">
                <a:solidFill>
                  <a:srgbClr val="FFFFFF"/>
                </a:solidFill>
                <a:latin typeface="Space Grotesk" pitchFamily="34" charset="0"/>
                <a:ea typeface="Space Grotesk" pitchFamily="34" charset="-122"/>
                <a:cs typeface="Space Grotesk" pitchFamily="34" charset="-120"/>
              </a:rPr>
              <a:t>UI/UX  ·  Agent sandbox monitor</a:t>
            </a:r>
            <a:endParaRPr lang="en-US" sz="1900" dirty="0"/>
          </a:p>
        </p:txBody>
      </p:sp>
      <p:sp>
        <p:nvSpPr>
          <p:cNvPr id="4" name="Text 2"/>
          <p:cNvSpPr/>
          <p:nvPr/>
        </p:nvSpPr>
        <p:spPr>
          <a:xfrm>
            <a:off x="7406640" y="0"/>
            <a:ext cx="1508760" cy="457200"/>
          </a:xfrm>
          <a:prstGeom prst="rect">
            <a:avLst/>
          </a:prstGeom>
          <a:noFill/>
          <a:ln/>
        </p:spPr>
        <p:txBody>
          <a:bodyPr wrap="square" lIns="0" tIns="0" rIns="0" bIns="0" rtlCol="0" anchor="ctr"/>
          <a:lstStyle/>
          <a:p>
            <a:pPr marL="0" indent="0" algn="r">
              <a:buNone/>
            </a:pPr>
            <a:r>
              <a:rPr lang="en-US" sz="1200" b="1" dirty="0">
                <a:solidFill>
                  <a:srgbClr val="FFFFFF"/>
                </a:solidFill>
                <a:latin typeface="Space Grotesk" pitchFamily="34" charset="0"/>
                <a:ea typeface="Space Grotesk" pitchFamily="34" charset="-122"/>
                <a:cs typeface="Space Grotesk" pitchFamily="34" charset="-120"/>
              </a:rPr>
              <a:t>⬡ AccuKnox</a:t>
            </a:r>
            <a:endParaRPr lang="en-US" sz="1200" dirty="0"/>
          </a:p>
        </p:txBody>
      </p:sp>
      <p:sp>
        <p:nvSpPr>
          <p:cNvPr id="5" name="Shape 3"/>
          <p:cNvSpPr/>
          <p:nvPr/>
        </p:nvSpPr>
        <p:spPr>
          <a:xfrm>
            <a:off x="0" y="4937760"/>
            <a:ext cx="9144000" cy="205740"/>
          </a:xfrm>
          <a:prstGeom prst="rect">
            <a:avLst/>
          </a:prstGeom>
          <a:solidFill>
            <a:srgbClr val="0000C8"/>
          </a:solidFill>
          <a:ln w="12700">
            <a:solidFill>
              <a:srgbClr val="333333"/>
            </a:solidFill>
            <a:prstDash val="solid"/>
          </a:ln>
        </p:spPr>
        <p:txBody>
          <a:bodyPr/>
          <a:lstStyle/>
          <a:p>
            <a:endParaRPr lang="en-US"/>
          </a:p>
        </p:txBody>
      </p:sp>
      <p:sp>
        <p:nvSpPr>
          <p:cNvPr id="6" name="Text 4"/>
          <p:cNvSpPr/>
          <p:nvPr/>
        </p:nvSpPr>
        <p:spPr>
          <a:xfrm>
            <a:off x="365760" y="4937760"/>
            <a:ext cx="7772400" cy="20574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AccuKnox  |  Secure Code to Cognition™  |  accuknox.com</a:t>
            </a:r>
            <a:endParaRPr lang="en-US" sz="75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marL="0" indent="0" algn="r">
              <a:buNone/>
            </a:pPr>
            <a:r>
              <a:rPr lang="en-US" sz="750" dirty="0">
                <a:solidFill>
                  <a:srgbClr val="FFFFFF"/>
                </a:solidFill>
                <a:latin typeface="Inter" pitchFamily="34" charset="0"/>
                <a:ea typeface="Inter" pitchFamily="34" charset="-122"/>
                <a:cs typeface="Inter" pitchFamily="34" charset="-120"/>
              </a:rPr>
              <a:t>51</a:t>
            </a:r>
            <a:endParaRPr lang="en-US" sz="750" dirty="0"/>
          </a:p>
        </p:txBody>
      </p:sp>
      <p:sp>
        <p:nvSpPr>
          <p:cNvPr id="8" name="Shape 6"/>
          <p:cNvSpPr/>
          <p:nvPr/>
        </p:nvSpPr>
        <p:spPr>
          <a:xfrm>
            <a:off x="365760" y="777240"/>
            <a:ext cx="1554480" cy="292608"/>
          </a:xfrm>
          <a:prstGeom prst="rect">
            <a:avLst/>
          </a:prstGeom>
          <a:solidFill>
            <a:srgbClr val="0046FF"/>
          </a:solidFill>
          <a:ln w="12700">
            <a:solidFill>
              <a:srgbClr val="333333"/>
            </a:solidFill>
            <a:prstDash val="solid"/>
          </a:ln>
        </p:spPr>
        <p:txBody>
          <a:bodyPr/>
          <a:lstStyle/>
          <a:p>
            <a:endParaRPr lang="en-US"/>
          </a:p>
        </p:txBody>
      </p:sp>
      <p:sp>
        <p:nvSpPr>
          <p:cNvPr id="9" name="Text 7"/>
          <p:cNvSpPr/>
          <p:nvPr/>
        </p:nvSpPr>
        <p:spPr>
          <a:xfrm>
            <a:off x="365760" y="77724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Space Grotesk" pitchFamily="34" charset="0"/>
                <a:ea typeface="Space Grotesk" pitchFamily="34" charset="-122"/>
                <a:cs typeface="Space Grotesk" pitchFamily="34" charset="-120"/>
              </a:rPr>
              <a:t>ACT F  ·  SCREEN 35</a:t>
            </a:r>
            <a:endParaRPr lang="en-US" sz="900" dirty="0"/>
          </a:p>
        </p:txBody>
      </p:sp>
      <p:sp>
        <p:nvSpPr>
          <p:cNvPr id="10" name="Shape 8"/>
          <p:cNvSpPr/>
          <p:nvPr/>
        </p:nvSpPr>
        <p:spPr>
          <a:xfrm>
            <a:off x="365760" y="1188720"/>
            <a:ext cx="8412480" cy="2880360"/>
          </a:xfrm>
          <a:prstGeom prst="roundRect">
            <a:avLst>
              <a:gd name="adj" fmla="val 3175"/>
            </a:avLst>
          </a:prstGeom>
          <a:solidFill>
            <a:srgbClr val="F2F4FA"/>
          </a:solidFill>
          <a:ln w="19050">
            <a:solidFill>
              <a:srgbClr val="0046FF"/>
            </a:solidFill>
            <a:prstDash val="dash"/>
          </a:ln>
        </p:spPr>
        <p:txBody>
          <a:bodyPr/>
          <a:lstStyle/>
          <a:p>
            <a:endParaRPr lang="en-US"/>
          </a:p>
        </p:txBody>
      </p:sp>
      <p:sp>
        <p:nvSpPr>
          <p:cNvPr id="11" name="Shape 9"/>
          <p:cNvSpPr/>
          <p:nvPr/>
        </p:nvSpPr>
        <p:spPr>
          <a:xfrm>
            <a:off x="4389120" y="2491740"/>
            <a:ext cx="365760" cy="0"/>
          </a:xfrm>
          <a:prstGeom prst="line">
            <a:avLst/>
          </a:prstGeom>
          <a:noFill/>
          <a:ln w="12700">
            <a:solidFill>
              <a:srgbClr val="DDDDEE"/>
            </a:solidFill>
            <a:prstDash val="solid"/>
          </a:ln>
        </p:spPr>
        <p:txBody>
          <a:bodyPr/>
          <a:lstStyle/>
          <a:p>
            <a:endParaRPr lang="en-US"/>
          </a:p>
        </p:txBody>
      </p:sp>
      <p:sp>
        <p:nvSpPr>
          <p:cNvPr id="12" name="Shape 10"/>
          <p:cNvSpPr/>
          <p:nvPr/>
        </p:nvSpPr>
        <p:spPr>
          <a:xfrm>
            <a:off x="4572000" y="2308860"/>
            <a:ext cx="0" cy="365760"/>
          </a:xfrm>
          <a:prstGeom prst="line">
            <a:avLst/>
          </a:prstGeom>
          <a:noFill/>
          <a:ln w="12700">
            <a:solidFill>
              <a:srgbClr val="DDDDEE"/>
            </a:solidFill>
            <a:prstDash val="solid"/>
          </a:ln>
        </p:spPr>
        <p:txBody>
          <a:bodyPr/>
          <a:lstStyle/>
          <a:p>
            <a:endParaRPr lang="en-US"/>
          </a:p>
        </p:txBody>
      </p:sp>
      <p:sp>
        <p:nvSpPr>
          <p:cNvPr id="13" name="Text 11"/>
          <p:cNvSpPr/>
          <p:nvPr/>
        </p:nvSpPr>
        <p:spPr>
          <a:xfrm>
            <a:off x="365760" y="2674620"/>
            <a:ext cx="8412480" cy="411480"/>
          </a:xfrm>
          <a:prstGeom prst="rect">
            <a:avLst/>
          </a:prstGeom>
          <a:noFill/>
          <a:ln/>
        </p:spPr>
        <p:txBody>
          <a:bodyPr wrap="square" lIns="0" tIns="0" rIns="0" bIns="0" rtlCol="0" anchor="ctr"/>
          <a:lstStyle/>
          <a:p>
            <a:pPr marL="0" indent="0" algn="ctr">
              <a:buNone/>
            </a:pPr>
            <a:r>
              <a:rPr lang="en-US" sz="1600" b="1" dirty="0">
                <a:solidFill>
                  <a:srgbClr val="9AA6BF"/>
                </a:solidFill>
                <a:latin typeface="Space Grotesk" pitchFamily="34" charset="0"/>
                <a:ea typeface="Space Grotesk" pitchFamily="34" charset="-122"/>
                <a:cs typeface="Space Grotesk" pitchFamily="34" charset="-120"/>
              </a:rPr>
              <a:t>▢  insert screen here</a:t>
            </a:r>
            <a:endParaRPr lang="en-US" sz="1600" dirty="0"/>
          </a:p>
        </p:txBody>
      </p:sp>
      <p:sp>
        <p:nvSpPr>
          <p:cNvPr id="14" name="Text 12"/>
          <p:cNvSpPr/>
          <p:nvPr/>
        </p:nvSpPr>
        <p:spPr>
          <a:xfrm>
            <a:off x="365760" y="3131820"/>
            <a:ext cx="8412480" cy="274320"/>
          </a:xfrm>
          <a:prstGeom prst="rect">
            <a:avLst/>
          </a:prstGeom>
          <a:noFill/>
          <a:ln/>
        </p:spPr>
        <p:txBody>
          <a:bodyPr wrap="square" lIns="0" tIns="0" rIns="0" bIns="0" rtlCol="0" anchor="t"/>
          <a:lstStyle/>
          <a:p>
            <a:pPr marL="0" indent="0" algn="ctr">
              <a:buNone/>
            </a:pPr>
            <a:r>
              <a:rPr lang="en-US" sz="1000" i="1" dirty="0">
                <a:solidFill>
                  <a:srgbClr val="44507A"/>
                </a:solidFill>
                <a:latin typeface="Inter" pitchFamily="34" charset="0"/>
                <a:ea typeface="Inter" pitchFamily="34" charset="-122"/>
                <a:cs typeface="Inter" pitchFamily="34" charset="-120"/>
              </a:rPr>
              <a:t>1440 × 900  ·  PNG  ·  fits the dashed frame</a:t>
            </a:r>
            <a:endParaRPr lang="en-US" sz="1000" dirty="0"/>
          </a:p>
        </p:txBody>
      </p:sp>
      <p:sp>
        <p:nvSpPr>
          <p:cNvPr id="15" name="Shape 13"/>
          <p:cNvSpPr/>
          <p:nvPr/>
        </p:nvSpPr>
        <p:spPr>
          <a:xfrm>
            <a:off x="365760" y="4206240"/>
            <a:ext cx="8412480" cy="502920"/>
          </a:xfrm>
          <a:prstGeom prst="rect">
            <a:avLst/>
          </a:prstGeom>
          <a:solidFill>
            <a:srgbClr val="0000C8"/>
          </a:solidFill>
          <a:ln w="12700">
            <a:solidFill>
              <a:srgbClr val="333333"/>
            </a:solidFill>
            <a:prstDash val="solid"/>
          </a:ln>
        </p:spPr>
        <p:txBody>
          <a:bodyPr/>
          <a:lstStyle/>
          <a:p>
            <a:endParaRPr lang="en-US"/>
          </a:p>
        </p:txBody>
      </p:sp>
      <p:sp>
        <p:nvSpPr>
          <p:cNvPr id="16" name="Text 14"/>
          <p:cNvSpPr/>
          <p:nvPr/>
        </p:nvSpPr>
        <p:spPr>
          <a:xfrm>
            <a:off x="548640" y="4206240"/>
            <a:ext cx="8229600" cy="502920"/>
          </a:xfrm>
          <a:prstGeom prst="rect">
            <a:avLst/>
          </a:prstGeom>
          <a:noFill/>
          <a:ln/>
        </p:spPr>
        <p:txBody>
          <a:bodyPr wrap="square" lIns="0" tIns="0" rIns="0" bIns="0" rtlCol="0" anchor="ctr"/>
          <a:lstStyle/>
          <a:p>
            <a:pPr marL="0" indent="0">
              <a:buNone/>
            </a:pPr>
            <a:r>
              <a:rPr lang="en-US" sz="950" dirty="0">
                <a:solidFill>
                  <a:srgbClr val="FFFFFF"/>
                </a:solidFill>
                <a:latin typeface="Inter" pitchFamily="34" charset="0"/>
                <a:ea typeface="Inter" pitchFamily="34" charset="-122"/>
                <a:cs typeface="Inter" pitchFamily="34" charset="-120"/>
              </a:rPr>
              <a:t>The deepest-moat screen. Each agent's eBPF/KubeArmor policy. The files it may touch, processes it may run, networks it may reach. Live log of any attempted policy violation, blocked at the kernel. We secure the analysts that are software.</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000C8"/>
        </a:solidFill>
        <a:effectLst/>
      </p:bgPr>
    </p:bg>
    <p:spTree>
      <p:nvGrpSpPr>
        <p:cNvPr id="1" name=""/>
        <p:cNvGrpSpPr/>
        <p:nvPr/>
      </p:nvGrpSpPr>
      <p:grpSpPr>
        <a:xfrm>
          <a:off x="0" y="0"/>
          <a:ext cx="0" cy="0"/>
          <a:chOff x="0" y="0"/>
          <a:chExt cx="0" cy="0"/>
        </a:xfrm>
      </p:grpSpPr>
      <p:sp>
        <p:nvSpPr>
          <p:cNvPr id="2" name="Shape 0"/>
          <p:cNvSpPr/>
          <p:nvPr/>
        </p:nvSpPr>
        <p:spPr>
          <a:xfrm>
            <a:off x="-1097280" y="-731520"/>
            <a:ext cx="4114800" cy="4114800"/>
          </a:xfrm>
          <a:prstGeom prst="ellipse">
            <a:avLst/>
          </a:prstGeom>
          <a:solidFill>
            <a:srgbClr val="0046FF">
              <a:alpha val="20000"/>
            </a:srgbClr>
          </a:solidFill>
          <a:ln w="12700">
            <a:solidFill>
              <a:srgbClr val="333333"/>
            </a:solidFill>
            <a:prstDash val="solid"/>
          </a:ln>
        </p:spPr>
        <p:txBody>
          <a:bodyPr/>
          <a:lstStyle/>
          <a:p>
            <a:endParaRPr lang="en-US"/>
          </a:p>
        </p:txBody>
      </p:sp>
      <p:sp>
        <p:nvSpPr>
          <p:cNvPr id="3" name="Shape 1"/>
          <p:cNvSpPr/>
          <p:nvPr/>
        </p:nvSpPr>
        <p:spPr>
          <a:xfrm>
            <a:off x="6858000" y="2926080"/>
            <a:ext cx="3200400" cy="3200400"/>
          </a:xfrm>
          <a:prstGeom prst="ellipse">
            <a:avLst/>
          </a:prstGeom>
          <a:solidFill>
            <a:srgbClr val="0046FF">
              <a:alpha val="18000"/>
            </a:srgbClr>
          </a:solidFill>
          <a:ln w="12700">
            <a:solidFill>
              <a:srgbClr val="333333"/>
            </a:solidFill>
            <a:prstDash val="solid"/>
          </a:ln>
        </p:spPr>
        <p:txBody>
          <a:bodyPr/>
          <a:lstStyle/>
          <a:p>
            <a:endParaRPr lang="en-US"/>
          </a:p>
        </p:txBody>
      </p:sp>
      <p:sp>
        <p:nvSpPr>
          <p:cNvPr id="4" name="Shape 2"/>
          <p:cNvSpPr/>
          <p:nvPr/>
        </p:nvSpPr>
        <p:spPr>
          <a:xfrm>
            <a:off x="3657600" y="-457200"/>
            <a:ext cx="2286000" cy="2286000"/>
          </a:xfrm>
          <a:prstGeom prst="ellipse">
            <a:avLst/>
          </a:prstGeom>
          <a:solidFill>
            <a:srgbClr val="0046FF">
              <a:alpha val="15000"/>
            </a:srgbClr>
          </a:solidFill>
          <a:ln w="12700">
            <a:solidFill>
              <a:srgbClr val="333333"/>
            </a:solidFill>
            <a:prstDash val="solid"/>
          </a:ln>
        </p:spPr>
        <p:txBody>
          <a:bodyPr/>
          <a:lstStyle/>
          <a:p>
            <a:endParaRPr lang="en-US"/>
          </a:p>
        </p:txBody>
      </p:sp>
      <p:sp>
        <p:nvSpPr>
          <p:cNvPr id="5" name="Text 3"/>
          <p:cNvSpPr/>
          <p:nvPr/>
        </p:nvSpPr>
        <p:spPr>
          <a:xfrm>
            <a:off x="914400" y="457200"/>
            <a:ext cx="731520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Space Grotesk" pitchFamily="34" charset="0"/>
                <a:ea typeface="Space Grotesk" pitchFamily="34" charset="-122"/>
                <a:cs typeface="Space Grotesk" pitchFamily="34" charset="-120"/>
              </a:rPr>
              <a:t>⬡  AccuKnox</a:t>
            </a:r>
            <a:endParaRPr lang="en-US" sz="2000" dirty="0"/>
          </a:p>
        </p:txBody>
      </p:sp>
      <p:sp>
        <p:nvSpPr>
          <p:cNvPr id="6" name="Text 4"/>
          <p:cNvSpPr/>
          <p:nvPr/>
        </p:nvSpPr>
        <p:spPr>
          <a:xfrm>
            <a:off x="457200" y="1371600"/>
            <a:ext cx="8229600" cy="1371600"/>
          </a:xfrm>
          <a:prstGeom prst="rect">
            <a:avLst/>
          </a:prstGeom>
          <a:noFill/>
          <a:ln/>
        </p:spPr>
        <p:txBody>
          <a:bodyPr wrap="square" lIns="0" tIns="0" rIns="0" bIns="0" rtlCol="0" anchor="ctr"/>
          <a:lstStyle/>
          <a:p>
            <a:pPr marL="0" indent="0" algn="ctr">
              <a:buNone/>
            </a:pPr>
            <a:r>
              <a:rPr lang="en-US" sz="3800" b="1" kern="0" spc="200" dirty="0">
                <a:solidFill>
                  <a:srgbClr val="FFFFFF"/>
                </a:solidFill>
                <a:latin typeface="Space Grotesk" pitchFamily="34" charset="0"/>
                <a:ea typeface="Space Grotesk" pitchFamily="34" charset="-122"/>
                <a:cs typeface="Space Grotesk" pitchFamily="34" charset="-120"/>
              </a:rPr>
              <a:t>SEE AN ALERT BECOME</a:t>
            </a:r>
            <a:endParaRPr lang="en-US" sz="3800" dirty="0"/>
          </a:p>
          <a:p>
            <a:pPr marL="0" indent="0" algn="ctr">
              <a:buNone/>
            </a:pPr>
            <a:r>
              <a:rPr lang="en-US" sz="3800" b="1" kern="0" spc="200" dirty="0">
                <a:solidFill>
                  <a:srgbClr val="FFFFFF"/>
                </a:solidFill>
                <a:latin typeface="Space Grotesk" pitchFamily="34" charset="0"/>
                <a:ea typeface="Space Grotesk" pitchFamily="34" charset="-122"/>
                <a:cs typeface="Space Grotesk" pitchFamily="34" charset="-120"/>
              </a:rPr>
              <a:t>A KERNEL BLOCK</a:t>
            </a:r>
            <a:endParaRPr lang="en-US" sz="3800" dirty="0"/>
          </a:p>
        </p:txBody>
      </p:sp>
      <p:sp>
        <p:nvSpPr>
          <p:cNvPr id="7" name="Text 5"/>
          <p:cNvSpPr/>
          <p:nvPr/>
        </p:nvSpPr>
        <p:spPr>
          <a:xfrm>
            <a:off x="731520" y="2880360"/>
            <a:ext cx="7680960" cy="548640"/>
          </a:xfrm>
          <a:prstGeom prst="rect">
            <a:avLst/>
          </a:prstGeom>
          <a:noFill/>
          <a:ln/>
        </p:spPr>
        <p:txBody>
          <a:bodyPr wrap="square" lIns="0" tIns="0" rIns="0" bIns="0" rtlCol="0" anchor="ctr"/>
          <a:lstStyle/>
          <a:p>
            <a:pPr marL="0" indent="0" algn="ctr">
              <a:buNone/>
            </a:pPr>
            <a:r>
              <a:rPr lang="en-US" sz="1400" i="1" dirty="0">
                <a:solidFill>
                  <a:srgbClr val="6464FF"/>
                </a:solidFill>
                <a:latin typeface="Inter" pitchFamily="34" charset="0"/>
                <a:ea typeface="Inter" pitchFamily="34" charset="-122"/>
                <a:cs typeface="Inter" pitchFamily="34" charset="-120"/>
              </a:rPr>
              <a:t>In 20 minutes, on real workloads. Bring your hardest objection about autonomy and auditability.</a:t>
            </a:r>
            <a:endParaRPr lang="en-US" sz="1400" dirty="0"/>
          </a:p>
        </p:txBody>
      </p:sp>
      <p:sp>
        <p:nvSpPr>
          <p:cNvPr id="8" name="Text 6"/>
          <p:cNvSpPr/>
          <p:nvPr/>
        </p:nvSpPr>
        <p:spPr>
          <a:xfrm>
            <a:off x="457200" y="3657600"/>
            <a:ext cx="82296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pace Grotesk" pitchFamily="34" charset="0"/>
                <a:ea typeface="Space Grotesk" pitchFamily="34" charset="-122"/>
                <a:cs typeface="Space Grotesk" pitchFamily="34" charset="-120"/>
              </a:rPr>
              <a:t>Book the walkthrough  ·  website@accuknox.com</a:t>
            </a:r>
            <a:endParaRPr lang="en-US" sz="1600" dirty="0"/>
          </a:p>
        </p:txBody>
      </p:sp>
      <p:sp>
        <p:nvSpPr>
          <p:cNvPr id="9" name="Shape 7"/>
          <p:cNvSpPr/>
          <p:nvPr/>
        </p:nvSpPr>
        <p:spPr>
          <a:xfrm>
            <a:off x="0" y="4754880"/>
            <a:ext cx="9144000" cy="388620"/>
          </a:xfrm>
          <a:prstGeom prst="rect">
            <a:avLst/>
          </a:prstGeom>
          <a:solidFill>
            <a:srgbClr val="0046FF"/>
          </a:solidFill>
          <a:ln w="12700">
            <a:solidFill>
              <a:srgbClr val="333333"/>
            </a:solidFill>
            <a:prstDash val="solid"/>
          </a:ln>
        </p:spPr>
        <p:txBody>
          <a:bodyPr/>
          <a:lstStyle/>
          <a:p>
            <a:endParaRPr lang="en-US"/>
          </a:p>
        </p:txBody>
      </p:sp>
      <p:sp>
        <p:nvSpPr>
          <p:cNvPr id="10" name="Text 8"/>
          <p:cNvSpPr/>
          <p:nvPr/>
        </p:nvSpPr>
        <p:spPr>
          <a:xfrm>
            <a:off x="457200" y="4754880"/>
            <a:ext cx="8229600" cy="388620"/>
          </a:xfrm>
          <a:prstGeom prst="rect">
            <a:avLst/>
          </a:prstGeom>
          <a:noFill/>
          <a:ln/>
        </p:spPr>
        <p:txBody>
          <a:bodyPr wrap="square" lIns="0" tIns="0" rIns="0" bIns="0" rtlCol="0" anchor="ctr"/>
          <a:lstStyle/>
          <a:p>
            <a:pPr marL="0" indent="0" algn="ctr">
              <a:buNone/>
            </a:pPr>
            <a:r>
              <a:rPr lang="en-US" sz="950" dirty="0">
                <a:solidFill>
                  <a:srgbClr val="FFFFFF"/>
                </a:solidFill>
                <a:latin typeface="Inter" pitchFamily="34" charset="0"/>
                <a:ea typeface="Inter" pitchFamily="34" charset="-122"/>
                <a:cs typeface="Inter" pitchFamily="34" charset="-120"/>
              </a:rPr>
              <a:t>accuknox.com  |  The AI-SOC that enforces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9C86B7B3E61F499EA2CEFA133E0332" ma:contentTypeVersion="12" ma:contentTypeDescription="Create a new document." ma:contentTypeScope="" ma:versionID="002aa9fe3de7789c11a094299efbee7b">
  <xsd:schema xmlns:xsd="http://www.w3.org/2001/XMLSchema" xmlns:xs="http://www.w3.org/2001/XMLSchema" xmlns:p="http://schemas.microsoft.com/office/2006/metadata/properties" xmlns:ns3="87eb33a3-1736-4eb2-87d8-4eb419ff0d3a" targetNamespace="http://schemas.microsoft.com/office/2006/metadata/properties" ma:root="true" ma:fieldsID="b49923cf3b910c60ad883b9ee0ca8df2" ns3:_="">
    <xsd:import namespace="87eb33a3-1736-4eb2-87d8-4eb419ff0d3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eb33a3-1736-4eb2-87d8-4eb419ff0d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_activity" ma:index="19"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7eb33a3-1736-4eb2-87d8-4eb419ff0d3a" xsi:nil="true"/>
  </documentManagement>
</p:properties>
</file>

<file path=customXml/itemProps1.xml><?xml version="1.0" encoding="utf-8"?>
<ds:datastoreItem xmlns:ds="http://schemas.openxmlformats.org/officeDocument/2006/customXml" ds:itemID="{A63F58B6-B5EA-446A-AA3A-3EF1DB77B1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eb33a3-1736-4eb2-87d8-4eb419ff0d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947114-E6A4-4E49-84B4-9A25AAD3BD3B}">
  <ds:schemaRefs>
    <ds:schemaRef ds:uri="http://schemas.microsoft.com/sharepoint/v3/contenttype/forms"/>
  </ds:schemaRefs>
</ds:datastoreItem>
</file>

<file path=customXml/itemProps3.xml><?xml version="1.0" encoding="utf-8"?>
<ds:datastoreItem xmlns:ds="http://schemas.openxmlformats.org/officeDocument/2006/customXml" ds:itemID="{0E2455E6-102D-4254-A53A-A7417F94E6D8}">
  <ds:schemaRefs>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www.w3.org/XML/1998/namespace"/>
    <ds:schemaRef ds:uri="http://purl.org/dc/elements/1.1/"/>
    <ds:schemaRef ds:uri="87eb33a3-1736-4eb2-87d8-4eb419ff0d3a"/>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TotalTime>
  <Words>4855</Words>
  <Application>Microsoft Office PowerPoint</Application>
  <PresentationFormat>On-screen Show (16:9)</PresentationFormat>
  <Paragraphs>744</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Inter</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AccuKnox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AccuKnox AI-SOC</dc:title>
  <dc:subject>PptxGenJS Presentation</dc:subject>
  <dc:creator>AccuKnox</dc:creator>
  <cp:lastModifiedBy>ATHARVA SHAH  (Student)</cp:lastModifiedBy>
  <cp:revision>2</cp:revision>
  <dcterms:created xsi:type="dcterms:W3CDTF">2026-06-06T10:34:14Z</dcterms:created>
  <dcterms:modified xsi:type="dcterms:W3CDTF">2026-06-06T10:55:09Z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0x010100499C86B7B3E61F499EA2CEFA133E0332</vt:lpwstr>
  </property>
</Properties>
</file>