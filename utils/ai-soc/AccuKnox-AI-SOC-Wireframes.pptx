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0287000" cy="6667500"/>
  <p:notesSz cx="66675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png"/><Relationship Id="rId15" Type="http://schemas.openxmlformats.org/officeDocument/2006/relationships/image" Target="../media/image-2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image" Target="../media/image-29-10.pn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png"/><Relationship Id="rId13" Type="http://schemas.openxmlformats.org/officeDocument/2006/relationships/image" Target="../media/image-2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png"/><Relationship Id="rId13" Type="http://schemas.openxmlformats.org/officeDocument/2006/relationships/image" Target="../media/image-3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png"/><Relationship Id="rId13" Type="http://schemas.openxmlformats.org/officeDocument/2006/relationships/image" Target="../media/image-31-13.png"/><Relationship Id="rId14" Type="http://schemas.openxmlformats.org/officeDocument/2006/relationships/image" Target="../media/image-3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image" Target="../media/image-32-10.png"/><Relationship Id="rId11" Type="http://schemas.openxmlformats.org/officeDocument/2006/relationships/image" Target="../media/image-32-11.png"/><Relationship Id="rId12" Type="http://schemas.openxmlformats.org/officeDocument/2006/relationships/image" Target="../media/image-32-12.png"/><Relationship Id="rId13" Type="http://schemas.openxmlformats.org/officeDocument/2006/relationships/image" Target="../media/image-3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image" Target="../media/image-33-9.png"/><Relationship Id="rId10" Type="http://schemas.openxmlformats.org/officeDocument/2006/relationships/image" Target="../media/image-33-10.png"/><Relationship Id="rId11" Type="http://schemas.openxmlformats.org/officeDocument/2006/relationships/image" Target="../media/image-33-11.png"/><Relationship Id="rId12" Type="http://schemas.openxmlformats.org/officeDocument/2006/relationships/image" Target="../media/image-33-12.png"/><Relationship Id="rId13" Type="http://schemas.openxmlformats.org/officeDocument/2006/relationships/image" Target="../media/image-3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image" Target="../media/image-34-8.png"/><Relationship Id="rId9" Type="http://schemas.openxmlformats.org/officeDocument/2006/relationships/image" Target="../media/image-34-9.png"/><Relationship Id="rId10" Type="http://schemas.openxmlformats.org/officeDocument/2006/relationships/image" Target="../media/image-34-10.png"/><Relationship Id="rId11" Type="http://schemas.openxmlformats.org/officeDocument/2006/relationships/image" Target="../media/image-34-11.png"/><Relationship Id="rId12" Type="http://schemas.openxmlformats.org/officeDocument/2006/relationships/image" Target="../media/image-34-12.png"/><Relationship Id="rId13" Type="http://schemas.openxmlformats.org/officeDocument/2006/relationships/image" Target="../media/image-3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image" Target="../media/image-35-8.png"/><Relationship Id="rId9" Type="http://schemas.openxmlformats.org/officeDocument/2006/relationships/image" Target="../media/image-35-9.png"/><Relationship Id="rId10" Type="http://schemas.openxmlformats.org/officeDocument/2006/relationships/image" Target="../media/image-35-10.png"/><Relationship Id="rId11" Type="http://schemas.openxmlformats.org/officeDocument/2006/relationships/image" Target="../media/image-35-11.png"/><Relationship Id="rId12" Type="http://schemas.openxmlformats.org/officeDocument/2006/relationships/image" Target="../media/image-35-12.png"/><Relationship Id="rId13" Type="http://schemas.openxmlformats.org/officeDocument/2006/relationships/image" Target="../media/image-35-13.png"/><Relationship Id="rId14" Type="http://schemas.openxmlformats.org/officeDocument/2006/relationships/image" Target="../media/image-35-14.png"/><Relationship Id="rId15" Type="http://schemas.openxmlformats.org/officeDocument/2006/relationships/image" Target="../media/image-35-15.png"/><Relationship Id="rId16" Type="http://schemas.openxmlformats.org/officeDocument/2006/relationships/image" Target="../media/image-3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image" Target="../media/image-36-8.png"/><Relationship Id="rId9" Type="http://schemas.openxmlformats.org/officeDocument/2006/relationships/image" Target="../media/image-36-9.png"/><Relationship Id="rId10" Type="http://schemas.openxmlformats.org/officeDocument/2006/relationships/image" Target="../media/image-36-10.png"/><Relationship Id="rId11" Type="http://schemas.openxmlformats.org/officeDocument/2006/relationships/image" Target="../media/image-36-11.png"/><Relationship Id="rId12" Type="http://schemas.openxmlformats.org/officeDocument/2006/relationships/image" Target="../media/image-36-12.png"/><Relationship Id="rId13" Type="http://schemas.openxmlformats.org/officeDocument/2006/relationships/image" Target="../media/image-3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37-7.png"/><Relationship Id="rId8" Type="http://schemas.openxmlformats.org/officeDocument/2006/relationships/image" Target="../media/image-37-8.png"/><Relationship Id="rId9" Type="http://schemas.openxmlformats.org/officeDocument/2006/relationships/image" Target="../media/image-37-9.png"/><Relationship Id="rId10" Type="http://schemas.openxmlformats.org/officeDocument/2006/relationships/image" Target="../media/image-37-10.png"/><Relationship Id="rId11" Type="http://schemas.openxmlformats.org/officeDocument/2006/relationships/image" Target="../media/image-37-11.png"/><Relationship Id="rId12" Type="http://schemas.openxmlformats.org/officeDocument/2006/relationships/image" Target="../media/image-37-12.png"/><Relationship Id="rId13" Type="http://schemas.openxmlformats.org/officeDocument/2006/relationships/image" Target="../media/image-37-13.png"/><Relationship Id="rId14" Type="http://schemas.openxmlformats.org/officeDocument/2006/relationships/image" Target="../media/image-3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image" Target="../media/image-38-7.png"/><Relationship Id="rId8" Type="http://schemas.openxmlformats.org/officeDocument/2006/relationships/image" Target="../media/image-38-8.png"/><Relationship Id="rId9" Type="http://schemas.openxmlformats.org/officeDocument/2006/relationships/image" Target="../media/image-38-9.png"/><Relationship Id="rId10" Type="http://schemas.openxmlformats.org/officeDocument/2006/relationships/image" Target="../media/image-38-10.png"/><Relationship Id="rId11" Type="http://schemas.openxmlformats.org/officeDocument/2006/relationships/image" Target="../media/image-38-11.png"/><Relationship Id="rId12" Type="http://schemas.openxmlformats.org/officeDocument/2006/relationships/image" Target="../media/image-38-12.png"/><Relationship Id="rId13" Type="http://schemas.openxmlformats.org/officeDocument/2006/relationships/image" Target="../media/image-3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image" Target="../media/image-39-7.png"/><Relationship Id="rId8" Type="http://schemas.openxmlformats.org/officeDocument/2006/relationships/image" Target="../media/image-39-8.png"/><Relationship Id="rId9" Type="http://schemas.openxmlformats.org/officeDocument/2006/relationships/image" Target="../media/image-39-9.png"/><Relationship Id="rId10" Type="http://schemas.openxmlformats.org/officeDocument/2006/relationships/image" Target="../media/image-39-10.png"/><Relationship Id="rId11" Type="http://schemas.openxmlformats.org/officeDocument/2006/relationships/image" Target="../media/image-39-11.png"/><Relationship Id="rId12" Type="http://schemas.openxmlformats.org/officeDocument/2006/relationships/image" Target="../media/image-39-12.png"/><Relationship Id="rId13" Type="http://schemas.openxmlformats.org/officeDocument/2006/relationships/image" Target="../media/image-3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image" Target="../media/image-40-7.png"/><Relationship Id="rId8" Type="http://schemas.openxmlformats.org/officeDocument/2006/relationships/image" Target="../media/image-40-8.png"/><Relationship Id="rId9" Type="http://schemas.openxmlformats.org/officeDocument/2006/relationships/image" Target="../media/image-40-9.png"/><Relationship Id="rId10" Type="http://schemas.openxmlformats.org/officeDocument/2006/relationships/image" Target="../media/image-40-10.png"/><Relationship Id="rId11" Type="http://schemas.openxmlformats.org/officeDocument/2006/relationships/image" Target="../media/image-40-11.png"/><Relationship Id="rId12" Type="http://schemas.openxmlformats.org/officeDocument/2006/relationships/image" Target="../media/image-40-12.png"/><Relationship Id="rId13" Type="http://schemas.openxmlformats.org/officeDocument/2006/relationships/image" Target="../media/image-4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0287000" cy="6667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180000">
            <a:off x="228600" y="209549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F1F1F"/>
          </a:solidFill>
          <a:ln/>
        </p:spPr>
      </p:sp>
      <p:sp>
        <p:nvSpPr>
          <p:cNvPr id="4" name="Text 1"/>
          <p:cNvSpPr/>
          <p:nvPr/>
        </p:nvSpPr>
        <p:spPr>
          <a:xfrm>
            <a:off x="249694" y="227044"/>
            <a:ext cx="376793" cy="346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5F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66750" y="234316"/>
            <a:ext cx="1941671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AccuKnox AI-SOC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2857500" y="980084"/>
            <a:ext cx="4572000" cy="4526280"/>
          </a:xfrm>
          <a:prstGeom prst="roundRect">
            <a:avLst>
              <a:gd name="adj" fmla="val 1684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131820" y="1254403"/>
            <a:ext cx="41440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BACK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131820" y="1425853"/>
            <a:ext cx="4144061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to your tenant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131820" y="1669693"/>
            <a:ext cx="414406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· SAML · passkey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3131820" y="2014498"/>
            <a:ext cx="402336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3253740" y="2117368"/>
            <a:ext cx="3892906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email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3253740" y="2290723"/>
            <a:ext cx="3892906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alex@acme.com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3131820" y="2643148"/>
            <a:ext cx="402336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3253740" y="2746018"/>
            <a:ext cx="3892906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3253740" y="2919373"/>
            <a:ext cx="3892906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spc="30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•••••••••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3131820" y="3328948"/>
            <a:ext cx="679847" cy="25146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34690" y="3374668"/>
            <a:ext cx="55030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→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071470" y="3713759"/>
            <a:ext cx="414406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or —</a:t>
            </a:r>
            <a:endParaRPr lang="en-US" sz="975" dirty="0"/>
          </a:p>
        </p:txBody>
      </p:sp>
      <p:sp>
        <p:nvSpPr>
          <p:cNvPr id="19" name="Shape 16"/>
          <p:cNvSpPr/>
          <p:nvPr/>
        </p:nvSpPr>
        <p:spPr>
          <a:xfrm>
            <a:off x="3635335" y="4020464"/>
            <a:ext cx="747832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38205" y="4066184"/>
            <a:ext cx="61829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 SSO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440317" y="4020464"/>
            <a:ext cx="692944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43187" y="4066184"/>
            <a:ext cx="56340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190411" y="4020464"/>
            <a:ext cx="889040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93281" y="4066184"/>
            <a:ext cx="7595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SSO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136600" y="4020464"/>
            <a:ext cx="515064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39470" y="4066184"/>
            <a:ext cx="38552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131820" y="4462423"/>
            <a:ext cx="4023360" cy="95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Text 25"/>
          <p:cNvSpPr/>
          <p:nvPr/>
        </p:nvSpPr>
        <p:spPr>
          <a:xfrm>
            <a:off x="3131820" y="4584343"/>
            <a:ext cx="41440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3131820" y="4774843"/>
            <a:ext cx="1188125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206115" y="4846281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8"/>
          <p:cNvSpPr/>
          <p:nvPr/>
        </p:nvSpPr>
        <p:spPr>
          <a:xfrm>
            <a:off x="3301365" y="4801514"/>
            <a:ext cx="102048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 — prod</a:t>
            </a:r>
            <a:endParaRPr lang="en-US" sz="825" dirty="0"/>
          </a:p>
        </p:txBody>
      </p:sp>
      <p:sp>
        <p:nvSpPr>
          <p:cNvPr id="32" name="Shape 29"/>
          <p:cNvSpPr/>
          <p:nvPr/>
        </p:nvSpPr>
        <p:spPr>
          <a:xfrm>
            <a:off x="4377095" y="4774843"/>
            <a:ext cx="104691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51390" y="4846281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34" name="Text 31"/>
          <p:cNvSpPr/>
          <p:nvPr/>
        </p:nvSpPr>
        <p:spPr>
          <a:xfrm>
            <a:off x="4546640" y="4801514"/>
            <a:ext cx="87927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— staging</a:t>
            </a:r>
            <a:endParaRPr lang="en-US" sz="825" dirty="0"/>
          </a:p>
        </p:txBody>
      </p:sp>
      <p:sp>
        <p:nvSpPr>
          <p:cNvPr id="35" name="Shape 32"/>
          <p:cNvSpPr/>
          <p:nvPr/>
        </p:nvSpPr>
        <p:spPr>
          <a:xfrm>
            <a:off x="5481161" y="4774843"/>
            <a:ext cx="123194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555456" y="4846281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37" name="Text 34"/>
          <p:cNvSpPr/>
          <p:nvPr/>
        </p:nvSpPr>
        <p:spPr>
          <a:xfrm>
            <a:off x="5650706" y="4801514"/>
            <a:ext cx="106430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MSSP · Customer 14</a:t>
            </a:r>
            <a:endParaRPr lang="en-US" sz="825" dirty="0"/>
          </a:p>
        </p:txBody>
      </p:sp>
      <p:sp>
        <p:nvSpPr>
          <p:cNvPr id="38" name="Shape 35"/>
          <p:cNvSpPr/>
          <p:nvPr/>
        </p:nvSpPr>
        <p:spPr>
          <a:xfrm>
            <a:off x="3131820" y="5032018"/>
            <a:ext cx="74854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206115" y="5103456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0" name="Text 37"/>
          <p:cNvSpPr/>
          <p:nvPr/>
        </p:nvSpPr>
        <p:spPr>
          <a:xfrm>
            <a:off x="3301365" y="5058689"/>
            <a:ext cx="5809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+ 9 more…</a:t>
            </a:r>
            <a:endParaRPr lang="en-US" sz="825" dirty="0"/>
          </a:p>
        </p:txBody>
      </p:sp>
      <p:sp>
        <p:nvSpPr>
          <p:cNvPr id="41" name="Shape 38"/>
          <p:cNvSpPr/>
          <p:nvPr/>
        </p:nvSpPr>
        <p:spPr>
          <a:xfrm>
            <a:off x="5995035" y="637184"/>
            <a:ext cx="1720215" cy="401955"/>
          </a:xfrm>
          <a:prstGeom prst="roundRect">
            <a:avLst>
              <a:gd name="adj" fmla="val 9479"/>
            </a:avLst>
          </a:prstGeom>
          <a:solidFill>
            <a:srgbClr val="FEF9C3"/>
          </a:solidFill>
          <a:ln w="7620">
            <a:solidFill>
              <a:srgbClr val="FDE04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6078855" y="701954"/>
            <a:ext cx="1628775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713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 · secure · fast. runtime motif animates behind.</a:t>
            </a:r>
            <a:endParaRPr lang="en-US" sz="825" dirty="0"/>
          </a:p>
        </p:txBody>
      </p:sp>
      <p:sp>
        <p:nvSpPr>
          <p:cNvPr id="43" name="Text 40"/>
          <p:cNvSpPr/>
          <p:nvPr/>
        </p:nvSpPr>
        <p:spPr>
          <a:xfrm>
            <a:off x="-154305" y="6355081"/>
            <a:ext cx="1059561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AccuKnox · Zero Trust CNAPP + AI-SOC · v2026.6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5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7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" y="2047875"/>
            <a:ext cx="171450" cy="1714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2409825"/>
            <a:ext cx="171450" cy="171450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" y="2771775"/>
            <a:ext cx="171450" cy="171450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" y="3133725"/>
            <a:ext cx="171450" cy="171450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91440" y="34099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60329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· step 1 of 3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289096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397085" y="144780"/>
            <a:ext cx="97833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telemetry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451622" y="74295"/>
            <a:ext cx="4039314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4492" y="167641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725942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7" y="108584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1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4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1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1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0" y="167641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0" y="100966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1" y="107633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1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8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590550"/>
            <a:ext cx="318322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your telemetry</a:t>
            </a:r>
            <a:endParaRPr lang="en-US" sz="1350" dirty="0"/>
          </a:p>
        </p:txBody>
      </p:sp>
      <p:sp>
        <p:nvSpPr>
          <p:cNvPr id="38" name="Text 23"/>
          <p:cNvSpPr/>
          <p:nvPr/>
        </p:nvSpPr>
        <p:spPr>
          <a:xfrm>
            <a:off x="666750" y="796291"/>
            <a:ext cx="318322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is pre-connected — ground truth out of the box.</a:t>
            </a:r>
            <a:endParaRPr lang="en-US" sz="975" dirty="0"/>
          </a:p>
        </p:txBody>
      </p:sp>
      <p:sp>
        <p:nvSpPr>
          <p:cNvPr id="39" name="Shape 24"/>
          <p:cNvSpPr/>
          <p:nvPr/>
        </p:nvSpPr>
        <p:spPr>
          <a:xfrm>
            <a:off x="6665595" y="680084"/>
            <a:ext cx="134457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40" name="Shape 25"/>
          <p:cNvSpPr/>
          <p:nvPr/>
        </p:nvSpPr>
        <p:spPr>
          <a:xfrm>
            <a:off x="6739890" y="75152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1" name="Text 26"/>
          <p:cNvSpPr/>
          <p:nvPr/>
        </p:nvSpPr>
        <p:spPr>
          <a:xfrm>
            <a:off x="6835140" y="706755"/>
            <a:ext cx="117693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connected · 7</a:t>
            </a:r>
            <a:endParaRPr lang="en-US" sz="825" dirty="0"/>
          </a:p>
        </p:txBody>
      </p:sp>
      <p:sp>
        <p:nvSpPr>
          <p:cNvPr id="42" name="Shape 27"/>
          <p:cNvSpPr/>
          <p:nvPr/>
        </p:nvSpPr>
        <p:spPr>
          <a:xfrm>
            <a:off x="8067318" y="680084"/>
            <a:ext cx="1219914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43" name="Shape 28"/>
          <p:cNvSpPr/>
          <p:nvPr/>
        </p:nvSpPr>
        <p:spPr>
          <a:xfrm>
            <a:off x="8141614" y="751522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4" name="Text 29"/>
          <p:cNvSpPr/>
          <p:nvPr/>
        </p:nvSpPr>
        <p:spPr>
          <a:xfrm>
            <a:off x="8236862" y="706755"/>
            <a:ext cx="105227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events/sec · 41,902</a:t>
            </a:r>
            <a:endParaRPr lang="en-US" sz="825" dirty="0"/>
          </a:p>
        </p:txBody>
      </p:sp>
      <p:sp>
        <p:nvSpPr>
          <p:cNvPr id="45" name="Shape 30"/>
          <p:cNvSpPr/>
          <p:nvPr/>
        </p:nvSpPr>
        <p:spPr>
          <a:xfrm>
            <a:off x="9344383" y="654367"/>
            <a:ext cx="809268" cy="25146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6" name="Text 31"/>
          <p:cNvSpPr/>
          <p:nvPr/>
        </p:nvSpPr>
        <p:spPr>
          <a:xfrm>
            <a:off x="9447254" y="700088"/>
            <a:ext cx="67972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→</a:t>
            </a:r>
            <a:endParaRPr lang="en-US" sz="900" dirty="0"/>
          </a:p>
        </p:txBody>
      </p:sp>
      <p:sp>
        <p:nvSpPr>
          <p:cNvPr id="47" name="Shape 32"/>
          <p:cNvSpPr/>
          <p:nvPr/>
        </p:nvSpPr>
        <p:spPr>
          <a:xfrm>
            <a:off x="666750" y="1064895"/>
            <a:ext cx="2095500" cy="5469255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" y="1185863"/>
            <a:ext cx="123825" cy="123825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941070" y="1175384"/>
            <a:ext cx="691515" cy="182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50" name="Shape 34"/>
          <p:cNvSpPr/>
          <p:nvPr/>
        </p:nvSpPr>
        <p:spPr>
          <a:xfrm>
            <a:off x="769620" y="1403984"/>
            <a:ext cx="1889760" cy="297180"/>
          </a:xfrm>
          <a:prstGeom prst="roundRect">
            <a:avLst>
              <a:gd name="adj" fmla="val 22436"/>
            </a:avLst>
          </a:prstGeom>
          <a:solidFill>
            <a:srgbClr val="1FD191">
              <a:alpha val="16000"/>
            </a:srgbClr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51" name="Text 35"/>
          <p:cNvSpPr/>
          <p:nvPr/>
        </p:nvSpPr>
        <p:spPr>
          <a:xfrm>
            <a:off x="853440" y="1459230"/>
            <a:ext cx="1531858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· eBPF 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0B6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pinned</a:t>
            </a:r>
            <a:endParaRPr lang="en-US" sz="1050" dirty="0"/>
          </a:p>
        </p:txBody>
      </p:sp>
      <p:sp>
        <p:nvSpPr>
          <p:cNvPr id="52" name="Text 36"/>
          <p:cNvSpPr/>
          <p:nvPr/>
        </p:nvSpPr>
        <p:spPr>
          <a:xfrm>
            <a:off x="2506623" y="1465897"/>
            <a:ext cx="145137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53" name="Text 37"/>
          <p:cNvSpPr/>
          <p:nvPr/>
        </p:nvSpPr>
        <p:spPr>
          <a:xfrm>
            <a:off x="853440" y="1813559"/>
            <a:ext cx="96059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54" name="Text 38"/>
          <p:cNvSpPr/>
          <p:nvPr/>
        </p:nvSpPr>
        <p:spPr>
          <a:xfrm>
            <a:off x="2437805" y="1820228"/>
            <a:ext cx="213955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75" dirty="0"/>
          </a:p>
        </p:txBody>
      </p:sp>
      <p:sp>
        <p:nvSpPr>
          <p:cNvPr id="55" name="Text 39"/>
          <p:cNvSpPr/>
          <p:nvPr/>
        </p:nvSpPr>
        <p:spPr>
          <a:xfrm>
            <a:off x="853440" y="2167891"/>
            <a:ext cx="665083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1050" dirty="0"/>
          </a:p>
        </p:txBody>
      </p:sp>
      <p:sp>
        <p:nvSpPr>
          <p:cNvPr id="56" name="Text 40"/>
          <p:cNvSpPr/>
          <p:nvPr/>
        </p:nvSpPr>
        <p:spPr>
          <a:xfrm>
            <a:off x="2506623" y="2174558"/>
            <a:ext cx="145137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75" dirty="0"/>
          </a:p>
        </p:txBody>
      </p:sp>
      <p:sp>
        <p:nvSpPr>
          <p:cNvPr id="57" name="Text 41"/>
          <p:cNvSpPr/>
          <p:nvPr/>
        </p:nvSpPr>
        <p:spPr>
          <a:xfrm>
            <a:off x="853440" y="2522220"/>
            <a:ext cx="46708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050" dirty="0"/>
          </a:p>
        </p:txBody>
      </p:sp>
      <p:sp>
        <p:nvSpPr>
          <p:cNvPr id="58" name="Text 42"/>
          <p:cNvSpPr/>
          <p:nvPr/>
        </p:nvSpPr>
        <p:spPr>
          <a:xfrm>
            <a:off x="2446973" y="2528888"/>
            <a:ext cx="204787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75" dirty="0"/>
          </a:p>
        </p:txBody>
      </p:sp>
      <p:sp>
        <p:nvSpPr>
          <p:cNvPr id="59" name="Text 43"/>
          <p:cNvSpPr/>
          <p:nvPr/>
        </p:nvSpPr>
        <p:spPr>
          <a:xfrm>
            <a:off x="853440" y="2876550"/>
            <a:ext cx="57828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050" dirty="0"/>
          </a:p>
        </p:txBody>
      </p:sp>
      <p:sp>
        <p:nvSpPr>
          <p:cNvPr id="60" name="Text 44"/>
          <p:cNvSpPr/>
          <p:nvPr/>
        </p:nvSpPr>
        <p:spPr>
          <a:xfrm>
            <a:off x="2506623" y="2883217"/>
            <a:ext cx="145137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75" dirty="0"/>
          </a:p>
        </p:txBody>
      </p:sp>
      <p:sp>
        <p:nvSpPr>
          <p:cNvPr id="61" name="Text 45"/>
          <p:cNvSpPr/>
          <p:nvPr/>
        </p:nvSpPr>
        <p:spPr>
          <a:xfrm>
            <a:off x="853440" y="3230880"/>
            <a:ext cx="89070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&amp; Apps</a:t>
            </a:r>
            <a:endParaRPr lang="en-US" sz="1050" dirty="0"/>
          </a:p>
        </p:txBody>
      </p:sp>
      <p:sp>
        <p:nvSpPr>
          <p:cNvPr id="62" name="Text 46"/>
          <p:cNvSpPr/>
          <p:nvPr/>
        </p:nvSpPr>
        <p:spPr>
          <a:xfrm>
            <a:off x="2437805" y="3237547"/>
            <a:ext cx="213955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75" dirty="0"/>
          </a:p>
        </p:txBody>
      </p:sp>
      <p:sp>
        <p:nvSpPr>
          <p:cNvPr id="63" name="Text 47"/>
          <p:cNvSpPr/>
          <p:nvPr/>
        </p:nvSpPr>
        <p:spPr>
          <a:xfrm>
            <a:off x="853440" y="3585209"/>
            <a:ext cx="785693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</a:t>
            </a:r>
            <a:endParaRPr lang="en-US" sz="1050" dirty="0"/>
          </a:p>
        </p:txBody>
      </p:sp>
      <p:sp>
        <p:nvSpPr>
          <p:cNvPr id="64" name="Text 48"/>
          <p:cNvSpPr/>
          <p:nvPr/>
        </p:nvSpPr>
        <p:spPr>
          <a:xfrm>
            <a:off x="2506623" y="3591878"/>
            <a:ext cx="145137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75" dirty="0"/>
          </a:p>
        </p:txBody>
      </p:sp>
      <p:sp>
        <p:nvSpPr>
          <p:cNvPr id="65" name="Shape 49"/>
          <p:cNvSpPr/>
          <p:nvPr/>
        </p:nvSpPr>
        <p:spPr>
          <a:xfrm>
            <a:off x="769620" y="3922395"/>
            <a:ext cx="1889760" cy="95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6" name="Text 50"/>
          <p:cNvSpPr/>
          <p:nvPr/>
        </p:nvSpPr>
        <p:spPr>
          <a:xfrm>
            <a:off x="769620" y="4006216"/>
            <a:ext cx="19659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STAGE</a:t>
            </a:r>
            <a:endParaRPr lang="en-US" sz="750" dirty="0"/>
          </a:p>
        </p:txBody>
      </p:sp>
      <p:sp>
        <p:nvSpPr>
          <p:cNvPr id="67" name="Shape 51"/>
          <p:cNvSpPr/>
          <p:nvPr/>
        </p:nvSpPr>
        <p:spPr>
          <a:xfrm>
            <a:off x="769620" y="4177666"/>
            <a:ext cx="55792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8" name="Shape 52"/>
          <p:cNvSpPr/>
          <p:nvPr/>
        </p:nvSpPr>
        <p:spPr>
          <a:xfrm>
            <a:off x="843915" y="424910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9" name="Text 53"/>
          <p:cNvSpPr/>
          <p:nvPr/>
        </p:nvSpPr>
        <p:spPr>
          <a:xfrm>
            <a:off x="939165" y="4204334"/>
            <a:ext cx="39028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825" dirty="0"/>
          </a:p>
        </p:txBody>
      </p:sp>
      <p:sp>
        <p:nvSpPr>
          <p:cNvPr id="70" name="Shape 54"/>
          <p:cNvSpPr/>
          <p:nvPr/>
        </p:nvSpPr>
        <p:spPr>
          <a:xfrm>
            <a:off x="1365647" y="4177666"/>
            <a:ext cx="54054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1439942" y="424910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2" name="Text 56"/>
          <p:cNvSpPr/>
          <p:nvPr/>
        </p:nvSpPr>
        <p:spPr>
          <a:xfrm>
            <a:off x="1535192" y="4204334"/>
            <a:ext cx="37290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825" dirty="0"/>
          </a:p>
        </p:txBody>
      </p:sp>
      <p:sp>
        <p:nvSpPr>
          <p:cNvPr id="73" name="Shape 57"/>
          <p:cNvSpPr/>
          <p:nvPr/>
        </p:nvSpPr>
        <p:spPr>
          <a:xfrm>
            <a:off x="769620" y="4415791"/>
            <a:ext cx="79998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4" name="Shape 58"/>
          <p:cNvSpPr/>
          <p:nvPr/>
        </p:nvSpPr>
        <p:spPr>
          <a:xfrm>
            <a:off x="843915" y="448722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5" name="Text 59"/>
          <p:cNvSpPr/>
          <p:nvPr/>
        </p:nvSpPr>
        <p:spPr>
          <a:xfrm>
            <a:off x="939165" y="4442459"/>
            <a:ext cx="6323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825" dirty="0"/>
          </a:p>
        </p:txBody>
      </p:sp>
      <p:sp>
        <p:nvSpPr>
          <p:cNvPr id="76" name="Shape 60"/>
          <p:cNvSpPr/>
          <p:nvPr/>
        </p:nvSpPr>
        <p:spPr>
          <a:xfrm>
            <a:off x="1607701" y="4415791"/>
            <a:ext cx="66794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7" name="Shape 61"/>
          <p:cNvSpPr/>
          <p:nvPr/>
        </p:nvSpPr>
        <p:spPr>
          <a:xfrm>
            <a:off x="1681996" y="448722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8" name="Text 62"/>
          <p:cNvSpPr/>
          <p:nvPr/>
        </p:nvSpPr>
        <p:spPr>
          <a:xfrm>
            <a:off x="1777246" y="4442459"/>
            <a:ext cx="50030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825" dirty="0"/>
          </a:p>
        </p:txBody>
      </p:sp>
      <p:sp>
        <p:nvSpPr>
          <p:cNvPr id="79" name="Shape 63"/>
          <p:cNvSpPr/>
          <p:nvPr/>
        </p:nvSpPr>
        <p:spPr>
          <a:xfrm>
            <a:off x="2876550" y="1064895"/>
            <a:ext cx="7277100" cy="5469255"/>
          </a:xfrm>
          <a:prstGeom prst="roundRect">
            <a:avLst>
              <a:gd name="adj" fmla="val 13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0" name="Text 64"/>
          <p:cNvSpPr/>
          <p:nvPr/>
        </p:nvSpPr>
        <p:spPr>
          <a:xfrm>
            <a:off x="2998470" y="1175384"/>
            <a:ext cx="1403032" cy="182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· identity · runtime</a:t>
            </a:r>
            <a:endParaRPr lang="en-US" sz="900" dirty="0"/>
          </a:p>
        </p:txBody>
      </p:sp>
      <p:sp>
        <p:nvSpPr>
          <p:cNvPr id="81" name="Text 65"/>
          <p:cNvSpPr/>
          <p:nvPr/>
        </p:nvSpPr>
        <p:spPr>
          <a:xfrm>
            <a:off x="9239490" y="1174433"/>
            <a:ext cx="86844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12 of 62</a:t>
            </a:r>
            <a:endParaRPr lang="en-US" sz="825" dirty="0"/>
          </a:p>
        </p:txBody>
      </p:sp>
      <p:sp>
        <p:nvSpPr>
          <p:cNvPr id="82" name="Shape 66"/>
          <p:cNvSpPr/>
          <p:nvPr/>
        </p:nvSpPr>
        <p:spPr>
          <a:xfrm>
            <a:off x="2998470" y="1403984"/>
            <a:ext cx="229362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83" name="Text 67"/>
          <p:cNvSpPr/>
          <p:nvPr/>
        </p:nvSpPr>
        <p:spPr>
          <a:xfrm>
            <a:off x="3101340" y="1494472"/>
            <a:ext cx="128373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KubeArmor + eBPF</a:t>
            </a:r>
            <a:endParaRPr lang="en-US" sz="1050" dirty="0"/>
          </a:p>
        </p:txBody>
      </p:sp>
      <p:sp>
        <p:nvSpPr>
          <p:cNvPr id="84" name="Shape 68"/>
          <p:cNvSpPr/>
          <p:nvPr/>
        </p:nvSpPr>
        <p:spPr>
          <a:xfrm>
            <a:off x="4390191" y="1487805"/>
            <a:ext cx="79902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85" name="Shape 69"/>
          <p:cNvSpPr/>
          <p:nvPr/>
        </p:nvSpPr>
        <p:spPr>
          <a:xfrm>
            <a:off x="4464487" y="155924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86" name="Text 70"/>
          <p:cNvSpPr/>
          <p:nvPr/>
        </p:nvSpPr>
        <p:spPr>
          <a:xfrm>
            <a:off x="4559737" y="1522095"/>
            <a:ext cx="631388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825" dirty="0"/>
          </a:p>
        </p:txBody>
      </p:sp>
      <p:sp>
        <p:nvSpPr>
          <p:cNvPr id="87" name="Text 71"/>
          <p:cNvSpPr/>
          <p:nvPr/>
        </p:nvSpPr>
        <p:spPr>
          <a:xfrm>
            <a:off x="3101340" y="1725930"/>
            <a:ext cx="64127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</a:t>
            </a:r>
            <a:endParaRPr lang="en-US" sz="825" dirty="0"/>
          </a:p>
        </p:txBody>
      </p:sp>
      <p:sp>
        <p:nvSpPr>
          <p:cNvPr id="88" name="Text 72"/>
          <p:cNvSpPr/>
          <p:nvPr/>
        </p:nvSpPr>
        <p:spPr>
          <a:xfrm>
            <a:off x="4561641" y="1732597"/>
            <a:ext cx="70377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ingest+enforce</a:t>
            </a:r>
            <a:endParaRPr lang="en-US" sz="750" dirty="0"/>
          </a:p>
        </p:txBody>
      </p:sp>
      <p:sp>
        <p:nvSpPr>
          <p:cNvPr id="89" name="Shape 73"/>
          <p:cNvSpPr/>
          <p:nvPr/>
        </p:nvSpPr>
        <p:spPr>
          <a:xfrm>
            <a:off x="5368290" y="1403984"/>
            <a:ext cx="229362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90" name="Text 74"/>
          <p:cNvSpPr/>
          <p:nvPr/>
        </p:nvSpPr>
        <p:spPr>
          <a:xfrm>
            <a:off x="5471160" y="1494472"/>
            <a:ext cx="1050369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CloudTrail</a:t>
            </a:r>
            <a:endParaRPr lang="en-US" sz="1050" dirty="0"/>
          </a:p>
        </p:txBody>
      </p:sp>
      <p:sp>
        <p:nvSpPr>
          <p:cNvPr id="91" name="Shape 75"/>
          <p:cNvSpPr/>
          <p:nvPr/>
        </p:nvSpPr>
        <p:spPr>
          <a:xfrm>
            <a:off x="6926104" y="1487805"/>
            <a:ext cx="632936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92" name="Shape 76"/>
          <p:cNvSpPr/>
          <p:nvPr/>
        </p:nvSpPr>
        <p:spPr>
          <a:xfrm>
            <a:off x="7000399" y="1559242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93" name="Text 77"/>
          <p:cNvSpPr/>
          <p:nvPr/>
        </p:nvSpPr>
        <p:spPr>
          <a:xfrm>
            <a:off x="7095649" y="1522095"/>
            <a:ext cx="465296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syncing</a:t>
            </a:r>
            <a:endParaRPr lang="en-US" sz="825" dirty="0"/>
          </a:p>
        </p:txBody>
      </p:sp>
      <p:sp>
        <p:nvSpPr>
          <p:cNvPr id="94" name="Text 78"/>
          <p:cNvSpPr/>
          <p:nvPr/>
        </p:nvSpPr>
        <p:spPr>
          <a:xfrm>
            <a:off x="5471160" y="1725930"/>
            <a:ext cx="48970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1.2M / hr</a:t>
            </a:r>
            <a:endParaRPr lang="en-US" sz="825" dirty="0"/>
          </a:p>
        </p:txBody>
      </p:sp>
      <p:sp>
        <p:nvSpPr>
          <p:cNvPr id="95" name="Text 79"/>
          <p:cNvSpPr/>
          <p:nvPr/>
        </p:nvSpPr>
        <p:spPr>
          <a:xfrm>
            <a:off x="7010877" y="1732597"/>
            <a:ext cx="6243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ingest+triage</a:t>
            </a:r>
            <a:endParaRPr lang="en-US" sz="750" dirty="0"/>
          </a:p>
        </p:txBody>
      </p:sp>
      <p:sp>
        <p:nvSpPr>
          <p:cNvPr id="96" name="Shape 80"/>
          <p:cNvSpPr/>
          <p:nvPr/>
        </p:nvSpPr>
        <p:spPr>
          <a:xfrm>
            <a:off x="7738110" y="1403984"/>
            <a:ext cx="229362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97" name="Text 81"/>
          <p:cNvSpPr/>
          <p:nvPr/>
        </p:nvSpPr>
        <p:spPr>
          <a:xfrm>
            <a:off x="7840981" y="1494472"/>
            <a:ext cx="39933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1050" dirty="0"/>
          </a:p>
        </p:txBody>
      </p:sp>
      <p:sp>
        <p:nvSpPr>
          <p:cNvPr id="98" name="Shape 82"/>
          <p:cNvSpPr/>
          <p:nvPr/>
        </p:nvSpPr>
        <p:spPr>
          <a:xfrm>
            <a:off x="9129831" y="1487805"/>
            <a:ext cx="79902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99" name="Shape 83"/>
          <p:cNvSpPr/>
          <p:nvPr/>
        </p:nvSpPr>
        <p:spPr>
          <a:xfrm>
            <a:off x="9204127" y="155924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00" name="Text 84"/>
          <p:cNvSpPr/>
          <p:nvPr/>
        </p:nvSpPr>
        <p:spPr>
          <a:xfrm>
            <a:off x="9299377" y="1522095"/>
            <a:ext cx="631389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825" dirty="0"/>
          </a:p>
        </p:txBody>
      </p:sp>
      <p:sp>
        <p:nvSpPr>
          <p:cNvPr id="101" name="Text 85"/>
          <p:cNvSpPr/>
          <p:nvPr/>
        </p:nvSpPr>
        <p:spPr>
          <a:xfrm>
            <a:off x="7840981" y="1725930"/>
            <a:ext cx="5625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+ risk</a:t>
            </a:r>
            <a:endParaRPr lang="en-US" sz="825" dirty="0"/>
          </a:p>
        </p:txBody>
      </p:sp>
      <p:sp>
        <p:nvSpPr>
          <p:cNvPr id="102" name="Text 86"/>
          <p:cNvSpPr/>
          <p:nvPr/>
        </p:nvSpPr>
        <p:spPr>
          <a:xfrm>
            <a:off x="9274850" y="1732597"/>
            <a:ext cx="7302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ingest+respond</a:t>
            </a:r>
            <a:endParaRPr lang="en-US" sz="750" dirty="0"/>
          </a:p>
        </p:txBody>
      </p:sp>
      <p:sp>
        <p:nvSpPr>
          <p:cNvPr id="103" name="Shape 87"/>
          <p:cNvSpPr/>
          <p:nvPr/>
        </p:nvSpPr>
        <p:spPr>
          <a:xfrm>
            <a:off x="2998470" y="2032634"/>
            <a:ext cx="229362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04" name="Text 88"/>
          <p:cNvSpPr/>
          <p:nvPr/>
        </p:nvSpPr>
        <p:spPr>
          <a:xfrm>
            <a:off x="3101340" y="2123122"/>
            <a:ext cx="965359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</a:t>
            </a:r>
            <a:endParaRPr lang="en-US" sz="1050" dirty="0"/>
          </a:p>
        </p:txBody>
      </p:sp>
      <p:sp>
        <p:nvSpPr>
          <p:cNvPr id="105" name="Shape 89"/>
          <p:cNvSpPr/>
          <p:nvPr/>
        </p:nvSpPr>
        <p:spPr>
          <a:xfrm>
            <a:off x="4390191" y="2116455"/>
            <a:ext cx="79902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06" name="Shape 90"/>
          <p:cNvSpPr/>
          <p:nvPr/>
        </p:nvSpPr>
        <p:spPr>
          <a:xfrm>
            <a:off x="4464487" y="218789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07" name="Text 91"/>
          <p:cNvSpPr/>
          <p:nvPr/>
        </p:nvSpPr>
        <p:spPr>
          <a:xfrm>
            <a:off x="4559737" y="2150745"/>
            <a:ext cx="631388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825" dirty="0"/>
          </a:p>
        </p:txBody>
      </p:sp>
      <p:sp>
        <p:nvSpPr>
          <p:cNvPr id="108" name="Text 92"/>
          <p:cNvSpPr/>
          <p:nvPr/>
        </p:nvSpPr>
        <p:spPr>
          <a:xfrm>
            <a:off x="3101340" y="2354580"/>
            <a:ext cx="39088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sub</a:t>
            </a:r>
            <a:endParaRPr lang="en-US" sz="825" dirty="0"/>
          </a:p>
        </p:txBody>
      </p:sp>
      <p:sp>
        <p:nvSpPr>
          <p:cNvPr id="109" name="Text 93"/>
          <p:cNvSpPr/>
          <p:nvPr/>
        </p:nvSpPr>
        <p:spPr>
          <a:xfrm>
            <a:off x="4935022" y="2361247"/>
            <a:ext cx="3303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750" dirty="0"/>
          </a:p>
        </p:txBody>
      </p:sp>
      <p:sp>
        <p:nvSpPr>
          <p:cNvPr id="110" name="Shape 94"/>
          <p:cNvSpPr/>
          <p:nvPr/>
        </p:nvSpPr>
        <p:spPr>
          <a:xfrm>
            <a:off x="5368290" y="2032634"/>
            <a:ext cx="229362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11" name="Text 95"/>
          <p:cNvSpPr/>
          <p:nvPr/>
        </p:nvSpPr>
        <p:spPr>
          <a:xfrm>
            <a:off x="5471160" y="2123122"/>
            <a:ext cx="108073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 Audit Logs</a:t>
            </a:r>
            <a:endParaRPr lang="en-US" sz="1050" dirty="0"/>
          </a:p>
        </p:txBody>
      </p:sp>
      <p:sp>
        <p:nvSpPr>
          <p:cNvPr id="112" name="Shape 96"/>
          <p:cNvSpPr/>
          <p:nvPr/>
        </p:nvSpPr>
        <p:spPr>
          <a:xfrm>
            <a:off x="6892885" y="2116455"/>
            <a:ext cx="66615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3" name="Shape 97"/>
          <p:cNvSpPr/>
          <p:nvPr/>
        </p:nvSpPr>
        <p:spPr>
          <a:xfrm>
            <a:off x="6967181" y="2187892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14" name="Text 98"/>
          <p:cNvSpPr/>
          <p:nvPr/>
        </p:nvSpPr>
        <p:spPr>
          <a:xfrm>
            <a:off x="7062431" y="2150745"/>
            <a:ext cx="498515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825" dirty="0"/>
          </a:p>
        </p:txBody>
      </p:sp>
      <p:sp>
        <p:nvSpPr>
          <p:cNvPr id="115" name="Text 99"/>
          <p:cNvSpPr/>
          <p:nvPr/>
        </p:nvSpPr>
        <p:spPr>
          <a:xfrm>
            <a:off x="5471160" y="2354580"/>
            <a:ext cx="18097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116" name="Text 100"/>
          <p:cNvSpPr/>
          <p:nvPr/>
        </p:nvSpPr>
        <p:spPr>
          <a:xfrm>
            <a:off x="7304841" y="2361247"/>
            <a:ext cx="3303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750" dirty="0"/>
          </a:p>
        </p:txBody>
      </p:sp>
      <p:sp>
        <p:nvSpPr>
          <p:cNvPr id="117" name="Shape 101"/>
          <p:cNvSpPr/>
          <p:nvPr/>
        </p:nvSpPr>
        <p:spPr>
          <a:xfrm>
            <a:off x="7738110" y="2032634"/>
            <a:ext cx="229362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18" name="Text 102"/>
          <p:cNvSpPr/>
          <p:nvPr/>
        </p:nvSpPr>
        <p:spPr>
          <a:xfrm>
            <a:off x="7840981" y="2123122"/>
            <a:ext cx="134683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CrowdStrike Falcon</a:t>
            </a:r>
            <a:endParaRPr lang="en-US" sz="1050" dirty="0"/>
          </a:p>
        </p:txBody>
      </p:sp>
      <p:sp>
        <p:nvSpPr>
          <p:cNvPr id="119" name="Shape 103"/>
          <p:cNvSpPr/>
          <p:nvPr/>
        </p:nvSpPr>
        <p:spPr>
          <a:xfrm>
            <a:off x="9129831" y="2116455"/>
            <a:ext cx="79902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20" name="Shape 104"/>
          <p:cNvSpPr/>
          <p:nvPr/>
        </p:nvSpPr>
        <p:spPr>
          <a:xfrm>
            <a:off x="9204127" y="218789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1" name="Text 105"/>
          <p:cNvSpPr/>
          <p:nvPr/>
        </p:nvSpPr>
        <p:spPr>
          <a:xfrm>
            <a:off x="9299377" y="2150745"/>
            <a:ext cx="631389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825" dirty="0"/>
          </a:p>
        </p:txBody>
      </p:sp>
      <p:sp>
        <p:nvSpPr>
          <p:cNvPr id="122" name="Text 106"/>
          <p:cNvSpPr/>
          <p:nvPr/>
        </p:nvSpPr>
        <p:spPr>
          <a:xfrm>
            <a:off x="7840981" y="2354580"/>
            <a:ext cx="63531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events</a:t>
            </a:r>
            <a:endParaRPr lang="en-US" sz="825" dirty="0"/>
          </a:p>
        </p:txBody>
      </p:sp>
      <p:sp>
        <p:nvSpPr>
          <p:cNvPr id="123" name="Text 107"/>
          <p:cNvSpPr/>
          <p:nvPr/>
        </p:nvSpPr>
        <p:spPr>
          <a:xfrm>
            <a:off x="9274850" y="2361247"/>
            <a:ext cx="7302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ingest+respond</a:t>
            </a:r>
            <a:endParaRPr lang="en-US" sz="750" dirty="0"/>
          </a:p>
        </p:txBody>
      </p:sp>
      <p:sp>
        <p:nvSpPr>
          <p:cNvPr id="124" name="Shape 108"/>
          <p:cNvSpPr/>
          <p:nvPr/>
        </p:nvSpPr>
        <p:spPr>
          <a:xfrm>
            <a:off x="2998470" y="2661284"/>
            <a:ext cx="229362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25" name="Text 109"/>
          <p:cNvSpPr/>
          <p:nvPr/>
        </p:nvSpPr>
        <p:spPr>
          <a:xfrm>
            <a:off x="3101340" y="2751772"/>
            <a:ext cx="756523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365</a:t>
            </a:r>
            <a:endParaRPr lang="en-US" sz="1050" dirty="0"/>
          </a:p>
        </p:txBody>
      </p:sp>
      <p:sp>
        <p:nvSpPr>
          <p:cNvPr id="126" name="Shape 110"/>
          <p:cNvSpPr/>
          <p:nvPr/>
        </p:nvSpPr>
        <p:spPr>
          <a:xfrm>
            <a:off x="4390191" y="2745105"/>
            <a:ext cx="79902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27" name="Shape 111"/>
          <p:cNvSpPr/>
          <p:nvPr/>
        </p:nvSpPr>
        <p:spPr>
          <a:xfrm>
            <a:off x="4464487" y="281654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8" name="Text 112"/>
          <p:cNvSpPr/>
          <p:nvPr/>
        </p:nvSpPr>
        <p:spPr>
          <a:xfrm>
            <a:off x="4559737" y="2779395"/>
            <a:ext cx="631388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825" dirty="0"/>
          </a:p>
        </p:txBody>
      </p:sp>
      <p:sp>
        <p:nvSpPr>
          <p:cNvPr id="129" name="Text 113"/>
          <p:cNvSpPr/>
          <p:nvPr/>
        </p:nvSpPr>
        <p:spPr>
          <a:xfrm>
            <a:off x="3101340" y="2983230"/>
            <a:ext cx="58852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 · drive</a:t>
            </a:r>
            <a:endParaRPr lang="en-US" sz="825" dirty="0"/>
          </a:p>
        </p:txBody>
      </p:sp>
      <p:sp>
        <p:nvSpPr>
          <p:cNvPr id="130" name="Text 114"/>
          <p:cNvSpPr/>
          <p:nvPr/>
        </p:nvSpPr>
        <p:spPr>
          <a:xfrm>
            <a:off x="4535210" y="2989897"/>
            <a:ext cx="7302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ingest+respond</a:t>
            </a:r>
            <a:endParaRPr lang="en-US" sz="750" dirty="0"/>
          </a:p>
        </p:txBody>
      </p:sp>
      <p:sp>
        <p:nvSpPr>
          <p:cNvPr id="131" name="Shape 115"/>
          <p:cNvSpPr/>
          <p:nvPr/>
        </p:nvSpPr>
        <p:spPr>
          <a:xfrm>
            <a:off x="5368290" y="2661284"/>
            <a:ext cx="229362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32" name="Text 116"/>
          <p:cNvSpPr/>
          <p:nvPr/>
        </p:nvSpPr>
        <p:spPr>
          <a:xfrm>
            <a:off x="5471160" y="2751772"/>
            <a:ext cx="428744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050" dirty="0"/>
          </a:p>
        </p:txBody>
      </p:sp>
      <p:sp>
        <p:nvSpPr>
          <p:cNvPr id="133" name="Shape 117"/>
          <p:cNvSpPr/>
          <p:nvPr/>
        </p:nvSpPr>
        <p:spPr>
          <a:xfrm>
            <a:off x="6926104" y="2745105"/>
            <a:ext cx="632936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34" name="Shape 118"/>
          <p:cNvSpPr/>
          <p:nvPr/>
        </p:nvSpPr>
        <p:spPr>
          <a:xfrm>
            <a:off x="7000399" y="2816542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35" name="Text 119"/>
          <p:cNvSpPr/>
          <p:nvPr/>
        </p:nvSpPr>
        <p:spPr>
          <a:xfrm>
            <a:off x="7095649" y="2779395"/>
            <a:ext cx="465296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syncing</a:t>
            </a:r>
            <a:endParaRPr lang="en-US" sz="825" dirty="0"/>
          </a:p>
        </p:txBody>
      </p:sp>
      <p:sp>
        <p:nvSpPr>
          <p:cNvPr id="136" name="Text 120"/>
          <p:cNvSpPr/>
          <p:nvPr/>
        </p:nvSpPr>
        <p:spPr>
          <a:xfrm>
            <a:off x="5471160" y="2983230"/>
            <a:ext cx="62674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+ DLP</a:t>
            </a:r>
            <a:endParaRPr lang="en-US" sz="825" dirty="0"/>
          </a:p>
        </p:txBody>
      </p:sp>
      <p:sp>
        <p:nvSpPr>
          <p:cNvPr id="137" name="Text 121"/>
          <p:cNvSpPr/>
          <p:nvPr/>
        </p:nvSpPr>
        <p:spPr>
          <a:xfrm>
            <a:off x="6905030" y="2989897"/>
            <a:ext cx="7302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ingest+respond</a:t>
            </a:r>
            <a:endParaRPr lang="en-US" sz="750" dirty="0"/>
          </a:p>
        </p:txBody>
      </p:sp>
      <p:sp>
        <p:nvSpPr>
          <p:cNvPr id="138" name="Shape 122"/>
          <p:cNvSpPr/>
          <p:nvPr/>
        </p:nvSpPr>
        <p:spPr>
          <a:xfrm>
            <a:off x="7738110" y="2661284"/>
            <a:ext cx="229362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39" name="Text 123"/>
          <p:cNvSpPr/>
          <p:nvPr/>
        </p:nvSpPr>
        <p:spPr>
          <a:xfrm>
            <a:off x="7840981" y="2751772"/>
            <a:ext cx="536734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050" dirty="0"/>
          </a:p>
        </p:txBody>
      </p:sp>
      <p:sp>
        <p:nvSpPr>
          <p:cNvPr id="140" name="Shape 124"/>
          <p:cNvSpPr/>
          <p:nvPr/>
        </p:nvSpPr>
        <p:spPr>
          <a:xfrm>
            <a:off x="9262707" y="2745105"/>
            <a:ext cx="66615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1" name="Shape 125"/>
          <p:cNvSpPr/>
          <p:nvPr/>
        </p:nvSpPr>
        <p:spPr>
          <a:xfrm>
            <a:off x="9337000" y="2816542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42" name="Text 126"/>
          <p:cNvSpPr/>
          <p:nvPr/>
        </p:nvSpPr>
        <p:spPr>
          <a:xfrm>
            <a:off x="9432250" y="2779395"/>
            <a:ext cx="498516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825" dirty="0"/>
          </a:p>
        </p:txBody>
      </p:sp>
      <p:sp>
        <p:nvSpPr>
          <p:cNvPr id="143" name="Text 127"/>
          <p:cNvSpPr/>
          <p:nvPr/>
        </p:nvSpPr>
        <p:spPr>
          <a:xfrm>
            <a:off x="7840981" y="2983230"/>
            <a:ext cx="18097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144" name="Text 128"/>
          <p:cNvSpPr/>
          <p:nvPr/>
        </p:nvSpPr>
        <p:spPr>
          <a:xfrm>
            <a:off x="9674663" y="2989897"/>
            <a:ext cx="3303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750" dirty="0"/>
          </a:p>
        </p:txBody>
      </p:sp>
      <p:sp>
        <p:nvSpPr>
          <p:cNvPr id="145" name="Shape 129"/>
          <p:cNvSpPr/>
          <p:nvPr/>
        </p:nvSpPr>
        <p:spPr>
          <a:xfrm>
            <a:off x="2998470" y="3289934"/>
            <a:ext cx="229362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46" name="Text 130"/>
          <p:cNvSpPr/>
          <p:nvPr/>
        </p:nvSpPr>
        <p:spPr>
          <a:xfrm>
            <a:off x="3101340" y="3380422"/>
            <a:ext cx="111668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</a:t>
            </a:r>
            <a:endParaRPr lang="en-US" sz="1050" dirty="0"/>
          </a:p>
        </p:txBody>
      </p:sp>
      <p:sp>
        <p:nvSpPr>
          <p:cNvPr id="147" name="Shape 131"/>
          <p:cNvSpPr/>
          <p:nvPr/>
        </p:nvSpPr>
        <p:spPr>
          <a:xfrm>
            <a:off x="4390191" y="3373755"/>
            <a:ext cx="79902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48" name="Shape 132"/>
          <p:cNvSpPr/>
          <p:nvPr/>
        </p:nvSpPr>
        <p:spPr>
          <a:xfrm>
            <a:off x="4464487" y="344519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49" name="Text 133"/>
          <p:cNvSpPr/>
          <p:nvPr/>
        </p:nvSpPr>
        <p:spPr>
          <a:xfrm>
            <a:off x="4559737" y="3408045"/>
            <a:ext cx="631388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825" dirty="0"/>
          </a:p>
        </p:txBody>
      </p:sp>
      <p:sp>
        <p:nvSpPr>
          <p:cNvPr id="150" name="Text 134"/>
          <p:cNvSpPr/>
          <p:nvPr/>
        </p:nvSpPr>
        <p:spPr>
          <a:xfrm>
            <a:off x="3101340" y="3611880"/>
            <a:ext cx="35587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65k id</a:t>
            </a:r>
            <a:endParaRPr lang="en-US" sz="825" dirty="0"/>
          </a:p>
        </p:txBody>
      </p:sp>
      <p:sp>
        <p:nvSpPr>
          <p:cNvPr id="151" name="Text 135"/>
          <p:cNvSpPr/>
          <p:nvPr/>
        </p:nvSpPr>
        <p:spPr>
          <a:xfrm>
            <a:off x="4535210" y="3618547"/>
            <a:ext cx="7302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ingest+respond</a:t>
            </a:r>
            <a:endParaRPr lang="en-US" sz="750" dirty="0"/>
          </a:p>
        </p:txBody>
      </p:sp>
      <p:sp>
        <p:nvSpPr>
          <p:cNvPr id="152" name="Shape 136"/>
          <p:cNvSpPr/>
          <p:nvPr/>
        </p:nvSpPr>
        <p:spPr>
          <a:xfrm>
            <a:off x="5368290" y="3289934"/>
            <a:ext cx="229362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53" name="Text 137"/>
          <p:cNvSpPr/>
          <p:nvPr/>
        </p:nvSpPr>
        <p:spPr>
          <a:xfrm>
            <a:off x="5471160" y="3380422"/>
            <a:ext cx="110740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STIX / TAXII feed</a:t>
            </a:r>
            <a:endParaRPr lang="en-US" sz="1050" dirty="0"/>
          </a:p>
        </p:txBody>
      </p:sp>
      <p:sp>
        <p:nvSpPr>
          <p:cNvPr id="154" name="Shape 138"/>
          <p:cNvSpPr/>
          <p:nvPr/>
        </p:nvSpPr>
        <p:spPr>
          <a:xfrm>
            <a:off x="6760012" y="3373755"/>
            <a:ext cx="79902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55" name="Shape 139"/>
          <p:cNvSpPr/>
          <p:nvPr/>
        </p:nvSpPr>
        <p:spPr>
          <a:xfrm>
            <a:off x="6834307" y="344519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56" name="Text 140"/>
          <p:cNvSpPr/>
          <p:nvPr/>
        </p:nvSpPr>
        <p:spPr>
          <a:xfrm>
            <a:off x="6929557" y="3408045"/>
            <a:ext cx="631388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825" dirty="0"/>
          </a:p>
        </p:txBody>
      </p:sp>
      <p:sp>
        <p:nvSpPr>
          <p:cNvPr id="157" name="Text 141"/>
          <p:cNvSpPr/>
          <p:nvPr/>
        </p:nvSpPr>
        <p:spPr>
          <a:xfrm>
            <a:off x="5471160" y="3611880"/>
            <a:ext cx="41993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feeds</a:t>
            </a:r>
            <a:endParaRPr lang="en-US" sz="825" dirty="0"/>
          </a:p>
        </p:txBody>
      </p:sp>
      <p:sp>
        <p:nvSpPr>
          <p:cNvPr id="158" name="Text 142"/>
          <p:cNvSpPr/>
          <p:nvPr/>
        </p:nvSpPr>
        <p:spPr>
          <a:xfrm>
            <a:off x="7304841" y="3618547"/>
            <a:ext cx="3303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750" dirty="0"/>
          </a:p>
        </p:txBody>
      </p:sp>
      <p:sp>
        <p:nvSpPr>
          <p:cNvPr id="159" name="Shape 143"/>
          <p:cNvSpPr/>
          <p:nvPr/>
        </p:nvSpPr>
        <p:spPr>
          <a:xfrm>
            <a:off x="7738110" y="3289934"/>
            <a:ext cx="229362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60" name="Text 144"/>
          <p:cNvSpPr/>
          <p:nvPr/>
        </p:nvSpPr>
        <p:spPr>
          <a:xfrm>
            <a:off x="7840981" y="3380422"/>
            <a:ext cx="118038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audit</a:t>
            </a:r>
            <a:endParaRPr lang="en-US" sz="1050" dirty="0"/>
          </a:p>
        </p:txBody>
      </p:sp>
      <p:sp>
        <p:nvSpPr>
          <p:cNvPr id="161" name="Shape 145"/>
          <p:cNvSpPr/>
          <p:nvPr/>
        </p:nvSpPr>
        <p:spPr>
          <a:xfrm>
            <a:off x="9129831" y="3373755"/>
            <a:ext cx="79902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62" name="Shape 146"/>
          <p:cNvSpPr/>
          <p:nvPr/>
        </p:nvSpPr>
        <p:spPr>
          <a:xfrm>
            <a:off x="9204127" y="344519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63" name="Text 147"/>
          <p:cNvSpPr/>
          <p:nvPr/>
        </p:nvSpPr>
        <p:spPr>
          <a:xfrm>
            <a:off x="9299377" y="3408045"/>
            <a:ext cx="631389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825" dirty="0"/>
          </a:p>
        </p:txBody>
      </p:sp>
      <p:sp>
        <p:nvSpPr>
          <p:cNvPr id="164" name="Text 148"/>
          <p:cNvSpPr/>
          <p:nvPr/>
        </p:nvSpPr>
        <p:spPr>
          <a:xfrm>
            <a:off x="7840981" y="3611880"/>
            <a:ext cx="58293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clusters</a:t>
            </a:r>
            <a:endParaRPr lang="en-US" sz="825" dirty="0"/>
          </a:p>
        </p:txBody>
      </p:sp>
      <p:sp>
        <p:nvSpPr>
          <p:cNvPr id="165" name="Text 149"/>
          <p:cNvSpPr/>
          <p:nvPr/>
        </p:nvSpPr>
        <p:spPr>
          <a:xfrm>
            <a:off x="9674663" y="3618547"/>
            <a:ext cx="3303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750" dirty="0"/>
          </a:p>
        </p:txBody>
      </p:sp>
      <p:sp>
        <p:nvSpPr>
          <p:cNvPr id="166" name="Shape 150"/>
          <p:cNvSpPr/>
          <p:nvPr/>
        </p:nvSpPr>
        <p:spPr>
          <a:xfrm>
            <a:off x="8100060" y="6034088"/>
            <a:ext cx="2072640" cy="538163"/>
          </a:xfrm>
          <a:prstGeom prst="roundRect">
            <a:avLst>
              <a:gd name="adj" fmla="val 708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167" name="Text 151"/>
          <p:cNvSpPr/>
          <p:nvPr/>
        </p:nvSpPr>
        <p:spPr>
          <a:xfrm>
            <a:off x="8183880" y="6098858"/>
            <a:ext cx="1981200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runtime ground truth is on by default. data advantage on screen ONE.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7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91441" y="34099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31611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catalog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001917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109906" y="144780"/>
            <a:ext cx="116264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· integrations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348751" y="74295"/>
            <a:ext cx="4142184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1622" y="167641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623072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6" y="108584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1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4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1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1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0" y="167641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0" y="100966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1" y="107633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1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8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590550"/>
            <a:ext cx="325336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integrations, tagged by lifecycle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689414" y="593408"/>
            <a:ext cx="81057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7763710" y="66484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0" name="Text 25"/>
          <p:cNvSpPr/>
          <p:nvPr/>
        </p:nvSpPr>
        <p:spPr>
          <a:xfrm>
            <a:off x="7858960" y="620078"/>
            <a:ext cx="6429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· 28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8557140" y="593408"/>
            <a:ext cx="882134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8631436" y="664845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43" name="Text 28"/>
          <p:cNvSpPr/>
          <p:nvPr/>
        </p:nvSpPr>
        <p:spPr>
          <a:xfrm>
            <a:off x="8726686" y="620078"/>
            <a:ext cx="71449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 · 3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9496425" y="593408"/>
            <a:ext cx="657225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9570720" y="664845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46" name="Text 31"/>
          <p:cNvSpPr/>
          <p:nvPr/>
        </p:nvSpPr>
        <p:spPr>
          <a:xfrm>
            <a:off x="9665970" y="620078"/>
            <a:ext cx="48958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failing · 1</a:t>
            </a:r>
            <a:endParaRPr lang="en-US" sz="825" dirty="0"/>
          </a:p>
        </p:txBody>
      </p:sp>
      <p:sp>
        <p:nvSpPr>
          <p:cNvPr id="47" name="Shape 32"/>
          <p:cNvSpPr/>
          <p:nvPr/>
        </p:nvSpPr>
        <p:spPr>
          <a:xfrm>
            <a:off x="666750" y="891541"/>
            <a:ext cx="9486900" cy="744855"/>
          </a:xfrm>
          <a:prstGeom prst="roundRect">
            <a:avLst>
              <a:gd name="adj" fmla="val 1023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8" name="Shape 33"/>
          <p:cNvSpPr/>
          <p:nvPr/>
        </p:nvSpPr>
        <p:spPr>
          <a:xfrm>
            <a:off x="788670" y="994409"/>
            <a:ext cx="353854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49" name="Shape 34"/>
          <p:cNvSpPr/>
          <p:nvPr/>
        </p:nvSpPr>
        <p:spPr>
          <a:xfrm>
            <a:off x="862966" y="1065847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0" name="Text 35"/>
          <p:cNvSpPr/>
          <p:nvPr/>
        </p:nvSpPr>
        <p:spPr>
          <a:xfrm>
            <a:off x="958216" y="1028700"/>
            <a:ext cx="186214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825" dirty="0"/>
          </a:p>
        </p:txBody>
      </p:sp>
      <p:sp>
        <p:nvSpPr>
          <p:cNvPr id="51" name="Shape 36"/>
          <p:cNvSpPr/>
          <p:nvPr/>
        </p:nvSpPr>
        <p:spPr>
          <a:xfrm>
            <a:off x="1199673" y="994409"/>
            <a:ext cx="92618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2" name="Shape 37"/>
          <p:cNvSpPr/>
          <p:nvPr/>
        </p:nvSpPr>
        <p:spPr>
          <a:xfrm>
            <a:off x="1273969" y="106584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3" name="Text 38"/>
          <p:cNvSpPr/>
          <p:nvPr/>
        </p:nvSpPr>
        <p:spPr>
          <a:xfrm>
            <a:off x="1369219" y="1028700"/>
            <a:ext cx="758547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825" dirty="0"/>
          </a:p>
        </p:txBody>
      </p:sp>
      <p:sp>
        <p:nvSpPr>
          <p:cNvPr id="54" name="Shape 39"/>
          <p:cNvSpPr/>
          <p:nvPr/>
        </p:nvSpPr>
        <p:spPr>
          <a:xfrm>
            <a:off x="2183011" y="994409"/>
            <a:ext cx="70485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2257306" y="106584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6" name="Text 41"/>
          <p:cNvSpPr/>
          <p:nvPr/>
        </p:nvSpPr>
        <p:spPr>
          <a:xfrm>
            <a:off x="2352556" y="1028700"/>
            <a:ext cx="537209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825" dirty="0"/>
          </a:p>
        </p:txBody>
      </p:sp>
      <p:sp>
        <p:nvSpPr>
          <p:cNvPr id="57" name="Shape 42"/>
          <p:cNvSpPr/>
          <p:nvPr/>
        </p:nvSpPr>
        <p:spPr>
          <a:xfrm>
            <a:off x="2945011" y="994409"/>
            <a:ext cx="53125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3019306" y="106584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9" name="Text 44"/>
          <p:cNvSpPr/>
          <p:nvPr/>
        </p:nvSpPr>
        <p:spPr>
          <a:xfrm>
            <a:off x="3114556" y="1028700"/>
            <a:ext cx="363617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825" dirty="0"/>
          </a:p>
        </p:txBody>
      </p:sp>
      <p:sp>
        <p:nvSpPr>
          <p:cNvPr id="60" name="Shape 45"/>
          <p:cNvSpPr/>
          <p:nvPr/>
        </p:nvSpPr>
        <p:spPr>
          <a:xfrm>
            <a:off x="3533419" y="994409"/>
            <a:ext cx="62972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1" name="Shape 46"/>
          <p:cNvSpPr/>
          <p:nvPr/>
        </p:nvSpPr>
        <p:spPr>
          <a:xfrm>
            <a:off x="3607712" y="106584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2" name="Text 47"/>
          <p:cNvSpPr/>
          <p:nvPr/>
        </p:nvSpPr>
        <p:spPr>
          <a:xfrm>
            <a:off x="3702962" y="1028700"/>
            <a:ext cx="462083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825" dirty="0"/>
          </a:p>
        </p:txBody>
      </p:sp>
      <p:sp>
        <p:nvSpPr>
          <p:cNvPr id="63" name="Shape 48"/>
          <p:cNvSpPr/>
          <p:nvPr/>
        </p:nvSpPr>
        <p:spPr>
          <a:xfrm>
            <a:off x="4220289" y="994409"/>
            <a:ext cx="49815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4" name="Shape 49"/>
          <p:cNvSpPr/>
          <p:nvPr/>
        </p:nvSpPr>
        <p:spPr>
          <a:xfrm>
            <a:off x="4294584" y="106584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5" name="Text 50"/>
          <p:cNvSpPr/>
          <p:nvPr/>
        </p:nvSpPr>
        <p:spPr>
          <a:xfrm>
            <a:off x="4389834" y="1028700"/>
            <a:ext cx="330517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825" dirty="0"/>
          </a:p>
        </p:txBody>
      </p:sp>
      <p:sp>
        <p:nvSpPr>
          <p:cNvPr id="66" name="Shape 51"/>
          <p:cNvSpPr/>
          <p:nvPr/>
        </p:nvSpPr>
        <p:spPr>
          <a:xfrm>
            <a:off x="4775597" y="994409"/>
            <a:ext cx="779859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7" name="Shape 52"/>
          <p:cNvSpPr/>
          <p:nvPr/>
        </p:nvSpPr>
        <p:spPr>
          <a:xfrm>
            <a:off x="4849892" y="106584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8" name="Text 53"/>
          <p:cNvSpPr/>
          <p:nvPr/>
        </p:nvSpPr>
        <p:spPr>
          <a:xfrm>
            <a:off x="4945142" y="1028700"/>
            <a:ext cx="612218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</a:t>
            </a:r>
            <a:endParaRPr lang="en-US" sz="825" dirty="0"/>
          </a:p>
        </p:txBody>
      </p:sp>
      <p:sp>
        <p:nvSpPr>
          <p:cNvPr id="69" name="Shape 54"/>
          <p:cNvSpPr/>
          <p:nvPr/>
        </p:nvSpPr>
        <p:spPr>
          <a:xfrm>
            <a:off x="5612606" y="994409"/>
            <a:ext cx="62841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0" name="Shape 55"/>
          <p:cNvSpPr/>
          <p:nvPr/>
        </p:nvSpPr>
        <p:spPr>
          <a:xfrm>
            <a:off x="5686902" y="106584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1" name="Text 56"/>
          <p:cNvSpPr/>
          <p:nvPr/>
        </p:nvSpPr>
        <p:spPr>
          <a:xfrm>
            <a:off x="5782152" y="1028700"/>
            <a:ext cx="460772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825" dirty="0"/>
          </a:p>
        </p:txBody>
      </p:sp>
      <p:sp>
        <p:nvSpPr>
          <p:cNvPr id="72" name="Shape 57"/>
          <p:cNvSpPr/>
          <p:nvPr/>
        </p:nvSpPr>
        <p:spPr>
          <a:xfrm>
            <a:off x="6298169" y="994409"/>
            <a:ext cx="45291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3" name="Shape 58"/>
          <p:cNvSpPr/>
          <p:nvPr/>
        </p:nvSpPr>
        <p:spPr>
          <a:xfrm>
            <a:off x="6372465" y="106584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4" name="Text 59"/>
          <p:cNvSpPr/>
          <p:nvPr/>
        </p:nvSpPr>
        <p:spPr>
          <a:xfrm>
            <a:off x="6467715" y="1028700"/>
            <a:ext cx="285273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</a:t>
            </a:r>
            <a:endParaRPr lang="en-US" sz="825" dirty="0"/>
          </a:p>
        </p:txBody>
      </p:sp>
      <p:sp>
        <p:nvSpPr>
          <p:cNvPr id="75" name="Shape 60"/>
          <p:cNvSpPr/>
          <p:nvPr/>
        </p:nvSpPr>
        <p:spPr>
          <a:xfrm>
            <a:off x="6808233" y="994409"/>
            <a:ext cx="69913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6882526" y="106584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7" name="Text 62"/>
          <p:cNvSpPr/>
          <p:nvPr/>
        </p:nvSpPr>
        <p:spPr>
          <a:xfrm>
            <a:off x="6977776" y="1028700"/>
            <a:ext cx="531495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</a:t>
            </a:r>
            <a:endParaRPr lang="en-US" sz="825" dirty="0"/>
          </a:p>
        </p:txBody>
      </p:sp>
      <p:sp>
        <p:nvSpPr>
          <p:cNvPr id="78" name="Shape 63"/>
          <p:cNvSpPr/>
          <p:nvPr/>
        </p:nvSpPr>
        <p:spPr>
          <a:xfrm>
            <a:off x="7564517" y="994409"/>
            <a:ext cx="49232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9" name="Shape 64"/>
          <p:cNvSpPr/>
          <p:nvPr/>
        </p:nvSpPr>
        <p:spPr>
          <a:xfrm>
            <a:off x="7638813" y="106584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80" name="Text 65"/>
          <p:cNvSpPr/>
          <p:nvPr/>
        </p:nvSpPr>
        <p:spPr>
          <a:xfrm>
            <a:off x="7734063" y="1028700"/>
            <a:ext cx="324683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</a:t>
            </a:r>
            <a:endParaRPr lang="en-US" sz="825" dirty="0"/>
          </a:p>
        </p:txBody>
      </p:sp>
      <p:sp>
        <p:nvSpPr>
          <p:cNvPr id="81" name="Shape 66"/>
          <p:cNvSpPr/>
          <p:nvPr/>
        </p:nvSpPr>
        <p:spPr>
          <a:xfrm>
            <a:off x="8113991" y="994409"/>
            <a:ext cx="69127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2" name="Shape 67"/>
          <p:cNvSpPr/>
          <p:nvPr/>
        </p:nvSpPr>
        <p:spPr>
          <a:xfrm>
            <a:off x="8188286" y="106584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83" name="Text 68"/>
          <p:cNvSpPr/>
          <p:nvPr/>
        </p:nvSpPr>
        <p:spPr>
          <a:xfrm>
            <a:off x="8283536" y="1028700"/>
            <a:ext cx="523635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</a:t>
            </a:r>
            <a:endParaRPr lang="en-US" sz="825" dirty="0"/>
          </a:p>
        </p:txBody>
      </p:sp>
      <p:sp>
        <p:nvSpPr>
          <p:cNvPr id="84" name="Shape 69"/>
          <p:cNvSpPr/>
          <p:nvPr/>
        </p:nvSpPr>
        <p:spPr>
          <a:xfrm>
            <a:off x="788670" y="1270634"/>
            <a:ext cx="8022193" cy="2628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94A3B8"/>
            </a:solidFill>
            <a:prstDash val="solid"/>
          </a:ln>
        </p:spPr>
      </p:sp>
      <p:sp>
        <p:nvSpPr>
          <p:cNvPr id="85" name="Text 70"/>
          <p:cNvSpPr/>
          <p:nvPr/>
        </p:nvSpPr>
        <p:spPr>
          <a:xfrm>
            <a:off x="891541" y="1315403"/>
            <a:ext cx="1662589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⌕ search 100+ integrations…</a:t>
            </a:r>
            <a:endParaRPr lang="en-US" sz="975" dirty="0"/>
          </a:p>
        </p:txBody>
      </p:sp>
      <p:sp>
        <p:nvSpPr>
          <p:cNvPr id="86" name="Shape 71"/>
          <p:cNvSpPr/>
          <p:nvPr/>
        </p:nvSpPr>
        <p:spPr>
          <a:xfrm>
            <a:off x="8868015" y="1276350"/>
            <a:ext cx="1163717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7" name="Text 72"/>
          <p:cNvSpPr/>
          <p:nvPr/>
        </p:nvSpPr>
        <p:spPr>
          <a:xfrm>
            <a:off x="8970883" y="1322070"/>
            <a:ext cx="103417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build connector</a:t>
            </a:r>
            <a:endParaRPr lang="en-US" sz="900" dirty="0"/>
          </a:p>
        </p:txBody>
      </p:sp>
      <p:sp>
        <p:nvSpPr>
          <p:cNvPr id="88" name="Shape 73"/>
          <p:cNvSpPr/>
          <p:nvPr/>
        </p:nvSpPr>
        <p:spPr>
          <a:xfrm>
            <a:off x="666750" y="1731645"/>
            <a:ext cx="9486900" cy="480250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9" name="Shape 74"/>
          <p:cNvSpPr/>
          <p:nvPr/>
        </p:nvSpPr>
        <p:spPr>
          <a:xfrm>
            <a:off x="750570" y="1815466"/>
            <a:ext cx="1275874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90" name="Shape 75"/>
          <p:cNvSpPr/>
          <p:nvPr/>
        </p:nvSpPr>
        <p:spPr>
          <a:xfrm>
            <a:off x="853441" y="1899284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91" name="Text 76"/>
          <p:cNvSpPr/>
          <p:nvPr/>
        </p:nvSpPr>
        <p:spPr>
          <a:xfrm>
            <a:off x="853441" y="1899284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900" dirty="0"/>
          </a:p>
        </p:txBody>
      </p:sp>
      <p:sp>
        <p:nvSpPr>
          <p:cNvPr id="92" name="Text 77"/>
          <p:cNvSpPr/>
          <p:nvPr/>
        </p:nvSpPr>
        <p:spPr>
          <a:xfrm>
            <a:off x="1120141" y="1917383"/>
            <a:ext cx="760809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KubeArmor</a:t>
            </a:r>
            <a:endParaRPr lang="en-US" sz="975" dirty="0"/>
          </a:p>
        </p:txBody>
      </p:sp>
      <p:sp>
        <p:nvSpPr>
          <p:cNvPr id="93" name="Shape 78"/>
          <p:cNvSpPr/>
          <p:nvPr/>
        </p:nvSpPr>
        <p:spPr>
          <a:xfrm>
            <a:off x="1847373" y="1965959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4" name="Text 79"/>
          <p:cNvSpPr/>
          <p:nvPr/>
        </p:nvSpPr>
        <p:spPr>
          <a:xfrm>
            <a:off x="853441" y="2127884"/>
            <a:ext cx="114633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eBPF · enforce</a:t>
            </a:r>
            <a:endParaRPr lang="en-US" sz="788" dirty="0"/>
          </a:p>
        </p:txBody>
      </p:sp>
      <p:sp>
        <p:nvSpPr>
          <p:cNvPr id="95" name="Text 80"/>
          <p:cNvSpPr/>
          <p:nvPr/>
        </p:nvSpPr>
        <p:spPr>
          <a:xfrm>
            <a:off x="853441" y="2296478"/>
            <a:ext cx="11463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·ingest+enforce</a:t>
            </a:r>
            <a:endParaRPr lang="en-US" sz="750" dirty="0"/>
          </a:p>
        </p:txBody>
      </p:sp>
      <p:sp>
        <p:nvSpPr>
          <p:cNvPr id="96" name="Shape 81"/>
          <p:cNvSpPr/>
          <p:nvPr/>
        </p:nvSpPr>
        <p:spPr>
          <a:xfrm>
            <a:off x="2083594" y="1815466"/>
            <a:ext cx="1307306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97" name="Shape 82"/>
          <p:cNvSpPr/>
          <p:nvPr/>
        </p:nvSpPr>
        <p:spPr>
          <a:xfrm>
            <a:off x="2186464" y="1899284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98" name="Text 83"/>
          <p:cNvSpPr/>
          <p:nvPr/>
        </p:nvSpPr>
        <p:spPr>
          <a:xfrm>
            <a:off x="2186464" y="1899284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" dirty="0"/>
          </a:p>
        </p:txBody>
      </p:sp>
      <p:sp>
        <p:nvSpPr>
          <p:cNvPr id="99" name="Text 84"/>
          <p:cNvSpPr/>
          <p:nvPr/>
        </p:nvSpPr>
        <p:spPr>
          <a:xfrm>
            <a:off x="2453164" y="1917383"/>
            <a:ext cx="834866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CrowdStrike</a:t>
            </a:r>
            <a:endParaRPr lang="en-US" sz="975" dirty="0"/>
          </a:p>
        </p:txBody>
      </p:sp>
      <p:sp>
        <p:nvSpPr>
          <p:cNvPr id="100" name="Shape 85"/>
          <p:cNvSpPr/>
          <p:nvPr/>
        </p:nvSpPr>
        <p:spPr>
          <a:xfrm>
            <a:off x="3211830" y="1965959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1" name="Text 86"/>
          <p:cNvSpPr/>
          <p:nvPr/>
        </p:nvSpPr>
        <p:spPr>
          <a:xfrm>
            <a:off x="2186464" y="2127884"/>
            <a:ext cx="1177766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· respond</a:t>
            </a:r>
            <a:endParaRPr lang="en-US" sz="788" dirty="0"/>
          </a:p>
        </p:txBody>
      </p:sp>
      <p:sp>
        <p:nvSpPr>
          <p:cNvPr id="102" name="Text 87"/>
          <p:cNvSpPr/>
          <p:nvPr/>
        </p:nvSpPr>
        <p:spPr>
          <a:xfrm>
            <a:off x="2186464" y="2296478"/>
            <a:ext cx="11777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·ingest+respond</a:t>
            </a:r>
            <a:endParaRPr lang="en-US" sz="750" dirty="0"/>
          </a:p>
        </p:txBody>
      </p:sp>
      <p:sp>
        <p:nvSpPr>
          <p:cNvPr id="103" name="Shape 88"/>
          <p:cNvSpPr/>
          <p:nvPr/>
        </p:nvSpPr>
        <p:spPr>
          <a:xfrm>
            <a:off x="3448050" y="1815466"/>
            <a:ext cx="1132761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04" name="Shape 89"/>
          <p:cNvSpPr/>
          <p:nvPr/>
        </p:nvSpPr>
        <p:spPr>
          <a:xfrm>
            <a:off x="3550920" y="1967866"/>
            <a:ext cx="124778" cy="209550"/>
          </a:xfrm>
          <a:prstGeom prst="roundRect">
            <a:avLst>
              <a:gd name="adj" fmla="val 38168"/>
            </a:avLst>
          </a:prstGeom>
          <a:solidFill>
            <a:srgbClr val="F1F5F9"/>
          </a:solidFill>
          <a:ln/>
        </p:spPr>
      </p:sp>
      <p:sp>
        <p:nvSpPr>
          <p:cNvPr id="105" name="Text 90"/>
          <p:cNvSpPr/>
          <p:nvPr/>
        </p:nvSpPr>
        <p:spPr>
          <a:xfrm>
            <a:off x="3550920" y="1967866"/>
            <a:ext cx="20097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00" dirty="0"/>
          </a:p>
        </p:txBody>
      </p:sp>
      <p:sp>
        <p:nvSpPr>
          <p:cNvPr id="106" name="Text 91"/>
          <p:cNvSpPr/>
          <p:nvPr/>
        </p:nvSpPr>
        <p:spPr>
          <a:xfrm>
            <a:off x="3732849" y="1899284"/>
            <a:ext cx="77474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Defender</a:t>
            </a:r>
            <a:endParaRPr lang="en-US" sz="975" dirty="0"/>
          </a:p>
        </p:txBody>
      </p:sp>
      <p:sp>
        <p:nvSpPr>
          <p:cNvPr id="107" name="Shape 92"/>
          <p:cNvSpPr/>
          <p:nvPr/>
        </p:nvSpPr>
        <p:spPr>
          <a:xfrm>
            <a:off x="4431388" y="2034541"/>
            <a:ext cx="46553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08" name="Text 93"/>
          <p:cNvSpPr/>
          <p:nvPr/>
        </p:nvSpPr>
        <p:spPr>
          <a:xfrm>
            <a:off x="3550920" y="2265045"/>
            <a:ext cx="100322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· respond</a:t>
            </a:r>
            <a:endParaRPr lang="en-US" sz="788" dirty="0"/>
          </a:p>
        </p:txBody>
      </p:sp>
      <p:sp>
        <p:nvSpPr>
          <p:cNvPr id="109" name="Text 94"/>
          <p:cNvSpPr/>
          <p:nvPr/>
        </p:nvSpPr>
        <p:spPr>
          <a:xfrm>
            <a:off x="3550920" y="2433638"/>
            <a:ext cx="1003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 ingest+respond</a:t>
            </a:r>
            <a:endParaRPr lang="en-US" sz="750" dirty="0"/>
          </a:p>
        </p:txBody>
      </p:sp>
      <p:sp>
        <p:nvSpPr>
          <p:cNvPr id="110" name="Shape 95"/>
          <p:cNvSpPr/>
          <p:nvPr/>
        </p:nvSpPr>
        <p:spPr>
          <a:xfrm>
            <a:off x="4637961" y="1815466"/>
            <a:ext cx="1293733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11" name="Shape 96"/>
          <p:cNvSpPr/>
          <p:nvPr/>
        </p:nvSpPr>
        <p:spPr>
          <a:xfrm>
            <a:off x="4740832" y="1899284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112" name="Text 97"/>
          <p:cNvSpPr/>
          <p:nvPr/>
        </p:nvSpPr>
        <p:spPr>
          <a:xfrm>
            <a:off x="4740832" y="1899284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00" dirty="0"/>
          </a:p>
        </p:txBody>
      </p:sp>
      <p:sp>
        <p:nvSpPr>
          <p:cNvPr id="113" name="Text 98"/>
          <p:cNvSpPr/>
          <p:nvPr/>
        </p:nvSpPr>
        <p:spPr>
          <a:xfrm>
            <a:off x="5007532" y="1917383"/>
            <a:ext cx="821293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SentinelOne</a:t>
            </a:r>
            <a:endParaRPr lang="en-US" sz="975" dirty="0"/>
          </a:p>
        </p:txBody>
      </p:sp>
      <p:sp>
        <p:nvSpPr>
          <p:cNvPr id="114" name="Shape 99"/>
          <p:cNvSpPr/>
          <p:nvPr/>
        </p:nvSpPr>
        <p:spPr>
          <a:xfrm>
            <a:off x="5752623" y="1965959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5" name="Text 100"/>
          <p:cNvSpPr/>
          <p:nvPr/>
        </p:nvSpPr>
        <p:spPr>
          <a:xfrm>
            <a:off x="4740832" y="2127884"/>
            <a:ext cx="1164193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· respond</a:t>
            </a:r>
            <a:endParaRPr lang="en-US" sz="788" dirty="0"/>
          </a:p>
        </p:txBody>
      </p:sp>
      <p:sp>
        <p:nvSpPr>
          <p:cNvPr id="116" name="Text 101"/>
          <p:cNvSpPr/>
          <p:nvPr/>
        </p:nvSpPr>
        <p:spPr>
          <a:xfrm>
            <a:off x="4740832" y="2296478"/>
            <a:ext cx="11641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·ingest+respond</a:t>
            </a:r>
            <a:endParaRPr lang="en-US" sz="750" dirty="0"/>
          </a:p>
        </p:txBody>
      </p:sp>
      <p:sp>
        <p:nvSpPr>
          <p:cNvPr id="117" name="Shape 102"/>
          <p:cNvSpPr/>
          <p:nvPr/>
        </p:nvSpPr>
        <p:spPr>
          <a:xfrm>
            <a:off x="5988844" y="1815466"/>
            <a:ext cx="1233845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18" name="Shape 103"/>
          <p:cNvSpPr/>
          <p:nvPr/>
        </p:nvSpPr>
        <p:spPr>
          <a:xfrm>
            <a:off x="6091714" y="1967866"/>
            <a:ext cx="170855" cy="209550"/>
          </a:xfrm>
          <a:prstGeom prst="roundRect">
            <a:avLst>
              <a:gd name="adj" fmla="val 27875"/>
            </a:avLst>
          </a:prstGeom>
          <a:solidFill>
            <a:srgbClr val="F1F5F9"/>
          </a:solidFill>
          <a:ln/>
        </p:spPr>
      </p:sp>
      <p:sp>
        <p:nvSpPr>
          <p:cNvPr id="119" name="Text 104"/>
          <p:cNvSpPr/>
          <p:nvPr/>
        </p:nvSpPr>
        <p:spPr>
          <a:xfrm>
            <a:off x="6091714" y="1967866"/>
            <a:ext cx="2470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120" name="Text 105"/>
          <p:cNvSpPr/>
          <p:nvPr/>
        </p:nvSpPr>
        <p:spPr>
          <a:xfrm>
            <a:off x="6319719" y="1899284"/>
            <a:ext cx="81355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CloudTrail</a:t>
            </a:r>
            <a:endParaRPr lang="en-US" sz="975" dirty="0"/>
          </a:p>
        </p:txBody>
      </p:sp>
      <p:sp>
        <p:nvSpPr>
          <p:cNvPr id="121" name="Shape 106"/>
          <p:cNvSpPr/>
          <p:nvPr/>
        </p:nvSpPr>
        <p:spPr>
          <a:xfrm>
            <a:off x="7057074" y="2034541"/>
            <a:ext cx="62746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2" name="Text 107"/>
          <p:cNvSpPr/>
          <p:nvPr/>
        </p:nvSpPr>
        <p:spPr>
          <a:xfrm>
            <a:off x="6091714" y="2265045"/>
            <a:ext cx="1104305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788" dirty="0"/>
          </a:p>
        </p:txBody>
      </p:sp>
      <p:sp>
        <p:nvSpPr>
          <p:cNvPr id="123" name="Text 108"/>
          <p:cNvSpPr/>
          <p:nvPr/>
        </p:nvSpPr>
        <p:spPr>
          <a:xfrm>
            <a:off x="6091714" y="2433638"/>
            <a:ext cx="11043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124" name="Shape 109"/>
          <p:cNvSpPr/>
          <p:nvPr/>
        </p:nvSpPr>
        <p:spPr>
          <a:xfrm>
            <a:off x="7279839" y="1815466"/>
            <a:ext cx="1183958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25" name="Shape 110"/>
          <p:cNvSpPr/>
          <p:nvPr/>
        </p:nvSpPr>
        <p:spPr>
          <a:xfrm>
            <a:off x="7382710" y="1967866"/>
            <a:ext cx="173593" cy="209550"/>
          </a:xfrm>
          <a:prstGeom prst="roundRect">
            <a:avLst>
              <a:gd name="adj" fmla="val 27435"/>
            </a:avLst>
          </a:prstGeom>
          <a:solidFill>
            <a:srgbClr val="F1F5F9"/>
          </a:solidFill>
          <a:ln/>
        </p:spPr>
      </p:sp>
      <p:sp>
        <p:nvSpPr>
          <p:cNvPr id="126" name="Text 111"/>
          <p:cNvSpPr/>
          <p:nvPr/>
        </p:nvSpPr>
        <p:spPr>
          <a:xfrm>
            <a:off x="7382710" y="1967866"/>
            <a:ext cx="24979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127" name="Text 112"/>
          <p:cNvSpPr/>
          <p:nvPr/>
        </p:nvSpPr>
        <p:spPr>
          <a:xfrm>
            <a:off x="7613452" y="1899284"/>
            <a:ext cx="75985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</a:t>
            </a:r>
            <a:endParaRPr lang="en-US" sz="975" dirty="0"/>
          </a:p>
        </p:txBody>
      </p:sp>
      <p:sp>
        <p:nvSpPr>
          <p:cNvPr id="128" name="Shape 113"/>
          <p:cNvSpPr/>
          <p:nvPr/>
        </p:nvSpPr>
        <p:spPr>
          <a:xfrm>
            <a:off x="8297110" y="2034541"/>
            <a:ext cx="63818" cy="76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9" name="Text 114"/>
          <p:cNvSpPr/>
          <p:nvPr/>
        </p:nvSpPr>
        <p:spPr>
          <a:xfrm>
            <a:off x="7382710" y="2265045"/>
            <a:ext cx="105441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788" dirty="0"/>
          </a:p>
        </p:txBody>
      </p:sp>
      <p:sp>
        <p:nvSpPr>
          <p:cNvPr id="130" name="Text 115"/>
          <p:cNvSpPr/>
          <p:nvPr/>
        </p:nvSpPr>
        <p:spPr>
          <a:xfrm>
            <a:off x="7382710" y="2433638"/>
            <a:ext cx="10544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131" name="Shape 116"/>
          <p:cNvSpPr/>
          <p:nvPr/>
        </p:nvSpPr>
        <p:spPr>
          <a:xfrm>
            <a:off x="8520947" y="1815466"/>
            <a:ext cx="1076206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32" name="Shape 117"/>
          <p:cNvSpPr/>
          <p:nvPr/>
        </p:nvSpPr>
        <p:spPr>
          <a:xfrm>
            <a:off x="8623815" y="1967866"/>
            <a:ext cx="188238" cy="209550"/>
          </a:xfrm>
          <a:prstGeom prst="roundRect">
            <a:avLst>
              <a:gd name="adj" fmla="val 25300"/>
            </a:avLst>
          </a:prstGeom>
          <a:solidFill>
            <a:srgbClr val="F1F5F9"/>
          </a:solidFill>
          <a:ln/>
        </p:spPr>
      </p:sp>
      <p:sp>
        <p:nvSpPr>
          <p:cNvPr id="133" name="Text 118"/>
          <p:cNvSpPr/>
          <p:nvPr/>
        </p:nvSpPr>
        <p:spPr>
          <a:xfrm>
            <a:off x="8623815" y="1967866"/>
            <a:ext cx="2644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900" dirty="0"/>
          </a:p>
        </p:txBody>
      </p:sp>
      <p:sp>
        <p:nvSpPr>
          <p:cNvPr id="134" name="Text 119"/>
          <p:cNvSpPr/>
          <p:nvPr/>
        </p:nvSpPr>
        <p:spPr>
          <a:xfrm>
            <a:off x="8869205" y="1899284"/>
            <a:ext cx="63234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 Audit</a:t>
            </a:r>
            <a:endParaRPr lang="en-US" sz="975" dirty="0"/>
          </a:p>
        </p:txBody>
      </p:sp>
      <p:sp>
        <p:nvSpPr>
          <p:cNvPr id="135" name="Shape 120"/>
          <p:cNvSpPr/>
          <p:nvPr/>
        </p:nvSpPr>
        <p:spPr>
          <a:xfrm>
            <a:off x="9425346" y="2034541"/>
            <a:ext cx="68937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6" name="Text 121"/>
          <p:cNvSpPr/>
          <p:nvPr/>
        </p:nvSpPr>
        <p:spPr>
          <a:xfrm>
            <a:off x="8623815" y="2265045"/>
            <a:ext cx="946666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audit</a:t>
            </a:r>
            <a:endParaRPr lang="en-US" sz="788" dirty="0"/>
          </a:p>
        </p:txBody>
      </p:sp>
      <p:sp>
        <p:nvSpPr>
          <p:cNvPr id="137" name="Text 122"/>
          <p:cNvSpPr/>
          <p:nvPr/>
        </p:nvSpPr>
        <p:spPr>
          <a:xfrm>
            <a:off x="8623815" y="2433638"/>
            <a:ext cx="9466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138" name="Shape 123"/>
          <p:cNvSpPr/>
          <p:nvPr/>
        </p:nvSpPr>
        <p:spPr>
          <a:xfrm>
            <a:off x="9654301" y="1815466"/>
            <a:ext cx="1183243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39" name="Shape 124"/>
          <p:cNvSpPr/>
          <p:nvPr/>
        </p:nvSpPr>
        <p:spPr>
          <a:xfrm>
            <a:off x="9757172" y="1899284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140" name="Text 125"/>
          <p:cNvSpPr/>
          <p:nvPr/>
        </p:nvSpPr>
        <p:spPr>
          <a:xfrm>
            <a:off x="9757172" y="1899284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00" dirty="0"/>
          </a:p>
        </p:txBody>
      </p:sp>
      <p:sp>
        <p:nvSpPr>
          <p:cNvPr id="141" name="Text 126"/>
          <p:cNvSpPr/>
          <p:nvPr/>
        </p:nvSpPr>
        <p:spPr>
          <a:xfrm>
            <a:off x="10023872" y="1917383"/>
            <a:ext cx="376238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975" dirty="0"/>
          </a:p>
        </p:txBody>
      </p:sp>
      <p:sp>
        <p:nvSpPr>
          <p:cNvPr id="142" name="Shape 127"/>
          <p:cNvSpPr/>
          <p:nvPr/>
        </p:nvSpPr>
        <p:spPr>
          <a:xfrm>
            <a:off x="10658475" y="1965959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3" name="Text 128"/>
          <p:cNvSpPr/>
          <p:nvPr/>
        </p:nvSpPr>
        <p:spPr>
          <a:xfrm>
            <a:off x="9757172" y="2127884"/>
            <a:ext cx="1053703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788" dirty="0"/>
          </a:p>
        </p:txBody>
      </p:sp>
      <p:sp>
        <p:nvSpPr>
          <p:cNvPr id="144" name="Text 129"/>
          <p:cNvSpPr/>
          <p:nvPr/>
        </p:nvSpPr>
        <p:spPr>
          <a:xfrm>
            <a:off x="9757172" y="2296478"/>
            <a:ext cx="105370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·ingest+respond</a:t>
            </a:r>
            <a:endParaRPr lang="en-US" sz="750" dirty="0"/>
          </a:p>
        </p:txBody>
      </p:sp>
      <p:sp>
        <p:nvSpPr>
          <p:cNvPr id="145" name="Shape 130"/>
          <p:cNvSpPr/>
          <p:nvPr/>
        </p:nvSpPr>
        <p:spPr>
          <a:xfrm>
            <a:off x="750570" y="2841308"/>
            <a:ext cx="1275874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46" name="Shape 131"/>
          <p:cNvSpPr/>
          <p:nvPr/>
        </p:nvSpPr>
        <p:spPr>
          <a:xfrm>
            <a:off x="853441" y="2993708"/>
            <a:ext cx="204549" cy="209550"/>
          </a:xfrm>
          <a:prstGeom prst="roundRect">
            <a:avLst>
              <a:gd name="adj" fmla="val 23283"/>
            </a:avLst>
          </a:prstGeom>
          <a:solidFill>
            <a:srgbClr val="F1F5F9"/>
          </a:solidFill>
          <a:ln/>
        </p:spPr>
      </p:sp>
      <p:sp>
        <p:nvSpPr>
          <p:cNvPr id="147" name="Text 132"/>
          <p:cNvSpPr/>
          <p:nvPr/>
        </p:nvSpPr>
        <p:spPr>
          <a:xfrm>
            <a:off x="853441" y="2993708"/>
            <a:ext cx="28074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900" dirty="0"/>
          </a:p>
        </p:txBody>
      </p:sp>
      <p:sp>
        <p:nvSpPr>
          <p:cNvPr id="148" name="Text 133"/>
          <p:cNvSpPr/>
          <p:nvPr/>
        </p:nvSpPr>
        <p:spPr>
          <a:xfrm>
            <a:off x="1115139" y="2925128"/>
            <a:ext cx="81010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Identity</a:t>
            </a:r>
            <a:endParaRPr lang="en-US" sz="975" dirty="0"/>
          </a:p>
        </p:txBody>
      </p:sp>
      <p:sp>
        <p:nvSpPr>
          <p:cNvPr id="149" name="Shape 134"/>
          <p:cNvSpPr/>
          <p:nvPr/>
        </p:nvSpPr>
        <p:spPr>
          <a:xfrm>
            <a:off x="1849041" y="3060383"/>
            <a:ext cx="74533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0" name="Text 135"/>
          <p:cNvSpPr/>
          <p:nvPr/>
        </p:nvSpPr>
        <p:spPr>
          <a:xfrm>
            <a:off x="853441" y="3290888"/>
            <a:ext cx="114633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788" dirty="0"/>
          </a:p>
        </p:txBody>
      </p:sp>
      <p:sp>
        <p:nvSpPr>
          <p:cNvPr id="151" name="Text 136"/>
          <p:cNvSpPr/>
          <p:nvPr/>
        </p:nvSpPr>
        <p:spPr>
          <a:xfrm>
            <a:off x="853441" y="3459480"/>
            <a:ext cx="11463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·ingest+respond</a:t>
            </a:r>
            <a:endParaRPr lang="en-US" sz="750" dirty="0"/>
          </a:p>
        </p:txBody>
      </p:sp>
      <p:sp>
        <p:nvSpPr>
          <p:cNvPr id="152" name="Shape 137"/>
          <p:cNvSpPr/>
          <p:nvPr/>
        </p:nvSpPr>
        <p:spPr>
          <a:xfrm>
            <a:off x="2083594" y="2841308"/>
            <a:ext cx="1307306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53" name="Shape 138"/>
          <p:cNvSpPr/>
          <p:nvPr/>
        </p:nvSpPr>
        <p:spPr>
          <a:xfrm>
            <a:off x="2186464" y="2993708"/>
            <a:ext cx="174665" cy="209550"/>
          </a:xfrm>
          <a:prstGeom prst="roundRect">
            <a:avLst>
              <a:gd name="adj" fmla="val 27266"/>
            </a:avLst>
          </a:prstGeom>
          <a:solidFill>
            <a:srgbClr val="F1F5F9"/>
          </a:solidFill>
          <a:ln/>
        </p:spPr>
      </p:sp>
      <p:sp>
        <p:nvSpPr>
          <p:cNvPr id="154" name="Text 139"/>
          <p:cNvSpPr/>
          <p:nvPr/>
        </p:nvSpPr>
        <p:spPr>
          <a:xfrm>
            <a:off x="2186464" y="2993708"/>
            <a:ext cx="2508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155" name="Text 140"/>
          <p:cNvSpPr/>
          <p:nvPr/>
        </p:nvSpPr>
        <p:spPr>
          <a:xfrm>
            <a:off x="2418278" y="2925128"/>
            <a:ext cx="88177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</a:t>
            </a:r>
            <a:endParaRPr lang="en-US" sz="975" dirty="0"/>
          </a:p>
        </p:txBody>
      </p:sp>
      <p:sp>
        <p:nvSpPr>
          <p:cNvPr id="156" name="Shape 141"/>
          <p:cNvSpPr/>
          <p:nvPr/>
        </p:nvSpPr>
        <p:spPr>
          <a:xfrm>
            <a:off x="3223857" y="3060383"/>
            <a:ext cx="64175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7" name="Text 142"/>
          <p:cNvSpPr/>
          <p:nvPr/>
        </p:nvSpPr>
        <p:spPr>
          <a:xfrm>
            <a:off x="2186464" y="3290888"/>
            <a:ext cx="1177766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788" dirty="0"/>
          </a:p>
        </p:txBody>
      </p:sp>
      <p:sp>
        <p:nvSpPr>
          <p:cNvPr id="158" name="Text 143"/>
          <p:cNvSpPr/>
          <p:nvPr/>
        </p:nvSpPr>
        <p:spPr>
          <a:xfrm>
            <a:off x="2186464" y="3459480"/>
            <a:ext cx="11777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159" name="Shape 144"/>
          <p:cNvSpPr/>
          <p:nvPr/>
        </p:nvSpPr>
        <p:spPr>
          <a:xfrm>
            <a:off x="3448050" y="2841308"/>
            <a:ext cx="1132761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60" name="Shape 145"/>
          <p:cNvSpPr/>
          <p:nvPr/>
        </p:nvSpPr>
        <p:spPr>
          <a:xfrm>
            <a:off x="3550920" y="2925128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161" name="Text 146"/>
          <p:cNvSpPr/>
          <p:nvPr/>
        </p:nvSpPr>
        <p:spPr>
          <a:xfrm>
            <a:off x="3550920" y="2925128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162" name="Text 147"/>
          <p:cNvSpPr/>
          <p:nvPr/>
        </p:nvSpPr>
        <p:spPr>
          <a:xfrm>
            <a:off x="3817620" y="2943225"/>
            <a:ext cx="60317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 MFA</a:t>
            </a:r>
            <a:endParaRPr lang="en-US" sz="975" dirty="0"/>
          </a:p>
        </p:txBody>
      </p:sp>
      <p:sp>
        <p:nvSpPr>
          <p:cNvPr id="163" name="Shape 148"/>
          <p:cNvSpPr/>
          <p:nvPr/>
        </p:nvSpPr>
        <p:spPr>
          <a:xfrm>
            <a:off x="4401741" y="2991803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4" name="Text 149"/>
          <p:cNvSpPr/>
          <p:nvPr/>
        </p:nvSpPr>
        <p:spPr>
          <a:xfrm>
            <a:off x="3550920" y="3153728"/>
            <a:ext cx="100322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</a:t>
            </a:r>
            <a:endParaRPr lang="en-US" sz="788" dirty="0"/>
          </a:p>
        </p:txBody>
      </p:sp>
      <p:sp>
        <p:nvSpPr>
          <p:cNvPr id="165" name="Text 150"/>
          <p:cNvSpPr/>
          <p:nvPr/>
        </p:nvSpPr>
        <p:spPr>
          <a:xfrm>
            <a:off x="3550920" y="3322320"/>
            <a:ext cx="100322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166" name="Shape 151"/>
          <p:cNvSpPr/>
          <p:nvPr/>
        </p:nvSpPr>
        <p:spPr>
          <a:xfrm>
            <a:off x="4637961" y="2841308"/>
            <a:ext cx="1293733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67" name="Shape 152"/>
          <p:cNvSpPr/>
          <p:nvPr/>
        </p:nvSpPr>
        <p:spPr>
          <a:xfrm>
            <a:off x="4740832" y="2925128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168" name="Text 153"/>
          <p:cNvSpPr/>
          <p:nvPr/>
        </p:nvSpPr>
        <p:spPr>
          <a:xfrm>
            <a:off x="4740832" y="2925128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00" dirty="0"/>
          </a:p>
        </p:txBody>
      </p:sp>
      <p:sp>
        <p:nvSpPr>
          <p:cNvPr id="169" name="Text 154"/>
          <p:cNvSpPr/>
          <p:nvPr/>
        </p:nvSpPr>
        <p:spPr>
          <a:xfrm>
            <a:off x="5007532" y="2943225"/>
            <a:ext cx="707946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365</a:t>
            </a:r>
            <a:endParaRPr lang="en-US" sz="975" dirty="0"/>
          </a:p>
        </p:txBody>
      </p:sp>
      <p:sp>
        <p:nvSpPr>
          <p:cNvPr id="170" name="Shape 155"/>
          <p:cNvSpPr/>
          <p:nvPr/>
        </p:nvSpPr>
        <p:spPr>
          <a:xfrm>
            <a:off x="5752623" y="2991803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1" name="Text 156"/>
          <p:cNvSpPr/>
          <p:nvPr/>
        </p:nvSpPr>
        <p:spPr>
          <a:xfrm>
            <a:off x="4740832" y="3153728"/>
            <a:ext cx="1164193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788" dirty="0"/>
          </a:p>
        </p:txBody>
      </p:sp>
      <p:sp>
        <p:nvSpPr>
          <p:cNvPr id="172" name="Text 157"/>
          <p:cNvSpPr/>
          <p:nvPr/>
        </p:nvSpPr>
        <p:spPr>
          <a:xfrm>
            <a:off x="4740832" y="3322320"/>
            <a:ext cx="11641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·ingest+respond</a:t>
            </a:r>
            <a:endParaRPr lang="en-US" sz="750" dirty="0"/>
          </a:p>
        </p:txBody>
      </p:sp>
      <p:sp>
        <p:nvSpPr>
          <p:cNvPr id="173" name="Shape 158"/>
          <p:cNvSpPr/>
          <p:nvPr/>
        </p:nvSpPr>
        <p:spPr>
          <a:xfrm>
            <a:off x="5988844" y="2841308"/>
            <a:ext cx="1233845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74" name="Shape 159"/>
          <p:cNvSpPr/>
          <p:nvPr/>
        </p:nvSpPr>
        <p:spPr>
          <a:xfrm>
            <a:off x="6091714" y="2993708"/>
            <a:ext cx="140851" cy="209550"/>
          </a:xfrm>
          <a:prstGeom prst="roundRect">
            <a:avLst>
              <a:gd name="adj" fmla="val 33812"/>
            </a:avLst>
          </a:prstGeom>
          <a:solidFill>
            <a:srgbClr val="F1F5F9"/>
          </a:solidFill>
          <a:ln/>
        </p:spPr>
      </p:sp>
      <p:sp>
        <p:nvSpPr>
          <p:cNvPr id="175" name="Text 160"/>
          <p:cNvSpPr/>
          <p:nvPr/>
        </p:nvSpPr>
        <p:spPr>
          <a:xfrm>
            <a:off x="6091714" y="2993708"/>
            <a:ext cx="2170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900" dirty="0"/>
          </a:p>
        </p:txBody>
      </p:sp>
      <p:sp>
        <p:nvSpPr>
          <p:cNvPr id="176" name="Text 161"/>
          <p:cNvSpPr/>
          <p:nvPr/>
        </p:nvSpPr>
        <p:spPr>
          <a:xfrm>
            <a:off x="6289716" y="2925128"/>
            <a:ext cx="85403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Workspace</a:t>
            </a:r>
            <a:endParaRPr lang="en-US" sz="975" dirty="0"/>
          </a:p>
        </p:txBody>
      </p:sp>
      <p:sp>
        <p:nvSpPr>
          <p:cNvPr id="177" name="Shape 162"/>
          <p:cNvSpPr/>
          <p:nvPr/>
        </p:nvSpPr>
        <p:spPr>
          <a:xfrm>
            <a:off x="7067550" y="3060383"/>
            <a:ext cx="52268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78" name="Text 163"/>
          <p:cNvSpPr/>
          <p:nvPr/>
        </p:nvSpPr>
        <p:spPr>
          <a:xfrm>
            <a:off x="6091714" y="3290888"/>
            <a:ext cx="1104305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788" dirty="0"/>
          </a:p>
        </p:txBody>
      </p:sp>
      <p:sp>
        <p:nvSpPr>
          <p:cNvPr id="179" name="Text 164"/>
          <p:cNvSpPr/>
          <p:nvPr/>
        </p:nvSpPr>
        <p:spPr>
          <a:xfrm>
            <a:off x="6091714" y="3459480"/>
            <a:ext cx="11043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·ingest+respond</a:t>
            </a:r>
            <a:endParaRPr lang="en-US" sz="750" dirty="0"/>
          </a:p>
        </p:txBody>
      </p:sp>
      <p:sp>
        <p:nvSpPr>
          <p:cNvPr id="180" name="Shape 165"/>
          <p:cNvSpPr/>
          <p:nvPr/>
        </p:nvSpPr>
        <p:spPr>
          <a:xfrm>
            <a:off x="7279839" y="2841308"/>
            <a:ext cx="1183958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81" name="Shape 166"/>
          <p:cNvSpPr/>
          <p:nvPr/>
        </p:nvSpPr>
        <p:spPr>
          <a:xfrm>
            <a:off x="7382710" y="2925128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182" name="Text 167"/>
          <p:cNvSpPr/>
          <p:nvPr/>
        </p:nvSpPr>
        <p:spPr>
          <a:xfrm>
            <a:off x="7382710" y="2925128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00" dirty="0"/>
          </a:p>
        </p:txBody>
      </p:sp>
      <p:sp>
        <p:nvSpPr>
          <p:cNvPr id="183" name="Text 168"/>
          <p:cNvSpPr/>
          <p:nvPr/>
        </p:nvSpPr>
        <p:spPr>
          <a:xfrm>
            <a:off x="7649410" y="2943225"/>
            <a:ext cx="403503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975" dirty="0"/>
          </a:p>
        </p:txBody>
      </p:sp>
      <p:sp>
        <p:nvSpPr>
          <p:cNvPr id="184" name="Shape 169"/>
          <p:cNvSpPr/>
          <p:nvPr/>
        </p:nvSpPr>
        <p:spPr>
          <a:xfrm>
            <a:off x="8284727" y="2991803"/>
            <a:ext cx="76200" cy="76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5" name="Text 170"/>
          <p:cNvSpPr/>
          <p:nvPr/>
        </p:nvSpPr>
        <p:spPr>
          <a:xfrm>
            <a:off x="7382710" y="3153728"/>
            <a:ext cx="105441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788" dirty="0"/>
          </a:p>
        </p:txBody>
      </p:sp>
      <p:sp>
        <p:nvSpPr>
          <p:cNvPr id="186" name="Text 171"/>
          <p:cNvSpPr/>
          <p:nvPr/>
        </p:nvSpPr>
        <p:spPr>
          <a:xfrm>
            <a:off x="7382710" y="3322320"/>
            <a:ext cx="10544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·ingest+respond</a:t>
            </a:r>
            <a:endParaRPr lang="en-US" sz="750" dirty="0"/>
          </a:p>
        </p:txBody>
      </p:sp>
      <p:sp>
        <p:nvSpPr>
          <p:cNvPr id="187" name="Shape 172"/>
          <p:cNvSpPr/>
          <p:nvPr/>
        </p:nvSpPr>
        <p:spPr>
          <a:xfrm>
            <a:off x="8520947" y="2841308"/>
            <a:ext cx="1076206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88" name="Shape 173"/>
          <p:cNvSpPr/>
          <p:nvPr/>
        </p:nvSpPr>
        <p:spPr>
          <a:xfrm>
            <a:off x="8623815" y="2925128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189" name="Text 174"/>
          <p:cNvSpPr/>
          <p:nvPr/>
        </p:nvSpPr>
        <p:spPr>
          <a:xfrm>
            <a:off x="8623815" y="2925128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900" dirty="0"/>
          </a:p>
        </p:txBody>
      </p:sp>
      <p:sp>
        <p:nvSpPr>
          <p:cNvPr id="190" name="Text 175"/>
          <p:cNvSpPr/>
          <p:nvPr/>
        </p:nvSpPr>
        <p:spPr>
          <a:xfrm>
            <a:off x="8890515" y="2943225"/>
            <a:ext cx="503873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975" dirty="0"/>
          </a:p>
        </p:txBody>
      </p:sp>
      <p:sp>
        <p:nvSpPr>
          <p:cNvPr id="191" name="Shape 176"/>
          <p:cNvSpPr/>
          <p:nvPr/>
        </p:nvSpPr>
        <p:spPr>
          <a:xfrm>
            <a:off x="9418083" y="2991803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2" name="Text 177"/>
          <p:cNvSpPr/>
          <p:nvPr/>
        </p:nvSpPr>
        <p:spPr>
          <a:xfrm>
            <a:off x="8623815" y="3153728"/>
            <a:ext cx="946666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788" dirty="0"/>
          </a:p>
        </p:txBody>
      </p:sp>
      <p:sp>
        <p:nvSpPr>
          <p:cNvPr id="193" name="Text 178"/>
          <p:cNvSpPr/>
          <p:nvPr/>
        </p:nvSpPr>
        <p:spPr>
          <a:xfrm>
            <a:off x="8623815" y="3322320"/>
            <a:ext cx="9466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194" name="Shape 179"/>
          <p:cNvSpPr/>
          <p:nvPr/>
        </p:nvSpPr>
        <p:spPr>
          <a:xfrm>
            <a:off x="9654301" y="2841308"/>
            <a:ext cx="1183243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95" name="Shape 180"/>
          <p:cNvSpPr/>
          <p:nvPr/>
        </p:nvSpPr>
        <p:spPr>
          <a:xfrm>
            <a:off x="9757172" y="2925128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196" name="Text 181"/>
          <p:cNvSpPr/>
          <p:nvPr/>
        </p:nvSpPr>
        <p:spPr>
          <a:xfrm>
            <a:off x="9757172" y="2925128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900" dirty="0"/>
          </a:p>
        </p:txBody>
      </p:sp>
      <p:sp>
        <p:nvSpPr>
          <p:cNvPr id="197" name="Text 182"/>
          <p:cNvSpPr/>
          <p:nvPr/>
        </p:nvSpPr>
        <p:spPr>
          <a:xfrm>
            <a:off x="10023872" y="2943225"/>
            <a:ext cx="271224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</a:t>
            </a:r>
            <a:endParaRPr lang="en-US" sz="975" dirty="0"/>
          </a:p>
        </p:txBody>
      </p:sp>
      <p:sp>
        <p:nvSpPr>
          <p:cNvPr id="198" name="Shape 183"/>
          <p:cNvSpPr/>
          <p:nvPr/>
        </p:nvSpPr>
        <p:spPr>
          <a:xfrm>
            <a:off x="10658475" y="2991803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9" name="Text 184"/>
          <p:cNvSpPr/>
          <p:nvPr/>
        </p:nvSpPr>
        <p:spPr>
          <a:xfrm>
            <a:off x="9757172" y="3153728"/>
            <a:ext cx="1053703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</a:t>
            </a:r>
            <a:endParaRPr lang="en-US" sz="788" dirty="0"/>
          </a:p>
        </p:txBody>
      </p:sp>
      <p:sp>
        <p:nvSpPr>
          <p:cNvPr id="200" name="Text 185"/>
          <p:cNvSpPr/>
          <p:nvPr/>
        </p:nvSpPr>
        <p:spPr>
          <a:xfrm>
            <a:off x="9757172" y="3322320"/>
            <a:ext cx="105370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·ingest+respond</a:t>
            </a:r>
            <a:endParaRPr lang="en-US" sz="750" dirty="0"/>
          </a:p>
        </p:txBody>
      </p:sp>
      <p:sp>
        <p:nvSpPr>
          <p:cNvPr id="201" name="Shape 186"/>
          <p:cNvSpPr/>
          <p:nvPr/>
        </p:nvSpPr>
        <p:spPr>
          <a:xfrm>
            <a:off x="750570" y="3733800"/>
            <a:ext cx="1275874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202" name="Shape 187"/>
          <p:cNvSpPr/>
          <p:nvPr/>
        </p:nvSpPr>
        <p:spPr>
          <a:xfrm>
            <a:off x="853441" y="3817620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203" name="Text 188"/>
          <p:cNvSpPr/>
          <p:nvPr/>
        </p:nvSpPr>
        <p:spPr>
          <a:xfrm>
            <a:off x="853441" y="381762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00" dirty="0"/>
          </a:p>
        </p:txBody>
      </p:sp>
      <p:sp>
        <p:nvSpPr>
          <p:cNvPr id="204" name="Text 189"/>
          <p:cNvSpPr/>
          <p:nvPr/>
        </p:nvSpPr>
        <p:spPr>
          <a:xfrm>
            <a:off x="1120141" y="3835717"/>
            <a:ext cx="803434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975" dirty="0"/>
          </a:p>
        </p:txBody>
      </p:sp>
      <p:sp>
        <p:nvSpPr>
          <p:cNvPr id="205" name="Shape 190"/>
          <p:cNvSpPr/>
          <p:nvPr/>
        </p:nvSpPr>
        <p:spPr>
          <a:xfrm>
            <a:off x="1847373" y="3884295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6" name="Text 191"/>
          <p:cNvSpPr/>
          <p:nvPr/>
        </p:nvSpPr>
        <p:spPr>
          <a:xfrm>
            <a:off x="853441" y="4046220"/>
            <a:ext cx="114633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</a:t>
            </a:r>
            <a:endParaRPr lang="en-US" sz="788" dirty="0"/>
          </a:p>
        </p:txBody>
      </p:sp>
      <p:sp>
        <p:nvSpPr>
          <p:cNvPr id="207" name="Text 192"/>
          <p:cNvSpPr/>
          <p:nvPr/>
        </p:nvSpPr>
        <p:spPr>
          <a:xfrm>
            <a:off x="853441" y="4214813"/>
            <a:ext cx="11463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·respond</a:t>
            </a:r>
            <a:endParaRPr lang="en-US" sz="750" dirty="0"/>
          </a:p>
        </p:txBody>
      </p:sp>
      <p:sp>
        <p:nvSpPr>
          <p:cNvPr id="208" name="Shape 193"/>
          <p:cNvSpPr/>
          <p:nvPr/>
        </p:nvSpPr>
        <p:spPr>
          <a:xfrm>
            <a:off x="2083594" y="3733800"/>
            <a:ext cx="1307306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209" name="Shape 194"/>
          <p:cNvSpPr/>
          <p:nvPr/>
        </p:nvSpPr>
        <p:spPr>
          <a:xfrm>
            <a:off x="2186464" y="3817620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210" name="Text 195"/>
          <p:cNvSpPr/>
          <p:nvPr/>
        </p:nvSpPr>
        <p:spPr>
          <a:xfrm>
            <a:off x="2186464" y="381762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900" dirty="0"/>
          </a:p>
        </p:txBody>
      </p:sp>
      <p:sp>
        <p:nvSpPr>
          <p:cNvPr id="211" name="Text 196"/>
          <p:cNvSpPr/>
          <p:nvPr/>
        </p:nvSpPr>
        <p:spPr>
          <a:xfrm>
            <a:off x="2453164" y="3835717"/>
            <a:ext cx="710208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PagerDuty</a:t>
            </a:r>
            <a:endParaRPr lang="en-US" sz="975" dirty="0"/>
          </a:p>
        </p:txBody>
      </p:sp>
      <p:sp>
        <p:nvSpPr>
          <p:cNvPr id="212" name="Shape 197"/>
          <p:cNvSpPr/>
          <p:nvPr/>
        </p:nvSpPr>
        <p:spPr>
          <a:xfrm>
            <a:off x="3211830" y="3884295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3" name="Text 198"/>
          <p:cNvSpPr/>
          <p:nvPr/>
        </p:nvSpPr>
        <p:spPr>
          <a:xfrm>
            <a:off x="2186464" y="4046220"/>
            <a:ext cx="1177766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paging</a:t>
            </a:r>
            <a:endParaRPr lang="en-US" sz="788" dirty="0"/>
          </a:p>
        </p:txBody>
      </p:sp>
      <p:sp>
        <p:nvSpPr>
          <p:cNvPr id="214" name="Text 199"/>
          <p:cNvSpPr/>
          <p:nvPr/>
        </p:nvSpPr>
        <p:spPr>
          <a:xfrm>
            <a:off x="2186464" y="4214813"/>
            <a:ext cx="11777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·respond</a:t>
            </a:r>
            <a:endParaRPr lang="en-US" sz="750" dirty="0"/>
          </a:p>
        </p:txBody>
      </p:sp>
      <p:sp>
        <p:nvSpPr>
          <p:cNvPr id="215" name="Shape 200"/>
          <p:cNvSpPr/>
          <p:nvPr/>
        </p:nvSpPr>
        <p:spPr>
          <a:xfrm>
            <a:off x="3448050" y="3733800"/>
            <a:ext cx="1132761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216" name="Shape 201"/>
          <p:cNvSpPr/>
          <p:nvPr/>
        </p:nvSpPr>
        <p:spPr>
          <a:xfrm>
            <a:off x="3550920" y="3886200"/>
            <a:ext cx="176808" cy="209550"/>
          </a:xfrm>
          <a:prstGeom prst="roundRect">
            <a:avLst>
              <a:gd name="adj" fmla="val 26936"/>
            </a:avLst>
          </a:prstGeom>
          <a:solidFill>
            <a:srgbClr val="F1F5F9"/>
          </a:solidFill>
          <a:ln/>
        </p:spPr>
      </p:sp>
      <p:sp>
        <p:nvSpPr>
          <p:cNvPr id="217" name="Text 202"/>
          <p:cNvSpPr/>
          <p:nvPr/>
        </p:nvSpPr>
        <p:spPr>
          <a:xfrm>
            <a:off x="3550920" y="3886200"/>
            <a:ext cx="2530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900" dirty="0"/>
          </a:p>
        </p:txBody>
      </p:sp>
      <p:sp>
        <p:nvSpPr>
          <p:cNvPr id="218" name="Text 203"/>
          <p:cNvSpPr/>
          <p:nvPr/>
        </p:nvSpPr>
        <p:spPr>
          <a:xfrm>
            <a:off x="3784878" y="3817620"/>
            <a:ext cx="70437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 FW</a:t>
            </a:r>
            <a:endParaRPr lang="en-US" sz="975" dirty="0"/>
          </a:p>
        </p:txBody>
      </p:sp>
      <p:sp>
        <p:nvSpPr>
          <p:cNvPr id="219" name="Shape 204"/>
          <p:cNvSpPr/>
          <p:nvPr/>
        </p:nvSpPr>
        <p:spPr>
          <a:xfrm>
            <a:off x="4413052" y="3952875"/>
            <a:ext cx="64889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0" name="Text 205"/>
          <p:cNvSpPr/>
          <p:nvPr/>
        </p:nvSpPr>
        <p:spPr>
          <a:xfrm>
            <a:off x="3550920" y="4183380"/>
            <a:ext cx="100322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</a:t>
            </a:r>
            <a:endParaRPr lang="en-US" sz="788" dirty="0"/>
          </a:p>
        </p:txBody>
      </p:sp>
      <p:sp>
        <p:nvSpPr>
          <p:cNvPr id="221" name="Text 206"/>
          <p:cNvSpPr/>
          <p:nvPr/>
        </p:nvSpPr>
        <p:spPr>
          <a:xfrm>
            <a:off x="3550920" y="4351972"/>
            <a:ext cx="1003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 ingest+respond</a:t>
            </a:r>
            <a:endParaRPr lang="en-US" sz="750" dirty="0"/>
          </a:p>
        </p:txBody>
      </p:sp>
      <p:sp>
        <p:nvSpPr>
          <p:cNvPr id="222" name="Shape 207"/>
          <p:cNvSpPr/>
          <p:nvPr/>
        </p:nvSpPr>
        <p:spPr>
          <a:xfrm>
            <a:off x="4637961" y="3733800"/>
            <a:ext cx="1293733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223" name="Shape 208"/>
          <p:cNvSpPr/>
          <p:nvPr/>
        </p:nvSpPr>
        <p:spPr>
          <a:xfrm>
            <a:off x="4740832" y="3817620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224" name="Text 209"/>
          <p:cNvSpPr/>
          <p:nvPr/>
        </p:nvSpPr>
        <p:spPr>
          <a:xfrm>
            <a:off x="4740832" y="381762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" dirty="0"/>
          </a:p>
        </p:txBody>
      </p:sp>
      <p:sp>
        <p:nvSpPr>
          <p:cNvPr id="225" name="Text 210"/>
          <p:cNvSpPr/>
          <p:nvPr/>
        </p:nvSpPr>
        <p:spPr>
          <a:xfrm>
            <a:off x="5007532" y="3835717"/>
            <a:ext cx="69342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ASA</a:t>
            </a:r>
            <a:endParaRPr lang="en-US" sz="975" dirty="0"/>
          </a:p>
        </p:txBody>
      </p:sp>
      <p:sp>
        <p:nvSpPr>
          <p:cNvPr id="226" name="Shape 211"/>
          <p:cNvSpPr/>
          <p:nvPr/>
        </p:nvSpPr>
        <p:spPr>
          <a:xfrm>
            <a:off x="5752623" y="3884295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7" name="Text 212"/>
          <p:cNvSpPr/>
          <p:nvPr/>
        </p:nvSpPr>
        <p:spPr>
          <a:xfrm>
            <a:off x="4740832" y="4046220"/>
            <a:ext cx="1164193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</a:t>
            </a:r>
            <a:endParaRPr lang="en-US" sz="788" dirty="0"/>
          </a:p>
        </p:txBody>
      </p:sp>
      <p:sp>
        <p:nvSpPr>
          <p:cNvPr id="228" name="Text 213"/>
          <p:cNvSpPr/>
          <p:nvPr/>
        </p:nvSpPr>
        <p:spPr>
          <a:xfrm>
            <a:off x="4740832" y="4214813"/>
            <a:ext cx="11641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229" name="Shape 214"/>
          <p:cNvSpPr/>
          <p:nvPr/>
        </p:nvSpPr>
        <p:spPr>
          <a:xfrm>
            <a:off x="5988844" y="3733800"/>
            <a:ext cx="1233845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230" name="Shape 215"/>
          <p:cNvSpPr/>
          <p:nvPr/>
        </p:nvSpPr>
        <p:spPr>
          <a:xfrm>
            <a:off x="6091714" y="3817620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231" name="Text 216"/>
          <p:cNvSpPr/>
          <p:nvPr/>
        </p:nvSpPr>
        <p:spPr>
          <a:xfrm>
            <a:off x="6091714" y="381762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900" dirty="0"/>
          </a:p>
        </p:txBody>
      </p:sp>
      <p:sp>
        <p:nvSpPr>
          <p:cNvPr id="232" name="Text 217"/>
          <p:cNvSpPr/>
          <p:nvPr/>
        </p:nvSpPr>
        <p:spPr>
          <a:xfrm>
            <a:off x="6358414" y="3835717"/>
            <a:ext cx="50804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Zscaler</a:t>
            </a:r>
            <a:endParaRPr lang="en-US" sz="975" dirty="0"/>
          </a:p>
        </p:txBody>
      </p:sp>
      <p:sp>
        <p:nvSpPr>
          <p:cNvPr id="233" name="Shape 218"/>
          <p:cNvSpPr/>
          <p:nvPr/>
        </p:nvSpPr>
        <p:spPr>
          <a:xfrm>
            <a:off x="7043619" y="3884295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4" name="Text 219"/>
          <p:cNvSpPr/>
          <p:nvPr/>
        </p:nvSpPr>
        <p:spPr>
          <a:xfrm>
            <a:off x="6091714" y="4046220"/>
            <a:ext cx="1104305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ZTNA</a:t>
            </a:r>
            <a:endParaRPr lang="en-US" sz="788" dirty="0"/>
          </a:p>
        </p:txBody>
      </p:sp>
      <p:sp>
        <p:nvSpPr>
          <p:cNvPr id="235" name="Text 220"/>
          <p:cNvSpPr/>
          <p:nvPr/>
        </p:nvSpPr>
        <p:spPr>
          <a:xfrm>
            <a:off x="6091714" y="4214813"/>
            <a:ext cx="11043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236" name="Shape 221"/>
          <p:cNvSpPr/>
          <p:nvPr/>
        </p:nvSpPr>
        <p:spPr>
          <a:xfrm>
            <a:off x="7279839" y="3733800"/>
            <a:ext cx="1183958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237" name="Shape 222"/>
          <p:cNvSpPr/>
          <p:nvPr/>
        </p:nvSpPr>
        <p:spPr>
          <a:xfrm>
            <a:off x="7382710" y="3817620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238" name="Text 223"/>
          <p:cNvSpPr/>
          <p:nvPr/>
        </p:nvSpPr>
        <p:spPr>
          <a:xfrm>
            <a:off x="7382710" y="381762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" dirty="0"/>
          </a:p>
        </p:txBody>
      </p:sp>
      <p:sp>
        <p:nvSpPr>
          <p:cNvPr id="239" name="Text 224"/>
          <p:cNvSpPr/>
          <p:nvPr/>
        </p:nvSpPr>
        <p:spPr>
          <a:xfrm>
            <a:off x="7649410" y="3835717"/>
            <a:ext cx="711518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</a:t>
            </a:r>
            <a:endParaRPr lang="en-US" sz="975" dirty="0"/>
          </a:p>
        </p:txBody>
      </p:sp>
      <p:sp>
        <p:nvSpPr>
          <p:cNvPr id="240" name="Shape 225"/>
          <p:cNvSpPr/>
          <p:nvPr/>
        </p:nvSpPr>
        <p:spPr>
          <a:xfrm>
            <a:off x="8284727" y="3884295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1" name="Text 226"/>
          <p:cNvSpPr/>
          <p:nvPr/>
        </p:nvSpPr>
        <p:spPr>
          <a:xfrm>
            <a:off x="7382710" y="4046220"/>
            <a:ext cx="105441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788" dirty="0"/>
          </a:p>
        </p:txBody>
      </p:sp>
      <p:sp>
        <p:nvSpPr>
          <p:cNvPr id="242" name="Text 227"/>
          <p:cNvSpPr/>
          <p:nvPr/>
        </p:nvSpPr>
        <p:spPr>
          <a:xfrm>
            <a:off x="7382710" y="4214813"/>
            <a:ext cx="10544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243" name="Shape 228"/>
          <p:cNvSpPr/>
          <p:nvPr/>
        </p:nvSpPr>
        <p:spPr>
          <a:xfrm>
            <a:off x="8520947" y="3733800"/>
            <a:ext cx="1076206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244" name="Shape 229"/>
          <p:cNvSpPr/>
          <p:nvPr/>
        </p:nvSpPr>
        <p:spPr>
          <a:xfrm>
            <a:off x="8623815" y="3817620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245" name="Text 230"/>
          <p:cNvSpPr/>
          <p:nvPr/>
        </p:nvSpPr>
        <p:spPr>
          <a:xfrm>
            <a:off x="8623815" y="381762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00" dirty="0"/>
          </a:p>
        </p:txBody>
      </p:sp>
      <p:sp>
        <p:nvSpPr>
          <p:cNvPr id="246" name="Text 231"/>
          <p:cNvSpPr/>
          <p:nvPr/>
        </p:nvSpPr>
        <p:spPr>
          <a:xfrm>
            <a:off x="8890515" y="3835717"/>
            <a:ext cx="48506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</a:t>
            </a:r>
            <a:endParaRPr lang="en-US" sz="975" dirty="0"/>
          </a:p>
        </p:txBody>
      </p:sp>
      <p:sp>
        <p:nvSpPr>
          <p:cNvPr id="247" name="Shape 232"/>
          <p:cNvSpPr/>
          <p:nvPr/>
        </p:nvSpPr>
        <p:spPr>
          <a:xfrm>
            <a:off x="9418083" y="3884295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8" name="Text 233"/>
          <p:cNvSpPr/>
          <p:nvPr/>
        </p:nvSpPr>
        <p:spPr>
          <a:xfrm>
            <a:off x="8623815" y="4046220"/>
            <a:ext cx="946666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</a:t>
            </a:r>
            <a:endParaRPr lang="en-US" sz="788" dirty="0"/>
          </a:p>
        </p:txBody>
      </p:sp>
      <p:sp>
        <p:nvSpPr>
          <p:cNvPr id="249" name="Text 234"/>
          <p:cNvSpPr/>
          <p:nvPr/>
        </p:nvSpPr>
        <p:spPr>
          <a:xfrm>
            <a:off x="8623815" y="4214813"/>
            <a:ext cx="9466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250" name="Shape 235"/>
          <p:cNvSpPr/>
          <p:nvPr/>
        </p:nvSpPr>
        <p:spPr>
          <a:xfrm>
            <a:off x="9654301" y="3733800"/>
            <a:ext cx="1183243" cy="968693"/>
          </a:xfrm>
          <a:prstGeom prst="roundRect">
            <a:avLst>
              <a:gd name="adj" fmla="val 786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251" name="Shape 236"/>
          <p:cNvSpPr/>
          <p:nvPr/>
        </p:nvSpPr>
        <p:spPr>
          <a:xfrm>
            <a:off x="9757172" y="3817620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252" name="Text 237"/>
          <p:cNvSpPr/>
          <p:nvPr/>
        </p:nvSpPr>
        <p:spPr>
          <a:xfrm>
            <a:off x="9757172" y="381762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00" dirty="0"/>
          </a:p>
        </p:txBody>
      </p:sp>
      <p:sp>
        <p:nvSpPr>
          <p:cNvPr id="253" name="Text 238"/>
          <p:cNvSpPr/>
          <p:nvPr/>
        </p:nvSpPr>
        <p:spPr>
          <a:xfrm>
            <a:off x="10023872" y="3835717"/>
            <a:ext cx="710803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975" dirty="0"/>
          </a:p>
        </p:txBody>
      </p:sp>
      <p:sp>
        <p:nvSpPr>
          <p:cNvPr id="254" name="Shape 239"/>
          <p:cNvSpPr/>
          <p:nvPr/>
        </p:nvSpPr>
        <p:spPr>
          <a:xfrm>
            <a:off x="10658475" y="3884295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5" name="Text 240"/>
          <p:cNvSpPr/>
          <p:nvPr/>
        </p:nvSpPr>
        <p:spPr>
          <a:xfrm>
            <a:off x="9757172" y="4046220"/>
            <a:ext cx="1053703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</a:t>
            </a:r>
            <a:endParaRPr lang="en-US" sz="788" dirty="0"/>
          </a:p>
        </p:txBody>
      </p:sp>
      <p:sp>
        <p:nvSpPr>
          <p:cNvPr id="256" name="Text 241"/>
          <p:cNvSpPr/>
          <p:nvPr/>
        </p:nvSpPr>
        <p:spPr>
          <a:xfrm>
            <a:off x="9757172" y="4214813"/>
            <a:ext cx="105370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257" name="Shape 242"/>
          <p:cNvSpPr/>
          <p:nvPr/>
        </p:nvSpPr>
        <p:spPr>
          <a:xfrm>
            <a:off x="750570" y="4759642"/>
            <a:ext cx="1275874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258" name="Shape 243"/>
          <p:cNvSpPr/>
          <p:nvPr/>
        </p:nvSpPr>
        <p:spPr>
          <a:xfrm>
            <a:off x="853441" y="4843463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259" name="Text 244"/>
          <p:cNvSpPr/>
          <p:nvPr/>
        </p:nvSpPr>
        <p:spPr>
          <a:xfrm>
            <a:off x="853441" y="4843463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00" dirty="0"/>
          </a:p>
        </p:txBody>
      </p:sp>
      <p:sp>
        <p:nvSpPr>
          <p:cNvPr id="260" name="Text 245"/>
          <p:cNvSpPr/>
          <p:nvPr/>
        </p:nvSpPr>
        <p:spPr>
          <a:xfrm>
            <a:off x="1120141" y="4861559"/>
            <a:ext cx="499467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MISP TI</a:t>
            </a:r>
            <a:endParaRPr lang="en-US" sz="975" dirty="0"/>
          </a:p>
        </p:txBody>
      </p:sp>
      <p:sp>
        <p:nvSpPr>
          <p:cNvPr id="261" name="Shape 246"/>
          <p:cNvSpPr/>
          <p:nvPr/>
        </p:nvSpPr>
        <p:spPr>
          <a:xfrm>
            <a:off x="1847373" y="4910138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2" name="Text 247"/>
          <p:cNvSpPr/>
          <p:nvPr/>
        </p:nvSpPr>
        <p:spPr>
          <a:xfrm>
            <a:off x="853441" y="5072063"/>
            <a:ext cx="114633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</a:t>
            </a:r>
            <a:endParaRPr lang="en-US" sz="788" dirty="0"/>
          </a:p>
        </p:txBody>
      </p:sp>
      <p:sp>
        <p:nvSpPr>
          <p:cNvPr id="263" name="Text 248"/>
          <p:cNvSpPr/>
          <p:nvPr/>
        </p:nvSpPr>
        <p:spPr>
          <a:xfrm>
            <a:off x="853441" y="5240655"/>
            <a:ext cx="11463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264" name="Shape 249"/>
          <p:cNvSpPr/>
          <p:nvPr/>
        </p:nvSpPr>
        <p:spPr>
          <a:xfrm>
            <a:off x="2083594" y="4759642"/>
            <a:ext cx="1307306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265" name="Shape 250"/>
          <p:cNvSpPr/>
          <p:nvPr/>
        </p:nvSpPr>
        <p:spPr>
          <a:xfrm>
            <a:off x="2186464" y="4843463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266" name="Text 251"/>
          <p:cNvSpPr/>
          <p:nvPr/>
        </p:nvSpPr>
        <p:spPr>
          <a:xfrm>
            <a:off x="2186464" y="4843463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267" name="Text 252"/>
          <p:cNvSpPr/>
          <p:nvPr/>
        </p:nvSpPr>
        <p:spPr>
          <a:xfrm>
            <a:off x="2453164" y="4861559"/>
            <a:ext cx="747832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AbuseIPDB</a:t>
            </a:r>
            <a:endParaRPr lang="en-US" sz="975" dirty="0"/>
          </a:p>
        </p:txBody>
      </p:sp>
      <p:sp>
        <p:nvSpPr>
          <p:cNvPr id="268" name="Shape 253"/>
          <p:cNvSpPr/>
          <p:nvPr/>
        </p:nvSpPr>
        <p:spPr>
          <a:xfrm>
            <a:off x="3211830" y="4910138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9" name="Text 254"/>
          <p:cNvSpPr/>
          <p:nvPr/>
        </p:nvSpPr>
        <p:spPr>
          <a:xfrm>
            <a:off x="2186464" y="5072063"/>
            <a:ext cx="1177766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</a:t>
            </a:r>
            <a:endParaRPr lang="en-US" sz="788" dirty="0"/>
          </a:p>
        </p:txBody>
      </p:sp>
      <p:sp>
        <p:nvSpPr>
          <p:cNvPr id="270" name="Text 255"/>
          <p:cNvSpPr/>
          <p:nvPr/>
        </p:nvSpPr>
        <p:spPr>
          <a:xfrm>
            <a:off x="2186464" y="5240655"/>
            <a:ext cx="11777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271" name="Shape 256"/>
          <p:cNvSpPr/>
          <p:nvPr/>
        </p:nvSpPr>
        <p:spPr>
          <a:xfrm>
            <a:off x="3448050" y="4759642"/>
            <a:ext cx="1132761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272" name="Shape 257"/>
          <p:cNvSpPr/>
          <p:nvPr/>
        </p:nvSpPr>
        <p:spPr>
          <a:xfrm>
            <a:off x="3550920" y="4843463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273" name="Text 258"/>
          <p:cNvSpPr/>
          <p:nvPr/>
        </p:nvSpPr>
        <p:spPr>
          <a:xfrm>
            <a:off x="3550920" y="4843463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274" name="Text 259"/>
          <p:cNvSpPr/>
          <p:nvPr/>
        </p:nvSpPr>
        <p:spPr>
          <a:xfrm>
            <a:off x="3817620" y="4861559"/>
            <a:ext cx="660082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VirusTotal</a:t>
            </a:r>
            <a:endParaRPr lang="en-US" sz="975" dirty="0"/>
          </a:p>
        </p:txBody>
      </p:sp>
      <p:sp>
        <p:nvSpPr>
          <p:cNvPr id="275" name="Shape 260"/>
          <p:cNvSpPr/>
          <p:nvPr/>
        </p:nvSpPr>
        <p:spPr>
          <a:xfrm>
            <a:off x="4401741" y="4910138"/>
            <a:ext cx="76200" cy="76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6" name="Text 261"/>
          <p:cNvSpPr/>
          <p:nvPr/>
        </p:nvSpPr>
        <p:spPr>
          <a:xfrm>
            <a:off x="3550920" y="5072063"/>
            <a:ext cx="100322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</a:t>
            </a:r>
            <a:endParaRPr lang="en-US" sz="788" dirty="0"/>
          </a:p>
        </p:txBody>
      </p:sp>
      <p:sp>
        <p:nvSpPr>
          <p:cNvPr id="277" name="Text 262"/>
          <p:cNvSpPr/>
          <p:nvPr/>
        </p:nvSpPr>
        <p:spPr>
          <a:xfrm>
            <a:off x="3550920" y="5240655"/>
            <a:ext cx="100322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278" name="Shape 263"/>
          <p:cNvSpPr/>
          <p:nvPr/>
        </p:nvSpPr>
        <p:spPr>
          <a:xfrm>
            <a:off x="4637961" y="4759642"/>
            <a:ext cx="1293733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279" name="Shape 264"/>
          <p:cNvSpPr/>
          <p:nvPr/>
        </p:nvSpPr>
        <p:spPr>
          <a:xfrm>
            <a:off x="4740832" y="4912042"/>
            <a:ext cx="186571" cy="209550"/>
          </a:xfrm>
          <a:prstGeom prst="roundRect">
            <a:avLst>
              <a:gd name="adj" fmla="val 25526"/>
            </a:avLst>
          </a:prstGeom>
          <a:solidFill>
            <a:srgbClr val="F1F5F9"/>
          </a:solidFill>
          <a:ln/>
        </p:spPr>
      </p:sp>
      <p:sp>
        <p:nvSpPr>
          <p:cNvPr id="280" name="Text 265"/>
          <p:cNvSpPr/>
          <p:nvPr/>
        </p:nvSpPr>
        <p:spPr>
          <a:xfrm>
            <a:off x="4740832" y="4912042"/>
            <a:ext cx="26277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00" dirty="0"/>
          </a:p>
        </p:txBody>
      </p:sp>
      <p:sp>
        <p:nvSpPr>
          <p:cNvPr id="281" name="Text 266"/>
          <p:cNvSpPr/>
          <p:nvPr/>
        </p:nvSpPr>
        <p:spPr>
          <a:xfrm>
            <a:off x="4984552" y="4843463"/>
            <a:ext cx="85224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</a:t>
            </a:r>
            <a:endParaRPr lang="en-US" sz="975" dirty="0"/>
          </a:p>
        </p:txBody>
      </p:sp>
      <p:sp>
        <p:nvSpPr>
          <p:cNvPr id="282" name="Shape 267"/>
          <p:cNvSpPr/>
          <p:nvPr/>
        </p:nvSpPr>
        <p:spPr>
          <a:xfrm>
            <a:off x="5760602" y="4978717"/>
            <a:ext cx="68223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3" name="Text 268"/>
          <p:cNvSpPr/>
          <p:nvPr/>
        </p:nvSpPr>
        <p:spPr>
          <a:xfrm>
            <a:off x="4740832" y="5209222"/>
            <a:ext cx="1164193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788" dirty="0"/>
          </a:p>
        </p:txBody>
      </p:sp>
      <p:sp>
        <p:nvSpPr>
          <p:cNvPr id="284" name="Text 269"/>
          <p:cNvSpPr/>
          <p:nvPr/>
        </p:nvSpPr>
        <p:spPr>
          <a:xfrm>
            <a:off x="4740832" y="5377816"/>
            <a:ext cx="11641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285" name="Shape 270"/>
          <p:cNvSpPr/>
          <p:nvPr/>
        </p:nvSpPr>
        <p:spPr>
          <a:xfrm>
            <a:off x="5988844" y="4759642"/>
            <a:ext cx="1233845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286" name="Shape 271"/>
          <p:cNvSpPr/>
          <p:nvPr/>
        </p:nvSpPr>
        <p:spPr>
          <a:xfrm>
            <a:off x="6091714" y="4843463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287" name="Text 272"/>
          <p:cNvSpPr/>
          <p:nvPr/>
        </p:nvSpPr>
        <p:spPr>
          <a:xfrm>
            <a:off x="6091714" y="4843463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288" name="Text 273"/>
          <p:cNvSpPr/>
          <p:nvPr/>
        </p:nvSpPr>
        <p:spPr>
          <a:xfrm>
            <a:off x="6358414" y="4861559"/>
            <a:ext cx="384334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Tines</a:t>
            </a:r>
            <a:endParaRPr lang="en-US" sz="975" dirty="0"/>
          </a:p>
        </p:txBody>
      </p:sp>
      <p:sp>
        <p:nvSpPr>
          <p:cNvPr id="289" name="Shape 274"/>
          <p:cNvSpPr/>
          <p:nvPr/>
        </p:nvSpPr>
        <p:spPr>
          <a:xfrm>
            <a:off x="7043619" y="4910138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0" name="Text 275"/>
          <p:cNvSpPr/>
          <p:nvPr/>
        </p:nvSpPr>
        <p:spPr>
          <a:xfrm>
            <a:off x="6091714" y="5072063"/>
            <a:ext cx="1104305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SOAR</a:t>
            </a:r>
            <a:endParaRPr lang="en-US" sz="788" dirty="0"/>
          </a:p>
        </p:txBody>
      </p:sp>
      <p:sp>
        <p:nvSpPr>
          <p:cNvPr id="291" name="Text 276"/>
          <p:cNvSpPr/>
          <p:nvPr/>
        </p:nvSpPr>
        <p:spPr>
          <a:xfrm>
            <a:off x="6091714" y="5240655"/>
            <a:ext cx="11043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·respond</a:t>
            </a:r>
            <a:endParaRPr lang="en-US" sz="750" dirty="0"/>
          </a:p>
        </p:txBody>
      </p:sp>
      <p:sp>
        <p:nvSpPr>
          <p:cNvPr id="292" name="Shape 277"/>
          <p:cNvSpPr/>
          <p:nvPr/>
        </p:nvSpPr>
        <p:spPr>
          <a:xfrm>
            <a:off x="7279839" y="4759642"/>
            <a:ext cx="1183958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293" name="Shape 278"/>
          <p:cNvSpPr/>
          <p:nvPr/>
        </p:nvSpPr>
        <p:spPr>
          <a:xfrm>
            <a:off x="7382710" y="4843463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294" name="Text 279"/>
          <p:cNvSpPr/>
          <p:nvPr/>
        </p:nvSpPr>
        <p:spPr>
          <a:xfrm>
            <a:off x="7382710" y="4843463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295" name="Text 280"/>
          <p:cNvSpPr/>
          <p:nvPr/>
        </p:nvSpPr>
        <p:spPr>
          <a:xfrm>
            <a:off x="7649410" y="4861559"/>
            <a:ext cx="342067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</a:t>
            </a:r>
            <a:endParaRPr lang="en-US" sz="975" dirty="0"/>
          </a:p>
        </p:txBody>
      </p:sp>
      <p:sp>
        <p:nvSpPr>
          <p:cNvPr id="296" name="Shape 281"/>
          <p:cNvSpPr/>
          <p:nvPr/>
        </p:nvSpPr>
        <p:spPr>
          <a:xfrm>
            <a:off x="8284727" y="4910138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7" name="Text 282"/>
          <p:cNvSpPr/>
          <p:nvPr/>
        </p:nvSpPr>
        <p:spPr>
          <a:xfrm>
            <a:off x="7382710" y="5072063"/>
            <a:ext cx="105441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SOAR</a:t>
            </a:r>
            <a:endParaRPr lang="en-US" sz="788" dirty="0"/>
          </a:p>
        </p:txBody>
      </p:sp>
      <p:sp>
        <p:nvSpPr>
          <p:cNvPr id="298" name="Text 283"/>
          <p:cNvSpPr/>
          <p:nvPr/>
        </p:nvSpPr>
        <p:spPr>
          <a:xfrm>
            <a:off x="7382710" y="5240655"/>
            <a:ext cx="10544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·respond</a:t>
            </a:r>
            <a:endParaRPr lang="en-US" sz="750" dirty="0"/>
          </a:p>
        </p:txBody>
      </p:sp>
      <p:sp>
        <p:nvSpPr>
          <p:cNvPr id="299" name="Shape 284"/>
          <p:cNvSpPr/>
          <p:nvPr/>
        </p:nvSpPr>
        <p:spPr>
          <a:xfrm>
            <a:off x="8520947" y="4759642"/>
            <a:ext cx="1076206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300" name="Shape 285"/>
          <p:cNvSpPr/>
          <p:nvPr/>
        </p:nvSpPr>
        <p:spPr>
          <a:xfrm>
            <a:off x="8623815" y="4843463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301" name="Text 286"/>
          <p:cNvSpPr/>
          <p:nvPr/>
        </p:nvSpPr>
        <p:spPr>
          <a:xfrm>
            <a:off x="8623815" y="4843463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302" name="Text 287"/>
          <p:cNvSpPr/>
          <p:nvPr/>
        </p:nvSpPr>
        <p:spPr>
          <a:xfrm>
            <a:off x="8890515" y="4861559"/>
            <a:ext cx="603766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</a:t>
            </a:r>
            <a:endParaRPr lang="en-US" sz="975" dirty="0"/>
          </a:p>
        </p:txBody>
      </p:sp>
      <p:sp>
        <p:nvSpPr>
          <p:cNvPr id="303" name="Shape 288"/>
          <p:cNvSpPr/>
          <p:nvPr/>
        </p:nvSpPr>
        <p:spPr>
          <a:xfrm>
            <a:off x="9418083" y="4910138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4" name="Text 289"/>
          <p:cNvSpPr/>
          <p:nvPr/>
        </p:nvSpPr>
        <p:spPr>
          <a:xfrm>
            <a:off x="8623815" y="5072063"/>
            <a:ext cx="946666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788" dirty="0"/>
          </a:p>
        </p:txBody>
      </p:sp>
      <p:sp>
        <p:nvSpPr>
          <p:cNvPr id="305" name="Text 290"/>
          <p:cNvSpPr/>
          <p:nvPr/>
        </p:nvSpPr>
        <p:spPr>
          <a:xfrm>
            <a:off x="8623815" y="5240655"/>
            <a:ext cx="9466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  <p:sp>
        <p:nvSpPr>
          <p:cNvPr id="306" name="Shape 291"/>
          <p:cNvSpPr/>
          <p:nvPr/>
        </p:nvSpPr>
        <p:spPr>
          <a:xfrm>
            <a:off x="9654301" y="4759642"/>
            <a:ext cx="1183243" cy="835343"/>
          </a:xfrm>
          <a:prstGeom prst="roundRect">
            <a:avLst>
              <a:gd name="adj" fmla="val 91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307" name="Shape 292"/>
          <p:cNvSpPr/>
          <p:nvPr/>
        </p:nvSpPr>
        <p:spPr>
          <a:xfrm>
            <a:off x="9757172" y="4843463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/>
        </p:spPr>
      </p:sp>
      <p:sp>
        <p:nvSpPr>
          <p:cNvPr id="308" name="Text 293"/>
          <p:cNvSpPr/>
          <p:nvPr/>
        </p:nvSpPr>
        <p:spPr>
          <a:xfrm>
            <a:off x="9757172" y="4843463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900" dirty="0"/>
          </a:p>
        </p:txBody>
      </p:sp>
      <p:sp>
        <p:nvSpPr>
          <p:cNvPr id="309" name="Text 294"/>
          <p:cNvSpPr/>
          <p:nvPr/>
        </p:nvSpPr>
        <p:spPr>
          <a:xfrm>
            <a:off x="10023872" y="4861559"/>
            <a:ext cx="289679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Wiz</a:t>
            </a:r>
            <a:endParaRPr lang="en-US" sz="975" dirty="0"/>
          </a:p>
        </p:txBody>
      </p:sp>
      <p:sp>
        <p:nvSpPr>
          <p:cNvPr id="310" name="Shape 295"/>
          <p:cNvSpPr/>
          <p:nvPr/>
        </p:nvSpPr>
        <p:spPr>
          <a:xfrm>
            <a:off x="10658475" y="4910138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1" name="Text 296"/>
          <p:cNvSpPr/>
          <p:nvPr/>
        </p:nvSpPr>
        <p:spPr>
          <a:xfrm>
            <a:off x="9757172" y="5072063"/>
            <a:ext cx="1053703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CSPM</a:t>
            </a:r>
            <a:endParaRPr lang="en-US" sz="788" dirty="0"/>
          </a:p>
        </p:txBody>
      </p:sp>
      <p:sp>
        <p:nvSpPr>
          <p:cNvPr id="312" name="Text 297"/>
          <p:cNvSpPr/>
          <p:nvPr/>
        </p:nvSpPr>
        <p:spPr>
          <a:xfrm>
            <a:off x="9757172" y="5240655"/>
            <a:ext cx="105370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·ingest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7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91441" y="34099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62913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· step 2 of 3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314933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422922" y="144780"/>
            <a:ext cx="91475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memory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413880" y="74295"/>
            <a:ext cx="4077057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16750" y="167641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688200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4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1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4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1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59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1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6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3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1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5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590550"/>
            <a:ext cx="3135884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your environment's memory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6950036" y="593408"/>
            <a:ext cx="1219914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7024329" y="664845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0" name="Text 25"/>
          <p:cNvSpPr/>
          <p:nvPr/>
        </p:nvSpPr>
        <p:spPr>
          <a:xfrm>
            <a:off x="7119579" y="620078"/>
            <a:ext cx="105227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events/sec · 41,902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8227102" y="593408"/>
            <a:ext cx="89749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8301396" y="66484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3" name="Text 28"/>
          <p:cNvSpPr/>
          <p:nvPr/>
        </p:nvSpPr>
        <p:spPr>
          <a:xfrm>
            <a:off x="8396646" y="620078"/>
            <a:ext cx="72985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· 8,412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9181742" y="593408"/>
            <a:ext cx="9719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9256040" y="66484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6" name="Text 31"/>
          <p:cNvSpPr/>
          <p:nvPr/>
        </p:nvSpPr>
        <p:spPr>
          <a:xfrm>
            <a:off x="9351290" y="620078"/>
            <a:ext cx="80426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· 23,108</a:t>
            </a:r>
            <a:endParaRPr lang="en-US" sz="825" dirty="0"/>
          </a:p>
        </p:txBody>
      </p:sp>
      <p:sp>
        <p:nvSpPr>
          <p:cNvPr id="47" name="Shape 32"/>
          <p:cNvSpPr/>
          <p:nvPr/>
        </p:nvSpPr>
        <p:spPr>
          <a:xfrm>
            <a:off x="666750" y="891541"/>
            <a:ext cx="6705600" cy="5642610"/>
          </a:xfrm>
          <a:prstGeom prst="roundRect">
            <a:avLst>
              <a:gd name="adj" fmla="val 135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8" name="Shape 33"/>
          <p:cNvSpPr/>
          <p:nvPr/>
        </p:nvSpPr>
        <p:spPr>
          <a:xfrm rot="-8263578">
            <a:off x="2346742" y="2794739"/>
            <a:ext cx="19240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34"/>
          <p:cNvSpPr/>
          <p:nvPr/>
        </p:nvSpPr>
        <p:spPr>
          <a:xfrm rot="-2776381">
            <a:off x="3701623" y="2697825"/>
            <a:ext cx="20574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Shape 35"/>
          <p:cNvSpPr/>
          <p:nvPr/>
        </p:nvSpPr>
        <p:spPr>
          <a:xfrm rot="9293110">
            <a:off x="1842687" y="3925530"/>
            <a:ext cx="22860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Shape 36"/>
          <p:cNvSpPr/>
          <p:nvPr/>
        </p:nvSpPr>
        <p:spPr>
          <a:xfrm rot="1940847">
            <a:off x="3841036" y="4054765"/>
            <a:ext cx="229552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37"/>
          <p:cNvSpPr/>
          <p:nvPr/>
        </p:nvSpPr>
        <p:spPr>
          <a:xfrm rot="-567739">
            <a:off x="1944065" y="4191871"/>
            <a:ext cx="79057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38"/>
          <p:cNvSpPr/>
          <p:nvPr/>
        </p:nvSpPr>
        <p:spPr>
          <a:xfrm rot="8227265">
            <a:off x="1526525" y="2773616"/>
            <a:ext cx="12382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Shape 39"/>
          <p:cNvSpPr/>
          <p:nvPr/>
        </p:nvSpPr>
        <p:spPr>
          <a:xfrm rot="3127499">
            <a:off x="5155141" y="2772027"/>
            <a:ext cx="147637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Shape 40"/>
          <p:cNvSpPr/>
          <p:nvPr/>
        </p:nvSpPr>
        <p:spPr>
          <a:xfrm rot="2519234">
            <a:off x="1726308" y="4838040"/>
            <a:ext cx="174307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Shape 41"/>
          <p:cNvSpPr/>
          <p:nvPr/>
        </p:nvSpPr>
        <p:spPr>
          <a:xfrm rot="8480412">
            <a:off x="4483175" y="4990818"/>
            <a:ext cx="16573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42"/>
          <p:cNvSpPr/>
          <p:nvPr/>
        </p:nvSpPr>
        <p:spPr>
          <a:xfrm rot="983371">
            <a:off x="3997300" y="3602449"/>
            <a:ext cx="11430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Shape 43"/>
          <p:cNvSpPr/>
          <p:nvPr/>
        </p:nvSpPr>
        <p:spPr>
          <a:xfrm rot="6188043">
            <a:off x="3896509" y="4682053"/>
            <a:ext cx="199072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Shape 44"/>
          <p:cNvSpPr/>
          <p:nvPr/>
        </p:nvSpPr>
        <p:spPr>
          <a:xfrm rot="5400000">
            <a:off x="3148013" y="2845296"/>
            <a:ext cx="174307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Shape 45"/>
          <p:cNvSpPr/>
          <p:nvPr/>
        </p:nvSpPr>
        <p:spPr>
          <a:xfrm rot="2963924">
            <a:off x="3036478" y="5687371"/>
            <a:ext cx="119062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Shape 46"/>
          <p:cNvSpPr/>
          <p:nvPr/>
        </p:nvSpPr>
        <p:spPr>
          <a:xfrm rot="7788334">
            <a:off x="3837810" y="5731562"/>
            <a:ext cx="10096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47"/>
          <p:cNvSpPr/>
          <p:nvPr/>
        </p:nvSpPr>
        <p:spPr>
          <a:xfrm>
            <a:off x="3649980" y="3071336"/>
            <a:ext cx="739140" cy="73914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3" name="Text 48"/>
          <p:cNvSpPr/>
          <p:nvPr/>
        </p:nvSpPr>
        <p:spPr>
          <a:xfrm>
            <a:off x="3657600" y="3117056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· prod</a:t>
            </a:r>
            <a:endParaRPr lang="en-US" sz="825" dirty="0"/>
          </a:p>
        </p:txBody>
      </p:sp>
      <p:sp>
        <p:nvSpPr>
          <p:cNvPr id="64" name="Shape 49"/>
          <p:cNvSpPr/>
          <p:nvPr/>
        </p:nvSpPr>
        <p:spPr>
          <a:xfrm>
            <a:off x="2323623" y="2079308"/>
            <a:ext cx="548640" cy="54864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5" name="Text 50"/>
          <p:cNvSpPr/>
          <p:nvPr/>
        </p:nvSpPr>
        <p:spPr>
          <a:xfrm>
            <a:off x="2331243" y="212502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750" dirty="0"/>
          </a:p>
        </p:txBody>
      </p:sp>
      <p:sp>
        <p:nvSpPr>
          <p:cNvPr id="66" name="Shape 51"/>
          <p:cNvSpPr/>
          <p:nvPr/>
        </p:nvSpPr>
        <p:spPr>
          <a:xfrm>
            <a:off x="5166717" y="1916192"/>
            <a:ext cx="548640" cy="54864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7" name="Text 52"/>
          <p:cNvSpPr/>
          <p:nvPr/>
        </p:nvSpPr>
        <p:spPr>
          <a:xfrm>
            <a:off x="5174337" y="196191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750" dirty="0"/>
          </a:p>
        </p:txBody>
      </p:sp>
      <p:sp>
        <p:nvSpPr>
          <p:cNvPr id="68" name="Shape 53"/>
          <p:cNvSpPr/>
          <p:nvPr/>
        </p:nvSpPr>
        <p:spPr>
          <a:xfrm>
            <a:off x="1677353" y="3982164"/>
            <a:ext cx="548640" cy="54864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9" name="Text 54"/>
          <p:cNvSpPr/>
          <p:nvPr/>
        </p:nvSpPr>
        <p:spPr>
          <a:xfrm>
            <a:off x="1684973" y="402788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· 32</a:t>
            </a:r>
            <a:endParaRPr lang="en-US" sz="750" dirty="0"/>
          </a:p>
        </p:txBody>
      </p:sp>
      <p:sp>
        <p:nvSpPr>
          <p:cNvPr id="70" name="Shape 55"/>
          <p:cNvSpPr/>
          <p:nvPr/>
        </p:nvSpPr>
        <p:spPr>
          <a:xfrm>
            <a:off x="5683688" y="4199572"/>
            <a:ext cx="548640" cy="54864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1" name="Text 56"/>
          <p:cNvSpPr/>
          <p:nvPr/>
        </p:nvSpPr>
        <p:spPr>
          <a:xfrm>
            <a:off x="5691308" y="424529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750" dirty="0"/>
          </a:p>
        </p:txBody>
      </p:sp>
      <p:sp>
        <p:nvSpPr>
          <p:cNvPr id="72" name="Shape 57"/>
          <p:cNvSpPr/>
          <p:nvPr/>
        </p:nvSpPr>
        <p:spPr>
          <a:xfrm>
            <a:off x="3036452" y="5027414"/>
            <a:ext cx="415290" cy="41529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3" name="Text 58"/>
          <p:cNvSpPr/>
          <p:nvPr/>
        </p:nvSpPr>
        <p:spPr>
          <a:xfrm>
            <a:off x="3044072" y="5073134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675" dirty="0"/>
          </a:p>
        </p:txBody>
      </p:sp>
      <p:sp>
        <p:nvSpPr>
          <p:cNvPr id="74" name="Shape 59"/>
          <p:cNvSpPr/>
          <p:nvPr/>
        </p:nvSpPr>
        <p:spPr>
          <a:xfrm>
            <a:off x="4458058" y="5136238"/>
            <a:ext cx="415290" cy="41529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5" name="Text 60"/>
          <p:cNvSpPr/>
          <p:nvPr/>
        </p:nvSpPr>
        <p:spPr>
          <a:xfrm>
            <a:off x="4465678" y="5181958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</a:t>
            </a:r>
            <a:endParaRPr lang="en-US" sz="675" dirty="0"/>
          </a:p>
        </p:txBody>
      </p:sp>
      <p:sp>
        <p:nvSpPr>
          <p:cNvPr id="76" name="Shape 61"/>
          <p:cNvSpPr/>
          <p:nvPr/>
        </p:nvSpPr>
        <p:spPr>
          <a:xfrm>
            <a:off x="1485663" y="2852738"/>
            <a:ext cx="415290" cy="41529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7" name="Text 62"/>
          <p:cNvSpPr/>
          <p:nvPr/>
        </p:nvSpPr>
        <p:spPr>
          <a:xfrm>
            <a:off x="1493283" y="2898457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</a:t>
            </a:r>
            <a:endParaRPr lang="en-US" sz="675" dirty="0"/>
          </a:p>
        </p:txBody>
      </p:sp>
      <p:sp>
        <p:nvSpPr>
          <p:cNvPr id="78" name="Shape 63"/>
          <p:cNvSpPr/>
          <p:nvPr/>
        </p:nvSpPr>
        <p:spPr>
          <a:xfrm>
            <a:off x="6138030" y="2961442"/>
            <a:ext cx="415290" cy="41529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9" name="Text 64"/>
          <p:cNvSpPr/>
          <p:nvPr/>
        </p:nvSpPr>
        <p:spPr>
          <a:xfrm>
            <a:off x="6145650" y="3007162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</a:t>
            </a:r>
            <a:endParaRPr lang="en-US" sz="675" dirty="0"/>
          </a:p>
        </p:txBody>
      </p:sp>
      <p:sp>
        <p:nvSpPr>
          <p:cNvPr id="80" name="Shape 65"/>
          <p:cNvSpPr/>
          <p:nvPr/>
        </p:nvSpPr>
        <p:spPr>
          <a:xfrm>
            <a:off x="2519481" y="3940136"/>
            <a:ext cx="415290" cy="41529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1" name="Text 66"/>
          <p:cNvSpPr/>
          <p:nvPr/>
        </p:nvSpPr>
        <p:spPr>
          <a:xfrm>
            <a:off x="2527101" y="3985856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pod-9c</a:t>
            </a:r>
            <a:endParaRPr lang="en-US" sz="675" dirty="0"/>
          </a:p>
        </p:txBody>
      </p:sp>
      <p:sp>
        <p:nvSpPr>
          <p:cNvPr id="82" name="Shape 67"/>
          <p:cNvSpPr/>
          <p:nvPr/>
        </p:nvSpPr>
        <p:spPr>
          <a:xfrm>
            <a:off x="3811905" y="1765339"/>
            <a:ext cx="415290" cy="41529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3" name="Text 68"/>
          <p:cNvSpPr/>
          <p:nvPr/>
        </p:nvSpPr>
        <p:spPr>
          <a:xfrm>
            <a:off x="3819525" y="1811059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</a:t>
            </a:r>
            <a:endParaRPr lang="en-US" sz="675" dirty="0"/>
          </a:p>
        </p:txBody>
      </p:sp>
      <p:sp>
        <p:nvSpPr>
          <p:cNvPr id="84" name="Shape 69"/>
          <p:cNvSpPr/>
          <p:nvPr/>
        </p:nvSpPr>
        <p:spPr>
          <a:xfrm>
            <a:off x="3811905" y="5788582"/>
            <a:ext cx="415290" cy="415290"/>
          </a:xfrm>
          <a:prstGeom prst="ellipse">
            <a:avLst/>
          </a:prstGeom>
          <a:solidFill>
            <a:srgbClr val="FFFFFF"/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5" name="Text 70"/>
          <p:cNvSpPr/>
          <p:nvPr/>
        </p:nvSpPr>
        <p:spPr>
          <a:xfrm>
            <a:off x="3819525" y="5834302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crown jewel</a:t>
            </a:r>
            <a:endParaRPr lang="en-US" sz="675" dirty="0"/>
          </a:p>
        </p:txBody>
      </p:sp>
      <p:sp>
        <p:nvSpPr>
          <p:cNvPr id="86" name="Shape 71"/>
          <p:cNvSpPr/>
          <p:nvPr/>
        </p:nvSpPr>
        <p:spPr>
          <a:xfrm>
            <a:off x="4910377" y="3505200"/>
            <a:ext cx="415290" cy="41529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50800" dir="16200000">
              <a:srgbClr val="10B981">
                <a:alpha val="15000"/>
              </a:srgbClr>
            </a:outerShdw>
          </a:effectLst>
        </p:spPr>
      </p:sp>
      <p:sp>
        <p:nvSpPr>
          <p:cNvPr id="87" name="Text 72"/>
          <p:cNvSpPr/>
          <p:nvPr/>
        </p:nvSpPr>
        <p:spPr>
          <a:xfrm>
            <a:off x="4917997" y="355092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ClawArm.</a:t>
            </a:r>
            <a:endParaRPr lang="en-US" sz="675" dirty="0"/>
          </a:p>
        </p:txBody>
      </p:sp>
      <p:sp>
        <p:nvSpPr>
          <p:cNvPr id="88" name="Shape 73"/>
          <p:cNvSpPr/>
          <p:nvPr/>
        </p:nvSpPr>
        <p:spPr>
          <a:xfrm>
            <a:off x="807720" y="5855017"/>
            <a:ext cx="2072640" cy="538163"/>
          </a:xfrm>
          <a:prstGeom prst="roundRect">
            <a:avLst>
              <a:gd name="adj" fmla="val 708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89" name="Text 74"/>
          <p:cNvSpPr/>
          <p:nvPr/>
        </p:nvSpPr>
        <p:spPr>
          <a:xfrm>
            <a:off x="891540" y="5919787"/>
            <a:ext cx="1981200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grows visibly as sources stream in. this is the wow moment.</a:t>
            </a:r>
            <a:endParaRPr lang="en-US" sz="825" dirty="0"/>
          </a:p>
        </p:txBody>
      </p:sp>
      <p:sp>
        <p:nvSpPr>
          <p:cNvPr id="90" name="Shape 75"/>
          <p:cNvSpPr/>
          <p:nvPr/>
        </p:nvSpPr>
        <p:spPr>
          <a:xfrm>
            <a:off x="7486650" y="891541"/>
            <a:ext cx="2667000" cy="564261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9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8573" y="1012508"/>
            <a:ext cx="123825" cy="123825"/>
          </a:xfrm>
          <a:prstGeom prst="rect">
            <a:avLst/>
          </a:prstGeom>
        </p:spPr>
      </p:pic>
      <p:sp>
        <p:nvSpPr>
          <p:cNvPr id="92" name="Text 76"/>
          <p:cNvSpPr/>
          <p:nvPr/>
        </p:nvSpPr>
        <p:spPr>
          <a:xfrm>
            <a:off x="7780023" y="1002030"/>
            <a:ext cx="641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900" dirty="0"/>
          </a:p>
        </p:txBody>
      </p:sp>
      <p:sp>
        <p:nvSpPr>
          <p:cNvPr id="93" name="Shape 77"/>
          <p:cNvSpPr/>
          <p:nvPr/>
        </p:nvSpPr>
        <p:spPr>
          <a:xfrm>
            <a:off x="7608573" y="1230630"/>
            <a:ext cx="579120" cy="5791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0B981"/>
            </a:solidFill>
            <a:prstDash val="solid"/>
          </a:ln>
        </p:spPr>
      </p:sp>
      <p:sp>
        <p:nvSpPr>
          <p:cNvPr id="94" name="Text 78"/>
          <p:cNvSpPr/>
          <p:nvPr/>
        </p:nvSpPr>
        <p:spPr>
          <a:xfrm>
            <a:off x="7724301" y="1413509"/>
            <a:ext cx="42374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200" dirty="0"/>
          </a:p>
        </p:txBody>
      </p:sp>
      <p:sp>
        <p:nvSpPr>
          <p:cNvPr id="95" name="Text 79"/>
          <p:cNvSpPr/>
          <p:nvPr/>
        </p:nvSpPr>
        <p:spPr>
          <a:xfrm>
            <a:off x="8301991" y="1326833"/>
            <a:ext cx="116776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memories built</a:t>
            </a:r>
            <a:endParaRPr lang="en-US" sz="1200" dirty="0"/>
          </a:p>
        </p:txBody>
      </p:sp>
      <p:sp>
        <p:nvSpPr>
          <p:cNvPr id="96" name="Text 80"/>
          <p:cNvSpPr/>
          <p:nvPr/>
        </p:nvSpPr>
        <p:spPr>
          <a:xfrm>
            <a:off x="8301991" y="1540192"/>
            <a:ext cx="1167765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18 min remaining</a:t>
            </a:r>
            <a:endParaRPr lang="en-US" sz="975" dirty="0"/>
          </a:p>
        </p:txBody>
      </p:sp>
      <p:sp>
        <p:nvSpPr>
          <p:cNvPr id="97" name="Text 81"/>
          <p:cNvSpPr/>
          <p:nvPr/>
        </p:nvSpPr>
        <p:spPr>
          <a:xfrm>
            <a:off x="7608573" y="1905000"/>
            <a:ext cx="24993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CONTRIBUTING SOURCES</a:t>
            </a:r>
            <a:endParaRPr lang="en-US" sz="750" dirty="0"/>
          </a:p>
        </p:txBody>
      </p:sp>
      <p:sp>
        <p:nvSpPr>
          <p:cNvPr id="98" name="Text 82"/>
          <p:cNvSpPr/>
          <p:nvPr/>
        </p:nvSpPr>
        <p:spPr>
          <a:xfrm>
            <a:off x="7608573" y="2095500"/>
            <a:ext cx="102560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KubeArmor runtime</a:t>
            </a:r>
            <a:endParaRPr lang="en-US" sz="863" dirty="0"/>
          </a:p>
        </p:txBody>
      </p:sp>
      <p:sp>
        <p:nvSpPr>
          <p:cNvPr id="99" name="Text 83"/>
          <p:cNvSpPr/>
          <p:nvPr/>
        </p:nvSpPr>
        <p:spPr>
          <a:xfrm>
            <a:off x="9812536" y="2095500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863" dirty="0"/>
          </a:p>
        </p:txBody>
      </p:sp>
      <p:sp>
        <p:nvSpPr>
          <p:cNvPr id="100" name="Shape 84"/>
          <p:cNvSpPr/>
          <p:nvPr/>
        </p:nvSpPr>
        <p:spPr>
          <a:xfrm>
            <a:off x="7608573" y="2248853"/>
            <a:ext cx="2423160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01" name="Shape 85"/>
          <p:cNvSpPr/>
          <p:nvPr/>
        </p:nvSpPr>
        <p:spPr>
          <a:xfrm>
            <a:off x="7608573" y="2248853"/>
            <a:ext cx="2229207" cy="4762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02" name="Text 86"/>
          <p:cNvSpPr/>
          <p:nvPr/>
        </p:nvSpPr>
        <p:spPr>
          <a:xfrm>
            <a:off x="7608573" y="2353628"/>
            <a:ext cx="847011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CloudTrail</a:t>
            </a:r>
            <a:endParaRPr lang="en-US" sz="863" dirty="0"/>
          </a:p>
        </p:txBody>
      </p:sp>
      <p:sp>
        <p:nvSpPr>
          <p:cNvPr id="103" name="Text 87"/>
          <p:cNvSpPr/>
          <p:nvPr/>
        </p:nvSpPr>
        <p:spPr>
          <a:xfrm>
            <a:off x="9812536" y="2353628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863" dirty="0"/>
          </a:p>
        </p:txBody>
      </p:sp>
      <p:sp>
        <p:nvSpPr>
          <p:cNvPr id="104" name="Shape 88"/>
          <p:cNvSpPr/>
          <p:nvPr/>
        </p:nvSpPr>
        <p:spPr>
          <a:xfrm>
            <a:off x="7608573" y="2506980"/>
            <a:ext cx="2423160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05" name="Shape 89"/>
          <p:cNvSpPr/>
          <p:nvPr/>
        </p:nvSpPr>
        <p:spPr>
          <a:xfrm>
            <a:off x="7608573" y="2506980"/>
            <a:ext cx="1962745" cy="47625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06" name="Text 90"/>
          <p:cNvSpPr/>
          <p:nvPr/>
        </p:nvSpPr>
        <p:spPr>
          <a:xfrm>
            <a:off x="7608573" y="2611755"/>
            <a:ext cx="30753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863" dirty="0"/>
          </a:p>
        </p:txBody>
      </p:sp>
      <p:sp>
        <p:nvSpPr>
          <p:cNvPr id="107" name="Text 91"/>
          <p:cNvSpPr/>
          <p:nvPr/>
        </p:nvSpPr>
        <p:spPr>
          <a:xfrm>
            <a:off x="9812536" y="2611755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863" dirty="0"/>
          </a:p>
        </p:txBody>
      </p:sp>
      <p:sp>
        <p:nvSpPr>
          <p:cNvPr id="108" name="Shape 92"/>
          <p:cNvSpPr/>
          <p:nvPr/>
        </p:nvSpPr>
        <p:spPr>
          <a:xfrm>
            <a:off x="7608573" y="2765108"/>
            <a:ext cx="2423160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09" name="Shape 93"/>
          <p:cNvSpPr/>
          <p:nvPr/>
        </p:nvSpPr>
        <p:spPr>
          <a:xfrm>
            <a:off x="7608573" y="2765108"/>
            <a:ext cx="1793081" cy="47625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10" name="Text 94"/>
          <p:cNvSpPr/>
          <p:nvPr/>
        </p:nvSpPr>
        <p:spPr>
          <a:xfrm>
            <a:off x="7608573" y="2869883"/>
            <a:ext cx="84296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</a:t>
            </a:r>
            <a:endParaRPr lang="en-US" sz="863" dirty="0"/>
          </a:p>
        </p:txBody>
      </p:sp>
      <p:sp>
        <p:nvSpPr>
          <p:cNvPr id="111" name="Text 95"/>
          <p:cNvSpPr/>
          <p:nvPr/>
        </p:nvSpPr>
        <p:spPr>
          <a:xfrm>
            <a:off x="9812536" y="2869883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863" dirty="0"/>
          </a:p>
        </p:txBody>
      </p:sp>
      <p:sp>
        <p:nvSpPr>
          <p:cNvPr id="112" name="Shape 96"/>
          <p:cNvSpPr/>
          <p:nvPr/>
        </p:nvSpPr>
        <p:spPr>
          <a:xfrm>
            <a:off x="7608573" y="3023234"/>
            <a:ext cx="2423160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13" name="Shape 97"/>
          <p:cNvSpPr/>
          <p:nvPr/>
        </p:nvSpPr>
        <p:spPr>
          <a:xfrm>
            <a:off x="7608573" y="3023234"/>
            <a:ext cx="1599248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14" name="Text 98"/>
          <p:cNvSpPr/>
          <p:nvPr/>
        </p:nvSpPr>
        <p:spPr>
          <a:xfrm>
            <a:off x="7608573" y="3128009"/>
            <a:ext cx="67258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CrowdStrike</a:t>
            </a:r>
            <a:endParaRPr lang="en-US" sz="863" dirty="0"/>
          </a:p>
        </p:txBody>
      </p:sp>
      <p:sp>
        <p:nvSpPr>
          <p:cNvPr id="115" name="Text 99"/>
          <p:cNvSpPr/>
          <p:nvPr/>
        </p:nvSpPr>
        <p:spPr>
          <a:xfrm>
            <a:off x="9812536" y="3128009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863" dirty="0"/>
          </a:p>
        </p:txBody>
      </p:sp>
      <p:sp>
        <p:nvSpPr>
          <p:cNvPr id="116" name="Shape 100"/>
          <p:cNvSpPr/>
          <p:nvPr/>
        </p:nvSpPr>
        <p:spPr>
          <a:xfrm>
            <a:off x="7608573" y="3281363"/>
            <a:ext cx="2423160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17" name="Shape 101"/>
          <p:cNvSpPr/>
          <p:nvPr/>
        </p:nvSpPr>
        <p:spPr>
          <a:xfrm>
            <a:off x="7608573" y="3281363"/>
            <a:ext cx="1308497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18" name="Text 102"/>
          <p:cNvSpPr/>
          <p:nvPr/>
        </p:nvSpPr>
        <p:spPr>
          <a:xfrm>
            <a:off x="7608573" y="3386138"/>
            <a:ext cx="61186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audit</a:t>
            </a:r>
            <a:endParaRPr lang="en-US" sz="863" dirty="0"/>
          </a:p>
        </p:txBody>
      </p:sp>
      <p:sp>
        <p:nvSpPr>
          <p:cNvPr id="119" name="Text 103"/>
          <p:cNvSpPr/>
          <p:nvPr/>
        </p:nvSpPr>
        <p:spPr>
          <a:xfrm>
            <a:off x="9812536" y="3386138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863" dirty="0"/>
          </a:p>
        </p:txBody>
      </p:sp>
      <p:sp>
        <p:nvSpPr>
          <p:cNvPr id="120" name="Shape 104"/>
          <p:cNvSpPr/>
          <p:nvPr/>
        </p:nvSpPr>
        <p:spPr>
          <a:xfrm>
            <a:off x="7608573" y="3539491"/>
            <a:ext cx="2423160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21" name="Shape 105"/>
          <p:cNvSpPr/>
          <p:nvPr/>
        </p:nvSpPr>
        <p:spPr>
          <a:xfrm>
            <a:off x="7608573" y="3539491"/>
            <a:ext cx="678418" cy="476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22" name="Shape 106"/>
          <p:cNvSpPr/>
          <p:nvPr/>
        </p:nvSpPr>
        <p:spPr>
          <a:xfrm>
            <a:off x="7608573" y="3701416"/>
            <a:ext cx="2423160" cy="95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23" name="Text 107"/>
          <p:cNvSpPr/>
          <p:nvPr/>
        </p:nvSpPr>
        <p:spPr>
          <a:xfrm>
            <a:off x="7608573" y="3785234"/>
            <a:ext cx="24993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FROM CNAPP</a:t>
            </a:r>
            <a:endParaRPr lang="en-US" sz="750" dirty="0"/>
          </a:p>
        </p:txBody>
      </p:sp>
      <p:sp>
        <p:nvSpPr>
          <p:cNvPr id="124" name="Text 108"/>
          <p:cNvSpPr/>
          <p:nvPr/>
        </p:nvSpPr>
        <p:spPr>
          <a:xfrm>
            <a:off x="7608573" y="3918584"/>
            <a:ext cx="2499360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+ blast-radius graph already in place. Richer on arrival than log-only competitors.</a:t>
            </a:r>
            <a:endParaRPr lang="en-US" sz="86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7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91441" y="34099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63103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· step 3 of 3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316840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424829" y="144780"/>
            <a:ext cx="107382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readiness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574852" y="74295"/>
            <a:ext cx="3916085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77724" y="167641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849174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4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1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4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1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59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1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6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3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1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5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09"/>
            <a:ext cx="173771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readiness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8494040" y="616267"/>
            <a:ext cx="92428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8568333" y="68770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0" name="Text 25"/>
          <p:cNvSpPr/>
          <p:nvPr/>
        </p:nvSpPr>
        <p:spPr>
          <a:xfrm>
            <a:off x="8663583" y="642938"/>
            <a:ext cx="75664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· 78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9475473" y="590550"/>
            <a:ext cx="678180" cy="25146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2" name="Text 27"/>
          <p:cNvSpPr/>
          <p:nvPr/>
        </p:nvSpPr>
        <p:spPr>
          <a:xfrm>
            <a:off x="9578341" y="636270"/>
            <a:ext cx="54864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 →</a:t>
            </a:r>
            <a:endParaRPr lang="en-US" sz="900" dirty="0"/>
          </a:p>
        </p:txBody>
      </p:sp>
      <p:sp>
        <p:nvSpPr>
          <p:cNvPr id="43" name="Shape 28"/>
          <p:cNvSpPr/>
          <p:nvPr/>
        </p:nvSpPr>
        <p:spPr>
          <a:xfrm>
            <a:off x="666750" y="937259"/>
            <a:ext cx="6705600" cy="5596890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4" name="Text 29"/>
          <p:cNvSpPr/>
          <p:nvPr/>
        </p:nvSpPr>
        <p:spPr>
          <a:xfrm>
            <a:off x="788673" y="1040130"/>
            <a:ext cx="66556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coverage by source</a:t>
            </a:r>
            <a:endParaRPr lang="en-US" sz="900" dirty="0"/>
          </a:p>
        </p:txBody>
      </p:sp>
      <p:sp>
        <p:nvSpPr>
          <p:cNvPr id="45" name="Text 30"/>
          <p:cNvSpPr/>
          <p:nvPr/>
        </p:nvSpPr>
        <p:spPr>
          <a:xfrm>
            <a:off x="1931673" y="1276350"/>
            <a:ext cx="7978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825" dirty="0"/>
          </a:p>
        </p:txBody>
      </p:sp>
      <p:sp>
        <p:nvSpPr>
          <p:cNvPr id="46" name="Text 31"/>
          <p:cNvSpPr/>
          <p:nvPr/>
        </p:nvSpPr>
        <p:spPr>
          <a:xfrm>
            <a:off x="2691408" y="1276350"/>
            <a:ext cx="79795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</a:t>
            </a:r>
            <a:endParaRPr lang="en-US" sz="825" dirty="0"/>
          </a:p>
        </p:txBody>
      </p:sp>
      <p:sp>
        <p:nvSpPr>
          <p:cNvPr id="47" name="Text 32"/>
          <p:cNvSpPr/>
          <p:nvPr/>
        </p:nvSpPr>
        <p:spPr>
          <a:xfrm>
            <a:off x="3451264" y="1276350"/>
            <a:ext cx="79795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825" dirty="0"/>
          </a:p>
        </p:txBody>
      </p:sp>
      <p:sp>
        <p:nvSpPr>
          <p:cNvPr id="48" name="Text 33"/>
          <p:cNvSpPr/>
          <p:nvPr/>
        </p:nvSpPr>
        <p:spPr>
          <a:xfrm>
            <a:off x="4211124" y="1276350"/>
            <a:ext cx="7978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825" dirty="0"/>
          </a:p>
        </p:txBody>
      </p:sp>
      <p:sp>
        <p:nvSpPr>
          <p:cNvPr id="49" name="Text 34"/>
          <p:cNvSpPr/>
          <p:nvPr/>
        </p:nvSpPr>
        <p:spPr>
          <a:xfrm>
            <a:off x="4970859" y="1276350"/>
            <a:ext cx="79795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825" dirty="0"/>
          </a:p>
        </p:txBody>
      </p:sp>
      <p:sp>
        <p:nvSpPr>
          <p:cNvPr id="50" name="Text 35"/>
          <p:cNvSpPr/>
          <p:nvPr/>
        </p:nvSpPr>
        <p:spPr>
          <a:xfrm>
            <a:off x="5730715" y="1276350"/>
            <a:ext cx="79795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</a:t>
            </a:r>
            <a:endParaRPr lang="en-US" sz="825" dirty="0"/>
          </a:p>
        </p:txBody>
      </p:sp>
      <p:sp>
        <p:nvSpPr>
          <p:cNvPr id="51" name="Text 36"/>
          <p:cNvSpPr/>
          <p:nvPr/>
        </p:nvSpPr>
        <p:spPr>
          <a:xfrm>
            <a:off x="6490576" y="1276350"/>
            <a:ext cx="79795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825" dirty="0"/>
          </a:p>
        </p:txBody>
      </p:sp>
      <p:sp>
        <p:nvSpPr>
          <p:cNvPr id="52" name="Text 37"/>
          <p:cNvSpPr/>
          <p:nvPr/>
        </p:nvSpPr>
        <p:spPr>
          <a:xfrm>
            <a:off x="788673" y="1461134"/>
            <a:ext cx="121920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</a:t>
            </a:r>
            <a:endParaRPr lang="en-US" sz="863" dirty="0"/>
          </a:p>
        </p:txBody>
      </p:sp>
      <p:sp>
        <p:nvSpPr>
          <p:cNvPr id="53" name="Shape 38"/>
          <p:cNvSpPr/>
          <p:nvPr/>
        </p:nvSpPr>
        <p:spPr>
          <a:xfrm>
            <a:off x="1969773" y="1461134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4" name="Shape 39"/>
          <p:cNvSpPr/>
          <p:nvPr/>
        </p:nvSpPr>
        <p:spPr>
          <a:xfrm>
            <a:off x="2729508" y="1461134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3489364" y="1461134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6" name="Shape 41"/>
          <p:cNvSpPr/>
          <p:nvPr/>
        </p:nvSpPr>
        <p:spPr>
          <a:xfrm>
            <a:off x="4249224" y="1461134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5008959" y="1461134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5768815" y="1461134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9" name="Shape 44"/>
          <p:cNvSpPr/>
          <p:nvPr/>
        </p:nvSpPr>
        <p:spPr>
          <a:xfrm>
            <a:off x="6528676" y="1461134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0" name="Text 45"/>
          <p:cNvSpPr/>
          <p:nvPr/>
        </p:nvSpPr>
        <p:spPr>
          <a:xfrm>
            <a:off x="788673" y="1724025"/>
            <a:ext cx="121920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Dev</a:t>
            </a:r>
            <a:endParaRPr lang="en-US" sz="863" dirty="0"/>
          </a:p>
        </p:txBody>
      </p:sp>
      <p:sp>
        <p:nvSpPr>
          <p:cNvPr id="61" name="Shape 46"/>
          <p:cNvSpPr/>
          <p:nvPr/>
        </p:nvSpPr>
        <p:spPr>
          <a:xfrm>
            <a:off x="1969773" y="172402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2" name="Shape 47"/>
          <p:cNvSpPr/>
          <p:nvPr/>
        </p:nvSpPr>
        <p:spPr>
          <a:xfrm>
            <a:off x="2729508" y="172402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3" name="Shape 48"/>
          <p:cNvSpPr/>
          <p:nvPr/>
        </p:nvSpPr>
        <p:spPr>
          <a:xfrm>
            <a:off x="3489364" y="172402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4" name="Shape 49"/>
          <p:cNvSpPr/>
          <p:nvPr/>
        </p:nvSpPr>
        <p:spPr>
          <a:xfrm>
            <a:off x="4249224" y="172402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5" name="Shape 50"/>
          <p:cNvSpPr/>
          <p:nvPr/>
        </p:nvSpPr>
        <p:spPr>
          <a:xfrm>
            <a:off x="5008959" y="172402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6" name="Shape 51"/>
          <p:cNvSpPr/>
          <p:nvPr/>
        </p:nvSpPr>
        <p:spPr>
          <a:xfrm>
            <a:off x="5768815" y="172402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7" name="Shape 52"/>
          <p:cNvSpPr/>
          <p:nvPr/>
        </p:nvSpPr>
        <p:spPr>
          <a:xfrm>
            <a:off x="6528676" y="172402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8" name="Text 53"/>
          <p:cNvSpPr/>
          <p:nvPr/>
        </p:nvSpPr>
        <p:spPr>
          <a:xfrm>
            <a:off x="788673" y="1986916"/>
            <a:ext cx="121920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Access</a:t>
            </a:r>
            <a:endParaRPr lang="en-US" sz="863" dirty="0"/>
          </a:p>
        </p:txBody>
      </p:sp>
      <p:sp>
        <p:nvSpPr>
          <p:cNvPr id="69" name="Shape 54"/>
          <p:cNvSpPr/>
          <p:nvPr/>
        </p:nvSpPr>
        <p:spPr>
          <a:xfrm>
            <a:off x="1969773" y="1986916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0" name="Shape 55"/>
          <p:cNvSpPr/>
          <p:nvPr/>
        </p:nvSpPr>
        <p:spPr>
          <a:xfrm>
            <a:off x="2729508" y="1986916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1" name="Shape 56"/>
          <p:cNvSpPr/>
          <p:nvPr/>
        </p:nvSpPr>
        <p:spPr>
          <a:xfrm>
            <a:off x="3489364" y="1986916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2" name="Shape 57"/>
          <p:cNvSpPr/>
          <p:nvPr/>
        </p:nvSpPr>
        <p:spPr>
          <a:xfrm>
            <a:off x="4249224" y="1986916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3" name="Shape 58"/>
          <p:cNvSpPr/>
          <p:nvPr/>
        </p:nvSpPr>
        <p:spPr>
          <a:xfrm>
            <a:off x="5008959" y="1986916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4" name="Shape 59"/>
          <p:cNvSpPr/>
          <p:nvPr/>
        </p:nvSpPr>
        <p:spPr>
          <a:xfrm>
            <a:off x="5768815" y="1986916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5" name="Shape 60"/>
          <p:cNvSpPr/>
          <p:nvPr/>
        </p:nvSpPr>
        <p:spPr>
          <a:xfrm>
            <a:off x="6528676" y="1986916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6" name="Text 61"/>
          <p:cNvSpPr/>
          <p:nvPr/>
        </p:nvSpPr>
        <p:spPr>
          <a:xfrm>
            <a:off x="788673" y="2249805"/>
            <a:ext cx="121920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863" dirty="0"/>
          </a:p>
        </p:txBody>
      </p:sp>
      <p:sp>
        <p:nvSpPr>
          <p:cNvPr id="77" name="Shape 62"/>
          <p:cNvSpPr/>
          <p:nvPr/>
        </p:nvSpPr>
        <p:spPr>
          <a:xfrm>
            <a:off x="1969773" y="224980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8" name="Shape 63"/>
          <p:cNvSpPr/>
          <p:nvPr/>
        </p:nvSpPr>
        <p:spPr>
          <a:xfrm>
            <a:off x="2729508" y="224980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9" name="Shape 64"/>
          <p:cNvSpPr/>
          <p:nvPr/>
        </p:nvSpPr>
        <p:spPr>
          <a:xfrm>
            <a:off x="3489364" y="224980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0" name="Shape 65"/>
          <p:cNvSpPr/>
          <p:nvPr/>
        </p:nvSpPr>
        <p:spPr>
          <a:xfrm>
            <a:off x="4249224" y="224980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1" name="Shape 66"/>
          <p:cNvSpPr/>
          <p:nvPr/>
        </p:nvSpPr>
        <p:spPr>
          <a:xfrm>
            <a:off x="5008959" y="224980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2" name="Shape 67"/>
          <p:cNvSpPr/>
          <p:nvPr/>
        </p:nvSpPr>
        <p:spPr>
          <a:xfrm>
            <a:off x="5768815" y="224980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3" name="Shape 68"/>
          <p:cNvSpPr/>
          <p:nvPr/>
        </p:nvSpPr>
        <p:spPr>
          <a:xfrm>
            <a:off x="6528676" y="224980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4" name="Text 69"/>
          <p:cNvSpPr/>
          <p:nvPr/>
        </p:nvSpPr>
        <p:spPr>
          <a:xfrm>
            <a:off x="788673" y="2512695"/>
            <a:ext cx="121920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863" dirty="0"/>
          </a:p>
        </p:txBody>
      </p:sp>
      <p:sp>
        <p:nvSpPr>
          <p:cNvPr id="85" name="Shape 70"/>
          <p:cNvSpPr/>
          <p:nvPr/>
        </p:nvSpPr>
        <p:spPr>
          <a:xfrm>
            <a:off x="1969773" y="251269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6" name="Shape 71"/>
          <p:cNvSpPr/>
          <p:nvPr/>
        </p:nvSpPr>
        <p:spPr>
          <a:xfrm>
            <a:off x="2729508" y="251269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7" name="Shape 72"/>
          <p:cNvSpPr/>
          <p:nvPr/>
        </p:nvSpPr>
        <p:spPr>
          <a:xfrm>
            <a:off x="3489364" y="251269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8" name="Shape 73"/>
          <p:cNvSpPr/>
          <p:nvPr/>
        </p:nvSpPr>
        <p:spPr>
          <a:xfrm>
            <a:off x="4249224" y="251269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9" name="Shape 74"/>
          <p:cNvSpPr/>
          <p:nvPr/>
        </p:nvSpPr>
        <p:spPr>
          <a:xfrm>
            <a:off x="5008959" y="251269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0" name="Shape 75"/>
          <p:cNvSpPr/>
          <p:nvPr/>
        </p:nvSpPr>
        <p:spPr>
          <a:xfrm>
            <a:off x="5768815" y="251269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1" name="Shape 76"/>
          <p:cNvSpPr/>
          <p:nvPr/>
        </p:nvSpPr>
        <p:spPr>
          <a:xfrm>
            <a:off x="6528676" y="251269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2" name="Text 77"/>
          <p:cNvSpPr/>
          <p:nvPr/>
        </p:nvSpPr>
        <p:spPr>
          <a:xfrm>
            <a:off x="788673" y="2775584"/>
            <a:ext cx="121920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Priv. Esc</a:t>
            </a:r>
            <a:endParaRPr lang="en-US" sz="863" dirty="0"/>
          </a:p>
        </p:txBody>
      </p:sp>
      <p:sp>
        <p:nvSpPr>
          <p:cNvPr id="93" name="Shape 78"/>
          <p:cNvSpPr/>
          <p:nvPr/>
        </p:nvSpPr>
        <p:spPr>
          <a:xfrm>
            <a:off x="1969773" y="2775584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4" name="Shape 79"/>
          <p:cNvSpPr/>
          <p:nvPr/>
        </p:nvSpPr>
        <p:spPr>
          <a:xfrm>
            <a:off x="2729508" y="2775584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5" name="Shape 80"/>
          <p:cNvSpPr/>
          <p:nvPr/>
        </p:nvSpPr>
        <p:spPr>
          <a:xfrm>
            <a:off x="3489364" y="2775584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6" name="Shape 81"/>
          <p:cNvSpPr/>
          <p:nvPr/>
        </p:nvSpPr>
        <p:spPr>
          <a:xfrm>
            <a:off x="4249224" y="2775584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7" name="Shape 82"/>
          <p:cNvSpPr/>
          <p:nvPr/>
        </p:nvSpPr>
        <p:spPr>
          <a:xfrm>
            <a:off x="5008959" y="2775584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8" name="Shape 83"/>
          <p:cNvSpPr/>
          <p:nvPr/>
        </p:nvSpPr>
        <p:spPr>
          <a:xfrm>
            <a:off x="5768815" y="2775584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9" name="Shape 84"/>
          <p:cNvSpPr/>
          <p:nvPr/>
        </p:nvSpPr>
        <p:spPr>
          <a:xfrm>
            <a:off x="6528676" y="2775584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0" name="Text 85"/>
          <p:cNvSpPr/>
          <p:nvPr/>
        </p:nvSpPr>
        <p:spPr>
          <a:xfrm>
            <a:off x="788673" y="3038475"/>
            <a:ext cx="121920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Evasion</a:t>
            </a:r>
            <a:endParaRPr lang="en-US" sz="863" dirty="0"/>
          </a:p>
        </p:txBody>
      </p:sp>
      <p:sp>
        <p:nvSpPr>
          <p:cNvPr id="101" name="Shape 86"/>
          <p:cNvSpPr/>
          <p:nvPr/>
        </p:nvSpPr>
        <p:spPr>
          <a:xfrm>
            <a:off x="1969773" y="303847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2" name="Shape 87"/>
          <p:cNvSpPr/>
          <p:nvPr/>
        </p:nvSpPr>
        <p:spPr>
          <a:xfrm>
            <a:off x="2729508" y="303847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3" name="Shape 88"/>
          <p:cNvSpPr/>
          <p:nvPr/>
        </p:nvSpPr>
        <p:spPr>
          <a:xfrm>
            <a:off x="3489364" y="303847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4" name="Shape 89"/>
          <p:cNvSpPr/>
          <p:nvPr/>
        </p:nvSpPr>
        <p:spPr>
          <a:xfrm>
            <a:off x="4249224" y="303847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5" name="Shape 90"/>
          <p:cNvSpPr/>
          <p:nvPr/>
        </p:nvSpPr>
        <p:spPr>
          <a:xfrm>
            <a:off x="5008959" y="303847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6" name="Shape 91"/>
          <p:cNvSpPr/>
          <p:nvPr/>
        </p:nvSpPr>
        <p:spPr>
          <a:xfrm>
            <a:off x="5768815" y="303847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7" name="Shape 92"/>
          <p:cNvSpPr/>
          <p:nvPr/>
        </p:nvSpPr>
        <p:spPr>
          <a:xfrm>
            <a:off x="6528676" y="303847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8" name="Text 93"/>
          <p:cNvSpPr/>
          <p:nvPr/>
        </p:nvSpPr>
        <p:spPr>
          <a:xfrm>
            <a:off x="788673" y="3301366"/>
            <a:ext cx="121920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Cred. Access</a:t>
            </a:r>
            <a:endParaRPr lang="en-US" sz="863" dirty="0"/>
          </a:p>
        </p:txBody>
      </p:sp>
      <p:sp>
        <p:nvSpPr>
          <p:cNvPr id="109" name="Shape 94"/>
          <p:cNvSpPr/>
          <p:nvPr/>
        </p:nvSpPr>
        <p:spPr>
          <a:xfrm>
            <a:off x="1969773" y="3301366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0" name="Shape 95"/>
          <p:cNvSpPr/>
          <p:nvPr/>
        </p:nvSpPr>
        <p:spPr>
          <a:xfrm>
            <a:off x="2729508" y="3301366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1" name="Shape 96"/>
          <p:cNvSpPr/>
          <p:nvPr/>
        </p:nvSpPr>
        <p:spPr>
          <a:xfrm>
            <a:off x="3489364" y="3301366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2" name="Shape 97"/>
          <p:cNvSpPr/>
          <p:nvPr/>
        </p:nvSpPr>
        <p:spPr>
          <a:xfrm>
            <a:off x="4249224" y="3301366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3" name="Shape 98"/>
          <p:cNvSpPr/>
          <p:nvPr/>
        </p:nvSpPr>
        <p:spPr>
          <a:xfrm>
            <a:off x="5008959" y="3301366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4" name="Shape 99"/>
          <p:cNvSpPr/>
          <p:nvPr/>
        </p:nvSpPr>
        <p:spPr>
          <a:xfrm>
            <a:off x="5768815" y="3301366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5" name="Shape 100"/>
          <p:cNvSpPr/>
          <p:nvPr/>
        </p:nvSpPr>
        <p:spPr>
          <a:xfrm>
            <a:off x="6528676" y="3301366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6" name="Text 101"/>
          <p:cNvSpPr/>
          <p:nvPr/>
        </p:nvSpPr>
        <p:spPr>
          <a:xfrm>
            <a:off x="788673" y="3564255"/>
            <a:ext cx="121920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863" dirty="0"/>
          </a:p>
        </p:txBody>
      </p:sp>
      <p:sp>
        <p:nvSpPr>
          <p:cNvPr id="117" name="Shape 102"/>
          <p:cNvSpPr/>
          <p:nvPr/>
        </p:nvSpPr>
        <p:spPr>
          <a:xfrm>
            <a:off x="1969773" y="356425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8" name="Shape 103"/>
          <p:cNvSpPr/>
          <p:nvPr/>
        </p:nvSpPr>
        <p:spPr>
          <a:xfrm>
            <a:off x="2729508" y="356425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9" name="Shape 104"/>
          <p:cNvSpPr/>
          <p:nvPr/>
        </p:nvSpPr>
        <p:spPr>
          <a:xfrm>
            <a:off x="3489364" y="356425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0" name="Shape 105"/>
          <p:cNvSpPr/>
          <p:nvPr/>
        </p:nvSpPr>
        <p:spPr>
          <a:xfrm>
            <a:off x="4249224" y="356425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1" name="Shape 106"/>
          <p:cNvSpPr/>
          <p:nvPr/>
        </p:nvSpPr>
        <p:spPr>
          <a:xfrm>
            <a:off x="5008959" y="356425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2" name="Shape 107"/>
          <p:cNvSpPr/>
          <p:nvPr/>
        </p:nvSpPr>
        <p:spPr>
          <a:xfrm>
            <a:off x="5768815" y="356425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3" name="Shape 108"/>
          <p:cNvSpPr/>
          <p:nvPr/>
        </p:nvSpPr>
        <p:spPr>
          <a:xfrm>
            <a:off x="6528676" y="356425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4" name="Text 109"/>
          <p:cNvSpPr/>
          <p:nvPr/>
        </p:nvSpPr>
        <p:spPr>
          <a:xfrm>
            <a:off x="788673" y="3827145"/>
            <a:ext cx="121920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</a:t>
            </a:r>
            <a:endParaRPr lang="en-US" sz="863" dirty="0"/>
          </a:p>
        </p:txBody>
      </p:sp>
      <p:sp>
        <p:nvSpPr>
          <p:cNvPr id="125" name="Shape 110"/>
          <p:cNvSpPr/>
          <p:nvPr/>
        </p:nvSpPr>
        <p:spPr>
          <a:xfrm>
            <a:off x="1969773" y="382714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6" name="Shape 111"/>
          <p:cNvSpPr/>
          <p:nvPr/>
        </p:nvSpPr>
        <p:spPr>
          <a:xfrm>
            <a:off x="2729508" y="382714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7" name="Shape 112"/>
          <p:cNvSpPr/>
          <p:nvPr/>
        </p:nvSpPr>
        <p:spPr>
          <a:xfrm>
            <a:off x="3489364" y="382714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8" name="Shape 113"/>
          <p:cNvSpPr/>
          <p:nvPr/>
        </p:nvSpPr>
        <p:spPr>
          <a:xfrm>
            <a:off x="4249224" y="382714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9" name="Shape 114"/>
          <p:cNvSpPr/>
          <p:nvPr/>
        </p:nvSpPr>
        <p:spPr>
          <a:xfrm>
            <a:off x="5008959" y="382714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0" name="Shape 115"/>
          <p:cNvSpPr/>
          <p:nvPr/>
        </p:nvSpPr>
        <p:spPr>
          <a:xfrm>
            <a:off x="5768815" y="382714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1" name="Shape 116"/>
          <p:cNvSpPr/>
          <p:nvPr/>
        </p:nvSpPr>
        <p:spPr>
          <a:xfrm>
            <a:off x="6528676" y="382714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2" name="Text 117"/>
          <p:cNvSpPr/>
          <p:nvPr/>
        </p:nvSpPr>
        <p:spPr>
          <a:xfrm>
            <a:off x="788673" y="4090034"/>
            <a:ext cx="121920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863" dirty="0"/>
          </a:p>
        </p:txBody>
      </p:sp>
      <p:sp>
        <p:nvSpPr>
          <p:cNvPr id="133" name="Shape 118"/>
          <p:cNvSpPr/>
          <p:nvPr/>
        </p:nvSpPr>
        <p:spPr>
          <a:xfrm>
            <a:off x="1969773" y="4090034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4" name="Shape 119"/>
          <p:cNvSpPr/>
          <p:nvPr/>
        </p:nvSpPr>
        <p:spPr>
          <a:xfrm>
            <a:off x="2729508" y="4090034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5" name="Shape 120"/>
          <p:cNvSpPr/>
          <p:nvPr/>
        </p:nvSpPr>
        <p:spPr>
          <a:xfrm>
            <a:off x="3489364" y="4090034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6" name="Shape 121"/>
          <p:cNvSpPr/>
          <p:nvPr/>
        </p:nvSpPr>
        <p:spPr>
          <a:xfrm>
            <a:off x="4249224" y="4090034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7" name="Shape 122"/>
          <p:cNvSpPr/>
          <p:nvPr/>
        </p:nvSpPr>
        <p:spPr>
          <a:xfrm>
            <a:off x="5008959" y="4090034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8" name="Shape 123"/>
          <p:cNvSpPr/>
          <p:nvPr/>
        </p:nvSpPr>
        <p:spPr>
          <a:xfrm>
            <a:off x="5768815" y="4090034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9" name="Shape 124"/>
          <p:cNvSpPr/>
          <p:nvPr/>
        </p:nvSpPr>
        <p:spPr>
          <a:xfrm>
            <a:off x="6528676" y="4090034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0" name="Text 125"/>
          <p:cNvSpPr/>
          <p:nvPr/>
        </p:nvSpPr>
        <p:spPr>
          <a:xfrm>
            <a:off x="788673" y="4352925"/>
            <a:ext cx="121920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863" dirty="0"/>
          </a:p>
        </p:txBody>
      </p:sp>
      <p:sp>
        <p:nvSpPr>
          <p:cNvPr id="141" name="Shape 126"/>
          <p:cNvSpPr/>
          <p:nvPr/>
        </p:nvSpPr>
        <p:spPr>
          <a:xfrm>
            <a:off x="1969773" y="435292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2" name="Shape 127"/>
          <p:cNvSpPr/>
          <p:nvPr/>
        </p:nvSpPr>
        <p:spPr>
          <a:xfrm>
            <a:off x="2729508" y="435292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3" name="Shape 128"/>
          <p:cNvSpPr/>
          <p:nvPr/>
        </p:nvSpPr>
        <p:spPr>
          <a:xfrm>
            <a:off x="3489364" y="435292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4" name="Shape 129"/>
          <p:cNvSpPr/>
          <p:nvPr/>
        </p:nvSpPr>
        <p:spPr>
          <a:xfrm>
            <a:off x="4249224" y="435292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5" name="Shape 130"/>
          <p:cNvSpPr/>
          <p:nvPr/>
        </p:nvSpPr>
        <p:spPr>
          <a:xfrm>
            <a:off x="5008959" y="435292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6" name="Shape 131"/>
          <p:cNvSpPr/>
          <p:nvPr/>
        </p:nvSpPr>
        <p:spPr>
          <a:xfrm>
            <a:off x="5768815" y="435292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7" name="Shape 132"/>
          <p:cNvSpPr/>
          <p:nvPr/>
        </p:nvSpPr>
        <p:spPr>
          <a:xfrm>
            <a:off x="6528676" y="435292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8" name="Text 133"/>
          <p:cNvSpPr/>
          <p:nvPr/>
        </p:nvSpPr>
        <p:spPr>
          <a:xfrm>
            <a:off x="788673" y="4615816"/>
            <a:ext cx="121920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Exfil</a:t>
            </a:r>
            <a:endParaRPr lang="en-US" sz="863" dirty="0"/>
          </a:p>
        </p:txBody>
      </p:sp>
      <p:sp>
        <p:nvSpPr>
          <p:cNvPr id="149" name="Shape 134"/>
          <p:cNvSpPr/>
          <p:nvPr/>
        </p:nvSpPr>
        <p:spPr>
          <a:xfrm>
            <a:off x="1969773" y="4615816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" name="Shape 135"/>
          <p:cNvSpPr/>
          <p:nvPr/>
        </p:nvSpPr>
        <p:spPr>
          <a:xfrm>
            <a:off x="2729508" y="4615816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" name="Shape 136"/>
          <p:cNvSpPr/>
          <p:nvPr/>
        </p:nvSpPr>
        <p:spPr>
          <a:xfrm>
            <a:off x="3489364" y="4615816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2" name="Shape 137"/>
          <p:cNvSpPr/>
          <p:nvPr/>
        </p:nvSpPr>
        <p:spPr>
          <a:xfrm>
            <a:off x="4249224" y="4615816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3" name="Shape 138"/>
          <p:cNvSpPr/>
          <p:nvPr/>
        </p:nvSpPr>
        <p:spPr>
          <a:xfrm>
            <a:off x="5008959" y="4615816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4" name="Shape 139"/>
          <p:cNvSpPr/>
          <p:nvPr/>
        </p:nvSpPr>
        <p:spPr>
          <a:xfrm>
            <a:off x="5768815" y="4615816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5" name="Shape 140"/>
          <p:cNvSpPr/>
          <p:nvPr/>
        </p:nvSpPr>
        <p:spPr>
          <a:xfrm>
            <a:off x="6528676" y="4615816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6" name="Text 141"/>
          <p:cNvSpPr/>
          <p:nvPr/>
        </p:nvSpPr>
        <p:spPr>
          <a:xfrm>
            <a:off x="788673" y="4878705"/>
            <a:ext cx="121920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863" dirty="0"/>
          </a:p>
        </p:txBody>
      </p:sp>
      <p:sp>
        <p:nvSpPr>
          <p:cNvPr id="157" name="Shape 142"/>
          <p:cNvSpPr/>
          <p:nvPr/>
        </p:nvSpPr>
        <p:spPr>
          <a:xfrm>
            <a:off x="1969773" y="487870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8" name="Shape 143"/>
          <p:cNvSpPr/>
          <p:nvPr/>
        </p:nvSpPr>
        <p:spPr>
          <a:xfrm>
            <a:off x="2729508" y="487870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9" name="Shape 144"/>
          <p:cNvSpPr/>
          <p:nvPr/>
        </p:nvSpPr>
        <p:spPr>
          <a:xfrm>
            <a:off x="3489364" y="487870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0" name="Shape 145"/>
          <p:cNvSpPr/>
          <p:nvPr/>
        </p:nvSpPr>
        <p:spPr>
          <a:xfrm>
            <a:off x="4249224" y="4878705"/>
            <a:ext cx="721638" cy="224790"/>
          </a:xfrm>
          <a:prstGeom prst="roundRect">
            <a:avLst>
              <a:gd name="adj" fmla="val 12712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1" name="Shape 146"/>
          <p:cNvSpPr/>
          <p:nvPr/>
        </p:nvSpPr>
        <p:spPr>
          <a:xfrm>
            <a:off x="5008959" y="487870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5768815" y="487870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6528676" y="4878705"/>
            <a:ext cx="721757" cy="224790"/>
          </a:xfrm>
          <a:prstGeom prst="roundRect">
            <a:avLst>
              <a:gd name="adj" fmla="val 12712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4" name="Text 149"/>
          <p:cNvSpPr/>
          <p:nvPr/>
        </p:nvSpPr>
        <p:spPr>
          <a:xfrm>
            <a:off x="788673" y="5198745"/>
            <a:ext cx="4549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·</a:t>
            </a:r>
            <a:endParaRPr lang="en-US" sz="825" dirty="0"/>
          </a:p>
        </p:txBody>
      </p:sp>
      <p:sp>
        <p:nvSpPr>
          <p:cNvPr id="165" name="Shape 150"/>
          <p:cNvSpPr/>
          <p:nvPr/>
        </p:nvSpPr>
        <p:spPr>
          <a:xfrm>
            <a:off x="1224558" y="5214938"/>
            <a:ext cx="133350" cy="114300"/>
          </a:xfrm>
          <a:prstGeom prst="rect">
            <a:avLst/>
          </a:prstGeom>
          <a:solidFill>
            <a:srgbClr val="10B981">
              <a:alpha val="55000"/>
            </a:srgbClr>
          </a:solidFill>
          <a:ln/>
        </p:spPr>
      </p:sp>
      <p:sp>
        <p:nvSpPr>
          <p:cNvPr id="166" name="Text 151"/>
          <p:cNvSpPr/>
          <p:nvPr/>
        </p:nvSpPr>
        <p:spPr>
          <a:xfrm>
            <a:off x="1396008" y="5198745"/>
            <a:ext cx="36742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825" dirty="0"/>
          </a:p>
        </p:txBody>
      </p:sp>
      <p:sp>
        <p:nvSpPr>
          <p:cNvPr id="167" name="Shape 152"/>
          <p:cNvSpPr/>
          <p:nvPr/>
        </p:nvSpPr>
        <p:spPr>
          <a:xfrm>
            <a:off x="1744387" y="5214938"/>
            <a:ext cx="133350" cy="114300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168" name="Text 153"/>
          <p:cNvSpPr/>
          <p:nvPr/>
        </p:nvSpPr>
        <p:spPr>
          <a:xfrm>
            <a:off x="1915837" y="5198745"/>
            <a:ext cx="36159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25" dirty="0"/>
          </a:p>
        </p:txBody>
      </p:sp>
      <p:sp>
        <p:nvSpPr>
          <p:cNvPr id="169" name="Shape 154"/>
          <p:cNvSpPr/>
          <p:nvPr/>
        </p:nvSpPr>
        <p:spPr>
          <a:xfrm>
            <a:off x="2258378" y="5214938"/>
            <a:ext cx="133350" cy="114300"/>
          </a:xfrm>
          <a:prstGeom prst="rect">
            <a:avLst/>
          </a:prstGeom>
          <a:solidFill>
            <a:srgbClr val="EF4444">
              <a:alpha val="45000"/>
            </a:srgbClr>
          </a:solidFill>
          <a:ln/>
        </p:spPr>
      </p:sp>
      <p:sp>
        <p:nvSpPr>
          <p:cNvPr id="170" name="Text 155"/>
          <p:cNvSpPr/>
          <p:nvPr/>
        </p:nvSpPr>
        <p:spPr>
          <a:xfrm>
            <a:off x="2429828" y="5198745"/>
            <a:ext cx="32087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825" dirty="0"/>
          </a:p>
        </p:txBody>
      </p:sp>
      <p:sp>
        <p:nvSpPr>
          <p:cNvPr id="171" name="Shape 156"/>
          <p:cNvSpPr/>
          <p:nvPr/>
        </p:nvSpPr>
        <p:spPr>
          <a:xfrm>
            <a:off x="2731652" y="5214938"/>
            <a:ext cx="133350" cy="1143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2" name="Text 157"/>
          <p:cNvSpPr/>
          <p:nvPr/>
        </p:nvSpPr>
        <p:spPr>
          <a:xfrm>
            <a:off x="2903102" y="5198745"/>
            <a:ext cx="30932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825" dirty="0"/>
          </a:p>
        </p:txBody>
      </p:sp>
      <p:sp>
        <p:nvSpPr>
          <p:cNvPr id="173" name="Shape 158"/>
          <p:cNvSpPr/>
          <p:nvPr/>
        </p:nvSpPr>
        <p:spPr>
          <a:xfrm>
            <a:off x="7486650" y="937259"/>
            <a:ext cx="2667000" cy="1249680"/>
          </a:xfrm>
          <a:prstGeom prst="roundRect">
            <a:avLst>
              <a:gd name="adj" fmla="val 6098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17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8573" y="1058228"/>
            <a:ext cx="123825" cy="123825"/>
          </a:xfrm>
          <a:prstGeom prst="rect">
            <a:avLst/>
          </a:prstGeom>
        </p:spPr>
      </p:pic>
      <p:sp>
        <p:nvSpPr>
          <p:cNvPr id="175" name="Text 159"/>
          <p:cNvSpPr/>
          <p:nvPr/>
        </p:nvSpPr>
        <p:spPr>
          <a:xfrm>
            <a:off x="7780023" y="1047750"/>
            <a:ext cx="9757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score</a:t>
            </a:r>
            <a:endParaRPr lang="en-US" sz="900" dirty="0"/>
          </a:p>
        </p:txBody>
      </p:sp>
      <p:sp>
        <p:nvSpPr>
          <p:cNvPr id="176" name="Shape 160"/>
          <p:cNvSpPr/>
          <p:nvPr/>
        </p:nvSpPr>
        <p:spPr>
          <a:xfrm>
            <a:off x="7608573" y="1276350"/>
            <a:ext cx="746641" cy="8077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0B981"/>
            </a:solidFill>
            <a:prstDash val="solid"/>
          </a:ln>
        </p:spPr>
      </p:sp>
      <p:sp>
        <p:nvSpPr>
          <p:cNvPr id="177" name="Text 161"/>
          <p:cNvSpPr/>
          <p:nvPr/>
        </p:nvSpPr>
        <p:spPr>
          <a:xfrm>
            <a:off x="7845744" y="1520191"/>
            <a:ext cx="34849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800" dirty="0"/>
          </a:p>
        </p:txBody>
      </p:sp>
      <p:sp>
        <p:nvSpPr>
          <p:cNvPr id="178" name="Text 162"/>
          <p:cNvSpPr/>
          <p:nvPr/>
        </p:nvSpPr>
        <p:spPr>
          <a:xfrm>
            <a:off x="8469511" y="1401128"/>
            <a:ext cx="1638419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ready</a:t>
            </a:r>
            <a:endParaRPr lang="en-US" sz="1200" dirty="0"/>
          </a:p>
        </p:txBody>
      </p:sp>
      <p:sp>
        <p:nvSpPr>
          <p:cNvPr id="179" name="Text 163"/>
          <p:cNvSpPr/>
          <p:nvPr/>
        </p:nvSpPr>
        <p:spPr>
          <a:xfrm>
            <a:off x="8469511" y="1652588"/>
            <a:ext cx="1638419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2 connectors to close top gaps</a:t>
            </a:r>
            <a:endParaRPr lang="en-US" sz="863" dirty="0"/>
          </a:p>
        </p:txBody>
      </p:sp>
      <p:sp>
        <p:nvSpPr>
          <p:cNvPr id="180" name="Shape 164"/>
          <p:cNvSpPr/>
          <p:nvPr/>
        </p:nvSpPr>
        <p:spPr>
          <a:xfrm>
            <a:off x="7486650" y="2263141"/>
            <a:ext cx="2667000" cy="205359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18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08573" y="2384108"/>
            <a:ext cx="123825" cy="123825"/>
          </a:xfrm>
          <a:prstGeom prst="rect">
            <a:avLst/>
          </a:prstGeom>
        </p:spPr>
      </p:pic>
      <p:sp>
        <p:nvSpPr>
          <p:cNvPr id="182" name="Text 165"/>
          <p:cNvSpPr/>
          <p:nvPr/>
        </p:nvSpPr>
        <p:spPr>
          <a:xfrm>
            <a:off x="7780023" y="2373630"/>
            <a:ext cx="6659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83" name="Shape 166"/>
          <p:cNvSpPr/>
          <p:nvPr/>
        </p:nvSpPr>
        <p:spPr>
          <a:xfrm>
            <a:off x="7608573" y="2742247"/>
            <a:ext cx="443270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84" name="Shape 167"/>
          <p:cNvSpPr/>
          <p:nvPr/>
        </p:nvSpPr>
        <p:spPr>
          <a:xfrm>
            <a:off x="7682866" y="2813684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85" name="Text 168"/>
          <p:cNvSpPr/>
          <p:nvPr/>
        </p:nvSpPr>
        <p:spPr>
          <a:xfrm>
            <a:off x="7778116" y="2768917"/>
            <a:ext cx="27563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25" dirty="0"/>
          </a:p>
        </p:txBody>
      </p:sp>
      <p:sp>
        <p:nvSpPr>
          <p:cNvPr id="186" name="Text 169"/>
          <p:cNvSpPr/>
          <p:nvPr/>
        </p:nvSpPr>
        <p:spPr>
          <a:xfrm>
            <a:off x="8108989" y="2682241"/>
            <a:ext cx="105953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· Defense Evasion · add</a:t>
            </a:r>
            <a:endParaRPr lang="en-US" sz="900" dirty="0"/>
          </a:p>
        </p:txBody>
      </p:sp>
      <p:sp>
        <p:nvSpPr>
          <p:cNvPr id="187" name="Text 170"/>
          <p:cNvSpPr/>
          <p:nvPr/>
        </p:nvSpPr>
        <p:spPr>
          <a:xfrm>
            <a:off x="9149479" y="2602230"/>
            <a:ext cx="958453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Workspace audit</a:t>
            </a:r>
            <a:endParaRPr lang="en-US" sz="900" dirty="0"/>
          </a:p>
        </p:txBody>
      </p:sp>
      <p:sp>
        <p:nvSpPr>
          <p:cNvPr id="188" name="Shape 171"/>
          <p:cNvSpPr/>
          <p:nvPr/>
        </p:nvSpPr>
        <p:spPr>
          <a:xfrm>
            <a:off x="7608573" y="3199447"/>
            <a:ext cx="443270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89" name="Shape 172"/>
          <p:cNvSpPr/>
          <p:nvPr/>
        </p:nvSpPr>
        <p:spPr>
          <a:xfrm>
            <a:off x="7682866" y="3270884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90" name="Text 173"/>
          <p:cNvSpPr/>
          <p:nvPr/>
        </p:nvSpPr>
        <p:spPr>
          <a:xfrm>
            <a:off x="7778116" y="3226117"/>
            <a:ext cx="27563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25" dirty="0"/>
          </a:p>
        </p:txBody>
      </p:sp>
      <p:sp>
        <p:nvSpPr>
          <p:cNvPr id="191" name="Text 174"/>
          <p:cNvSpPr/>
          <p:nvPr/>
        </p:nvSpPr>
        <p:spPr>
          <a:xfrm>
            <a:off x="8108989" y="3139441"/>
            <a:ext cx="123551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· C2 channel · add</a:t>
            </a:r>
            <a:endParaRPr lang="en-US" sz="900" dirty="0"/>
          </a:p>
        </p:txBody>
      </p:sp>
      <p:sp>
        <p:nvSpPr>
          <p:cNvPr id="192" name="Text 175"/>
          <p:cNvSpPr/>
          <p:nvPr/>
        </p:nvSpPr>
        <p:spPr>
          <a:xfrm>
            <a:off x="9325454" y="3139441"/>
            <a:ext cx="78247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logs</a:t>
            </a:r>
            <a:endParaRPr lang="en-US" sz="900" dirty="0"/>
          </a:p>
        </p:txBody>
      </p:sp>
      <p:sp>
        <p:nvSpPr>
          <p:cNvPr id="193" name="Shape 176"/>
          <p:cNvSpPr/>
          <p:nvPr/>
        </p:nvSpPr>
        <p:spPr>
          <a:xfrm>
            <a:off x="7608573" y="3576638"/>
            <a:ext cx="471249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94" name="Shape 177"/>
          <p:cNvSpPr/>
          <p:nvPr/>
        </p:nvSpPr>
        <p:spPr>
          <a:xfrm>
            <a:off x="7682866" y="3648075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95" name="Text 178"/>
          <p:cNvSpPr/>
          <p:nvPr/>
        </p:nvSpPr>
        <p:spPr>
          <a:xfrm>
            <a:off x="7778116" y="3603308"/>
            <a:ext cx="30360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</a:t>
            </a:r>
            <a:endParaRPr lang="en-US" sz="825" dirty="0"/>
          </a:p>
        </p:txBody>
      </p:sp>
      <p:sp>
        <p:nvSpPr>
          <p:cNvPr id="196" name="Text 179"/>
          <p:cNvSpPr/>
          <p:nvPr/>
        </p:nvSpPr>
        <p:spPr>
          <a:xfrm>
            <a:off x="8136968" y="3516630"/>
            <a:ext cx="19709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has duplicate ingest paths · dedupe</a:t>
            </a:r>
            <a:endParaRPr lang="en-US" sz="900" dirty="0"/>
          </a:p>
        </p:txBody>
      </p:sp>
      <p:sp>
        <p:nvSpPr>
          <p:cNvPr id="197" name="Shape 180"/>
          <p:cNvSpPr/>
          <p:nvPr/>
        </p:nvSpPr>
        <p:spPr>
          <a:xfrm>
            <a:off x="7608573" y="3953828"/>
            <a:ext cx="520065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98" name="Shape 181"/>
          <p:cNvSpPr/>
          <p:nvPr/>
        </p:nvSpPr>
        <p:spPr>
          <a:xfrm>
            <a:off x="7682866" y="4025266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99" name="Text 182"/>
          <p:cNvSpPr/>
          <p:nvPr/>
        </p:nvSpPr>
        <p:spPr>
          <a:xfrm>
            <a:off x="7778116" y="3980497"/>
            <a:ext cx="35242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825" dirty="0"/>
          </a:p>
        </p:txBody>
      </p:sp>
      <p:sp>
        <p:nvSpPr>
          <p:cNvPr id="200" name="Text 183"/>
          <p:cNvSpPr/>
          <p:nvPr/>
        </p:nvSpPr>
        <p:spPr>
          <a:xfrm>
            <a:off x="8185784" y="3893820"/>
            <a:ext cx="192214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+ identity together give full kill-chain coverage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5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7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91440" y="5143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" y="600075"/>
            <a:ext cx="171450" cy="17145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962025"/>
            <a:ext cx="171450" cy="17145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" y="1323975"/>
            <a:ext cx="171450" cy="1714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4"/>
            <a:ext cx="122967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Center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1915478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023467" y="144780"/>
            <a:ext cx="36218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2461855" y="74294"/>
            <a:ext cx="5029081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4725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2736175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6" y="108584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4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0" y="131444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1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1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2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6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590550"/>
            <a:ext cx="302784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evening, Alex</a:t>
            </a:r>
            <a:endParaRPr lang="en-US" sz="1350" dirty="0"/>
          </a:p>
        </p:txBody>
      </p:sp>
      <p:sp>
        <p:nvSpPr>
          <p:cNvPr id="38" name="Text 23"/>
          <p:cNvSpPr/>
          <p:nvPr/>
        </p:nvSpPr>
        <p:spPr>
          <a:xfrm>
            <a:off x="666750" y="796290"/>
            <a:ext cx="3027843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handled 97% of the queue. 5 cases need you.</a:t>
            </a:r>
            <a:endParaRPr lang="en-US" sz="975" dirty="0"/>
          </a:p>
        </p:txBody>
      </p:sp>
      <p:sp>
        <p:nvSpPr>
          <p:cNvPr id="39" name="Shape 24"/>
          <p:cNvSpPr/>
          <p:nvPr/>
        </p:nvSpPr>
        <p:spPr>
          <a:xfrm>
            <a:off x="8356402" y="654367"/>
            <a:ext cx="759023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0" name="Text 25"/>
          <p:cNvSpPr/>
          <p:nvPr/>
        </p:nvSpPr>
        <p:spPr>
          <a:xfrm>
            <a:off x="8459271" y="700088"/>
            <a:ext cx="62948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audit</a:t>
            </a:r>
            <a:endParaRPr lang="en-US" sz="900" dirty="0"/>
          </a:p>
        </p:txBody>
      </p:sp>
      <p:sp>
        <p:nvSpPr>
          <p:cNvPr id="41" name="Shape 26"/>
          <p:cNvSpPr/>
          <p:nvPr/>
        </p:nvSpPr>
        <p:spPr>
          <a:xfrm>
            <a:off x="9172575" y="654367"/>
            <a:ext cx="981075" cy="25146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2" name="Text 27"/>
          <p:cNvSpPr/>
          <p:nvPr/>
        </p:nvSpPr>
        <p:spPr>
          <a:xfrm>
            <a:off x="9275445" y="700088"/>
            <a:ext cx="85153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queue →</a:t>
            </a:r>
            <a:endParaRPr lang="en-US" sz="900" dirty="0"/>
          </a:p>
        </p:txBody>
      </p:sp>
      <p:sp>
        <p:nvSpPr>
          <p:cNvPr id="43" name="Shape 28"/>
          <p:cNvSpPr/>
          <p:nvPr/>
        </p:nvSpPr>
        <p:spPr>
          <a:xfrm>
            <a:off x="666750" y="1064894"/>
            <a:ext cx="183642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4" name="Text 29"/>
          <p:cNvSpPr/>
          <p:nvPr/>
        </p:nvSpPr>
        <p:spPr>
          <a:xfrm>
            <a:off x="788670" y="1167765"/>
            <a:ext cx="16687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cases · human</a:t>
            </a:r>
            <a:endParaRPr lang="en-US" sz="825" dirty="0"/>
          </a:p>
        </p:txBody>
      </p:sp>
      <p:sp>
        <p:nvSpPr>
          <p:cNvPr id="45" name="Text 30"/>
          <p:cNvSpPr/>
          <p:nvPr/>
        </p:nvSpPr>
        <p:spPr>
          <a:xfrm>
            <a:off x="788670" y="1343025"/>
            <a:ext cx="1668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8670" y="1600200"/>
            <a:ext cx="1592580" cy="266700"/>
          </a:xfrm>
          <a:prstGeom prst="rect">
            <a:avLst/>
          </a:prstGeom>
        </p:spPr>
      </p:pic>
      <p:sp>
        <p:nvSpPr>
          <p:cNvPr id="47" name="Shape 31"/>
          <p:cNvSpPr/>
          <p:nvPr/>
        </p:nvSpPr>
        <p:spPr>
          <a:xfrm>
            <a:off x="2579370" y="1064894"/>
            <a:ext cx="183642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8" name="Text 32"/>
          <p:cNvSpPr/>
          <p:nvPr/>
        </p:nvSpPr>
        <p:spPr>
          <a:xfrm>
            <a:off x="2701290" y="1167765"/>
            <a:ext cx="16687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approval</a:t>
            </a:r>
            <a:endParaRPr lang="en-US" sz="825" dirty="0"/>
          </a:p>
        </p:txBody>
      </p:sp>
      <p:sp>
        <p:nvSpPr>
          <p:cNvPr id="49" name="Text 33"/>
          <p:cNvSpPr/>
          <p:nvPr/>
        </p:nvSpPr>
        <p:spPr>
          <a:xfrm>
            <a:off x="2701290" y="1343025"/>
            <a:ext cx="1668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01290" y="1600200"/>
            <a:ext cx="1592580" cy="266700"/>
          </a:xfrm>
          <a:prstGeom prst="rect">
            <a:avLst/>
          </a:prstGeom>
        </p:spPr>
      </p:pic>
      <p:sp>
        <p:nvSpPr>
          <p:cNvPr id="51" name="Shape 34"/>
          <p:cNvSpPr/>
          <p:nvPr/>
        </p:nvSpPr>
        <p:spPr>
          <a:xfrm>
            <a:off x="4491990" y="1064894"/>
            <a:ext cx="1836420" cy="904875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2" name="Text 35"/>
          <p:cNvSpPr/>
          <p:nvPr/>
        </p:nvSpPr>
        <p:spPr>
          <a:xfrm>
            <a:off x="4613910" y="1167765"/>
            <a:ext cx="16687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at kernel · today</a:t>
            </a:r>
            <a:endParaRPr lang="en-US" sz="825" dirty="0"/>
          </a:p>
        </p:txBody>
      </p:sp>
      <p:sp>
        <p:nvSpPr>
          <p:cNvPr id="53" name="Text 36"/>
          <p:cNvSpPr/>
          <p:nvPr/>
        </p:nvSpPr>
        <p:spPr>
          <a:xfrm>
            <a:off x="4613910" y="1343025"/>
            <a:ext cx="1668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284</a:t>
            </a:r>
            <a:endParaRPr lang="en-US" sz="1800" dirty="0"/>
          </a:p>
        </p:txBody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13910" y="1600200"/>
            <a:ext cx="1592580" cy="266700"/>
          </a:xfrm>
          <a:prstGeom prst="rect">
            <a:avLst/>
          </a:prstGeom>
        </p:spPr>
      </p:pic>
      <p:sp>
        <p:nvSpPr>
          <p:cNvPr id="55" name="Shape 37"/>
          <p:cNvSpPr/>
          <p:nvPr/>
        </p:nvSpPr>
        <p:spPr>
          <a:xfrm>
            <a:off x="6404610" y="1064894"/>
            <a:ext cx="183642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6" name="Text 38"/>
          <p:cNvSpPr/>
          <p:nvPr/>
        </p:nvSpPr>
        <p:spPr>
          <a:xfrm>
            <a:off x="6526530" y="1167765"/>
            <a:ext cx="16687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 · P1</a:t>
            </a:r>
            <a:endParaRPr lang="en-US" sz="825" dirty="0"/>
          </a:p>
        </p:txBody>
      </p:sp>
      <p:sp>
        <p:nvSpPr>
          <p:cNvPr id="57" name="Text 39"/>
          <p:cNvSpPr/>
          <p:nvPr/>
        </p:nvSpPr>
        <p:spPr>
          <a:xfrm>
            <a:off x="6526530" y="1343025"/>
            <a:ext cx="1668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4m 12s</a:t>
            </a:r>
            <a:endParaRPr lang="en-US" sz="1800" dirty="0"/>
          </a:p>
        </p:txBody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6530" y="1600200"/>
            <a:ext cx="1592580" cy="266700"/>
          </a:xfrm>
          <a:prstGeom prst="rect">
            <a:avLst/>
          </a:prstGeom>
        </p:spPr>
      </p:pic>
      <p:sp>
        <p:nvSpPr>
          <p:cNvPr id="59" name="Shape 40"/>
          <p:cNvSpPr/>
          <p:nvPr/>
        </p:nvSpPr>
        <p:spPr>
          <a:xfrm>
            <a:off x="8317230" y="1064894"/>
            <a:ext cx="183642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0" name="Text 41"/>
          <p:cNvSpPr/>
          <p:nvPr/>
        </p:nvSpPr>
        <p:spPr>
          <a:xfrm>
            <a:off x="8439150" y="1167765"/>
            <a:ext cx="16687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auto-triaged</a:t>
            </a:r>
            <a:endParaRPr lang="en-US" sz="825" dirty="0"/>
          </a:p>
        </p:txBody>
      </p:sp>
      <p:sp>
        <p:nvSpPr>
          <p:cNvPr id="61" name="Text 42"/>
          <p:cNvSpPr/>
          <p:nvPr/>
        </p:nvSpPr>
        <p:spPr>
          <a:xfrm>
            <a:off x="8439150" y="1343025"/>
            <a:ext cx="1668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97.1%</a:t>
            </a:r>
            <a:endParaRPr lang="en-US" sz="1800" dirty="0"/>
          </a:p>
        </p:txBody>
      </p:sp>
      <p:pic>
        <p:nvPicPr>
          <p:cNvPr id="6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150" y="1600200"/>
            <a:ext cx="1592580" cy="266700"/>
          </a:xfrm>
          <a:prstGeom prst="rect">
            <a:avLst/>
          </a:prstGeom>
        </p:spPr>
      </p:pic>
      <p:sp>
        <p:nvSpPr>
          <p:cNvPr id="63" name="Shape 43"/>
          <p:cNvSpPr/>
          <p:nvPr/>
        </p:nvSpPr>
        <p:spPr>
          <a:xfrm>
            <a:off x="666750" y="2065019"/>
            <a:ext cx="6324600" cy="4469130"/>
          </a:xfrm>
          <a:prstGeom prst="roundRect">
            <a:avLst>
              <a:gd name="adj" fmla="val 170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6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8670" y="2185988"/>
            <a:ext cx="123825" cy="123825"/>
          </a:xfrm>
          <a:prstGeom prst="rect">
            <a:avLst/>
          </a:prstGeom>
        </p:spPr>
      </p:pic>
      <p:sp>
        <p:nvSpPr>
          <p:cNvPr id="65" name="Text 44"/>
          <p:cNvSpPr/>
          <p:nvPr/>
        </p:nvSpPr>
        <p:spPr>
          <a:xfrm>
            <a:off x="960120" y="2175509"/>
            <a:ext cx="965240" cy="18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900" dirty="0"/>
          </a:p>
        </p:txBody>
      </p:sp>
      <p:sp>
        <p:nvSpPr>
          <p:cNvPr id="66" name="Text 45"/>
          <p:cNvSpPr/>
          <p:nvPr/>
        </p:nvSpPr>
        <p:spPr>
          <a:xfrm>
            <a:off x="6508314" y="2174557"/>
            <a:ext cx="43731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cases</a:t>
            </a:r>
            <a:endParaRPr lang="en-US" sz="825" dirty="0"/>
          </a:p>
        </p:txBody>
      </p:sp>
      <p:sp>
        <p:nvSpPr>
          <p:cNvPr id="67" name="Shape 46"/>
          <p:cNvSpPr/>
          <p:nvPr/>
        </p:nvSpPr>
        <p:spPr>
          <a:xfrm>
            <a:off x="788670" y="2404109"/>
            <a:ext cx="638413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8" name="Shape 47"/>
          <p:cNvSpPr/>
          <p:nvPr/>
        </p:nvSpPr>
        <p:spPr>
          <a:xfrm>
            <a:off x="788670" y="2642234"/>
            <a:ext cx="638413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9" name="Text 48"/>
          <p:cNvSpPr/>
          <p:nvPr/>
        </p:nvSpPr>
        <p:spPr>
          <a:xfrm>
            <a:off x="864870" y="2451734"/>
            <a:ext cx="5622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</a:t>
            </a:r>
            <a:endParaRPr lang="en-US" sz="825" dirty="0"/>
          </a:p>
        </p:txBody>
      </p:sp>
      <p:sp>
        <p:nvSpPr>
          <p:cNvPr id="70" name="Shape 49"/>
          <p:cNvSpPr/>
          <p:nvPr/>
        </p:nvSpPr>
        <p:spPr>
          <a:xfrm>
            <a:off x="1427083" y="2404109"/>
            <a:ext cx="1720096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1" name="Shape 50"/>
          <p:cNvSpPr/>
          <p:nvPr/>
        </p:nvSpPr>
        <p:spPr>
          <a:xfrm>
            <a:off x="1427083" y="2642234"/>
            <a:ext cx="172009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51"/>
          <p:cNvSpPr/>
          <p:nvPr/>
        </p:nvSpPr>
        <p:spPr>
          <a:xfrm>
            <a:off x="1503283" y="2451734"/>
            <a:ext cx="164389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825" dirty="0"/>
          </a:p>
        </p:txBody>
      </p:sp>
      <p:sp>
        <p:nvSpPr>
          <p:cNvPr id="73" name="Shape 52"/>
          <p:cNvSpPr/>
          <p:nvPr/>
        </p:nvSpPr>
        <p:spPr>
          <a:xfrm>
            <a:off x="3147179" y="2404109"/>
            <a:ext cx="1449586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4" name="Shape 53"/>
          <p:cNvSpPr/>
          <p:nvPr/>
        </p:nvSpPr>
        <p:spPr>
          <a:xfrm>
            <a:off x="3147179" y="2642234"/>
            <a:ext cx="144958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5" name="Text 54"/>
          <p:cNvSpPr/>
          <p:nvPr/>
        </p:nvSpPr>
        <p:spPr>
          <a:xfrm>
            <a:off x="3223379" y="2451734"/>
            <a:ext cx="137338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825" dirty="0"/>
          </a:p>
        </p:txBody>
      </p:sp>
      <p:sp>
        <p:nvSpPr>
          <p:cNvPr id="76" name="Shape 55"/>
          <p:cNvSpPr/>
          <p:nvPr/>
        </p:nvSpPr>
        <p:spPr>
          <a:xfrm>
            <a:off x="4596765" y="2404109"/>
            <a:ext cx="907733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7" name="Shape 56"/>
          <p:cNvSpPr/>
          <p:nvPr/>
        </p:nvSpPr>
        <p:spPr>
          <a:xfrm>
            <a:off x="4596765" y="2642234"/>
            <a:ext cx="907733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57"/>
          <p:cNvSpPr/>
          <p:nvPr/>
        </p:nvSpPr>
        <p:spPr>
          <a:xfrm>
            <a:off x="4672965" y="2451734"/>
            <a:ext cx="8315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825" dirty="0"/>
          </a:p>
        </p:txBody>
      </p:sp>
      <p:sp>
        <p:nvSpPr>
          <p:cNvPr id="79" name="Shape 58"/>
          <p:cNvSpPr/>
          <p:nvPr/>
        </p:nvSpPr>
        <p:spPr>
          <a:xfrm>
            <a:off x="5504498" y="2404109"/>
            <a:ext cx="979051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0" name="Shape 59"/>
          <p:cNvSpPr/>
          <p:nvPr/>
        </p:nvSpPr>
        <p:spPr>
          <a:xfrm>
            <a:off x="5504498" y="2642234"/>
            <a:ext cx="979051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1" name="Text 60"/>
          <p:cNvSpPr/>
          <p:nvPr/>
        </p:nvSpPr>
        <p:spPr>
          <a:xfrm>
            <a:off x="5580698" y="2451734"/>
            <a:ext cx="9028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</a:t>
            </a:r>
            <a:endParaRPr lang="en-US" sz="825" dirty="0"/>
          </a:p>
        </p:txBody>
      </p:sp>
      <p:sp>
        <p:nvSpPr>
          <p:cNvPr id="82" name="Shape 61"/>
          <p:cNvSpPr/>
          <p:nvPr/>
        </p:nvSpPr>
        <p:spPr>
          <a:xfrm>
            <a:off x="6483548" y="2404109"/>
            <a:ext cx="385882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3" name="Shape 62"/>
          <p:cNvSpPr/>
          <p:nvPr/>
        </p:nvSpPr>
        <p:spPr>
          <a:xfrm>
            <a:off x="6483548" y="2642234"/>
            <a:ext cx="385882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Text 63"/>
          <p:cNvSpPr/>
          <p:nvPr/>
        </p:nvSpPr>
        <p:spPr>
          <a:xfrm>
            <a:off x="6559748" y="2451734"/>
            <a:ext cx="30968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825" dirty="0"/>
          </a:p>
        </p:txBody>
      </p:sp>
      <p:sp>
        <p:nvSpPr>
          <p:cNvPr id="85" name="Shape 64"/>
          <p:cNvSpPr/>
          <p:nvPr/>
        </p:nvSpPr>
        <p:spPr>
          <a:xfrm>
            <a:off x="788670" y="2649855"/>
            <a:ext cx="638413" cy="46863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86" name="Shape 65"/>
          <p:cNvSpPr/>
          <p:nvPr/>
        </p:nvSpPr>
        <p:spPr>
          <a:xfrm>
            <a:off x="788670" y="3110865"/>
            <a:ext cx="63841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7" name="Shape 66"/>
          <p:cNvSpPr/>
          <p:nvPr/>
        </p:nvSpPr>
        <p:spPr>
          <a:xfrm>
            <a:off x="864870" y="2784157"/>
            <a:ext cx="410051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88" name="Shape 67"/>
          <p:cNvSpPr/>
          <p:nvPr/>
        </p:nvSpPr>
        <p:spPr>
          <a:xfrm>
            <a:off x="939165" y="2855594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9" name="Text 68"/>
          <p:cNvSpPr/>
          <p:nvPr/>
        </p:nvSpPr>
        <p:spPr>
          <a:xfrm>
            <a:off x="1034415" y="2818447"/>
            <a:ext cx="242411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</a:t>
            </a:r>
            <a:endParaRPr lang="en-US" sz="825" dirty="0"/>
          </a:p>
        </p:txBody>
      </p:sp>
      <p:sp>
        <p:nvSpPr>
          <p:cNvPr id="90" name="Shape 69"/>
          <p:cNvSpPr/>
          <p:nvPr/>
        </p:nvSpPr>
        <p:spPr>
          <a:xfrm>
            <a:off x="1427083" y="2649855"/>
            <a:ext cx="1720096" cy="46863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91" name="Shape 70"/>
          <p:cNvSpPr/>
          <p:nvPr/>
        </p:nvSpPr>
        <p:spPr>
          <a:xfrm>
            <a:off x="1427083" y="3110865"/>
            <a:ext cx="172009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2" name="Text 71"/>
          <p:cNvSpPr/>
          <p:nvPr/>
        </p:nvSpPr>
        <p:spPr>
          <a:xfrm>
            <a:off x="1503283" y="2707005"/>
            <a:ext cx="164389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 → MFA push spam → S3 mass GET</a:t>
            </a:r>
            <a:endParaRPr lang="en-US" sz="975" dirty="0"/>
          </a:p>
        </p:txBody>
      </p:sp>
      <p:sp>
        <p:nvSpPr>
          <p:cNvPr id="93" name="Shape 72"/>
          <p:cNvSpPr/>
          <p:nvPr/>
        </p:nvSpPr>
        <p:spPr>
          <a:xfrm>
            <a:off x="3147179" y="2649855"/>
            <a:ext cx="1449586" cy="46863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94" name="Shape 73"/>
          <p:cNvSpPr/>
          <p:nvPr/>
        </p:nvSpPr>
        <p:spPr>
          <a:xfrm>
            <a:off x="3147179" y="3110865"/>
            <a:ext cx="144958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5" name="Text 74"/>
          <p:cNvSpPr/>
          <p:nvPr/>
        </p:nvSpPr>
        <p:spPr>
          <a:xfrm>
            <a:off x="3223379" y="2707005"/>
            <a:ext cx="13733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carlos.t@acme.com</a:t>
            </a:r>
            <a:endParaRPr lang="en-US" sz="825" dirty="0"/>
          </a:p>
        </p:txBody>
      </p:sp>
      <p:sp>
        <p:nvSpPr>
          <p:cNvPr id="96" name="Shape 75"/>
          <p:cNvSpPr/>
          <p:nvPr/>
        </p:nvSpPr>
        <p:spPr>
          <a:xfrm>
            <a:off x="4596765" y="2649855"/>
            <a:ext cx="907733" cy="46863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97" name="Shape 76"/>
          <p:cNvSpPr/>
          <p:nvPr/>
        </p:nvSpPr>
        <p:spPr>
          <a:xfrm>
            <a:off x="4596765" y="3110865"/>
            <a:ext cx="90773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8" name="Text 77"/>
          <p:cNvSpPr/>
          <p:nvPr/>
        </p:nvSpPr>
        <p:spPr>
          <a:xfrm>
            <a:off x="4711065" y="2810827"/>
            <a:ext cx="1927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825" dirty="0"/>
          </a:p>
        </p:txBody>
      </p:sp>
      <p:sp>
        <p:nvSpPr>
          <p:cNvPr id="99" name="Shape 78"/>
          <p:cNvSpPr/>
          <p:nvPr/>
        </p:nvSpPr>
        <p:spPr>
          <a:xfrm>
            <a:off x="5504498" y="2649855"/>
            <a:ext cx="979051" cy="46863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0" name="Shape 79"/>
          <p:cNvSpPr/>
          <p:nvPr/>
        </p:nvSpPr>
        <p:spPr>
          <a:xfrm>
            <a:off x="5504498" y="3110865"/>
            <a:ext cx="97905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1" name="Text 80"/>
          <p:cNvSpPr/>
          <p:nvPr/>
        </p:nvSpPr>
        <p:spPr>
          <a:xfrm>
            <a:off x="5580698" y="2707005"/>
            <a:ext cx="90285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T1078 · T1530</a:t>
            </a:r>
            <a:endParaRPr lang="en-US" sz="825" dirty="0"/>
          </a:p>
        </p:txBody>
      </p:sp>
      <p:sp>
        <p:nvSpPr>
          <p:cNvPr id="102" name="Shape 81"/>
          <p:cNvSpPr/>
          <p:nvPr/>
        </p:nvSpPr>
        <p:spPr>
          <a:xfrm>
            <a:off x="6483548" y="2649855"/>
            <a:ext cx="385882" cy="46863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3" name="Shape 82"/>
          <p:cNvSpPr/>
          <p:nvPr/>
        </p:nvSpPr>
        <p:spPr>
          <a:xfrm>
            <a:off x="6483548" y="3110865"/>
            <a:ext cx="38588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4" name="Text 83"/>
          <p:cNvSpPr/>
          <p:nvPr/>
        </p:nvSpPr>
        <p:spPr>
          <a:xfrm>
            <a:off x="6559748" y="2707005"/>
            <a:ext cx="30968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4m</a:t>
            </a:r>
            <a:endParaRPr lang="en-US" sz="900" dirty="0"/>
          </a:p>
        </p:txBody>
      </p:sp>
      <p:sp>
        <p:nvSpPr>
          <p:cNvPr id="105" name="Shape 84"/>
          <p:cNvSpPr/>
          <p:nvPr/>
        </p:nvSpPr>
        <p:spPr>
          <a:xfrm>
            <a:off x="788670" y="3118484"/>
            <a:ext cx="638413" cy="46863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6" name="Shape 85"/>
          <p:cNvSpPr/>
          <p:nvPr/>
        </p:nvSpPr>
        <p:spPr>
          <a:xfrm>
            <a:off x="788670" y="3579494"/>
            <a:ext cx="63841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7" name="Shape 86"/>
          <p:cNvSpPr/>
          <p:nvPr/>
        </p:nvSpPr>
        <p:spPr>
          <a:xfrm>
            <a:off x="864870" y="3252788"/>
            <a:ext cx="410051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08" name="Shape 87"/>
          <p:cNvSpPr/>
          <p:nvPr/>
        </p:nvSpPr>
        <p:spPr>
          <a:xfrm>
            <a:off x="939165" y="3324225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09" name="Text 88"/>
          <p:cNvSpPr/>
          <p:nvPr/>
        </p:nvSpPr>
        <p:spPr>
          <a:xfrm>
            <a:off x="1034415" y="3287077"/>
            <a:ext cx="24241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</a:t>
            </a:r>
            <a:endParaRPr lang="en-US" sz="825" dirty="0"/>
          </a:p>
        </p:txBody>
      </p:sp>
      <p:sp>
        <p:nvSpPr>
          <p:cNvPr id="110" name="Shape 89"/>
          <p:cNvSpPr/>
          <p:nvPr/>
        </p:nvSpPr>
        <p:spPr>
          <a:xfrm>
            <a:off x="1427083" y="3118484"/>
            <a:ext cx="1720096" cy="46863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1" name="Shape 90"/>
          <p:cNvSpPr/>
          <p:nvPr/>
        </p:nvSpPr>
        <p:spPr>
          <a:xfrm>
            <a:off x="1427083" y="3579494"/>
            <a:ext cx="172009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2" name="Text 91"/>
          <p:cNvSpPr/>
          <p:nvPr/>
        </p:nvSpPr>
        <p:spPr>
          <a:xfrm>
            <a:off x="1503283" y="3175634"/>
            <a:ext cx="164389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· model exfil attempt</a:t>
            </a:r>
            <a:endParaRPr lang="en-US" sz="975" dirty="0"/>
          </a:p>
        </p:txBody>
      </p:sp>
      <p:sp>
        <p:nvSpPr>
          <p:cNvPr id="113" name="Shape 92"/>
          <p:cNvSpPr/>
          <p:nvPr/>
        </p:nvSpPr>
        <p:spPr>
          <a:xfrm>
            <a:off x="3147179" y="3118484"/>
            <a:ext cx="1449586" cy="46863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4" name="Shape 93"/>
          <p:cNvSpPr/>
          <p:nvPr/>
        </p:nvSpPr>
        <p:spPr>
          <a:xfrm>
            <a:off x="3147179" y="3579494"/>
            <a:ext cx="144958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5" name="Text 94"/>
          <p:cNvSpPr/>
          <p:nvPr/>
        </p:nvSpPr>
        <p:spPr>
          <a:xfrm>
            <a:off x="3223379" y="3175634"/>
            <a:ext cx="13733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agent/claude-finance-bot</a:t>
            </a:r>
            <a:endParaRPr lang="en-US" sz="825" dirty="0"/>
          </a:p>
        </p:txBody>
      </p:sp>
      <p:sp>
        <p:nvSpPr>
          <p:cNvPr id="116" name="Shape 95"/>
          <p:cNvSpPr/>
          <p:nvPr/>
        </p:nvSpPr>
        <p:spPr>
          <a:xfrm>
            <a:off x="4596765" y="3118484"/>
            <a:ext cx="907733" cy="46863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7" name="Shape 96"/>
          <p:cNvSpPr/>
          <p:nvPr/>
        </p:nvSpPr>
        <p:spPr>
          <a:xfrm>
            <a:off x="4596765" y="3579494"/>
            <a:ext cx="90773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8" name="Text 97"/>
          <p:cNvSpPr/>
          <p:nvPr/>
        </p:nvSpPr>
        <p:spPr>
          <a:xfrm>
            <a:off x="4711065" y="3279457"/>
            <a:ext cx="1927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825" dirty="0"/>
          </a:p>
        </p:txBody>
      </p:sp>
      <p:sp>
        <p:nvSpPr>
          <p:cNvPr id="119" name="Shape 98"/>
          <p:cNvSpPr/>
          <p:nvPr/>
        </p:nvSpPr>
        <p:spPr>
          <a:xfrm>
            <a:off x="5504498" y="3118484"/>
            <a:ext cx="979051" cy="46863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0" name="Shape 99"/>
          <p:cNvSpPr/>
          <p:nvPr/>
        </p:nvSpPr>
        <p:spPr>
          <a:xfrm>
            <a:off x="5504498" y="3579494"/>
            <a:ext cx="97905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1" name="Text 100"/>
          <p:cNvSpPr/>
          <p:nvPr/>
        </p:nvSpPr>
        <p:spPr>
          <a:xfrm>
            <a:off x="5580698" y="3175634"/>
            <a:ext cx="90285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T1567 · AML.T0024</a:t>
            </a:r>
            <a:endParaRPr lang="en-US" sz="825" dirty="0"/>
          </a:p>
        </p:txBody>
      </p:sp>
      <p:sp>
        <p:nvSpPr>
          <p:cNvPr id="122" name="Shape 101"/>
          <p:cNvSpPr/>
          <p:nvPr/>
        </p:nvSpPr>
        <p:spPr>
          <a:xfrm>
            <a:off x="6483548" y="3118484"/>
            <a:ext cx="385882" cy="46863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3" name="Shape 102"/>
          <p:cNvSpPr/>
          <p:nvPr/>
        </p:nvSpPr>
        <p:spPr>
          <a:xfrm>
            <a:off x="6483548" y="3579494"/>
            <a:ext cx="38588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4" name="Text 103"/>
          <p:cNvSpPr/>
          <p:nvPr/>
        </p:nvSpPr>
        <p:spPr>
          <a:xfrm>
            <a:off x="6559748" y="3175634"/>
            <a:ext cx="30968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</a:t>
            </a:r>
            <a:endParaRPr lang="en-US" sz="900" dirty="0"/>
          </a:p>
        </p:txBody>
      </p:sp>
      <p:sp>
        <p:nvSpPr>
          <p:cNvPr id="125" name="Shape 104"/>
          <p:cNvSpPr/>
          <p:nvPr/>
        </p:nvSpPr>
        <p:spPr>
          <a:xfrm>
            <a:off x="788670" y="3587115"/>
            <a:ext cx="638413" cy="46863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26" name="Shape 105"/>
          <p:cNvSpPr/>
          <p:nvPr/>
        </p:nvSpPr>
        <p:spPr>
          <a:xfrm>
            <a:off x="788670" y="4048125"/>
            <a:ext cx="63841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7" name="Shape 106"/>
          <p:cNvSpPr/>
          <p:nvPr/>
        </p:nvSpPr>
        <p:spPr>
          <a:xfrm>
            <a:off x="864870" y="3721417"/>
            <a:ext cx="48601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28" name="Shape 107"/>
          <p:cNvSpPr/>
          <p:nvPr/>
        </p:nvSpPr>
        <p:spPr>
          <a:xfrm>
            <a:off x="939165" y="3792855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29" name="Text 108"/>
          <p:cNvSpPr/>
          <p:nvPr/>
        </p:nvSpPr>
        <p:spPr>
          <a:xfrm>
            <a:off x="1034415" y="3755707"/>
            <a:ext cx="31837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825" dirty="0"/>
          </a:p>
        </p:txBody>
      </p:sp>
      <p:sp>
        <p:nvSpPr>
          <p:cNvPr id="130" name="Shape 109"/>
          <p:cNvSpPr/>
          <p:nvPr/>
        </p:nvSpPr>
        <p:spPr>
          <a:xfrm>
            <a:off x="1427083" y="3587115"/>
            <a:ext cx="1720096" cy="46863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31" name="Shape 110"/>
          <p:cNvSpPr/>
          <p:nvPr/>
        </p:nvSpPr>
        <p:spPr>
          <a:xfrm>
            <a:off x="1427083" y="4048125"/>
            <a:ext cx="172009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2" name="Text 111"/>
          <p:cNvSpPr/>
          <p:nvPr/>
        </p:nvSpPr>
        <p:spPr>
          <a:xfrm>
            <a:off x="1503283" y="3644265"/>
            <a:ext cx="164389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· suspicious sidecar exec</a:t>
            </a:r>
            <a:endParaRPr lang="en-US" sz="975" dirty="0"/>
          </a:p>
        </p:txBody>
      </p:sp>
      <p:sp>
        <p:nvSpPr>
          <p:cNvPr id="133" name="Shape 112"/>
          <p:cNvSpPr/>
          <p:nvPr/>
        </p:nvSpPr>
        <p:spPr>
          <a:xfrm>
            <a:off x="3147179" y="3587115"/>
            <a:ext cx="1449586" cy="46863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34" name="Shape 113"/>
          <p:cNvSpPr/>
          <p:nvPr/>
        </p:nvSpPr>
        <p:spPr>
          <a:xfrm>
            <a:off x="3147179" y="4048125"/>
            <a:ext cx="144958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5" name="Text 114"/>
          <p:cNvSpPr/>
          <p:nvPr/>
        </p:nvSpPr>
        <p:spPr>
          <a:xfrm>
            <a:off x="3223379" y="3644265"/>
            <a:ext cx="13733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payments-9c4f1</a:t>
            </a:r>
            <a:endParaRPr lang="en-US" sz="825" dirty="0"/>
          </a:p>
        </p:txBody>
      </p:sp>
      <p:sp>
        <p:nvSpPr>
          <p:cNvPr id="136" name="Shape 115"/>
          <p:cNvSpPr/>
          <p:nvPr/>
        </p:nvSpPr>
        <p:spPr>
          <a:xfrm>
            <a:off x="4596765" y="3587115"/>
            <a:ext cx="907733" cy="46863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37" name="Shape 116"/>
          <p:cNvSpPr/>
          <p:nvPr/>
        </p:nvSpPr>
        <p:spPr>
          <a:xfrm>
            <a:off x="4596765" y="4048125"/>
            <a:ext cx="90773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8" name="Text 117"/>
          <p:cNvSpPr/>
          <p:nvPr/>
        </p:nvSpPr>
        <p:spPr>
          <a:xfrm>
            <a:off x="4711065" y="3748087"/>
            <a:ext cx="1927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825" dirty="0"/>
          </a:p>
        </p:txBody>
      </p:sp>
      <p:sp>
        <p:nvSpPr>
          <p:cNvPr id="139" name="Shape 118"/>
          <p:cNvSpPr/>
          <p:nvPr/>
        </p:nvSpPr>
        <p:spPr>
          <a:xfrm>
            <a:off x="5504498" y="3587115"/>
            <a:ext cx="979051" cy="46863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40" name="Shape 119"/>
          <p:cNvSpPr/>
          <p:nvPr/>
        </p:nvSpPr>
        <p:spPr>
          <a:xfrm>
            <a:off x="5504498" y="4048125"/>
            <a:ext cx="97905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1" name="Text 120"/>
          <p:cNvSpPr/>
          <p:nvPr/>
        </p:nvSpPr>
        <p:spPr>
          <a:xfrm>
            <a:off x="5580698" y="3644265"/>
            <a:ext cx="90285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T1611</a:t>
            </a:r>
            <a:endParaRPr lang="en-US" sz="825" dirty="0"/>
          </a:p>
        </p:txBody>
      </p:sp>
      <p:sp>
        <p:nvSpPr>
          <p:cNvPr id="142" name="Shape 121"/>
          <p:cNvSpPr/>
          <p:nvPr/>
        </p:nvSpPr>
        <p:spPr>
          <a:xfrm>
            <a:off x="6483548" y="3587115"/>
            <a:ext cx="385882" cy="46863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43" name="Shape 122"/>
          <p:cNvSpPr/>
          <p:nvPr/>
        </p:nvSpPr>
        <p:spPr>
          <a:xfrm>
            <a:off x="6483548" y="4048125"/>
            <a:ext cx="38588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4" name="Text 123"/>
          <p:cNvSpPr/>
          <p:nvPr/>
        </p:nvSpPr>
        <p:spPr>
          <a:xfrm>
            <a:off x="6559748" y="3644265"/>
            <a:ext cx="30968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27m</a:t>
            </a:r>
            <a:endParaRPr lang="en-US" sz="900" dirty="0"/>
          </a:p>
        </p:txBody>
      </p:sp>
      <p:sp>
        <p:nvSpPr>
          <p:cNvPr id="145" name="Shape 124"/>
          <p:cNvSpPr/>
          <p:nvPr/>
        </p:nvSpPr>
        <p:spPr>
          <a:xfrm>
            <a:off x="788670" y="4055744"/>
            <a:ext cx="638413" cy="46863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46" name="Shape 125"/>
          <p:cNvSpPr/>
          <p:nvPr/>
        </p:nvSpPr>
        <p:spPr>
          <a:xfrm>
            <a:off x="788670" y="4516754"/>
            <a:ext cx="63841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7" name="Shape 126"/>
          <p:cNvSpPr/>
          <p:nvPr/>
        </p:nvSpPr>
        <p:spPr>
          <a:xfrm>
            <a:off x="864870" y="4190047"/>
            <a:ext cx="48601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48" name="Shape 127"/>
          <p:cNvSpPr/>
          <p:nvPr/>
        </p:nvSpPr>
        <p:spPr>
          <a:xfrm>
            <a:off x="939165" y="4261484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49" name="Text 128"/>
          <p:cNvSpPr/>
          <p:nvPr/>
        </p:nvSpPr>
        <p:spPr>
          <a:xfrm>
            <a:off x="1034415" y="4224338"/>
            <a:ext cx="31837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825" dirty="0"/>
          </a:p>
        </p:txBody>
      </p:sp>
      <p:sp>
        <p:nvSpPr>
          <p:cNvPr id="150" name="Shape 129"/>
          <p:cNvSpPr/>
          <p:nvPr/>
        </p:nvSpPr>
        <p:spPr>
          <a:xfrm>
            <a:off x="1427083" y="4055744"/>
            <a:ext cx="1720096" cy="46863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51" name="Shape 130"/>
          <p:cNvSpPr/>
          <p:nvPr/>
        </p:nvSpPr>
        <p:spPr>
          <a:xfrm>
            <a:off x="1427083" y="4516754"/>
            <a:ext cx="172009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2" name="Text 131"/>
          <p:cNvSpPr/>
          <p:nvPr/>
        </p:nvSpPr>
        <p:spPr>
          <a:xfrm>
            <a:off x="1503283" y="4112894"/>
            <a:ext cx="164389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· risky role assumption from EC2</a:t>
            </a:r>
            <a:endParaRPr lang="en-US" sz="975" dirty="0"/>
          </a:p>
        </p:txBody>
      </p:sp>
      <p:sp>
        <p:nvSpPr>
          <p:cNvPr id="153" name="Shape 132"/>
          <p:cNvSpPr/>
          <p:nvPr/>
        </p:nvSpPr>
        <p:spPr>
          <a:xfrm>
            <a:off x="3147179" y="4055744"/>
            <a:ext cx="1449586" cy="46863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54" name="Shape 133"/>
          <p:cNvSpPr/>
          <p:nvPr/>
        </p:nvSpPr>
        <p:spPr>
          <a:xfrm>
            <a:off x="3147179" y="4516754"/>
            <a:ext cx="144958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5" name="Text 134"/>
          <p:cNvSpPr/>
          <p:nvPr/>
        </p:nvSpPr>
        <p:spPr>
          <a:xfrm>
            <a:off x="3223379" y="4112894"/>
            <a:ext cx="13733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AdminRole</a:t>
            </a:r>
            <a:endParaRPr lang="en-US" sz="825" dirty="0"/>
          </a:p>
        </p:txBody>
      </p:sp>
      <p:sp>
        <p:nvSpPr>
          <p:cNvPr id="156" name="Shape 135"/>
          <p:cNvSpPr/>
          <p:nvPr/>
        </p:nvSpPr>
        <p:spPr>
          <a:xfrm>
            <a:off x="4596765" y="4055744"/>
            <a:ext cx="907733" cy="46863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57" name="Shape 136"/>
          <p:cNvSpPr/>
          <p:nvPr/>
        </p:nvSpPr>
        <p:spPr>
          <a:xfrm>
            <a:off x="4596765" y="4516754"/>
            <a:ext cx="90773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8" name="Text 137"/>
          <p:cNvSpPr/>
          <p:nvPr/>
        </p:nvSpPr>
        <p:spPr>
          <a:xfrm>
            <a:off x="4711065" y="4216717"/>
            <a:ext cx="1927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825" dirty="0"/>
          </a:p>
        </p:txBody>
      </p:sp>
      <p:sp>
        <p:nvSpPr>
          <p:cNvPr id="159" name="Shape 138"/>
          <p:cNvSpPr/>
          <p:nvPr/>
        </p:nvSpPr>
        <p:spPr>
          <a:xfrm>
            <a:off x="5504498" y="4055744"/>
            <a:ext cx="979051" cy="46863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60" name="Shape 139"/>
          <p:cNvSpPr/>
          <p:nvPr/>
        </p:nvSpPr>
        <p:spPr>
          <a:xfrm>
            <a:off x="5504498" y="4516754"/>
            <a:ext cx="97905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1" name="Text 140"/>
          <p:cNvSpPr/>
          <p:nvPr/>
        </p:nvSpPr>
        <p:spPr>
          <a:xfrm>
            <a:off x="5580698" y="4112894"/>
            <a:ext cx="90285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T1078.004</a:t>
            </a:r>
            <a:endParaRPr lang="en-US" sz="825" dirty="0"/>
          </a:p>
        </p:txBody>
      </p:sp>
      <p:sp>
        <p:nvSpPr>
          <p:cNvPr id="162" name="Shape 141"/>
          <p:cNvSpPr/>
          <p:nvPr/>
        </p:nvSpPr>
        <p:spPr>
          <a:xfrm>
            <a:off x="6483548" y="4055744"/>
            <a:ext cx="385882" cy="46863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63" name="Shape 142"/>
          <p:cNvSpPr/>
          <p:nvPr/>
        </p:nvSpPr>
        <p:spPr>
          <a:xfrm>
            <a:off x="6483548" y="4516754"/>
            <a:ext cx="38588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4" name="Text 143"/>
          <p:cNvSpPr/>
          <p:nvPr/>
        </p:nvSpPr>
        <p:spPr>
          <a:xfrm>
            <a:off x="6559748" y="4112894"/>
            <a:ext cx="30968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41m</a:t>
            </a:r>
            <a:endParaRPr lang="en-US" sz="900" dirty="0"/>
          </a:p>
        </p:txBody>
      </p:sp>
      <p:sp>
        <p:nvSpPr>
          <p:cNvPr id="165" name="Shape 144"/>
          <p:cNvSpPr/>
          <p:nvPr/>
        </p:nvSpPr>
        <p:spPr>
          <a:xfrm>
            <a:off x="788670" y="4524375"/>
            <a:ext cx="638413" cy="4648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66" name="Shape 145"/>
          <p:cNvSpPr/>
          <p:nvPr/>
        </p:nvSpPr>
        <p:spPr>
          <a:xfrm>
            <a:off x="864870" y="4658677"/>
            <a:ext cx="436959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67" name="Shape 146"/>
          <p:cNvSpPr/>
          <p:nvPr/>
        </p:nvSpPr>
        <p:spPr>
          <a:xfrm>
            <a:off x="939165" y="4730115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68" name="Text 147"/>
          <p:cNvSpPr/>
          <p:nvPr/>
        </p:nvSpPr>
        <p:spPr>
          <a:xfrm>
            <a:off x="1034415" y="4692967"/>
            <a:ext cx="26931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825" dirty="0"/>
          </a:p>
        </p:txBody>
      </p:sp>
      <p:sp>
        <p:nvSpPr>
          <p:cNvPr id="169" name="Shape 148"/>
          <p:cNvSpPr/>
          <p:nvPr/>
        </p:nvSpPr>
        <p:spPr>
          <a:xfrm>
            <a:off x="1427083" y="4524375"/>
            <a:ext cx="1720096" cy="4648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70" name="Text 149"/>
          <p:cNvSpPr/>
          <p:nvPr/>
        </p:nvSpPr>
        <p:spPr>
          <a:xfrm>
            <a:off x="1503283" y="4581525"/>
            <a:ext cx="164389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· GitHub mass clone, off-hours</a:t>
            </a:r>
            <a:endParaRPr lang="en-US" sz="975" dirty="0"/>
          </a:p>
        </p:txBody>
      </p:sp>
      <p:sp>
        <p:nvSpPr>
          <p:cNvPr id="171" name="Shape 150"/>
          <p:cNvSpPr/>
          <p:nvPr/>
        </p:nvSpPr>
        <p:spPr>
          <a:xfrm>
            <a:off x="3147179" y="4524375"/>
            <a:ext cx="1449586" cy="4648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72" name="Text 151"/>
          <p:cNvSpPr/>
          <p:nvPr/>
        </p:nvSpPr>
        <p:spPr>
          <a:xfrm>
            <a:off x="3223379" y="4581525"/>
            <a:ext cx="137338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diane.k</a:t>
            </a:r>
            <a:endParaRPr lang="en-US" sz="825" dirty="0"/>
          </a:p>
        </p:txBody>
      </p:sp>
      <p:sp>
        <p:nvSpPr>
          <p:cNvPr id="173" name="Shape 152"/>
          <p:cNvSpPr/>
          <p:nvPr/>
        </p:nvSpPr>
        <p:spPr>
          <a:xfrm>
            <a:off x="4596765" y="4524375"/>
            <a:ext cx="907733" cy="4648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74" name="Text 153"/>
          <p:cNvSpPr/>
          <p:nvPr/>
        </p:nvSpPr>
        <p:spPr>
          <a:xfrm>
            <a:off x="4711065" y="4685347"/>
            <a:ext cx="1927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825" dirty="0"/>
          </a:p>
        </p:txBody>
      </p:sp>
      <p:sp>
        <p:nvSpPr>
          <p:cNvPr id="175" name="Shape 154"/>
          <p:cNvSpPr/>
          <p:nvPr/>
        </p:nvSpPr>
        <p:spPr>
          <a:xfrm>
            <a:off x="5504498" y="4524375"/>
            <a:ext cx="979051" cy="4648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76" name="Text 155"/>
          <p:cNvSpPr/>
          <p:nvPr/>
        </p:nvSpPr>
        <p:spPr>
          <a:xfrm>
            <a:off x="5580698" y="4581525"/>
            <a:ext cx="90285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T1213.003</a:t>
            </a:r>
            <a:endParaRPr lang="en-US" sz="825" dirty="0"/>
          </a:p>
        </p:txBody>
      </p:sp>
      <p:sp>
        <p:nvSpPr>
          <p:cNvPr id="177" name="Shape 156"/>
          <p:cNvSpPr/>
          <p:nvPr/>
        </p:nvSpPr>
        <p:spPr>
          <a:xfrm>
            <a:off x="6483548" y="4524375"/>
            <a:ext cx="385882" cy="4648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78" name="Text 157"/>
          <p:cNvSpPr/>
          <p:nvPr/>
        </p:nvSpPr>
        <p:spPr>
          <a:xfrm>
            <a:off x="6559748" y="4581525"/>
            <a:ext cx="30968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</a:t>
            </a:r>
            <a:endParaRPr lang="en-US" sz="900" dirty="0"/>
          </a:p>
        </p:txBody>
      </p:sp>
      <p:sp>
        <p:nvSpPr>
          <p:cNvPr id="179" name="Shape 158"/>
          <p:cNvSpPr/>
          <p:nvPr/>
        </p:nvSpPr>
        <p:spPr>
          <a:xfrm>
            <a:off x="7105650" y="2065019"/>
            <a:ext cx="3048000" cy="446913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18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27570" y="2185988"/>
            <a:ext cx="123825" cy="123825"/>
          </a:xfrm>
          <a:prstGeom prst="rect">
            <a:avLst/>
          </a:prstGeom>
        </p:spPr>
      </p:pic>
      <p:sp>
        <p:nvSpPr>
          <p:cNvPr id="181" name="Text 159"/>
          <p:cNvSpPr/>
          <p:nvPr/>
        </p:nvSpPr>
        <p:spPr>
          <a:xfrm>
            <a:off x="7399020" y="2175509"/>
            <a:ext cx="843082" cy="18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activity</a:t>
            </a:r>
            <a:endParaRPr lang="en-US" sz="900" dirty="0"/>
          </a:p>
        </p:txBody>
      </p:sp>
      <p:sp>
        <p:nvSpPr>
          <p:cNvPr id="182" name="Text 160"/>
          <p:cNvSpPr/>
          <p:nvPr/>
        </p:nvSpPr>
        <p:spPr>
          <a:xfrm>
            <a:off x="9015532" y="2174557"/>
            <a:ext cx="109239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ClawArmor + 5 others</a:t>
            </a:r>
            <a:endParaRPr lang="en-US" sz="825" dirty="0"/>
          </a:p>
        </p:txBody>
      </p:sp>
      <p:sp>
        <p:nvSpPr>
          <p:cNvPr id="183" name="Shape 161"/>
          <p:cNvSpPr/>
          <p:nvPr/>
        </p:nvSpPr>
        <p:spPr>
          <a:xfrm>
            <a:off x="7227570" y="2404109"/>
            <a:ext cx="224790" cy="224790"/>
          </a:xfrm>
          <a:prstGeom prst="roundRect">
            <a:avLst>
              <a:gd name="adj" fmla="val 25424"/>
            </a:avLst>
          </a:prstGeom>
          <a:solidFill>
            <a:srgbClr val="F1F5F9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84" name="Text 162"/>
          <p:cNvSpPr/>
          <p:nvPr/>
        </p:nvSpPr>
        <p:spPr>
          <a:xfrm>
            <a:off x="7235190" y="2411729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50" dirty="0"/>
          </a:p>
        </p:txBody>
      </p:sp>
      <p:sp>
        <p:nvSpPr>
          <p:cNvPr id="185" name="Text 163"/>
          <p:cNvSpPr/>
          <p:nvPr/>
        </p:nvSpPr>
        <p:spPr>
          <a:xfrm>
            <a:off x="7509510" y="2404109"/>
            <a:ext cx="1859637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ClawArmor</a:t>
            </a:r>
            <a:endParaRPr lang="en-US" sz="975" dirty="0"/>
          </a:p>
        </p:txBody>
      </p:sp>
      <p:sp>
        <p:nvSpPr>
          <p:cNvPr id="186" name="Text 164"/>
          <p:cNvSpPr/>
          <p:nvPr/>
        </p:nvSpPr>
        <p:spPr>
          <a:xfrm>
            <a:off x="7509510" y="2577465"/>
            <a:ext cx="185963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triaging 14 alerts in cluster prod-eu-1</a:t>
            </a:r>
            <a:endParaRPr lang="en-US" sz="863" dirty="0"/>
          </a:p>
        </p:txBody>
      </p:sp>
      <p:sp>
        <p:nvSpPr>
          <p:cNvPr id="187" name="Shape 165"/>
          <p:cNvSpPr/>
          <p:nvPr/>
        </p:nvSpPr>
        <p:spPr>
          <a:xfrm>
            <a:off x="7227570" y="2787967"/>
            <a:ext cx="224790" cy="224790"/>
          </a:xfrm>
          <a:prstGeom prst="roundRect">
            <a:avLst>
              <a:gd name="adj" fmla="val 25424"/>
            </a:avLst>
          </a:prstGeom>
          <a:solidFill>
            <a:srgbClr val="F1F5F9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88" name="Text 166"/>
          <p:cNvSpPr/>
          <p:nvPr/>
        </p:nvSpPr>
        <p:spPr>
          <a:xfrm>
            <a:off x="7235190" y="2795587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50" dirty="0"/>
          </a:p>
        </p:txBody>
      </p:sp>
      <p:sp>
        <p:nvSpPr>
          <p:cNvPr id="189" name="Text 167"/>
          <p:cNvSpPr/>
          <p:nvPr/>
        </p:nvSpPr>
        <p:spPr>
          <a:xfrm>
            <a:off x="7509510" y="2787967"/>
            <a:ext cx="1993583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TriageAgent</a:t>
            </a:r>
            <a:endParaRPr lang="en-US" sz="975" dirty="0"/>
          </a:p>
        </p:txBody>
      </p:sp>
      <p:sp>
        <p:nvSpPr>
          <p:cNvPr id="190" name="Text 168"/>
          <p:cNvSpPr/>
          <p:nvPr/>
        </p:nvSpPr>
        <p:spPr>
          <a:xfrm>
            <a:off x="7509510" y="2961322"/>
            <a:ext cx="199358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auto-closed 802 false positives · last 1h</a:t>
            </a:r>
            <a:endParaRPr lang="en-US" sz="863" dirty="0"/>
          </a:p>
        </p:txBody>
      </p:sp>
      <p:sp>
        <p:nvSpPr>
          <p:cNvPr id="191" name="Shape 169"/>
          <p:cNvSpPr/>
          <p:nvPr/>
        </p:nvSpPr>
        <p:spPr>
          <a:xfrm>
            <a:off x="7227570" y="3171825"/>
            <a:ext cx="224790" cy="224790"/>
          </a:xfrm>
          <a:prstGeom prst="roundRect">
            <a:avLst>
              <a:gd name="adj" fmla="val 25424"/>
            </a:avLst>
          </a:prstGeom>
          <a:solidFill>
            <a:srgbClr val="F1F5F9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92" name="Text 170"/>
          <p:cNvSpPr/>
          <p:nvPr/>
        </p:nvSpPr>
        <p:spPr>
          <a:xfrm>
            <a:off x="7235190" y="3179445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750" dirty="0"/>
          </a:p>
        </p:txBody>
      </p:sp>
      <p:sp>
        <p:nvSpPr>
          <p:cNvPr id="193" name="Text 171"/>
          <p:cNvSpPr/>
          <p:nvPr/>
        </p:nvSpPr>
        <p:spPr>
          <a:xfrm>
            <a:off x="7509510" y="3171825"/>
            <a:ext cx="1555552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InvestAgent</a:t>
            </a:r>
            <a:endParaRPr lang="en-US" sz="975" dirty="0"/>
          </a:p>
        </p:txBody>
      </p:sp>
      <p:sp>
        <p:nvSpPr>
          <p:cNvPr id="194" name="Text 172"/>
          <p:cNvSpPr/>
          <p:nvPr/>
        </p:nvSpPr>
        <p:spPr>
          <a:xfrm>
            <a:off x="7509510" y="3345180"/>
            <a:ext cx="155555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to identity on case #4129</a:t>
            </a:r>
            <a:endParaRPr lang="en-US" sz="863" dirty="0"/>
          </a:p>
        </p:txBody>
      </p:sp>
      <p:sp>
        <p:nvSpPr>
          <p:cNvPr id="195" name="Shape 173"/>
          <p:cNvSpPr/>
          <p:nvPr/>
        </p:nvSpPr>
        <p:spPr>
          <a:xfrm>
            <a:off x="7227570" y="3555682"/>
            <a:ext cx="224790" cy="224790"/>
          </a:xfrm>
          <a:prstGeom prst="roundRect">
            <a:avLst>
              <a:gd name="adj" fmla="val 25424"/>
            </a:avLst>
          </a:prstGeom>
          <a:solidFill>
            <a:srgbClr val="F1F5F9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96" name="Text 174"/>
          <p:cNvSpPr/>
          <p:nvPr/>
        </p:nvSpPr>
        <p:spPr>
          <a:xfrm>
            <a:off x="7235190" y="3563302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750" dirty="0"/>
          </a:p>
        </p:txBody>
      </p:sp>
      <p:sp>
        <p:nvSpPr>
          <p:cNvPr id="197" name="Text 175"/>
          <p:cNvSpPr/>
          <p:nvPr/>
        </p:nvSpPr>
        <p:spPr>
          <a:xfrm>
            <a:off x="7509510" y="3555682"/>
            <a:ext cx="1979414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ResponseAgent</a:t>
            </a:r>
            <a:endParaRPr lang="en-US" sz="975" dirty="0"/>
          </a:p>
        </p:txBody>
      </p:sp>
      <p:sp>
        <p:nvSpPr>
          <p:cNvPr id="198" name="Text 176"/>
          <p:cNvSpPr/>
          <p:nvPr/>
        </p:nvSpPr>
        <p:spPr>
          <a:xfrm>
            <a:off x="7509510" y="3729038"/>
            <a:ext cx="197941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drafted kernel policy on #4118 (waiting)</a:t>
            </a:r>
            <a:endParaRPr lang="en-US" sz="863" dirty="0"/>
          </a:p>
        </p:txBody>
      </p:sp>
      <p:sp>
        <p:nvSpPr>
          <p:cNvPr id="199" name="Shape 177"/>
          <p:cNvSpPr/>
          <p:nvPr/>
        </p:nvSpPr>
        <p:spPr>
          <a:xfrm>
            <a:off x="7227570" y="3939540"/>
            <a:ext cx="224790" cy="224790"/>
          </a:xfrm>
          <a:prstGeom prst="roundRect">
            <a:avLst>
              <a:gd name="adj" fmla="val 25424"/>
            </a:avLst>
          </a:prstGeom>
          <a:solidFill>
            <a:srgbClr val="F1F5F9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00" name="Text 178"/>
          <p:cNvSpPr/>
          <p:nvPr/>
        </p:nvSpPr>
        <p:spPr>
          <a:xfrm>
            <a:off x="7235190" y="394716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750" dirty="0"/>
          </a:p>
        </p:txBody>
      </p:sp>
      <p:sp>
        <p:nvSpPr>
          <p:cNvPr id="201" name="Text 179"/>
          <p:cNvSpPr/>
          <p:nvPr/>
        </p:nvSpPr>
        <p:spPr>
          <a:xfrm>
            <a:off x="7509510" y="3939540"/>
            <a:ext cx="1887974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HuntAgent</a:t>
            </a:r>
            <a:endParaRPr lang="en-US" sz="975" dirty="0"/>
          </a:p>
        </p:txBody>
      </p:sp>
      <p:sp>
        <p:nvSpPr>
          <p:cNvPr id="202" name="Text 180"/>
          <p:cNvSpPr/>
          <p:nvPr/>
        </p:nvSpPr>
        <p:spPr>
          <a:xfrm>
            <a:off x="7509510" y="4112894"/>
            <a:ext cx="188797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TI hunt · UNC4841 indicators</a:t>
            </a:r>
            <a:endParaRPr lang="en-US" sz="863" dirty="0"/>
          </a:p>
        </p:txBody>
      </p:sp>
      <p:sp>
        <p:nvSpPr>
          <p:cNvPr id="203" name="Shape 181"/>
          <p:cNvSpPr/>
          <p:nvPr/>
        </p:nvSpPr>
        <p:spPr>
          <a:xfrm>
            <a:off x="7227570" y="4323397"/>
            <a:ext cx="224790" cy="224790"/>
          </a:xfrm>
          <a:prstGeom prst="roundRect">
            <a:avLst>
              <a:gd name="adj" fmla="val 25424"/>
            </a:avLst>
          </a:prstGeom>
          <a:solidFill>
            <a:srgbClr val="F1F5F9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04" name="Text 182"/>
          <p:cNvSpPr/>
          <p:nvPr/>
        </p:nvSpPr>
        <p:spPr>
          <a:xfrm>
            <a:off x="7235190" y="4331017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750" dirty="0"/>
          </a:p>
        </p:txBody>
      </p:sp>
      <p:sp>
        <p:nvSpPr>
          <p:cNvPr id="205" name="Text 183"/>
          <p:cNvSpPr/>
          <p:nvPr/>
        </p:nvSpPr>
        <p:spPr>
          <a:xfrm>
            <a:off x="7509510" y="4323397"/>
            <a:ext cx="198751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ModelArmor</a:t>
            </a:r>
            <a:endParaRPr lang="en-US" sz="975" dirty="0"/>
          </a:p>
        </p:txBody>
      </p:sp>
      <p:sp>
        <p:nvSpPr>
          <p:cNvPr id="206" name="Text 184"/>
          <p:cNvSpPr/>
          <p:nvPr/>
        </p:nvSpPr>
        <p:spPr>
          <a:xfrm>
            <a:off x="7509510" y="4496752"/>
            <a:ext cx="1987510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agent shell escape · KnoxClaw</a:t>
            </a:r>
            <a:endParaRPr lang="en-US" sz="863" dirty="0"/>
          </a:p>
        </p:txBody>
      </p:sp>
      <p:sp>
        <p:nvSpPr>
          <p:cNvPr id="207" name="Shape 185"/>
          <p:cNvSpPr/>
          <p:nvPr/>
        </p:nvSpPr>
        <p:spPr>
          <a:xfrm>
            <a:off x="76200" y="5916930"/>
            <a:ext cx="2072640" cy="674370"/>
          </a:xfrm>
          <a:prstGeom prst="roundRect">
            <a:avLst>
              <a:gd name="adj" fmla="val 565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208" name="Text 186"/>
          <p:cNvSpPr/>
          <p:nvPr/>
        </p:nvSpPr>
        <p:spPr>
          <a:xfrm>
            <a:off x="160020" y="5981700"/>
            <a:ext cx="1981200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"blocked at kernel today" is the ONE number no competitor's dashboard can show. anchor of the whole product.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5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7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" y="2047875"/>
            <a:ext cx="171450" cy="1714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2409825"/>
            <a:ext cx="171450" cy="171450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" y="2771775"/>
            <a:ext cx="171450" cy="17145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91440" y="30480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4"/>
            <a:ext cx="172081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&amp; performance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406610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514600" y="144780"/>
            <a:ext cx="130897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· operations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899774" y="74294"/>
            <a:ext cx="3591163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2643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174093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7" y="108584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4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1" y="131444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0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0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1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8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09"/>
            <a:ext cx="1395174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at a glance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140773" y="616267"/>
            <a:ext cx="67008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7215069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0" name="Text 25"/>
          <p:cNvSpPr/>
          <p:nvPr/>
        </p:nvSpPr>
        <p:spPr>
          <a:xfrm>
            <a:off x="7310319" y="642938"/>
            <a:ext cx="50244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30 d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7868007" y="616267"/>
            <a:ext cx="66901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7942302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3" name="Text 28"/>
          <p:cNvSpPr/>
          <p:nvPr/>
        </p:nvSpPr>
        <p:spPr>
          <a:xfrm>
            <a:off x="8037552" y="642938"/>
            <a:ext cx="50137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90 d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8594171" y="616267"/>
            <a:ext cx="687229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8668464" y="687705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31"/>
          <p:cNvSpPr/>
          <p:nvPr/>
        </p:nvSpPr>
        <p:spPr>
          <a:xfrm>
            <a:off x="8763714" y="642938"/>
            <a:ext cx="51958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6 mo</a:t>
            </a:r>
            <a:endParaRPr lang="en-US" sz="825" dirty="0"/>
          </a:p>
        </p:txBody>
      </p:sp>
      <p:sp>
        <p:nvSpPr>
          <p:cNvPr id="47" name="Shape 32"/>
          <p:cNvSpPr/>
          <p:nvPr/>
        </p:nvSpPr>
        <p:spPr>
          <a:xfrm>
            <a:off x="9338549" y="590550"/>
            <a:ext cx="815102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8" name="Text 33"/>
          <p:cNvSpPr/>
          <p:nvPr/>
        </p:nvSpPr>
        <p:spPr>
          <a:xfrm>
            <a:off x="9441419" y="636269"/>
            <a:ext cx="68556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PDF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666750" y="937259"/>
            <a:ext cx="2314575" cy="904875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0" name="Text 35"/>
          <p:cNvSpPr/>
          <p:nvPr/>
        </p:nvSpPr>
        <p:spPr>
          <a:xfrm>
            <a:off x="788670" y="1040130"/>
            <a:ext cx="214693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noise reduced</a:t>
            </a:r>
            <a:endParaRPr lang="en-US" sz="825" dirty="0"/>
          </a:p>
        </p:txBody>
      </p:sp>
      <p:sp>
        <p:nvSpPr>
          <p:cNvPr id="51" name="Text 36"/>
          <p:cNvSpPr/>
          <p:nvPr/>
        </p:nvSpPr>
        <p:spPr>
          <a:xfrm>
            <a:off x="788670" y="1215390"/>
            <a:ext cx="21469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80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8670" y="1472565"/>
            <a:ext cx="2070735" cy="266700"/>
          </a:xfrm>
          <a:prstGeom prst="rect">
            <a:avLst/>
          </a:prstGeom>
        </p:spPr>
      </p:pic>
      <p:sp>
        <p:nvSpPr>
          <p:cNvPr id="53" name="Shape 37"/>
          <p:cNvSpPr/>
          <p:nvPr/>
        </p:nvSpPr>
        <p:spPr>
          <a:xfrm>
            <a:off x="3057525" y="937259"/>
            <a:ext cx="2314575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4" name="Text 38"/>
          <p:cNvSpPr/>
          <p:nvPr/>
        </p:nvSpPr>
        <p:spPr>
          <a:xfrm>
            <a:off x="3179445" y="1040130"/>
            <a:ext cx="214693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down</a:t>
            </a:r>
            <a:endParaRPr lang="en-US" sz="825" dirty="0"/>
          </a:p>
        </p:txBody>
      </p:sp>
      <p:sp>
        <p:nvSpPr>
          <p:cNvPr id="55" name="Text 39"/>
          <p:cNvSpPr/>
          <p:nvPr/>
        </p:nvSpPr>
        <p:spPr>
          <a:xfrm>
            <a:off x="3179445" y="1215390"/>
            <a:ext cx="21469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800" dirty="0"/>
          </a:p>
        </p:txBody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79445" y="1472565"/>
            <a:ext cx="2070735" cy="266700"/>
          </a:xfrm>
          <a:prstGeom prst="rect">
            <a:avLst/>
          </a:prstGeom>
        </p:spPr>
      </p:pic>
      <p:sp>
        <p:nvSpPr>
          <p:cNvPr id="57" name="Shape 40"/>
          <p:cNvSpPr/>
          <p:nvPr/>
        </p:nvSpPr>
        <p:spPr>
          <a:xfrm>
            <a:off x="5448300" y="937259"/>
            <a:ext cx="2314575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8" name="Text 41"/>
          <p:cNvSpPr/>
          <p:nvPr/>
        </p:nvSpPr>
        <p:spPr>
          <a:xfrm>
            <a:off x="5570220" y="1040130"/>
            <a:ext cx="214693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faster</a:t>
            </a:r>
            <a:endParaRPr lang="en-US" sz="825" dirty="0"/>
          </a:p>
        </p:txBody>
      </p:sp>
      <p:sp>
        <p:nvSpPr>
          <p:cNvPr id="59" name="Text 42"/>
          <p:cNvSpPr/>
          <p:nvPr/>
        </p:nvSpPr>
        <p:spPr>
          <a:xfrm>
            <a:off x="5570220" y="1215390"/>
            <a:ext cx="21469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800" dirty="0"/>
          </a:p>
        </p:txBody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70220" y="1472565"/>
            <a:ext cx="2070735" cy="266700"/>
          </a:xfrm>
          <a:prstGeom prst="rect">
            <a:avLst/>
          </a:prstGeom>
        </p:spPr>
      </p:pic>
      <p:sp>
        <p:nvSpPr>
          <p:cNvPr id="61" name="Shape 43"/>
          <p:cNvSpPr/>
          <p:nvPr/>
        </p:nvSpPr>
        <p:spPr>
          <a:xfrm>
            <a:off x="7839075" y="937259"/>
            <a:ext cx="2314575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2" name="Text 44"/>
          <p:cNvSpPr/>
          <p:nvPr/>
        </p:nvSpPr>
        <p:spPr>
          <a:xfrm>
            <a:off x="7960995" y="1040130"/>
            <a:ext cx="214693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prep</a:t>
            </a:r>
            <a:endParaRPr lang="en-US" sz="825" dirty="0"/>
          </a:p>
        </p:txBody>
      </p:sp>
      <p:sp>
        <p:nvSpPr>
          <p:cNvPr id="63" name="Text 45"/>
          <p:cNvSpPr/>
          <p:nvPr/>
        </p:nvSpPr>
        <p:spPr>
          <a:xfrm>
            <a:off x="7960995" y="1215390"/>
            <a:ext cx="21469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h</a:t>
            </a:r>
            <a:endParaRPr lang="en-US" sz="1800" dirty="0"/>
          </a:p>
        </p:txBody>
      </p:sp>
      <p:pic>
        <p:nvPicPr>
          <p:cNvPr id="6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60995" y="1472565"/>
            <a:ext cx="2070735" cy="266700"/>
          </a:xfrm>
          <a:prstGeom prst="rect">
            <a:avLst/>
          </a:prstGeom>
        </p:spPr>
      </p:pic>
      <p:sp>
        <p:nvSpPr>
          <p:cNvPr id="65" name="Shape 46"/>
          <p:cNvSpPr/>
          <p:nvPr/>
        </p:nvSpPr>
        <p:spPr>
          <a:xfrm>
            <a:off x="666750" y="1937384"/>
            <a:ext cx="3111460" cy="1250633"/>
          </a:xfrm>
          <a:prstGeom prst="roundRect">
            <a:avLst>
              <a:gd name="adj" fmla="val 60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6" name="Text 47"/>
          <p:cNvSpPr/>
          <p:nvPr/>
        </p:nvSpPr>
        <p:spPr>
          <a:xfrm>
            <a:off x="788670" y="2040255"/>
            <a:ext cx="126801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investigated</a:t>
            </a:r>
            <a:endParaRPr lang="en-US" sz="1050" dirty="0"/>
          </a:p>
        </p:txBody>
      </p:sp>
      <p:sp>
        <p:nvSpPr>
          <p:cNvPr id="67" name="Text 48"/>
          <p:cNvSpPr/>
          <p:nvPr/>
        </p:nvSpPr>
        <p:spPr>
          <a:xfrm>
            <a:off x="3289221" y="2060257"/>
            <a:ext cx="4432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30d</a:t>
            </a:r>
            <a:endParaRPr lang="en-US" sz="825" dirty="0"/>
          </a:p>
        </p:txBody>
      </p:sp>
      <p:pic>
        <p:nvPicPr>
          <p:cNvPr id="6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8670" y="2265044"/>
            <a:ext cx="2867620" cy="666750"/>
          </a:xfrm>
          <a:prstGeom prst="rect">
            <a:avLst/>
          </a:prstGeom>
        </p:spPr>
      </p:pic>
      <p:sp>
        <p:nvSpPr>
          <p:cNvPr id="69" name="Text 49"/>
          <p:cNvSpPr/>
          <p:nvPr/>
        </p:nvSpPr>
        <p:spPr>
          <a:xfrm>
            <a:off x="788670" y="2931794"/>
            <a:ext cx="295364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3,233 alerts. 97% closed by agents.</a:t>
            </a:r>
            <a:endParaRPr lang="en-US" sz="863" dirty="0"/>
          </a:p>
        </p:txBody>
      </p:sp>
      <p:sp>
        <p:nvSpPr>
          <p:cNvPr id="70" name="Shape 50"/>
          <p:cNvSpPr/>
          <p:nvPr/>
        </p:nvSpPr>
        <p:spPr>
          <a:xfrm>
            <a:off x="3854410" y="1937384"/>
            <a:ext cx="3111460" cy="1250633"/>
          </a:xfrm>
          <a:prstGeom prst="roundRect">
            <a:avLst>
              <a:gd name="adj" fmla="val 60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1" name="Text 51"/>
          <p:cNvSpPr/>
          <p:nvPr/>
        </p:nvSpPr>
        <p:spPr>
          <a:xfrm>
            <a:off x="3976331" y="2040255"/>
            <a:ext cx="165151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to investigate</a:t>
            </a:r>
            <a:endParaRPr lang="en-US" sz="1050" dirty="0"/>
          </a:p>
        </p:txBody>
      </p:sp>
      <p:sp>
        <p:nvSpPr>
          <p:cNvPr id="72" name="Text 52"/>
          <p:cNvSpPr/>
          <p:nvPr/>
        </p:nvSpPr>
        <p:spPr>
          <a:xfrm>
            <a:off x="6476881" y="2060257"/>
            <a:ext cx="4432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30d</a:t>
            </a:r>
            <a:endParaRPr lang="en-US" sz="825" dirty="0"/>
          </a:p>
        </p:txBody>
      </p:sp>
      <p:pic>
        <p:nvPicPr>
          <p:cNvPr id="7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76331" y="2265044"/>
            <a:ext cx="2867620" cy="666750"/>
          </a:xfrm>
          <a:prstGeom prst="rect">
            <a:avLst/>
          </a:prstGeom>
        </p:spPr>
      </p:pic>
      <p:sp>
        <p:nvSpPr>
          <p:cNvPr id="74" name="Text 53"/>
          <p:cNvSpPr/>
          <p:nvPr/>
        </p:nvSpPr>
        <p:spPr>
          <a:xfrm>
            <a:off x="3976331" y="2931794"/>
            <a:ext cx="295364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70 min → 4 min. 94% drop.</a:t>
            </a:r>
            <a:endParaRPr lang="en-US" sz="863" dirty="0"/>
          </a:p>
        </p:txBody>
      </p:sp>
      <p:sp>
        <p:nvSpPr>
          <p:cNvPr id="75" name="Shape 54"/>
          <p:cNvSpPr/>
          <p:nvPr/>
        </p:nvSpPr>
        <p:spPr>
          <a:xfrm>
            <a:off x="7042071" y="1937384"/>
            <a:ext cx="3111580" cy="1250633"/>
          </a:xfrm>
          <a:prstGeom prst="roundRect">
            <a:avLst>
              <a:gd name="adj" fmla="val 609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6" name="Text 55"/>
          <p:cNvSpPr/>
          <p:nvPr/>
        </p:nvSpPr>
        <p:spPr>
          <a:xfrm>
            <a:off x="7163991" y="2040255"/>
            <a:ext cx="147804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to respond</a:t>
            </a:r>
            <a:endParaRPr lang="en-US" sz="1050" dirty="0"/>
          </a:p>
        </p:txBody>
      </p:sp>
      <p:sp>
        <p:nvSpPr>
          <p:cNvPr id="77" name="Text 56"/>
          <p:cNvSpPr/>
          <p:nvPr/>
        </p:nvSpPr>
        <p:spPr>
          <a:xfrm>
            <a:off x="9664661" y="2060257"/>
            <a:ext cx="4432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30d</a:t>
            </a:r>
            <a:endParaRPr lang="en-US" sz="825" dirty="0"/>
          </a:p>
        </p:txBody>
      </p:sp>
      <p:pic>
        <p:nvPicPr>
          <p:cNvPr id="7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63991" y="2265044"/>
            <a:ext cx="2867739" cy="666750"/>
          </a:xfrm>
          <a:prstGeom prst="rect">
            <a:avLst/>
          </a:prstGeom>
        </p:spPr>
      </p:pic>
      <p:sp>
        <p:nvSpPr>
          <p:cNvPr id="79" name="Text 57"/>
          <p:cNvSpPr/>
          <p:nvPr/>
        </p:nvSpPr>
        <p:spPr>
          <a:xfrm>
            <a:off x="7163991" y="2931794"/>
            <a:ext cx="295377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6 h → 11 min. P1 only.</a:t>
            </a:r>
            <a:endParaRPr lang="en-US" sz="863" dirty="0"/>
          </a:p>
        </p:txBody>
      </p:sp>
      <p:sp>
        <p:nvSpPr>
          <p:cNvPr id="80" name="Shape 58"/>
          <p:cNvSpPr/>
          <p:nvPr/>
        </p:nvSpPr>
        <p:spPr>
          <a:xfrm>
            <a:off x="666750" y="3264217"/>
            <a:ext cx="3111460" cy="1424940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1" name="Text 59"/>
          <p:cNvSpPr/>
          <p:nvPr/>
        </p:nvSpPr>
        <p:spPr>
          <a:xfrm>
            <a:off x="788670" y="3367088"/>
            <a:ext cx="170033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eliminated</a:t>
            </a:r>
            <a:endParaRPr lang="en-US" sz="1050" dirty="0"/>
          </a:p>
        </p:txBody>
      </p:sp>
      <p:sp>
        <p:nvSpPr>
          <p:cNvPr id="82" name="Text 60"/>
          <p:cNvSpPr/>
          <p:nvPr/>
        </p:nvSpPr>
        <p:spPr>
          <a:xfrm>
            <a:off x="3289221" y="3387090"/>
            <a:ext cx="4432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30d</a:t>
            </a:r>
            <a:endParaRPr lang="en-US" sz="825" dirty="0"/>
          </a:p>
        </p:txBody>
      </p:sp>
      <p:pic>
        <p:nvPicPr>
          <p:cNvPr id="8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8670" y="3591877"/>
            <a:ext cx="2867620" cy="666750"/>
          </a:xfrm>
          <a:prstGeom prst="rect">
            <a:avLst/>
          </a:prstGeom>
        </p:spPr>
      </p:pic>
      <p:sp>
        <p:nvSpPr>
          <p:cNvPr id="84" name="Text 61"/>
          <p:cNvSpPr/>
          <p:nvPr/>
        </p:nvSpPr>
        <p:spPr>
          <a:xfrm>
            <a:off x="788670" y="4258627"/>
            <a:ext cx="295364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29,418 auto-closed. 89% of inbound.</a:t>
            </a:r>
            <a:endParaRPr lang="en-US" sz="863" dirty="0"/>
          </a:p>
        </p:txBody>
      </p:sp>
      <p:sp>
        <p:nvSpPr>
          <p:cNvPr id="85" name="Shape 62"/>
          <p:cNvSpPr/>
          <p:nvPr/>
        </p:nvSpPr>
        <p:spPr>
          <a:xfrm>
            <a:off x="3854410" y="3264217"/>
            <a:ext cx="3111460" cy="1424940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6" name="Text 63"/>
          <p:cNvSpPr/>
          <p:nvPr/>
        </p:nvSpPr>
        <p:spPr>
          <a:xfrm>
            <a:off x="3976331" y="3367088"/>
            <a:ext cx="1025604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rate</a:t>
            </a:r>
            <a:endParaRPr lang="en-US" sz="1050" dirty="0"/>
          </a:p>
        </p:txBody>
      </p:sp>
      <p:sp>
        <p:nvSpPr>
          <p:cNvPr id="87" name="Text 64"/>
          <p:cNvSpPr/>
          <p:nvPr/>
        </p:nvSpPr>
        <p:spPr>
          <a:xfrm>
            <a:off x="6476881" y="3387090"/>
            <a:ext cx="4432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30d</a:t>
            </a:r>
            <a:endParaRPr lang="en-US" sz="825" dirty="0"/>
          </a:p>
        </p:txBody>
      </p:sp>
      <p:pic>
        <p:nvPicPr>
          <p:cNvPr id="8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76331" y="3591877"/>
            <a:ext cx="2867620" cy="666750"/>
          </a:xfrm>
          <a:prstGeom prst="rect">
            <a:avLst/>
          </a:prstGeom>
        </p:spPr>
      </p:pic>
      <p:sp>
        <p:nvSpPr>
          <p:cNvPr id="89" name="Text 65"/>
          <p:cNvSpPr/>
          <p:nvPr/>
        </p:nvSpPr>
        <p:spPr>
          <a:xfrm>
            <a:off x="3976331" y="4258627"/>
            <a:ext cx="295364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 of alerts reached human queue.</a:t>
            </a:r>
            <a:endParaRPr lang="en-US" sz="863" dirty="0"/>
          </a:p>
        </p:txBody>
      </p:sp>
      <p:sp>
        <p:nvSpPr>
          <p:cNvPr id="90" name="Shape 66"/>
          <p:cNvSpPr/>
          <p:nvPr/>
        </p:nvSpPr>
        <p:spPr>
          <a:xfrm>
            <a:off x="7042071" y="3264217"/>
            <a:ext cx="3111580" cy="1424940"/>
          </a:xfrm>
          <a:prstGeom prst="roundRect">
            <a:avLst>
              <a:gd name="adj" fmla="val 5348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91" name="Text 67"/>
          <p:cNvSpPr/>
          <p:nvPr/>
        </p:nvSpPr>
        <p:spPr>
          <a:xfrm>
            <a:off x="7163991" y="3373755"/>
            <a:ext cx="1567458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actions ★</a:t>
            </a:r>
            <a:endParaRPr lang="en-US" sz="1050" dirty="0"/>
          </a:p>
        </p:txBody>
      </p:sp>
      <p:sp>
        <p:nvSpPr>
          <p:cNvPr id="92" name="Shape 68"/>
          <p:cNvSpPr/>
          <p:nvPr/>
        </p:nvSpPr>
        <p:spPr>
          <a:xfrm>
            <a:off x="8795982" y="3367088"/>
            <a:ext cx="1235750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93" name="Shape 69"/>
          <p:cNvSpPr/>
          <p:nvPr/>
        </p:nvSpPr>
        <p:spPr>
          <a:xfrm>
            <a:off x="8870275" y="343852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94" name="Text 70"/>
          <p:cNvSpPr/>
          <p:nvPr/>
        </p:nvSpPr>
        <p:spPr>
          <a:xfrm>
            <a:off x="8965525" y="3393757"/>
            <a:ext cx="106811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to AccuKnox</a:t>
            </a:r>
            <a:endParaRPr lang="en-US" sz="825" dirty="0"/>
          </a:p>
        </p:txBody>
      </p:sp>
      <p:pic>
        <p:nvPicPr>
          <p:cNvPr id="9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63991" y="3605213"/>
            <a:ext cx="2867739" cy="666750"/>
          </a:xfrm>
          <a:prstGeom prst="rect">
            <a:avLst/>
          </a:prstGeom>
        </p:spPr>
      </p:pic>
      <p:sp>
        <p:nvSpPr>
          <p:cNvPr id="96" name="Text 71"/>
          <p:cNvSpPr/>
          <p:nvPr/>
        </p:nvSpPr>
        <p:spPr>
          <a:xfrm>
            <a:off x="7163991" y="4271963"/>
            <a:ext cx="29537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stopped at runtime </a:t>
            </a:r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284 today, 41,902 lifetime. Not just found.</a:t>
            </a:r>
            <a:endParaRPr lang="en-US" sz="863" dirty="0"/>
          </a:p>
        </p:txBody>
      </p:sp>
      <p:sp>
        <p:nvSpPr>
          <p:cNvPr id="97" name="Shape 72"/>
          <p:cNvSpPr/>
          <p:nvPr/>
        </p:nvSpPr>
        <p:spPr>
          <a:xfrm>
            <a:off x="666750" y="4784407"/>
            <a:ext cx="4705350" cy="2191703"/>
          </a:xfrm>
          <a:prstGeom prst="roundRect">
            <a:avLst>
              <a:gd name="adj" fmla="val 347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9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8670" y="4905375"/>
            <a:ext cx="123825" cy="123825"/>
          </a:xfrm>
          <a:prstGeom prst="rect">
            <a:avLst/>
          </a:prstGeom>
        </p:spPr>
      </p:pic>
      <p:sp>
        <p:nvSpPr>
          <p:cNvPr id="99" name="Text 73"/>
          <p:cNvSpPr/>
          <p:nvPr/>
        </p:nvSpPr>
        <p:spPr>
          <a:xfrm>
            <a:off x="960120" y="4894897"/>
            <a:ext cx="831770" cy="18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</a:t>
            </a:r>
            <a:endParaRPr lang="en-US" sz="900" dirty="0"/>
          </a:p>
        </p:txBody>
      </p:sp>
      <p:sp>
        <p:nvSpPr>
          <p:cNvPr id="100" name="Text 74"/>
          <p:cNvSpPr/>
          <p:nvPr/>
        </p:nvSpPr>
        <p:spPr>
          <a:xfrm>
            <a:off x="788670" y="5143500"/>
            <a:ext cx="13144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/ day</a:t>
            </a:r>
            <a:endParaRPr lang="en-US" sz="900" dirty="0"/>
          </a:p>
        </p:txBody>
      </p:sp>
      <p:sp>
        <p:nvSpPr>
          <p:cNvPr id="101" name="Shape 75"/>
          <p:cNvSpPr/>
          <p:nvPr/>
        </p:nvSpPr>
        <p:spPr>
          <a:xfrm>
            <a:off x="2084070" y="5123497"/>
            <a:ext cx="51923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2" name="Shape 76"/>
          <p:cNvSpPr/>
          <p:nvPr/>
        </p:nvSpPr>
        <p:spPr>
          <a:xfrm>
            <a:off x="2158365" y="5194934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03" name="Text 77"/>
          <p:cNvSpPr/>
          <p:nvPr/>
        </p:nvSpPr>
        <p:spPr>
          <a:xfrm>
            <a:off x="2253615" y="5157788"/>
            <a:ext cx="35159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3,140</a:t>
            </a:r>
            <a:endParaRPr lang="en-US" sz="825" dirty="0"/>
          </a:p>
        </p:txBody>
      </p:sp>
      <p:sp>
        <p:nvSpPr>
          <p:cNvPr id="104" name="Text 78"/>
          <p:cNvSpPr/>
          <p:nvPr/>
        </p:nvSpPr>
        <p:spPr>
          <a:xfrm>
            <a:off x="2660452" y="5143500"/>
            <a:ext cx="1905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05" name="Shape 79"/>
          <p:cNvSpPr/>
          <p:nvPr/>
        </p:nvSpPr>
        <p:spPr>
          <a:xfrm>
            <a:off x="2831902" y="5123497"/>
            <a:ext cx="308491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06" name="Shape 80"/>
          <p:cNvSpPr/>
          <p:nvPr/>
        </p:nvSpPr>
        <p:spPr>
          <a:xfrm>
            <a:off x="2906197" y="5194934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07" name="Text 81"/>
          <p:cNvSpPr/>
          <p:nvPr/>
        </p:nvSpPr>
        <p:spPr>
          <a:xfrm>
            <a:off x="3001447" y="5157788"/>
            <a:ext cx="14085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25" dirty="0"/>
          </a:p>
        </p:txBody>
      </p:sp>
      <p:sp>
        <p:nvSpPr>
          <p:cNvPr id="108" name="Text 82"/>
          <p:cNvSpPr/>
          <p:nvPr/>
        </p:nvSpPr>
        <p:spPr>
          <a:xfrm>
            <a:off x="3197543" y="5143500"/>
            <a:ext cx="77533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queue</a:t>
            </a:r>
            <a:endParaRPr lang="en-US" sz="900" dirty="0"/>
          </a:p>
        </p:txBody>
      </p:sp>
      <p:sp>
        <p:nvSpPr>
          <p:cNvPr id="109" name="Text 83"/>
          <p:cNvSpPr/>
          <p:nvPr/>
        </p:nvSpPr>
        <p:spPr>
          <a:xfrm>
            <a:off x="788670" y="5400675"/>
            <a:ext cx="13144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 rate</a:t>
            </a:r>
            <a:endParaRPr lang="en-US" sz="900" dirty="0"/>
          </a:p>
        </p:txBody>
      </p:sp>
      <p:sp>
        <p:nvSpPr>
          <p:cNvPr id="110" name="Shape 84"/>
          <p:cNvSpPr/>
          <p:nvPr/>
        </p:nvSpPr>
        <p:spPr>
          <a:xfrm>
            <a:off x="2084070" y="5380672"/>
            <a:ext cx="475178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1" name="Shape 85"/>
          <p:cNvSpPr/>
          <p:nvPr/>
        </p:nvSpPr>
        <p:spPr>
          <a:xfrm>
            <a:off x="2158365" y="5452109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12" name="Text 86"/>
          <p:cNvSpPr/>
          <p:nvPr/>
        </p:nvSpPr>
        <p:spPr>
          <a:xfrm>
            <a:off x="2253615" y="5414963"/>
            <a:ext cx="30753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825" dirty="0"/>
          </a:p>
        </p:txBody>
      </p:sp>
      <p:sp>
        <p:nvSpPr>
          <p:cNvPr id="113" name="Text 87"/>
          <p:cNvSpPr/>
          <p:nvPr/>
        </p:nvSpPr>
        <p:spPr>
          <a:xfrm>
            <a:off x="2616398" y="5400675"/>
            <a:ext cx="1905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14" name="Shape 88"/>
          <p:cNvSpPr/>
          <p:nvPr/>
        </p:nvSpPr>
        <p:spPr>
          <a:xfrm>
            <a:off x="2787848" y="5380672"/>
            <a:ext cx="405884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15" name="Shape 89"/>
          <p:cNvSpPr/>
          <p:nvPr/>
        </p:nvSpPr>
        <p:spPr>
          <a:xfrm>
            <a:off x="2862144" y="5452109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16" name="Text 90"/>
          <p:cNvSpPr/>
          <p:nvPr/>
        </p:nvSpPr>
        <p:spPr>
          <a:xfrm>
            <a:off x="2957394" y="5414963"/>
            <a:ext cx="23824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825" dirty="0"/>
          </a:p>
        </p:txBody>
      </p:sp>
      <p:sp>
        <p:nvSpPr>
          <p:cNvPr id="117" name="Text 91"/>
          <p:cNvSpPr/>
          <p:nvPr/>
        </p:nvSpPr>
        <p:spPr>
          <a:xfrm>
            <a:off x="3250883" y="5400675"/>
            <a:ext cx="62269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triage</a:t>
            </a:r>
            <a:endParaRPr lang="en-US" sz="900" dirty="0"/>
          </a:p>
        </p:txBody>
      </p:sp>
      <p:sp>
        <p:nvSpPr>
          <p:cNvPr id="118" name="Text 92"/>
          <p:cNvSpPr/>
          <p:nvPr/>
        </p:nvSpPr>
        <p:spPr>
          <a:xfrm>
            <a:off x="788670" y="5657850"/>
            <a:ext cx="13144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 · P1</a:t>
            </a:r>
            <a:endParaRPr lang="en-US" sz="900" dirty="0"/>
          </a:p>
        </p:txBody>
      </p:sp>
      <p:sp>
        <p:nvSpPr>
          <p:cNvPr id="119" name="Shape 93"/>
          <p:cNvSpPr/>
          <p:nvPr/>
        </p:nvSpPr>
        <p:spPr>
          <a:xfrm>
            <a:off x="2084070" y="5637847"/>
            <a:ext cx="62019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0" name="Shape 94"/>
          <p:cNvSpPr/>
          <p:nvPr/>
        </p:nvSpPr>
        <p:spPr>
          <a:xfrm>
            <a:off x="2158365" y="5709284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21" name="Text 95"/>
          <p:cNvSpPr/>
          <p:nvPr/>
        </p:nvSpPr>
        <p:spPr>
          <a:xfrm>
            <a:off x="2253615" y="5672138"/>
            <a:ext cx="45255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h 12 m</a:t>
            </a:r>
            <a:endParaRPr lang="en-US" sz="825" dirty="0"/>
          </a:p>
        </p:txBody>
      </p:sp>
      <p:sp>
        <p:nvSpPr>
          <p:cNvPr id="122" name="Text 96"/>
          <p:cNvSpPr/>
          <p:nvPr/>
        </p:nvSpPr>
        <p:spPr>
          <a:xfrm>
            <a:off x="2761416" y="5657850"/>
            <a:ext cx="1905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23" name="Shape 97"/>
          <p:cNvSpPr/>
          <p:nvPr/>
        </p:nvSpPr>
        <p:spPr>
          <a:xfrm>
            <a:off x="2932866" y="5637847"/>
            <a:ext cx="437674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24" name="Shape 98"/>
          <p:cNvSpPr/>
          <p:nvPr/>
        </p:nvSpPr>
        <p:spPr>
          <a:xfrm>
            <a:off x="3007162" y="5709284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5" name="Text 99"/>
          <p:cNvSpPr/>
          <p:nvPr/>
        </p:nvSpPr>
        <p:spPr>
          <a:xfrm>
            <a:off x="3102412" y="5672138"/>
            <a:ext cx="27003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</a:t>
            </a:r>
            <a:endParaRPr lang="en-US" sz="825" dirty="0"/>
          </a:p>
        </p:txBody>
      </p:sp>
      <p:sp>
        <p:nvSpPr>
          <p:cNvPr id="126" name="Text 100"/>
          <p:cNvSpPr/>
          <p:nvPr/>
        </p:nvSpPr>
        <p:spPr>
          <a:xfrm>
            <a:off x="3427691" y="5657850"/>
            <a:ext cx="3939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96%</a:t>
            </a:r>
            <a:endParaRPr lang="en-US" sz="900" dirty="0"/>
          </a:p>
        </p:txBody>
      </p:sp>
      <p:sp>
        <p:nvSpPr>
          <p:cNvPr id="127" name="Text 101"/>
          <p:cNvSpPr/>
          <p:nvPr/>
        </p:nvSpPr>
        <p:spPr>
          <a:xfrm>
            <a:off x="788670" y="5915025"/>
            <a:ext cx="13144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per analyst</a:t>
            </a:r>
            <a:endParaRPr lang="en-US" sz="900" dirty="0"/>
          </a:p>
        </p:txBody>
      </p:sp>
      <p:sp>
        <p:nvSpPr>
          <p:cNvPr id="128" name="Shape 102"/>
          <p:cNvSpPr/>
          <p:nvPr/>
        </p:nvSpPr>
        <p:spPr>
          <a:xfrm>
            <a:off x="2084070" y="5895022"/>
            <a:ext cx="41350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9" name="Shape 103"/>
          <p:cNvSpPr/>
          <p:nvPr/>
        </p:nvSpPr>
        <p:spPr>
          <a:xfrm>
            <a:off x="2158365" y="5966459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30" name="Text 104"/>
          <p:cNvSpPr/>
          <p:nvPr/>
        </p:nvSpPr>
        <p:spPr>
          <a:xfrm>
            <a:off x="2253615" y="5929313"/>
            <a:ext cx="24586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</a:t>
            </a:r>
            <a:endParaRPr lang="en-US" sz="825" dirty="0"/>
          </a:p>
        </p:txBody>
      </p:sp>
      <p:sp>
        <p:nvSpPr>
          <p:cNvPr id="131" name="Text 105"/>
          <p:cNvSpPr/>
          <p:nvPr/>
        </p:nvSpPr>
        <p:spPr>
          <a:xfrm>
            <a:off x="2554724" y="5915025"/>
            <a:ext cx="1905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32" name="Shape 106"/>
          <p:cNvSpPr/>
          <p:nvPr/>
        </p:nvSpPr>
        <p:spPr>
          <a:xfrm>
            <a:off x="2726174" y="5895022"/>
            <a:ext cx="309801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33" name="Shape 107"/>
          <p:cNvSpPr/>
          <p:nvPr/>
        </p:nvSpPr>
        <p:spPr>
          <a:xfrm>
            <a:off x="2800470" y="5966459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34" name="Text 108"/>
          <p:cNvSpPr/>
          <p:nvPr/>
        </p:nvSpPr>
        <p:spPr>
          <a:xfrm>
            <a:off x="2895720" y="5929313"/>
            <a:ext cx="1421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25" dirty="0"/>
          </a:p>
        </p:txBody>
      </p:sp>
      <p:sp>
        <p:nvSpPr>
          <p:cNvPr id="135" name="Text 109"/>
          <p:cNvSpPr/>
          <p:nvPr/>
        </p:nvSpPr>
        <p:spPr>
          <a:xfrm>
            <a:off x="3093125" y="5915025"/>
            <a:ext cx="45755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day</a:t>
            </a:r>
            <a:endParaRPr lang="en-US" sz="900" dirty="0"/>
          </a:p>
        </p:txBody>
      </p:sp>
      <p:sp>
        <p:nvSpPr>
          <p:cNvPr id="136" name="Text 110"/>
          <p:cNvSpPr/>
          <p:nvPr/>
        </p:nvSpPr>
        <p:spPr>
          <a:xfrm>
            <a:off x="788670" y="6172200"/>
            <a:ext cx="13144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prep per qtr</a:t>
            </a:r>
            <a:endParaRPr lang="en-US" sz="900" dirty="0"/>
          </a:p>
        </p:txBody>
      </p:sp>
      <p:sp>
        <p:nvSpPr>
          <p:cNvPr id="137" name="Shape 111"/>
          <p:cNvSpPr/>
          <p:nvPr/>
        </p:nvSpPr>
        <p:spPr>
          <a:xfrm>
            <a:off x="2084070" y="6152197"/>
            <a:ext cx="46136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8" name="Shape 112"/>
          <p:cNvSpPr/>
          <p:nvPr/>
        </p:nvSpPr>
        <p:spPr>
          <a:xfrm>
            <a:off x="2158365" y="6223634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39" name="Text 113"/>
          <p:cNvSpPr/>
          <p:nvPr/>
        </p:nvSpPr>
        <p:spPr>
          <a:xfrm>
            <a:off x="2253615" y="6186488"/>
            <a:ext cx="29372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h</a:t>
            </a:r>
            <a:endParaRPr lang="en-US" sz="825" dirty="0"/>
          </a:p>
        </p:txBody>
      </p:sp>
      <p:sp>
        <p:nvSpPr>
          <p:cNvPr id="140" name="Text 114"/>
          <p:cNvSpPr/>
          <p:nvPr/>
        </p:nvSpPr>
        <p:spPr>
          <a:xfrm>
            <a:off x="2602588" y="6172200"/>
            <a:ext cx="1905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41" name="Shape 115"/>
          <p:cNvSpPr/>
          <p:nvPr/>
        </p:nvSpPr>
        <p:spPr>
          <a:xfrm>
            <a:off x="2774038" y="6152197"/>
            <a:ext cx="485656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42" name="Shape 116"/>
          <p:cNvSpPr/>
          <p:nvPr/>
        </p:nvSpPr>
        <p:spPr>
          <a:xfrm>
            <a:off x="2848332" y="6223634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43" name="Text 117"/>
          <p:cNvSpPr/>
          <p:nvPr/>
        </p:nvSpPr>
        <p:spPr>
          <a:xfrm>
            <a:off x="2943582" y="6186488"/>
            <a:ext cx="31801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h</a:t>
            </a:r>
            <a:endParaRPr lang="en-US" sz="825" dirty="0"/>
          </a:p>
        </p:txBody>
      </p:sp>
      <p:sp>
        <p:nvSpPr>
          <p:cNvPr id="144" name="Text 118"/>
          <p:cNvSpPr/>
          <p:nvPr/>
        </p:nvSpPr>
        <p:spPr>
          <a:xfrm>
            <a:off x="3316843" y="6172200"/>
            <a:ext cx="3939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93%</a:t>
            </a:r>
            <a:endParaRPr lang="en-US" sz="900" dirty="0"/>
          </a:p>
        </p:txBody>
      </p:sp>
      <p:sp>
        <p:nvSpPr>
          <p:cNvPr id="145" name="Text 119"/>
          <p:cNvSpPr/>
          <p:nvPr/>
        </p:nvSpPr>
        <p:spPr>
          <a:xfrm>
            <a:off x="788670" y="6429375"/>
            <a:ext cx="13144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blocked</a:t>
            </a:r>
            <a:endParaRPr lang="en-US" sz="900" dirty="0"/>
          </a:p>
        </p:txBody>
      </p:sp>
      <p:sp>
        <p:nvSpPr>
          <p:cNvPr id="146" name="Shape 120"/>
          <p:cNvSpPr/>
          <p:nvPr/>
        </p:nvSpPr>
        <p:spPr>
          <a:xfrm>
            <a:off x="2084070" y="6409372"/>
            <a:ext cx="31980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7" name="Shape 121"/>
          <p:cNvSpPr/>
          <p:nvPr/>
        </p:nvSpPr>
        <p:spPr>
          <a:xfrm>
            <a:off x="2158365" y="6480809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48" name="Text 122"/>
          <p:cNvSpPr/>
          <p:nvPr/>
        </p:nvSpPr>
        <p:spPr>
          <a:xfrm>
            <a:off x="2253615" y="6443663"/>
            <a:ext cx="15216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25" dirty="0"/>
          </a:p>
        </p:txBody>
      </p:sp>
      <p:sp>
        <p:nvSpPr>
          <p:cNvPr id="149" name="Text 123"/>
          <p:cNvSpPr/>
          <p:nvPr/>
        </p:nvSpPr>
        <p:spPr>
          <a:xfrm>
            <a:off x="2461022" y="6429375"/>
            <a:ext cx="1905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50" name="Shape 124"/>
          <p:cNvSpPr/>
          <p:nvPr/>
        </p:nvSpPr>
        <p:spPr>
          <a:xfrm>
            <a:off x="2632472" y="6409372"/>
            <a:ext cx="583525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51" name="Shape 125"/>
          <p:cNvSpPr/>
          <p:nvPr/>
        </p:nvSpPr>
        <p:spPr>
          <a:xfrm>
            <a:off x="2706767" y="6480809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52" name="Text 126"/>
          <p:cNvSpPr/>
          <p:nvPr/>
        </p:nvSpPr>
        <p:spPr>
          <a:xfrm>
            <a:off x="2802017" y="6443663"/>
            <a:ext cx="41588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41,902</a:t>
            </a:r>
            <a:endParaRPr lang="en-US" sz="825" dirty="0"/>
          </a:p>
        </p:txBody>
      </p:sp>
      <p:sp>
        <p:nvSpPr>
          <p:cNvPr id="153" name="Text 127"/>
          <p:cNvSpPr/>
          <p:nvPr/>
        </p:nvSpPr>
        <p:spPr>
          <a:xfrm>
            <a:off x="3273148" y="6429375"/>
            <a:ext cx="97190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kernel-level · new</a:t>
            </a:r>
            <a:endParaRPr lang="en-US" sz="900" dirty="0"/>
          </a:p>
        </p:txBody>
      </p:sp>
      <p:sp>
        <p:nvSpPr>
          <p:cNvPr id="154" name="Shape 128"/>
          <p:cNvSpPr/>
          <p:nvPr/>
        </p:nvSpPr>
        <p:spPr>
          <a:xfrm>
            <a:off x="5448300" y="4784407"/>
            <a:ext cx="4705350" cy="2191703"/>
          </a:xfrm>
          <a:prstGeom prst="roundRect">
            <a:avLst>
              <a:gd name="adj" fmla="val 347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55" name="Text 129"/>
          <p:cNvSpPr/>
          <p:nvPr/>
        </p:nvSpPr>
        <p:spPr>
          <a:xfrm>
            <a:off x="5570220" y="4887277"/>
            <a:ext cx="459535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tactic</a:t>
            </a:r>
            <a:endParaRPr lang="en-US" sz="900" dirty="0"/>
          </a:p>
        </p:txBody>
      </p:sp>
      <p:sp>
        <p:nvSpPr>
          <p:cNvPr id="156" name="Text 130"/>
          <p:cNvSpPr/>
          <p:nvPr/>
        </p:nvSpPr>
        <p:spPr>
          <a:xfrm>
            <a:off x="5570220" y="5123497"/>
            <a:ext cx="39278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</a:t>
            </a:r>
            <a:endParaRPr lang="en-US" sz="863" dirty="0"/>
          </a:p>
        </p:txBody>
      </p:sp>
      <p:sp>
        <p:nvSpPr>
          <p:cNvPr id="157" name="Text 131"/>
          <p:cNvSpPr/>
          <p:nvPr/>
        </p:nvSpPr>
        <p:spPr>
          <a:xfrm>
            <a:off x="7585472" y="5123497"/>
            <a:ext cx="23455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63" dirty="0"/>
          </a:p>
        </p:txBody>
      </p:sp>
      <p:sp>
        <p:nvSpPr>
          <p:cNvPr id="158" name="Shape 132"/>
          <p:cNvSpPr/>
          <p:nvPr/>
        </p:nvSpPr>
        <p:spPr>
          <a:xfrm>
            <a:off x="5570220" y="5276850"/>
            <a:ext cx="2173605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59" name="Text 133"/>
          <p:cNvSpPr/>
          <p:nvPr/>
        </p:nvSpPr>
        <p:spPr>
          <a:xfrm>
            <a:off x="7800975" y="5123497"/>
            <a:ext cx="59959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Access</a:t>
            </a:r>
            <a:endParaRPr lang="en-US" sz="863" dirty="0"/>
          </a:p>
        </p:txBody>
      </p:sp>
      <p:sp>
        <p:nvSpPr>
          <p:cNvPr id="160" name="Text 134"/>
          <p:cNvSpPr/>
          <p:nvPr/>
        </p:nvSpPr>
        <p:spPr>
          <a:xfrm>
            <a:off x="9755386" y="5123497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863" dirty="0"/>
          </a:p>
        </p:txBody>
      </p:sp>
      <p:sp>
        <p:nvSpPr>
          <p:cNvPr id="161" name="Shape 135"/>
          <p:cNvSpPr/>
          <p:nvPr/>
        </p:nvSpPr>
        <p:spPr>
          <a:xfrm>
            <a:off x="7800975" y="5276850"/>
            <a:ext cx="2173605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62" name="Shape 136"/>
          <p:cNvSpPr/>
          <p:nvPr/>
        </p:nvSpPr>
        <p:spPr>
          <a:xfrm>
            <a:off x="7800975" y="5276850"/>
            <a:ext cx="282535" cy="47625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63" name="Text 137"/>
          <p:cNvSpPr/>
          <p:nvPr/>
        </p:nvSpPr>
        <p:spPr>
          <a:xfrm>
            <a:off x="5570220" y="5381625"/>
            <a:ext cx="55709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863" dirty="0"/>
          </a:p>
        </p:txBody>
      </p:sp>
      <p:sp>
        <p:nvSpPr>
          <p:cNvPr id="164" name="Text 138"/>
          <p:cNvSpPr/>
          <p:nvPr/>
        </p:nvSpPr>
        <p:spPr>
          <a:xfrm>
            <a:off x="7524631" y="5381625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863" dirty="0"/>
          </a:p>
        </p:txBody>
      </p:sp>
      <p:sp>
        <p:nvSpPr>
          <p:cNvPr id="165" name="Shape 139"/>
          <p:cNvSpPr/>
          <p:nvPr/>
        </p:nvSpPr>
        <p:spPr>
          <a:xfrm>
            <a:off x="5570220" y="5534977"/>
            <a:ext cx="2173605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66" name="Shape 140"/>
          <p:cNvSpPr/>
          <p:nvPr/>
        </p:nvSpPr>
        <p:spPr>
          <a:xfrm>
            <a:off x="5570220" y="5534977"/>
            <a:ext cx="565071" cy="47625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67" name="Text 141"/>
          <p:cNvSpPr/>
          <p:nvPr/>
        </p:nvSpPr>
        <p:spPr>
          <a:xfrm>
            <a:off x="7800975" y="5381625"/>
            <a:ext cx="441365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Persist.</a:t>
            </a:r>
            <a:endParaRPr lang="en-US" sz="863" dirty="0"/>
          </a:p>
        </p:txBody>
      </p:sp>
      <p:sp>
        <p:nvSpPr>
          <p:cNvPr id="168" name="Text 142"/>
          <p:cNvSpPr/>
          <p:nvPr/>
        </p:nvSpPr>
        <p:spPr>
          <a:xfrm>
            <a:off x="9755386" y="5381625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863" dirty="0"/>
          </a:p>
        </p:txBody>
      </p:sp>
      <p:sp>
        <p:nvSpPr>
          <p:cNvPr id="169" name="Shape 143"/>
          <p:cNvSpPr/>
          <p:nvPr/>
        </p:nvSpPr>
        <p:spPr>
          <a:xfrm>
            <a:off x="7800975" y="5534977"/>
            <a:ext cx="2173605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70" name="Shape 144"/>
          <p:cNvSpPr/>
          <p:nvPr/>
        </p:nvSpPr>
        <p:spPr>
          <a:xfrm>
            <a:off x="7800975" y="5534977"/>
            <a:ext cx="847606" cy="47625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71" name="Text 145"/>
          <p:cNvSpPr/>
          <p:nvPr/>
        </p:nvSpPr>
        <p:spPr>
          <a:xfrm>
            <a:off x="5570220" y="5639752"/>
            <a:ext cx="47779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 Esc</a:t>
            </a:r>
            <a:endParaRPr lang="en-US" sz="863" dirty="0"/>
          </a:p>
        </p:txBody>
      </p:sp>
      <p:sp>
        <p:nvSpPr>
          <p:cNvPr id="172" name="Text 146"/>
          <p:cNvSpPr/>
          <p:nvPr/>
        </p:nvSpPr>
        <p:spPr>
          <a:xfrm>
            <a:off x="7524631" y="5639752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863" dirty="0"/>
          </a:p>
        </p:txBody>
      </p:sp>
      <p:sp>
        <p:nvSpPr>
          <p:cNvPr id="173" name="Shape 147"/>
          <p:cNvSpPr/>
          <p:nvPr/>
        </p:nvSpPr>
        <p:spPr>
          <a:xfrm>
            <a:off x="5570220" y="5793105"/>
            <a:ext cx="2173605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74" name="Shape 148"/>
          <p:cNvSpPr/>
          <p:nvPr/>
        </p:nvSpPr>
        <p:spPr>
          <a:xfrm>
            <a:off x="5570220" y="5793105"/>
            <a:ext cx="1130260" cy="476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75" name="Text 149"/>
          <p:cNvSpPr/>
          <p:nvPr/>
        </p:nvSpPr>
        <p:spPr>
          <a:xfrm>
            <a:off x="7800975" y="5639752"/>
            <a:ext cx="66460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Ev.</a:t>
            </a:r>
            <a:endParaRPr lang="en-US" sz="863" dirty="0"/>
          </a:p>
        </p:txBody>
      </p:sp>
      <p:sp>
        <p:nvSpPr>
          <p:cNvPr id="176" name="Text 150"/>
          <p:cNvSpPr/>
          <p:nvPr/>
        </p:nvSpPr>
        <p:spPr>
          <a:xfrm>
            <a:off x="9755386" y="5639752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863" dirty="0"/>
          </a:p>
        </p:txBody>
      </p:sp>
      <p:sp>
        <p:nvSpPr>
          <p:cNvPr id="177" name="Shape 151"/>
          <p:cNvSpPr/>
          <p:nvPr/>
        </p:nvSpPr>
        <p:spPr>
          <a:xfrm>
            <a:off x="7800975" y="5793105"/>
            <a:ext cx="2173605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78" name="Shape 152"/>
          <p:cNvSpPr/>
          <p:nvPr/>
        </p:nvSpPr>
        <p:spPr>
          <a:xfrm>
            <a:off x="7800975" y="5793105"/>
            <a:ext cx="1412796" cy="476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79" name="Text 153"/>
          <p:cNvSpPr/>
          <p:nvPr/>
        </p:nvSpPr>
        <p:spPr>
          <a:xfrm>
            <a:off x="5570220" y="5897880"/>
            <a:ext cx="520541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 Acc</a:t>
            </a:r>
            <a:endParaRPr lang="en-US" sz="863" dirty="0"/>
          </a:p>
        </p:txBody>
      </p:sp>
      <p:sp>
        <p:nvSpPr>
          <p:cNvPr id="180" name="Text 154"/>
          <p:cNvSpPr/>
          <p:nvPr/>
        </p:nvSpPr>
        <p:spPr>
          <a:xfrm>
            <a:off x="7524631" y="5897880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863" dirty="0"/>
          </a:p>
        </p:txBody>
      </p:sp>
      <p:sp>
        <p:nvSpPr>
          <p:cNvPr id="181" name="Shape 155"/>
          <p:cNvSpPr/>
          <p:nvPr/>
        </p:nvSpPr>
        <p:spPr>
          <a:xfrm>
            <a:off x="5570220" y="6051232"/>
            <a:ext cx="2173605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82" name="Shape 156"/>
          <p:cNvSpPr/>
          <p:nvPr/>
        </p:nvSpPr>
        <p:spPr>
          <a:xfrm>
            <a:off x="5570220" y="6051232"/>
            <a:ext cx="1695331" cy="4762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83" name="Text 157"/>
          <p:cNvSpPr/>
          <p:nvPr/>
        </p:nvSpPr>
        <p:spPr>
          <a:xfrm>
            <a:off x="7800975" y="5897880"/>
            <a:ext cx="55697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863" dirty="0"/>
          </a:p>
        </p:txBody>
      </p:sp>
      <p:sp>
        <p:nvSpPr>
          <p:cNvPr id="184" name="Text 158"/>
          <p:cNvSpPr/>
          <p:nvPr/>
        </p:nvSpPr>
        <p:spPr>
          <a:xfrm>
            <a:off x="9755386" y="5897880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863" dirty="0"/>
          </a:p>
        </p:txBody>
      </p:sp>
      <p:sp>
        <p:nvSpPr>
          <p:cNvPr id="185" name="Shape 159"/>
          <p:cNvSpPr/>
          <p:nvPr/>
        </p:nvSpPr>
        <p:spPr>
          <a:xfrm>
            <a:off x="7800975" y="6051232"/>
            <a:ext cx="2173605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86" name="Shape 160"/>
          <p:cNvSpPr/>
          <p:nvPr/>
        </p:nvSpPr>
        <p:spPr>
          <a:xfrm>
            <a:off x="7800975" y="6051232"/>
            <a:ext cx="1977866" cy="4762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87" name="Text 161"/>
          <p:cNvSpPr/>
          <p:nvPr/>
        </p:nvSpPr>
        <p:spPr>
          <a:xfrm>
            <a:off x="5570220" y="6156007"/>
            <a:ext cx="41112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</a:t>
            </a:r>
            <a:endParaRPr lang="en-US" sz="863" dirty="0"/>
          </a:p>
        </p:txBody>
      </p:sp>
      <p:sp>
        <p:nvSpPr>
          <p:cNvPr id="188" name="Text 162"/>
          <p:cNvSpPr/>
          <p:nvPr/>
        </p:nvSpPr>
        <p:spPr>
          <a:xfrm>
            <a:off x="7585472" y="6156007"/>
            <a:ext cx="23455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863" dirty="0"/>
          </a:p>
        </p:txBody>
      </p:sp>
      <p:sp>
        <p:nvSpPr>
          <p:cNvPr id="189" name="Shape 163"/>
          <p:cNvSpPr/>
          <p:nvPr/>
        </p:nvSpPr>
        <p:spPr>
          <a:xfrm>
            <a:off x="5570220" y="6309359"/>
            <a:ext cx="2173605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90" name="Shape 164"/>
          <p:cNvSpPr/>
          <p:nvPr/>
        </p:nvSpPr>
        <p:spPr>
          <a:xfrm>
            <a:off x="5570220" y="6309359"/>
            <a:ext cx="86916" cy="47625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91" name="Text 165"/>
          <p:cNvSpPr/>
          <p:nvPr/>
        </p:nvSpPr>
        <p:spPr>
          <a:xfrm>
            <a:off x="7800975" y="6156007"/>
            <a:ext cx="55709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863" dirty="0"/>
          </a:p>
        </p:txBody>
      </p:sp>
      <p:sp>
        <p:nvSpPr>
          <p:cNvPr id="192" name="Text 166"/>
          <p:cNvSpPr/>
          <p:nvPr/>
        </p:nvSpPr>
        <p:spPr>
          <a:xfrm>
            <a:off x="9755386" y="6156007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863" dirty="0"/>
          </a:p>
        </p:txBody>
      </p:sp>
      <p:sp>
        <p:nvSpPr>
          <p:cNvPr id="193" name="Shape 167"/>
          <p:cNvSpPr/>
          <p:nvPr/>
        </p:nvSpPr>
        <p:spPr>
          <a:xfrm>
            <a:off x="7800975" y="6309359"/>
            <a:ext cx="2173605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94" name="Shape 168"/>
          <p:cNvSpPr/>
          <p:nvPr/>
        </p:nvSpPr>
        <p:spPr>
          <a:xfrm>
            <a:off x="7800975" y="6309359"/>
            <a:ext cx="369451" cy="47625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95" name="Text 169"/>
          <p:cNvSpPr/>
          <p:nvPr/>
        </p:nvSpPr>
        <p:spPr>
          <a:xfrm>
            <a:off x="5570220" y="6414134"/>
            <a:ext cx="21621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863" dirty="0"/>
          </a:p>
        </p:txBody>
      </p:sp>
      <p:sp>
        <p:nvSpPr>
          <p:cNvPr id="196" name="Text 170"/>
          <p:cNvSpPr/>
          <p:nvPr/>
        </p:nvSpPr>
        <p:spPr>
          <a:xfrm>
            <a:off x="7524631" y="6414134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63" dirty="0"/>
          </a:p>
        </p:txBody>
      </p:sp>
      <p:sp>
        <p:nvSpPr>
          <p:cNvPr id="197" name="Shape 171"/>
          <p:cNvSpPr/>
          <p:nvPr/>
        </p:nvSpPr>
        <p:spPr>
          <a:xfrm>
            <a:off x="5570220" y="6567488"/>
            <a:ext cx="2173605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98" name="Shape 172"/>
          <p:cNvSpPr/>
          <p:nvPr/>
        </p:nvSpPr>
        <p:spPr>
          <a:xfrm>
            <a:off x="5570220" y="6567488"/>
            <a:ext cx="651986" cy="47625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99" name="Text 173"/>
          <p:cNvSpPr/>
          <p:nvPr/>
        </p:nvSpPr>
        <p:spPr>
          <a:xfrm>
            <a:off x="7800975" y="6414134"/>
            <a:ext cx="283131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Exfil</a:t>
            </a:r>
            <a:endParaRPr lang="en-US" sz="863" dirty="0"/>
          </a:p>
        </p:txBody>
      </p:sp>
      <p:sp>
        <p:nvSpPr>
          <p:cNvPr id="200" name="Text 174"/>
          <p:cNvSpPr/>
          <p:nvPr/>
        </p:nvSpPr>
        <p:spPr>
          <a:xfrm>
            <a:off x="9755386" y="6414134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863" dirty="0"/>
          </a:p>
        </p:txBody>
      </p:sp>
      <p:sp>
        <p:nvSpPr>
          <p:cNvPr id="201" name="Shape 175"/>
          <p:cNvSpPr/>
          <p:nvPr/>
        </p:nvSpPr>
        <p:spPr>
          <a:xfrm>
            <a:off x="7800975" y="6567488"/>
            <a:ext cx="2173605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02" name="Shape 176"/>
          <p:cNvSpPr/>
          <p:nvPr/>
        </p:nvSpPr>
        <p:spPr>
          <a:xfrm>
            <a:off x="7800975" y="6567488"/>
            <a:ext cx="934641" cy="476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03" name="Text 177"/>
          <p:cNvSpPr/>
          <p:nvPr/>
        </p:nvSpPr>
        <p:spPr>
          <a:xfrm>
            <a:off x="5570220" y="6672263"/>
            <a:ext cx="40481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863" dirty="0"/>
          </a:p>
        </p:txBody>
      </p:sp>
      <p:sp>
        <p:nvSpPr>
          <p:cNvPr id="204" name="Text 178"/>
          <p:cNvSpPr/>
          <p:nvPr/>
        </p:nvSpPr>
        <p:spPr>
          <a:xfrm>
            <a:off x="7524631" y="6672263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863" dirty="0"/>
          </a:p>
        </p:txBody>
      </p:sp>
      <p:sp>
        <p:nvSpPr>
          <p:cNvPr id="205" name="Shape 179"/>
          <p:cNvSpPr/>
          <p:nvPr/>
        </p:nvSpPr>
        <p:spPr>
          <a:xfrm>
            <a:off x="5570220" y="6825615"/>
            <a:ext cx="2173605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06" name="Shape 180"/>
          <p:cNvSpPr/>
          <p:nvPr/>
        </p:nvSpPr>
        <p:spPr>
          <a:xfrm>
            <a:off x="5570220" y="6825615"/>
            <a:ext cx="1217176" cy="476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7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1" y="8763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4"/>
            <a:ext cx="123622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triage queue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1922027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030016" y="144780"/>
            <a:ext cx="114371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3,233 alerts last hour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249930" y="74294"/>
            <a:ext cx="4241006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2800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524250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6" y="108584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4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1" y="131444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0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0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1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8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Shape 22"/>
          <p:cNvSpPr/>
          <p:nvPr/>
        </p:nvSpPr>
        <p:spPr>
          <a:xfrm>
            <a:off x="666750" y="590550"/>
            <a:ext cx="94869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8" name="Text 23"/>
          <p:cNvSpPr/>
          <p:nvPr/>
        </p:nvSpPr>
        <p:spPr>
          <a:xfrm>
            <a:off x="788670" y="693419"/>
            <a:ext cx="15462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INVESTIGATED BY ACCUKNOX</a:t>
            </a:r>
            <a:endParaRPr lang="en-US" sz="750" dirty="0"/>
          </a:p>
        </p:txBody>
      </p:sp>
      <p:sp>
        <p:nvSpPr>
          <p:cNvPr id="39" name="Text 24"/>
          <p:cNvSpPr/>
          <p:nvPr/>
        </p:nvSpPr>
        <p:spPr>
          <a:xfrm>
            <a:off x="788670" y="960119"/>
            <a:ext cx="154626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3,140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auto-closed</a:t>
            </a:r>
            <a:endParaRPr lang="en-US" sz="2100" dirty="0"/>
          </a:p>
        </p:txBody>
      </p:sp>
      <p:sp>
        <p:nvSpPr>
          <p:cNvPr id="40" name="Shape 25"/>
          <p:cNvSpPr/>
          <p:nvPr/>
        </p:nvSpPr>
        <p:spPr>
          <a:xfrm>
            <a:off x="2373034" y="880109"/>
            <a:ext cx="9525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1" name="Text 26"/>
          <p:cNvSpPr/>
          <p:nvPr/>
        </p:nvSpPr>
        <p:spPr>
          <a:xfrm>
            <a:off x="2533055" y="880109"/>
            <a:ext cx="10294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 TO YOU</a:t>
            </a:r>
            <a:endParaRPr lang="en-US" sz="750" dirty="0"/>
          </a:p>
        </p:txBody>
      </p:sp>
      <p:sp>
        <p:nvSpPr>
          <p:cNvPr id="42" name="Text 27"/>
          <p:cNvSpPr/>
          <p:nvPr/>
        </p:nvSpPr>
        <p:spPr>
          <a:xfrm>
            <a:off x="2533055" y="1146809"/>
            <a:ext cx="102941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43" name="Shape 28"/>
          <p:cNvSpPr/>
          <p:nvPr/>
        </p:nvSpPr>
        <p:spPr>
          <a:xfrm>
            <a:off x="3600569" y="880109"/>
            <a:ext cx="9525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4" name="Text 29"/>
          <p:cNvSpPr/>
          <p:nvPr/>
        </p:nvSpPr>
        <p:spPr>
          <a:xfrm>
            <a:off x="3760589" y="880109"/>
            <a:ext cx="1484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AT KERNEL · TODAY</a:t>
            </a:r>
            <a:endParaRPr lang="en-US" sz="750" dirty="0"/>
          </a:p>
        </p:txBody>
      </p:sp>
      <p:sp>
        <p:nvSpPr>
          <p:cNvPr id="45" name="Text 30"/>
          <p:cNvSpPr/>
          <p:nvPr/>
        </p:nvSpPr>
        <p:spPr>
          <a:xfrm>
            <a:off x="3760589" y="1146809"/>
            <a:ext cx="148470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B6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284</a:t>
            </a:r>
            <a:endParaRPr lang="en-US" sz="2100" dirty="0"/>
          </a:p>
        </p:txBody>
      </p:sp>
      <p:sp>
        <p:nvSpPr>
          <p:cNvPr id="46" name="Shape 31"/>
          <p:cNvSpPr/>
          <p:nvPr/>
        </p:nvSpPr>
        <p:spPr>
          <a:xfrm>
            <a:off x="5226248" y="1100138"/>
            <a:ext cx="353854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47" name="Shape 32"/>
          <p:cNvSpPr/>
          <p:nvPr/>
        </p:nvSpPr>
        <p:spPr>
          <a:xfrm>
            <a:off x="5300544" y="1171575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8" name="Text 33"/>
          <p:cNvSpPr/>
          <p:nvPr/>
        </p:nvSpPr>
        <p:spPr>
          <a:xfrm>
            <a:off x="5395794" y="1126807"/>
            <a:ext cx="18621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825" dirty="0"/>
          </a:p>
        </p:txBody>
      </p:sp>
      <p:sp>
        <p:nvSpPr>
          <p:cNvPr id="49" name="Shape 34"/>
          <p:cNvSpPr/>
          <p:nvPr/>
        </p:nvSpPr>
        <p:spPr>
          <a:xfrm>
            <a:off x="5637254" y="1100138"/>
            <a:ext cx="74283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0" name="Shape 35"/>
          <p:cNvSpPr/>
          <p:nvPr/>
        </p:nvSpPr>
        <p:spPr>
          <a:xfrm>
            <a:off x="5711547" y="117157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1" name="Text 36"/>
          <p:cNvSpPr/>
          <p:nvPr/>
        </p:nvSpPr>
        <p:spPr>
          <a:xfrm>
            <a:off x="5806797" y="1126807"/>
            <a:ext cx="57519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</a:t>
            </a:r>
            <a:endParaRPr lang="en-US" sz="825" dirty="0"/>
          </a:p>
        </p:txBody>
      </p:sp>
      <p:sp>
        <p:nvSpPr>
          <p:cNvPr id="52" name="Shape 37"/>
          <p:cNvSpPr/>
          <p:nvPr/>
        </p:nvSpPr>
        <p:spPr>
          <a:xfrm>
            <a:off x="6437233" y="1100138"/>
            <a:ext cx="87356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3" name="Shape 38"/>
          <p:cNvSpPr/>
          <p:nvPr/>
        </p:nvSpPr>
        <p:spPr>
          <a:xfrm>
            <a:off x="6511528" y="117157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4" name="Text 39"/>
          <p:cNvSpPr/>
          <p:nvPr/>
        </p:nvSpPr>
        <p:spPr>
          <a:xfrm>
            <a:off x="6606778" y="1126807"/>
            <a:ext cx="70592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auto-closed</a:t>
            </a:r>
            <a:endParaRPr lang="en-US" sz="825" dirty="0"/>
          </a:p>
        </p:txBody>
      </p:sp>
      <p:sp>
        <p:nvSpPr>
          <p:cNvPr id="55" name="Shape 40"/>
          <p:cNvSpPr/>
          <p:nvPr/>
        </p:nvSpPr>
        <p:spPr>
          <a:xfrm>
            <a:off x="7367946" y="1100138"/>
            <a:ext cx="75688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6" name="Shape 41"/>
          <p:cNvSpPr/>
          <p:nvPr/>
        </p:nvSpPr>
        <p:spPr>
          <a:xfrm>
            <a:off x="7442241" y="117157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7" name="Text 42"/>
          <p:cNvSpPr/>
          <p:nvPr/>
        </p:nvSpPr>
        <p:spPr>
          <a:xfrm>
            <a:off x="7537491" y="1126807"/>
            <a:ext cx="58924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</a:t>
            </a:r>
            <a:endParaRPr lang="en-US" sz="825" dirty="0"/>
          </a:p>
        </p:txBody>
      </p:sp>
      <p:sp>
        <p:nvSpPr>
          <p:cNvPr id="58" name="Shape 43"/>
          <p:cNvSpPr/>
          <p:nvPr/>
        </p:nvSpPr>
        <p:spPr>
          <a:xfrm>
            <a:off x="8181975" y="1074419"/>
            <a:ext cx="1034058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9" name="Text 44"/>
          <p:cNvSpPr/>
          <p:nvPr/>
        </p:nvSpPr>
        <p:spPr>
          <a:xfrm>
            <a:off x="8284845" y="1120140"/>
            <a:ext cx="90451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entity</a:t>
            </a:r>
            <a:endParaRPr lang="en-US" sz="900" dirty="0"/>
          </a:p>
        </p:txBody>
      </p:sp>
      <p:sp>
        <p:nvSpPr>
          <p:cNvPr id="60" name="Shape 45"/>
          <p:cNvSpPr/>
          <p:nvPr/>
        </p:nvSpPr>
        <p:spPr>
          <a:xfrm>
            <a:off x="9273183" y="1074419"/>
            <a:ext cx="758547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1" name="Text 46"/>
          <p:cNvSpPr/>
          <p:nvPr/>
        </p:nvSpPr>
        <p:spPr>
          <a:xfrm>
            <a:off x="9376053" y="1120140"/>
            <a:ext cx="62900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close</a:t>
            </a:r>
            <a:endParaRPr lang="en-US" sz="900" dirty="0"/>
          </a:p>
        </p:txBody>
      </p:sp>
      <p:sp>
        <p:nvSpPr>
          <p:cNvPr id="62" name="Shape 47"/>
          <p:cNvSpPr/>
          <p:nvPr/>
        </p:nvSpPr>
        <p:spPr>
          <a:xfrm>
            <a:off x="666750" y="1905000"/>
            <a:ext cx="9486900" cy="462915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3" name="Shape 48"/>
          <p:cNvSpPr/>
          <p:nvPr/>
        </p:nvSpPr>
        <p:spPr>
          <a:xfrm>
            <a:off x="731520" y="1969769"/>
            <a:ext cx="726162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4" name="Shape 49"/>
          <p:cNvSpPr/>
          <p:nvPr/>
        </p:nvSpPr>
        <p:spPr>
          <a:xfrm>
            <a:off x="731520" y="2207894"/>
            <a:ext cx="726162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5" name="Text 50"/>
          <p:cNvSpPr/>
          <p:nvPr/>
        </p:nvSpPr>
        <p:spPr>
          <a:xfrm>
            <a:off x="807720" y="2017394"/>
            <a:ext cx="6499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25" dirty="0"/>
          </a:p>
        </p:txBody>
      </p:sp>
      <p:sp>
        <p:nvSpPr>
          <p:cNvPr id="66" name="Shape 51"/>
          <p:cNvSpPr/>
          <p:nvPr/>
        </p:nvSpPr>
        <p:spPr>
          <a:xfrm>
            <a:off x="1457683" y="1969769"/>
            <a:ext cx="1217771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7" name="Shape 52"/>
          <p:cNvSpPr/>
          <p:nvPr/>
        </p:nvSpPr>
        <p:spPr>
          <a:xfrm>
            <a:off x="1457683" y="2207894"/>
            <a:ext cx="1217771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53"/>
          <p:cNvSpPr/>
          <p:nvPr/>
        </p:nvSpPr>
        <p:spPr>
          <a:xfrm>
            <a:off x="1533883" y="2017394"/>
            <a:ext cx="11415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25" dirty="0"/>
          </a:p>
        </p:txBody>
      </p:sp>
      <p:sp>
        <p:nvSpPr>
          <p:cNvPr id="69" name="Shape 54"/>
          <p:cNvSpPr/>
          <p:nvPr/>
        </p:nvSpPr>
        <p:spPr>
          <a:xfrm>
            <a:off x="2675453" y="1969769"/>
            <a:ext cx="2137767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0" name="Shape 55"/>
          <p:cNvSpPr/>
          <p:nvPr/>
        </p:nvSpPr>
        <p:spPr>
          <a:xfrm>
            <a:off x="2675453" y="2207894"/>
            <a:ext cx="2137767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1" name="Text 56"/>
          <p:cNvSpPr/>
          <p:nvPr/>
        </p:nvSpPr>
        <p:spPr>
          <a:xfrm>
            <a:off x="2751653" y="2017394"/>
            <a:ext cx="206156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825" dirty="0"/>
          </a:p>
        </p:txBody>
      </p:sp>
      <p:sp>
        <p:nvSpPr>
          <p:cNvPr id="72" name="Shape 57"/>
          <p:cNvSpPr/>
          <p:nvPr/>
        </p:nvSpPr>
        <p:spPr>
          <a:xfrm>
            <a:off x="4813220" y="1969769"/>
            <a:ext cx="1422797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3" name="Shape 58"/>
          <p:cNvSpPr/>
          <p:nvPr/>
        </p:nvSpPr>
        <p:spPr>
          <a:xfrm>
            <a:off x="4813220" y="2207894"/>
            <a:ext cx="1422797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59"/>
          <p:cNvSpPr/>
          <p:nvPr/>
        </p:nvSpPr>
        <p:spPr>
          <a:xfrm>
            <a:off x="4889420" y="2017394"/>
            <a:ext cx="134659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825" dirty="0"/>
          </a:p>
        </p:txBody>
      </p:sp>
      <p:sp>
        <p:nvSpPr>
          <p:cNvPr id="75" name="Shape 60"/>
          <p:cNvSpPr/>
          <p:nvPr/>
        </p:nvSpPr>
        <p:spPr>
          <a:xfrm>
            <a:off x="6236017" y="1969769"/>
            <a:ext cx="913448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6" name="Shape 61"/>
          <p:cNvSpPr/>
          <p:nvPr/>
        </p:nvSpPr>
        <p:spPr>
          <a:xfrm>
            <a:off x="6236017" y="2207894"/>
            <a:ext cx="913448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7" name="Text 62"/>
          <p:cNvSpPr/>
          <p:nvPr/>
        </p:nvSpPr>
        <p:spPr>
          <a:xfrm>
            <a:off x="6312217" y="2017394"/>
            <a:ext cx="8372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825" dirty="0"/>
          </a:p>
        </p:txBody>
      </p:sp>
      <p:sp>
        <p:nvSpPr>
          <p:cNvPr id="78" name="Shape 63"/>
          <p:cNvSpPr/>
          <p:nvPr/>
        </p:nvSpPr>
        <p:spPr>
          <a:xfrm>
            <a:off x="7149466" y="1969769"/>
            <a:ext cx="580906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9" name="Shape 64"/>
          <p:cNvSpPr/>
          <p:nvPr/>
        </p:nvSpPr>
        <p:spPr>
          <a:xfrm>
            <a:off x="7149466" y="2207894"/>
            <a:ext cx="58090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65"/>
          <p:cNvSpPr/>
          <p:nvPr/>
        </p:nvSpPr>
        <p:spPr>
          <a:xfrm>
            <a:off x="7225666" y="2017394"/>
            <a:ext cx="50470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CONF.</a:t>
            </a:r>
            <a:endParaRPr lang="en-US" sz="825" dirty="0"/>
          </a:p>
        </p:txBody>
      </p:sp>
      <p:sp>
        <p:nvSpPr>
          <p:cNvPr id="81" name="Shape 66"/>
          <p:cNvSpPr/>
          <p:nvPr/>
        </p:nvSpPr>
        <p:spPr>
          <a:xfrm>
            <a:off x="7730372" y="1969769"/>
            <a:ext cx="1136690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2" name="Shape 67"/>
          <p:cNvSpPr/>
          <p:nvPr/>
        </p:nvSpPr>
        <p:spPr>
          <a:xfrm>
            <a:off x="7730372" y="2207894"/>
            <a:ext cx="113669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3" name="Text 68"/>
          <p:cNvSpPr/>
          <p:nvPr/>
        </p:nvSpPr>
        <p:spPr>
          <a:xfrm>
            <a:off x="7806572" y="2017394"/>
            <a:ext cx="10604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25" dirty="0"/>
          </a:p>
        </p:txBody>
      </p:sp>
      <p:sp>
        <p:nvSpPr>
          <p:cNvPr id="84" name="Shape 69"/>
          <p:cNvSpPr/>
          <p:nvPr/>
        </p:nvSpPr>
        <p:spPr>
          <a:xfrm>
            <a:off x="8867061" y="1969769"/>
            <a:ext cx="1221819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5" name="Shape 70"/>
          <p:cNvSpPr/>
          <p:nvPr/>
        </p:nvSpPr>
        <p:spPr>
          <a:xfrm>
            <a:off x="8867061" y="2207894"/>
            <a:ext cx="122181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Shape 71"/>
          <p:cNvSpPr/>
          <p:nvPr/>
        </p:nvSpPr>
        <p:spPr>
          <a:xfrm>
            <a:off x="731520" y="2529840"/>
            <a:ext cx="72616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7" name="Text 72"/>
          <p:cNvSpPr/>
          <p:nvPr/>
        </p:nvSpPr>
        <p:spPr>
          <a:xfrm>
            <a:off x="807720" y="2272665"/>
            <a:ext cx="6499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18:42:11</a:t>
            </a:r>
            <a:endParaRPr lang="en-US" sz="825" dirty="0"/>
          </a:p>
        </p:txBody>
      </p:sp>
      <p:sp>
        <p:nvSpPr>
          <p:cNvPr id="88" name="Shape 73"/>
          <p:cNvSpPr/>
          <p:nvPr/>
        </p:nvSpPr>
        <p:spPr>
          <a:xfrm>
            <a:off x="1457683" y="2529840"/>
            <a:ext cx="121777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9" name="Text 74"/>
          <p:cNvSpPr/>
          <p:nvPr/>
        </p:nvSpPr>
        <p:spPr>
          <a:xfrm>
            <a:off x="1533883" y="2272665"/>
            <a:ext cx="11415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CrowdStrike</a:t>
            </a:r>
            <a:endParaRPr lang="en-US" sz="900" dirty="0"/>
          </a:p>
        </p:txBody>
      </p:sp>
      <p:sp>
        <p:nvSpPr>
          <p:cNvPr id="90" name="Shape 75"/>
          <p:cNvSpPr/>
          <p:nvPr/>
        </p:nvSpPr>
        <p:spPr>
          <a:xfrm>
            <a:off x="2675453" y="2529840"/>
            <a:ext cx="21377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1" name="Text 76"/>
          <p:cNvSpPr/>
          <p:nvPr/>
        </p:nvSpPr>
        <p:spPr>
          <a:xfrm>
            <a:off x="2751653" y="2272665"/>
            <a:ext cx="2061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rundll32 ↦ unusual parent</a:t>
            </a:r>
            <a:endParaRPr lang="en-US" sz="900" dirty="0"/>
          </a:p>
        </p:txBody>
      </p:sp>
      <p:sp>
        <p:nvSpPr>
          <p:cNvPr id="92" name="Shape 77"/>
          <p:cNvSpPr/>
          <p:nvPr/>
        </p:nvSpPr>
        <p:spPr>
          <a:xfrm>
            <a:off x="4813220" y="2529840"/>
            <a:ext cx="142279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3" name="Text 78"/>
          <p:cNvSpPr/>
          <p:nvPr/>
        </p:nvSpPr>
        <p:spPr>
          <a:xfrm>
            <a:off x="4889420" y="2272665"/>
            <a:ext cx="13465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WIN-DEV-04</a:t>
            </a:r>
            <a:endParaRPr lang="en-US" sz="825" dirty="0"/>
          </a:p>
        </p:txBody>
      </p:sp>
      <p:sp>
        <p:nvSpPr>
          <p:cNvPr id="94" name="Shape 79"/>
          <p:cNvSpPr/>
          <p:nvPr/>
        </p:nvSpPr>
        <p:spPr>
          <a:xfrm>
            <a:off x="6236017" y="2529840"/>
            <a:ext cx="9134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5" name="Shape 80"/>
          <p:cNvSpPr/>
          <p:nvPr/>
        </p:nvSpPr>
        <p:spPr>
          <a:xfrm>
            <a:off x="6312217" y="2276475"/>
            <a:ext cx="56959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6" name="Shape 81"/>
          <p:cNvSpPr/>
          <p:nvPr/>
        </p:nvSpPr>
        <p:spPr>
          <a:xfrm>
            <a:off x="6386513" y="2347913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97" name="Text 82"/>
          <p:cNvSpPr/>
          <p:nvPr/>
        </p:nvSpPr>
        <p:spPr>
          <a:xfrm>
            <a:off x="6481763" y="2310765"/>
            <a:ext cx="40195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+</a:t>
            </a:r>
            <a:endParaRPr lang="en-US" sz="825" dirty="0"/>
          </a:p>
        </p:txBody>
      </p:sp>
      <p:sp>
        <p:nvSpPr>
          <p:cNvPr id="98" name="Shape 83"/>
          <p:cNvSpPr/>
          <p:nvPr/>
        </p:nvSpPr>
        <p:spPr>
          <a:xfrm>
            <a:off x="7149466" y="2529840"/>
            <a:ext cx="58090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9" name="Text 84"/>
          <p:cNvSpPr/>
          <p:nvPr/>
        </p:nvSpPr>
        <p:spPr>
          <a:xfrm>
            <a:off x="7263766" y="2306478"/>
            <a:ext cx="18740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788" dirty="0"/>
          </a:p>
        </p:txBody>
      </p:sp>
      <p:sp>
        <p:nvSpPr>
          <p:cNvPr id="100" name="Shape 85"/>
          <p:cNvSpPr/>
          <p:nvPr/>
        </p:nvSpPr>
        <p:spPr>
          <a:xfrm>
            <a:off x="7730372" y="2529840"/>
            <a:ext cx="11366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1" name="Shape 86"/>
          <p:cNvSpPr/>
          <p:nvPr/>
        </p:nvSpPr>
        <p:spPr>
          <a:xfrm>
            <a:off x="7806572" y="2276475"/>
            <a:ext cx="87356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2" name="Shape 87"/>
          <p:cNvSpPr/>
          <p:nvPr/>
        </p:nvSpPr>
        <p:spPr>
          <a:xfrm>
            <a:off x="7880865" y="2347913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3" name="Text 88"/>
          <p:cNvSpPr/>
          <p:nvPr/>
        </p:nvSpPr>
        <p:spPr>
          <a:xfrm>
            <a:off x="7976115" y="2303144"/>
            <a:ext cx="70592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auto-closed</a:t>
            </a:r>
            <a:endParaRPr lang="en-US" sz="825" dirty="0"/>
          </a:p>
        </p:txBody>
      </p:sp>
      <p:sp>
        <p:nvSpPr>
          <p:cNvPr id="104" name="Shape 89"/>
          <p:cNvSpPr/>
          <p:nvPr/>
        </p:nvSpPr>
        <p:spPr>
          <a:xfrm>
            <a:off x="8867061" y="2529840"/>
            <a:ext cx="12218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5" name="Shape 90"/>
          <p:cNvSpPr/>
          <p:nvPr/>
        </p:nvSpPr>
        <p:spPr>
          <a:xfrm>
            <a:off x="731520" y="2537459"/>
            <a:ext cx="726162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6" name="Shape 91"/>
          <p:cNvSpPr/>
          <p:nvPr/>
        </p:nvSpPr>
        <p:spPr>
          <a:xfrm>
            <a:off x="731520" y="2851784"/>
            <a:ext cx="72616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7" name="Text 92"/>
          <p:cNvSpPr/>
          <p:nvPr/>
        </p:nvSpPr>
        <p:spPr>
          <a:xfrm>
            <a:off x="807720" y="2594609"/>
            <a:ext cx="6499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18:41:55</a:t>
            </a:r>
            <a:endParaRPr lang="en-US" sz="825" dirty="0"/>
          </a:p>
        </p:txBody>
      </p:sp>
      <p:sp>
        <p:nvSpPr>
          <p:cNvPr id="108" name="Shape 93"/>
          <p:cNvSpPr/>
          <p:nvPr/>
        </p:nvSpPr>
        <p:spPr>
          <a:xfrm>
            <a:off x="1457683" y="2537459"/>
            <a:ext cx="1217771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9" name="Shape 94"/>
          <p:cNvSpPr/>
          <p:nvPr/>
        </p:nvSpPr>
        <p:spPr>
          <a:xfrm>
            <a:off x="1457683" y="2851784"/>
            <a:ext cx="121777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0" name="Text 95"/>
          <p:cNvSpPr/>
          <p:nvPr/>
        </p:nvSpPr>
        <p:spPr>
          <a:xfrm>
            <a:off x="1533883" y="2594609"/>
            <a:ext cx="11415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900" dirty="0"/>
          </a:p>
        </p:txBody>
      </p:sp>
      <p:sp>
        <p:nvSpPr>
          <p:cNvPr id="111" name="Shape 96"/>
          <p:cNvSpPr/>
          <p:nvPr/>
        </p:nvSpPr>
        <p:spPr>
          <a:xfrm>
            <a:off x="2675453" y="2537459"/>
            <a:ext cx="2137767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2" name="Shape 97"/>
          <p:cNvSpPr/>
          <p:nvPr/>
        </p:nvSpPr>
        <p:spPr>
          <a:xfrm>
            <a:off x="2675453" y="2851784"/>
            <a:ext cx="21377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3" name="Text 98"/>
          <p:cNvSpPr/>
          <p:nvPr/>
        </p:nvSpPr>
        <p:spPr>
          <a:xfrm>
            <a:off x="2751653" y="2594609"/>
            <a:ext cx="2061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push spam · 14 prompts</a:t>
            </a:r>
            <a:endParaRPr lang="en-US" sz="900" dirty="0"/>
          </a:p>
        </p:txBody>
      </p:sp>
      <p:sp>
        <p:nvSpPr>
          <p:cNvPr id="114" name="Shape 99"/>
          <p:cNvSpPr/>
          <p:nvPr/>
        </p:nvSpPr>
        <p:spPr>
          <a:xfrm>
            <a:off x="4813220" y="2537459"/>
            <a:ext cx="1422797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5" name="Shape 100"/>
          <p:cNvSpPr/>
          <p:nvPr/>
        </p:nvSpPr>
        <p:spPr>
          <a:xfrm>
            <a:off x="4813220" y="2851784"/>
            <a:ext cx="142279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6" name="Text 101"/>
          <p:cNvSpPr/>
          <p:nvPr/>
        </p:nvSpPr>
        <p:spPr>
          <a:xfrm>
            <a:off x="4889420" y="2594609"/>
            <a:ext cx="13465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carlos.t@acme.com</a:t>
            </a:r>
            <a:endParaRPr lang="en-US" sz="825" dirty="0"/>
          </a:p>
        </p:txBody>
      </p:sp>
      <p:sp>
        <p:nvSpPr>
          <p:cNvPr id="117" name="Shape 102"/>
          <p:cNvSpPr/>
          <p:nvPr/>
        </p:nvSpPr>
        <p:spPr>
          <a:xfrm>
            <a:off x="6236017" y="2537459"/>
            <a:ext cx="913448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8" name="Shape 103"/>
          <p:cNvSpPr/>
          <p:nvPr/>
        </p:nvSpPr>
        <p:spPr>
          <a:xfrm>
            <a:off x="6236017" y="2851784"/>
            <a:ext cx="9134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9" name="Shape 104"/>
          <p:cNvSpPr/>
          <p:nvPr/>
        </p:nvSpPr>
        <p:spPr>
          <a:xfrm>
            <a:off x="6312217" y="2598419"/>
            <a:ext cx="530662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20" name="Shape 105"/>
          <p:cNvSpPr/>
          <p:nvPr/>
        </p:nvSpPr>
        <p:spPr>
          <a:xfrm>
            <a:off x="6386513" y="2669857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21" name="Text 106"/>
          <p:cNvSpPr/>
          <p:nvPr/>
        </p:nvSpPr>
        <p:spPr>
          <a:xfrm>
            <a:off x="6481763" y="2632709"/>
            <a:ext cx="363022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+</a:t>
            </a:r>
            <a:endParaRPr lang="en-US" sz="825" dirty="0"/>
          </a:p>
        </p:txBody>
      </p:sp>
      <p:sp>
        <p:nvSpPr>
          <p:cNvPr id="122" name="Shape 107"/>
          <p:cNvSpPr/>
          <p:nvPr/>
        </p:nvSpPr>
        <p:spPr>
          <a:xfrm>
            <a:off x="7149466" y="2537459"/>
            <a:ext cx="580906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3" name="Shape 108"/>
          <p:cNvSpPr/>
          <p:nvPr/>
        </p:nvSpPr>
        <p:spPr>
          <a:xfrm>
            <a:off x="7149466" y="2851784"/>
            <a:ext cx="58090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4" name="Text 109"/>
          <p:cNvSpPr/>
          <p:nvPr/>
        </p:nvSpPr>
        <p:spPr>
          <a:xfrm>
            <a:off x="7263766" y="2628423"/>
            <a:ext cx="18740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788" dirty="0"/>
          </a:p>
        </p:txBody>
      </p:sp>
      <p:sp>
        <p:nvSpPr>
          <p:cNvPr id="125" name="Shape 110"/>
          <p:cNvSpPr/>
          <p:nvPr/>
        </p:nvSpPr>
        <p:spPr>
          <a:xfrm>
            <a:off x="7730372" y="2537459"/>
            <a:ext cx="1136690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6" name="Shape 111"/>
          <p:cNvSpPr/>
          <p:nvPr/>
        </p:nvSpPr>
        <p:spPr>
          <a:xfrm>
            <a:off x="7730372" y="2851784"/>
            <a:ext cx="11366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7" name="Shape 112"/>
          <p:cNvSpPr/>
          <p:nvPr/>
        </p:nvSpPr>
        <p:spPr>
          <a:xfrm>
            <a:off x="7806572" y="2598419"/>
            <a:ext cx="742831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28" name="Shape 113"/>
          <p:cNvSpPr/>
          <p:nvPr/>
        </p:nvSpPr>
        <p:spPr>
          <a:xfrm>
            <a:off x="7880865" y="2669857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29" name="Text 114"/>
          <p:cNvSpPr/>
          <p:nvPr/>
        </p:nvSpPr>
        <p:spPr>
          <a:xfrm>
            <a:off x="7976115" y="2625090"/>
            <a:ext cx="57519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</a:t>
            </a:r>
            <a:endParaRPr lang="en-US" sz="825" dirty="0"/>
          </a:p>
        </p:txBody>
      </p:sp>
      <p:sp>
        <p:nvSpPr>
          <p:cNvPr id="130" name="Shape 115"/>
          <p:cNvSpPr/>
          <p:nvPr/>
        </p:nvSpPr>
        <p:spPr>
          <a:xfrm>
            <a:off x="8867061" y="2537459"/>
            <a:ext cx="1221819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31" name="Shape 116"/>
          <p:cNvSpPr/>
          <p:nvPr/>
        </p:nvSpPr>
        <p:spPr>
          <a:xfrm>
            <a:off x="8867061" y="2851784"/>
            <a:ext cx="12218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2" name="Shape 117"/>
          <p:cNvSpPr/>
          <p:nvPr/>
        </p:nvSpPr>
        <p:spPr>
          <a:xfrm>
            <a:off x="731520" y="2859405"/>
            <a:ext cx="726162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33" name="Shape 118"/>
          <p:cNvSpPr/>
          <p:nvPr/>
        </p:nvSpPr>
        <p:spPr>
          <a:xfrm>
            <a:off x="731520" y="3173730"/>
            <a:ext cx="72616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4" name="Text 119"/>
          <p:cNvSpPr/>
          <p:nvPr/>
        </p:nvSpPr>
        <p:spPr>
          <a:xfrm>
            <a:off x="807720" y="2916555"/>
            <a:ext cx="6499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18:41:33</a:t>
            </a:r>
            <a:endParaRPr lang="en-US" sz="825" dirty="0"/>
          </a:p>
        </p:txBody>
      </p:sp>
      <p:sp>
        <p:nvSpPr>
          <p:cNvPr id="135" name="Shape 120"/>
          <p:cNvSpPr/>
          <p:nvPr/>
        </p:nvSpPr>
        <p:spPr>
          <a:xfrm>
            <a:off x="1457683" y="2859405"/>
            <a:ext cx="1217771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36" name="Shape 121"/>
          <p:cNvSpPr/>
          <p:nvPr/>
        </p:nvSpPr>
        <p:spPr>
          <a:xfrm>
            <a:off x="1457683" y="3173730"/>
            <a:ext cx="121777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7" name="Text 122"/>
          <p:cNvSpPr/>
          <p:nvPr/>
        </p:nvSpPr>
        <p:spPr>
          <a:xfrm>
            <a:off x="1533883" y="2916555"/>
            <a:ext cx="11415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KubeArmor</a:t>
            </a:r>
            <a:endParaRPr lang="en-US" sz="900" dirty="0"/>
          </a:p>
        </p:txBody>
      </p:sp>
      <p:sp>
        <p:nvSpPr>
          <p:cNvPr id="138" name="Shape 123"/>
          <p:cNvSpPr/>
          <p:nvPr/>
        </p:nvSpPr>
        <p:spPr>
          <a:xfrm>
            <a:off x="2675453" y="2859405"/>
            <a:ext cx="2137767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39" name="Shape 124"/>
          <p:cNvSpPr/>
          <p:nvPr/>
        </p:nvSpPr>
        <p:spPr>
          <a:xfrm>
            <a:off x="2675453" y="3173730"/>
            <a:ext cx="21377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0" name="Text 125"/>
          <p:cNvSpPr/>
          <p:nvPr/>
        </p:nvSpPr>
        <p:spPr>
          <a:xfrm>
            <a:off x="2751653" y="2916555"/>
            <a:ext cx="2061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syscall · ptrace from sidecar</a:t>
            </a:r>
            <a:endParaRPr lang="en-US" sz="900" dirty="0"/>
          </a:p>
        </p:txBody>
      </p:sp>
      <p:sp>
        <p:nvSpPr>
          <p:cNvPr id="141" name="Shape 126"/>
          <p:cNvSpPr/>
          <p:nvPr/>
        </p:nvSpPr>
        <p:spPr>
          <a:xfrm>
            <a:off x="4813220" y="2859405"/>
            <a:ext cx="1422797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42" name="Shape 127"/>
          <p:cNvSpPr/>
          <p:nvPr/>
        </p:nvSpPr>
        <p:spPr>
          <a:xfrm>
            <a:off x="4813220" y="3173730"/>
            <a:ext cx="142279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3" name="Text 128"/>
          <p:cNvSpPr/>
          <p:nvPr/>
        </p:nvSpPr>
        <p:spPr>
          <a:xfrm>
            <a:off x="4889420" y="2916555"/>
            <a:ext cx="13465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payments-9c4f1</a:t>
            </a:r>
            <a:endParaRPr lang="en-US" sz="825" dirty="0"/>
          </a:p>
        </p:txBody>
      </p:sp>
      <p:sp>
        <p:nvSpPr>
          <p:cNvPr id="144" name="Shape 129"/>
          <p:cNvSpPr/>
          <p:nvPr/>
        </p:nvSpPr>
        <p:spPr>
          <a:xfrm>
            <a:off x="6236017" y="2859405"/>
            <a:ext cx="913448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45" name="Shape 130"/>
          <p:cNvSpPr/>
          <p:nvPr/>
        </p:nvSpPr>
        <p:spPr>
          <a:xfrm>
            <a:off x="6236017" y="3173730"/>
            <a:ext cx="9134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6" name="Shape 131"/>
          <p:cNvSpPr/>
          <p:nvPr/>
        </p:nvSpPr>
        <p:spPr>
          <a:xfrm>
            <a:off x="6312217" y="2920365"/>
            <a:ext cx="530662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47" name="Shape 132"/>
          <p:cNvSpPr/>
          <p:nvPr/>
        </p:nvSpPr>
        <p:spPr>
          <a:xfrm>
            <a:off x="6386513" y="2991802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48" name="Text 133"/>
          <p:cNvSpPr/>
          <p:nvPr/>
        </p:nvSpPr>
        <p:spPr>
          <a:xfrm>
            <a:off x="6481763" y="2954655"/>
            <a:ext cx="36302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+</a:t>
            </a:r>
            <a:endParaRPr lang="en-US" sz="825" dirty="0"/>
          </a:p>
        </p:txBody>
      </p:sp>
      <p:sp>
        <p:nvSpPr>
          <p:cNvPr id="149" name="Shape 134"/>
          <p:cNvSpPr/>
          <p:nvPr/>
        </p:nvSpPr>
        <p:spPr>
          <a:xfrm>
            <a:off x="7149466" y="2859405"/>
            <a:ext cx="580906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50" name="Shape 135"/>
          <p:cNvSpPr/>
          <p:nvPr/>
        </p:nvSpPr>
        <p:spPr>
          <a:xfrm>
            <a:off x="7149466" y="3173730"/>
            <a:ext cx="58090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1" name="Text 136"/>
          <p:cNvSpPr/>
          <p:nvPr/>
        </p:nvSpPr>
        <p:spPr>
          <a:xfrm>
            <a:off x="7263766" y="2950369"/>
            <a:ext cx="18740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788" dirty="0"/>
          </a:p>
        </p:txBody>
      </p:sp>
      <p:sp>
        <p:nvSpPr>
          <p:cNvPr id="152" name="Shape 137"/>
          <p:cNvSpPr/>
          <p:nvPr/>
        </p:nvSpPr>
        <p:spPr>
          <a:xfrm>
            <a:off x="7730372" y="2859405"/>
            <a:ext cx="1136690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53" name="Shape 138"/>
          <p:cNvSpPr/>
          <p:nvPr/>
        </p:nvSpPr>
        <p:spPr>
          <a:xfrm>
            <a:off x="7730372" y="3173730"/>
            <a:ext cx="11366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4" name="Shape 139"/>
          <p:cNvSpPr/>
          <p:nvPr/>
        </p:nvSpPr>
        <p:spPr>
          <a:xfrm>
            <a:off x="7806572" y="2920365"/>
            <a:ext cx="742831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55" name="Shape 140"/>
          <p:cNvSpPr/>
          <p:nvPr/>
        </p:nvSpPr>
        <p:spPr>
          <a:xfrm>
            <a:off x="7880865" y="2991802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56" name="Text 141"/>
          <p:cNvSpPr/>
          <p:nvPr/>
        </p:nvSpPr>
        <p:spPr>
          <a:xfrm>
            <a:off x="7976115" y="2947034"/>
            <a:ext cx="57519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</a:t>
            </a:r>
            <a:endParaRPr lang="en-US" sz="825" dirty="0"/>
          </a:p>
        </p:txBody>
      </p:sp>
      <p:sp>
        <p:nvSpPr>
          <p:cNvPr id="157" name="Shape 142"/>
          <p:cNvSpPr/>
          <p:nvPr/>
        </p:nvSpPr>
        <p:spPr>
          <a:xfrm>
            <a:off x="8867061" y="2859405"/>
            <a:ext cx="1221819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58" name="Shape 143"/>
          <p:cNvSpPr/>
          <p:nvPr/>
        </p:nvSpPr>
        <p:spPr>
          <a:xfrm>
            <a:off x="8867061" y="3173730"/>
            <a:ext cx="12218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9" name="Shape 144"/>
          <p:cNvSpPr/>
          <p:nvPr/>
        </p:nvSpPr>
        <p:spPr>
          <a:xfrm>
            <a:off x="731520" y="3181350"/>
            <a:ext cx="726162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60" name="Shape 145"/>
          <p:cNvSpPr/>
          <p:nvPr/>
        </p:nvSpPr>
        <p:spPr>
          <a:xfrm>
            <a:off x="731520" y="3495675"/>
            <a:ext cx="72616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1" name="Text 146"/>
          <p:cNvSpPr/>
          <p:nvPr/>
        </p:nvSpPr>
        <p:spPr>
          <a:xfrm>
            <a:off x="807720" y="3238500"/>
            <a:ext cx="6499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18:40:51</a:t>
            </a:r>
            <a:endParaRPr lang="en-US" sz="825" dirty="0"/>
          </a:p>
        </p:txBody>
      </p:sp>
      <p:sp>
        <p:nvSpPr>
          <p:cNvPr id="162" name="Shape 147"/>
          <p:cNvSpPr/>
          <p:nvPr/>
        </p:nvSpPr>
        <p:spPr>
          <a:xfrm>
            <a:off x="1457683" y="3181350"/>
            <a:ext cx="1217771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63" name="Shape 148"/>
          <p:cNvSpPr/>
          <p:nvPr/>
        </p:nvSpPr>
        <p:spPr>
          <a:xfrm>
            <a:off x="1457683" y="3495675"/>
            <a:ext cx="121777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4" name="Text 149"/>
          <p:cNvSpPr/>
          <p:nvPr/>
        </p:nvSpPr>
        <p:spPr>
          <a:xfrm>
            <a:off x="1533883" y="3238500"/>
            <a:ext cx="11415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CloudTrail</a:t>
            </a:r>
            <a:endParaRPr lang="en-US" sz="900" dirty="0"/>
          </a:p>
        </p:txBody>
      </p:sp>
      <p:sp>
        <p:nvSpPr>
          <p:cNvPr id="165" name="Shape 150"/>
          <p:cNvSpPr/>
          <p:nvPr/>
        </p:nvSpPr>
        <p:spPr>
          <a:xfrm>
            <a:off x="2675453" y="3181350"/>
            <a:ext cx="2137767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66" name="Shape 151"/>
          <p:cNvSpPr/>
          <p:nvPr/>
        </p:nvSpPr>
        <p:spPr>
          <a:xfrm>
            <a:off x="2675453" y="3495675"/>
            <a:ext cx="21377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7" name="Text 152"/>
          <p:cNvSpPr/>
          <p:nvPr/>
        </p:nvSpPr>
        <p:spPr>
          <a:xfrm>
            <a:off x="2751653" y="3238500"/>
            <a:ext cx="2061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AssumeRole from non-prod EC2</a:t>
            </a:r>
            <a:endParaRPr lang="en-US" sz="900" dirty="0"/>
          </a:p>
        </p:txBody>
      </p:sp>
      <p:sp>
        <p:nvSpPr>
          <p:cNvPr id="168" name="Shape 153"/>
          <p:cNvSpPr/>
          <p:nvPr/>
        </p:nvSpPr>
        <p:spPr>
          <a:xfrm>
            <a:off x="4813220" y="3181350"/>
            <a:ext cx="1422797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69" name="Shape 154"/>
          <p:cNvSpPr/>
          <p:nvPr/>
        </p:nvSpPr>
        <p:spPr>
          <a:xfrm>
            <a:off x="4813220" y="3495675"/>
            <a:ext cx="142279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0" name="Text 155"/>
          <p:cNvSpPr/>
          <p:nvPr/>
        </p:nvSpPr>
        <p:spPr>
          <a:xfrm>
            <a:off x="4889420" y="3238500"/>
            <a:ext cx="13465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AdminRole</a:t>
            </a:r>
            <a:endParaRPr lang="en-US" sz="825" dirty="0"/>
          </a:p>
        </p:txBody>
      </p:sp>
      <p:sp>
        <p:nvSpPr>
          <p:cNvPr id="171" name="Shape 156"/>
          <p:cNvSpPr/>
          <p:nvPr/>
        </p:nvSpPr>
        <p:spPr>
          <a:xfrm>
            <a:off x="6236017" y="3181350"/>
            <a:ext cx="913448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72" name="Shape 157"/>
          <p:cNvSpPr/>
          <p:nvPr/>
        </p:nvSpPr>
        <p:spPr>
          <a:xfrm>
            <a:off x="6236017" y="3495675"/>
            <a:ext cx="9134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3" name="Shape 158"/>
          <p:cNvSpPr/>
          <p:nvPr/>
        </p:nvSpPr>
        <p:spPr>
          <a:xfrm>
            <a:off x="6312217" y="3242309"/>
            <a:ext cx="530662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74" name="Shape 159"/>
          <p:cNvSpPr/>
          <p:nvPr/>
        </p:nvSpPr>
        <p:spPr>
          <a:xfrm>
            <a:off x="6386513" y="3313747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75" name="Text 160"/>
          <p:cNvSpPr/>
          <p:nvPr/>
        </p:nvSpPr>
        <p:spPr>
          <a:xfrm>
            <a:off x="6481763" y="3276600"/>
            <a:ext cx="36302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+</a:t>
            </a:r>
            <a:endParaRPr lang="en-US" sz="825" dirty="0"/>
          </a:p>
        </p:txBody>
      </p:sp>
      <p:sp>
        <p:nvSpPr>
          <p:cNvPr id="176" name="Shape 161"/>
          <p:cNvSpPr/>
          <p:nvPr/>
        </p:nvSpPr>
        <p:spPr>
          <a:xfrm>
            <a:off x="7149466" y="3181350"/>
            <a:ext cx="580906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77" name="Shape 162"/>
          <p:cNvSpPr/>
          <p:nvPr/>
        </p:nvSpPr>
        <p:spPr>
          <a:xfrm>
            <a:off x="7149466" y="3495675"/>
            <a:ext cx="58090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8" name="Text 163"/>
          <p:cNvSpPr/>
          <p:nvPr/>
        </p:nvSpPr>
        <p:spPr>
          <a:xfrm>
            <a:off x="7263766" y="3272313"/>
            <a:ext cx="18740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788" dirty="0"/>
          </a:p>
        </p:txBody>
      </p:sp>
      <p:sp>
        <p:nvSpPr>
          <p:cNvPr id="179" name="Shape 164"/>
          <p:cNvSpPr/>
          <p:nvPr/>
        </p:nvSpPr>
        <p:spPr>
          <a:xfrm>
            <a:off x="7730372" y="3181350"/>
            <a:ext cx="1136690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80" name="Shape 165"/>
          <p:cNvSpPr/>
          <p:nvPr/>
        </p:nvSpPr>
        <p:spPr>
          <a:xfrm>
            <a:off x="7730372" y="3495675"/>
            <a:ext cx="11366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1" name="Shape 166"/>
          <p:cNvSpPr/>
          <p:nvPr/>
        </p:nvSpPr>
        <p:spPr>
          <a:xfrm>
            <a:off x="7806572" y="3242309"/>
            <a:ext cx="742831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82" name="Shape 167"/>
          <p:cNvSpPr/>
          <p:nvPr/>
        </p:nvSpPr>
        <p:spPr>
          <a:xfrm>
            <a:off x="7880865" y="3313747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83" name="Text 168"/>
          <p:cNvSpPr/>
          <p:nvPr/>
        </p:nvSpPr>
        <p:spPr>
          <a:xfrm>
            <a:off x="7976115" y="3268980"/>
            <a:ext cx="57519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</a:t>
            </a:r>
            <a:endParaRPr lang="en-US" sz="825" dirty="0"/>
          </a:p>
        </p:txBody>
      </p:sp>
      <p:sp>
        <p:nvSpPr>
          <p:cNvPr id="184" name="Shape 169"/>
          <p:cNvSpPr/>
          <p:nvPr/>
        </p:nvSpPr>
        <p:spPr>
          <a:xfrm>
            <a:off x="8867061" y="3181350"/>
            <a:ext cx="1221819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85" name="Shape 170"/>
          <p:cNvSpPr/>
          <p:nvPr/>
        </p:nvSpPr>
        <p:spPr>
          <a:xfrm>
            <a:off x="8867061" y="3495675"/>
            <a:ext cx="12218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6" name="Shape 171"/>
          <p:cNvSpPr/>
          <p:nvPr/>
        </p:nvSpPr>
        <p:spPr>
          <a:xfrm>
            <a:off x="731520" y="3817619"/>
            <a:ext cx="72616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7" name="Text 172"/>
          <p:cNvSpPr/>
          <p:nvPr/>
        </p:nvSpPr>
        <p:spPr>
          <a:xfrm>
            <a:off x="807720" y="3560444"/>
            <a:ext cx="6499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18:40:22</a:t>
            </a:r>
            <a:endParaRPr lang="en-US" sz="825" dirty="0"/>
          </a:p>
        </p:txBody>
      </p:sp>
      <p:sp>
        <p:nvSpPr>
          <p:cNvPr id="188" name="Shape 173"/>
          <p:cNvSpPr/>
          <p:nvPr/>
        </p:nvSpPr>
        <p:spPr>
          <a:xfrm>
            <a:off x="1457683" y="3817619"/>
            <a:ext cx="121777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9" name="Text 174"/>
          <p:cNvSpPr/>
          <p:nvPr/>
        </p:nvSpPr>
        <p:spPr>
          <a:xfrm>
            <a:off x="1533883" y="3560444"/>
            <a:ext cx="11415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DLP</a:t>
            </a:r>
            <a:endParaRPr lang="en-US" sz="900" dirty="0"/>
          </a:p>
        </p:txBody>
      </p:sp>
      <p:sp>
        <p:nvSpPr>
          <p:cNvPr id="190" name="Shape 175"/>
          <p:cNvSpPr/>
          <p:nvPr/>
        </p:nvSpPr>
        <p:spPr>
          <a:xfrm>
            <a:off x="2675453" y="3817619"/>
            <a:ext cx="21377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1" name="Text 176"/>
          <p:cNvSpPr/>
          <p:nvPr/>
        </p:nvSpPr>
        <p:spPr>
          <a:xfrm>
            <a:off x="2751653" y="3560444"/>
            <a:ext cx="2061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#finance · key shared</a:t>
            </a:r>
            <a:endParaRPr lang="en-US" sz="900" dirty="0"/>
          </a:p>
        </p:txBody>
      </p:sp>
      <p:sp>
        <p:nvSpPr>
          <p:cNvPr id="192" name="Shape 177"/>
          <p:cNvSpPr/>
          <p:nvPr/>
        </p:nvSpPr>
        <p:spPr>
          <a:xfrm>
            <a:off x="4813220" y="3817619"/>
            <a:ext cx="142279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3" name="Text 178"/>
          <p:cNvSpPr/>
          <p:nvPr/>
        </p:nvSpPr>
        <p:spPr>
          <a:xfrm>
            <a:off x="4889420" y="3560444"/>
            <a:ext cx="13465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lin.h</a:t>
            </a:r>
            <a:endParaRPr lang="en-US" sz="825" dirty="0"/>
          </a:p>
        </p:txBody>
      </p:sp>
      <p:sp>
        <p:nvSpPr>
          <p:cNvPr id="194" name="Shape 179"/>
          <p:cNvSpPr/>
          <p:nvPr/>
        </p:nvSpPr>
        <p:spPr>
          <a:xfrm>
            <a:off x="6236017" y="3817619"/>
            <a:ext cx="9134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5" name="Shape 180"/>
          <p:cNvSpPr/>
          <p:nvPr/>
        </p:nvSpPr>
        <p:spPr>
          <a:xfrm>
            <a:off x="6312217" y="3564255"/>
            <a:ext cx="56959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6" name="Shape 181"/>
          <p:cNvSpPr/>
          <p:nvPr/>
        </p:nvSpPr>
        <p:spPr>
          <a:xfrm>
            <a:off x="6386513" y="3635692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7" name="Text 182"/>
          <p:cNvSpPr/>
          <p:nvPr/>
        </p:nvSpPr>
        <p:spPr>
          <a:xfrm>
            <a:off x="6481763" y="3598544"/>
            <a:ext cx="40195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+</a:t>
            </a:r>
            <a:endParaRPr lang="en-US" sz="825" dirty="0"/>
          </a:p>
        </p:txBody>
      </p:sp>
      <p:sp>
        <p:nvSpPr>
          <p:cNvPr id="198" name="Shape 183"/>
          <p:cNvSpPr/>
          <p:nvPr/>
        </p:nvSpPr>
        <p:spPr>
          <a:xfrm>
            <a:off x="7149466" y="3817619"/>
            <a:ext cx="58090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9" name="Text 184"/>
          <p:cNvSpPr/>
          <p:nvPr/>
        </p:nvSpPr>
        <p:spPr>
          <a:xfrm>
            <a:off x="7263766" y="3594259"/>
            <a:ext cx="18740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788" dirty="0"/>
          </a:p>
        </p:txBody>
      </p:sp>
      <p:sp>
        <p:nvSpPr>
          <p:cNvPr id="200" name="Shape 185"/>
          <p:cNvSpPr/>
          <p:nvPr/>
        </p:nvSpPr>
        <p:spPr>
          <a:xfrm>
            <a:off x="7730372" y="3817619"/>
            <a:ext cx="11366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1" name="Shape 186"/>
          <p:cNvSpPr/>
          <p:nvPr/>
        </p:nvSpPr>
        <p:spPr>
          <a:xfrm>
            <a:off x="7806572" y="3564255"/>
            <a:ext cx="87356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2" name="Shape 187"/>
          <p:cNvSpPr/>
          <p:nvPr/>
        </p:nvSpPr>
        <p:spPr>
          <a:xfrm>
            <a:off x="7880865" y="3635692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03" name="Text 188"/>
          <p:cNvSpPr/>
          <p:nvPr/>
        </p:nvSpPr>
        <p:spPr>
          <a:xfrm>
            <a:off x="7976115" y="3590925"/>
            <a:ext cx="70592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auto-closed</a:t>
            </a:r>
            <a:endParaRPr lang="en-US" sz="825" dirty="0"/>
          </a:p>
        </p:txBody>
      </p:sp>
      <p:sp>
        <p:nvSpPr>
          <p:cNvPr id="204" name="Shape 189"/>
          <p:cNvSpPr/>
          <p:nvPr/>
        </p:nvSpPr>
        <p:spPr>
          <a:xfrm>
            <a:off x="8867061" y="3817619"/>
            <a:ext cx="12218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5" name="Shape 190"/>
          <p:cNvSpPr/>
          <p:nvPr/>
        </p:nvSpPr>
        <p:spPr>
          <a:xfrm>
            <a:off x="731520" y="3825240"/>
            <a:ext cx="726162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06" name="Shape 191"/>
          <p:cNvSpPr/>
          <p:nvPr/>
        </p:nvSpPr>
        <p:spPr>
          <a:xfrm>
            <a:off x="731520" y="4139565"/>
            <a:ext cx="72616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7" name="Text 192"/>
          <p:cNvSpPr/>
          <p:nvPr/>
        </p:nvSpPr>
        <p:spPr>
          <a:xfrm>
            <a:off x="807720" y="3882390"/>
            <a:ext cx="6499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18:40:01</a:t>
            </a:r>
            <a:endParaRPr lang="en-US" sz="825" dirty="0"/>
          </a:p>
        </p:txBody>
      </p:sp>
      <p:sp>
        <p:nvSpPr>
          <p:cNvPr id="208" name="Shape 193"/>
          <p:cNvSpPr/>
          <p:nvPr/>
        </p:nvSpPr>
        <p:spPr>
          <a:xfrm>
            <a:off x="1457683" y="3825240"/>
            <a:ext cx="1217771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09" name="Shape 194"/>
          <p:cNvSpPr/>
          <p:nvPr/>
        </p:nvSpPr>
        <p:spPr>
          <a:xfrm>
            <a:off x="1457683" y="4139565"/>
            <a:ext cx="121777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0" name="Text 195"/>
          <p:cNvSpPr/>
          <p:nvPr/>
        </p:nvSpPr>
        <p:spPr>
          <a:xfrm>
            <a:off x="1533883" y="3882390"/>
            <a:ext cx="11415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for O365</a:t>
            </a:r>
            <a:endParaRPr lang="en-US" sz="900" dirty="0"/>
          </a:p>
        </p:txBody>
      </p:sp>
      <p:sp>
        <p:nvSpPr>
          <p:cNvPr id="211" name="Shape 196"/>
          <p:cNvSpPr/>
          <p:nvPr/>
        </p:nvSpPr>
        <p:spPr>
          <a:xfrm>
            <a:off x="2675453" y="3825240"/>
            <a:ext cx="2137767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12" name="Shape 197"/>
          <p:cNvSpPr/>
          <p:nvPr/>
        </p:nvSpPr>
        <p:spPr>
          <a:xfrm>
            <a:off x="2675453" y="4139565"/>
            <a:ext cx="21377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3" name="Text 198"/>
          <p:cNvSpPr/>
          <p:nvPr/>
        </p:nvSpPr>
        <p:spPr>
          <a:xfrm>
            <a:off x="2751653" y="3882390"/>
            <a:ext cx="2061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 · brand impersonation</a:t>
            </a:r>
            <a:endParaRPr lang="en-US" sz="900" dirty="0"/>
          </a:p>
        </p:txBody>
      </p:sp>
      <p:sp>
        <p:nvSpPr>
          <p:cNvPr id="214" name="Shape 199"/>
          <p:cNvSpPr/>
          <p:nvPr/>
        </p:nvSpPr>
        <p:spPr>
          <a:xfrm>
            <a:off x="4813220" y="3825240"/>
            <a:ext cx="1422797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15" name="Shape 200"/>
          <p:cNvSpPr/>
          <p:nvPr/>
        </p:nvSpPr>
        <p:spPr>
          <a:xfrm>
            <a:off x="4813220" y="4139565"/>
            <a:ext cx="142279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6" name="Text 201"/>
          <p:cNvSpPr/>
          <p:nvPr/>
        </p:nvSpPr>
        <p:spPr>
          <a:xfrm>
            <a:off x="4889420" y="3882390"/>
            <a:ext cx="13465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carlos.t@acme.com</a:t>
            </a:r>
            <a:endParaRPr lang="en-US" sz="825" dirty="0"/>
          </a:p>
        </p:txBody>
      </p:sp>
      <p:sp>
        <p:nvSpPr>
          <p:cNvPr id="217" name="Shape 202"/>
          <p:cNvSpPr/>
          <p:nvPr/>
        </p:nvSpPr>
        <p:spPr>
          <a:xfrm>
            <a:off x="6236017" y="3825240"/>
            <a:ext cx="913448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18" name="Shape 203"/>
          <p:cNvSpPr/>
          <p:nvPr/>
        </p:nvSpPr>
        <p:spPr>
          <a:xfrm>
            <a:off x="6236017" y="4139565"/>
            <a:ext cx="9134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9" name="Shape 204"/>
          <p:cNvSpPr/>
          <p:nvPr/>
        </p:nvSpPr>
        <p:spPr>
          <a:xfrm>
            <a:off x="6312217" y="3886200"/>
            <a:ext cx="530662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220" name="Shape 205"/>
          <p:cNvSpPr/>
          <p:nvPr/>
        </p:nvSpPr>
        <p:spPr>
          <a:xfrm>
            <a:off x="6386513" y="3957638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21" name="Text 206"/>
          <p:cNvSpPr/>
          <p:nvPr/>
        </p:nvSpPr>
        <p:spPr>
          <a:xfrm>
            <a:off x="6481763" y="3920490"/>
            <a:ext cx="36302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+</a:t>
            </a:r>
            <a:endParaRPr lang="en-US" sz="825" dirty="0"/>
          </a:p>
        </p:txBody>
      </p:sp>
      <p:sp>
        <p:nvSpPr>
          <p:cNvPr id="222" name="Shape 207"/>
          <p:cNvSpPr/>
          <p:nvPr/>
        </p:nvSpPr>
        <p:spPr>
          <a:xfrm>
            <a:off x="7149466" y="3825240"/>
            <a:ext cx="580906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23" name="Shape 208"/>
          <p:cNvSpPr/>
          <p:nvPr/>
        </p:nvSpPr>
        <p:spPr>
          <a:xfrm>
            <a:off x="7149466" y="4139565"/>
            <a:ext cx="58090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4" name="Text 209"/>
          <p:cNvSpPr/>
          <p:nvPr/>
        </p:nvSpPr>
        <p:spPr>
          <a:xfrm>
            <a:off x="7263766" y="3916203"/>
            <a:ext cx="18740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788" dirty="0"/>
          </a:p>
        </p:txBody>
      </p:sp>
      <p:sp>
        <p:nvSpPr>
          <p:cNvPr id="225" name="Shape 210"/>
          <p:cNvSpPr/>
          <p:nvPr/>
        </p:nvSpPr>
        <p:spPr>
          <a:xfrm>
            <a:off x="7730372" y="3825240"/>
            <a:ext cx="1136690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26" name="Shape 211"/>
          <p:cNvSpPr/>
          <p:nvPr/>
        </p:nvSpPr>
        <p:spPr>
          <a:xfrm>
            <a:off x="7730372" y="4139565"/>
            <a:ext cx="11366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7" name="Shape 212"/>
          <p:cNvSpPr/>
          <p:nvPr/>
        </p:nvSpPr>
        <p:spPr>
          <a:xfrm>
            <a:off x="7806572" y="3886200"/>
            <a:ext cx="742831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228" name="Shape 213"/>
          <p:cNvSpPr/>
          <p:nvPr/>
        </p:nvSpPr>
        <p:spPr>
          <a:xfrm>
            <a:off x="7880865" y="3957638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29" name="Text 214"/>
          <p:cNvSpPr/>
          <p:nvPr/>
        </p:nvSpPr>
        <p:spPr>
          <a:xfrm>
            <a:off x="7976115" y="3912869"/>
            <a:ext cx="57519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</a:t>
            </a:r>
            <a:endParaRPr lang="en-US" sz="825" dirty="0"/>
          </a:p>
        </p:txBody>
      </p:sp>
      <p:sp>
        <p:nvSpPr>
          <p:cNvPr id="230" name="Shape 215"/>
          <p:cNvSpPr/>
          <p:nvPr/>
        </p:nvSpPr>
        <p:spPr>
          <a:xfrm>
            <a:off x="8867061" y="3825240"/>
            <a:ext cx="1221819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31" name="Shape 216"/>
          <p:cNvSpPr/>
          <p:nvPr/>
        </p:nvSpPr>
        <p:spPr>
          <a:xfrm>
            <a:off x="8867061" y="4139565"/>
            <a:ext cx="12218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2" name="Shape 217"/>
          <p:cNvSpPr/>
          <p:nvPr/>
        </p:nvSpPr>
        <p:spPr>
          <a:xfrm>
            <a:off x="731520" y="4147184"/>
            <a:ext cx="726162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33" name="Shape 218"/>
          <p:cNvSpPr/>
          <p:nvPr/>
        </p:nvSpPr>
        <p:spPr>
          <a:xfrm>
            <a:off x="731520" y="4461509"/>
            <a:ext cx="72616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4" name="Text 219"/>
          <p:cNvSpPr/>
          <p:nvPr/>
        </p:nvSpPr>
        <p:spPr>
          <a:xfrm>
            <a:off x="807720" y="4204334"/>
            <a:ext cx="6499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18:39:48</a:t>
            </a:r>
            <a:endParaRPr lang="en-US" sz="825" dirty="0"/>
          </a:p>
        </p:txBody>
      </p:sp>
      <p:sp>
        <p:nvSpPr>
          <p:cNvPr id="235" name="Shape 220"/>
          <p:cNvSpPr/>
          <p:nvPr/>
        </p:nvSpPr>
        <p:spPr>
          <a:xfrm>
            <a:off x="1457683" y="4147184"/>
            <a:ext cx="1217771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36" name="Shape 221"/>
          <p:cNvSpPr/>
          <p:nvPr/>
        </p:nvSpPr>
        <p:spPr>
          <a:xfrm>
            <a:off x="1457683" y="4461509"/>
            <a:ext cx="121777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7" name="Text 222"/>
          <p:cNvSpPr/>
          <p:nvPr/>
        </p:nvSpPr>
        <p:spPr>
          <a:xfrm>
            <a:off x="1533883" y="4204334"/>
            <a:ext cx="11415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</a:t>
            </a:r>
            <a:endParaRPr lang="en-US" sz="900" dirty="0"/>
          </a:p>
        </p:txBody>
      </p:sp>
      <p:sp>
        <p:nvSpPr>
          <p:cNvPr id="238" name="Shape 223"/>
          <p:cNvSpPr/>
          <p:nvPr/>
        </p:nvSpPr>
        <p:spPr>
          <a:xfrm>
            <a:off x="2675453" y="4147184"/>
            <a:ext cx="2137767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39" name="Shape 224"/>
          <p:cNvSpPr/>
          <p:nvPr/>
        </p:nvSpPr>
        <p:spPr>
          <a:xfrm>
            <a:off x="2675453" y="4461509"/>
            <a:ext cx="21377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0" name="Text 225"/>
          <p:cNvSpPr/>
          <p:nvPr/>
        </p:nvSpPr>
        <p:spPr>
          <a:xfrm>
            <a:off x="2751653" y="4204334"/>
            <a:ext cx="2061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 encoded command</a:t>
            </a:r>
            <a:endParaRPr lang="en-US" sz="900" dirty="0"/>
          </a:p>
        </p:txBody>
      </p:sp>
      <p:sp>
        <p:nvSpPr>
          <p:cNvPr id="241" name="Shape 226"/>
          <p:cNvSpPr/>
          <p:nvPr/>
        </p:nvSpPr>
        <p:spPr>
          <a:xfrm>
            <a:off x="4813220" y="4147184"/>
            <a:ext cx="1422797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42" name="Shape 227"/>
          <p:cNvSpPr/>
          <p:nvPr/>
        </p:nvSpPr>
        <p:spPr>
          <a:xfrm>
            <a:off x="4813220" y="4461509"/>
            <a:ext cx="142279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3" name="Text 228"/>
          <p:cNvSpPr/>
          <p:nvPr/>
        </p:nvSpPr>
        <p:spPr>
          <a:xfrm>
            <a:off x="4889420" y="4204334"/>
            <a:ext cx="13465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az-vm-finsrv-22</a:t>
            </a:r>
            <a:endParaRPr lang="en-US" sz="825" dirty="0"/>
          </a:p>
        </p:txBody>
      </p:sp>
      <p:sp>
        <p:nvSpPr>
          <p:cNvPr id="244" name="Shape 229"/>
          <p:cNvSpPr/>
          <p:nvPr/>
        </p:nvSpPr>
        <p:spPr>
          <a:xfrm>
            <a:off x="6236017" y="4147184"/>
            <a:ext cx="913448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45" name="Shape 230"/>
          <p:cNvSpPr/>
          <p:nvPr/>
        </p:nvSpPr>
        <p:spPr>
          <a:xfrm>
            <a:off x="6236017" y="4461509"/>
            <a:ext cx="9134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6" name="Shape 231"/>
          <p:cNvSpPr/>
          <p:nvPr/>
        </p:nvSpPr>
        <p:spPr>
          <a:xfrm>
            <a:off x="6312217" y="4208144"/>
            <a:ext cx="530662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247" name="Shape 232"/>
          <p:cNvSpPr/>
          <p:nvPr/>
        </p:nvSpPr>
        <p:spPr>
          <a:xfrm>
            <a:off x="6386513" y="4279582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48" name="Text 233"/>
          <p:cNvSpPr/>
          <p:nvPr/>
        </p:nvSpPr>
        <p:spPr>
          <a:xfrm>
            <a:off x="6481763" y="4242434"/>
            <a:ext cx="363022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+</a:t>
            </a:r>
            <a:endParaRPr lang="en-US" sz="825" dirty="0"/>
          </a:p>
        </p:txBody>
      </p:sp>
      <p:sp>
        <p:nvSpPr>
          <p:cNvPr id="249" name="Shape 234"/>
          <p:cNvSpPr/>
          <p:nvPr/>
        </p:nvSpPr>
        <p:spPr>
          <a:xfrm>
            <a:off x="7149466" y="4147184"/>
            <a:ext cx="580906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50" name="Shape 235"/>
          <p:cNvSpPr/>
          <p:nvPr/>
        </p:nvSpPr>
        <p:spPr>
          <a:xfrm>
            <a:off x="7149466" y="4461509"/>
            <a:ext cx="58090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1" name="Text 236"/>
          <p:cNvSpPr/>
          <p:nvPr/>
        </p:nvSpPr>
        <p:spPr>
          <a:xfrm>
            <a:off x="7263766" y="4238148"/>
            <a:ext cx="18740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788" dirty="0"/>
          </a:p>
        </p:txBody>
      </p:sp>
      <p:sp>
        <p:nvSpPr>
          <p:cNvPr id="252" name="Shape 237"/>
          <p:cNvSpPr/>
          <p:nvPr/>
        </p:nvSpPr>
        <p:spPr>
          <a:xfrm>
            <a:off x="7730372" y="4147184"/>
            <a:ext cx="1136690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53" name="Shape 238"/>
          <p:cNvSpPr/>
          <p:nvPr/>
        </p:nvSpPr>
        <p:spPr>
          <a:xfrm>
            <a:off x="7730372" y="4461509"/>
            <a:ext cx="11366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4" name="Shape 239"/>
          <p:cNvSpPr/>
          <p:nvPr/>
        </p:nvSpPr>
        <p:spPr>
          <a:xfrm>
            <a:off x="7806572" y="4208144"/>
            <a:ext cx="742831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255" name="Shape 240"/>
          <p:cNvSpPr/>
          <p:nvPr/>
        </p:nvSpPr>
        <p:spPr>
          <a:xfrm>
            <a:off x="7880865" y="4279582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56" name="Text 241"/>
          <p:cNvSpPr/>
          <p:nvPr/>
        </p:nvSpPr>
        <p:spPr>
          <a:xfrm>
            <a:off x="7976115" y="4234815"/>
            <a:ext cx="57519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</a:t>
            </a:r>
            <a:endParaRPr lang="en-US" sz="825" dirty="0"/>
          </a:p>
        </p:txBody>
      </p:sp>
      <p:sp>
        <p:nvSpPr>
          <p:cNvPr id="257" name="Shape 242"/>
          <p:cNvSpPr/>
          <p:nvPr/>
        </p:nvSpPr>
        <p:spPr>
          <a:xfrm>
            <a:off x="8867061" y="4147184"/>
            <a:ext cx="1221819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58" name="Shape 243"/>
          <p:cNvSpPr/>
          <p:nvPr/>
        </p:nvSpPr>
        <p:spPr>
          <a:xfrm>
            <a:off x="8867061" y="4461509"/>
            <a:ext cx="12218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9" name="Shape 244"/>
          <p:cNvSpPr/>
          <p:nvPr/>
        </p:nvSpPr>
        <p:spPr>
          <a:xfrm>
            <a:off x="731520" y="4783455"/>
            <a:ext cx="72616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0" name="Text 245"/>
          <p:cNvSpPr/>
          <p:nvPr/>
        </p:nvSpPr>
        <p:spPr>
          <a:xfrm>
            <a:off x="807720" y="4526280"/>
            <a:ext cx="6499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18:39:33</a:t>
            </a:r>
            <a:endParaRPr lang="en-US" sz="825" dirty="0"/>
          </a:p>
        </p:txBody>
      </p:sp>
      <p:sp>
        <p:nvSpPr>
          <p:cNvPr id="261" name="Shape 246"/>
          <p:cNvSpPr/>
          <p:nvPr/>
        </p:nvSpPr>
        <p:spPr>
          <a:xfrm>
            <a:off x="1457683" y="4783455"/>
            <a:ext cx="121777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2" name="Text 247"/>
          <p:cNvSpPr/>
          <p:nvPr/>
        </p:nvSpPr>
        <p:spPr>
          <a:xfrm>
            <a:off x="1533883" y="4526280"/>
            <a:ext cx="11415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</a:t>
            </a:r>
            <a:endParaRPr lang="en-US" sz="900" dirty="0"/>
          </a:p>
        </p:txBody>
      </p:sp>
      <p:sp>
        <p:nvSpPr>
          <p:cNvPr id="263" name="Shape 248"/>
          <p:cNvSpPr/>
          <p:nvPr/>
        </p:nvSpPr>
        <p:spPr>
          <a:xfrm>
            <a:off x="2675453" y="4783455"/>
            <a:ext cx="21377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4" name="Text 249"/>
          <p:cNvSpPr/>
          <p:nvPr/>
        </p:nvSpPr>
        <p:spPr>
          <a:xfrm>
            <a:off x="2751653" y="4526280"/>
            <a:ext cx="2061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task created · system</a:t>
            </a:r>
            <a:endParaRPr lang="en-US" sz="900" dirty="0"/>
          </a:p>
        </p:txBody>
      </p:sp>
      <p:sp>
        <p:nvSpPr>
          <p:cNvPr id="265" name="Shape 250"/>
          <p:cNvSpPr/>
          <p:nvPr/>
        </p:nvSpPr>
        <p:spPr>
          <a:xfrm>
            <a:off x="4813220" y="4783455"/>
            <a:ext cx="142279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6" name="Text 251"/>
          <p:cNvSpPr/>
          <p:nvPr/>
        </p:nvSpPr>
        <p:spPr>
          <a:xfrm>
            <a:off x="4889420" y="4526280"/>
            <a:ext cx="13465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WIN-FIN-12</a:t>
            </a:r>
            <a:endParaRPr lang="en-US" sz="825" dirty="0"/>
          </a:p>
        </p:txBody>
      </p:sp>
      <p:sp>
        <p:nvSpPr>
          <p:cNvPr id="267" name="Shape 252"/>
          <p:cNvSpPr/>
          <p:nvPr/>
        </p:nvSpPr>
        <p:spPr>
          <a:xfrm>
            <a:off x="6236017" y="4783455"/>
            <a:ext cx="9134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8" name="Shape 253"/>
          <p:cNvSpPr/>
          <p:nvPr/>
        </p:nvSpPr>
        <p:spPr>
          <a:xfrm>
            <a:off x="6312217" y="4530090"/>
            <a:ext cx="56959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9" name="Shape 254"/>
          <p:cNvSpPr/>
          <p:nvPr/>
        </p:nvSpPr>
        <p:spPr>
          <a:xfrm>
            <a:off x="6386513" y="4601527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70" name="Text 255"/>
          <p:cNvSpPr/>
          <p:nvPr/>
        </p:nvSpPr>
        <p:spPr>
          <a:xfrm>
            <a:off x="6481763" y="4564380"/>
            <a:ext cx="40195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+</a:t>
            </a:r>
            <a:endParaRPr lang="en-US" sz="825" dirty="0"/>
          </a:p>
        </p:txBody>
      </p:sp>
      <p:sp>
        <p:nvSpPr>
          <p:cNvPr id="271" name="Shape 256"/>
          <p:cNvSpPr/>
          <p:nvPr/>
        </p:nvSpPr>
        <p:spPr>
          <a:xfrm>
            <a:off x="7149466" y="4783455"/>
            <a:ext cx="58090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2" name="Text 257"/>
          <p:cNvSpPr/>
          <p:nvPr/>
        </p:nvSpPr>
        <p:spPr>
          <a:xfrm>
            <a:off x="7263766" y="4560094"/>
            <a:ext cx="18740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788" dirty="0"/>
          </a:p>
        </p:txBody>
      </p:sp>
      <p:sp>
        <p:nvSpPr>
          <p:cNvPr id="273" name="Shape 258"/>
          <p:cNvSpPr/>
          <p:nvPr/>
        </p:nvSpPr>
        <p:spPr>
          <a:xfrm>
            <a:off x="7730372" y="4783455"/>
            <a:ext cx="11366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4" name="Shape 259"/>
          <p:cNvSpPr/>
          <p:nvPr/>
        </p:nvSpPr>
        <p:spPr>
          <a:xfrm>
            <a:off x="7806572" y="4530090"/>
            <a:ext cx="87356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5" name="Shape 260"/>
          <p:cNvSpPr/>
          <p:nvPr/>
        </p:nvSpPr>
        <p:spPr>
          <a:xfrm>
            <a:off x="7880865" y="4601527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76" name="Text 261"/>
          <p:cNvSpPr/>
          <p:nvPr/>
        </p:nvSpPr>
        <p:spPr>
          <a:xfrm>
            <a:off x="7976115" y="4556759"/>
            <a:ext cx="70592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auto-closed</a:t>
            </a:r>
            <a:endParaRPr lang="en-US" sz="825" dirty="0"/>
          </a:p>
        </p:txBody>
      </p:sp>
      <p:sp>
        <p:nvSpPr>
          <p:cNvPr id="277" name="Shape 262"/>
          <p:cNvSpPr/>
          <p:nvPr/>
        </p:nvSpPr>
        <p:spPr>
          <a:xfrm>
            <a:off x="8867061" y="4783455"/>
            <a:ext cx="12218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8" name="Shape 263"/>
          <p:cNvSpPr/>
          <p:nvPr/>
        </p:nvSpPr>
        <p:spPr>
          <a:xfrm>
            <a:off x="731520" y="4791075"/>
            <a:ext cx="726162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79" name="Shape 264"/>
          <p:cNvSpPr/>
          <p:nvPr/>
        </p:nvSpPr>
        <p:spPr>
          <a:xfrm>
            <a:off x="731520" y="5105400"/>
            <a:ext cx="72616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0" name="Text 265"/>
          <p:cNvSpPr/>
          <p:nvPr/>
        </p:nvSpPr>
        <p:spPr>
          <a:xfrm>
            <a:off x="807720" y="4848225"/>
            <a:ext cx="6499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18:38:55</a:t>
            </a:r>
            <a:endParaRPr lang="en-US" sz="825" dirty="0"/>
          </a:p>
        </p:txBody>
      </p:sp>
      <p:sp>
        <p:nvSpPr>
          <p:cNvPr id="281" name="Shape 266"/>
          <p:cNvSpPr/>
          <p:nvPr/>
        </p:nvSpPr>
        <p:spPr>
          <a:xfrm>
            <a:off x="1457683" y="4791075"/>
            <a:ext cx="1217771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82" name="Shape 267"/>
          <p:cNvSpPr/>
          <p:nvPr/>
        </p:nvSpPr>
        <p:spPr>
          <a:xfrm>
            <a:off x="1457683" y="5105400"/>
            <a:ext cx="121777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3" name="Text 268"/>
          <p:cNvSpPr/>
          <p:nvPr/>
        </p:nvSpPr>
        <p:spPr>
          <a:xfrm>
            <a:off x="1533883" y="4848225"/>
            <a:ext cx="11415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900" dirty="0"/>
          </a:p>
        </p:txBody>
      </p:sp>
      <p:sp>
        <p:nvSpPr>
          <p:cNvPr id="284" name="Shape 269"/>
          <p:cNvSpPr/>
          <p:nvPr/>
        </p:nvSpPr>
        <p:spPr>
          <a:xfrm>
            <a:off x="2675453" y="4791075"/>
            <a:ext cx="2137767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85" name="Shape 270"/>
          <p:cNvSpPr/>
          <p:nvPr/>
        </p:nvSpPr>
        <p:spPr>
          <a:xfrm>
            <a:off x="2675453" y="5105400"/>
            <a:ext cx="21377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6" name="Text 271"/>
          <p:cNvSpPr/>
          <p:nvPr/>
        </p:nvSpPr>
        <p:spPr>
          <a:xfrm>
            <a:off x="2751653" y="4848225"/>
            <a:ext cx="2061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clone · off hours</a:t>
            </a:r>
            <a:endParaRPr lang="en-US" sz="900" dirty="0"/>
          </a:p>
        </p:txBody>
      </p:sp>
      <p:sp>
        <p:nvSpPr>
          <p:cNvPr id="287" name="Shape 272"/>
          <p:cNvSpPr/>
          <p:nvPr/>
        </p:nvSpPr>
        <p:spPr>
          <a:xfrm>
            <a:off x="4813220" y="4791075"/>
            <a:ext cx="1422797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88" name="Shape 273"/>
          <p:cNvSpPr/>
          <p:nvPr/>
        </p:nvSpPr>
        <p:spPr>
          <a:xfrm>
            <a:off x="4813220" y="5105400"/>
            <a:ext cx="142279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9" name="Text 274"/>
          <p:cNvSpPr/>
          <p:nvPr/>
        </p:nvSpPr>
        <p:spPr>
          <a:xfrm>
            <a:off x="4889420" y="4848225"/>
            <a:ext cx="13465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diane.k</a:t>
            </a:r>
            <a:endParaRPr lang="en-US" sz="825" dirty="0"/>
          </a:p>
        </p:txBody>
      </p:sp>
      <p:sp>
        <p:nvSpPr>
          <p:cNvPr id="290" name="Shape 275"/>
          <p:cNvSpPr/>
          <p:nvPr/>
        </p:nvSpPr>
        <p:spPr>
          <a:xfrm>
            <a:off x="6236017" y="4791075"/>
            <a:ext cx="913448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91" name="Shape 276"/>
          <p:cNvSpPr/>
          <p:nvPr/>
        </p:nvSpPr>
        <p:spPr>
          <a:xfrm>
            <a:off x="6236017" y="5105400"/>
            <a:ext cx="9134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2" name="Shape 277"/>
          <p:cNvSpPr/>
          <p:nvPr/>
        </p:nvSpPr>
        <p:spPr>
          <a:xfrm>
            <a:off x="6312217" y="4852034"/>
            <a:ext cx="672108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293" name="Shape 278"/>
          <p:cNvSpPr/>
          <p:nvPr/>
        </p:nvSpPr>
        <p:spPr>
          <a:xfrm>
            <a:off x="6386513" y="4923472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94" name="Text 279"/>
          <p:cNvSpPr/>
          <p:nvPr/>
        </p:nvSpPr>
        <p:spPr>
          <a:xfrm>
            <a:off x="6481763" y="4886325"/>
            <a:ext cx="50446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</a:t>
            </a:r>
            <a:endParaRPr lang="en-US" sz="825" dirty="0"/>
          </a:p>
        </p:txBody>
      </p:sp>
      <p:sp>
        <p:nvSpPr>
          <p:cNvPr id="295" name="Shape 280"/>
          <p:cNvSpPr/>
          <p:nvPr/>
        </p:nvSpPr>
        <p:spPr>
          <a:xfrm>
            <a:off x="7149466" y="4791075"/>
            <a:ext cx="580906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96" name="Shape 281"/>
          <p:cNvSpPr/>
          <p:nvPr/>
        </p:nvSpPr>
        <p:spPr>
          <a:xfrm>
            <a:off x="7149466" y="5105400"/>
            <a:ext cx="58090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7" name="Text 282"/>
          <p:cNvSpPr/>
          <p:nvPr/>
        </p:nvSpPr>
        <p:spPr>
          <a:xfrm>
            <a:off x="7263766" y="4882038"/>
            <a:ext cx="18740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788" dirty="0"/>
          </a:p>
        </p:txBody>
      </p:sp>
      <p:sp>
        <p:nvSpPr>
          <p:cNvPr id="298" name="Shape 283"/>
          <p:cNvSpPr/>
          <p:nvPr/>
        </p:nvSpPr>
        <p:spPr>
          <a:xfrm>
            <a:off x="7730372" y="4791075"/>
            <a:ext cx="1136690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99" name="Shape 284"/>
          <p:cNvSpPr/>
          <p:nvPr/>
        </p:nvSpPr>
        <p:spPr>
          <a:xfrm>
            <a:off x="7730372" y="5105400"/>
            <a:ext cx="11366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0" name="Shape 285"/>
          <p:cNvSpPr/>
          <p:nvPr/>
        </p:nvSpPr>
        <p:spPr>
          <a:xfrm>
            <a:off x="7806572" y="4852034"/>
            <a:ext cx="87356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1" name="Shape 286"/>
          <p:cNvSpPr/>
          <p:nvPr/>
        </p:nvSpPr>
        <p:spPr>
          <a:xfrm>
            <a:off x="7880865" y="4923472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02" name="Text 287"/>
          <p:cNvSpPr/>
          <p:nvPr/>
        </p:nvSpPr>
        <p:spPr>
          <a:xfrm>
            <a:off x="7976115" y="4878705"/>
            <a:ext cx="70592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auto-closed</a:t>
            </a:r>
            <a:endParaRPr lang="en-US" sz="825" dirty="0"/>
          </a:p>
        </p:txBody>
      </p:sp>
      <p:sp>
        <p:nvSpPr>
          <p:cNvPr id="303" name="Shape 288"/>
          <p:cNvSpPr/>
          <p:nvPr/>
        </p:nvSpPr>
        <p:spPr>
          <a:xfrm>
            <a:off x="8867061" y="4791075"/>
            <a:ext cx="1221819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04" name="Shape 289"/>
          <p:cNvSpPr/>
          <p:nvPr/>
        </p:nvSpPr>
        <p:spPr>
          <a:xfrm>
            <a:off x="8867061" y="5105400"/>
            <a:ext cx="12218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5" name="Shape 290"/>
          <p:cNvSpPr/>
          <p:nvPr/>
        </p:nvSpPr>
        <p:spPr>
          <a:xfrm>
            <a:off x="731520" y="5113019"/>
            <a:ext cx="726162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306" name="Shape 291"/>
          <p:cNvSpPr/>
          <p:nvPr/>
        </p:nvSpPr>
        <p:spPr>
          <a:xfrm>
            <a:off x="731520" y="5427344"/>
            <a:ext cx="72616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7" name="Text 292"/>
          <p:cNvSpPr/>
          <p:nvPr/>
        </p:nvSpPr>
        <p:spPr>
          <a:xfrm>
            <a:off x="807720" y="5170169"/>
            <a:ext cx="6499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18:38:12</a:t>
            </a:r>
            <a:endParaRPr lang="en-US" sz="825" dirty="0"/>
          </a:p>
        </p:txBody>
      </p:sp>
      <p:sp>
        <p:nvSpPr>
          <p:cNvPr id="308" name="Shape 293"/>
          <p:cNvSpPr/>
          <p:nvPr/>
        </p:nvSpPr>
        <p:spPr>
          <a:xfrm>
            <a:off x="1457683" y="5113019"/>
            <a:ext cx="1217771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309" name="Shape 294"/>
          <p:cNvSpPr/>
          <p:nvPr/>
        </p:nvSpPr>
        <p:spPr>
          <a:xfrm>
            <a:off x="1457683" y="5427344"/>
            <a:ext cx="121777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0" name="Text 295"/>
          <p:cNvSpPr/>
          <p:nvPr/>
        </p:nvSpPr>
        <p:spPr>
          <a:xfrm>
            <a:off x="1533883" y="5170169"/>
            <a:ext cx="11415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MISP TI</a:t>
            </a:r>
            <a:endParaRPr lang="en-US" sz="900" dirty="0"/>
          </a:p>
        </p:txBody>
      </p:sp>
      <p:sp>
        <p:nvSpPr>
          <p:cNvPr id="311" name="Shape 296"/>
          <p:cNvSpPr/>
          <p:nvPr/>
        </p:nvSpPr>
        <p:spPr>
          <a:xfrm>
            <a:off x="2675453" y="5113019"/>
            <a:ext cx="2137767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312" name="Shape 297"/>
          <p:cNvSpPr/>
          <p:nvPr/>
        </p:nvSpPr>
        <p:spPr>
          <a:xfrm>
            <a:off x="2675453" y="5427344"/>
            <a:ext cx="21377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3" name="Text 298"/>
          <p:cNvSpPr/>
          <p:nvPr/>
        </p:nvSpPr>
        <p:spPr>
          <a:xfrm>
            <a:off x="2751653" y="5170169"/>
            <a:ext cx="2061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IOC match · 198.51.x egress</a:t>
            </a:r>
            <a:endParaRPr lang="en-US" sz="900" dirty="0"/>
          </a:p>
        </p:txBody>
      </p:sp>
      <p:sp>
        <p:nvSpPr>
          <p:cNvPr id="314" name="Shape 299"/>
          <p:cNvSpPr/>
          <p:nvPr/>
        </p:nvSpPr>
        <p:spPr>
          <a:xfrm>
            <a:off x="4813220" y="5113019"/>
            <a:ext cx="1422797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315" name="Shape 300"/>
          <p:cNvSpPr/>
          <p:nvPr/>
        </p:nvSpPr>
        <p:spPr>
          <a:xfrm>
            <a:off x="4813220" y="5427344"/>
            <a:ext cx="142279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6" name="Text 301"/>
          <p:cNvSpPr/>
          <p:nvPr/>
        </p:nvSpPr>
        <p:spPr>
          <a:xfrm>
            <a:off x="4889420" y="5170169"/>
            <a:ext cx="13465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edge-fw-02</a:t>
            </a:r>
            <a:endParaRPr lang="en-US" sz="825" dirty="0"/>
          </a:p>
        </p:txBody>
      </p:sp>
      <p:sp>
        <p:nvSpPr>
          <p:cNvPr id="317" name="Shape 302"/>
          <p:cNvSpPr/>
          <p:nvPr/>
        </p:nvSpPr>
        <p:spPr>
          <a:xfrm>
            <a:off x="6236017" y="5113019"/>
            <a:ext cx="913448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318" name="Shape 303"/>
          <p:cNvSpPr/>
          <p:nvPr/>
        </p:nvSpPr>
        <p:spPr>
          <a:xfrm>
            <a:off x="6236017" y="5427344"/>
            <a:ext cx="9134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9" name="Shape 304"/>
          <p:cNvSpPr/>
          <p:nvPr/>
        </p:nvSpPr>
        <p:spPr>
          <a:xfrm>
            <a:off x="6312217" y="5173980"/>
            <a:ext cx="530662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320" name="Shape 305"/>
          <p:cNvSpPr/>
          <p:nvPr/>
        </p:nvSpPr>
        <p:spPr>
          <a:xfrm>
            <a:off x="6386513" y="5245417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321" name="Text 306"/>
          <p:cNvSpPr/>
          <p:nvPr/>
        </p:nvSpPr>
        <p:spPr>
          <a:xfrm>
            <a:off x="6481763" y="5208269"/>
            <a:ext cx="36302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+</a:t>
            </a:r>
            <a:endParaRPr lang="en-US" sz="825" dirty="0"/>
          </a:p>
        </p:txBody>
      </p:sp>
      <p:sp>
        <p:nvSpPr>
          <p:cNvPr id="322" name="Shape 307"/>
          <p:cNvSpPr/>
          <p:nvPr/>
        </p:nvSpPr>
        <p:spPr>
          <a:xfrm>
            <a:off x="7149466" y="5113019"/>
            <a:ext cx="580906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323" name="Shape 308"/>
          <p:cNvSpPr/>
          <p:nvPr/>
        </p:nvSpPr>
        <p:spPr>
          <a:xfrm>
            <a:off x="7149466" y="5427344"/>
            <a:ext cx="58090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4" name="Text 309"/>
          <p:cNvSpPr/>
          <p:nvPr/>
        </p:nvSpPr>
        <p:spPr>
          <a:xfrm>
            <a:off x="7263766" y="5203984"/>
            <a:ext cx="18740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788" dirty="0"/>
          </a:p>
        </p:txBody>
      </p:sp>
      <p:sp>
        <p:nvSpPr>
          <p:cNvPr id="325" name="Shape 310"/>
          <p:cNvSpPr/>
          <p:nvPr/>
        </p:nvSpPr>
        <p:spPr>
          <a:xfrm>
            <a:off x="7730372" y="5113019"/>
            <a:ext cx="1136690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326" name="Shape 311"/>
          <p:cNvSpPr/>
          <p:nvPr/>
        </p:nvSpPr>
        <p:spPr>
          <a:xfrm>
            <a:off x="7730372" y="5427344"/>
            <a:ext cx="11366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7" name="Shape 312"/>
          <p:cNvSpPr/>
          <p:nvPr/>
        </p:nvSpPr>
        <p:spPr>
          <a:xfrm>
            <a:off x="7806572" y="5173980"/>
            <a:ext cx="742831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328" name="Shape 313"/>
          <p:cNvSpPr/>
          <p:nvPr/>
        </p:nvSpPr>
        <p:spPr>
          <a:xfrm>
            <a:off x="7880865" y="5245417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329" name="Text 314"/>
          <p:cNvSpPr/>
          <p:nvPr/>
        </p:nvSpPr>
        <p:spPr>
          <a:xfrm>
            <a:off x="7976115" y="5200650"/>
            <a:ext cx="57519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</a:t>
            </a:r>
            <a:endParaRPr lang="en-US" sz="825" dirty="0"/>
          </a:p>
        </p:txBody>
      </p:sp>
      <p:sp>
        <p:nvSpPr>
          <p:cNvPr id="330" name="Shape 315"/>
          <p:cNvSpPr/>
          <p:nvPr/>
        </p:nvSpPr>
        <p:spPr>
          <a:xfrm>
            <a:off x="8867061" y="5113019"/>
            <a:ext cx="1221819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331" name="Shape 316"/>
          <p:cNvSpPr/>
          <p:nvPr/>
        </p:nvSpPr>
        <p:spPr>
          <a:xfrm>
            <a:off x="8867061" y="5427344"/>
            <a:ext cx="12218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2" name="Shape 317"/>
          <p:cNvSpPr/>
          <p:nvPr/>
        </p:nvSpPr>
        <p:spPr>
          <a:xfrm>
            <a:off x="731520" y="5434965"/>
            <a:ext cx="726162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33" name="Shape 318"/>
          <p:cNvSpPr/>
          <p:nvPr/>
        </p:nvSpPr>
        <p:spPr>
          <a:xfrm>
            <a:off x="731520" y="5749290"/>
            <a:ext cx="72616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4" name="Text 319"/>
          <p:cNvSpPr/>
          <p:nvPr/>
        </p:nvSpPr>
        <p:spPr>
          <a:xfrm>
            <a:off x="807720" y="5492115"/>
            <a:ext cx="6499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18:37:58</a:t>
            </a:r>
            <a:endParaRPr lang="en-US" sz="825" dirty="0"/>
          </a:p>
        </p:txBody>
      </p:sp>
      <p:sp>
        <p:nvSpPr>
          <p:cNvPr id="335" name="Shape 320"/>
          <p:cNvSpPr/>
          <p:nvPr/>
        </p:nvSpPr>
        <p:spPr>
          <a:xfrm>
            <a:off x="1457683" y="5434965"/>
            <a:ext cx="1217771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36" name="Shape 321"/>
          <p:cNvSpPr/>
          <p:nvPr/>
        </p:nvSpPr>
        <p:spPr>
          <a:xfrm>
            <a:off x="1457683" y="5749290"/>
            <a:ext cx="121777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7" name="Text 322"/>
          <p:cNvSpPr/>
          <p:nvPr/>
        </p:nvSpPr>
        <p:spPr>
          <a:xfrm>
            <a:off x="1533883" y="5492115"/>
            <a:ext cx="11415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KubeArmor</a:t>
            </a:r>
            <a:endParaRPr lang="en-US" sz="900" dirty="0"/>
          </a:p>
        </p:txBody>
      </p:sp>
      <p:sp>
        <p:nvSpPr>
          <p:cNvPr id="338" name="Shape 323"/>
          <p:cNvSpPr/>
          <p:nvPr/>
        </p:nvSpPr>
        <p:spPr>
          <a:xfrm>
            <a:off x="2675453" y="5434965"/>
            <a:ext cx="2137767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39" name="Shape 324"/>
          <p:cNvSpPr/>
          <p:nvPr/>
        </p:nvSpPr>
        <p:spPr>
          <a:xfrm>
            <a:off x="2675453" y="5749290"/>
            <a:ext cx="21377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0" name="Text 325"/>
          <p:cNvSpPr/>
          <p:nvPr/>
        </p:nvSpPr>
        <p:spPr>
          <a:xfrm>
            <a:off x="2751653" y="5492115"/>
            <a:ext cx="2061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open · /etc/shadow</a:t>
            </a:r>
            <a:endParaRPr lang="en-US" sz="900" dirty="0"/>
          </a:p>
        </p:txBody>
      </p:sp>
      <p:sp>
        <p:nvSpPr>
          <p:cNvPr id="341" name="Shape 326"/>
          <p:cNvSpPr/>
          <p:nvPr/>
        </p:nvSpPr>
        <p:spPr>
          <a:xfrm>
            <a:off x="4813220" y="5434965"/>
            <a:ext cx="1422797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42" name="Shape 327"/>
          <p:cNvSpPr/>
          <p:nvPr/>
        </p:nvSpPr>
        <p:spPr>
          <a:xfrm>
            <a:off x="4813220" y="5749290"/>
            <a:ext cx="142279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3" name="Text 328"/>
          <p:cNvSpPr/>
          <p:nvPr/>
        </p:nvSpPr>
        <p:spPr>
          <a:xfrm>
            <a:off x="4889420" y="5492115"/>
            <a:ext cx="13465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analytics-3</a:t>
            </a:r>
            <a:endParaRPr lang="en-US" sz="825" dirty="0"/>
          </a:p>
        </p:txBody>
      </p:sp>
      <p:sp>
        <p:nvSpPr>
          <p:cNvPr id="344" name="Shape 329"/>
          <p:cNvSpPr/>
          <p:nvPr/>
        </p:nvSpPr>
        <p:spPr>
          <a:xfrm>
            <a:off x="6236017" y="5434965"/>
            <a:ext cx="913448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45" name="Shape 330"/>
          <p:cNvSpPr/>
          <p:nvPr/>
        </p:nvSpPr>
        <p:spPr>
          <a:xfrm>
            <a:off x="6236017" y="5749290"/>
            <a:ext cx="9134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6" name="Shape 331"/>
          <p:cNvSpPr/>
          <p:nvPr/>
        </p:nvSpPr>
        <p:spPr>
          <a:xfrm>
            <a:off x="6312217" y="5495925"/>
            <a:ext cx="530662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347" name="Shape 332"/>
          <p:cNvSpPr/>
          <p:nvPr/>
        </p:nvSpPr>
        <p:spPr>
          <a:xfrm>
            <a:off x="6386513" y="5567363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348" name="Text 333"/>
          <p:cNvSpPr/>
          <p:nvPr/>
        </p:nvSpPr>
        <p:spPr>
          <a:xfrm>
            <a:off x="6481763" y="5530215"/>
            <a:ext cx="36302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+</a:t>
            </a:r>
            <a:endParaRPr lang="en-US" sz="825" dirty="0"/>
          </a:p>
        </p:txBody>
      </p:sp>
      <p:sp>
        <p:nvSpPr>
          <p:cNvPr id="349" name="Shape 334"/>
          <p:cNvSpPr/>
          <p:nvPr/>
        </p:nvSpPr>
        <p:spPr>
          <a:xfrm>
            <a:off x="7149466" y="5434965"/>
            <a:ext cx="580906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50" name="Shape 335"/>
          <p:cNvSpPr/>
          <p:nvPr/>
        </p:nvSpPr>
        <p:spPr>
          <a:xfrm>
            <a:off x="7149466" y="5749290"/>
            <a:ext cx="58090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1" name="Text 336"/>
          <p:cNvSpPr/>
          <p:nvPr/>
        </p:nvSpPr>
        <p:spPr>
          <a:xfrm>
            <a:off x="7263766" y="5525928"/>
            <a:ext cx="18740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788" dirty="0"/>
          </a:p>
        </p:txBody>
      </p:sp>
      <p:sp>
        <p:nvSpPr>
          <p:cNvPr id="352" name="Shape 337"/>
          <p:cNvSpPr/>
          <p:nvPr/>
        </p:nvSpPr>
        <p:spPr>
          <a:xfrm>
            <a:off x="7730372" y="5434965"/>
            <a:ext cx="1136690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53" name="Shape 338"/>
          <p:cNvSpPr/>
          <p:nvPr/>
        </p:nvSpPr>
        <p:spPr>
          <a:xfrm>
            <a:off x="7730372" y="5749290"/>
            <a:ext cx="11366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4" name="Shape 339"/>
          <p:cNvSpPr/>
          <p:nvPr/>
        </p:nvSpPr>
        <p:spPr>
          <a:xfrm>
            <a:off x="7806572" y="5495925"/>
            <a:ext cx="742831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355" name="Shape 340"/>
          <p:cNvSpPr/>
          <p:nvPr/>
        </p:nvSpPr>
        <p:spPr>
          <a:xfrm>
            <a:off x="7880865" y="5567363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356" name="Text 341"/>
          <p:cNvSpPr/>
          <p:nvPr/>
        </p:nvSpPr>
        <p:spPr>
          <a:xfrm>
            <a:off x="7976115" y="5522594"/>
            <a:ext cx="57519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</a:t>
            </a:r>
            <a:endParaRPr lang="en-US" sz="825" dirty="0"/>
          </a:p>
        </p:txBody>
      </p:sp>
      <p:sp>
        <p:nvSpPr>
          <p:cNvPr id="357" name="Shape 342"/>
          <p:cNvSpPr/>
          <p:nvPr/>
        </p:nvSpPr>
        <p:spPr>
          <a:xfrm>
            <a:off x="8867061" y="5434965"/>
            <a:ext cx="1221819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58" name="Shape 343"/>
          <p:cNvSpPr/>
          <p:nvPr/>
        </p:nvSpPr>
        <p:spPr>
          <a:xfrm>
            <a:off x="8867061" y="5749290"/>
            <a:ext cx="12218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9" name="Shape 344"/>
          <p:cNvSpPr/>
          <p:nvPr/>
        </p:nvSpPr>
        <p:spPr>
          <a:xfrm>
            <a:off x="8943261" y="5495925"/>
            <a:ext cx="95023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60" name="Shape 345"/>
          <p:cNvSpPr/>
          <p:nvPr/>
        </p:nvSpPr>
        <p:spPr>
          <a:xfrm>
            <a:off x="9017557" y="556736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61" name="Text 346"/>
          <p:cNvSpPr/>
          <p:nvPr/>
        </p:nvSpPr>
        <p:spPr>
          <a:xfrm>
            <a:off x="9112807" y="5522594"/>
            <a:ext cx="78259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block ↗</a:t>
            </a:r>
            <a:endParaRPr lang="en-US" sz="825" dirty="0"/>
          </a:p>
        </p:txBody>
      </p:sp>
      <p:sp>
        <p:nvSpPr>
          <p:cNvPr id="362" name="Shape 347"/>
          <p:cNvSpPr/>
          <p:nvPr/>
        </p:nvSpPr>
        <p:spPr>
          <a:xfrm>
            <a:off x="731520" y="6071234"/>
            <a:ext cx="72616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3" name="Text 348"/>
          <p:cNvSpPr/>
          <p:nvPr/>
        </p:nvSpPr>
        <p:spPr>
          <a:xfrm>
            <a:off x="807720" y="5814059"/>
            <a:ext cx="6499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18:37:14</a:t>
            </a:r>
            <a:endParaRPr lang="en-US" sz="825" dirty="0"/>
          </a:p>
        </p:txBody>
      </p:sp>
      <p:sp>
        <p:nvSpPr>
          <p:cNvPr id="364" name="Shape 349"/>
          <p:cNvSpPr/>
          <p:nvPr/>
        </p:nvSpPr>
        <p:spPr>
          <a:xfrm>
            <a:off x="1457683" y="6071234"/>
            <a:ext cx="121777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5" name="Text 350"/>
          <p:cNvSpPr/>
          <p:nvPr/>
        </p:nvSpPr>
        <p:spPr>
          <a:xfrm>
            <a:off x="1533883" y="5814059"/>
            <a:ext cx="11415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900" dirty="0"/>
          </a:p>
        </p:txBody>
      </p:sp>
      <p:sp>
        <p:nvSpPr>
          <p:cNvPr id="366" name="Shape 351"/>
          <p:cNvSpPr/>
          <p:nvPr/>
        </p:nvSpPr>
        <p:spPr>
          <a:xfrm>
            <a:off x="2675453" y="6071234"/>
            <a:ext cx="21377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7" name="Text 352"/>
          <p:cNvSpPr/>
          <p:nvPr/>
        </p:nvSpPr>
        <p:spPr>
          <a:xfrm>
            <a:off x="2751653" y="5814059"/>
            <a:ext cx="2061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travel · NY → SG</a:t>
            </a:r>
            <a:endParaRPr lang="en-US" sz="900" dirty="0"/>
          </a:p>
        </p:txBody>
      </p:sp>
      <p:sp>
        <p:nvSpPr>
          <p:cNvPr id="368" name="Shape 353"/>
          <p:cNvSpPr/>
          <p:nvPr/>
        </p:nvSpPr>
        <p:spPr>
          <a:xfrm>
            <a:off x="4813220" y="6071234"/>
            <a:ext cx="142279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9" name="Text 354"/>
          <p:cNvSpPr/>
          <p:nvPr/>
        </p:nvSpPr>
        <p:spPr>
          <a:xfrm>
            <a:off x="4889420" y="5814059"/>
            <a:ext cx="13465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amit.s</a:t>
            </a:r>
            <a:endParaRPr lang="en-US" sz="825" dirty="0"/>
          </a:p>
        </p:txBody>
      </p:sp>
      <p:sp>
        <p:nvSpPr>
          <p:cNvPr id="370" name="Shape 355"/>
          <p:cNvSpPr/>
          <p:nvPr/>
        </p:nvSpPr>
        <p:spPr>
          <a:xfrm>
            <a:off x="6236017" y="6071234"/>
            <a:ext cx="9134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1" name="Shape 356"/>
          <p:cNvSpPr/>
          <p:nvPr/>
        </p:nvSpPr>
        <p:spPr>
          <a:xfrm>
            <a:off x="6312217" y="5817869"/>
            <a:ext cx="56959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72" name="Shape 357"/>
          <p:cNvSpPr/>
          <p:nvPr/>
        </p:nvSpPr>
        <p:spPr>
          <a:xfrm>
            <a:off x="6386513" y="5889307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73" name="Text 358"/>
          <p:cNvSpPr/>
          <p:nvPr/>
        </p:nvSpPr>
        <p:spPr>
          <a:xfrm>
            <a:off x="6481763" y="5852159"/>
            <a:ext cx="401955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+</a:t>
            </a:r>
            <a:endParaRPr lang="en-US" sz="825" dirty="0"/>
          </a:p>
        </p:txBody>
      </p:sp>
      <p:sp>
        <p:nvSpPr>
          <p:cNvPr id="374" name="Shape 359"/>
          <p:cNvSpPr/>
          <p:nvPr/>
        </p:nvSpPr>
        <p:spPr>
          <a:xfrm>
            <a:off x="7149466" y="6071234"/>
            <a:ext cx="58090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5" name="Text 360"/>
          <p:cNvSpPr/>
          <p:nvPr/>
        </p:nvSpPr>
        <p:spPr>
          <a:xfrm>
            <a:off x="7263766" y="5847873"/>
            <a:ext cx="18740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788" dirty="0"/>
          </a:p>
        </p:txBody>
      </p:sp>
      <p:sp>
        <p:nvSpPr>
          <p:cNvPr id="376" name="Shape 361"/>
          <p:cNvSpPr/>
          <p:nvPr/>
        </p:nvSpPr>
        <p:spPr>
          <a:xfrm>
            <a:off x="7730372" y="6071234"/>
            <a:ext cx="11366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7" name="Shape 362"/>
          <p:cNvSpPr/>
          <p:nvPr/>
        </p:nvSpPr>
        <p:spPr>
          <a:xfrm>
            <a:off x="7806572" y="5817869"/>
            <a:ext cx="87356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78" name="Shape 363"/>
          <p:cNvSpPr/>
          <p:nvPr/>
        </p:nvSpPr>
        <p:spPr>
          <a:xfrm>
            <a:off x="7880865" y="5889307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79" name="Text 364"/>
          <p:cNvSpPr/>
          <p:nvPr/>
        </p:nvSpPr>
        <p:spPr>
          <a:xfrm>
            <a:off x="7976115" y="5844540"/>
            <a:ext cx="70592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auto-closed</a:t>
            </a:r>
            <a:endParaRPr lang="en-US" sz="825" dirty="0"/>
          </a:p>
        </p:txBody>
      </p:sp>
      <p:sp>
        <p:nvSpPr>
          <p:cNvPr id="380" name="Shape 365"/>
          <p:cNvSpPr/>
          <p:nvPr/>
        </p:nvSpPr>
        <p:spPr>
          <a:xfrm>
            <a:off x="8867061" y="6071234"/>
            <a:ext cx="12218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1" name="Shape 366"/>
          <p:cNvSpPr/>
          <p:nvPr/>
        </p:nvSpPr>
        <p:spPr>
          <a:xfrm>
            <a:off x="731520" y="6393180"/>
            <a:ext cx="72616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2" name="Text 367"/>
          <p:cNvSpPr/>
          <p:nvPr/>
        </p:nvSpPr>
        <p:spPr>
          <a:xfrm>
            <a:off x="807720" y="6136005"/>
            <a:ext cx="6499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18:36:30</a:t>
            </a:r>
            <a:endParaRPr lang="en-US" sz="825" dirty="0"/>
          </a:p>
        </p:txBody>
      </p:sp>
      <p:sp>
        <p:nvSpPr>
          <p:cNvPr id="383" name="Shape 368"/>
          <p:cNvSpPr/>
          <p:nvPr/>
        </p:nvSpPr>
        <p:spPr>
          <a:xfrm>
            <a:off x="1457683" y="6393180"/>
            <a:ext cx="121777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4" name="Text 369"/>
          <p:cNvSpPr/>
          <p:nvPr/>
        </p:nvSpPr>
        <p:spPr>
          <a:xfrm>
            <a:off x="1533883" y="6136005"/>
            <a:ext cx="11415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ASA</a:t>
            </a:r>
            <a:endParaRPr lang="en-US" sz="900" dirty="0"/>
          </a:p>
        </p:txBody>
      </p:sp>
      <p:sp>
        <p:nvSpPr>
          <p:cNvPr id="385" name="Shape 370"/>
          <p:cNvSpPr/>
          <p:nvPr/>
        </p:nvSpPr>
        <p:spPr>
          <a:xfrm>
            <a:off x="2675453" y="6393180"/>
            <a:ext cx="21377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6" name="Text 371"/>
          <p:cNvSpPr/>
          <p:nvPr/>
        </p:nvSpPr>
        <p:spPr>
          <a:xfrm>
            <a:off x="2751653" y="6136005"/>
            <a:ext cx="2061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scan · internal</a:t>
            </a:r>
            <a:endParaRPr lang="en-US" sz="900" dirty="0"/>
          </a:p>
        </p:txBody>
      </p:sp>
      <p:sp>
        <p:nvSpPr>
          <p:cNvPr id="387" name="Shape 372"/>
          <p:cNvSpPr/>
          <p:nvPr/>
        </p:nvSpPr>
        <p:spPr>
          <a:xfrm>
            <a:off x="4813220" y="6393180"/>
            <a:ext cx="142279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8" name="Text 373"/>
          <p:cNvSpPr/>
          <p:nvPr/>
        </p:nvSpPr>
        <p:spPr>
          <a:xfrm>
            <a:off x="4889420" y="6136005"/>
            <a:ext cx="13465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10.4.x.x</a:t>
            </a:r>
            <a:endParaRPr lang="en-US" sz="825" dirty="0"/>
          </a:p>
        </p:txBody>
      </p:sp>
      <p:sp>
        <p:nvSpPr>
          <p:cNvPr id="389" name="Shape 374"/>
          <p:cNvSpPr/>
          <p:nvPr/>
        </p:nvSpPr>
        <p:spPr>
          <a:xfrm>
            <a:off x="6236017" y="6393180"/>
            <a:ext cx="9134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0" name="Shape 375"/>
          <p:cNvSpPr/>
          <p:nvPr/>
        </p:nvSpPr>
        <p:spPr>
          <a:xfrm>
            <a:off x="6312217" y="6139815"/>
            <a:ext cx="59376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1" name="Shape 376"/>
          <p:cNvSpPr/>
          <p:nvPr/>
        </p:nvSpPr>
        <p:spPr>
          <a:xfrm>
            <a:off x="6386513" y="6211252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92" name="Text 377"/>
          <p:cNvSpPr/>
          <p:nvPr/>
        </p:nvSpPr>
        <p:spPr>
          <a:xfrm>
            <a:off x="6481763" y="6174105"/>
            <a:ext cx="42612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</a:t>
            </a:r>
            <a:endParaRPr lang="en-US" sz="825" dirty="0"/>
          </a:p>
        </p:txBody>
      </p:sp>
      <p:sp>
        <p:nvSpPr>
          <p:cNvPr id="393" name="Shape 378"/>
          <p:cNvSpPr/>
          <p:nvPr/>
        </p:nvSpPr>
        <p:spPr>
          <a:xfrm>
            <a:off x="7149466" y="6393180"/>
            <a:ext cx="58090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4" name="Text 379"/>
          <p:cNvSpPr/>
          <p:nvPr/>
        </p:nvSpPr>
        <p:spPr>
          <a:xfrm>
            <a:off x="7263766" y="6169819"/>
            <a:ext cx="18740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788" dirty="0"/>
          </a:p>
        </p:txBody>
      </p:sp>
      <p:sp>
        <p:nvSpPr>
          <p:cNvPr id="395" name="Shape 380"/>
          <p:cNvSpPr/>
          <p:nvPr/>
        </p:nvSpPr>
        <p:spPr>
          <a:xfrm>
            <a:off x="7730372" y="6393180"/>
            <a:ext cx="11366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6" name="Shape 381"/>
          <p:cNvSpPr/>
          <p:nvPr/>
        </p:nvSpPr>
        <p:spPr>
          <a:xfrm>
            <a:off x="7806572" y="6139815"/>
            <a:ext cx="87356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7" name="Shape 382"/>
          <p:cNvSpPr/>
          <p:nvPr/>
        </p:nvSpPr>
        <p:spPr>
          <a:xfrm>
            <a:off x="7880865" y="6211252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98" name="Text 383"/>
          <p:cNvSpPr/>
          <p:nvPr/>
        </p:nvSpPr>
        <p:spPr>
          <a:xfrm>
            <a:off x="7976115" y="6166484"/>
            <a:ext cx="70592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auto-closed</a:t>
            </a:r>
            <a:endParaRPr lang="en-US" sz="825" dirty="0"/>
          </a:p>
        </p:txBody>
      </p:sp>
      <p:sp>
        <p:nvSpPr>
          <p:cNvPr id="399" name="Shape 384"/>
          <p:cNvSpPr/>
          <p:nvPr/>
        </p:nvSpPr>
        <p:spPr>
          <a:xfrm>
            <a:off x="8867061" y="6393180"/>
            <a:ext cx="12218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0" name="Shape 385"/>
          <p:cNvSpPr/>
          <p:nvPr/>
        </p:nvSpPr>
        <p:spPr>
          <a:xfrm>
            <a:off x="731520" y="6400800"/>
            <a:ext cx="726162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01" name="Shape 386"/>
          <p:cNvSpPr/>
          <p:nvPr/>
        </p:nvSpPr>
        <p:spPr>
          <a:xfrm>
            <a:off x="731520" y="6715125"/>
            <a:ext cx="72616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2" name="Text 387"/>
          <p:cNvSpPr/>
          <p:nvPr/>
        </p:nvSpPr>
        <p:spPr>
          <a:xfrm>
            <a:off x="807720" y="6457950"/>
            <a:ext cx="6499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18:36:01</a:t>
            </a:r>
            <a:endParaRPr lang="en-US" sz="825" dirty="0"/>
          </a:p>
        </p:txBody>
      </p:sp>
      <p:sp>
        <p:nvSpPr>
          <p:cNvPr id="403" name="Shape 388"/>
          <p:cNvSpPr/>
          <p:nvPr/>
        </p:nvSpPr>
        <p:spPr>
          <a:xfrm>
            <a:off x="1457683" y="6400800"/>
            <a:ext cx="1217771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04" name="Shape 389"/>
          <p:cNvSpPr/>
          <p:nvPr/>
        </p:nvSpPr>
        <p:spPr>
          <a:xfrm>
            <a:off x="1457683" y="6715125"/>
            <a:ext cx="121777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5" name="Text 390"/>
          <p:cNvSpPr/>
          <p:nvPr/>
        </p:nvSpPr>
        <p:spPr>
          <a:xfrm>
            <a:off x="1533883" y="6457950"/>
            <a:ext cx="11415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access</a:t>
            </a:r>
            <a:endParaRPr lang="en-US" sz="900" dirty="0"/>
          </a:p>
        </p:txBody>
      </p:sp>
      <p:sp>
        <p:nvSpPr>
          <p:cNvPr id="406" name="Shape 391"/>
          <p:cNvSpPr/>
          <p:nvPr/>
        </p:nvSpPr>
        <p:spPr>
          <a:xfrm>
            <a:off x="2675453" y="6400800"/>
            <a:ext cx="2137767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07" name="Shape 392"/>
          <p:cNvSpPr/>
          <p:nvPr/>
        </p:nvSpPr>
        <p:spPr>
          <a:xfrm>
            <a:off x="2675453" y="6715125"/>
            <a:ext cx="21377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8" name="Text 393"/>
          <p:cNvSpPr/>
          <p:nvPr/>
        </p:nvSpPr>
        <p:spPr>
          <a:xfrm>
            <a:off x="2751653" y="6457950"/>
            <a:ext cx="2061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GetObject · unusual UA</a:t>
            </a:r>
            <a:endParaRPr lang="en-US" sz="900" dirty="0"/>
          </a:p>
        </p:txBody>
      </p:sp>
      <p:sp>
        <p:nvSpPr>
          <p:cNvPr id="409" name="Shape 394"/>
          <p:cNvSpPr/>
          <p:nvPr/>
        </p:nvSpPr>
        <p:spPr>
          <a:xfrm>
            <a:off x="4813220" y="6400800"/>
            <a:ext cx="1422797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10" name="Shape 395"/>
          <p:cNvSpPr/>
          <p:nvPr/>
        </p:nvSpPr>
        <p:spPr>
          <a:xfrm>
            <a:off x="4813220" y="6715125"/>
            <a:ext cx="142279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1" name="Text 396"/>
          <p:cNvSpPr/>
          <p:nvPr/>
        </p:nvSpPr>
        <p:spPr>
          <a:xfrm>
            <a:off x="4889420" y="6457950"/>
            <a:ext cx="13465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marketing-bkt</a:t>
            </a:r>
            <a:endParaRPr lang="en-US" sz="825" dirty="0"/>
          </a:p>
        </p:txBody>
      </p:sp>
      <p:sp>
        <p:nvSpPr>
          <p:cNvPr id="412" name="Shape 397"/>
          <p:cNvSpPr/>
          <p:nvPr/>
        </p:nvSpPr>
        <p:spPr>
          <a:xfrm>
            <a:off x="6236017" y="6400800"/>
            <a:ext cx="913448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13" name="Shape 398"/>
          <p:cNvSpPr/>
          <p:nvPr/>
        </p:nvSpPr>
        <p:spPr>
          <a:xfrm>
            <a:off x="6236017" y="6715125"/>
            <a:ext cx="9134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4" name="Shape 399"/>
          <p:cNvSpPr/>
          <p:nvPr/>
        </p:nvSpPr>
        <p:spPr>
          <a:xfrm>
            <a:off x="6312217" y="6461759"/>
            <a:ext cx="672108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415" name="Shape 400"/>
          <p:cNvSpPr/>
          <p:nvPr/>
        </p:nvSpPr>
        <p:spPr>
          <a:xfrm>
            <a:off x="6386513" y="6533197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16" name="Text 401"/>
          <p:cNvSpPr/>
          <p:nvPr/>
        </p:nvSpPr>
        <p:spPr>
          <a:xfrm>
            <a:off x="6481763" y="6496050"/>
            <a:ext cx="50446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</a:t>
            </a:r>
            <a:endParaRPr lang="en-US" sz="825" dirty="0"/>
          </a:p>
        </p:txBody>
      </p:sp>
      <p:sp>
        <p:nvSpPr>
          <p:cNvPr id="417" name="Shape 402"/>
          <p:cNvSpPr/>
          <p:nvPr/>
        </p:nvSpPr>
        <p:spPr>
          <a:xfrm>
            <a:off x="7149466" y="6400800"/>
            <a:ext cx="580906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18" name="Shape 403"/>
          <p:cNvSpPr/>
          <p:nvPr/>
        </p:nvSpPr>
        <p:spPr>
          <a:xfrm>
            <a:off x="7149466" y="6715125"/>
            <a:ext cx="58090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9" name="Text 404"/>
          <p:cNvSpPr/>
          <p:nvPr/>
        </p:nvSpPr>
        <p:spPr>
          <a:xfrm>
            <a:off x="7263766" y="6491763"/>
            <a:ext cx="18740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788" dirty="0"/>
          </a:p>
        </p:txBody>
      </p:sp>
      <p:sp>
        <p:nvSpPr>
          <p:cNvPr id="420" name="Shape 405"/>
          <p:cNvSpPr/>
          <p:nvPr/>
        </p:nvSpPr>
        <p:spPr>
          <a:xfrm>
            <a:off x="7730372" y="6400800"/>
            <a:ext cx="1136690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21" name="Shape 406"/>
          <p:cNvSpPr/>
          <p:nvPr/>
        </p:nvSpPr>
        <p:spPr>
          <a:xfrm>
            <a:off x="7730372" y="6715125"/>
            <a:ext cx="11366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2" name="Shape 407"/>
          <p:cNvSpPr/>
          <p:nvPr/>
        </p:nvSpPr>
        <p:spPr>
          <a:xfrm>
            <a:off x="7806572" y="6461759"/>
            <a:ext cx="87356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3" name="Shape 408"/>
          <p:cNvSpPr/>
          <p:nvPr/>
        </p:nvSpPr>
        <p:spPr>
          <a:xfrm>
            <a:off x="7880865" y="6533197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24" name="Text 409"/>
          <p:cNvSpPr/>
          <p:nvPr/>
        </p:nvSpPr>
        <p:spPr>
          <a:xfrm>
            <a:off x="7976115" y="6488430"/>
            <a:ext cx="70592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auto-closed</a:t>
            </a:r>
            <a:endParaRPr lang="en-US" sz="825" dirty="0"/>
          </a:p>
        </p:txBody>
      </p:sp>
      <p:sp>
        <p:nvSpPr>
          <p:cNvPr id="425" name="Shape 410"/>
          <p:cNvSpPr/>
          <p:nvPr/>
        </p:nvSpPr>
        <p:spPr>
          <a:xfrm>
            <a:off x="8867061" y="6400800"/>
            <a:ext cx="1221819" cy="32194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26" name="Shape 411"/>
          <p:cNvSpPr/>
          <p:nvPr/>
        </p:nvSpPr>
        <p:spPr>
          <a:xfrm>
            <a:off x="8867061" y="6715125"/>
            <a:ext cx="12218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7" name="Shape 412"/>
          <p:cNvSpPr/>
          <p:nvPr/>
        </p:nvSpPr>
        <p:spPr>
          <a:xfrm>
            <a:off x="731520" y="6722744"/>
            <a:ext cx="726162" cy="31813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28" name="Text 413"/>
          <p:cNvSpPr/>
          <p:nvPr/>
        </p:nvSpPr>
        <p:spPr>
          <a:xfrm>
            <a:off x="807720" y="6779894"/>
            <a:ext cx="649962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18:35:42</a:t>
            </a:r>
            <a:endParaRPr lang="en-US" sz="825" dirty="0"/>
          </a:p>
        </p:txBody>
      </p:sp>
      <p:sp>
        <p:nvSpPr>
          <p:cNvPr id="429" name="Shape 414"/>
          <p:cNvSpPr/>
          <p:nvPr/>
        </p:nvSpPr>
        <p:spPr>
          <a:xfrm>
            <a:off x="1457683" y="6722744"/>
            <a:ext cx="1217771" cy="31813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30" name="Text 415"/>
          <p:cNvSpPr/>
          <p:nvPr/>
        </p:nvSpPr>
        <p:spPr>
          <a:xfrm>
            <a:off x="1533883" y="6779894"/>
            <a:ext cx="1141571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KubeArmor</a:t>
            </a:r>
            <a:endParaRPr lang="en-US" sz="900" dirty="0"/>
          </a:p>
        </p:txBody>
      </p:sp>
      <p:sp>
        <p:nvSpPr>
          <p:cNvPr id="431" name="Shape 416"/>
          <p:cNvSpPr/>
          <p:nvPr/>
        </p:nvSpPr>
        <p:spPr>
          <a:xfrm>
            <a:off x="2675453" y="6722744"/>
            <a:ext cx="2137767" cy="31813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32" name="Text 417"/>
          <p:cNvSpPr/>
          <p:nvPr/>
        </p:nvSpPr>
        <p:spPr>
          <a:xfrm>
            <a:off x="2751653" y="6779894"/>
            <a:ext cx="2061567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DNS · DGA pattern</a:t>
            </a:r>
            <a:endParaRPr lang="en-US" sz="900" dirty="0"/>
          </a:p>
        </p:txBody>
      </p:sp>
      <p:sp>
        <p:nvSpPr>
          <p:cNvPr id="433" name="Shape 418"/>
          <p:cNvSpPr/>
          <p:nvPr/>
        </p:nvSpPr>
        <p:spPr>
          <a:xfrm>
            <a:off x="4813220" y="6722744"/>
            <a:ext cx="1422797" cy="31813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34" name="Text 419"/>
          <p:cNvSpPr/>
          <p:nvPr/>
        </p:nvSpPr>
        <p:spPr>
          <a:xfrm>
            <a:off x="4889420" y="6779894"/>
            <a:ext cx="1346597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claude-fin-bot</a:t>
            </a:r>
            <a:endParaRPr lang="en-US" sz="825" dirty="0"/>
          </a:p>
        </p:txBody>
      </p:sp>
      <p:sp>
        <p:nvSpPr>
          <p:cNvPr id="435" name="Shape 420"/>
          <p:cNvSpPr/>
          <p:nvPr/>
        </p:nvSpPr>
        <p:spPr>
          <a:xfrm>
            <a:off x="6236017" y="6722744"/>
            <a:ext cx="913448" cy="31813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36" name="Shape 421"/>
          <p:cNvSpPr/>
          <p:nvPr/>
        </p:nvSpPr>
        <p:spPr>
          <a:xfrm>
            <a:off x="6312217" y="6783705"/>
            <a:ext cx="530662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437" name="Shape 422"/>
          <p:cNvSpPr/>
          <p:nvPr/>
        </p:nvSpPr>
        <p:spPr>
          <a:xfrm>
            <a:off x="6386513" y="6855142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438" name="Text 423"/>
          <p:cNvSpPr/>
          <p:nvPr/>
        </p:nvSpPr>
        <p:spPr>
          <a:xfrm>
            <a:off x="6481763" y="6817994"/>
            <a:ext cx="36302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+</a:t>
            </a:r>
            <a:endParaRPr lang="en-US" sz="825" dirty="0"/>
          </a:p>
        </p:txBody>
      </p:sp>
      <p:sp>
        <p:nvSpPr>
          <p:cNvPr id="439" name="Shape 424"/>
          <p:cNvSpPr/>
          <p:nvPr/>
        </p:nvSpPr>
        <p:spPr>
          <a:xfrm>
            <a:off x="7149466" y="6722744"/>
            <a:ext cx="580906" cy="31813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40" name="Text 425"/>
          <p:cNvSpPr/>
          <p:nvPr/>
        </p:nvSpPr>
        <p:spPr>
          <a:xfrm>
            <a:off x="7263766" y="6813709"/>
            <a:ext cx="187404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788" dirty="0"/>
          </a:p>
        </p:txBody>
      </p:sp>
      <p:sp>
        <p:nvSpPr>
          <p:cNvPr id="441" name="Shape 426"/>
          <p:cNvSpPr/>
          <p:nvPr/>
        </p:nvSpPr>
        <p:spPr>
          <a:xfrm>
            <a:off x="7730372" y="6722744"/>
            <a:ext cx="1136690" cy="31813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42" name="Shape 427"/>
          <p:cNvSpPr/>
          <p:nvPr/>
        </p:nvSpPr>
        <p:spPr>
          <a:xfrm>
            <a:off x="7806572" y="6783705"/>
            <a:ext cx="742831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443" name="Shape 428"/>
          <p:cNvSpPr/>
          <p:nvPr/>
        </p:nvSpPr>
        <p:spPr>
          <a:xfrm>
            <a:off x="7880865" y="6855142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444" name="Text 429"/>
          <p:cNvSpPr/>
          <p:nvPr/>
        </p:nvSpPr>
        <p:spPr>
          <a:xfrm>
            <a:off x="7976115" y="6810375"/>
            <a:ext cx="57519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</a:t>
            </a:r>
            <a:endParaRPr lang="en-US" sz="825" dirty="0"/>
          </a:p>
        </p:txBody>
      </p:sp>
      <p:sp>
        <p:nvSpPr>
          <p:cNvPr id="445" name="Shape 430"/>
          <p:cNvSpPr/>
          <p:nvPr/>
        </p:nvSpPr>
        <p:spPr>
          <a:xfrm>
            <a:off x="8867061" y="6722744"/>
            <a:ext cx="1221819" cy="31813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46" name="Shape 431"/>
          <p:cNvSpPr/>
          <p:nvPr/>
        </p:nvSpPr>
        <p:spPr>
          <a:xfrm>
            <a:off x="8943261" y="6783705"/>
            <a:ext cx="95023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447" name="Shape 432"/>
          <p:cNvSpPr/>
          <p:nvPr/>
        </p:nvSpPr>
        <p:spPr>
          <a:xfrm>
            <a:off x="9017557" y="685514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48" name="Text 433"/>
          <p:cNvSpPr/>
          <p:nvPr/>
        </p:nvSpPr>
        <p:spPr>
          <a:xfrm>
            <a:off x="9112807" y="6810375"/>
            <a:ext cx="78259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block ↗</a:t>
            </a:r>
            <a:endParaRPr lang="en-US" sz="825" dirty="0"/>
          </a:p>
        </p:txBody>
      </p:sp>
      <p:sp>
        <p:nvSpPr>
          <p:cNvPr id="449" name="Shape 434"/>
          <p:cNvSpPr/>
          <p:nvPr/>
        </p:nvSpPr>
        <p:spPr>
          <a:xfrm>
            <a:off x="8092678" y="5957888"/>
            <a:ext cx="2022872" cy="538163"/>
          </a:xfrm>
          <a:prstGeom prst="roundRect">
            <a:avLst>
              <a:gd name="adj" fmla="val 708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450" name="Text 435"/>
          <p:cNvSpPr/>
          <p:nvPr/>
        </p:nvSpPr>
        <p:spPr>
          <a:xfrm>
            <a:off x="8176498" y="6022658"/>
            <a:ext cx="1931432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this screen tells: </a:t>
            </a:r>
            <a:pPr algn="l" indent="0" marL="0">
              <a:lnSpc>
                <a:spcPct val="130000"/>
              </a:lnSpc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handled. </a:t>
            </a:r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of benign-slate with a thin band of critical red on top.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7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1" y="12382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4"/>
            <a:ext cx="89130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board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1577101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1685092" y="144780"/>
            <a:ext cx="10991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investigations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2860477" y="74294"/>
            <a:ext cx="4630460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63347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134797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4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4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59" y="131444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5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09"/>
            <a:ext cx="181463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investigations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695367" y="616267"/>
            <a:ext cx="785932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7769661" y="687705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25"/>
          <p:cNvSpPr/>
          <p:nvPr/>
        </p:nvSpPr>
        <p:spPr>
          <a:xfrm>
            <a:off x="7864911" y="642938"/>
            <a:ext cx="61829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severity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8538451" y="616267"/>
            <a:ext cx="74807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8612744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3" name="Text 28"/>
          <p:cNvSpPr/>
          <p:nvPr/>
        </p:nvSpPr>
        <p:spPr>
          <a:xfrm>
            <a:off x="8707994" y="642938"/>
            <a:ext cx="58043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analyst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9343667" y="590550"/>
            <a:ext cx="809982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Text 30"/>
          <p:cNvSpPr/>
          <p:nvPr/>
        </p:nvSpPr>
        <p:spPr>
          <a:xfrm>
            <a:off x="9446540" y="636269"/>
            <a:ext cx="68044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new case</a:t>
            </a:r>
            <a:endParaRPr lang="en-US" sz="900" dirty="0"/>
          </a:p>
        </p:txBody>
      </p:sp>
      <p:sp>
        <p:nvSpPr>
          <p:cNvPr id="46" name="Shape 31"/>
          <p:cNvSpPr/>
          <p:nvPr/>
        </p:nvSpPr>
        <p:spPr>
          <a:xfrm>
            <a:off x="666750" y="937259"/>
            <a:ext cx="1836420" cy="5596890"/>
          </a:xfrm>
          <a:prstGeom prst="roundRect">
            <a:avLst>
              <a:gd name="adj" fmla="val 414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7" name="Text 32"/>
          <p:cNvSpPr/>
          <p:nvPr/>
        </p:nvSpPr>
        <p:spPr>
          <a:xfrm>
            <a:off x="750570" y="1021080"/>
            <a:ext cx="31099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</p:txBody>
      </p:sp>
      <p:sp>
        <p:nvSpPr>
          <p:cNvPr id="48" name="Text 33"/>
          <p:cNvSpPr/>
          <p:nvPr/>
        </p:nvSpPr>
        <p:spPr>
          <a:xfrm>
            <a:off x="2349461" y="1021080"/>
            <a:ext cx="14609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750570" y="1266825"/>
            <a:ext cx="1668780" cy="1122045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0" name="Shape 35"/>
          <p:cNvSpPr/>
          <p:nvPr/>
        </p:nvSpPr>
        <p:spPr>
          <a:xfrm>
            <a:off x="750570" y="2381250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Shape 36"/>
          <p:cNvSpPr/>
          <p:nvPr/>
        </p:nvSpPr>
        <p:spPr>
          <a:xfrm>
            <a:off x="750570" y="1266825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37"/>
          <p:cNvSpPr/>
          <p:nvPr/>
        </p:nvSpPr>
        <p:spPr>
          <a:xfrm>
            <a:off x="750570" y="1266825"/>
            <a:ext cx="22860" cy="112204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3" name="Shape 38"/>
          <p:cNvSpPr/>
          <p:nvPr/>
        </p:nvSpPr>
        <p:spPr>
          <a:xfrm>
            <a:off x="2411730" y="1266825"/>
            <a:ext cx="9525" cy="112204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Shape 39"/>
          <p:cNvSpPr/>
          <p:nvPr/>
        </p:nvSpPr>
        <p:spPr>
          <a:xfrm>
            <a:off x="859155" y="1341119"/>
            <a:ext cx="410051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933450" y="1412557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6" name="Text 41"/>
          <p:cNvSpPr/>
          <p:nvPr/>
        </p:nvSpPr>
        <p:spPr>
          <a:xfrm>
            <a:off x="1028700" y="1375409"/>
            <a:ext cx="242411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</a:t>
            </a:r>
            <a:endParaRPr lang="en-US" sz="825" dirty="0"/>
          </a:p>
        </p:txBody>
      </p:sp>
      <p:sp>
        <p:nvSpPr>
          <p:cNvPr id="57" name="Text 42"/>
          <p:cNvSpPr/>
          <p:nvPr/>
        </p:nvSpPr>
        <p:spPr>
          <a:xfrm>
            <a:off x="859155" y="1569719"/>
            <a:ext cx="1543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 → MFA spam → S3 mass GET</a:t>
            </a:r>
            <a:endParaRPr lang="en-US" sz="900" dirty="0"/>
          </a:p>
        </p:txBody>
      </p:sp>
      <p:sp>
        <p:nvSpPr>
          <p:cNvPr id="58" name="Text 43"/>
          <p:cNvSpPr/>
          <p:nvPr/>
        </p:nvSpPr>
        <p:spPr>
          <a:xfrm>
            <a:off x="859155" y="1844040"/>
            <a:ext cx="15430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carlos.t · finance</a:t>
            </a:r>
            <a:endParaRPr lang="en-US" sz="825" dirty="0"/>
          </a:p>
        </p:txBody>
      </p:sp>
      <p:sp>
        <p:nvSpPr>
          <p:cNvPr id="59" name="Text 44"/>
          <p:cNvSpPr/>
          <p:nvPr/>
        </p:nvSpPr>
        <p:spPr>
          <a:xfrm>
            <a:off x="859155" y="2028825"/>
            <a:ext cx="8193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T1078 · T1530</a:t>
            </a:r>
            <a:endParaRPr lang="en-US" sz="750" dirty="0"/>
          </a:p>
        </p:txBody>
      </p:sp>
      <p:sp>
        <p:nvSpPr>
          <p:cNvPr id="60" name="Text 45"/>
          <p:cNvSpPr/>
          <p:nvPr/>
        </p:nvSpPr>
        <p:spPr>
          <a:xfrm>
            <a:off x="2220039" y="2028825"/>
            <a:ext cx="1821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750" dirty="0"/>
          </a:p>
        </p:txBody>
      </p:sp>
      <p:sp>
        <p:nvSpPr>
          <p:cNvPr id="61" name="Text 46"/>
          <p:cNvSpPr/>
          <p:nvPr/>
        </p:nvSpPr>
        <p:spPr>
          <a:xfrm>
            <a:off x="859155" y="2181225"/>
            <a:ext cx="1543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@auto</a:t>
            </a:r>
            <a:endParaRPr lang="en-US" sz="750" dirty="0"/>
          </a:p>
        </p:txBody>
      </p:sp>
      <p:sp>
        <p:nvSpPr>
          <p:cNvPr id="62" name="Shape 47"/>
          <p:cNvSpPr/>
          <p:nvPr/>
        </p:nvSpPr>
        <p:spPr>
          <a:xfrm>
            <a:off x="750570" y="2436494"/>
            <a:ext cx="1668780" cy="984885"/>
          </a:xfrm>
          <a:prstGeom prst="roundRect">
            <a:avLst>
              <a:gd name="adj" fmla="val 67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3" name="Shape 48"/>
          <p:cNvSpPr/>
          <p:nvPr/>
        </p:nvSpPr>
        <p:spPr>
          <a:xfrm>
            <a:off x="750570" y="3413759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Shape 49"/>
          <p:cNvSpPr/>
          <p:nvPr/>
        </p:nvSpPr>
        <p:spPr>
          <a:xfrm>
            <a:off x="750570" y="2436494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5" name="Shape 50"/>
          <p:cNvSpPr/>
          <p:nvPr/>
        </p:nvSpPr>
        <p:spPr>
          <a:xfrm>
            <a:off x="750570" y="2436494"/>
            <a:ext cx="22860" cy="98488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6" name="Shape 51"/>
          <p:cNvSpPr/>
          <p:nvPr/>
        </p:nvSpPr>
        <p:spPr>
          <a:xfrm>
            <a:off x="2411730" y="2436494"/>
            <a:ext cx="9525" cy="98488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52"/>
          <p:cNvSpPr/>
          <p:nvPr/>
        </p:nvSpPr>
        <p:spPr>
          <a:xfrm>
            <a:off x="859155" y="2510790"/>
            <a:ext cx="48601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68" name="Shape 53"/>
          <p:cNvSpPr/>
          <p:nvPr/>
        </p:nvSpPr>
        <p:spPr>
          <a:xfrm>
            <a:off x="933450" y="2582227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69" name="Text 54"/>
          <p:cNvSpPr/>
          <p:nvPr/>
        </p:nvSpPr>
        <p:spPr>
          <a:xfrm>
            <a:off x="1028700" y="2545080"/>
            <a:ext cx="31837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825" dirty="0"/>
          </a:p>
        </p:txBody>
      </p:sp>
      <p:sp>
        <p:nvSpPr>
          <p:cNvPr id="70" name="Text 55"/>
          <p:cNvSpPr/>
          <p:nvPr/>
        </p:nvSpPr>
        <p:spPr>
          <a:xfrm>
            <a:off x="859155" y="2739390"/>
            <a:ext cx="15430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sidecar ptrace</a:t>
            </a:r>
            <a:endParaRPr lang="en-US" sz="900" dirty="0"/>
          </a:p>
        </p:txBody>
      </p:sp>
      <p:sp>
        <p:nvSpPr>
          <p:cNvPr id="71" name="Text 56"/>
          <p:cNvSpPr/>
          <p:nvPr/>
        </p:nvSpPr>
        <p:spPr>
          <a:xfrm>
            <a:off x="859155" y="2876550"/>
            <a:ext cx="15430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payments-9c4f1</a:t>
            </a:r>
            <a:endParaRPr lang="en-US" sz="825" dirty="0"/>
          </a:p>
        </p:txBody>
      </p:sp>
      <p:sp>
        <p:nvSpPr>
          <p:cNvPr id="72" name="Text 57"/>
          <p:cNvSpPr/>
          <p:nvPr/>
        </p:nvSpPr>
        <p:spPr>
          <a:xfrm>
            <a:off x="859155" y="3061334"/>
            <a:ext cx="3620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T1611</a:t>
            </a:r>
            <a:endParaRPr lang="en-US" sz="750" dirty="0"/>
          </a:p>
        </p:txBody>
      </p:sp>
      <p:sp>
        <p:nvSpPr>
          <p:cNvPr id="73" name="Text 58"/>
          <p:cNvSpPr/>
          <p:nvPr/>
        </p:nvSpPr>
        <p:spPr>
          <a:xfrm>
            <a:off x="2220039" y="3061334"/>
            <a:ext cx="1821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750" dirty="0"/>
          </a:p>
        </p:txBody>
      </p:sp>
      <p:sp>
        <p:nvSpPr>
          <p:cNvPr id="74" name="Text 59"/>
          <p:cNvSpPr/>
          <p:nvPr/>
        </p:nvSpPr>
        <p:spPr>
          <a:xfrm>
            <a:off x="859155" y="3213734"/>
            <a:ext cx="1543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@auto</a:t>
            </a:r>
            <a:endParaRPr lang="en-US" sz="750" dirty="0"/>
          </a:p>
        </p:txBody>
      </p:sp>
      <p:sp>
        <p:nvSpPr>
          <p:cNvPr id="75" name="Shape 60"/>
          <p:cNvSpPr/>
          <p:nvPr/>
        </p:nvSpPr>
        <p:spPr>
          <a:xfrm>
            <a:off x="750570" y="3469005"/>
            <a:ext cx="1668780" cy="1122045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6" name="Shape 61"/>
          <p:cNvSpPr/>
          <p:nvPr/>
        </p:nvSpPr>
        <p:spPr>
          <a:xfrm>
            <a:off x="750570" y="4583430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7" name="Shape 62"/>
          <p:cNvSpPr/>
          <p:nvPr/>
        </p:nvSpPr>
        <p:spPr>
          <a:xfrm>
            <a:off x="750570" y="3469005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Shape 63"/>
          <p:cNvSpPr/>
          <p:nvPr/>
        </p:nvSpPr>
        <p:spPr>
          <a:xfrm>
            <a:off x="750570" y="3469005"/>
            <a:ext cx="22860" cy="112204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9" name="Shape 64"/>
          <p:cNvSpPr/>
          <p:nvPr/>
        </p:nvSpPr>
        <p:spPr>
          <a:xfrm>
            <a:off x="2411730" y="3469005"/>
            <a:ext cx="9525" cy="112204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Shape 65"/>
          <p:cNvSpPr/>
          <p:nvPr/>
        </p:nvSpPr>
        <p:spPr>
          <a:xfrm>
            <a:off x="859155" y="3543300"/>
            <a:ext cx="436959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81" name="Shape 66"/>
          <p:cNvSpPr/>
          <p:nvPr/>
        </p:nvSpPr>
        <p:spPr>
          <a:xfrm>
            <a:off x="933450" y="361473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82" name="Text 67"/>
          <p:cNvSpPr/>
          <p:nvPr/>
        </p:nvSpPr>
        <p:spPr>
          <a:xfrm>
            <a:off x="1028700" y="3577590"/>
            <a:ext cx="26932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825" dirty="0"/>
          </a:p>
        </p:txBody>
      </p:sp>
      <p:sp>
        <p:nvSpPr>
          <p:cNvPr id="83" name="Text 68"/>
          <p:cNvSpPr/>
          <p:nvPr/>
        </p:nvSpPr>
        <p:spPr>
          <a:xfrm>
            <a:off x="859155" y="3771900"/>
            <a:ext cx="1543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mass clone · off-hours</a:t>
            </a:r>
            <a:endParaRPr lang="en-US" sz="900" dirty="0"/>
          </a:p>
        </p:txBody>
      </p:sp>
      <p:sp>
        <p:nvSpPr>
          <p:cNvPr id="84" name="Text 69"/>
          <p:cNvSpPr/>
          <p:nvPr/>
        </p:nvSpPr>
        <p:spPr>
          <a:xfrm>
            <a:off x="859155" y="4046219"/>
            <a:ext cx="15430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diane.k</a:t>
            </a:r>
            <a:endParaRPr lang="en-US" sz="825" dirty="0"/>
          </a:p>
        </p:txBody>
      </p:sp>
      <p:sp>
        <p:nvSpPr>
          <p:cNvPr id="85" name="Text 70"/>
          <p:cNvSpPr/>
          <p:nvPr/>
        </p:nvSpPr>
        <p:spPr>
          <a:xfrm>
            <a:off x="859155" y="4231005"/>
            <a:ext cx="5906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T1213.003</a:t>
            </a:r>
            <a:endParaRPr lang="en-US" sz="750" dirty="0"/>
          </a:p>
        </p:txBody>
      </p:sp>
      <p:sp>
        <p:nvSpPr>
          <p:cNvPr id="86" name="Text 71"/>
          <p:cNvSpPr/>
          <p:nvPr/>
        </p:nvSpPr>
        <p:spPr>
          <a:xfrm>
            <a:off x="2220039" y="4231005"/>
            <a:ext cx="1821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750" dirty="0"/>
          </a:p>
        </p:txBody>
      </p:sp>
      <p:sp>
        <p:nvSpPr>
          <p:cNvPr id="87" name="Text 72"/>
          <p:cNvSpPr/>
          <p:nvPr/>
        </p:nvSpPr>
        <p:spPr>
          <a:xfrm>
            <a:off x="859155" y="4383405"/>
            <a:ext cx="1543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@auto</a:t>
            </a:r>
            <a:endParaRPr lang="en-US" sz="750" dirty="0"/>
          </a:p>
        </p:txBody>
      </p:sp>
      <p:sp>
        <p:nvSpPr>
          <p:cNvPr id="88" name="Shape 73"/>
          <p:cNvSpPr/>
          <p:nvPr/>
        </p:nvSpPr>
        <p:spPr>
          <a:xfrm>
            <a:off x="2579370" y="937259"/>
            <a:ext cx="1836420" cy="5596890"/>
          </a:xfrm>
          <a:prstGeom prst="roundRect">
            <a:avLst>
              <a:gd name="adj" fmla="val 414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9" name="Text 74"/>
          <p:cNvSpPr/>
          <p:nvPr/>
        </p:nvSpPr>
        <p:spPr>
          <a:xfrm>
            <a:off x="2663191" y="1021080"/>
            <a:ext cx="79057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investigating</a:t>
            </a:r>
            <a:endParaRPr lang="en-US" sz="900" dirty="0"/>
          </a:p>
        </p:txBody>
      </p:sp>
      <p:sp>
        <p:nvSpPr>
          <p:cNvPr id="90" name="Text 75"/>
          <p:cNvSpPr/>
          <p:nvPr/>
        </p:nvSpPr>
        <p:spPr>
          <a:xfrm>
            <a:off x="4258033" y="1021080"/>
            <a:ext cx="15013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91" name="Shape 76"/>
          <p:cNvSpPr/>
          <p:nvPr/>
        </p:nvSpPr>
        <p:spPr>
          <a:xfrm>
            <a:off x="2663191" y="1266825"/>
            <a:ext cx="1668780" cy="1122045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92" name="Shape 77"/>
          <p:cNvSpPr/>
          <p:nvPr/>
        </p:nvSpPr>
        <p:spPr>
          <a:xfrm>
            <a:off x="2663191" y="2381250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3" name="Shape 78"/>
          <p:cNvSpPr/>
          <p:nvPr/>
        </p:nvSpPr>
        <p:spPr>
          <a:xfrm>
            <a:off x="2663191" y="1266825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4" name="Shape 79"/>
          <p:cNvSpPr/>
          <p:nvPr/>
        </p:nvSpPr>
        <p:spPr>
          <a:xfrm>
            <a:off x="2663191" y="1266825"/>
            <a:ext cx="22860" cy="112204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5" name="Shape 80"/>
          <p:cNvSpPr/>
          <p:nvPr/>
        </p:nvSpPr>
        <p:spPr>
          <a:xfrm>
            <a:off x="4324351" y="1266825"/>
            <a:ext cx="9525" cy="112204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6" name="Shape 81"/>
          <p:cNvSpPr/>
          <p:nvPr/>
        </p:nvSpPr>
        <p:spPr>
          <a:xfrm>
            <a:off x="2771775" y="1341119"/>
            <a:ext cx="410051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97" name="Shape 82"/>
          <p:cNvSpPr/>
          <p:nvPr/>
        </p:nvSpPr>
        <p:spPr>
          <a:xfrm>
            <a:off x="2846070" y="1412557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98" name="Text 83"/>
          <p:cNvSpPr/>
          <p:nvPr/>
        </p:nvSpPr>
        <p:spPr>
          <a:xfrm>
            <a:off x="2941320" y="1375409"/>
            <a:ext cx="242411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</a:t>
            </a:r>
            <a:endParaRPr lang="en-US" sz="825" dirty="0"/>
          </a:p>
        </p:txBody>
      </p:sp>
      <p:sp>
        <p:nvSpPr>
          <p:cNvPr id="99" name="Text 84"/>
          <p:cNvSpPr/>
          <p:nvPr/>
        </p:nvSpPr>
        <p:spPr>
          <a:xfrm>
            <a:off x="2771775" y="1569719"/>
            <a:ext cx="1543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· model exfil attempt</a:t>
            </a:r>
            <a:endParaRPr lang="en-US" sz="900" dirty="0"/>
          </a:p>
        </p:txBody>
      </p:sp>
      <p:sp>
        <p:nvSpPr>
          <p:cNvPr id="100" name="Text 85"/>
          <p:cNvSpPr/>
          <p:nvPr/>
        </p:nvSpPr>
        <p:spPr>
          <a:xfrm>
            <a:off x="2771775" y="1844040"/>
            <a:ext cx="15430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agent/claude-fin-bot</a:t>
            </a:r>
            <a:endParaRPr lang="en-US" sz="825" dirty="0"/>
          </a:p>
        </p:txBody>
      </p:sp>
      <p:sp>
        <p:nvSpPr>
          <p:cNvPr id="101" name="Text 86"/>
          <p:cNvSpPr/>
          <p:nvPr/>
        </p:nvSpPr>
        <p:spPr>
          <a:xfrm>
            <a:off x="2771775" y="2028825"/>
            <a:ext cx="5906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AML.T0024</a:t>
            </a:r>
            <a:endParaRPr lang="en-US" sz="750" dirty="0"/>
          </a:p>
        </p:txBody>
      </p:sp>
      <p:sp>
        <p:nvSpPr>
          <p:cNvPr id="102" name="Text 87"/>
          <p:cNvSpPr/>
          <p:nvPr/>
        </p:nvSpPr>
        <p:spPr>
          <a:xfrm>
            <a:off x="4132659" y="2028825"/>
            <a:ext cx="1821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750" dirty="0"/>
          </a:p>
        </p:txBody>
      </p:sp>
      <p:sp>
        <p:nvSpPr>
          <p:cNvPr id="103" name="Text 88"/>
          <p:cNvSpPr/>
          <p:nvPr/>
        </p:nvSpPr>
        <p:spPr>
          <a:xfrm>
            <a:off x="2771775" y="2181225"/>
            <a:ext cx="1543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@alex</a:t>
            </a:r>
            <a:endParaRPr lang="en-US" sz="750" dirty="0"/>
          </a:p>
        </p:txBody>
      </p:sp>
      <p:sp>
        <p:nvSpPr>
          <p:cNvPr id="104" name="Shape 89"/>
          <p:cNvSpPr/>
          <p:nvPr/>
        </p:nvSpPr>
        <p:spPr>
          <a:xfrm>
            <a:off x="2663191" y="2436494"/>
            <a:ext cx="1668780" cy="1122045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5" name="Shape 90"/>
          <p:cNvSpPr/>
          <p:nvPr/>
        </p:nvSpPr>
        <p:spPr>
          <a:xfrm>
            <a:off x="2663191" y="3550919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6" name="Shape 91"/>
          <p:cNvSpPr/>
          <p:nvPr/>
        </p:nvSpPr>
        <p:spPr>
          <a:xfrm>
            <a:off x="2663191" y="2436494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7" name="Shape 92"/>
          <p:cNvSpPr/>
          <p:nvPr/>
        </p:nvSpPr>
        <p:spPr>
          <a:xfrm>
            <a:off x="2663191" y="2436494"/>
            <a:ext cx="22860" cy="112204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8" name="Shape 93"/>
          <p:cNvSpPr/>
          <p:nvPr/>
        </p:nvSpPr>
        <p:spPr>
          <a:xfrm>
            <a:off x="4324351" y="2436494"/>
            <a:ext cx="9525" cy="112204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9" name="Shape 94"/>
          <p:cNvSpPr/>
          <p:nvPr/>
        </p:nvSpPr>
        <p:spPr>
          <a:xfrm>
            <a:off x="2771775" y="2510790"/>
            <a:ext cx="48601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10" name="Shape 95"/>
          <p:cNvSpPr/>
          <p:nvPr/>
        </p:nvSpPr>
        <p:spPr>
          <a:xfrm>
            <a:off x="2846070" y="2582227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11" name="Text 96"/>
          <p:cNvSpPr/>
          <p:nvPr/>
        </p:nvSpPr>
        <p:spPr>
          <a:xfrm>
            <a:off x="2941320" y="2545080"/>
            <a:ext cx="31837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825" dirty="0"/>
          </a:p>
        </p:txBody>
      </p:sp>
      <p:sp>
        <p:nvSpPr>
          <p:cNvPr id="112" name="Text 97"/>
          <p:cNvSpPr/>
          <p:nvPr/>
        </p:nvSpPr>
        <p:spPr>
          <a:xfrm>
            <a:off x="2771775" y="2739390"/>
            <a:ext cx="1543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· risky AssumeRole from EC2</a:t>
            </a:r>
            <a:endParaRPr lang="en-US" sz="900" dirty="0"/>
          </a:p>
        </p:txBody>
      </p:sp>
      <p:sp>
        <p:nvSpPr>
          <p:cNvPr id="113" name="Text 98"/>
          <p:cNvSpPr/>
          <p:nvPr/>
        </p:nvSpPr>
        <p:spPr>
          <a:xfrm>
            <a:off x="2771775" y="3013709"/>
            <a:ext cx="15430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AdminRole</a:t>
            </a:r>
            <a:endParaRPr lang="en-US" sz="825" dirty="0"/>
          </a:p>
        </p:txBody>
      </p:sp>
      <p:sp>
        <p:nvSpPr>
          <p:cNvPr id="114" name="Text 99"/>
          <p:cNvSpPr/>
          <p:nvPr/>
        </p:nvSpPr>
        <p:spPr>
          <a:xfrm>
            <a:off x="2771775" y="3198494"/>
            <a:ext cx="5906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T1078.004</a:t>
            </a:r>
            <a:endParaRPr lang="en-US" sz="750" dirty="0"/>
          </a:p>
        </p:txBody>
      </p:sp>
      <p:sp>
        <p:nvSpPr>
          <p:cNvPr id="115" name="Text 100"/>
          <p:cNvSpPr/>
          <p:nvPr/>
        </p:nvSpPr>
        <p:spPr>
          <a:xfrm>
            <a:off x="4132659" y="3198494"/>
            <a:ext cx="1821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750" dirty="0"/>
          </a:p>
        </p:txBody>
      </p:sp>
      <p:sp>
        <p:nvSpPr>
          <p:cNvPr id="116" name="Text 101"/>
          <p:cNvSpPr/>
          <p:nvPr/>
        </p:nvSpPr>
        <p:spPr>
          <a:xfrm>
            <a:off x="2771775" y="3350894"/>
            <a:ext cx="1543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@priya</a:t>
            </a:r>
            <a:endParaRPr lang="en-US" sz="750" dirty="0"/>
          </a:p>
        </p:txBody>
      </p:sp>
      <p:sp>
        <p:nvSpPr>
          <p:cNvPr id="117" name="Shape 102"/>
          <p:cNvSpPr/>
          <p:nvPr/>
        </p:nvSpPr>
        <p:spPr>
          <a:xfrm>
            <a:off x="2663191" y="3606165"/>
            <a:ext cx="1668780" cy="1122045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18" name="Shape 103"/>
          <p:cNvSpPr/>
          <p:nvPr/>
        </p:nvSpPr>
        <p:spPr>
          <a:xfrm>
            <a:off x="2663191" y="4720590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9" name="Shape 104"/>
          <p:cNvSpPr/>
          <p:nvPr/>
        </p:nvSpPr>
        <p:spPr>
          <a:xfrm>
            <a:off x="2663191" y="3606165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0" name="Shape 105"/>
          <p:cNvSpPr/>
          <p:nvPr/>
        </p:nvSpPr>
        <p:spPr>
          <a:xfrm>
            <a:off x="2663191" y="3606165"/>
            <a:ext cx="22860" cy="112204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1" name="Shape 106"/>
          <p:cNvSpPr/>
          <p:nvPr/>
        </p:nvSpPr>
        <p:spPr>
          <a:xfrm>
            <a:off x="4324351" y="3606165"/>
            <a:ext cx="9525" cy="112204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2" name="Shape 107"/>
          <p:cNvSpPr/>
          <p:nvPr/>
        </p:nvSpPr>
        <p:spPr>
          <a:xfrm>
            <a:off x="2771775" y="3680459"/>
            <a:ext cx="48601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23" name="Shape 108"/>
          <p:cNvSpPr/>
          <p:nvPr/>
        </p:nvSpPr>
        <p:spPr>
          <a:xfrm>
            <a:off x="2846070" y="3751897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24" name="Text 109"/>
          <p:cNvSpPr/>
          <p:nvPr/>
        </p:nvSpPr>
        <p:spPr>
          <a:xfrm>
            <a:off x="2941320" y="3714750"/>
            <a:ext cx="31837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825" dirty="0"/>
          </a:p>
        </p:txBody>
      </p:sp>
      <p:sp>
        <p:nvSpPr>
          <p:cNvPr id="125" name="Text 110"/>
          <p:cNvSpPr/>
          <p:nvPr/>
        </p:nvSpPr>
        <p:spPr>
          <a:xfrm>
            <a:off x="2771775" y="3909059"/>
            <a:ext cx="1543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 encoded · az-vm</a:t>
            </a:r>
            <a:endParaRPr lang="en-US" sz="900" dirty="0"/>
          </a:p>
        </p:txBody>
      </p:sp>
      <p:sp>
        <p:nvSpPr>
          <p:cNvPr id="126" name="Text 111"/>
          <p:cNvSpPr/>
          <p:nvPr/>
        </p:nvSpPr>
        <p:spPr>
          <a:xfrm>
            <a:off x="2771775" y="4183380"/>
            <a:ext cx="15430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az-vm-finsrv-22</a:t>
            </a:r>
            <a:endParaRPr lang="en-US" sz="825" dirty="0"/>
          </a:p>
        </p:txBody>
      </p:sp>
      <p:sp>
        <p:nvSpPr>
          <p:cNvPr id="127" name="Text 112"/>
          <p:cNvSpPr/>
          <p:nvPr/>
        </p:nvSpPr>
        <p:spPr>
          <a:xfrm>
            <a:off x="2771775" y="4368165"/>
            <a:ext cx="3620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T1059</a:t>
            </a:r>
            <a:endParaRPr lang="en-US" sz="750" dirty="0"/>
          </a:p>
        </p:txBody>
      </p:sp>
      <p:sp>
        <p:nvSpPr>
          <p:cNvPr id="128" name="Text 113"/>
          <p:cNvSpPr/>
          <p:nvPr/>
        </p:nvSpPr>
        <p:spPr>
          <a:xfrm>
            <a:off x="4132659" y="4368165"/>
            <a:ext cx="1821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750" dirty="0"/>
          </a:p>
        </p:txBody>
      </p:sp>
      <p:sp>
        <p:nvSpPr>
          <p:cNvPr id="129" name="Text 114"/>
          <p:cNvSpPr/>
          <p:nvPr/>
        </p:nvSpPr>
        <p:spPr>
          <a:xfrm>
            <a:off x="2771775" y="4520565"/>
            <a:ext cx="1543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@alex</a:t>
            </a:r>
            <a:endParaRPr lang="en-US" sz="750" dirty="0"/>
          </a:p>
        </p:txBody>
      </p:sp>
      <p:sp>
        <p:nvSpPr>
          <p:cNvPr id="130" name="Shape 115"/>
          <p:cNvSpPr/>
          <p:nvPr/>
        </p:nvSpPr>
        <p:spPr>
          <a:xfrm>
            <a:off x="2663191" y="4775834"/>
            <a:ext cx="1668780" cy="1122045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31" name="Shape 116"/>
          <p:cNvSpPr/>
          <p:nvPr/>
        </p:nvSpPr>
        <p:spPr>
          <a:xfrm>
            <a:off x="2663191" y="5890259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2" name="Shape 117"/>
          <p:cNvSpPr/>
          <p:nvPr/>
        </p:nvSpPr>
        <p:spPr>
          <a:xfrm>
            <a:off x="2663191" y="4775834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3" name="Shape 118"/>
          <p:cNvSpPr/>
          <p:nvPr/>
        </p:nvSpPr>
        <p:spPr>
          <a:xfrm>
            <a:off x="2663191" y="4775834"/>
            <a:ext cx="22860" cy="112204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4" name="Shape 119"/>
          <p:cNvSpPr/>
          <p:nvPr/>
        </p:nvSpPr>
        <p:spPr>
          <a:xfrm>
            <a:off x="4324351" y="4775834"/>
            <a:ext cx="9525" cy="112204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5" name="Shape 120"/>
          <p:cNvSpPr/>
          <p:nvPr/>
        </p:nvSpPr>
        <p:spPr>
          <a:xfrm>
            <a:off x="2771775" y="4850130"/>
            <a:ext cx="436959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36" name="Shape 121"/>
          <p:cNvSpPr/>
          <p:nvPr/>
        </p:nvSpPr>
        <p:spPr>
          <a:xfrm>
            <a:off x="2846070" y="4921567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37" name="Text 122"/>
          <p:cNvSpPr/>
          <p:nvPr/>
        </p:nvSpPr>
        <p:spPr>
          <a:xfrm>
            <a:off x="2941320" y="4884419"/>
            <a:ext cx="26931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825" dirty="0"/>
          </a:p>
        </p:txBody>
      </p:sp>
      <p:sp>
        <p:nvSpPr>
          <p:cNvPr id="138" name="Text 123"/>
          <p:cNvSpPr/>
          <p:nvPr/>
        </p:nvSpPr>
        <p:spPr>
          <a:xfrm>
            <a:off x="2771775" y="5078730"/>
            <a:ext cx="1543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· S3 GET unusual UA</a:t>
            </a:r>
            <a:endParaRPr lang="en-US" sz="900" dirty="0"/>
          </a:p>
        </p:txBody>
      </p:sp>
      <p:sp>
        <p:nvSpPr>
          <p:cNvPr id="139" name="Text 124"/>
          <p:cNvSpPr/>
          <p:nvPr/>
        </p:nvSpPr>
        <p:spPr>
          <a:xfrm>
            <a:off x="2771775" y="5353050"/>
            <a:ext cx="15430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marketing-bkt</a:t>
            </a:r>
            <a:endParaRPr lang="en-US" sz="825" dirty="0"/>
          </a:p>
        </p:txBody>
      </p:sp>
      <p:sp>
        <p:nvSpPr>
          <p:cNvPr id="140" name="Text 125"/>
          <p:cNvSpPr/>
          <p:nvPr/>
        </p:nvSpPr>
        <p:spPr>
          <a:xfrm>
            <a:off x="2771775" y="5537834"/>
            <a:ext cx="3620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T1530</a:t>
            </a:r>
            <a:endParaRPr lang="en-US" sz="750" dirty="0"/>
          </a:p>
        </p:txBody>
      </p:sp>
      <p:sp>
        <p:nvSpPr>
          <p:cNvPr id="141" name="Text 126"/>
          <p:cNvSpPr/>
          <p:nvPr/>
        </p:nvSpPr>
        <p:spPr>
          <a:xfrm>
            <a:off x="4132659" y="5537834"/>
            <a:ext cx="1821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750" dirty="0"/>
          </a:p>
        </p:txBody>
      </p:sp>
      <p:sp>
        <p:nvSpPr>
          <p:cNvPr id="142" name="Text 127"/>
          <p:cNvSpPr/>
          <p:nvPr/>
        </p:nvSpPr>
        <p:spPr>
          <a:xfrm>
            <a:off x="2771775" y="5690234"/>
            <a:ext cx="1543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@priya</a:t>
            </a:r>
            <a:endParaRPr lang="en-US" sz="750" dirty="0"/>
          </a:p>
        </p:txBody>
      </p:sp>
      <p:sp>
        <p:nvSpPr>
          <p:cNvPr id="143" name="Shape 128"/>
          <p:cNvSpPr/>
          <p:nvPr/>
        </p:nvSpPr>
        <p:spPr>
          <a:xfrm>
            <a:off x="4491991" y="937259"/>
            <a:ext cx="1836420" cy="5596890"/>
          </a:xfrm>
          <a:prstGeom prst="roundRect">
            <a:avLst>
              <a:gd name="adj" fmla="val 4149"/>
            </a:avLst>
          </a:prstGeom>
          <a:solidFill>
            <a:srgbClr val="F8FAFC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44" name="Text 129"/>
          <p:cNvSpPr/>
          <p:nvPr/>
        </p:nvSpPr>
        <p:spPr>
          <a:xfrm>
            <a:off x="4575811" y="1021080"/>
            <a:ext cx="105668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7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approval</a:t>
            </a:r>
            <a:endParaRPr lang="en-US" sz="900" dirty="0"/>
          </a:p>
        </p:txBody>
      </p:sp>
      <p:sp>
        <p:nvSpPr>
          <p:cNvPr id="145" name="Text 130"/>
          <p:cNvSpPr/>
          <p:nvPr/>
        </p:nvSpPr>
        <p:spPr>
          <a:xfrm>
            <a:off x="6176130" y="1021080"/>
            <a:ext cx="14466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6" name="Shape 131"/>
          <p:cNvSpPr/>
          <p:nvPr/>
        </p:nvSpPr>
        <p:spPr>
          <a:xfrm>
            <a:off x="4575811" y="1266825"/>
            <a:ext cx="1668780" cy="984885"/>
          </a:xfrm>
          <a:prstGeom prst="roundRect">
            <a:avLst>
              <a:gd name="adj" fmla="val 67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47" name="Shape 132"/>
          <p:cNvSpPr/>
          <p:nvPr/>
        </p:nvSpPr>
        <p:spPr>
          <a:xfrm>
            <a:off x="4575811" y="2244090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8" name="Shape 133"/>
          <p:cNvSpPr/>
          <p:nvPr/>
        </p:nvSpPr>
        <p:spPr>
          <a:xfrm>
            <a:off x="4575811" y="1266825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9" name="Shape 134"/>
          <p:cNvSpPr/>
          <p:nvPr/>
        </p:nvSpPr>
        <p:spPr>
          <a:xfrm>
            <a:off x="4575811" y="1266825"/>
            <a:ext cx="22860" cy="98488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0" name="Shape 135"/>
          <p:cNvSpPr/>
          <p:nvPr/>
        </p:nvSpPr>
        <p:spPr>
          <a:xfrm>
            <a:off x="6236971" y="1266825"/>
            <a:ext cx="9525" cy="98488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1" name="Shape 136"/>
          <p:cNvSpPr/>
          <p:nvPr/>
        </p:nvSpPr>
        <p:spPr>
          <a:xfrm>
            <a:off x="4684395" y="1341119"/>
            <a:ext cx="410051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52" name="Shape 137"/>
          <p:cNvSpPr/>
          <p:nvPr/>
        </p:nvSpPr>
        <p:spPr>
          <a:xfrm>
            <a:off x="4758691" y="1412557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53" name="Text 138"/>
          <p:cNvSpPr/>
          <p:nvPr/>
        </p:nvSpPr>
        <p:spPr>
          <a:xfrm>
            <a:off x="4853941" y="1375409"/>
            <a:ext cx="242411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</a:t>
            </a:r>
            <a:endParaRPr lang="en-US" sz="825" dirty="0"/>
          </a:p>
        </p:txBody>
      </p:sp>
      <p:sp>
        <p:nvSpPr>
          <p:cNvPr id="154" name="Shape 139"/>
          <p:cNvSpPr/>
          <p:nvPr/>
        </p:nvSpPr>
        <p:spPr>
          <a:xfrm>
            <a:off x="5140642" y="1341119"/>
            <a:ext cx="1010602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55" name="Shape 140"/>
          <p:cNvSpPr/>
          <p:nvPr/>
        </p:nvSpPr>
        <p:spPr>
          <a:xfrm>
            <a:off x="5214938" y="1412557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56" name="Text 141"/>
          <p:cNvSpPr/>
          <p:nvPr/>
        </p:nvSpPr>
        <p:spPr>
          <a:xfrm>
            <a:off x="5310188" y="1367790"/>
            <a:ext cx="84296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awaiting · 9m</a:t>
            </a:r>
            <a:endParaRPr lang="en-US" sz="825" dirty="0"/>
          </a:p>
        </p:txBody>
      </p:sp>
      <p:sp>
        <p:nvSpPr>
          <p:cNvPr id="157" name="Text 142"/>
          <p:cNvSpPr/>
          <p:nvPr/>
        </p:nvSpPr>
        <p:spPr>
          <a:xfrm>
            <a:off x="4684395" y="1569719"/>
            <a:ext cx="15430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egress · 198.51.x</a:t>
            </a:r>
            <a:endParaRPr lang="en-US" sz="900" dirty="0"/>
          </a:p>
        </p:txBody>
      </p:sp>
      <p:sp>
        <p:nvSpPr>
          <p:cNvPr id="158" name="Text 143"/>
          <p:cNvSpPr/>
          <p:nvPr/>
        </p:nvSpPr>
        <p:spPr>
          <a:xfrm>
            <a:off x="4684395" y="1706880"/>
            <a:ext cx="15430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analytics-3</a:t>
            </a:r>
            <a:endParaRPr lang="en-US" sz="825" dirty="0"/>
          </a:p>
        </p:txBody>
      </p:sp>
      <p:sp>
        <p:nvSpPr>
          <p:cNvPr id="159" name="Text 144"/>
          <p:cNvSpPr/>
          <p:nvPr/>
        </p:nvSpPr>
        <p:spPr>
          <a:xfrm>
            <a:off x="4684395" y="1891665"/>
            <a:ext cx="3620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T1041</a:t>
            </a:r>
            <a:endParaRPr lang="en-US" sz="750" dirty="0"/>
          </a:p>
        </p:txBody>
      </p:sp>
      <p:sp>
        <p:nvSpPr>
          <p:cNvPr id="160" name="Text 145"/>
          <p:cNvSpPr/>
          <p:nvPr/>
        </p:nvSpPr>
        <p:spPr>
          <a:xfrm>
            <a:off x="6045280" y="1891665"/>
            <a:ext cx="1821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750" dirty="0"/>
          </a:p>
        </p:txBody>
      </p:sp>
      <p:sp>
        <p:nvSpPr>
          <p:cNvPr id="161" name="Text 146"/>
          <p:cNvSpPr/>
          <p:nvPr/>
        </p:nvSpPr>
        <p:spPr>
          <a:xfrm>
            <a:off x="4684395" y="2044065"/>
            <a:ext cx="1543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@alex</a:t>
            </a:r>
            <a:endParaRPr lang="en-US" sz="750" dirty="0"/>
          </a:p>
        </p:txBody>
      </p:sp>
      <p:sp>
        <p:nvSpPr>
          <p:cNvPr id="162" name="Shape 147"/>
          <p:cNvSpPr/>
          <p:nvPr/>
        </p:nvSpPr>
        <p:spPr>
          <a:xfrm>
            <a:off x="4575811" y="2299334"/>
            <a:ext cx="1668780" cy="984885"/>
          </a:xfrm>
          <a:prstGeom prst="roundRect">
            <a:avLst>
              <a:gd name="adj" fmla="val 67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63" name="Shape 148"/>
          <p:cNvSpPr/>
          <p:nvPr/>
        </p:nvSpPr>
        <p:spPr>
          <a:xfrm>
            <a:off x="4575811" y="3276599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4" name="Shape 149"/>
          <p:cNvSpPr/>
          <p:nvPr/>
        </p:nvSpPr>
        <p:spPr>
          <a:xfrm>
            <a:off x="4575811" y="2299334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5" name="Shape 150"/>
          <p:cNvSpPr/>
          <p:nvPr/>
        </p:nvSpPr>
        <p:spPr>
          <a:xfrm>
            <a:off x="4575811" y="2299334"/>
            <a:ext cx="22860" cy="98488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6" name="Shape 151"/>
          <p:cNvSpPr/>
          <p:nvPr/>
        </p:nvSpPr>
        <p:spPr>
          <a:xfrm>
            <a:off x="6236971" y="2299334"/>
            <a:ext cx="9525" cy="98488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7" name="Shape 152"/>
          <p:cNvSpPr/>
          <p:nvPr/>
        </p:nvSpPr>
        <p:spPr>
          <a:xfrm>
            <a:off x="4684395" y="2373630"/>
            <a:ext cx="48601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68" name="Shape 153"/>
          <p:cNvSpPr/>
          <p:nvPr/>
        </p:nvSpPr>
        <p:spPr>
          <a:xfrm>
            <a:off x="4758691" y="2445067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69" name="Text 154"/>
          <p:cNvSpPr/>
          <p:nvPr/>
        </p:nvSpPr>
        <p:spPr>
          <a:xfrm>
            <a:off x="4853941" y="2407919"/>
            <a:ext cx="31837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825" dirty="0"/>
          </a:p>
        </p:txBody>
      </p:sp>
      <p:sp>
        <p:nvSpPr>
          <p:cNvPr id="170" name="Shape 155"/>
          <p:cNvSpPr/>
          <p:nvPr/>
        </p:nvSpPr>
        <p:spPr>
          <a:xfrm>
            <a:off x="5208508" y="2373630"/>
            <a:ext cx="1010602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71" name="Shape 156"/>
          <p:cNvSpPr/>
          <p:nvPr/>
        </p:nvSpPr>
        <p:spPr>
          <a:xfrm>
            <a:off x="5282803" y="2445067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72" name="Text 157"/>
          <p:cNvSpPr/>
          <p:nvPr/>
        </p:nvSpPr>
        <p:spPr>
          <a:xfrm>
            <a:off x="5378053" y="2400300"/>
            <a:ext cx="84296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awaiting · 9m</a:t>
            </a:r>
            <a:endParaRPr lang="en-US" sz="825" dirty="0"/>
          </a:p>
        </p:txBody>
      </p:sp>
      <p:sp>
        <p:nvSpPr>
          <p:cNvPr id="173" name="Text 158"/>
          <p:cNvSpPr/>
          <p:nvPr/>
        </p:nvSpPr>
        <p:spPr>
          <a:xfrm>
            <a:off x="4684395" y="2602230"/>
            <a:ext cx="15430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token · Okta</a:t>
            </a:r>
            <a:endParaRPr lang="en-US" sz="900" dirty="0"/>
          </a:p>
        </p:txBody>
      </p:sp>
      <p:sp>
        <p:nvSpPr>
          <p:cNvPr id="174" name="Text 159"/>
          <p:cNvSpPr/>
          <p:nvPr/>
        </p:nvSpPr>
        <p:spPr>
          <a:xfrm>
            <a:off x="4684395" y="2739390"/>
            <a:ext cx="15430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carlos.t</a:t>
            </a:r>
            <a:endParaRPr lang="en-US" sz="825" dirty="0"/>
          </a:p>
        </p:txBody>
      </p:sp>
      <p:sp>
        <p:nvSpPr>
          <p:cNvPr id="175" name="Text 160"/>
          <p:cNvSpPr/>
          <p:nvPr/>
        </p:nvSpPr>
        <p:spPr>
          <a:xfrm>
            <a:off x="4684395" y="2924175"/>
            <a:ext cx="3620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T1078</a:t>
            </a:r>
            <a:endParaRPr lang="en-US" sz="750" dirty="0"/>
          </a:p>
        </p:txBody>
      </p:sp>
      <p:sp>
        <p:nvSpPr>
          <p:cNvPr id="176" name="Text 161"/>
          <p:cNvSpPr/>
          <p:nvPr/>
        </p:nvSpPr>
        <p:spPr>
          <a:xfrm>
            <a:off x="6045280" y="2924175"/>
            <a:ext cx="1821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750" dirty="0"/>
          </a:p>
        </p:txBody>
      </p:sp>
      <p:sp>
        <p:nvSpPr>
          <p:cNvPr id="177" name="Text 162"/>
          <p:cNvSpPr/>
          <p:nvPr/>
        </p:nvSpPr>
        <p:spPr>
          <a:xfrm>
            <a:off x="4684395" y="3076575"/>
            <a:ext cx="1543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@auto</a:t>
            </a:r>
            <a:endParaRPr lang="en-US" sz="750" dirty="0"/>
          </a:p>
        </p:txBody>
      </p:sp>
      <p:sp>
        <p:nvSpPr>
          <p:cNvPr id="178" name="Shape 163"/>
          <p:cNvSpPr/>
          <p:nvPr/>
        </p:nvSpPr>
        <p:spPr>
          <a:xfrm>
            <a:off x="6404609" y="937259"/>
            <a:ext cx="1836420" cy="5596890"/>
          </a:xfrm>
          <a:prstGeom prst="roundRect">
            <a:avLst>
              <a:gd name="adj" fmla="val 414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9" name="Text 164"/>
          <p:cNvSpPr/>
          <p:nvPr/>
        </p:nvSpPr>
        <p:spPr>
          <a:xfrm>
            <a:off x="6488432" y="1021080"/>
            <a:ext cx="64055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contained</a:t>
            </a:r>
            <a:endParaRPr lang="en-US" sz="900" dirty="0"/>
          </a:p>
        </p:txBody>
      </p:sp>
      <p:sp>
        <p:nvSpPr>
          <p:cNvPr id="180" name="Text 165"/>
          <p:cNvSpPr/>
          <p:nvPr/>
        </p:nvSpPr>
        <p:spPr>
          <a:xfrm>
            <a:off x="8087320" y="1021080"/>
            <a:ext cx="14609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1" name="Shape 166"/>
          <p:cNvSpPr/>
          <p:nvPr/>
        </p:nvSpPr>
        <p:spPr>
          <a:xfrm>
            <a:off x="6488432" y="1266825"/>
            <a:ext cx="1668780" cy="984885"/>
          </a:xfrm>
          <a:prstGeom prst="roundRect">
            <a:avLst>
              <a:gd name="adj" fmla="val 67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82" name="Shape 167"/>
          <p:cNvSpPr/>
          <p:nvPr/>
        </p:nvSpPr>
        <p:spPr>
          <a:xfrm>
            <a:off x="6488432" y="2244090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3" name="Shape 168"/>
          <p:cNvSpPr/>
          <p:nvPr/>
        </p:nvSpPr>
        <p:spPr>
          <a:xfrm>
            <a:off x="6488432" y="1266825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4" name="Shape 169"/>
          <p:cNvSpPr/>
          <p:nvPr/>
        </p:nvSpPr>
        <p:spPr>
          <a:xfrm>
            <a:off x="6488432" y="1266825"/>
            <a:ext cx="22860" cy="98488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5" name="Shape 170"/>
          <p:cNvSpPr/>
          <p:nvPr/>
        </p:nvSpPr>
        <p:spPr>
          <a:xfrm>
            <a:off x="8149592" y="1266825"/>
            <a:ext cx="9525" cy="98488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6" name="Shape 171"/>
          <p:cNvSpPr/>
          <p:nvPr/>
        </p:nvSpPr>
        <p:spPr>
          <a:xfrm>
            <a:off x="6597016" y="1341119"/>
            <a:ext cx="41064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87" name="Shape 172"/>
          <p:cNvSpPr/>
          <p:nvPr/>
        </p:nvSpPr>
        <p:spPr>
          <a:xfrm>
            <a:off x="6671309" y="141255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88" name="Text 173"/>
          <p:cNvSpPr/>
          <p:nvPr/>
        </p:nvSpPr>
        <p:spPr>
          <a:xfrm>
            <a:off x="6766559" y="1375409"/>
            <a:ext cx="243008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</a:t>
            </a:r>
            <a:endParaRPr lang="en-US" sz="825" dirty="0"/>
          </a:p>
        </p:txBody>
      </p:sp>
      <p:sp>
        <p:nvSpPr>
          <p:cNvPr id="189" name="Shape 174"/>
          <p:cNvSpPr/>
          <p:nvPr/>
        </p:nvSpPr>
        <p:spPr>
          <a:xfrm>
            <a:off x="7045761" y="1341119"/>
            <a:ext cx="1231821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90" name="Shape 175"/>
          <p:cNvSpPr/>
          <p:nvPr/>
        </p:nvSpPr>
        <p:spPr>
          <a:xfrm>
            <a:off x="7120058" y="141255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91" name="Text 176"/>
          <p:cNvSpPr/>
          <p:nvPr/>
        </p:nvSpPr>
        <p:spPr>
          <a:xfrm>
            <a:off x="7215308" y="1367790"/>
            <a:ext cx="106418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contained · kernel</a:t>
            </a:r>
            <a:endParaRPr lang="en-US" sz="825" dirty="0"/>
          </a:p>
        </p:txBody>
      </p:sp>
      <p:sp>
        <p:nvSpPr>
          <p:cNvPr id="192" name="Text 177"/>
          <p:cNvSpPr/>
          <p:nvPr/>
        </p:nvSpPr>
        <p:spPr>
          <a:xfrm>
            <a:off x="6597016" y="1569719"/>
            <a:ext cx="15430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ptrace blocked at syscall</a:t>
            </a:r>
            <a:endParaRPr lang="en-US" sz="900" dirty="0"/>
          </a:p>
        </p:txBody>
      </p:sp>
      <p:sp>
        <p:nvSpPr>
          <p:cNvPr id="193" name="Text 178"/>
          <p:cNvSpPr/>
          <p:nvPr/>
        </p:nvSpPr>
        <p:spPr>
          <a:xfrm>
            <a:off x="6597016" y="1706880"/>
            <a:ext cx="15430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analytics-3</a:t>
            </a:r>
            <a:endParaRPr lang="en-US" sz="825" dirty="0"/>
          </a:p>
        </p:txBody>
      </p:sp>
      <p:sp>
        <p:nvSpPr>
          <p:cNvPr id="194" name="Text 179"/>
          <p:cNvSpPr/>
          <p:nvPr/>
        </p:nvSpPr>
        <p:spPr>
          <a:xfrm>
            <a:off x="6597016" y="1891665"/>
            <a:ext cx="3620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T1611</a:t>
            </a:r>
            <a:endParaRPr lang="en-US" sz="750" dirty="0"/>
          </a:p>
        </p:txBody>
      </p:sp>
      <p:sp>
        <p:nvSpPr>
          <p:cNvPr id="195" name="Text 180"/>
          <p:cNvSpPr/>
          <p:nvPr/>
        </p:nvSpPr>
        <p:spPr>
          <a:xfrm>
            <a:off x="7957900" y="1891665"/>
            <a:ext cx="1821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750" dirty="0"/>
          </a:p>
        </p:txBody>
      </p:sp>
      <p:sp>
        <p:nvSpPr>
          <p:cNvPr id="196" name="Text 181"/>
          <p:cNvSpPr/>
          <p:nvPr/>
        </p:nvSpPr>
        <p:spPr>
          <a:xfrm>
            <a:off x="6597016" y="2044065"/>
            <a:ext cx="1543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@claw</a:t>
            </a:r>
            <a:endParaRPr lang="en-US" sz="750" dirty="0"/>
          </a:p>
        </p:txBody>
      </p:sp>
      <p:sp>
        <p:nvSpPr>
          <p:cNvPr id="197" name="Shape 182"/>
          <p:cNvSpPr/>
          <p:nvPr/>
        </p:nvSpPr>
        <p:spPr>
          <a:xfrm>
            <a:off x="6488432" y="2299334"/>
            <a:ext cx="1668780" cy="1122045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98" name="Shape 183"/>
          <p:cNvSpPr/>
          <p:nvPr/>
        </p:nvSpPr>
        <p:spPr>
          <a:xfrm>
            <a:off x="6488432" y="3413759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9" name="Shape 184"/>
          <p:cNvSpPr/>
          <p:nvPr/>
        </p:nvSpPr>
        <p:spPr>
          <a:xfrm>
            <a:off x="6488432" y="2299334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0" name="Shape 185"/>
          <p:cNvSpPr/>
          <p:nvPr/>
        </p:nvSpPr>
        <p:spPr>
          <a:xfrm>
            <a:off x="6488432" y="2299334"/>
            <a:ext cx="22860" cy="112204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1" name="Shape 186"/>
          <p:cNvSpPr/>
          <p:nvPr/>
        </p:nvSpPr>
        <p:spPr>
          <a:xfrm>
            <a:off x="8149592" y="2299334"/>
            <a:ext cx="9525" cy="112204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2" name="Shape 187"/>
          <p:cNvSpPr/>
          <p:nvPr/>
        </p:nvSpPr>
        <p:spPr>
          <a:xfrm>
            <a:off x="6597016" y="2373630"/>
            <a:ext cx="41064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03" name="Shape 188"/>
          <p:cNvSpPr/>
          <p:nvPr/>
        </p:nvSpPr>
        <p:spPr>
          <a:xfrm>
            <a:off x="6671309" y="244506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04" name="Text 189"/>
          <p:cNvSpPr/>
          <p:nvPr/>
        </p:nvSpPr>
        <p:spPr>
          <a:xfrm>
            <a:off x="6766559" y="2407919"/>
            <a:ext cx="24300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</a:t>
            </a:r>
            <a:endParaRPr lang="en-US" sz="825" dirty="0"/>
          </a:p>
        </p:txBody>
      </p:sp>
      <p:sp>
        <p:nvSpPr>
          <p:cNvPr id="205" name="Shape 190"/>
          <p:cNvSpPr/>
          <p:nvPr/>
        </p:nvSpPr>
        <p:spPr>
          <a:xfrm>
            <a:off x="7045761" y="2373630"/>
            <a:ext cx="1231821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06" name="Shape 191"/>
          <p:cNvSpPr/>
          <p:nvPr/>
        </p:nvSpPr>
        <p:spPr>
          <a:xfrm>
            <a:off x="7120058" y="244506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07" name="Text 192"/>
          <p:cNvSpPr/>
          <p:nvPr/>
        </p:nvSpPr>
        <p:spPr>
          <a:xfrm>
            <a:off x="7215308" y="2400300"/>
            <a:ext cx="106418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contained · kernel</a:t>
            </a:r>
            <a:endParaRPr lang="en-US" sz="825" dirty="0"/>
          </a:p>
        </p:txBody>
      </p:sp>
      <p:sp>
        <p:nvSpPr>
          <p:cNvPr id="208" name="Text 193"/>
          <p:cNvSpPr/>
          <p:nvPr/>
        </p:nvSpPr>
        <p:spPr>
          <a:xfrm>
            <a:off x="6597016" y="2602230"/>
            <a:ext cx="1543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/etc/shadow read · denied</a:t>
            </a:r>
            <a:endParaRPr lang="en-US" sz="900" dirty="0"/>
          </a:p>
        </p:txBody>
      </p:sp>
      <p:sp>
        <p:nvSpPr>
          <p:cNvPr id="209" name="Text 194"/>
          <p:cNvSpPr/>
          <p:nvPr/>
        </p:nvSpPr>
        <p:spPr>
          <a:xfrm>
            <a:off x="6597016" y="2876550"/>
            <a:ext cx="15430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claude-fin-bot</a:t>
            </a:r>
            <a:endParaRPr lang="en-US" sz="825" dirty="0"/>
          </a:p>
        </p:txBody>
      </p:sp>
      <p:sp>
        <p:nvSpPr>
          <p:cNvPr id="210" name="Text 195"/>
          <p:cNvSpPr/>
          <p:nvPr/>
        </p:nvSpPr>
        <p:spPr>
          <a:xfrm>
            <a:off x="6597016" y="3061334"/>
            <a:ext cx="3620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T1003</a:t>
            </a:r>
            <a:endParaRPr lang="en-US" sz="750" dirty="0"/>
          </a:p>
        </p:txBody>
      </p:sp>
      <p:sp>
        <p:nvSpPr>
          <p:cNvPr id="211" name="Text 196"/>
          <p:cNvSpPr/>
          <p:nvPr/>
        </p:nvSpPr>
        <p:spPr>
          <a:xfrm>
            <a:off x="7957900" y="3061334"/>
            <a:ext cx="1821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750" dirty="0"/>
          </a:p>
        </p:txBody>
      </p:sp>
      <p:sp>
        <p:nvSpPr>
          <p:cNvPr id="212" name="Text 197"/>
          <p:cNvSpPr/>
          <p:nvPr/>
        </p:nvSpPr>
        <p:spPr>
          <a:xfrm>
            <a:off x="6597016" y="3213734"/>
            <a:ext cx="1543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@claw</a:t>
            </a:r>
            <a:endParaRPr lang="en-US" sz="750" dirty="0"/>
          </a:p>
        </p:txBody>
      </p:sp>
      <p:sp>
        <p:nvSpPr>
          <p:cNvPr id="213" name="Shape 198"/>
          <p:cNvSpPr/>
          <p:nvPr/>
        </p:nvSpPr>
        <p:spPr>
          <a:xfrm>
            <a:off x="6488432" y="3469005"/>
            <a:ext cx="1668780" cy="984885"/>
          </a:xfrm>
          <a:prstGeom prst="roundRect">
            <a:avLst>
              <a:gd name="adj" fmla="val 67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14" name="Shape 199"/>
          <p:cNvSpPr/>
          <p:nvPr/>
        </p:nvSpPr>
        <p:spPr>
          <a:xfrm>
            <a:off x="6488432" y="4446270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5" name="Shape 200"/>
          <p:cNvSpPr/>
          <p:nvPr/>
        </p:nvSpPr>
        <p:spPr>
          <a:xfrm>
            <a:off x="6488432" y="3469005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6" name="Shape 201"/>
          <p:cNvSpPr/>
          <p:nvPr/>
        </p:nvSpPr>
        <p:spPr>
          <a:xfrm>
            <a:off x="6488432" y="3469005"/>
            <a:ext cx="22860" cy="98488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7" name="Shape 202"/>
          <p:cNvSpPr/>
          <p:nvPr/>
        </p:nvSpPr>
        <p:spPr>
          <a:xfrm>
            <a:off x="8149592" y="3469005"/>
            <a:ext cx="9525" cy="98488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8" name="Shape 203"/>
          <p:cNvSpPr/>
          <p:nvPr/>
        </p:nvSpPr>
        <p:spPr>
          <a:xfrm>
            <a:off x="6597016" y="3543300"/>
            <a:ext cx="41064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19" name="Shape 204"/>
          <p:cNvSpPr/>
          <p:nvPr/>
        </p:nvSpPr>
        <p:spPr>
          <a:xfrm>
            <a:off x="6671309" y="361473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20" name="Text 205"/>
          <p:cNvSpPr/>
          <p:nvPr/>
        </p:nvSpPr>
        <p:spPr>
          <a:xfrm>
            <a:off x="6766559" y="3577590"/>
            <a:ext cx="24300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</a:t>
            </a:r>
            <a:endParaRPr lang="en-US" sz="825" dirty="0"/>
          </a:p>
        </p:txBody>
      </p:sp>
      <p:sp>
        <p:nvSpPr>
          <p:cNvPr id="221" name="Shape 206"/>
          <p:cNvSpPr/>
          <p:nvPr/>
        </p:nvSpPr>
        <p:spPr>
          <a:xfrm>
            <a:off x="7045761" y="3543300"/>
            <a:ext cx="1231821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22" name="Shape 207"/>
          <p:cNvSpPr/>
          <p:nvPr/>
        </p:nvSpPr>
        <p:spPr>
          <a:xfrm>
            <a:off x="7120058" y="361473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23" name="Text 208"/>
          <p:cNvSpPr/>
          <p:nvPr/>
        </p:nvSpPr>
        <p:spPr>
          <a:xfrm>
            <a:off x="7215308" y="3569969"/>
            <a:ext cx="106418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contained · kernel</a:t>
            </a:r>
            <a:endParaRPr lang="en-US" sz="825" dirty="0"/>
          </a:p>
        </p:txBody>
      </p:sp>
      <p:sp>
        <p:nvSpPr>
          <p:cNvPr id="224" name="Text 209"/>
          <p:cNvSpPr/>
          <p:nvPr/>
        </p:nvSpPr>
        <p:spPr>
          <a:xfrm>
            <a:off x="6597016" y="3771900"/>
            <a:ext cx="15430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· DGA C2 blocked</a:t>
            </a:r>
            <a:endParaRPr lang="en-US" sz="900" dirty="0"/>
          </a:p>
        </p:txBody>
      </p:sp>
      <p:sp>
        <p:nvSpPr>
          <p:cNvPr id="225" name="Text 210"/>
          <p:cNvSpPr/>
          <p:nvPr/>
        </p:nvSpPr>
        <p:spPr>
          <a:xfrm>
            <a:off x="6597016" y="3909059"/>
            <a:ext cx="15430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data-engineer-2</a:t>
            </a:r>
            <a:endParaRPr lang="en-US" sz="825" dirty="0"/>
          </a:p>
        </p:txBody>
      </p:sp>
      <p:sp>
        <p:nvSpPr>
          <p:cNvPr id="226" name="Text 211"/>
          <p:cNvSpPr/>
          <p:nvPr/>
        </p:nvSpPr>
        <p:spPr>
          <a:xfrm>
            <a:off x="6597016" y="4093844"/>
            <a:ext cx="3620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T1071</a:t>
            </a:r>
            <a:endParaRPr lang="en-US" sz="750" dirty="0"/>
          </a:p>
        </p:txBody>
      </p:sp>
      <p:sp>
        <p:nvSpPr>
          <p:cNvPr id="227" name="Text 212"/>
          <p:cNvSpPr/>
          <p:nvPr/>
        </p:nvSpPr>
        <p:spPr>
          <a:xfrm>
            <a:off x="7957900" y="4093844"/>
            <a:ext cx="1821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750" dirty="0"/>
          </a:p>
        </p:txBody>
      </p:sp>
      <p:sp>
        <p:nvSpPr>
          <p:cNvPr id="228" name="Text 213"/>
          <p:cNvSpPr/>
          <p:nvPr/>
        </p:nvSpPr>
        <p:spPr>
          <a:xfrm>
            <a:off x="6597016" y="4246244"/>
            <a:ext cx="1543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@claw</a:t>
            </a:r>
            <a:endParaRPr lang="en-US" sz="750" dirty="0"/>
          </a:p>
        </p:txBody>
      </p:sp>
      <p:sp>
        <p:nvSpPr>
          <p:cNvPr id="229" name="Shape 214"/>
          <p:cNvSpPr/>
          <p:nvPr/>
        </p:nvSpPr>
        <p:spPr>
          <a:xfrm>
            <a:off x="8317232" y="937259"/>
            <a:ext cx="1836420" cy="5596890"/>
          </a:xfrm>
          <a:prstGeom prst="roundRect">
            <a:avLst>
              <a:gd name="adj" fmla="val 414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30" name="Text 215"/>
          <p:cNvSpPr/>
          <p:nvPr/>
        </p:nvSpPr>
        <p:spPr>
          <a:xfrm>
            <a:off x="8401050" y="1021080"/>
            <a:ext cx="45339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900" dirty="0"/>
          </a:p>
        </p:txBody>
      </p:sp>
      <p:sp>
        <p:nvSpPr>
          <p:cNvPr id="231" name="Text 216"/>
          <p:cNvSpPr/>
          <p:nvPr/>
        </p:nvSpPr>
        <p:spPr>
          <a:xfrm>
            <a:off x="9882783" y="1021080"/>
            <a:ext cx="26324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</a:t>
            </a:r>
            <a:endParaRPr lang="en-US" sz="900" dirty="0"/>
          </a:p>
        </p:txBody>
      </p:sp>
      <p:sp>
        <p:nvSpPr>
          <p:cNvPr id="232" name="Shape 217"/>
          <p:cNvSpPr/>
          <p:nvPr/>
        </p:nvSpPr>
        <p:spPr>
          <a:xfrm>
            <a:off x="8401050" y="1266825"/>
            <a:ext cx="1668780" cy="1122045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33" name="Shape 218"/>
          <p:cNvSpPr/>
          <p:nvPr/>
        </p:nvSpPr>
        <p:spPr>
          <a:xfrm>
            <a:off x="8401050" y="2381250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4" name="Shape 219"/>
          <p:cNvSpPr/>
          <p:nvPr/>
        </p:nvSpPr>
        <p:spPr>
          <a:xfrm>
            <a:off x="8401050" y="1266825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5" name="Shape 220"/>
          <p:cNvSpPr/>
          <p:nvPr/>
        </p:nvSpPr>
        <p:spPr>
          <a:xfrm>
            <a:off x="8401050" y="1266825"/>
            <a:ext cx="22860" cy="112204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6" name="Shape 221"/>
          <p:cNvSpPr/>
          <p:nvPr/>
        </p:nvSpPr>
        <p:spPr>
          <a:xfrm>
            <a:off x="10062210" y="1266825"/>
            <a:ext cx="9525" cy="112204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7" name="Shape 222"/>
          <p:cNvSpPr/>
          <p:nvPr/>
        </p:nvSpPr>
        <p:spPr>
          <a:xfrm>
            <a:off x="8509634" y="1341119"/>
            <a:ext cx="436959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238" name="Shape 223"/>
          <p:cNvSpPr/>
          <p:nvPr/>
        </p:nvSpPr>
        <p:spPr>
          <a:xfrm>
            <a:off x="8583932" y="1412557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39" name="Text 224"/>
          <p:cNvSpPr/>
          <p:nvPr/>
        </p:nvSpPr>
        <p:spPr>
          <a:xfrm>
            <a:off x="8679182" y="1375409"/>
            <a:ext cx="269318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825" dirty="0"/>
          </a:p>
        </p:txBody>
      </p:sp>
      <p:sp>
        <p:nvSpPr>
          <p:cNvPr id="240" name="Text 225"/>
          <p:cNvSpPr/>
          <p:nvPr/>
        </p:nvSpPr>
        <p:spPr>
          <a:xfrm>
            <a:off x="8509634" y="1569719"/>
            <a:ext cx="1543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 blocked · resolved</a:t>
            </a:r>
            <a:endParaRPr lang="en-US" sz="900" dirty="0"/>
          </a:p>
        </p:txBody>
      </p:sp>
      <p:sp>
        <p:nvSpPr>
          <p:cNvPr id="241" name="Text 226"/>
          <p:cNvSpPr/>
          <p:nvPr/>
        </p:nvSpPr>
        <p:spPr>
          <a:xfrm>
            <a:off x="8509634" y="1844040"/>
            <a:ext cx="15430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WIN-FIN-12</a:t>
            </a:r>
            <a:endParaRPr lang="en-US" sz="825" dirty="0"/>
          </a:p>
        </p:txBody>
      </p:sp>
      <p:sp>
        <p:nvSpPr>
          <p:cNvPr id="242" name="Text 227"/>
          <p:cNvSpPr/>
          <p:nvPr/>
        </p:nvSpPr>
        <p:spPr>
          <a:xfrm>
            <a:off x="8509634" y="2028825"/>
            <a:ext cx="3620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T1021</a:t>
            </a:r>
            <a:endParaRPr lang="en-US" sz="750" dirty="0"/>
          </a:p>
        </p:txBody>
      </p:sp>
      <p:sp>
        <p:nvSpPr>
          <p:cNvPr id="243" name="Text 228"/>
          <p:cNvSpPr/>
          <p:nvPr/>
        </p:nvSpPr>
        <p:spPr>
          <a:xfrm>
            <a:off x="9870518" y="2028825"/>
            <a:ext cx="1821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750" dirty="0"/>
          </a:p>
        </p:txBody>
      </p:sp>
      <p:sp>
        <p:nvSpPr>
          <p:cNvPr id="244" name="Text 229"/>
          <p:cNvSpPr/>
          <p:nvPr/>
        </p:nvSpPr>
        <p:spPr>
          <a:xfrm>
            <a:off x="8509634" y="2181225"/>
            <a:ext cx="1543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@alex</a:t>
            </a:r>
            <a:endParaRPr lang="en-US" sz="750" dirty="0"/>
          </a:p>
        </p:txBody>
      </p:sp>
      <p:sp>
        <p:nvSpPr>
          <p:cNvPr id="245" name="Shape 230"/>
          <p:cNvSpPr/>
          <p:nvPr/>
        </p:nvSpPr>
        <p:spPr>
          <a:xfrm>
            <a:off x="8401050" y="2436494"/>
            <a:ext cx="1668780" cy="1122045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46" name="Shape 231"/>
          <p:cNvSpPr/>
          <p:nvPr/>
        </p:nvSpPr>
        <p:spPr>
          <a:xfrm>
            <a:off x="8401050" y="3550919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7" name="Shape 232"/>
          <p:cNvSpPr/>
          <p:nvPr/>
        </p:nvSpPr>
        <p:spPr>
          <a:xfrm>
            <a:off x="8401050" y="2436494"/>
            <a:ext cx="166878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8" name="Shape 233"/>
          <p:cNvSpPr/>
          <p:nvPr/>
        </p:nvSpPr>
        <p:spPr>
          <a:xfrm>
            <a:off x="8401050" y="2436494"/>
            <a:ext cx="22860" cy="112204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9" name="Shape 234"/>
          <p:cNvSpPr/>
          <p:nvPr/>
        </p:nvSpPr>
        <p:spPr>
          <a:xfrm>
            <a:off x="10062210" y="2436494"/>
            <a:ext cx="9525" cy="112204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0" name="Shape 235"/>
          <p:cNvSpPr/>
          <p:nvPr/>
        </p:nvSpPr>
        <p:spPr>
          <a:xfrm>
            <a:off x="8509634" y="2510790"/>
            <a:ext cx="436959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251" name="Shape 236"/>
          <p:cNvSpPr/>
          <p:nvPr/>
        </p:nvSpPr>
        <p:spPr>
          <a:xfrm>
            <a:off x="8583932" y="2582227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52" name="Text 237"/>
          <p:cNvSpPr/>
          <p:nvPr/>
        </p:nvSpPr>
        <p:spPr>
          <a:xfrm>
            <a:off x="8679182" y="2545080"/>
            <a:ext cx="26931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825" dirty="0"/>
          </a:p>
        </p:txBody>
      </p:sp>
      <p:sp>
        <p:nvSpPr>
          <p:cNvPr id="253" name="Text 238"/>
          <p:cNvSpPr/>
          <p:nvPr/>
        </p:nvSpPr>
        <p:spPr>
          <a:xfrm>
            <a:off x="8509634" y="2739390"/>
            <a:ext cx="1543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 quarantined · 41 mails</a:t>
            </a:r>
            <a:endParaRPr lang="en-US" sz="900" dirty="0"/>
          </a:p>
        </p:txBody>
      </p:sp>
      <p:sp>
        <p:nvSpPr>
          <p:cNvPr id="254" name="Text 239"/>
          <p:cNvSpPr/>
          <p:nvPr/>
        </p:nvSpPr>
        <p:spPr>
          <a:xfrm>
            <a:off x="8509634" y="3013709"/>
            <a:ext cx="15430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· 41</a:t>
            </a:r>
            <a:endParaRPr lang="en-US" sz="825" dirty="0"/>
          </a:p>
        </p:txBody>
      </p:sp>
      <p:sp>
        <p:nvSpPr>
          <p:cNvPr id="255" name="Text 240"/>
          <p:cNvSpPr/>
          <p:nvPr/>
        </p:nvSpPr>
        <p:spPr>
          <a:xfrm>
            <a:off x="8509634" y="3198494"/>
            <a:ext cx="3620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T1566</a:t>
            </a:r>
            <a:endParaRPr lang="en-US" sz="750" dirty="0"/>
          </a:p>
        </p:txBody>
      </p:sp>
      <p:sp>
        <p:nvSpPr>
          <p:cNvPr id="256" name="Text 241"/>
          <p:cNvSpPr/>
          <p:nvPr/>
        </p:nvSpPr>
        <p:spPr>
          <a:xfrm>
            <a:off x="9870518" y="3198494"/>
            <a:ext cx="1821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750" dirty="0"/>
          </a:p>
        </p:txBody>
      </p:sp>
      <p:sp>
        <p:nvSpPr>
          <p:cNvPr id="257" name="Text 242"/>
          <p:cNvSpPr/>
          <p:nvPr/>
        </p:nvSpPr>
        <p:spPr>
          <a:xfrm>
            <a:off x="8509634" y="3350894"/>
            <a:ext cx="1543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@auto</a:t>
            </a:r>
            <a:endParaRPr lang="en-US" sz="750" dirty="0"/>
          </a:p>
        </p:txBody>
      </p:sp>
      <p:sp>
        <p:nvSpPr>
          <p:cNvPr id="258" name="Text 243"/>
          <p:cNvSpPr/>
          <p:nvPr/>
        </p:nvSpPr>
        <p:spPr>
          <a:xfrm>
            <a:off x="8420100" y="3663315"/>
            <a:ext cx="16306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+ 410 more · show all →</a:t>
            </a:r>
            <a:endParaRPr lang="en-US" sz="825" dirty="0"/>
          </a:p>
        </p:txBody>
      </p:sp>
      <p:sp>
        <p:nvSpPr>
          <p:cNvPr id="259" name="Shape 244"/>
          <p:cNvSpPr/>
          <p:nvPr/>
        </p:nvSpPr>
        <p:spPr>
          <a:xfrm>
            <a:off x="8042909" y="5957888"/>
            <a:ext cx="2072640" cy="538163"/>
          </a:xfrm>
          <a:prstGeom prst="roundRect">
            <a:avLst>
              <a:gd name="adj" fmla="val 708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260" name="Text 245"/>
          <p:cNvSpPr/>
          <p:nvPr/>
        </p:nvSpPr>
        <p:spPr>
          <a:xfrm>
            <a:off x="8126729" y="6022658"/>
            <a:ext cx="1981200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contained cards carry an enforce-green ✓ when a kernel policy is active.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5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962025"/>
            <a:ext cx="171450" cy="1714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0" y="12382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" y="1323975"/>
            <a:ext cx="171450" cy="1714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3119941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#4129 · phish → MFA spam → S3 mass GET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3791069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3899059" y="144780"/>
            <a:ext cx="79426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· #4129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4769525" y="74295"/>
            <a:ext cx="2721412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2395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043845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6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0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1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1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2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6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Shape 22"/>
          <p:cNvSpPr/>
          <p:nvPr/>
        </p:nvSpPr>
        <p:spPr>
          <a:xfrm>
            <a:off x="666750" y="616268"/>
            <a:ext cx="582335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38" name="Shape 23"/>
          <p:cNvSpPr/>
          <p:nvPr/>
        </p:nvSpPr>
        <p:spPr>
          <a:xfrm>
            <a:off x="741045" y="687705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39" name="Text 24"/>
          <p:cNvSpPr/>
          <p:nvPr/>
        </p:nvSpPr>
        <p:spPr>
          <a:xfrm>
            <a:off x="836295" y="642938"/>
            <a:ext cx="41469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25" dirty="0"/>
          </a:p>
        </p:txBody>
      </p:sp>
      <p:sp>
        <p:nvSpPr>
          <p:cNvPr id="40" name="Shape 25"/>
          <p:cNvSpPr/>
          <p:nvPr/>
        </p:nvSpPr>
        <p:spPr>
          <a:xfrm>
            <a:off x="1306235" y="616268"/>
            <a:ext cx="891778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41" name="Shape 26"/>
          <p:cNvSpPr/>
          <p:nvPr/>
        </p:nvSpPr>
        <p:spPr>
          <a:xfrm>
            <a:off x="1380530" y="687705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42" name="Text 27"/>
          <p:cNvSpPr/>
          <p:nvPr/>
        </p:nvSpPr>
        <p:spPr>
          <a:xfrm>
            <a:off x="1475780" y="642938"/>
            <a:ext cx="7241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investigating</a:t>
            </a:r>
            <a:endParaRPr lang="en-US" sz="825" dirty="0"/>
          </a:p>
        </p:txBody>
      </p:sp>
      <p:sp>
        <p:nvSpPr>
          <p:cNvPr id="43" name="Text 28"/>
          <p:cNvSpPr/>
          <p:nvPr/>
        </p:nvSpPr>
        <p:spPr>
          <a:xfrm>
            <a:off x="2255163" y="629603"/>
            <a:ext cx="1948577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· alex · opened 14m ago</a:t>
            </a:r>
            <a:endParaRPr lang="en-US" sz="975" dirty="0"/>
          </a:p>
        </p:txBody>
      </p:sp>
      <p:sp>
        <p:nvSpPr>
          <p:cNvPr id="44" name="Shape 29"/>
          <p:cNvSpPr/>
          <p:nvPr/>
        </p:nvSpPr>
        <p:spPr>
          <a:xfrm>
            <a:off x="7500223" y="590550"/>
            <a:ext cx="663059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Text 30"/>
          <p:cNvSpPr/>
          <p:nvPr/>
        </p:nvSpPr>
        <p:spPr>
          <a:xfrm>
            <a:off x="7603093" y="636270"/>
            <a:ext cx="53351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900" dirty="0"/>
          </a:p>
        </p:txBody>
      </p:sp>
      <p:sp>
        <p:nvSpPr>
          <p:cNvPr id="46" name="Shape 31"/>
          <p:cNvSpPr/>
          <p:nvPr/>
        </p:nvSpPr>
        <p:spPr>
          <a:xfrm>
            <a:off x="8220433" y="590550"/>
            <a:ext cx="673537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7" name="Text 32"/>
          <p:cNvSpPr/>
          <p:nvPr/>
        </p:nvSpPr>
        <p:spPr>
          <a:xfrm>
            <a:off x="8323302" y="636270"/>
            <a:ext cx="54399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900" dirty="0"/>
          </a:p>
        </p:txBody>
      </p:sp>
      <p:sp>
        <p:nvSpPr>
          <p:cNvPr id="48" name="Shape 33"/>
          <p:cNvSpPr/>
          <p:nvPr/>
        </p:nvSpPr>
        <p:spPr>
          <a:xfrm>
            <a:off x="8951119" y="590550"/>
            <a:ext cx="1202531" cy="251460"/>
          </a:xfrm>
          <a:prstGeom prst="roundRect">
            <a:avLst>
              <a:gd name="adj" fmla="val 22727"/>
            </a:avLst>
          </a:prstGeom>
          <a:solidFill>
            <a:srgbClr val="EF4444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49" name="Text 34"/>
          <p:cNvSpPr/>
          <p:nvPr/>
        </p:nvSpPr>
        <p:spPr>
          <a:xfrm>
            <a:off x="9053989" y="636270"/>
            <a:ext cx="107299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response</a:t>
            </a:r>
            <a:endParaRPr lang="en-US" sz="900" dirty="0"/>
          </a:p>
        </p:txBody>
      </p:sp>
      <p:sp>
        <p:nvSpPr>
          <p:cNvPr id="50" name="Shape 35"/>
          <p:cNvSpPr/>
          <p:nvPr/>
        </p:nvSpPr>
        <p:spPr>
          <a:xfrm>
            <a:off x="666750" y="1223010"/>
            <a:ext cx="9486900" cy="95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1" name="Shape 36"/>
          <p:cNvSpPr/>
          <p:nvPr/>
        </p:nvSpPr>
        <p:spPr>
          <a:xfrm>
            <a:off x="666750" y="1162050"/>
            <a:ext cx="540782" cy="228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2" name="Text 37"/>
          <p:cNvSpPr/>
          <p:nvPr/>
        </p:nvSpPr>
        <p:spPr>
          <a:xfrm>
            <a:off x="762000" y="956310"/>
            <a:ext cx="42648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</a:t>
            </a:r>
            <a:endParaRPr lang="en-US" sz="1050" dirty="0"/>
          </a:p>
        </p:txBody>
      </p:sp>
      <p:sp>
        <p:nvSpPr>
          <p:cNvPr id="53" name="Text 38"/>
          <p:cNvSpPr/>
          <p:nvPr/>
        </p:nvSpPr>
        <p:spPr>
          <a:xfrm>
            <a:off x="1359932" y="956310"/>
            <a:ext cx="674251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50" dirty="0"/>
          </a:p>
        </p:txBody>
      </p:sp>
      <p:sp>
        <p:nvSpPr>
          <p:cNvPr id="54" name="Text 39"/>
          <p:cNvSpPr/>
          <p:nvPr/>
        </p:nvSpPr>
        <p:spPr>
          <a:xfrm>
            <a:off x="2205633" y="956310"/>
            <a:ext cx="55792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050" dirty="0"/>
          </a:p>
        </p:txBody>
      </p:sp>
      <p:sp>
        <p:nvSpPr>
          <p:cNvPr id="55" name="Text 40"/>
          <p:cNvSpPr/>
          <p:nvPr/>
        </p:nvSpPr>
        <p:spPr>
          <a:xfrm>
            <a:off x="2935010" y="956310"/>
            <a:ext cx="74926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56" name="Text 41"/>
          <p:cNvSpPr/>
          <p:nvPr/>
        </p:nvSpPr>
        <p:spPr>
          <a:xfrm>
            <a:off x="3855720" y="956310"/>
            <a:ext cx="714018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050" dirty="0"/>
          </a:p>
        </p:txBody>
      </p:sp>
      <p:sp>
        <p:nvSpPr>
          <p:cNvPr id="57" name="Shape 42"/>
          <p:cNvSpPr/>
          <p:nvPr/>
        </p:nvSpPr>
        <p:spPr>
          <a:xfrm>
            <a:off x="8845034" y="961073"/>
            <a:ext cx="1308616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8919329" y="1032510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9" name="Text 44"/>
          <p:cNvSpPr/>
          <p:nvPr/>
        </p:nvSpPr>
        <p:spPr>
          <a:xfrm>
            <a:off x="9014579" y="987743"/>
            <a:ext cx="114097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· always-on →</a:t>
            </a:r>
            <a:endParaRPr lang="en-US" sz="825" dirty="0"/>
          </a:p>
        </p:txBody>
      </p:sp>
      <p:sp>
        <p:nvSpPr>
          <p:cNvPr id="60" name="Shape 45"/>
          <p:cNvSpPr/>
          <p:nvPr/>
        </p:nvSpPr>
        <p:spPr>
          <a:xfrm>
            <a:off x="666750" y="1325880"/>
            <a:ext cx="3048000" cy="520827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1" name="Text 46"/>
          <p:cNvSpPr/>
          <p:nvPr/>
        </p:nvSpPr>
        <p:spPr>
          <a:xfrm>
            <a:off x="788670" y="1428750"/>
            <a:ext cx="2888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750" dirty="0"/>
          </a:p>
        </p:txBody>
      </p:sp>
      <p:sp>
        <p:nvSpPr>
          <p:cNvPr id="62" name="Text 47"/>
          <p:cNvSpPr/>
          <p:nvPr/>
        </p:nvSpPr>
        <p:spPr>
          <a:xfrm>
            <a:off x="788670" y="1581150"/>
            <a:ext cx="288828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POSITIVE</a:t>
            </a:r>
            <a:endParaRPr lang="en-US" sz="1125" dirty="0"/>
          </a:p>
        </p:txBody>
      </p:sp>
      <p:sp>
        <p:nvSpPr>
          <p:cNvPr id="63" name="Shape 48"/>
          <p:cNvSpPr/>
          <p:nvPr/>
        </p:nvSpPr>
        <p:spPr>
          <a:xfrm>
            <a:off x="788670" y="1857375"/>
            <a:ext cx="579120" cy="5791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EF4444"/>
            </a:solidFill>
            <a:prstDash val="solid"/>
          </a:ln>
        </p:spPr>
      </p:sp>
      <p:sp>
        <p:nvSpPr>
          <p:cNvPr id="64" name="Text 49"/>
          <p:cNvSpPr/>
          <p:nvPr/>
        </p:nvSpPr>
        <p:spPr>
          <a:xfrm>
            <a:off x="987981" y="2040255"/>
            <a:ext cx="256699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200" dirty="0"/>
          </a:p>
        </p:txBody>
      </p:sp>
      <p:sp>
        <p:nvSpPr>
          <p:cNvPr id="65" name="Text 50"/>
          <p:cNvSpPr/>
          <p:nvPr/>
        </p:nvSpPr>
        <p:spPr>
          <a:xfrm>
            <a:off x="1482090" y="1976914"/>
            <a:ext cx="1451729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66" name="Text 51"/>
          <p:cNvSpPr/>
          <p:nvPr/>
        </p:nvSpPr>
        <p:spPr>
          <a:xfrm>
            <a:off x="1482090" y="2163604"/>
            <a:ext cx="145172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· 14 events · 6 sources</a:t>
            </a:r>
            <a:endParaRPr lang="en-US" sz="863" dirty="0"/>
          </a:p>
        </p:txBody>
      </p:sp>
      <p:sp>
        <p:nvSpPr>
          <p:cNvPr id="67" name="Shape 52"/>
          <p:cNvSpPr/>
          <p:nvPr/>
        </p:nvSpPr>
        <p:spPr>
          <a:xfrm>
            <a:off x="788670" y="2512695"/>
            <a:ext cx="2804160" cy="967740"/>
          </a:xfrm>
          <a:prstGeom prst="roundRect">
            <a:avLst>
              <a:gd name="adj" fmla="val 7874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8" name="Text 53"/>
          <p:cNvSpPr/>
          <p:nvPr/>
        </p:nvSpPr>
        <p:spPr>
          <a:xfrm>
            <a:off x="872490" y="2596515"/>
            <a:ext cx="271561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CONCLUSION</a:t>
            </a:r>
            <a:endParaRPr lang="en-US" sz="750" dirty="0"/>
          </a:p>
        </p:txBody>
      </p:sp>
      <p:sp>
        <p:nvSpPr>
          <p:cNvPr id="69" name="Text 54"/>
          <p:cNvSpPr/>
          <p:nvPr/>
        </p:nvSpPr>
        <p:spPr>
          <a:xfrm>
            <a:off x="872490" y="2729865"/>
            <a:ext cx="271561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carlos.t@acme.com </a:t>
            </a:r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phished, MFA-fatigued, and the attacker pulled 1.2 GB from </a:t>
            </a:r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acme-finance-bkt </a:t>
            </a:r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the user's session.</a:t>
            </a:r>
            <a:endParaRPr lang="en-US" sz="1050" dirty="0"/>
          </a:p>
        </p:txBody>
      </p:sp>
      <p:sp>
        <p:nvSpPr>
          <p:cNvPr id="70" name="Text 55"/>
          <p:cNvSpPr/>
          <p:nvPr/>
        </p:nvSpPr>
        <p:spPr>
          <a:xfrm>
            <a:off x="788670" y="3556635"/>
            <a:ext cx="2888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INDICATORS</a:t>
            </a:r>
            <a:endParaRPr lang="en-US" sz="750" dirty="0"/>
          </a:p>
        </p:txBody>
      </p:sp>
      <p:sp>
        <p:nvSpPr>
          <p:cNvPr id="71" name="Shape 56"/>
          <p:cNvSpPr/>
          <p:nvPr/>
        </p:nvSpPr>
        <p:spPr>
          <a:xfrm>
            <a:off x="788670" y="3747135"/>
            <a:ext cx="329446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72" name="Shape 57"/>
          <p:cNvSpPr/>
          <p:nvPr/>
        </p:nvSpPr>
        <p:spPr>
          <a:xfrm>
            <a:off x="862965" y="3818573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73" name="Text 58"/>
          <p:cNvSpPr/>
          <p:nvPr/>
        </p:nvSpPr>
        <p:spPr>
          <a:xfrm>
            <a:off x="958215" y="3773805"/>
            <a:ext cx="1618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25" dirty="0"/>
          </a:p>
        </p:txBody>
      </p:sp>
      <p:sp>
        <p:nvSpPr>
          <p:cNvPr id="74" name="Text 59"/>
          <p:cNvSpPr/>
          <p:nvPr/>
        </p:nvSpPr>
        <p:spPr>
          <a:xfrm>
            <a:off x="1156216" y="3760470"/>
            <a:ext cx="224921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MFA pushes · 11 denied, 1 accepted</a:t>
            </a:r>
            <a:endParaRPr lang="en-US" sz="975" dirty="0"/>
          </a:p>
        </p:txBody>
      </p:sp>
      <p:sp>
        <p:nvSpPr>
          <p:cNvPr id="75" name="Shape 60"/>
          <p:cNvSpPr/>
          <p:nvPr/>
        </p:nvSpPr>
        <p:spPr>
          <a:xfrm>
            <a:off x="788670" y="4004310"/>
            <a:ext cx="329446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862965" y="4075748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77" name="Text 62"/>
          <p:cNvSpPr/>
          <p:nvPr/>
        </p:nvSpPr>
        <p:spPr>
          <a:xfrm>
            <a:off x="958215" y="4030980"/>
            <a:ext cx="1618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25" dirty="0"/>
          </a:p>
        </p:txBody>
      </p:sp>
      <p:sp>
        <p:nvSpPr>
          <p:cNvPr id="78" name="Text 63"/>
          <p:cNvSpPr/>
          <p:nvPr/>
        </p:nvSpPr>
        <p:spPr>
          <a:xfrm>
            <a:off x="1156216" y="4017645"/>
            <a:ext cx="2190512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pivot · auth → S3 GET ×1,402</a:t>
            </a:r>
            <a:endParaRPr lang="en-US" sz="975" dirty="0"/>
          </a:p>
        </p:txBody>
      </p:sp>
      <p:sp>
        <p:nvSpPr>
          <p:cNvPr id="79" name="Shape 64"/>
          <p:cNvSpPr/>
          <p:nvPr/>
        </p:nvSpPr>
        <p:spPr>
          <a:xfrm>
            <a:off x="788670" y="4261485"/>
            <a:ext cx="329446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80" name="Shape 65"/>
          <p:cNvSpPr/>
          <p:nvPr/>
        </p:nvSpPr>
        <p:spPr>
          <a:xfrm>
            <a:off x="862965" y="4332923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1" name="Text 66"/>
          <p:cNvSpPr/>
          <p:nvPr/>
        </p:nvSpPr>
        <p:spPr>
          <a:xfrm>
            <a:off x="958215" y="4288155"/>
            <a:ext cx="1618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25" dirty="0"/>
          </a:p>
        </p:txBody>
      </p:sp>
      <p:sp>
        <p:nvSpPr>
          <p:cNvPr id="82" name="Text 67"/>
          <p:cNvSpPr/>
          <p:nvPr/>
        </p:nvSpPr>
        <p:spPr>
          <a:xfrm>
            <a:off x="1156216" y="4274820"/>
            <a:ext cx="2213729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impossible-travel · NY → MOW (3 min)</a:t>
            </a:r>
            <a:endParaRPr lang="en-US" sz="975" dirty="0"/>
          </a:p>
        </p:txBody>
      </p:sp>
      <p:sp>
        <p:nvSpPr>
          <p:cNvPr id="83" name="Shape 68"/>
          <p:cNvSpPr/>
          <p:nvPr/>
        </p:nvSpPr>
        <p:spPr>
          <a:xfrm>
            <a:off x="788670" y="4592003"/>
            <a:ext cx="276582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84" name="Shape 69"/>
          <p:cNvSpPr/>
          <p:nvPr/>
        </p:nvSpPr>
        <p:spPr>
          <a:xfrm>
            <a:off x="862965" y="4663440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85" name="Text 70"/>
          <p:cNvSpPr/>
          <p:nvPr/>
        </p:nvSpPr>
        <p:spPr>
          <a:xfrm>
            <a:off x="958215" y="4618673"/>
            <a:ext cx="11430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825" dirty="0"/>
          </a:p>
        </p:txBody>
      </p:sp>
      <p:sp>
        <p:nvSpPr>
          <p:cNvPr id="86" name="Text 71"/>
          <p:cNvSpPr/>
          <p:nvPr/>
        </p:nvSpPr>
        <p:spPr>
          <a:xfrm>
            <a:off x="1103352" y="4518660"/>
            <a:ext cx="256567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brand-impersonation mail · matched IOC feed</a:t>
            </a:r>
            <a:endParaRPr lang="en-US" sz="975" dirty="0"/>
          </a:p>
        </p:txBody>
      </p:sp>
      <p:sp>
        <p:nvSpPr>
          <p:cNvPr id="87" name="Shape 72"/>
          <p:cNvSpPr/>
          <p:nvPr/>
        </p:nvSpPr>
        <p:spPr>
          <a:xfrm>
            <a:off x="788670" y="4960620"/>
            <a:ext cx="572333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8" name="Text 73"/>
          <p:cNvSpPr/>
          <p:nvPr/>
        </p:nvSpPr>
        <p:spPr>
          <a:xfrm>
            <a:off x="862965" y="4987290"/>
            <a:ext cx="49994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825" dirty="0"/>
          </a:p>
        </p:txBody>
      </p:sp>
      <p:sp>
        <p:nvSpPr>
          <p:cNvPr id="89" name="Shape 74"/>
          <p:cNvSpPr/>
          <p:nvPr/>
        </p:nvSpPr>
        <p:spPr>
          <a:xfrm>
            <a:off x="1418153" y="4960620"/>
            <a:ext cx="567809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0" name="Text 75"/>
          <p:cNvSpPr/>
          <p:nvPr/>
        </p:nvSpPr>
        <p:spPr>
          <a:xfrm>
            <a:off x="1492448" y="4987290"/>
            <a:ext cx="49541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825" dirty="0"/>
          </a:p>
        </p:txBody>
      </p:sp>
      <p:sp>
        <p:nvSpPr>
          <p:cNvPr id="91" name="Shape 76"/>
          <p:cNvSpPr/>
          <p:nvPr/>
        </p:nvSpPr>
        <p:spPr>
          <a:xfrm>
            <a:off x="2043113" y="4960620"/>
            <a:ext cx="577453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2" name="Text 77"/>
          <p:cNvSpPr/>
          <p:nvPr/>
        </p:nvSpPr>
        <p:spPr>
          <a:xfrm>
            <a:off x="2117408" y="4987290"/>
            <a:ext cx="50506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825" dirty="0"/>
          </a:p>
        </p:txBody>
      </p:sp>
      <p:sp>
        <p:nvSpPr>
          <p:cNvPr id="93" name="Shape 78"/>
          <p:cNvSpPr/>
          <p:nvPr/>
        </p:nvSpPr>
        <p:spPr>
          <a:xfrm>
            <a:off x="3829050" y="1325880"/>
            <a:ext cx="3162300" cy="520827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9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50970" y="1446848"/>
            <a:ext cx="123825" cy="123825"/>
          </a:xfrm>
          <a:prstGeom prst="rect">
            <a:avLst/>
          </a:prstGeom>
        </p:spPr>
      </p:pic>
      <p:sp>
        <p:nvSpPr>
          <p:cNvPr id="95" name="Text 79"/>
          <p:cNvSpPr/>
          <p:nvPr/>
        </p:nvSpPr>
        <p:spPr>
          <a:xfrm>
            <a:off x="4122420" y="1436370"/>
            <a:ext cx="748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story</a:t>
            </a:r>
            <a:endParaRPr lang="en-US" sz="900" dirty="0"/>
          </a:p>
        </p:txBody>
      </p:sp>
      <p:sp>
        <p:nvSpPr>
          <p:cNvPr id="96" name="Text 80"/>
          <p:cNvSpPr/>
          <p:nvPr/>
        </p:nvSpPr>
        <p:spPr>
          <a:xfrm>
            <a:off x="5803821" y="1435418"/>
            <a:ext cx="114180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access → impact</a:t>
            </a:r>
            <a:endParaRPr lang="en-US" sz="825" dirty="0"/>
          </a:p>
        </p:txBody>
      </p:sp>
      <p:sp>
        <p:nvSpPr>
          <p:cNvPr id="97" name="Text 81"/>
          <p:cNvSpPr/>
          <p:nvPr/>
        </p:nvSpPr>
        <p:spPr>
          <a:xfrm>
            <a:off x="4088725" y="1684020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13:14</a:t>
            </a:r>
            <a:endParaRPr lang="en-US" sz="675" dirty="0"/>
          </a:p>
        </p:txBody>
      </p:sp>
      <p:sp>
        <p:nvSpPr>
          <p:cNvPr id="98" name="Shape 82"/>
          <p:cNvSpPr/>
          <p:nvPr/>
        </p:nvSpPr>
        <p:spPr>
          <a:xfrm>
            <a:off x="4135398" y="1842135"/>
            <a:ext cx="163830" cy="163830"/>
          </a:xfrm>
          <a:prstGeom prst="ellipse">
            <a:avLst/>
          </a:prstGeom>
          <a:solidFill>
            <a:srgbClr val="EF4444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99" name="Text 83"/>
          <p:cNvSpPr/>
          <p:nvPr/>
        </p:nvSpPr>
        <p:spPr>
          <a:xfrm>
            <a:off x="3973830" y="2044065"/>
            <a:ext cx="4870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 · DocuSign clone</a:t>
            </a:r>
            <a:endParaRPr lang="en-US" sz="750" dirty="0"/>
          </a:p>
        </p:txBody>
      </p:sp>
      <p:sp>
        <p:nvSpPr>
          <p:cNvPr id="100" name="Text 84"/>
          <p:cNvSpPr/>
          <p:nvPr/>
        </p:nvSpPr>
        <p:spPr>
          <a:xfrm>
            <a:off x="4088725" y="2482215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T1566</a:t>
            </a:r>
            <a:endParaRPr lang="en-US" sz="675" dirty="0"/>
          </a:p>
        </p:txBody>
      </p:sp>
      <p:sp>
        <p:nvSpPr>
          <p:cNvPr id="101" name="Text 85"/>
          <p:cNvSpPr/>
          <p:nvPr/>
        </p:nvSpPr>
        <p:spPr>
          <a:xfrm>
            <a:off x="4545330" y="1684020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13:21</a:t>
            </a:r>
            <a:endParaRPr lang="en-US" sz="675" dirty="0"/>
          </a:p>
        </p:txBody>
      </p:sp>
      <p:sp>
        <p:nvSpPr>
          <p:cNvPr id="102" name="Shape 86"/>
          <p:cNvSpPr/>
          <p:nvPr/>
        </p:nvSpPr>
        <p:spPr>
          <a:xfrm>
            <a:off x="4592121" y="1842135"/>
            <a:ext cx="163830" cy="163830"/>
          </a:xfrm>
          <a:prstGeom prst="ellipse">
            <a:avLst/>
          </a:prstGeom>
          <a:solidFill>
            <a:srgbClr val="EF4444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03" name="Text 87"/>
          <p:cNvSpPr/>
          <p:nvPr/>
        </p:nvSpPr>
        <p:spPr>
          <a:xfrm>
            <a:off x="4430435" y="2044065"/>
            <a:ext cx="48720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spam · 14 pushes</a:t>
            </a:r>
            <a:endParaRPr lang="en-US" sz="750" dirty="0"/>
          </a:p>
        </p:txBody>
      </p:sp>
      <p:sp>
        <p:nvSpPr>
          <p:cNvPr id="104" name="Text 88"/>
          <p:cNvSpPr/>
          <p:nvPr/>
        </p:nvSpPr>
        <p:spPr>
          <a:xfrm>
            <a:off x="4545330" y="2615565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T1621</a:t>
            </a:r>
            <a:endParaRPr lang="en-US" sz="675" dirty="0"/>
          </a:p>
        </p:txBody>
      </p:sp>
      <p:sp>
        <p:nvSpPr>
          <p:cNvPr id="105" name="Text 89"/>
          <p:cNvSpPr/>
          <p:nvPr/>
        </p:nvSpPr>
        <p:spPr>
          <a:xfrm>
            <a:off x="5002054" y="1684020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13:24</a:t>
            </a:r>
            <a:endParaRPr lang="en-US" sz="675" dirty="0"/>
          </a:p>
        </p:txBody>
      </p:sp>
      <p:sp>
        <p:nvSpPr>
          <p:cNvPr id="106" name="Shape 90"/>
          <p:cNvSpPr/>
          <p:nvPr/>
        </p:nvSpPr>
        <p:spPr>
          <a:xfrm>
            <a:off x="5048845" y="1842135"/>
            <a:ext cx="163830" cy="163830"/>
          </a:xfrm>
          <a:prstGeom prst="ellipse">
            <a:avLst/>
          </a:prstGeom>
          <a:solidFill>
            <a:srgbClr val="EF4444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07" name="Text 91"/>
          <p:cNvSpPr/>
          <p:nvPr/>
        </p:nvSpPr>
        <p:spPr>
          <a:xfrm>
            <a:off x="4887159" y="2044065"/>
            <a:ext cx="48720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 sign-in · MOW</a:t>
            </a:r>
            <a:endParaRPr lang="en-US" sz="750" dirty="0"/>
          </a:p>
        </p:txBody>
      </p:sp>
      <p:sp>
        <p:nvSpPr>
          <p:cNvPr id="108" name="Text 92"/>
          <p:cNvSpPr/>
          <p:nvPr/>
        </p:nvSpPr>
        <p:spPr>
          <a:xfrm>
            <a:off x="5002054" y="2482215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T1078</a:t>
            </a:r>
            <a:endParaRPr lang="en-US" sz="675" dirty="0"/>
          </a:p>
        </p:txBody>
      </p:sp>
      <p:sp>
        <p:nvSpPr>
          <p:cNvPr id="109" name="Text 93"/>
          <p:cNvSpPr/>
          <p:nvPr/>
        </p:nvSpPr>
        <p:spPr>
          <a:xfrm>
            <a:off x="5458778" y="1684020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13:25</a:t>
            </a:r>
            <a:endParaRPr lang="en-US" sz="675" dirty="0"/>
          </a:p>
        </p:txBody>
      </p:sp>
      <p:sp>
        <p:nvSpPr>
          <p:cNvPr id="110" name="Shape 94"/>
          <p:cNvSpPr/>
          <p:nvPr/>
        </p:nvSpPr>
        <p:spPr>
          <a:xfrm>
            <a:off x="5505569" y="1842135"/>
            <a:ext cx="163830" cy="163830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11" name="Text 95"/>
          <p:cNvSpPr/>
          <p:nvPr/>
        </p:nvSpPr>
        <p:spPr>
          <a:xfrm>
            <a:off x="5343883" y="2044065"/>
            <a:ext cx="48720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pivot · S3</a:t>
            </a:r>
            <a:endParaRPr lang="en-US" sz="750" dirty="0"/>
          </a:p>
        </p:txBody>
      </p:sp>
      <p:sp>
        <p:nvSpPr>
          <p:cNvPr id="112" name="Text 96"/>
          <p:cNvSpPr/>
          <p:nvPr/>
        </p:nvSpPr>
        <p:spPr>
          <a:xfrm>
            <a:off x="5458778" y="2482215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T1530</a:t>
            </a:r>
            <a:endParaRPr lang="en-US" sz="675" dirty="0"/>
          </a:p>
        </p:txBody>
      </p:sp>
      <p:sp>
        <p:nvSpPr>
          <p:cNvPr id="113" name="Text 97"/>
          <p:cNvSpPr/>
          <p:nvPr/>
        </p:nvSpPr>
        <p:spPr>
          <a:xfrm>
            <a:off x="5935980" y="1684020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13:31</a:t>
            </a:r>
            <a:endParaRPr lang="en-US" sz="675" dirty="0"/>
          </a:p>
        </p:txBody>
      </p:sp>
      <p:sp>
        <p:nvSpPr>
          <p:cNvPr id="114" name="Shape 98"/>
          <p:cNvSpPr/>
          <p:nvPr/>
        </p:nvSpPr>
        <p:spPr>
          <a:xfrm>
            <a:off x="5982771" y="1842135"/>
            <a:ext cx="163830" cy="163830"/>
          </a:xfrm>
          <a:prstGeom prst="ellipse">
            <a:avLst/>
          </a:prstGeom>
          <a:solidFill>
            <a:srgbClr val="EF4444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15" name="Text 99"/>
          <p:cNvSpPr/>
          <p:nvPr/>
        </p:nvSpPr>
        <p:spPr>
          <a:xfrm>
            <a:off x="5802630" y="2044065"/>
            <a:ext cx="5241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GetObject ×1,402</a:t>
            </a:r>
            <a:endParaRPr lang="en-US" sz="750" dirty="0"/>
          </a:p>
        </p:txBody>
      </p:sp>
      <p:sp>
        <p:nvSpPr>
          <p:cNvPr id="116" name="Text 100"/>
          <p:cNvSpPr/>
          <p:nvPr/>
        </p:nvSpPr>
        <p:spPr>
          <a:xfrm>
            <a:off x="5935980" y="2348865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T1530</a:t>
            </a:r>
            <a:endParaRPr lang="en-US" sz="675" dirty="0"/>
          </a:p>
        </p:txBody>
      </p:sp>
      <p:sp>
        <p:nvSpPr>
          <p:cNvPr id="117" name="Text 101"/>
          <p:cNvSpPr/>
          <p:nvPr/>
        </p:nvSpPr>
        <p:spPr>
          <a:xfrm>
            <a:off x="6443782" y="1684020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13:32</a:t>
            </a:r>
            <a:endParaRPr lang="en-US" sz="675" dirty="0"/>
          </a:p>
        </p:txBody>
      </p:sp>
      <p:sp>
        <p:nvSpPr>
          <p:cNvPr id="118" name="Shape 102"/>
          <p:cNvSpPr/>
          <p:nvPr/>
        </p:nvSpPr>
        <p:spPr>
          <a:xfrm>
            <a:off x="6471404" y="1842135"/>
            <a:ext cx="201930" cy="20193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50800" dir="16200000">
              <a:srgbClr val="10B981">
                <a:alpha val="25000"/>
              </a:srgbClr>
            </a:outerShdw>
          </a:effectLst>
        </p:spPr>
      </p:sp>
      <p:sp>
        <p:nvSpPr>
          <p:cNvPr id="119" name="Text 103"/>
          <p:cNvSpPr/>
          <p:nvPr/>
        </p:nvSpPr>
        <p:spPr>
          <a:xfrm>
            <a:off x="6301264" y="2082165"/>
            <a:ext cx="54221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block egress (proposed)</a:t>
            </a:r>
            <a:endParaRPr lang="en-US" sz="750" dirty="0"/>
          </a:p>
        </p:txBody>
      </p:sp>
      <p:sp>
        <p:nvSpPr>
          <p:cNvPr id="120" name="Text 104"/>
          <p:cNvSpPr/>
          <p:nvPr/>
        </p:nvSpPr>
        <p:spPr>
          <a:xfrm>
            <a:off x="6418064" y="2520315"/>
            <a:ext cx="384929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</a:t>
            </a:r>
            <a:endParaRPr lang="en-US" sz="675" dirty="0"/>
          </a:p>
        </p:txBody>
      </p:sp>
      <p:sp>
        <p:nvSpPr>
          <p:cNvPr id="121" name="Shape 105"/>
          <p:cNvSpPr/>
          <p:nvPr/>
        </p:nvSpPr>
        <p:spPr>
          <a:xfrm>
            <a:off x="3950970" y="2868930"/>
            <a:ext cx="2918460" cy="726758"/>
          </a:xfrm>
          <a:prstGeom prst="roundRect">
            <a:avLst>
              <a:gd name="adj" fmla="val 1048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2" name="Text 106"/>
          <p:cNvSpPr/>
          <p:nvPr/>
        </p:nvSpPr>
        <p:spPr>
          <a:xfrm>
            <a:off x="4072890" y="2971800"/>
            <a:ext cx="27548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RADIUS</a:t>
            </a:r>
            <a:endParaRPr lang="en-US" sz="750" dirty="0"/>
          </a:p>
        </p:txBody>
      </p:sp>
      <p:sp>
        <p:nvSpPr>
          <p:cNvPr id="123" name="Text 107"/>
          <p:cNvSpPr/>
          <p:nvPr/>
        </p:nvSpPr>
        <p:spPr>
          <a:xfrm>
            <a:off x="4072890" y="3105150"/>
            <a:ext cx="2754859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user · 1 bucket · 12 files</a:t>
            </a:r>
            <a:endParaRPr lang="en-US" sz="1050" dirty="0"/>
          </a:p>
        </p:txBody>
      </p:sp>
      <p:sp>
        <p:nvSpPr>
          <p:cNvPr id="124" name="Text 108"/>
          <p:cNvSpPr/>
          <p:nvPr/>
        </p:nvSpPr>
        <p:spPr>
          <a:xfrm>
            <a:off x="4072890" y="3291840"/>
            <a:ext cx="275485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tax IDs · PCI tagged</a:t>
            </a:r>
            <a:endParaRPr lang="en-US" sz="863" dirty="0"/>
          </a:p>
        </p:txBody>
      </p:sp>
      <p:sp>
        <p:nvSpPr>
          <p:cNvPr id="125" name="Shape 109"/>
          <p:cNvSpPr/>
          <p:nvPr/>
        </p:nvSpPr>
        <p:spPr>
          <a:xfrm>
            <a:off x="4072890" y="3445193"/>
            <a:ext cx="2674620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26" name="Shape 110"/>
          <p:cNvSpPr/>
          <p:nvPr/>
        </p:nvSpPr>
        <p:spPr>
          <a:xfrm>
            <a:off x="4072890" y="3445193"/>
            <a:ext cx="2193131" cy="47625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27" name="Shape 111"/>
          <p:cNvSpPr/>
          <p:nvPr/>
        </p:nvSpPr>
        <p:spPr>
          <a:xfrm>
            <a:off x="3950970" y="3652838"/>
            <a:ext cx="2918460" cy="879158"/>
          </a:xfrm>
          <a:prstGeom prst="roundRect">
            <a:avLst>
              <a:gd name="adj" fmla="val 866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8" name="Text 112"/>
          <p:cNvSpPr/>
          <p:nvPr/>
        </p:nvSpPr>
        <p:spPr>
          <a:xfrm>
            <a:off x="4072890" y="3755707"/>
            <a:ext cx="27548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</a:t>
            </a:r>
            <a:endParaRPr lang="en-US" sz="750" dirty="0"/>
          </a:p>
        </p:txBody>
      </p:sp>
      <p:sp>
        <p:nvSpPr>
          <p:cNvPr id="129" name="Text 113"/>
          <p:cNvSpPr/>
          <p:nvPr/>
        </p:nvSpPr>
        <p:spPr>
          <a:xfrm>
            <a:off x="4072890" y="3889058"/>
            <a:ext cx="2754859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session + block egress</a:t>
            </a:r>
            <a:endParaRPr lang="en-US" sz="1050" dirty="0"/>
          </a:p>
        </p:txBody>
      </p:sp>
      <p:sp>
        <p:nvSpPr>
          <p:cNvPr id="130" name="Text 114"/>
          <p:cNvSpPr/>
          <p:nvPr/>
        </p:nvSpPr>
        <p:spPr>
          <a:xfrm>
            <a:off x="4072890" y="4075748"/>
            <a:ext cx="275485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orchestrated · 1 kernel policy</a:t>
            </a:r>
            <a:endParaRPr lang="en-US" sz="863" dirty="0"/>
          </a:p>
        </p:txBody>
      </p:sp>
      <p:sp>
        <p:nvSpPr>
          <p:cNvPr id="131" name="Shape 115"/>
          <p:cNvSpPr/>
          <p:nvPr/>
        </p:nvSpPr>
        <p:spPr>
          <a:xfrm>
            <a:off x="4072890" y="4229100"/>
            <a:ext cx="722828" cy="200025"/>
          </a:xfrm>
          <a:prstGeom prst="roundRect">
            <a:avLst>
              <a:gd name="adj" fmla="val 23810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32" name="Text 116"/>
          <p:cNvSpPr/>
          <p:nvPr/>
        </p:nvSpPr>
        <p:spPr>
          <a:xfrm>
            <a:off x="4147185" y="4255770"/>
            <a:ext cx="6504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plan →</a:t>
            </a:r>
            <a:endParaRPr lang="en-US" sz="825" dirty="0"/>
          </a:p>
        </p:txBody>
      </p:sp>
      <p:sp>
        <p:nvSpPr>
          <p:cNvPr id="133" name="Shape 117"/>
          <p:cNvSpPr/>
          <p:nvPr/>
        </p:nvSpPr>
        <p:spPr>
          <a:xfrm>
            <a:off x="114300" y="6170295"/>
            <a:ext cx="1995845" cy="401955"/>
          </a:xfrm>
          <a:prstGeom prst="roundRect">
            <a:avLst>
              <a:gd name="adj" fmla="val 9479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134" name="Text 118"/>
          <p:cNvSpPr/>
          <p:nvPr/>
        </p:nvSpPr>
        <p:spPr>
          <a:xfrm>
            <a:off x="198120" y="6235065"/>
            <a:ext cx="1904405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card is the HERO. confidence as a ring · call in seconds.</a:t>
            </a:r>
            <a:endParaRPr lang="en-US" sz="825" dirty="0"/>
          </a:p>
        </p:txBody>
      </p:sp>
      <p:sp>
        <p:nvSpPr>
          <p:cNvPr id="135" name="Shape 119"/>
          <p:cNvSpPr/>
          <p:nvPr/>
        </p:nvSpPr>
        <p:spPr>
          <a:xfrm>
            <a:off x="7105650" y="1325880"/>
            <a:ext cx="3048000" cy="520827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13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27570" y="1446848"/>
            <a:ext cx="123825" cy="123825"/>
          </a:xfrm>
          <a:prstGeom prst="rect">
            <a:avLst/>
          </a:prstGeom>
        </p:spPr>
      </p:pic>
      <p:sp>
        <p:nvSpPr>
          <p:cNvPr id="137" name="Text 120"/>
          <p:cNvSpPr/>
          <p:nvPr/>
        </p:nvSpPr>
        <p:spPr>
          <a:xfrm>
            <a:off x="7399020" y="1436370"/>
            <a:ext cx="6211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</a:t>
            </a:r>
            <a:endParaRPr lang="en-US" sz="900" dirty="0"/>
          </a:p>
        </p:txBody>
      </p:sp>
      <p:sp>
        <p:nvSpPr>
          <p:cNvPr id="138" name="Text 121"/>
          <p:cNvSpPr/>
          <p:nvPr/>
        </p:nvSpPr>
        <p:spPr>
          <a:xfrm>
            <a:off x="9728954" y="1435418"/>
            <a:ext cx="37897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cmd-K</a:t>
            </a:r>
            <a:endParaRPr lang="en-US" sz="825" dirty="0"/>
          </a:p>
        </p:txBody>
      </p:sp>
      <p:sp>
        <p:nvSpPr>
          <p:cNvPr id="139" name="Shape 122"/>
          <p:cNvSpPr/>
          <p:nvPr/>
        </p:nvSpPr>
        <p:spPr>
          <a:xfrm>
            <a:off x="7227570" y="1664970"/>
            <a:ext cx="2804160" cy="429578"/>
          </a:xfrm>
          <a:prstGeom prst="roundRect">
            <a:avLst>
              <a:gd name="adj" fmla="val 17738"/>
            </a:avLst>
          </a:prstGeom>
          <a:solidFill>
            <a:srgbClr val="2D6CFF">
              <a:alpha val="6000"/>
            </a:srgbClr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40" name="Text 123"/>
          <p:cNvSpPr/>
          <p:nvPr/>
        </p:nvSpPr>
        <p:spPr>
          <a:xfrm>
            <a:off x="7292340" y="1729740"/>
            <a:ext cx="2754859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· 14:01</a:t>
            </a:r>
            <a:endParaRPr lang="en-US" sz="788" dirty="0"/>
          </a:p>
        </p:txBody>
      </p:sp>
      <p:sp>
        <p:nvSpPr>
          <p:cNvPr id="141" name="Text 124"/>
          <p:cNvSpPr/>
          <p:nvPr/>
        </p:nvSpPr>
        <p:spPr>
          <a:xfrm>
            <a:off x="7292340" y="1884998"/>
            <a:ext cx="2629526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this user touch anything else in the last 24 h?"</a:t>
            </a:r>
            <a:endParaRPr lang="en-US" sz="900" dirty="0"/>
          </a:p>
        </p:txBody>
      </p:sp>
      <p:sp>
        <p:nvSpPr>
          <p:cNvPr id="142" name="Shape 125"/>
          <p:cNvSpPr/>
          <p:nvPr/>
        </p:nvSpPr>
        <p:spPr>
          <a:xfrm>
            <a:off x="7227570" y="2151698"/>
            <a:ext cx="2804160" cy="837248"/>
          </a:xfrm>
          <a:prstGeom prst="roundRect">
            <a:avLst>
              <a:gd name="adj" fmla="val 910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43" name="Text 126"/>
          <p:cNvSpPr/>
          <p:nvPr/>
        </p:nvSpPr>
        <p:spPr>
          <a:xfrm>
            <a:off x="7292340" y="2216468"/>
            <a:ext cx="2754859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· 14:01</a:t>
            </a:r>
            <a:endParaRPr lang="en-US" sz="788" dirty="0"/>
          </a:p>
        </p:txBody>
      </p:sp>
      <p:sp>
        <p:nvSpPr>
          <p:cNvPr id="144" name="Text 127"/>
          <p:cNvSpPr/>
          <p:nvPr/>
        </p:nvSpPr>
        <p:spPr>
          <a:xfrm>
            <a:off x="7292340" y="2371725"/>
            <a:ext cx="261775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3 buckets, 1 Snowflake share, 1 SaaS app.</a:t>
            </a:r>
            <a:endParaRPr lang="en-US" sz="900" dirty="0"/>
          </a:p>
        </p:txBody>
      </p:sp>
      <p:sp>
        <p:nvSpPr>
          <p:cNvPr id="145" name="Text 128"/>
          <p:cNvSpPr/>
          <p:nvPr/>
        </p:nvSpPr>
        <p:spPr>
          <a:xfrm>
            <a:off x="7292340" y="2554605"/>
            <a:ext cx="120800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[ev #14, #19, #22]</a:t>
            </a:r>
            <a:endParaRPr lang="en-US" sz="825" dirty="0"/>
          </a:p>
        </p:txBody>
      </p:sp>
      <p:sp>
        <p:nvSpPr>
          <p:cNvPr id="146" name="Shape 129"/>
          <p:cNvSpPr/>
          <p:nvPr/>
        </p:nvSpPr>
        <p:spPr>
          <a:xfrm>
            <a:off x="7292340" y="2724150"/>
            <a:ext cx="1225748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47" name="Shape 130"/>
          <p:cNvSpPr/>
          <p:nvPr/>
        </p:nvSpPr>
        <p:spPr>
          <a:xfrm>
            <a:off x="7366635" y="279558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48" name="Text 131"/>
          <p:cNvSpPr/>
          <p:nvPr/>
        </p:nvSpPr>
        <p:spPr>
          <a:xfrm>
            <a:off x="7461885" y="2750820"/>
            <a:ext cx="105810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open evidence 14</a:t>
            </a:r>
            <a:endParaRPr lang="en-US" sz="825" dirty="0"/>
          </a:p>
        </p:txBody>
      </p:sp>
      <p:sp>
        <p:nvSpPr>
          <p:cNvPr id="149" name="Shape 132"/>
          <p:cNvSpPr/>
          <p:nvPr/>
        </p:nvSpPr>
        <p:spPr>
          <a:xfrm>
            <a:off x="8556189" y="2724150"/>
            <a:ext cx="1046559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50" name="Shape 133"/>
          <p:cNvSpPr/>
          <p:nvPr/>
        </p:nvSpPr>
        <p:spPr>
          <a:xfrm>
            <a:off x="8630484" y="279558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51" name="Text 134"/>
          <p:cNvSpPr/>
          <p:nvPr/>
        </p:nvSpPr>
        <p:spPr>
          <a:xfrm>
            <a:off x="8725734" y="2750820"/>
            <a:ext cx="87891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pivot to entity</a:t>
            </a:r>
            <a:endParaRPr lang="en-US" sz="825" dirty="0"/>
          </a:p>
        </p:txBody>
      </p:sp>
      <p:sp>
        <p:nvSpPr>
          <p:cNvPr id="152" name="Shape 135"/>
          <p:cNvSpPr/>
          <p:nvPr/>
        </p:nvSpPr>
        <p:spPr>
          <a:xfrm>
            <a:off x="7227570" y="3046095"/>
            <a:ext cx="2804160" cy="429578"/>
          </a:xfrm>
          <a:prstGeom prst="roundRect">
            <a:avLst>
              <a:gd name="adj" fmla="val 17738"/>
            </a:avLst>
          </a:prstGeom>
          <a:solidFill>
            <a:srgbClr val="2D6CFF">
              <a:alpha val="6000"/>
            </a:srgbClr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53" name="Text 136"/>
          <p:cNvSpPr/>
          <p:nvPr/>
        </p:nvSpPr>
        <p:spPr>
          <a:xfrm>
            <a:off x="7292340" y="3110865"/>
            <a:ext cx="2754859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· 14:02</a:t>
            </a:r>
            <a:endParaRPr lang="en-US" sz="788" dirty="0"/>
          </a:p>
        </p:txBody>
      </p:sp>
      <p:sp>
        <p:nvSpPr>
          <p:cNvPr id="154" name="Text 137"/>
          <p:cNvSpPr/>
          <p:nvPr/>
        </p:nvSpPr>
        <p:spPr>
          <a:xfrm>
            <a:off x="7292340" y="3266123"/>
            <a:ext cx="252091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"any other users with the same phish template?"</a:t>
            </a:r>
            <a:endParaRPr lang="en-US" sz="900" dirty="0"/>
          </a:p>
        </p:txBody>
      </p:sp>
      <p:sp>
        <p:nvSpPr>
          <p:cNvPr id="155" name="Shape 138"/>
          <p:cNvSpPr/>
          <p:nvPr/>
        </p:nvSpPr>
        <p:spPr>
          <a:xfrm>
            <a:off x="7227570" y="3532823"/>
            <a:ext cx="2804160" cy="429578"/>
          </a:xfrm>
          <a:prstGeom prst="roundRect">
            <a:avLst>
              <a:gd name="adj" fmla="val 1773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56" name="Text 139"/>
          <p:cNvSpPr/>
          <p:nvPr/>
        </p:nvSpPr>
        <p:spPr>
          <a:xfrm>
            <a:off x="7292340" y="3597593"/>
            <a:ext cx="2754859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· 14:02</a:t>
            </a:r>
            <a:endParaRPr lang="en-US" sz="788" dirty="0"/>
          </a:p>
        </p:txBody>
      </p:sp>
      <p:sp>
        <p:nvSpPr>
          <p:cNvPr id="157" name="Text 140"/>
          <p:cNvSpPr/>
          <p:nvPr/>
        </p:nvSpPr>
        <p:spPr>
          <a:xfrm>
            <a:off x="7292340" y="3752850"/>
            <a:ext cx="2394942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41 mails to 9 users · 0 clicks confirmed.</a:t>
            </a:r>
            <a:endParaRPr lang="en-US" sz="900" dirty="0"/>
          </a:p>
        </p:txBody>
      </p:sp>
      <p:sp>
        <p:nvSpPr>
          <p:cNvPr id="158" name="Text 141"/>
          <p:cNvSpPr/>
          <p:nvPr/>
        </p:nvSpPr>
        <p:spPr>
          <a:xfrm>
            <a:off x="7227570" y="4070985"/>
            <a:ext cx="2444829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anything…</a:t>
            </a:r>
            <a:endParaRPr lang="en-US" sz="975" dirty="0"/>
          </a:p>
        </p:txBody>
      </p:sp>
      <p:sp>
        <p:nvSpPr>
          <p:cNvPr id="159" name="Shape 142"/>
          <p:cNvSpPr/>
          <p:nvPr/>
        </p:nvSpPr>
        <p:spPr>
          <a:xfrm>
            <a:off x="9634299" y="4057650"/>
            <a:ext cx="397431" cy="200025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60" name="Text 143"/>
          <p:cNvSpPr/>
          <p:nvPr/>
        </p:nvSpPr>
        <p:spPr>
          <a:xfrm>
            <a:off x="9708595" y="4084320"/>
            <a:ext cx="3250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5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962025"/>
            <a:ext cx="171450" cy="1714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0" y="12382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" y="1323975"/>
            <a:ext cx="171450" cy="1714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55114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#4129 · Story tab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236946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344936" y="144780"/>
            <a:ext cx="111180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chain timeline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532941" y="74295"/>
            <a:ext cx="3957995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5812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807262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7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1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0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0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1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8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111775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chain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8172807" y="590550"/>
            <a:ext cx="666750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Text 24"/>
          <p:cNvSpPr/>
          <p:nvPr/>
        </p:nvSpPr>
        <p:spPr>
          <a:xfrm>
            <a:off x="8275679" y="636270"/>
            <a:ext cx="53721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replay</a:t>
            </a:r>
            <a:endParaRPr lang="en-US" sz="900" dirty="0"/>
          </a:p>
        </p:txBody>
      </p:sp>
      <p:sp>
        <p:nvSpPr>
          <p:cNvPr id="40" name="Shape 25"/>
          <p:cNvSpPr/>
          <p:nvPr/>
        </p:nvSpPr>
        <p:spPr>
          <a:xfrm>
            <a:off x="8896708" y="616268"/>
            <a:ext cx="125694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41" name="Shape 26"/>
          <p:cNvSpPr/>
          <p:nvPr/>
        </p:nvSpPr>
        <p:spPr>
          <a:xfrm>
            <a:off x="8971004" y="68770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2" name="Text 27"/>
          <p:cNvSpPr/>
          <p:nvPr/>
        </p:nvSpPr>
        <p:spPr>
          <a:xfrm>
            <a:off x="9066254" y="642938"/>
            <a:ext cx="108930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interrupted at step 6</a:t>
            </a:r>
            <a:endParaRPr lang="en-US" sz="825" dirty="0"/>
          </a:p>
        </p:txBody>
      </p:sp>
      <p:sp>
        <p:nvSpPr>
          <p:cNvPr id="43" name="Shape 28"/>
          <p:cNvSpPr/>
          <p:nvPr/>
        </p:nvSpPr>
        <p:spPr>
          <a:xfrm>
            <a:off x="666750" y="937260"/>
            <a:ext cx="9486900" cy="1666875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4" name="Text 29"/>
          <p:cNvSpPr/>
          <p:nvPr/>
        </p:nvSpPr>
        <p:spPr>
          <a:xfrm>
            <a:off x="750570" y="1078230"/>
            <a:ext cx="134754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ACCESS</a:t>
            </a:r>
            <a:endParaRPr lang="en-US" sz="750" dirty="0"/>
          </a:p>
        </p:txBody>
      </p:sp>
      <p:sp>
        <p:nvSpPr>
          <p:cNvPr id="45" name="Text 30"/>
          <p:cNvSpPr/>
          <p:nvPr/>
        </p:nvSpPr>
        <p:spPr>
          <a:xfrm>
            <a:off x="2079070" y="1078230"/>
            <a:ext cx="134766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750" dirty="0"/>
          </a:p>
        </p:txBody>
      </p:sp>
      <p:sp>
        <p:nvSpPr>
          <p:cNvPr id="46" name="Text 31"/>
          <p:cNvSpPr/>
          <p:nvPr/>
        </p:nvSpPr>
        <p:spPr>
          <a:xfrm>
            <a:off x="3407689" y="1078230"/>
            <a:ext cx="134766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750" dirty="0"/>
          </a:p>
        </p:txBody>
      </p:sp>
      <p:sp>
        <p:nvSpPr>
          <p:cNvPr id="47" name="Text 32"/>
          <p:cNvSpPr/>
          <p:nvPr/>
        </p:nvSpPr>
        <p:spPr>
          <a:xfrm>
            <a:off x="4736306" y="1078230"/>
            <a:ext cx="134766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</a:t>
            </a:r>
            <a:endParaRPr lang="en-US" sz="750" dirty="0"/>
          </a:p>
        </p:txBody>
      </p:sp>
      <p:sp>
        <p:nvSpPr>
          <p:cNvPr id="48" name="Text 33"/>
          <p:cNvSpPr/>
          <p:nvPr/>
        </p:nvSpPr>
        <p:spPr>
          <a:xfrm>
            <a:off x="6064925" y="1078230"/>
            <a:ext cx="134766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750" dirty="0"/>
          </a:p>
        </p:txBody>
      </p:sp>
      <p:sp>
        <p:nvSpPr>
          <p:cNvPr id="49" name="Text 34"/>
          <p:cNvSpPr/>
          <p:nvPr/>
        </p:nvSpPr>
        <p:spPr>
          <a:xfrm>
            <a:off x="7393543" y="1078230"/>
            <a:ext cx="134766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EXFIL</a:t>
            </a:r>
            <a:endParaRPr lang="en-US" sz="750" dirty="0"/>
          </a:p>
        </p:txBody>
      </p:sp>
      <p:sp>
        <p:nvSpPr>
          <p:cNvPr id="50" name="Text 35"/>
          <p:cNvSpPr/>
          <p:nvPr/>
        </p:nvSpPr>
        <p:spPr>
          <a:xfrm>
            <a:off x="8722163" y="1078230"/>
            <a:ext cx="134766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50" dirty="0"/>
          </a:p>
        </p:txBody>
      </p:sp>
      <p:sp>
        <p:nvSpPr>
          <p:cNvPr id="51" name="Text 36"/>
          <p:cNvSpPr/>
          <p:nvPr/>
        </p:nvSpPr>
        <p:spPr>
          <a:xfrm>
            <a:off x="1233488" y="1268730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13:14</a:t>
            </a:r>
            <a:endParaRPr lang="en-US" sz="675" dirty="0"/>
          </a:p>
        </p:txBody>
      </p:sp>
      <p:sp>
        <p:nvSpPr>
          <p:cNvPr id="52" name="Shape 37"/>
          <p:cNvSpPr/>
          <p:nvPr/>
        </p:nvSpPr>
        <p:spPr>
          <a:xfrm>
            <a:off x="1280279" y="1426845"/>
            <a:ext cx="163830" cy="163830"/>
          </a:xfrm>
          <a:prstGeom prst="ellipse">
            <a:avLst/>
          </a:prstGeom>
          <a:solidFill>
            <a:srgbClr val="EF4444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53" name="Text 38"/>
          <p:cNvSpPr/>
          <p:nvPr/>
        </p:nvSpPr>
        <p:spPr>
          <a:xfrm>
            <a:off x="807959" y="1628775"/>
            <a:ext cx="11084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 click · DocuSign clone</a:t>
            </a:r>
            <a:endParaRPr lang="en-US" sz="750" dirty="0"/>
          </a:p>
        </p:txBody>
      </p:sp>
      <p:sp>
        <p:nvSpPr>
          <p:cNvPr id="54" name="Text 39"/>
          <p:cNvSpPr/>
          <p:nvPr/>
        </p:nvSpPr>
        <p:spPr>
          <a:xfrm>
            <a:off x="1130618" y="1933575"/>
            <a:ext cx="53923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T1566.002</a:t>
            </a:r>
            <a:endParaRPr lang="en-US" sz="675" dirty="0"/>
          </a:p>
        </p:txBody>
      </p:sp>
      <p:sp>
        <p:nvSpPr>
          <p:cNvPr id="55" name="Text 40"/>
          <p:cNvSpPr/>
          <p:nvPr/>
        </p:nvSpPr>
        <p:spPr>
          <a:xfrm>
            <a:off x="2380536" y="1268730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13:21</a:t>
            </a:r>
            <a:endParaRPr lang="en-US" sz="675" dirty="0"/>
          </a:p>
        </p:txBody>
      </p:sp>
      <p:sp>
        <p:nvSpPr>
          <p:cNvPr id="56" name="Shape 41"/>
          <p:cNvSpPr/>
          <p:nvPr/>
        </p:nvSpPr>
        <p:spPr>
          <a:xfrm>
            <a:off x="2427327" y="1426845"/>
            <a:ext cx="163830" cy="163830"/>
          </a:xfrm>
          <a:prstGeom prst="ellipse">
            <a:avLst/>
          </a:prstGeom>
          <a:solidFill>
            <a:srgbClr val="EF4444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57" name="Text 42"/>
          <p:cNvSpPr/>
          <p:nvPr/>
        </p:nvSpPr>
        <p:spPr>
          <a:xfrm>
            <a:off x="2030373" y="1628775"/>
            <a:ext cx="9576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push spam (14)</a:t>
            </a:r>
            <a:endParaRPr lang="en-US" sz="750" dirty="0"/>
          </a:p>
        </p:txBody>
      </p:sp>
      <p:sp>
        <p:nvSpPr>
          <p:cNvPr id="58" name="Text 43"/>
          <p:cNvSpPr/>
          <p:nvPr/>
        </p:nvSpPr>
        <p:spPr>
          <a:xfrm>
            <a:off x="2380536" y="1800225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T1621</a:t>
            </a:r>
            <a:endParaRPr lang="en-US" sz="675" dirty="0"/>
          </a:p>
        </p:txBody>
      </p:sp>
      <p:sp>
        <p:nvSpPr>
          <p:cNvPr id="59" name="Text 44"/>
          <p:cNvSpPr/>
          <p:nvPr/>
        </p:nvSpPr>
        <p:spPr>
          <a:xfrm>
            <a:off x="3527584" y="1268730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13:24</a:t>
            </a:r>
            <a:endParaRPr lang="en-US" sz="675" dirty="0"/>
          </a:p>
        </p:txBody>
      </p:sp>
      <p:sp>
        <p:nvSpPr>
          <p:cNvPr id="60" name="Shape 45"/>
          <p:cNvSpPr/>
          <p:nvPr/>
        </p:nvSpPr>
        <p:spPr>
          <a:xfrm>
            <a:off x="3574376" y="1426845"/>
            <a:ext cx="163830" cy="163830"/>
          </a:xfrm>
          <a:prstGeom prst="ellipse">
            <a:avLst/>
          </a:prstGeom>
          <a:solidFill>
            <a:srgbClr val="EF4444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61" name="Text 46"/>
          <p:cNvSpPr/>
          <p:nvPr/>
        </p:nvSpPr>
        <p:spPr>
          <a:xfrm>
            <a:off x="3102055" y="1628775"/>
            <a:ext cx="11084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 sign-in from MOW</a:t>
            </a:r>
            <a:endParaRPr lang="en-US" sz="750" dirty="0"/>
          </a:p>
        </p:txBody>
      </p:sp>
      <p:sp>
        <p:nvSpPr>
          <p:cNvPr id="62" name="Text 47"/>
          <p:cNvSpPr/>
          <p:nvPr/>
        </p:nvSpPr>
        <p:spPr>
          <a:xfrm>
            <a:off x="3527584" y="1933575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T1078</a:t>
            </a:r>
            <a:endParaRPr lang="en-US" sz="675" dirty="0"/>
          </a:p>
        </p:txBody>
      </p:sp>
      <p:sp>
        <p:nvSpPr>
          <p:cNvPr id="63" name="Text 48"/>
          <p:cNvSpPr/>
          <p:nvPr/>
        </p:nvSpPr>
        <p:spPr>
          <a:xfrm>
            <a:off x="4674632" y="1268730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13:25</a:t>
            </a:r>
            <a:endParaRPr lang="en-US" sz="675" dirty="0"/>
          </a:p>
        </p:txBody>
      </p:sp>
      <p:sp>
        <p:nvSpPr>
          <p:cNvPr id="64" name="Shape 49"/>
          <p:cNvSpPr/>
          <p:nvPr/>
        </p:nvSpPr>
        <p:spPr>
          <a:xfrm>
            <a:off x="4721423" y="1426845"/>
            <a:ext cx="163830" cy="163830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65" name="Text 50"/>
          <p:cNvSpPr/>
          <p:nvPr/>
        </p:nvSpPr>
        <p:spPr>
          <a:xfrm>
            <a:off x="4375667" y="1628775"/>
            <a:ext cx="8553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pivot · S3</a:t>
            </a:r>
            <a:endParaRPr lang="en-US" sz="750" dirty="0"/>
          </a:p>
        </p:txBody>
      </p:sp>
      <p:sp>
        <p:nvSpPr>
          <p:cNvPr id="66" name="Text 51"/>
          <p:cNvSpPr/>
          <p:nvPr/>
        </p:nvSpPr>
        <p:spPr>
          <a:xfrm>
            <a:off x="4674632" y="1800225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T1530</a:t>
            </a:r>
            <a:endParaRPr lang="en-US" sz="675" dirty="0"/>
          </a:p>
        </p:txBody>
      </p:sp>
      <p:sp>
        <p:nvSpPr>
          <p:cNvPr id="67" name="Text 52"/>
          <p:cNvSpPr/>
          <p:nvPr/>
        </p:nvSpPr>
        <p:spPr>
          <a:xfrm>
            <a:off x="5821681" y="1268730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13:31</a:t>
            </a:r>
            <a:endParaRPr lang="en-US" sz="675" dirty="0"/>
          </a:p>
        </p:txBody>
      </p:sp>
      <p:sp>
        <p:nvSpPr>
          <p:cNvPr id="68" name="Shape 53"/>
          <p:cNvSpPr/>
          <p:nvPr/>
        </p:nvSpPr>
        <p:spPr>
          <a:xfrm>
            <a:off x="5868472" y="1426845"/>
            <a:ext cx="163830" cy="163830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69" name="Text 54"/>
          <p:cNvSpPr/>
          <p:nvPr/>
        </p:nvSpPr>
        <p:spPr>
          <a:xfrm>
            <a:off x="5396151" y="1628775"/>
            <a:ext cx="11084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GetObject ×1,402</a:t>
            </a:r>
            <a:endParaRPr lang="en-US" sz="750" dirty="0"/>
          </a:p>
        </p:txBody>
      </p:sp>
      <p:sp>
        <p:nvSpPr>
          <p:cNvPr id="70" name="Text 55"/>
          <p:cNvSpPr/>
          <p:nvPr/>
        </p:nvSpPr>
        <p:spPr>
          <a:xfrm>
            <a:off x="5821681" y="1933575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T1530</a:t>
            </a:r>
            <a:endParaRPr lang="en-US" sz="675" dirty="0"/>
          </a:p>
        </p:txBody>
      </p:sp>
      <p:sp>
        <p:nvSpPr>
          <p:cNvPr id="71" name="Text 56"/>
          <p:cNvSpPr/>
          <p:nvPr/>
        </p:nvSpPr>
        <p:spPr>
          <a:xfrm>
            <a:off x="7035403" y="1268730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13:32</a:t>
            </a:r>
            <a:endParaRPr lang="en-US" sz="675" dirty="0"/>
          </a:p>
        </p:txBody>
      </p:sp>
      <p:sp>
        <p:nvSpPr>
          <p:cNvPr id="72" name="Shape 57"/>
          <p:cNvSpPr/>
          <p:nvPr/>
        </p:nvSpPr>
        <p:spPr>
          <a:xfrm>
            <a:off x="7063144" y="1426845"/>
            <a:ext cx="201930" cy="20193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50800" dir="16200000">
              <a:srgbClr val="10B981">
                <a:alpha val="25000"/>
              </a:srgbClr>
            </a:outerShdw>
          </a:effectLst>
        </p:spPr>
      </p:sp>
      <p:sp>
        <p:nvSpPr>
          <p:cNvPr id="73" name="Text 58"/>
          <p:cNvSpPr/>
          <p:nvPr/>
        </p:nvSpPr>
        <p:spPr>
          <a:xfrm>
            <a:off x="6694646" y="1666875"/>
            <a:ext cx="9389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blocked at kernel</a:t>
            </a:r>
            <a:endParaRPr lang="en-US" sz="750" dirty="0"/>
          </a:p>
        </p:txBody>
      </p:sp>
      <p:sp>
        <p:nvSpPr>
          <p:cNvPr id="74" name="Text 59"/>
          <p:cNvSpPr/>
          <p:nvPr/>
        </p:nvSpPr>
        <p:spPr>
          <a:xfrm>
            <a:off x="6932534" y="1838325"/>
            <a:ext cx="53923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KubeArmor</a:t>
            </a:r>
            <a:endParaRPr lang="en-US" sz="675" dirty="0"/>
          </a:p>
        </p:txBody>
      </p:sp>
      <p:sp>
        <p:nvSpPr>
          <p:cNvPr id="75" name="Text 60"/>
          <p:cNvSpPr/>
          <p:nvPr/>
        </p:nvSpPr>
        <p:spPr>
          <a:xfrm>
            <a:off x="8182452" y="1268730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13:32</a:t>
            </a:r>
            <a:endParaRPr lang="en-US" sz="675" dirty="0"/>
          </a:p>
        </p:txBody>
      </p:sp>
      <p:sp>
        <p:nvSpPr>
          <p:cNvPr id="76" name="Shape 61"/>
          <p:cNvSpPr/>
          <p:nvPr/>
        </p:nvSpPr>
        <p:spPr>
          <a:xfrm>
            <a:off x="8229244" y="1426845"/>
            <a:ext cx="163830" cy="16383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7" name="Text 62"/>
          <p:cNvSpPr/>
          <p:nvPr/>
        </p:nvSpPr>
        <p:spPr>
          <a:xfrm>
            <a:off x="7935754" y="1628775"/>
            <a:ext cx="75080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exfil to 198.51.x</a:t>
            </a:r>
            <a:endParaRPr lang="en-US" sz="750" dirty="0"/>
          </a:p>
        </p:txBody>
      </p:sp>
      <p:sp>
        <p:nvSpPr>
          <p:cNvPr id="78" name="Text 63"/>
          <p:cNvSpPr/>
          <p:nvPr/>
        </p:nvSpPr>
        <p:spPr>
          <a:xfrm>
            <a:off x="8182452" y="1800225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T1041</a:t>
            </a:r>
            <a:endParaRPr lang="en-US" sz="675" dirty="0"/>
          </a:p>
        </p:txBody>
      </p:sp>
      <p:sp>
        <p:nvSpPr>
          <p:cNvPr id="79" name="Text 64"/>
          <p:cNvSpPr/>
          <p:nvPr/>
        </p:nvSpPr>
        <p:spPr>
          <a:xfrm>
            <a:off x="9432371" y="1268730"/>
            <a:ext cx="12775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675" dirty="0"/>
          </a:p>
        </p:txBody>
      </p:sp>
      <p:sp>
        <p:nvSpPr>
          <p:cNvPr id="80" name="Shape 65"/>
          <p:cNvSpPr/>
          <p:nvPr/>
        </p:nvSpPr>
        <p:spPr>
          <a:xfrm>
            <a:off x="9376290" y="1426845"/>
            <a:ext cx="163830" cy="16383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1" name="Text 66"/>
          <p:cNvSpPr/>
          <p:nvPr/>
        </p:nvSpPr>
        <p:spPr>
          <a:xfrm>
            <a:off x="8981124" y="1628775"/>
            <a:ext cx="9540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(prevented)</a:t>
            </a:r>
            <a:endParaRPr lang="en-US" sz="750" dirty="0"/>
          </a:p>
        </p:txBody>
      </p:sp>
      <p:sp>
        <p:nvSpPr>
          <p:cNvPr id="82" name="Text 67"/>
          <p:cNvSpPr/>
          <p:nvPr/>
        </p:nvSpPr>
        <p:spPr>
          <a:xfrm>
            <a:off x="9329500" y="1800225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T1485</a:t>
            </a:r>
            <a:endParaRPr lang="en-US" sz="675" dirty="0"/>
          </a:p>
        </p:txBody>
      </p:sp>
      <p:sp>
        <p:nvSpPr>
          <p:cNvPr id="83" name="Shape 68"/>
          <p:cNvSpPr/>
          <p:nvPr/>
        </p:nvSpPr>
        <p:spPr>
          <a:xfrm>
            <a:off x="788670" y="2263140"/>
            <a:ext cx="1100733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84" name="Shape 69"/>
          <p:cNvSpPr/>
          <p:nvPr/>
        </p:nvSpPr>
        <p:spPr>
          <a:xfrm>
            <a:off x="862965" y="2334578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5" name="Text 70"/>
          <p:cNvSpPr/>
          <p:nvPr/>
        </p:nvSpPr>
        <p:spPr>
          <a:xfrm>
            <a:off x="958215" y="2289810"/>
            <a:ext cx="93309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steps · 5</a:t>
            </a:r>
            <a:endParaRPr lang="en-US" sz="825" dirty="0"/>
          </a:p>
        </p:txBody>
      </p:sp>
      <p:sp>
        <p:nvSpPr>
          <p:cNvPr id="86" name="Shape 71"/>
          <p:cNvSpPr/>
          <p:nvPr/>
        </p:nvSpPr>
        <p:spPr>
          <a:xfrm>
            <a:off x="1946553" y="2263140"/>
            <a:ext cx="1686759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87" name="Shape 72"/>
          <p:cNvSpPr/>
          <p:nvPr/>
        </p:nvSpPr>
        <p:spPr>
          <a:xfrm>
            <a:off x="2020848" y="233457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88" name="Text 73"/>
          <p:cNvSpPr/>
          <p:nvPr/>
        </p:nvSpPr>
        <p:spPr>
          <a:xfrm>
            <a:off x="2116098" y="2289810"/>
            <a:ext cx="151911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wall · 1 kernel policy</a:t>
            </a:r>
            <a:endParaRPr lang="en-US" sz="825" dirty="0"/>
          </a:p>
        </p:txBody>
      </p:sp>
      <p:sp>
        <p:nvSpPr>
          <p:cNvPr id="89" name="Shape 74"/>
          <p:cNvSpPr/>
          <p:nvPr/>
        </p:nvSpPr>
        <p:spPr>
          <a:xfrm>
            <a:off x="3690462" y="2263140"/>
            <a:ext cx="185416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0" name="Shape 75"/>
          <p:cNvSpPr/>
          <p:nvPr/>
        </p:nvSpPr>
        <p:spPr>
          <a:xfrm>
            <a:off x="3764756" y="2334578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91" name="Text 76"/>
          <p:cNvSpPr/>
          <p:nvPr/>
        </p:nvSpPr>
        <p:spPr>
          <a:xfrm>
            <a:off x="3860006" y="2289810"/>
            <a:ext cx="168652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prevented · 2 downstream steps</a:t>
            </a:r>
            <a:endParaRPr lang="en-US" sz="825" dirty="0"/>
          </a:p>
        </p:txBody>
      </p:sp>
      <p:sp>
        <p:nvSpPr>
          <p:cNvPr id="92" name="Shape 77"/>
          <p:cNvSpPr/>
          <p:nvPr/>
        </p:nvSpPr>
        <p:spPr>
          <a:xfrm>
            <a:off x="666750" y="2699385"/>
            <a:ext cx="3111460" cy="3834765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93" name="Text 78"/>
          <p:cNvSpPr/>
          <p:nvPr/>
        </p:nvSpPr>
        <p:spPr>
          <a:xfrm>
            <a:off x="788670" y="2809875"/>
            <a:ext cx="152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session pivot to S3</a:t>
            </a:r>
            <a:endParaRPr lang="en-US" sz="900" dirty="0"/>
          </a:p>
        </p:txBody>
      </p:sp>
      <p:sp>
        <p:nvSpPr>
          <p:cNvPr id="94" name="Text 79"/>
          <p:cNvSpPr/>
          <p:nvPr/>
        </p:nvSpPr>
        <p:spPr>
          <a:xfrm>
            <a:off x="3256121" y="2808923"/>
            <a:ext cx="47636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13:25:11</a:t>
            </a:r>
            <a:endParaRPr lang="en-US" sz="825" dirty="0"/>
          </a:p>
        </p:txBody>
      </p:sp>
      <p:sp>
        <p:nvSpPr>
          <p:cNvPr id="95" name="Text 80"/>
          <p:cNvSpPr/>
          <p:nvPr/>
        </p:nvSpPr>
        <p:spPr>
          <a:xfrm>
            <a:off x="788670" y="3038475"/>
            <a:ext cx="2953649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session token used to query CloudTrail for buckets containing 'finance'.</a:t>
            </a:r>
            <a:endParaRPr lang="en-US" sz="863" dirty="0"/>
          </a:p>
        </p:txBody>
      </p:sp>
      <p:sp>
        <p:nvSpPr>
          <p:cNvPr id="96" name="Shape 81"/>
          <p:cNvSpPr/>
          <p:nvPr/>
        </p:nvSpPr>
        <p:spPr>
          <a:xfrm>
            <a:off x="788670" y="3345180"/>
            <a:ext cx="2580799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97" name="Shape 82"/>
          <p:cNvSpPr/>
          <p:nvPr/>
        </p:nvSpPr>
        <p:spPr>
          <a:xfrm>
            <a:off x="788670" y="3440430"/>
            <a:ext cx="2580799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98" name="Shape 83"/>
          <p:cNvSpPr/>
          <p:nvPr/>
        </p:nvSpPr>
        <p:spPr>
          <a:xfrm>
            <a:off x="788670" y="3535680"/>
            <a:ext cx="1433751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99" name="Shape 84"/>
          <p:cNvSpPr/>
          <p:nvPr/>
        </p:nvSpPr>
        <p:spPr>
          <a:xfrm>
            <a:off x="788670" y="3640455"/>
            <a:ext cx="744736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00" name="Shape 85"/>
          <p:cNvSpPr/>
          <p:nvPr/>
        </p:nvSpPr>
        <p:spPr>
          <a:xfrm>
            <a:off x="862965" y="371189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1" name="Text 86"/>
          <p:cNvSpPr/>
          <p:nvPr/>
        </p:nvSpPr>
        <p:spPr>
          <a:xfrm>
            <a:off x="958215" y="3667125"/>
            <a:ext cx="57709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</a:t>
            </a:r>
            <a:endParaRPr lang="en-US" sz="825" dirty="0"/>
          </a:p>
        </p:txBody>
      </p:sp>
      <p:sp>
        <p:nvSpPr>
          <p:cNvPr id="102" name="Shape 87"/>
          <p:cNvSpPr/>
          <p:nvPr/>
        </p:nvSpPr>
        <p:spPr>
          <a:xfrm>
            <a:off x="1571506" y="3640455"/>
            <a:ext cx="49530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03" name="Shape 88"/>
          <p:cNvSpPr/>
          <p:nvPr/>
        </p:nvSpPr>
        <p:spPr>
          <a:xfrm>
            <a:off x="1645801" y="371189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4" name="Text 89"/>
          <p:cNvSpPr/>
          <p:nvPr/>
        </p:nvSpPr>
        <p:spPr>
          <a:xfrm>
            <a:off x="1741051" y="3667125"/>
            <a:ext cx="32766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825" dirty="0"/>
          </a:p>
        </p:txBody>
      </p:sp>
      <p:sp>
        <p:nvSpPr>
          <p:cNvPr id="105" name="Shape 90"/>
          <p:cNvSpPr/>
          <p:nvPr/>
        </p:nvSpPr>
        <p:spPr>
          <a:xfrm>
            <a:off x="3854410" y="2699385"/>
            <a:ext cx="3111460" cy="3834765"/>
          </a:xfrm>
          <a:prstGeom prst="roundRect">
            <a:avLst>
              <a:gd name="adj" fmla="val 2449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6" name="Text 91"/>
          <p:cNvSpPr/>
          <p:nvPr/>
        </p:nvSpPr>
        <p:spPr>
          <a:xfrm>
            <a:off x="3976331" y="2809875"/>
            <a:ext cx="106715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· ✕ blocked</a:t>
            </a:r>
            <a:endParaRPr lang="en-US" sz="900" dirty="0"/>
          </a:p>
        </p:txBody>
      </p:sp>
      <p:sp>
        <p:nvSpPr>
          <p:cNvPr id="107" name="Text 92"/>
          <p:cNvSpPr/>
          <p:nvPr/>
        </p:nvSpPr>
        <p:spPr>
          <a:xfrm>
            <a:off x="6239947" y="2808923"/>
            <a:ext cx="68020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13:32:00.117</a:t>
            </a:r>
            <a:endParaRPr lang="en-US" sz="825" dirty="0"/>
          </a:p>
        </p:txBody>
      </p:sp>
      <p:sp>
        <p:nvSpPr>
          <p:cNvPr id="108" name="Text 93"/>
          <p:cNvSpPr/>
          <p:nvPr/>
        </p:nvSpPr>
        <p:spPr>
          <a:xfrm>
            <a:off x="3976331" y="3038475"/>
            <a:ext cx="29536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to 198.51.x denied at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socket()</a:t>
            </a:r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policy 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kc-fin-egress.yaml v3 </a:t>
            </a:r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63" dirty="0"/>
          </a:p>
        </p:txBody>
      </p:sp>
      <p:sp>
        <p:nvSpPr>
          <p:cNvPr id="109" name="Shape 94"/>
          <p:cNvSpPr/>
          <p:nvPr/>
        </p:nvSpPr>
        <p:spPr>
          <a:xfrm>
            <a:off x="3976331" y="3362325"/>
            <a:ext cx="2580799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110" name="Shape 95"/>
          <p:cNvSpPr/>
          <p:nvPr/>
        </p:nvSpPr>
        <p:spPr>
          <a:xfrm>
            <a:off x="3976331" y="3457575"/>
            <a:ext cx="2007275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111" name="Shape 96"/>
          <p:cNvSpPr/>
          <p:nvPr/>
        </p:nvSpPr>
        <p:spPr>
          <a:xfrm>
            <a:off x="3976331" y="3562350"/>
            <a:ext cx="81641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12" name="Shape 97"/>
          <p:cNvSpPr/>
          <p:nvPr/>
        </p:nvSpPr>
        <p:spPr>
          <a:xfrm>
            <a:off x="4050626" y="363378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13" name="Text 98"/>
          <p:cNvSpPr/>
          <p:nvPr/>
        </p:nvSpPr>
        <p:spPr>
          <a:xfrm>
            <a:off x="4145876" y="3589020"/>
            <a:ext cx="64877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KubeArmor</a:t>
            </a:r>
            <a:endParaRPr lang="en-US" sz="825" dirty="0"/>
          </a:p>
        </p:txBody>
      </p:sp>
      <p:sp>
        <p:nvSpPr>
          <p:cNvPr id="114" name="Shape 99"/>
          <p:cNvSpPr/>
          <p:nvPr/>
        </p:nvSpPr>
        <p:spPr>
          <a:xfrm>
            <a:off x="4830842" y="3562350"/>
            <a:ext cx="509349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15" name="Shape 100"/>
          <p:cNvSpPr/>
          <p:nvPr/>
        </p:nvSpPr>
        <p:spPr>
          <a:xfrm>
            <a:off x="4905137" y="363378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16" name="Text 101"/>
          <p:cNvSpPr/>
          <p:nvPr/>
        </p:nvSpPr>
        <p:spPr>
          <a:xfrm>
            <a:off x="5000387" y="3589020"/>
            <a:ext cx="34170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</a:t>
            </a:r>
            <a:endParaRPr lang="en-US" sz="825" dirty="0"/>
          </a:p>
        </p:txBody>
      </p:sp>
      <p:sp>
        <p:nvSpPr>
          <p:cNvPr id="117" name="Shape 102"/>
          <p:cNvSpPr/>
          <p:nvPr/>
        </p:nvSpPr>
        <p:spPr>
          <a:xfrm>
            <a:off x="7042071" y="2699385"/>
            <a:ext cx="3111580" cy="3834765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18" name="Text 103"/>
          <p:cNvSpPr/>
          <p:nvPr/>
        </p:nvSpPr>
        <p:spPr>
          <a:xfrm>
            <a:off x="7163991" y="2802255"/>
            <a:ext cx="29537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prevented downstream · 2 steps</a:t>
            </a:r>
            <a:endParaRPr lang="en-US" sz="900" dirty="0"/>
          </a:p>
        </p:txBody>
      </p:sp>
      <p:sp>
        <p:nvSpPr>
          <p:cNvPr id="119" name="Text 104"/>
          <p:cNvSpPr/>
          <p:nvPr/>
        </p:nvSpPr>
        <p:spPr>
          <a:xfrm>
            <a:off x="7163991" y="3038475"/>
            <a:ext cx="295377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exfil to attacker C2 + ransomware drop on shared mount.</a:t>
            </a:r>
            <a:endParaRPr lang="en-US" sz="863" dirty="0"/>
          </a:p>
        </p:txBody>
      </p:sp>
      <p:sp>
        <p:nvSpPr>
          <p:cNvPr id="120" name="Shape 105"/>
          <p:cNvSpPr/>
          <p:nvPr/>
        </p:nvSpPr>
        <p:spPr>
          <a:xfrm>
            <a:off x="7163991" y="3191828"/>
            <a:ext cx="2580918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121" name="Shape 106"/>
          <p:cNvSpPr/>
          <p:nvPr/>
        </p:nvSpPr>
        <p:spPr>
          <a:xfrm>
            <a:off x="7163991" y="3287078"/>
            <a:ext cx="1433870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122" name="Shape 107"/>
          <p:cNvSpPr/>
          <p:nvPr/>
        </p:nvSpPr>
        <p:spPr>
          <a:xfrm>
            <a:off x="7163991" y="3391853"/>
            <a:ext cx="106263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3" name="Shape 108"/>
          <p:cNvSpPr/>
          <p:nvPr/>
        </p:nvSpPr>
        <p:spPr>
          <a:xfrm>
            <a:off x="7238286" y="3463290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24" name="Text 109"/>
          <p:cNvSpPr/>
          <p:nvPr/>
        </p:nvSpPr>
        <p:spPr>
          <a:xfrm>
            <a:off x="7333536" y="3418523"/>
            <a:ext cx="89499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happened</a:t>
            </a:r>
            <a:endParaRPr lang="en-US" sz="825" dirty="0"/>
          </a:p>
        </p:txBody>
      </p:sp>
      <p:sp>
        <p:nvSpPr>
          <p:cNvPr id="125" name="Shape 110"/>
          <p:cNvSpPr/>
          <p:nvPr/>
        </p:nvSpPr>
        <p:spPr>
          <a:xfrm>
            <a:off x="8268653" y="857250"/>
            <a:ext cx="1865948" cy="538163"/>
          </a:xfrm>
          <a:prstGeom prst="roundRect">
            <a:avLst>
              <a:gd name="adj" fmla="val 708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126" name="Text 111"/>
          <p:cNvSpPr/>
          <p:nvPr/>
        </p:nvSpPr>
        <p:spPr>
          <a:xfrm>
            <a:off x="8352473" y="922020"/>
            <a:ext cx="1774508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THE enforce-green wall. an attack visibly halted mid-chain. unique to AccuKnox.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1" y="12382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87249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#4129 · Reasoning tab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558297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666286" y="144780"/>
            <a:ext cx="134683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said true positive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4089320" y="74295"/>
            <a:ext cx="3401616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2191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363641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6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1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0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0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1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8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238565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· show your work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8240911" y="616268"/>
            <a:ext cx="975479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8315206" y="68770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0" name="Text 25"/>
          <p:cNvSpPr/>
          <p:nvPr/>
        </p:nvSpPr>
        <p:spPr>
          <a:xfrm>
            <a:off x="8410456" y="642938"/>
            <a:ext cx="80783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sourced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9273541" y="590550"/>
            <a:ext cx="880110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Text 27"/>
          <p:cNvSpPr/>
          <p:nvPr/>
        </p:nvSpPr>
        <p:spPr>
          <a:xfrm>
            <a:off x="9376411" y="636270"/>
            <a:ext cx="75057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trace</a:t>
            </a:r>
            <a:endParaRPr lang="en-US" sz="900" dirty="0"/>
          </a:p>
        </p:txBody>
      </p:sp>
      <p:sp>
        <p:nvSpPr>
          <p:cNvPr id="43" name="Shape 28"/>
          <p:cNvSpPr/>
          <p:nvPr/>
        </p:nvSpPr>
        <p:spPr>
          <a:xfrm>
            <a:off x="666750" y="937260"/>
            <a:ext cx="6705600" cy="8665845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4" name="Shape 29"/>
          <p:cNvSpPr/>
          <p:nvPr/>
        </p:nvSpPr>
        <p:spPr>
          <a:xfrm>
            <a:off x="941070" y="1078230"/>
            <a:ext cx="15240" cy="142589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5" name="Shape 30"/>
          <p:cNvSpPr/>
          <p:nvPr/>
        </p:nvSpPr>
        <p:spPr>
          <a:xfrm>
            <a:off x="822961" y="1078230"/>
            <a:ext cx="278130" cy="27813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46" name="Text 31"/>
          <p:cNvSpPr/>
          <p:nvPr/>
        </p:nvSpPr>
        <p:spPr>
          <a:xfrm>
            <a:off x="838201" y="109347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47" name="Text 32"/>
          <p:cNvSpPr/>
          <p:nvPr/>
        </p:nvSpPr>
        <p:spPr>
          <a:xfrm>
            <a:off x="1127761" y="1084898"/>
            <a:ext cx="291563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this user, and what's normal for them?</a:t>
            </a:r>
            <a:endParaRPr lang="en-US" sz="1050" dirty="0"/>
          </a:p>
        </p:txBody>
      </p:sp>
      <p:sp>
        <p:nvSpPr>
          <p:cNvPr id="48" name="Shape 33"/>
          <p:cNvSpPr/>
          <p:nvPr/>
        </p:nvSpPr>
        <p:spPr>
          <a:xfrm>
            <a:off x="6554272" y="1078230"/>
            <a:ext cx="69615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49" name="Shape 34"/>
          <p:cNvSpPr/>
          <p:nvPr/>
        </p:nvSpPr>
        <p:spPr>
          <a:xfrm>
            <a:off x="6628567" y="114966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0" name="Text 35"/>
          <p:cNvSpPr/>
          <p:nvPr/>
        </p:nvSpPr>
        <p:spPr>
          <a:xfrm>
            <a:off x="6723817" y="1104900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51" name="Text 36"/>
          <p:cNvSpPr/>
          <p:nvPr/>
        </p:nvSpPr>
        <p:spPr>
          <a:xfrm>
            <a:off x="7047428" y="1112520"/>
            <a:ext cx="20490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825" dirty="0"/>
          </a:p>
        </p:txBody>
      </p:sp>
      <p:sp>
        <p:nvSpPr>
          <p:cNvPr id="52" name="Shape 37"/>
          <p:cNvSpPr/>
          <p:nvPr/>
        </p:nvSpPr>
        <p:spPr>
          <a:xfrm>
            <a:off x="1127761" y="1306830"/>
            <a:ext cx="49530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53" name="Shape 38"/>
          <p:cNvSpPr/>
          <p:nvPr/>
        </p:nvSpPr>
        <p:spPr>
          <a:xfrm>
            <a:off x="1202055" y="137826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4" name="Text 39"/>
          <p:cNvSpPr/>
          <p:nvPr/>
        </p:nvSpPr>
        <p:spPr>
          <a:xfrm>
            <a:off x="1297305" y="1341120"/>
            <a:ext cx="32766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825" dirty="0"/>
          </a:p>
        </p:txBody>
      </p:sp>
      <p:sp>
        <p:nvSpPr>
          <p:cNvPr id="55" name="Shape 40"/>
          <p:cNvSpPr/>
          <p:nvPr/>
        </p:nvSpPr>
        <p:spPr>
          <a:xfrm>
            <a:off x="1661161" y="1306830"/>
            <a:ext cx="65663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56" name="Shape 41"/>
          <p:cNvSpPr/>
          <p:nvPr/>
        </p:nvSpPr>
        <p:spPr>
          <a:xfrm>
            <a:off x="1735455" y="137826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7" name="Text 42"/>
          <p:cNvSpPr/>
          <p:nvPr/>
        </p:nvSpPr>
        <p:spPr>
          <a:xfrm>
            <a:off x="1830705" y="1341120"/>
            <a:ext cx="48899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825" dirty="0"/>
          </a:p>
        </p:txBody>
      </p:sp>
      <p:sp>
        <p:nvSpPr>
          <p:cNvPr id="58" name="Shape 43"/>
          <p:cNvSpPr/>
          <p:nvPr/>
        </p:nvSpPr>
        <p:spPr>
          <a:xfrm>
            <a:off x="1127761" y="1544955"/>
            <a:ext cx="6122670" cy="825818"/>
          </a:xfrm>
          <a:prstGeom prst="roundRect">
            <a:avLst>
              <a:gd name="adj" fmla="val 6920"/>
            </a:avLst>
          </a:prstGeom>
          <a:solidFill>
            <a:srgbClr val="0F172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9" name="Text 44"/>
          <p:cNvSpPr/>
          <p:nvPr/>
        </p:nvSpPr>
        <p:spPr>
          <a:xfrm>
            <a:off x="1249681" y="1647825"/>
            <a:ext cx="6062510" cy="658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identity.profile("carlos.t") + baseline(30d)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role=finance · MFA 2.1/day · region=NY · S3 GET 12/day</a:t>
            </a:r>
            <a:endParaRPr lang="en-US" sz="788" dirty="0"/>
          </a:p>
        </p:txBody>
      </p:sp>
      <p:sp>
        <p:nvSpPr>
          <p:cNvPr id="60" name="Shape 45"/>
          <p:cNvSpPr/>
          <p:nvPr/>
        </p:nvSpPr>
        <p:spPr>
          <a:xfrm>
            <a:off x="941070" y="2504123"/>
            <a:ext cx="15240" cy="142589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1" name="Shape 46"/>
          <p:cNvSpPr/>
          <p:nvPr/>
        </p:nvSpPr>
        <p:spPr>
          <a:xfrm>
            <a:off x="822961" y="2504123"/>
            <a:ext cx="278130" cy="27813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62" name="Text 47"/>
          <p:cNvSpPr/>
          <p:nvPr/>
        </p:nvSpPr>
        <p:spPr>
          <a:xfrm>
            <a:off x="838201" y="2519363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63" name="Text 48"/>
          <p:cNvSpPr/>
          <p:nvPr/>
        </p:nvSpPr>
        <p:spPr>
          <a:xfrm>
            <a:off x="1127761" y="2510790"/>
            <a:ext cx="2020729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MFA volume anomalous?</a:t>
            </a:r>
            <a:endParaRPr lang="en-US" sz="1050" dirty="0"/>
          </a:p>
        </p:txBody>
      </p:sp>
      <p:sp>
        <p:nvSpPr>
          <p:cNvPr id="64" name="Shape 49"/>
          <p:cNvSpPr/>
          <p:nvPr/>
        </p:nvSpPr>
        <p:spPr>
          <a:xfrm>
            <a:off x="6562725" y="2504123"/>
            <a:ext cx="687705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65" name="Shape 50"/>
          <p:cNvSpPr/>
          <p:nvPr/>
        </p:nvSpPr>
        <p:spPr>
          <a:xfrm>
            <a:off x="6637020" y="2575560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66" name="Text 51"/>
          <p:cNvSpPr/>
          <p:nvPr/>
        </p:nvSpPr>
        <p:spPr>
          <a:xfrm>
            <a:off x="6732270" y="2530793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67" name="Text 52"/>
          <p:cNvSpPr/>
          <p:nvPr/>
        </p:nvSpPr>
        <p:spPr>
          <a:xfrm>
            <a:off x="7055883" y="2538413"/>
            <a:ext cx="19645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825" dirty="0"/>
          </a:p>
        </p:txBody>
      </p:sp>
      <p:sp>
        <p:nvSpPr>
          <p:cNvPr id="68" name="Shape 53"/>
          <p:cNvSpPr/>
          <p:nvPr/>
        </p:nvSpPr>
        <p:spPr>
          <a:xfrm>
            <a:off x="1127761" y="2732723"/>
            <a:ext cx="49530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69" name="Shape 54"/>
          <p:cNvSpPr/>
          <p:nvPr/>
        </p:nvSpPr>
        <p:spPr>
          <a:xfrm>
            <a:off x="1202055" y="2804160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70" name="Text 55"/>
          <p:cNvSpPr/>
          <p:nvPr/>
        </p:nvSpPr>
        <p:spPr>
          <a:xfrm>
            <a:off x="1297305" y="2767013"/>
            <a:ext cx="32766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825" dirty="0"/>
          </a:p>
        </p:txBody>
      </p:sp>
      <p:sp>
        <p:nvSpPr>
          <p:cNvPr id="71" name="Shape 56"/>
          <p:cNvSpPr/>
          <p:nvPr/>
        </p:nvSpPr>
        <p:spPr>
          <a:xfrm>
            <a:off x="1661161" y="2732723"/>
            <a:ext cx="1028105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72" name="Shape 57"/>
          <p:cNvSpPr/>
          <p:nvPr/>
        </p:nvSpPr>
        <p:spPr>
          <a:xfrm>
            <a:off x="1735455" y="2804160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73" name="Text 58"/>
          <p:cNvSpPr/>
          <p:nvPr/>
        </p:nvSpPr>
        <p:spPr>
          <a:xfrm>
            <a:off x="1830705" y="2767013"/>
            <a:ext cx="86046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model</a:t>
            </a:r>
            <a:endParaRPr lang="en-US" sz="825" dirty="0"/>
          </a:p>
        </p:txBody>
      </p:sp>
      <p:sp>
        <p:nvSpPr>
          <p:cNvPr id="74" name="Shape 59"/>
          <p:cNvSpPr/>
          <p:nvPr/>
        </p:nvSpPr>
        <p:spPr>
          <a:xfrm>
            <a:off x="1127761" y="2970848"/>
            <a:ext cx="6122670" cy="825818"/>
          </a:xfrm>
          <a:prstGeom prst="roundRect">
            <a:avLst>
              <a:gd name="adj" fmla="val 6920"/>
            </a:avLst>
          </a:prstGeom>
          <a:solidFill>
            <a:srgbClr val="0F172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5" name="Text 60"/>
          <p:cNvSpPr/>
          <p:nvPr/>
        </p:nvSpPr>
        <p:spPr>
          <a:xfrm>
            <a:off x="1249681" y="3073718"/>
            <a:ext cx="6062510" cy="658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mfa.events(user="carlos.t", t=last_1h)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pushes (11 denied, 1 approved) · z-score 6.2</a:t>
            </a:r>
            <a:endParaRPr lang="en-US" sz="788" dirty="0"/>
          </a:p>
        </p:txBody>
      </p:sp>
      <p:sp>
        <p:nvSpPr>
          <p:cNvPr id="76" name="Shape 61"/>
          <p:cNvSpPr/>
          <p:nvPr/>
        </p:nvSpPr>
        <p:spPr>
          <a:xfrm>
            <a:off x="941070" y="3930015"/>
            <a:ext cx="15240" cy="142589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7" name="Shape 62"/>
          <p:cNvSpPr/>
          <p:nvPr/>
        </p:nvSpPr>
        <p:spPr>
          <a:xfrm>
            <a:off x="822961" y="3930015"/>
            <a:ext cx="278130" cy="27813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78" name="Text 63"/>
          <p:cNvSpPr/>
          <p:nvPr/>
        </p:nvSpPr>
        <p:spPr>
          <a:xfrm>
            <a:off x="838201" y="3945255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79" name="Text 64"/>
          <p:cNvSpPr/>
          <p:nvPr/>
        </p:nvSpPr>
        <p:spPr>
          <a:xfrm>
            <a:off x="1127761" y="3936683"/>
            <a:ext cx="289625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the approved sign-in come from?</a:t>
            </a:r>
            <a:endParaRPr lang="en-US" sz="1050" dirty="0"/>
          </a:p>
        </p:txBody>
      </p:sp>
      <p:sp>
        <p:nvSpPr>
          <p:cNvPr id="80" name="Shape 65"/>
          <p:cNvSpPr/>
          <p:nvPr/>
        </p:nvSpPr>
        <p:spPr>
          <a:xfrm>
            <a:off x="6555939" y="3930015"/>
            <a:ext cx="69449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81" name="Shape 66"/>
          <p:cNvSpPr/>
          <p:nvPr/>
        </p:nvSpPr>
        <p:spPr>
          <a:xfrm>
            <a:off x="6630235" y="400145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82" name="Text 67"/>
          <p:cNvSpPr/>
          <p:nvPr/>
        </p:nvSpPr>
        <p:spPr>
          <a:xfrm>
            <a:off x="6725485" y="3956685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83" name="Text 68"/>
          <p:cNvSpPr/>
          <p:nvPr/>
        </p:nvSpPr>
        <p:spPr>
          <a:xfrm>
            <a:off x="7049095" y="3964305"/>
            <a:ext cx="20324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825" dirty="0"/>
          </a:p>
        </p:txBody>
      </p:sp>
      <p:sp>
        <p:nvSpPr>
          <p:cNvPr id="84" name="Shape 69"/>
          <p:cNvSpPr/>
          <p:nvPr/>
        </p:nvSpPr>
        <p:spPr>
          <a:xfrm>
            <a:off x="1127761" y="4158615"/>
            <a:ext cx="49530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85" name="Shape 70"/>
          <p:cNvSpPr/>
          <p:nvPr/>
        </p:nvSpPr>
        <p:spPr>
          <a:xfrm>
            <a:off x="1202055" y="423005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86" name="Text 71"/>
          <p:cNvSpPr/>
          <p:nvPr/>
        </p:nvSpPr>
        <p:spPr>
          <a:xfrm>
            <a:off x="1297305" y="4192905"/>
            <a:ext cx="32766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825" dirty="0"/>
          </a:p>
        </p:txBody>
      </p:sp>
      <p:sp>
        <p:nvSpPr>
          <p:cNvPr id="87" name="Shape 72"/>
          <p:cNvSpPr/>
          <p:nvPr/>
        </p:nvSpPr>
        <p:spPr>
          <a:xfrm>
            <a:off x="1661161" y="4158615"/>
            <a:ext cx="55757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88" name="Shape 73"/>
          <p:cNvSpPr/>
          <p:nvPr/>
        </p:nvSpPr>
        <p:spPr>
          <a:xfrm>
            <a:off x="1735455" y="423005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89" name="Text 74"/>
          <p:cNvSpPr/>
          <p:nvPr/>
        </p:nvSpPr>
        <p:spPr>
          <a:xfrm>
            <a:off x="1830705" y="4192905"/>
            <a:ext cx="38993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GeoIP</a:t>
            </a:r>
            <a:endParaRPr lang="en-US" sz="825" dirty="0"/>
          </a:p>
        </p:txBody>
      </p:sp>
      <p:sp>
        <p:nvSpPr>
          <p:cNvPr id="90" name="Shape 75"/>
          <p:cNvSpPr/>
          <p:nvPr/>
        </p:nvSpPr>
        <p:spPr>
          <a:xfrm>
            <a:off x="1127761" y="4396740"/>
            <a:ext cx="6122670" cy="825818"/>
          </a:xfrm>
          <a:prstGeom prst="roundRect">
            <a:avLst>
              <a:gd name="adj" fmla="val 6920"/>
            </a:avLst>
          </a:prstGeom>
          <a:solidFill>
            <a:srgbClr val="0F172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1" name="Text 76"/>
          <p:cNvSpPr/>
          <p:nvPr/>
        </p:nvSpPr>
        <p:spPr>
          <a:xfrm>
            <a:off x="1249681" y="4499610"/>
            <a:ext cx="6062510" cy="658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auth.successful → ip → asn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MOW · ASN AS200000 · prior known infra C2</a:t>
            </a:r>
            <a:endParaRPr lang="en-US" sz="788" dirty="0"/>
          </a:p>
        </p:txBody>
      </p:sp>
      <p:sp>
        <p:nvSpPr>
          <p:cNvPr id="92" name="Shape 77"/>
          <p:cNvSpPr/>
          <p:nvPr/>
        </p:nvSpPr>
        <p:spPr>
          <a:xfrm>
            <a:off x="941070" y="5355908"/>
            <a:ext cx="15240" cy="142589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3" name="Shape 78"/>
          <p:cNvSpPr/>
          <p:nvPr/>
        </p:nvSpPr>
        <p:spPr>
          <a:xfrm>
            <a:off x="822961" y="5355908"/>
            <a:ext cx="278130" cy="27813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94" name="Text 79"/>
          <p:cNvSpPr/>
          <p:nvPr/>
        </p:nvSpPr>
        <p:spPr>
          <a:xfrm>
            <a:off x="838201" y="5371148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95" name="Text 80"/>
          <p:cNvSpPr/>
          <p:nvPr/>
        </p:nvSpPr>
        <p:spPr>
          <a:xfrm>
            <a:off x="1127761" y="5362575"/>
            <a:ext cx="2400538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anything pivot from this session?</a:t>
            </a:r>
            <a:endParaRPr lang="en-US" sz="1050" dirty="0"/>
          </a:p>
        </p:txBody>
      </p:sp>
      <p:sp>
        <p:nvSpPr>
          <p:cNvPr id="96" name="Shape 81"/>
          <p:cNvSpPr/>
          <p:nvPr/>
        </p:nvSpPr>
        <p:spPr>
          <a:xfrm>
            <a:off x="6559511" y="5355908"/>
            <a:ext cx="690920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97" name="Shape 82"/>
          <p:cNvSpPr/>
          <p:nvPr/>
        </p:nvSpPr>
        <p:spPr>
          <a:xfrm>
            <a:off x="6633807" y="542734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98" name="Text 83"/>
          <p:cNvSpPr/>
          <p:nvPr/>
        </p:nvSpPr>
        <p:spPr>
          <a:xfrm>
            <a:off x="6729057" y="5382578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99" name="Text 84"/>
          <p:cNvSpPr/>
          <p:nvPr/>
        </p:nvSpPr>
        <p:spPr>
          <a:xfrm>
            <a:off x="7052667" y="5390198"/>
            <a:ext cx="19966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825" dirty="0"/>
          </a:p>
        </p:txBody>
      </p:sp>
      <p:sp>
        <p:nvSpPr>
          <p:cNvPr id="100" name="Shape 85"/>
          <p:cNvSpPr/>
          <p:nvPr/>
        </p:nvSpPr>
        <p:spPr>
          <a:xfrm>
            <a:off x="1127761" y="5584508"/>
            <a:ext cx="744736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01" name="Shape 86"/>
          <p:cNvSpPr/>
          <p:nvPr/>
        </p:nvSpPr>
        <p:spPr>
          <a:xfrm>
            <a:off x="1202055" y="5655945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2" name="Text 87"/>
          <p:cNvSpPr/>
          <p:nvPr/>
        </p:nvSpPr>
        <p:spPr>
          <a:xfrm>
            <a:off x="1297305" y="5618798"/>
            <a:ext cx="57709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</a:t>
            </a:r>
            <a:endParaRPr lang="en-US" sz="825" dirty="0"/>
          </a:p>
        </p:txBody>
      </p:sp>
      <p:sp>
        <p:nvSpPr>
          <p:cNvPr id="103" name="Shape 88"/>
          <p:cNvSpPr/>
          <p:nvPr/>
        </p:nvSpPr>
        <p:spPr>
          <a:xfrm>
            <a:off x="1910597" y="5584508"/>
            <a:ext cx="65663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04" name="Shape 89"/>
          <p:cNvSpPr/>
          <p:nvPr/>
        </p:nvSpPr>
        <p:spPr>
          <a:xfrm>
            <a:off x="1984890" y="5655945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5" name="Text 90"/>
          <p:cNvSpPr/>
          <p:nvPr/>
        </p:nvSpPr>
        <p:spPr>
          <a:xfrm>
            <a:off x="2080140" y="5618798"/>
            <a:ext cx="48899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825" dirty="0"/>
          </a:p>
        </p:txBody>
      </p:sp>
      <p:sp>
        <p:nvSpPr>
          <p:cNvPr id="106" name="Shape 91"/>
          <p:cNvSpPr/>
          <p:nvPr/>
        </p:nvSpPr>
        <p:spPr>
          <a:xfrm>
            <a:off x="1127761" y="5822633"/>
            <a:ext cx="6122670" cy="825818"/>
          </a:xfrm>
          <a:prstGeom prst="roundRect">
            <a:avLst>
              <a:gd name="adj" fmla="val 6920"/>
            </a:avLst>
          </a:prstGeom>
          <a:solidFill>
            <a:srgbClr val="0F172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7" name="Text 92"/>
          <p:cNvSpPr/>
          <p:nvPr/>
        </p:nvSpPr>
        <p:spPr>
          <a:xfrm>
            <a:off x="1249681" y="5925503"/>
            <a:ext cx="6062510" cy="658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actions.by_session(sid="xZ91…") within 5m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s3.GetObject ×1,402 on acme-finance-bkt</a:t>
            </a:r>
            <a:endParaRPr lang="en-US" sz="788" dirty="0"/>
          </a:p>
        </p:txBody>
      </p:sp>
      <p:sp>
        <p:nvSpPr>
          <p:cNvPr id="108" name="Shape 93"/>
          <p:cNvSpPr/>
          <p:nvPr/>
        </p:nvSpPr>
        <p:spPr>
          <a:xfrm>
            <a:off x="941070" y="6781800"/>
            <a:ext cx="15240" cy="142589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9" name="Shape 94"/>
          <p:cNvSpPr/>
          <p:nvPr/>
        </p:nvSpPr>
        <p:spPr>
          <a:xfrm>
            <a:off x="822961" y="6781800"/>
            <a:ext cx="278130" cy="27813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10" name="Text 95"/>
          <p:cNvSpPr/>
          <p:nvPr/>
        </p:nvSpPr>
        <p:spPr>
          <a:xfrm>
            <a:off x="838201" y="679704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75" dirty="0"/>
          </a:p>
        </p:txBody>
      </p:sp>
      <p:sp>
        <p:nvSpPr>
          <p:cNvPr id="111" name="Text 96"/>
          <p:cNvSpPr/>
          <p:nvPr/>
        </p:nvSpPr>
        <p:spPr>
          <a:xfrm>
            <a:off x="1127761" y="6788468"/>
            <a:ext cx="242697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bucket on a crown-jewel path?</a:t>
            </a:r>
            <a:endParaRPr lang="en-US" sz="1050" dirty="0"/>
          </a:p>
        </p:txBody>
      </p:sp>
      <p:sp>
        <p:nvSpPr>
          <p:cNvPr id="112" name="Shape 97"/>
          <p:cNvSpPr/>
          <p:nvPr/>
        </p:nvSpPr>
        <p:spPr>
          <a:xfrm>
            <a:off x="6557367" y="6781800"/>
            <a:ext cx="69306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13" name="Shape 98"/>
          <p:cNvSpPr/>
          <p:nvPr/>
        </p:nvSpPr>
        <p:spPr>
          <a:xfrm>
            <a:off x="6631663" y="685323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14" name="Text 99"/>
          <p:cNvSpPr/>
          <p:nvPr/>
        </p:nvSpPr>
        <p:spPr>
          <a:xfrm>
            <a:off x="6726913" y="6808470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115" name="Text 100"/>
          <p:cNvSpPr/>
          <p:nvPr/>
        </p:nvSpPr>
        <p:spPr>
          <a:xfrm>
            <a:off x="7050525" y="6816090"/>
            <a:ext cx="20181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825" dirty="0"/>
          </a:p>
        </p:txBody>
      </p:sp>
      <p:sp>
        <p:nvSpPr>
          <p:cNvPr id="116" name="Shape 101"/>
          <p:cNvSpPr/>
          <p:nvPr/>
        </p:nvSpPr>
        <p:spPr>
          <a:xfrm>
            <a:off x="1127761" y="7010400"/>
            <a:ext cx="92333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17" name="Shape 102"/>
          <p:cNvSpPr/>
          <p:nvPr/>
        </p:nvSpPr>
        <p:spPr>
          <a:xfrm>
            <a:off x="1202055" y="708183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18" name="Text 103"/>
          <p:cNvSpPr/>
          <p:nvPr/>
        </p:nvSpPr>
        <p:spPr>
          <a:xfrm>
            <a:off x="1297305" y="7044690"/>
            <a:ext cx="75569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CNAPP graph</a:t>
            </a:r>
            <a:endParaRPr lang="en-US" sz="825" dirty="0"/>
          </a:p>
        </p:txBody>
      </p:sp>
      <p:sp>
        <p:nvSpPr>
          <p:cNvPr id="119" name="Shape 104"/>
          <p:cNvSpPr/>
          <p:nvPr/>
        </p:nvSpPr>
        <p:spPr>
          <a:xfrm>
            <a:off x="1127761" y="7248525"/>
            <a:ext cx="6122670" cy="825818"/>
          </a:xfrm>
          <a:prstGeom prst="roundRect">
            <a:avLst>
              <a:gd name="adj" fmla="val 6920"/>
            </a:avLst>
          </a:prstGeom>
          <a:solidFill>
            <a:srgbClr val="0F172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0" name="Text 105"/>
          <p:cNvSpPr/>
          <p:nvPr/>
        </p:nvSpPr>
        <p:spPr>
          <a:xfrm>
            <a:off x="1249681" y="7351395"/>
            <a:ext cx="6062510" cy="658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graph.path(bucket → crown_jewel)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 · tagged tax-id + PCI · severity ×1.6</a:t>
            </a:r>
            <a:endParaRPr lang="en-US" sz="788" dirty="0"/>
          </a:p>
        </p:txBody>
      </p:sp>
      <p:sp>
        <p:nvSpPr>
          <p:cNvPr id="121" name="Shape 106"/>
          <p:cNvSpPr/>
          <p:nvPr/>
        </p:nvSpPr>
        <p:spPr>
          <a:xfrm>
            <a:off x="807720" y="8207693"/>
            <a:ext cx="278130" cy="27813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22" name="Text 107"/>
          <p:cNvSpPr/>
          <p:nvPr/>
        </p:nvSpPr>
        <p:spPr>
          <a:xfrm>
            <a:off x="822960" y="8222933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75" dirty="0"/>
          </a:p>
        </p:txBody>
      </p:sp>
      <p:sp>
        <p:nvSpPr>
          <p:cNvPr id="123" name="Text 108"/>
          <p:cNvSpPr/>
          <p:nvPr/>
        </p:nvSpPr>
        <p:spPr>
          <a:xfrm>
            <a:off x="1112520" y="8214360"/>
            <a:ext cx="252603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KubeArmor enforce egress block?</a:t>
            </a:r>
            <a:endParaRPr lang="en-US" sz="1050" dirty="0"/>
          </a:p>
        </p:txBody>
      </p:sp>
      <p:sp>
        <p:nvSpPr>
          <p:cNvPr id="124" name="Shape 109"/>
          <p:cNvSpPr/>
          <p:nvPr/>
        </p:nvSpPr>
        <p:spPr>
          <a:xfrm>
            <a:off x="6557367" y="8207693"/>
            <a:ext cx="69306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25" name="Shape 110"/>
          <p:cNvSpPr/>
          <p:nvPr/>
        </p:nvSpPr>
        <p:spPr>
          <a:xfrm>
            <a:off x="6631663" y="8279130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6" name="Text 111"/>
          <p:cNvSpPr/>
          <p:nvPr/>
        </p:nvSpPr>
        <p:spPr>
          <a:xfrm>
            <a:off x="6726913" y="8234363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127" name="Text 112"/>
          <p:cNvSpPr/>
          <p:nvPr/>
        </p:nvSpPr>
        <p:spPr>
          <a:xfrm>
            <a:off x="7050525" y="8241983"/>
            <a:ext cx="20181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825" dirty="0"/>
          </a:p>
        </p:txBody>
      </p:sp>
      <p:sp>
        <p:nvSpPr>
          <p:cNvPr id="128" name="Shape 113"/>
          <p:cNvSpPr/>
          <p:nvPr/>
        </p:nvSpPr>
        <p:spPr>
          <a:xfrm>
            <a:off x="1112520" y="8436293"/>
            <a:ext cx="816412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29" name="Shape 114"/>
          <p:cNvSpPr/>
          <p:nvPr/>
        </p:nvSpPr>
        <p:spPr>
          <a:xfrm>
            <a:off x="1186816" y="8507730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30" name="Text 115"/>
          <p:cNvSpPr/>
          <p:nvPr/>
        </p:nvSpPr>
        <p:spPr>
          <a:xfrm>
            <a:off x="1282066" y="8470583"/>
            <a:ext cx="6487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KubeArmor</a:t>
            </a:r>
            <a:endParaRPr lang="en-US" sz="825" dirty="0"/>
          </a:p>
        </p:txBody>
      </p:sp>
      <p:sp>
        <p:nvSpPr>
          <p:cNvPr id="131" name="Shape 116"/>
          <p:cNvSpPr/>
          <p:nvPr/>
        </p:nvSpPr>
        <p:spPr>
          <a:xfrm>
            <a:off x="1112520" y="8674418"/>
            <a:ext cx="6137910" cy="825818"/>
          </a:xfrm>
          <a:prstGeom prst="roundRect">
            <a:avLst>
              <a:gd name="adj" fmla="val 6920"/>
            </a:avLst>
          </a:prstGeom>
          <a:solidFill>
            <a:srgbClr val="0F172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2" name="Text 117"/>
          <p:cNvSpPr/>
          <p:nvPr/>
        </p:nvSpPr>
        <p:spPr>
          <a:xfrm>
            <a:off x="1234440" y="8777288"/>
            <a:ext cx="6078208" cy="658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workload.protected(pod=analytics-3) ∧ policy.draft(egress→198.51.x)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 · draft policy ready · dry-run clean</a:t>
            </a:r>
            <a:endParaRPr lang="en-US" sz="788" dirty="0"/>
          </a:p>
        </p:txBody>
      </p:sp>
      <p:sp>
        <p:nvSpPr>
          <p:cNvPr id="133" name="Shape 118"/>
          <p:cNvSpPr/>
          <p:nvPr/>
        </p:nvSpPr>
        <p:spPr>
          <a:xfrm>
            <a:off x="7486650" y="937260"/>
            <a:ext cx="2667000" cy="866584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1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8570" y="1058228"/>
            <a:ext cx="123825" cy="123825"/>
          </a:xfrm>
          <a:prstGeom prst="rect">
            <a:avLst/>
          </a:prstGeom>
        </p:spPr>
      </p:pic>
      <p:sp>
        <p:nvSpPr>
          <p:cNvPr id="135" name="Text 119"/>
          <p:cNvSpPr/>
          <p:nvPr/>
        </p:nvSpPr>
        <p:spPr>
          <a:xfrm>
            <a:off x="7780020" y="1047750"/>
            <a:ext cx="744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signals</a:t>
            </a:r>
            <a:endParaRPr lang="en-US" sz="900" dirty="0"/>
          </a:p>
        </p:txBody>
      </p:sp>
      <p:sp>
        <p:nvSpPr>
          <p:cNvPr id="136" name="Text 120"/>
          <p:cNvSpPr/>
          <p:nvPr/>
        </p:nvSpPr>
        <p:spPr>
          <a:xfrm>
            <a:off x="7608570" y="1276350"/>
            <a:ext cx="24993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DENSITY</a:t>
            </a:r>
            <a:endParaRPr lang="en-US" sz="750" dirty="0"/>
          </a:p>
        </p:txBody>
      </p:sp>
      <p:sp>
        <p:nvSpPr>
          <p:cNvPr id="137" name="Text 121"/>
          <p:cNvSpPr/>
          <p:nvPr/>
        </p:nvSpPr>
        <p:spPr>
          <a:xfrm>
            <a:off x="7646670" y="1409700"/>
            <a:ext cx="1927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825" dirty="0"/>
          </a:p>
        </p:txBody>
      </p:sp>
      <p:sp>
        <p:nvSpPr>
          <p:cNvPr id="138" name="Text 122"/>
          <p:cNvSpPr/>
          <p:nvPr/>
        </p:nvSpPr>
        <p:spPr>
          <a:xfrm>
            <a:off x="7608570" y="1556385"/>
            <a:ext cx="249936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events, 6 sources cited · 0 unsupported claims</a:t>
            </a:r>
            <a:endParaRPr lang="en-US" sz="825" dirty="0"/>
          </a:p>
        </p:txBody>
      </p:sp>
      <p:sp>
        <p:nvSpPr>
          <p:cNvPr id="139" name="Text 123"/>
          <p:cNvSpPr/>
          <p:nvPr/>
        </p:nvSpPr>
        <p:spPr>
          <a:xfrm>
            <a:off x="7608570" y="1760220"/>
            <a:ext cx="24993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</a:t>
            </a:r>
            <a:endParaRPr lang="en-US" sz="750" dirty="0"/>
          </a:p>
        </p:txBody>
      </p:sp>
      <p:sp>
        <p:nvSpPr>
          <p:cNvPr id="140" name="Shape 124"/>
          <p:cNvSpPr/>
          <p:nvPr/>
        </p:nvSpPr>
        <p:spPr>
          <a:xfrm>
            <a:off x="7608570" y="1894523"/>
            <a:ext cx="141374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41" name="Shape 125"/>
          <p:cNvSpPr/>
          <p:nvPr/>
        </p:nvSpPr>
        <p:spPr>
          <a:xfrm>
            <a:off x="7682866" y="1965960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42" name="Text 126"/>
          <p:cNvSpPr/>
          <p:nvPr/>
        </p:nvSpPr>
        <p:spPr>
          <a:xfrm>
            <a:off x="7778116" y="1921193"/>
            <a:ext cx="124610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on scores</a:t>
            </a:r>
            <a:endParaRPr lang="en-US" sz="825" dirty="0"/>
          </a:p>
        </p:txBody>
      </p:sp>
      <p:sp>
        <p:nvSpPr>
          <p:cNvPr id="143" name="Text 127"/>
          <p:cNvSpPr/>
          <p:nvPr/>
        </p:nvSpPr>
        <p:spPr>
          <a:xfrm>
            <a:off x="7608570" y="2151698"/>
            <a:ext cx="24993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UNKNOWNS</a:t>
            </a:r>
            <a:endParaRPr lang="en-US" sz="750" dirty="0"/>
          </a:p>
        </p:txBody>
      </p:sp>
      <p:sp>
        <p:nvSpPr>
          <p:cNvPr id="144" name="Text 128"/>
          <p:cNvSpPr/>
          <p:nvPr/>
        </p:nvSpPr>
        <p:spPr>
          <a:xfrm>
            <a:off x="7608570" y="2285048"/>
            <a:ext cx="24993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attacker tooling family</a:t>
            </a:r>
            <a:pPr algn="l" indent="0" marL="0">
              <a:lnSpc>
                <a:spcPct val="140000"/>
              </a:lnSpc>
              <a:buNone/>
            </a:pPr>
            <a:r>
              <a:rPr lang="en-US" sz="825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(missing IOC match) 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persistence mechanism</a:t>
            </a:r>
            <a:pPr algn="l" indent="0" marL="0">
              <a:lnSpc>
                <a:spcPct val="140000"/>
              </a:lnSpc>
              <a:buNone/>
            </a:pPr>
            <a:r>
              <a:rPr lang="en-US" sz="825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 yet observed)</a:t>
            </a:r>
            <a:endParaRPr lang="en-US" sz="825" dirty="0"/>
          </a:p>
        </p:txBody>
      </p:sp>
      <p:sp>
        <p:nvSpPr>
          <p:cNvPr id="145" name="Text 129"/>
          <p:cNvSpPr/>
          <p:nvPr/>
        </p:nvSpPr>
        <p:spPr>
          <a:xfrm>
            <a:off x="7608570" y="2635568"/>
            <a:ext cx="24993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MEMORY</a:t>
            </a:r>
            <a:endParaRPr lang="en-US" sz="750" dirty="0"/>
          </a:p>
        </p:txBody>
      </p:sp>
      <p:sp>
        <p:nvSpPr>
          <p:cNvPr id="146" name="Shape 130"/>
          <p:cNvSpPr/>
          <p:nvPr/>
        </p:nvSpPr>
        <p:spPr>
          <a:xfrm>
            <a:off x="7608570" y="2768918"/>
            <a:ext cx="2423160" cy="589598"/>
          </a:xfrm>
          <a:prstGeom prst="roundRect">
            <a:avLst>
              <a:gd name="adj" fmla="val 12924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7" name="Text 131"/>
          <p:cNvSpPr/>
          <p:nvPr/>
        </p:nvSpPr>
        <p:spPr>
          <a:xfrm>
            <a:off x="7673340" y="2833688"/>
            <a:ext cx="2369820" cy="49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quarter you overrode 2 similar MFA-spam cases as TP. weight applied to step 2.</a:t>
            </a:r>
            <a:endParaRPr lang="en-US" sz="863" dirty="0"/>
          </a:p>
        </p:txBody>
      </p:sp>
      <p:sp>
        <p:nvSpPr>
          <p:cNvPr id="148" name="Shape 132"/>
          <p:cNvSpPr/>
          <p:nvPr/>
        </p:nvSpPr>
        <p:spPr>
          <a:xfrm>
            <a:off x="76200" y="6189345"/>
            <a:ext cx="2072640" cy="401955"/>
          </a:xfrm>
          <a:prstGeom prst="roundRect">
            <a:avLst>
              <a:gd name="adj" fmla="val 9479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149" name="Text 133"/>
          <p:cNvSpPr/>
          <p:nvPr/>
        </p:nvSpPr>
        <p:spPr>
          <a:xfrm>
            <a:off x="160020" y="6254115"/>
            <a:ext cx="1981200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"glass box" — the screen that makes autonomy survivable in enterprise.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1" y="12382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796891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#4129 · Evidence tab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482693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590681" y="144780"/>
            <a:ext cx="159460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artifact, linked to source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4261486" y="74295"/>
            <a:ext cx="3229451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64355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535805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59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5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849511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574877" y="590550"/>
            <a:ext cx="929640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Text 24"/>
          <p:cNvSpPr/>
          <p:nvPr/>
        </p:nvSpPr>
        <p:spPr>
          <a:xfrm>
            <a:off x="7677745" y="636270"/>
            <a:ext cx="8001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as IOCs</a:t>
            </a:r>
            <a:endParaRPr lang="en-US" sz="900" dirty="0"/>
          </a:p>
        </p:txBody>
      </p:sp>
      <p:sp>
        <p:nvSpPr>
          <p:cNvPr id="40" name="Shape 25"/>
          <p:cNvSpPr/>
          <p:nvPr/>
        </p:nvSpPr>
        <p:spPr>
          <a:xfrm>
            <a:off x="8561668" y="590550"/>
            <a:ext cx="824389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1" name="Text 26"/>
          <p:cNvSpPr/>
          <p:nvPr/>
        </p:nvSpPr>
        <p:spPr>
          <a:xfrm>
            <a:off x="8664536" y="636270"/>
            <a:ext cx="69484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STIX</a:t>
            </a:r>
            <a:endParaRPr lang="en-US" sz="900" dirty="0"/>
          </a:p>
        </p:txBody>
      </p:sp>
      <p:sp>
        <p:nvSpPr>
          <p:cNvPr id="42" name="Shape 27"/>
          <p:cNvSpPr/>
          <p:nvPr/>
        </p:nvSpPr>
        <p:spPr>
          <a:xfrm>
            <a:off x="9443205" y="590550"/>
            <a:ext cx="710446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3" name="Text 28"/>
          <p:cNvSpPr/>
          <p:nvPr/>
        </p:nvSpPr>
        <p:spPr>
          <a:xfrm>
            <a:off x="9546073" y="636270"/>
            <a:ext cx="58090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link</a:t>
            </a:r>
            <a:endParaRPr lang="en-US" sz="900" dirty="0"/>
          </a:p>
        </p:txBody>
      </p:sp>
      <p:sp>
        <p:nvSpPr>
          <p:cNvPr id="44" name="Shape 29"/>
          <p:cNvSpPr/>
          <p:nvPr/>
        </p:nvSpPr>
        <p:spPr>
          <a:xfrm>
            <a:off x="666750" y="937260"/>
            <a:ext cx="553045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741045" y="1008698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31"/>
          <p:cNvSpPr/>
          <p:nvPr/>
        </p:nvSpPr>
        <p:spPr>
          <a:xfrm>
            <a:off x="836295" y="963930"/>
            <a:ext cx="38540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· 38</a:t>
            </a:r>
            <a:endParaRPr lang="en-US" sz="825" dirty="0"/>
          </a:p>
        </p:txBody>
      </p:sp>
      <p:sp>
        <p:nvSpPr>
          <p:cNvPr id="47" name="Shape 32"/>
          <p:cNvSpPr/>
          <p:nvPr/>
        </p:nvSpPr>
        <p:spPr>
          <a:xfrm>
            <a:off x="1276945" y="937260"/>
            <a:ext cx="59936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8" name="Shape 33"/>
          <p:cNvSpPr/>
          <p:nvPr/>
        </p:nvSpPr>
        <p:spPr>
          <a:xfrm>
            <a:off x="1351241" y="10086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9" name="Text 34"/>
          <p:cNvSpPr/>
          <p:nvPr/>
        </p:nvSpPr>
        <p:spPr>
          <a:xfrm>
            <a:off x="1446491" y="963930"/>
            <a:ext cx="43172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· 9</a:t>
            </a:r>
            <a:endParaRPr lang="en-US" sz="825" dirty="0"/>
          </a:p>
        </p:txBody>
      </p:sp>
      <p:sp>
        <p:nvSpPr>
          <p:cNvPr id="50" name="Shape 35"/>
          <p:cNvSpPr/>
          <p:nvPr/>
        </p:nvSpPr>
        <p:spPr>
          <a:xfrm>
            <a:off x="1933456" y="937260"/>
            <a:ext cx="65817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1" name="Shape 36"/>
          <p:cNvSpPr/>
          <p:nvPr/>
        </p:nvSpPr>
        <p:spPr>
          <a:xfrm>
            <a:off x="2007752" y="10086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2" name="Text 37"/>
          <p:cNvSpPr/>
          <p:nvPr/>
        </p:nvSpPr>
        <p:spPr>
          <a:xfrm>
            <a:off x="2103002" y="963930"/>
            <a:ext cx="4905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· 7</a:t>
            </a:r>
            <a:endParaRPr lang="en-US" sz="825" dirty="0"/>
          </a:p>
        </p:txBody>
      </p:sp>
      <p:sp>
        <p:nvSpPr>
          <p:cNvPr id="53" name="Shape 38"/>
          <p:cNvSpPr/>
          <p:nvPr/>
        </p:nvSpPr>
        <p:spPr>
          <a:xfrm>
            <a:off x="2648785" y="937260"/>
            <a:ext cx="76069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4" name="Shape 39"/>
          <p:cNvSpPr/>
          <p:nvPr/>
        </p:nvSpPr>
        <p:spPr>
          <a:xfrm>
            <a:off x="2723078" y="10086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5" name="Text 40"/>
          <p:cNvSpPr/>
          <p:nvPr/>
        </p:nvSpPr>
        <p:spPr>
          <a:xfrm>
            <a:off x="2818328" y="963930"/>
            <a:ext cx="5930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· 6</a:t>
            </a:r>
            <a:endParaRPr lang="en-US" sz="825" dirty="0"/>
          </a:p>
        </p:txBody>
      </p:sp>
      <p:sp>
        <p:nvSpPr>
          <p:cNvPr id="56" name="Shape 41"/>
          <p:cNvSpPr/>
          <p:nvPr/>
        </p:nvSpPr>
        <p:spPr>
          <a:xfrm>
            <a:off x="3466623" y="937260"/>
            <a:ext cx="79498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3540919" y="10086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8" name="Text 43"/>
          <p:cNvSpPr/>
          <p:nvPr/>
        </p:nvSpPr>
        <p:spPr>
          <a:xfrm>
            <a:off x="3636169" y="963930"/>
            <a:ext cx="62734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· 8</a:t>
            </a:r>
            <a:endParaRPr lang="en-US" sz="825" dirty="0"/>
          </a:p>
        </p:txBody>
      </p:sp>
      <p:sp>
        <p:nvSpPr>
          <p:cNvPr id="59" name="Shape 44"/>
          <p:cNvSpPr/>
          <p:nvPr/>
        </p:nvSpPr>
        <p:spPr>
          <a:xfrm>
            <a:off x="4318755" y="937260"/>
            <a:ext cx="52947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0" name="Shape 45"/>
          <p:cNvSpPr/>
          <p:nvPr/>
        </p:nvSpPr>
        <p:spPr>
          <a:xfrm>
            <a:off x="4393050" y="10086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1" name="Text 46"/>
          <p:cNvSpPr/>
          <p:nvPr/>
        </p:nvSpPr>
        <p:spPr>
          <a:xfrm>
            <a:off x="4488300" y="963930"/>
            <a:ext cx="36183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· 5</a:t>
            </a:r>
            <a:endParaRPr lang="en-US" sz="825" dirty="0"/>
          </a:p>
        </p:txBody>
      </p:sp>
      <p:sp>
        <p:nvSpPr>
          <p:cNvPr id="62" name="Shape 47"/>
          <p:cNvSpPr/>
          <p:nvPr/>
        </p:nvSpPr>
        <p:spPr>
          <a:xfrm>
            <a:off x="4905375" y="937260"/>
            <a:ext cx="58281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3" name="Shape 48"/>
          <p:cNvSpPr/>
          <p:nvPr/>
        </p:nvSpPr>
        <p:spPr>
          <a:xfrm>
            <a:off x="4979670" y="10086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4" name="Text 49"/>
          <p:cNvSpPr/>
          <p:nvPr/>
        </p:nvSpPr>
        <p:spPr>
          <a:xfrm>
            <a:off x="5074920" y="963930"/>
            <a:ext cx="41517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 · 3</a:t>
            </a:r>
            <a:endParaRPr lang="en-US" sz="825" dirty="0"/>
          </a:p>
        </p:txBody>
      </p:sp>
      <p:sp>
        <p:nvSpPr>
          <p:cNvPr id="65" name="Shape 50"/>
          <p:cNvSpPr/>
          <p:nvPr/>
        </p:nvSpPr>
        <p:spPr>
          <a:xfrm>
            <a:off x="666750" y="1232535"/>
            <a:ext cx="9486900" cy="4668203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6" name="Shape 51"/>
          <p:cNvSpPr/>
          <p:nvPr/>
        </p:nvSpPr>
        <p:spPr>
          <a:xfrm>
            <a:off x="712470" y="1278255"/>
            <a:ext cx="313015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7" name="Shape 52"/>
          <p:cNvSpPr/>
          <p:nvPr/>
        </p:nvSpPr>
        <p:spPr>
          <a:xfrm>
            <a:off x="712470" y="1516380"/>
            <a:ext cx="31301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Shape 53"/>
          <p:cNvSpPr/>
          <p:nvPr/>
        </p:nvSpPr>
        <p:spPr>
          <a:xfrm>
            <a:off x="1025486" y="1278255"/>
            <a:ext cx="1041678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9" name="Shape 54"/>
          <p:cNvSpPr/>
          <p:nvPr/>
        </p:nvSpPr>
        <p:spPr>
          <a:xfrm>
            <a:off x="1025486" y="1516380"/>
            <a:ext cx="1041678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55"/>
          <p:cNvSpPr/>
          <p:nvPr/>
        </p:nvSpPr>
        <p:spPr>
          <a:xfrm>
            <a:off x="1101686" y="1325880"/>
            <a:ext cx="96547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</a:t>
            </a:r>
            <a:endParaRPr lang="en-US" sz="825" dirty="0"/>
          </a:p>
        </p:txBody>
      </p:sp>
      <p:sp>
        <p:nvSpPr>
          <p:cNvPr id="71" name="Shape 56"/>
          <p:cNvSpPr/>
          <p:nvPr/>
        </p:nvSpPr>
        <p:spPr>
          <a:xfrm>
            <a:off x="2067165" y="1278255"/>
            <a:ext cx="1210032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2" name="Shape 57"/>
          <p:cNvSpPr/>
          <p:nvPr/>
        </p:nvSpPr>
        <p:spPr>
          <a:xfrm>
            <a:off x="2067165" y="1516380"/>
            <a:ext cx="1210032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3" name="Text 58"/>
          <p:cNvSpPr/>
          <p:nvPr/>
        </p:nvSpPr>
        <p:spPr>
          <a:xfrm>
            <a:off x="2143365" y="1325880"/>
            <a:ext cx="11338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825" dirty="0"/>
          </a:p>
        </p:txBody>
      </p:sp>
      <p:sp>
        <p:nvSpPr>
          <p:cNvPr id="74" name="Shape 59"/>
          <p:cNvSpPr/>
          <p:nvPr/>
        </p:nvSpPr>
        <p:spPr>
          <a:xfrm>
            <a:off x="3277195" y="1278255"/>
            <a:ext cx="874395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5" name="Shape 60"/>
          <p:cNvSpPr/>
          <p:nvPr/>
        </p:nvSpPr>
        <p:spPr>
          <a:xfrm>
            <a:off x="3277195" y="1516380"/>
            <a:ext cx="87439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61"/>
          <p:cNvSpPr/>
          <p:nvPr/>
        </p:nvSpPr>
        <p:spPr>
          <a:xfrm>
            <a:off x="3353395" y="1325880"/>
            <a:ext cx="7981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25" dirty="0"/>
          </a:p>
        </p:txBody>
      </p:sp>
      <p:sp>
        <p:nvSpPr>
          <p:cNvPr id="77" name="Shape 62"/>
          <p:cNvSpPr/>
          <p:nvPr/>
        </p:nvSpPr>
        <p:spPr>
          <a:xfrm>
            <a:off x="4151591" y="1278255"/>
            <a:ext cx="958215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8" name="Shape 63"/>
          <p:cNvSpPr/>
          <p:nvPr/>
        </p:nvSpPr>
        <p:spPr>
          <a:xfrm>
            <a:off x="4151591" y="1516380"/>
            <a:ext cx="95821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9" name="Text 64"/>
          <p:cNvSpPr/>
          <p:nvPr/>
        </p:nvSpPr>
        <p:spPr>
          <a:xfrm>
            <a:off x="4227791" y="1325880"/>
            <a:ext cx="8820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825" dirty="0"/>
          </a:p>
        </p:txBody>
      </p:sp>
      <p:sp>
        <p:nvSpPr>
          <p:cNvPr id="80" name="Shape 65"/>
          <p:cNvSpPr/>
          <p:nvPr/>
        </p:nvSpPr>
        <p:spPr>
          <a:xfrm>
            <a:off x="5109807" y="1278255"/>
            <a:ext cx="3721060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1" name="Shape 66"/>
          <p:cNvSpPr/>
          <p:nvPr/>
        </p:nvSpPr>
        <p:spPr>
          <a:xfrm>
            <a:off x="5109807" y="1516380"/>
            <a:ext cx="372106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67"/>
          <p:cNvSpPr/>
          <p:nvPr/>
        </p:nvSpPr>
        <p:spPr>
          <a:xfrm>
            <a:off x="5186007" y="1325880"/>
            <a:ext cx="368029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25" dirty="0"/>
          </a:p>
        </p:txBody>
      </p:sp>
      <p:sp>
        <p:nvSpPr>
          <p:cNvPr id="83" name="Shape 68"/>
          <p:cNvSpPr/>
          <p:nvPr/>
        </p:nvSpPr>
        <p:spPr>
          <a:xfrm>
            <a:off x="8830866" y="1278255"/>
            <a:ext cx="1277064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4" name="Shape 69"/>
          <p:cNvSpPr/>
          <p:nvPr/>
        </p:nvSpPr>
        <p:spPr>
          <a:xfrm>
            <a:off x="8830866" y="1516380"/>
            <a:ext cx="1277064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5" name="Text 70"/>
          <p:cNvSpPr/>
          <p:nvPr/>
        </p:nvSpPr>
        <p:spPr>
          <a:xfrm>
            <a:off x="8907066" y="1325880"/>
            <a:ext cx="12008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25" dirty="0"/>
          </a:p>
        </p:txBody>
      </p:sp>
      <p:sp>
        <p:nvSpPr>
          <p:cNvPr id="86" name="Shape 71"/>
          <p:cNvSpPr/>
          <p:nvPr/>
        </p:nvSpPr>
        <p:spPr>
          <a:xfrm>
            <a:off x="712470" y="1524000"/>
            <a:ext cx="3130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87" name="Shape 72"/>
          <p:cNvSpPr/>
          <p:nvPr/>
        </p:nvSpPr>
        <p:spPr>
          <a:xfrm>
            <a:off x="712470" y="1838325"/>
            <a:ext cx="3130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8" name="Text 73"/>
          <p:cNvSpPr/>
          <p:nvPr/>
        </p:nvSpPr>
        <p:spPr>
          <a:xfrm>
            <a:off x="788670" y="1581150"/>
            <a:ext cx="2368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900" dirty="0"/>
          </a:p>
        </p:txBody>
      </p:sp>
      <p:sp>
        <p:nvSpPr>
          <p:cNvPr id="89" name="Shape 74"/>
          <p:cNvSpPr/>
          <p:nvPr/>
        </p:nvSpPr>
        <p:spPr>
          <a:xfrm>
            <a:off x="1025486" y="1524000"/>
            <a:ext cx="1041678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90" name="Shape 75"/>
          <p:cNvSpPr/>
          <p:nvPr/>
        </p:nvSpPr>
        <p:spPr>
          <a:xfrm>
            <a:off x="1025486" y="1838325"/>
            <a:ext cx="104167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1" name="Shape 76"/>
          <p:cNvSpPr/>
          <p:nvPr/>
        </p:nvSpPr>
        <p:spPr>
          <a:xfrm>
            <a:off x="1101686" y="1584960"/>
            <a:ext cx="44946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2" name="Shape 77"/>
          <p:cNvSpPr/>
          <p:nvPr/>
        </p:nvSpPr>
        <p:spPr>
          <a:xfrm>
            <a:off x="1175982" y="16563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93" name="Text 78"/>
          <p:cNvSpPr/>
          <p:nvPr/>
        </p:nvSpPr>
        <p:spPr>
          <a:xfrm>
            <a:off x="1271232" y="1619250"/>
            <a:ext cx="2818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</a:t>
            </a:r>
            <a:endParaRPr lang="en-US" sz="825" dirty="0"/>
          </a:p>
        </p:txBody>
      </p:sp>
      <p:sp>
        <p:nvSpPr>
          <p:cNvPr id="94" name="Shape 79"/>
          <p:cNvSpPr/>
          <p:nvPr/>
        </p:nvSpPr>
        <p:spPr>
          <a:xfrm>
            <a:off x="2067165" y="1524000"/>
            <a:ext cx="1210032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95" name="Shape 80"/>
          <p:cNvSpPr/>
          <p:nvPr/>
        </p:nvSpPr>
        <p:spPr>
          <a:xfrm>
            <a:off x="2067165" y="1838325"/>
            <a:ext cx="121003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6" name="Text 81"/>
          <p:cNvSpPr/>
          <p:nvPr/>
        </p:nvSpPr>
        <p:spPr>
          <a:xfrm>
            <a:off x="2143365" y="1581150"/>
            <a:ext cx="11338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msg_8c3f…21a</a:t>
            </a:r>
            <a:endParaRPr lang="en-US" sz="825" dirty="0"/>
          </a:p>
        </p:txBody>
      </p:sp>
      <p:sp>
        <p:nvSpPr>
          <p:cNvPr id="97" name="Shape 82"/>
          <p:cNvSpPr/>
          <p:nvPr/>
        </p:nvSpPr>
        <p:spPr>
          <a:xfrm>
            <a:off x="3277195" y="1524000"/>
            <a:ext cx="87439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98" name="Shape 83"/>
          <p:cNvSpPr/>
          <p:nvPr/>
        </p:nvSpPr>
        <p:spPr>
          <a:xfrm>
            <a:off x="3277195" y="1838325"/>
            <a:ext cx="87439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9" name="Text 84"/>
          <p:cNvSpPr/>
          <p:nvPr/>
        </p:nvSpPr>
        <p:spPr>
          <a:xfrm>
            <a:off x="3353395" y="1581150"/>
            <a:ext cx="7981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13:11:42</a:t>
            </a:r>
            <a:endParaRPr lang="en-US" sz="825" dirty="0"/>
          </a:p>
        </p:txBody>
      </p:sp>
      <p:sp>
        <p:nvSpPr>
          <p:cNvPr id="100" name="Shape 85"/>
          <p:cNvSpPr/>
          <p:nvPr/>
        </p:nvSpPr>
        <p:spPr>
          <a:xfrm>
            <a:off x="4151591" y="1524000"/>
            <a:ext cx="9582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1" name="Shape 86"/>
          <p:cNvSpPr/>
          <p:nvPr/>
        </p:nvSpPr>
        <p:spPr>
          <a:xfrm>
            <a:off x="4151591" y="1838325"/>
            <a:ext cx="9582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2" name="Text 87"/>
          <p:cNvSpPr/>
          <p:nvPr/>
        </p:nvSpPr>
        <p:spPr>
          <a:xfrm>
            <a:off x="4227791" y="1581150"/>
            <a:ext cx="8820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carlos.t</a:t>
            </a:r>
            <a:endParaRPr lang="en-US" sz="825" dirty="0"/>
          </a:p>
        </p:txBody>
      </p:sp>
      <p:sp>
        <p:nvSpPr>
          <p:cNvPr id="103" name="Shape 88"/>
          <p:cNvSpPr/>
          <p:nvPr/>
        </p:nvSpPr>
        <p:spPr>
          <a:xfrm>
            <a:off x="5109807" y="1524000"/>
            <a:ext cx="3721060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4" name="Shape 89"/>
          <p:cNvSpPr/>
          <p:nvPr/>
        </p:nvSpPr>
        <p:spPr>
          <a:xfrm>
            <a:off x="5109807" y="1838325"/>
            <a:ext cx="372106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5" name="Text 90"/>
          <p:cNvSpPr/>
          <p:nvPr/>
        </p:nvSpPr>
        <p:spPr>
          <a:xfrm>
            <a:off x="5186007" y="1581150"/>
            <a:ext cx="36802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DocuSign brand-impersonation · domain locked Tue</a:t>
            </a:r>
            <a:endParaRPr lang="en-US" sz="900" dirty="0"/>
          </a:p>
        </p:txBody>
      </p:sp>
      <p:sp>
        <p:nvSpPr>
          <p:cNvPr id="106" name="Shape 91"/>
          <p:cNvSpPr/>
          <p:nvPr/>
        </p:nvSpPr>
        <p:spPr>
          <a:xfrm>
            <a:off x="8830866" y="1524000"/>
            <a:ext cx="127706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7" name="Shape 92"/>
          <p:cNvSpPr/>
          <p:nvPr/>
        </p:nvSpPr>
        <p:spPr>
          <a:xfrm>
            <a:off x="8830866" y="1838325"/>
            <a:ext cx="12770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8" name="Text 93"/>
          <p:cNvSpPr/>
          <p:nvPr/>
        </p:nvSpPr>
        <p:spPr>
          <a:xfrm>
            <a:off x="8907066" y="1581150"/>
            <a:ext cx="12008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O365</a:t>
            </a:r>
            <a:endParaRPr lang="en-US" sz="900" dirty="0"/>
          </a:p>
        </p:txBody>
      </p:sp>
      <p:sp>
        <p:nvSpPr>
          <p:cNvPr id="109" name="Shape 94"/>
          <p:cNvSpPr/>
          <p:nvPr/>
        </p:nvSpPr>
        <p:spPr>
          <a:xfrm>
            <a:off x="712470" y="1845945"/>
            <a:ext cx="3130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0" name="Shape 95"/>
          <p:cNvSpPr/>
          <p:nvPr/>
        </p:nvSpPr>
        <p:spPr>
          <a:xfrm>
            <a:off x="712470" y="2160270"/>
            <a:ext cx="3130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1" name="Text 96"/>
          <p:cNvSpPr/>
          <p:nvPr/>
        </p:nvSpPr>
        <p:spPr>
          <a:xfrm>
            <a:off x="788670" y="1903095"/>
            <a:ext cx="2368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900" dirty="0"/>
          </a:p>
        </p:txBody>
      </p:sp>
      <p:sp>
        <p:nvSpPr>
          <p:cNvPr id="112" name="Shape 97"/>
          <p:cNvSpPr/>
          <p:nvPr/>
        </p:nvSpPr>
        <p:spPr>
          <a:xfrm>
            <a:off x="1025486" y="1845945"/>
            <a:ext cx="1041678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3" name="Shape 98"/>
          <p:cNvSpPr/>
          <p:nvPr/>
        </p:nvSpPr>
        <p:spPr>
          <a:xfrm>
            <a:off x="1025486" y="2160270"/>
            <a:ext cx="104167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4" name="Shape 99"/>
          <p:cNvSpPr/>
          <p:nvPr/>
        </p:nvSpPr>
        <p:spPr>
          <a:xfrm>
            <a:off x="1101686" y="1906905"/>
            <a:ext cx="467201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15" name="Shape 100"/>
          <p:cNvSpPr/>
          <p:nvPr/>
        </p:nvSpPr>
        <p:spPr>
          <a:xfrm>
            <a:off x="1175982" y="1978343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16" name="Text 101"/>
          <p:cNvSpPr/>
          <p:nvPr/>
        </p:nvSpPr>
        <p:spPr>
          <a:xfrm>
            <a:off x="1271232" y="1941195"/>
            <a:ext cx="29956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825" dirty="0"/>
          </a:p>
        </p:txBody>
      </p:sp>
      <p:sp>
        <p:nvSpPr>
          <p:cNvPr id="117" name="Shape 102"/>
          <p:cNvSpPr/>
          <p:nvPr/>
        </p:nvSpPr>
        <p:spPr>
          <a:xfrm>
            <a:off x="2067165" y="1845945"/>
            <a:ext cx="1210032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8" name="Shape 103"/>
          <p:cNvSpPr/>
          <p:nvPr/>
        </p:nvSpPr>
        <p:spPr>
          <a:xfrm>
            <a:off x="2067165" y="2160270"/>
            <a:ext cx="121003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9" name="Text 104"/>
          <p:cNvSpPr/>
          <p:nvPr/>
        </p:nvSpPr>
        <p:spPr>
          <a:xfrm>
            <a:off x="2143365" y="1903095"/>
            <a:ext cx="11338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okta_8821…</a:t>
            </a:r>
            <a:endParaRPr lang="en-US" sz="825" dirty="0"/>
          </a:p>
        </p:txBody>
      </p:sp>
      <p:sp>
        <p:nvSpPr>
          <p:cNvPr id="120" name="Shape 105"/>
          <p:cNvSpPr/>
          <p:nvPr/>
        </p:nvSpPr>
        <p:spPr>
          <a:xfrm>
            <a:off x="3277195" y="1845945"/>
            <a:ext cx="87439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1" name="Shape 106"/>
          <p:cNvSpPr/>
          <p:nvPr/>
        </p:nvSpPr>
        <p:spPr>
          <a:xfrm>
            <a:off x="3277195" y="2160270"/>
            <a:ext cx="87439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2" name="Text 107"/>
          <p:cNvSpPr/>
          <p:nvPr/>
        </p:nvSpPr>
        <p:spPr>
          <a:xfrm>
            <a:off x="3353395" y="1903095"/>
            <a:ext cx="7981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13:14:01</a:t>
            </a:r>
            <a:endParaRPr lang="en-US" sz="825" dirty="0"/>
          </a:p>
        </p:txBody>
      </p:sp>
      <p:sp>
        <p:nvSpPr>
          <p:cNvPr id="123" name="Shape 108"/>
          <p:cNvSpPr/>
          <p:nvPr/>
        </p:nvSpPr>
        <p:spPr>
          <a:xfrm>
            <a:off x="4151591" y="1845945"/>
            <a:ext cx="9582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4" name="Shape 109"/>
          <p:cNvSpPr/>
          <p:nvPr/>
        </p:nvSpPr>
        <p:spPr>
          <a:xfrm>
            <a:off x="4151591" y="2160270"/>
            <a:ext cx="9582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5" name="Text 110"/>
          <p:cNvSpPr/>
          <p:nvPr/>
        </p:nvSpPr>
        <p:spPr>
          <a:xfrm>
            <a:off x="4227791" y="1903095"/>
            <a:ext cx="8820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carlos.t</a:t>
            </a:r>
            <a:endParaRPr lang="en-US" sz="825" dirty="0"/>
          </a:p>
        </p:txBody>
      </p:sp>
      <p:sp>
        <p:nvSpPr>
          <p:cNvPr id="126" name="Shape 111"/>
          <p:cNvSpPr/>
          <p:nvPr/>
        </p:nvSpPr>
        <p:spPr>
          <a:xfrm>
            <a:off x="5109807" y="1845945"/>
            <a:ext cx="3721060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7" name="Shape 112"/>
          <p:cNvSpPr/>
          <p:nvPr/>
        </p:nvSpPr>
        <p:spPr>
          <a:xfrm>
            <a:off x="5109807" y="2160270"/>
            <a:ext cx="372106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8" name="Text 113"/>
          <p:cNvSpPr/>
          <p:nvPr/>
        </p:nvSpPr>
        <p:spPr>
          <a:xfrm>
            <a:off x="5186007" y="1903095"/>
            <a:ext cx="36802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→ SSO challenge initiated</a:t>
            </a:r>
            <a:endParaRPr lang="en-US" sz="900" dirty="0"/>
          </a:p>
        </p:txBody>
      </p:sp>
      <p:sp>
        <p:nvSpPr>
          <p:cNvPr id="129" name="Shape 114"/>
          <p:cNvSpPr/>
          <p:nvPr/>
        </p:nvSpPr>
        <p:spPr>
          <a:xfrm>
            <a:off x="8830866" y="1845945"/>
            <a:ext cx="127706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30" name="Shape 115"/>
          <p:cNvSpPr/>
          <p:nvPr/>
        </p:nvSpPr>
        <p:spPr>
          <a:xfrm>
            <a:off x="8830866" y="2160270"/>
            <a:ext cx="12770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1" name="Text 116"/>
          <p:cNvSpPr/>
          <p:nvPr/>
        </p:nvSpPr>
        <p:spPr>
          <a:xfrm>
            <a:off x="8907066" y="1903095"/>
            <a:ext cx="12008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900" dirty="0"/>
          </a:p>
        </p:txBody>
      </p:sp>
      <p:sp>
        <p:nvSpPr>
          <p:cNvPr id="132" name="Shape 117"/>
          <p:cNvSpPr/>
          <p:nvPr/>
        </p:nvSpPr>
        <p:spPr>
          <a:xfrm>
            <a:off x="712470" y="2167890"/>
            <a:ext cx="3130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33" name="Shape 118"/>
          <p:cNvSpPr/>
          <p:nvPr/>
        </p:nvSpPr>
        <p:spPr>
          <a:xfrm>
            <a:off x="712470" y="2482215"/>
            <a:ext cx="3130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4" name="Text 119"/>
          <p:cNvSpPr/>
          <p:nvPr/>
        </p:nvSpPr>
        <p:spPr>
          <a:xfrm>
            <a:off x="788670" y="2225040"/>
            <a:ext cx="2368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900" dirty="0"/>
          </a:p>
        </p:txBody>
      </p:sp>
      <p:sp>
        <p:nvSpPr>
          <p:cNvPr id="135" name="Shape 120"/>
          <p:cNvSpPr/>
          <p:nvPr/>
        </p:nvSpPr>
        <p:spPr>
          <a:xfrm>
            <a:off x="1025486" y="2167890"/>
            <a:ext cx="1041678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36" name="Shape 121"/>
          <p:cNvSpPr/>
          <p:nvPr/>
        </p:nvSpPr>
        <p:spPr>
          <a:xfrm>
            <a:off x="1025486" y="2482215"/>
            <a:ext cx="104167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7" name="Shape 122"/>
          <p:cNvSpPr/>
          <p:nvPr/>
        </p:nvSpPr>
        <p:spPr>
          <a:xfrm>
            <a:off x="1101686" y="2228850"/>
            <a:ext cx="467201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38" name="Shape 123"/>
          <p:cNvSpPr/>
          <p:nvPr/>
        </p:nvSpPr>
        <p:spPr>
          <a:xfrm>
            <a:off x="1175982" y="230028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39" name="Text 124"/>
          <p:cNvSpPr/>
          <p:nvPr/>
        </p:nvSpPr>
        <p:spPr>
          <a:xfrm>
            <a:off x="1271232" y="2263140"/>
            <a:ext cx="29956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825" dirty="0"/>
          </a:p>
        </p:txBody>
      </p:sp>
      <p:sp>
        <p:nvSpPr>
          <p:cNvPr id="140" name="Shape 125"/>
          <p:cNvSpPr/>
          <p:nvPr/>
        </p:nvSpPr>
        <p:spPr>
          <a:xfrm>
            <a:off x="2067165" y="2167890"/>
            <a:ext cx="1210032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41" name="Shape 126"/>
          <p:cNvSpPr/>
          <p:nvPr/>
        </p:nvSpPr>
        <p:spPr>
          <a:xfrm>
            <a:off x="2067165" y="2482215"/>
            <a:ext cx="121003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2" name="Text 127"/>
          <p:cNvSpPr/>
          <p:nvPr/>
        </p:nvSpPr>
        <p:spPr>
          <a:xfrm>
            <a:off x="2143365" y="2225040"/>
            <a:ext cx="11338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mfa_a91…</a:t>
            </a:r>
            <a:endParaRPr lang="en-US" sz="825" dirty="0"/>
          </a:p>
        </p:txBody>
      </p:sp>
      <p:sp>
        <p:nvSpPr>
          <p:cNvPr id="143" name="Shape 128"/>
          <p:cNvSpPr/>
          <p:nvPr/>
        </p:nvSpPr>
        <p:spPr>
          <a:xfrm>
            <a:off x="3277195" y="2167890"/>
            <a:ext cx="87439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44" name="Shape 129"/>
          <p:cNvSpPr/>
          <p:nvPr/>
        </p:nvSpPr>
        <p:spPr>
          <a:xfrm>
            <a:off x="3277195" y="2482215"/>
            <a:ext cx="87439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5" name="Text 130"/>
          <p:cNvSpPr/>
          <p:nvPr/>
        </p:nvSpPr>
        <p:spPr>
          <a:xfrm>
            <a:off x="3353395" y="2225040"/>
            <a:ext cx="7981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13:21:09</a:t>
            </a:r>
            <a:endParaRPr lang="en-US" sz="825" dirty="0"/>
          </a:p>
        </p:txBody>
      </p:sp>
      <p:sp>
        <p:nvSpPr>
          <p:cNvPr id="146" name="Shape 131"/>
          <p:cNvSpPr/>
          <p:nvPr/>
        </p:nvSpPr>
        <p:spPr>
          <a:xfrm>
            <a:off x="4151591" y="2167890"/>
            <a:ext cx="9582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47" name="Shape 132"/>
          <p:cNvSpPr/>
          <p:nvPr/>
        </p:nvSpPr>
        <p:spPr>
          <a:xfrm>
            <a:off x="4151591" y="2482215"/>
            <a:ext cx="9582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8" name="Text 133"/>
          <p:cNvSpPr/>
          <p:nvPr/>
        </p:nvSpPr>
        <p:spPr>
          <a:xfrm>
            <a:off x="4227791" y="2225040"/>
            <a:ext cx="8820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carlos.t</a:t>
            </a:r>
            <a:endParaRPr lang="en-US" sz="825" dirty="0"/>
          </a:p>
        </p:txBody>
      </p:sp>
      <p:sp>
        <p:nvSpPr>
          <p:cNvPr id="149" name="Shape 134"/>
          <p:cNvSpPr/>
          <p:nvPr/>
        </p:nvSpPr>
        <p:spPr>
          <a:xfrm>
            <a:off x="5109807" y="2167890"/>
            <a:ext cx="3721060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50" name="Shape 135"/>
          <p:cNvSpPr/>
          <p:nvPr/>
        </p:nvSpPr>
        <p:spPr>
          <a:xfrm>
            <a:off x="5109807" y="2482215"/>
            <a:ext cx="372106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1" name="Text 136"/>
          <p:cNvSpPr/>
          <p:nvPr/>
        </p:nvSpPr>
        <p:spPr>
          <a:xfrm>
            <a:off x="5186007" y="2225040"/>
            <a:ext cx="36802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#1 of 14 · denied</a:t>
            </a:r>
            <a:endParaRPr lang="en-US" sz="900" dirty="0"/>
          </a:p>
        </p:txBody>
      </p:sp>
      <p:sp>
        <p:nvSpPr>
          <p:cNvPr id="152" name="Shape 137"/>
          <p:cNvSpPr/>
          <p:nvPr/>
        </p:nvSpPr>
        <p:spPr>
          <a:xfrm>
            <a:off x="8830866" y="2167890"/>
            <a:ext cx="127706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53" name="Shape 138"/>
          <p:cNvSpPr/>
          <p:nvPr/>
        </p:nvSpPr>
        <p:spPr>
          <a:xfrm>
            <a:off x="8830866" y="2482215"/>
            <a:ext cx="12770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4" name="Text 139"/>
          <p:cNvSpPr/>
          <p:nvPr/>
        </p:nvSpPr>
        <p:spPr>
          <a:xfrm>
            <a:off x="8907066" y="2225040"/>
            <a:ext cx="12008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900" dirty="0"/>
          </a:p>
        </p:txBody>
      </p:sp>
      <p:sp>
        <p:nvSpPr>
          <p:cNvPr id="155" name="Shape 140"/>
          <p:cNvSpPr/>
          <p:nvPr/>
        </p:nvSpPr>
        <p:spPr>
          <a:xfrm>
            <a:off x="712470" y="2804160"/>
            <a:ext cx="3130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6" name="Shape 141"/>
          <p:cNvSpPr/>
          <p:nvPr/>
        </p:nvSpPr>
        <p:spPr>
          <a:xfrm>
            <a:off x="1025486" y="2804160"/>
            <a:ext cx="104167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7" name="Shape 142"/>
          <p:cNvSpPr/>
          <p:nvPr/>
        </p:nvSpPr>
        <p:spPr>
          <a:xfrm>
            <a:off x="1101686" y="2550795"/>
            <a:ext cx="467201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58" name="Shape 143"/>
          <p:cNvSpPr/>
          <p:nvPr/>
        </p:nvSpPr>
        <p:spPr>
          <a:xfrm>
            <a:off x="1175982" y="2622232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59" name="Text 144"/>
          <p:cNvSpPr/>
          <p:nvPr/>
        </p:nvSpPr>
        <p:spPr>
          <a:xfrm>
            <a:off x="1271232" y="2585085"/>
            <a:ext cx="29956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825" dirty="0"/>
          </a:p>
        </p:txBody>
      </p:sp>
      <p:sp>
        <p:nvSpPr>
          <p:cNvPr id="160" name="Shape 145"/>
          <p:cNvSpPr/>
          <p:nvPr/>
        </p:nvSpPr>
        <p:spPr>
          <a:xfrm>
            <a:off x="2067165" y="2804160"/>
            <a:ext cx="121003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1" name="Text 146"/>
          <p:cNvSpPr/>
          <p:nvPr/>
        </p:nvSpPr>
        <p:spPr>
          <a:xfrm>
            <a:off x="2143365" y="2546985"/>
            <a:ext cx="11338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mfa_a92…</a:t>
            </a:r>
            <a:endParaRPr lang="en-US" sz="825" dirty="0"/>
          </a:p>
        </p:txBody>
      </p:sp>
      <p:sp>
        <p:nvSpPr>
          <p:cNvPr id="162" name="Shape 147"/>
          <p:cNvSpPr/>
          <p:nvPr/>
        </p:nvSpPr>
        <p:spPr>
          <a:xfrm>
            <a:off x="3277195" y="2804160"/>
            <a:ext cx="87439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3" name="Text 148"/>
          <p:cNvSpPr/>
          <p:nvPr/>
        </p:nvSpPr>
        <p:spPr>
          <a:xfrm>
            <a:off x="3353395" y="2546985"/>
            <a:ext cx="7981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13:21:30</a:t>
            </a:r>
            <a:endParaRPr lang="en-US" sz="825" dirty="0"/>
          </a:p>
        </p:txBody>
      </p:sp>
      <p:sp>
        <p:nvSpPr>
          <p:cNvPr id="164" name="Shape 149"/>
          <p:cNvSpPr/>
          <p:nvPr/>
        </p:nvSpPr>
        <p:spPr>
          <a:xfrm>
            <a:off x="4151591" y="2804160"/>
            <a:ext cx="9582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5" name="Text 150"/>
          <p:cNvSpPr/>
          <p:nvPr/>
        </p:nvSpPr>
        <p:spPr>
          <a:xfrm>
            <a:off x="4227791" y="2546985"/>
            <a:ext cx="8820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carlos.t</a:t>
            </a:r>
            <a:endParaRPr lang="en-US" sz="825" dirty="0"/>
          </a:p>
        </p:txBody>
      </p:sp>
      <p:sp>
        <p:nvSpPr>
          <p:cNvPr id="166" name="Shape 151"/>
          <p:cNvSpPr/>
          <p:nvPr/>
        </p:nvSpPr>
        <p:spPr>
          <a:xfrm>
            <a:off x="5109807" y="2804160"/>
            <a:ext cx="372106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7" name="Text 152"/>
          <p:cNvSpPr/>
          <p:nvPr/>
        </p:nvSpPr>
        <p:spPr>
          <a:xfrm>
            <a:off x="5186007" y="2546985"/>
            <a:ext cx="36802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×11 · all denied</a:t>
            </a:r>
            <a:endParaRPr lang="en-US" sz="900" dirty="0"/>
          </a:p>
        </p:txBody>
      </p:sp>
      <p:sp>
        <p:nvSpPr>
          <p:cNvPr id="168" name="Shape 153"/>
          <p:cNvSpPr/>
          <p:nvPr/>
        </p:nvSpPr>
        <p:spPr>
          <a:xfrm>
            <a:off x="8830866" y="2804160"/>
            <a:ext cx="12770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9" name="Text 154"/>
          <p:cNvSpPr/>
          <p:nvPr/>
        </p:nvSpPr>
        <p:spPr>
          <a:xfrm>
            <a:off x="8907066" y="2546985"/>
            <a:ext cx="12008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900" dirty="0"/>
          </a:p>
        </p:txBody>
      </p:sp>
      <p:sp>
        <p:nvSpPr>
          <p:cNvPr id="170" name="Shape 155"/>
          <p:cNvSpPr/>
          <p:nvPr/>
        </p:nvSpPr>
        <p:spPr>
          <a:xfrm>
            <a:off x="712470" y="2811780"/>
            <a:ext cx="3130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71" name="Shape 156"/>
          <p:cNvSpPr/>
          <p:nvPr/>
        </p:nvSpPr>
        <p:spPr>
          <a:xfrm>
            <a:off x="712470" y="3126105"/>
            <a:ext cx="3130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2" name="Text 157"/>
          <p:cNvSpPr/>
          <p:nvPr/>
        </p:nvSpPr>
        <p:spPr>
          <a:xfrm>
            <a:off x="788670" y="2868930"/>
            <a:ext cx="2368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900" dirty="0"/>
          </a:p>
        </p:txBody>
      </p:sp>
      <p:sp>
        <p:nvSpPr>
          <p:cNvPr id="173" name="Shape 158"/>
          <p:cNvSpPr/>
          <p:nvPr/>
        </p:nvSpPr>
        <p:spPr>
          <a:xfrm>
            <a:off x="1025486" y="2811780"/>
            <a:ext cx="1041678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74" name="Shape 159"/>
          <p:cNvSpPr/>
          <p:nvPr/>
        </p:nvSpPr>
        <p:spPr>
          <a:xfrm>
            <a:off x="1025486" y="3126105"/>
            <a:ext cx="104167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5" name="Shape 160"/>
          <p:cNvSpPr/>
          <p:nvPr/>
        </p:nvSpPr>
        <p:spPr>
          <a:xfrm>
            <a:off x="1101686" y="2872740"/>
            <a:ext cx="467201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76" name="Shape 161"/>
          <p:cNvSpPr/>
          <p:nvPr/>
        </p:nvSpPr>
        <p:spPr>
          <a:xfrm>
            <a:off x="1175982" y="294417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77" name="Text 162"/>
          <p:cNvSpPr/>
          <p:nvPr/>
        </p:nvSpPr>
        <p:spPr>
          <a:xfrm>
            <a:off x="1271232" y="2907030"/>
            <a:ext cx="29956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825" dirty="0"/>
          </a:p>
        </p:txBody>
      </p:sp>
      <p:sp>
        <p:nvSpPr>
          <p:cNvPr id="178" name="Shape 163"/>
          <p:cNvSpPr/>
          <p:nvPr/>
        </p:nvSpPr>
        <p:spPr>
          <a:xfrm>
            <a:off x="2067165" y="2811780"/>
            <a:ext cx="1210032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79" name="Shape 164"/>
          <p:cNvSpPr/>
          <p:nvPr/>
        </p:nvSpPr>
        <p:spPr>
          <a:xfrm>
            <a:off x="2067165" y="3126105"/>
            <a:ext cx="121003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0" name="Text 165"/>
          <p:cNvSpPr/>
          <p:nvPr/>
        </p:nvSpPr>
        <p:spPr>
          <a:xfrm>
            <a:off x="2143365" y="2868930"/>
            <a:ext cx="11338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mfa_b14…</a:t>
            </a:r>
            <a:endParaRPr lang="en-US" sz="825" dirty="0"/>
          </a:p>
        </p:txBody>
      </p:sp>
      <p:sp>
        <p:nvSpPr>
          <p:cNvPr id="181" name="Shape 166"/>
          <p:cNvSpPr/>
          <p:nvPr/>
        </p:nvSpPr>
        <p:spPr>
          <a:xfrm>
            <a:off x="3277195" y="2811780"/>
            <a:ext cx="87439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82" name="Shape 167"/>
          <p:cNvSpPr/>
          <p:nvPr/>
        </p:nvSpPr>
        <p:spPr>
          <a:xfrm>
            <a:off x="3277195" y="3126105"/>
            <a:ext cx="87439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3" name="Text 168"/>
          <p:cNvSpPr/>
          <p:nvPr/>
        </p:nvSpPr>
        <p:spPr>
          <a:xfrm>
            <a:off x="3353395" y="2868930"/>
            <a:ext cx="7981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13:23:55</a:t>
            </a:r>
            <a:endParaRPr lang="en-US" sz="825" dirty="0"/>
          </a:p>
        </p:txBody>
      </p:sp>
      <p:sp>
        <p:nvSpPr>
          <p:cNvPr id="184" name="Shape 169"/>
          <p:cNvSpPr/>
          <p:nvPr/>
        </p:nvSpPr>
        <p:spPr>
          <a:xfrm>
            <a:off x="4151591" y="2811780"/>
            <a:ext cx="9582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85" name="Shape 170"/>
          <p:cNvSpPr/>
          <p:nvPr/>
        </p:nvSpPr>
        <p:spPr>
          <a:xfrm>
            <a:off x="4151591" y="3126105"/>
            <a:ext cx="9582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6" name="Text 171"/>
          <p:cNvSpPr/>
          <p:nvPr/>
        </p:nvSpPr>
        <p:spPr>
          <a:xfrm>
            <a:off x="4227791" y="2868930"/>
            <a:ext cx="8820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carlos.t</a:t>
            </a:r>
            <a:endParaRPr lang="en-US" sz="825" dirty="0"/>
          </a:p>
        </p:txBody>
      </p:sp>
      <p:sp>
        <p:nvSpPr>
          <p:cNvPr id="187" name="Shape 172"/>
          <p:cNvSpPr/>
          <p:nvPr/>
        </p:nvSpPr>
        <p:spPr>
          <a:xfrm>
            <a:off x="5109807" y="2811780"/>
            <a:ext cx="3721060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88" name="Shape 173"/>
          <p:cNvSpPr/>
          <p:nvPr/>
        </p:nvSpPr>
        <p:spPr>
          <a:xfrm>
            <a:off x="5109807" y="3126105"/>
            <a:ext cx="372106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9" name="Text 174"/>
          <p:cNvSpPr/>
          <p:nvPr/>
        </p:nvSpPr>
        <p:spPr>
          <a:xfrm>
            <a:off x="5186007" y="2868930"/>
            <a:ext cx="36802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#14 approved · session opened</a:t>
            </a:r>
            <a:endParaRPr lang="en-US" sz="900" dirty="0"/>
          </a:p>
        </p:txBody>
      </p:sp>
      <p:sp>
        <p:nvSpPr>
          <p:cNvPr id="190" name="Shape 175"/>
          <p:cNvSpPr/>
          <p:nvPr/>
        </p:nvSpPr>
        <p:spPr>
          <a:xfrm>
            <a:off x="8830866" y="2811780"/>
            <a:ext cx="127706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91" name="Shape 176"/>
          <p:cNvSpPr/>
          <p:nvPr/>
        </p:nvSpPr>
        <p:spPr>
          <a:xfrm>
            <a:off x="8830866" y="3126105"/>
            <a:ext cx="12770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2" name="Text 177"/>
          <p:cNvSpPr/>
          <p:nvPr/>
        </p:nvSpPr>
        <p:spPr>
          <a:xfrm>
            <a:off x="8907066" y="2868930"/>
            <a:ext cx="12008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900" dirty="0"/>
          </a:p>
        </p:txBody>
      </p:sp>
      <p:sp>
        <p:nvSpPr>
          <p:cNvPr id="193" name="Shape 178"/>
          <p:cNvSpPr/>
          <p:nvPr/>
        </p:nvSpPr>
        <p:spPr>
          <a:xfrm>
            <a:off x="712470" y="3133725"/>
            <a:ext cx="3130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94" name="Shape 179"/>
          <p:cNvSpPr/>
          <p:nvPr/>
        </p:nvSpPr>
        <p:spPr>
          <a:xfrm>
            <a:off x="712470" y="3448050"/>
            <a:ext cx="3130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5" name="Text 180"/>
          <p:cNvSpPr/>
          <p:nvPr/>
        </p:nvSpPr>
        <p:spPr>
          <a:xfrm>
            <a:off x="788670" y="3190875"/>
            <a:ext cx="2368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900" dirty="0"/>
          </a:p>
        </p:txBody>
      </p:sp>
      <p:sp>
        <p:nvSpPr>
          <p:cNvPr id="196" name="Shape 181"/>
          <p:cNvSpPr/>
          <p:nvPr/>
        </p:nvSpPr>
        <p:spPr>
          <a:xfrm>
            <a:off x="1025486" y="3133725"/>
            <a:ext cx="1041678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97" name="Shape 182"/>
          <p:cNvSpPr/>
          <p:nvPr/>
        </p:nvSpPr>
        <p:spPr>
          <a:xfrm>
            <a:off x="1025486" y="3448050"/>
            <a:ext cx="104167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8" name="Shape 183"/>
          <p:cNvSpPr/>
          <p:nvPr/>
        </p:nvSpPr>
        <p:spPr>
          <a:xfrm>
            <a:off x="1101686" y="3194685"/>
            <a:ext cx="467201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99" name="Shape 184"/>
          <p:cNvSpPr/>
          <p:nvPr/>
        </p:nvSpPr>
        <p:spPr>
          <a:xfrm>
            <a:off x="1175982" y="3266123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200" name="Text 185"/>
          <p:cNvSpPr/>
          <p:nvPr/>
        </p:nvSpPr>
        <p:spPr>
          <a:xfrm>
            <a:off x="1271232" y="3228975"/>
            <a:ext cx="29956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825" dirty="0"/>
          </a:p>
        </p:txBody>
      </p:sp>
      <p:sp>
        <p:nvSpPr>
          <p:cNvPr id="201" name="Shape 186"/>
          <p:cNvSpPr/>
          <p:nvPr/>
        </p:nvSpPr>
        <p:spPr>
          <a:xfrm>
            <a:off x="2067165" y="3133725"/>
            <a:ext cx="1210032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02" name="Shape 187"/>
          <p:cNvSpPr/>
          <p:nvPr/>
        </p:nvSpPr>
        <p:spPr>
          <a:xfrm>
            <a:off x="2067165" y="3448050"/>
            <a:ext cx="121003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3" name="Text 188"/>
          <p:cNvSpPr/>
          <p:nvPr/>
        </p:nvSpPr>
        <p:spPr>
          <a:xfrm>
            <a:off x="2143365" y="3190875"/>
            <a:ext cx="11338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geo_22…</a:t>
            </a:r>
            <a:endParaRPr lang="en-US" sz="825" dirty="0"/>
          </a:p>
        </p:txBody>
      </p:sp>
      <p:sp>
        <p:nvSpPr>
          <p:cNvPr id="204" name="Shape 189"/>
          <p:cNvSpPr/>
          <p:nvPr/>
        </p:nvSpPr>
        <p:spPr>
          <a:xfrm>
            <a:off x="3277195" y="3133725"/>
            <a:ext cx="87439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05" name="Shape 190"/>
          <p:cNvSpPr/>
          <p:nvPr/>
        </p:nvSpPr>
        <p:spPr>
          <a:xfrm>
            <a:off x="3277195" y="3448050"/>
            <a:ext cx="87439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6" name="Text 191"/>
          <p:cNvSpPr/>
          <p:nvPr/>
        </p:nvSpPr>
        <p:spPr>
          <a:xfrm>
            <a:off x="3353395" y="3190875"/>
            <a:ext cx="7981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13:24:01</a:t>
            </a:r>
            <a:endParaRPr lang="en-US" sz="825" dirty="0"/>
          </a:p>
        </p:txBody>
      </p:sp>
      <p:sp>
        <p:nvSpPr>
          <p:cNvPr id="207" name="Shape 192"/>
          <p:cNvSpPr/>
          <p:nvPr/>
        </p:nvSpPr>
        <p:spPr>
          <a:xfrm>
            <a:off x="4151591" y="3133725"/>
            <a:ext cx="9582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08" name="Shape 193"/>
          <p:cNvSpPr/>
          <p:nvPr/>
        </p:nvSpPr>
        <p:spPr>
          <a:xfrm>
            <a:off x="4151591" y="3448050"/>
            <a:ext cx="9582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9" name="Text 194"/>
          <p:cNvSpPr/>
          <p:nvPr/>
        </p:nvSpPr>
        <p:spPr>
          <a:xfrm>
            <a:off x="4227791" y="3190875"/>
            <a:ext cx="8820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carlos.t</a:t>
            </a:r>
            <a:endParaRPr lang="en-US" sz="825" dirty="0"/>
          </a:p>
        </p:txBody>
      </p:sp>
      <p:sp>
        <p:nvSpPr>
          <p:cNvPr id="210" name="Shape 195"/>
          <p:cNvSpPr/>
          <p:nvPr/>
        </p:nvSpPr>
        <p:spPr>
          <a:xfrm>
            <a:off x="5109807" y="3133725"/>
            <a:ext cx="3721060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11" name="Shape 196"/>
          <p:cNvSpPr/>
          <p:nvPr/>
        </p:nvSpPr>
        <p:spPr>
          <a:xfrm>
            <a:off x="5109807" y="3448050"/>
            <a:ext cx="372106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2" name="Text 197"/>
          <p:cNvSpPr/>
          <p:nvPr/>
        </p:nvSpPr>
        <p:spPr>
          <a:xfrm>
            <a:off x="5186007" y="3190875"/>
            <a:ext cx="36802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ASN AS200000 (MOW) · impossible travel</a:t>
            </a:r>
            <a:endParaRPr lang="en-US" sz="900" dirty="0"/>
          </a:p>
        </p:txBody>
      </p:sp>
      <p:sp>
        <p:nvSpPr>
          <p:cNvPr id="213" name="Shape 198"/>
          <p:cNvSpPr/>
          <p:nvPr/>
        </p:nvSpPr>
        <p:spPr>
          <a:xfrm>
            <a:off x="8830866" y="3133725"/>
            <a:ext cx="127706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14" name="Shape 199"/>
          <p:cNvSpPr/>
          <p:nvPr/>
        </p:nvSpPr>
        <p:spPr>
          <a:xfrm>
            <a:off x="8830866" y="3448050"/>
            <a:ext cx="12770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5" name="Text 200"/>
          <p:cNvSpPr/>
          <p:nvPr/>
        </p:nvSpPr>
        <p:spPr>
          <a:xfrm>
            <a:off x="8907066" y="3190875"/>
            <a:ext cx="12008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GeoIP + Okta</a:t>
            </a:r>
            <a:endParaRPr lang="en-US" sz="900" dirty="0"/>
          </a:p>
        </p:txBody>
      </p:sp>
      <p:sp>
        <p:nvSpPr>
          <p:cNvPr id="216" name="Shape 201"/>
          <p:cNvSpPr/>
          <p:nvPr/>
        </p:nvSpPr>
        <p:spPr>
          <a:xfrm>
            <a:off x="712470" y="3455670"/>
            <a:ext cx="3130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17" name="Shape 202"/>
          <p:cNvSpPr/>
          <p:nvPr/>
        </p:nvSpPr>
        <p:spPr>
          <a:xfrm>
            <a:off x="712470" y="3769995"/>
            <a:ext cx="3130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8" name="Text 203"/>
          <p:cNvSpPr/>
          <p:nvPr/>
        </p:nvSpPr>
        <p:spPr>
          <a:xfrm>
            <a:off x="788670" y="3512820"/>
            <a:ext cx="2368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900" dirty="0"/>
          </a:p>
        </p:txBody>
      </p:sp>
      <p:sp>
        <p:nvSpPr>
          <p:cNvPr id="219" name="Shape 204"/>
          <p:cNvSpPr/>
          <p:nvPr/>
        </p:nvSpPr>
        <p:spPr>
          <a:xfrm>
            <a:off x="1025486" y="3455670"/>
            <a:ext cx="1041678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20" name="Shape 205"/>
          <p:cNvSpPr/>
          <p:nvPr/>
        </p:nvSpPr>
        <p:spPr>
          <a:xfrm>
            <a:off x="1025486" y="3769995"/>
            <a:ext cx="104167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1" name="Shape 206"/>
          <p:cNvSpPr/>
          <p:nvPr/>
        </p:nvSpPr>
        <p:spPr>
          <a:xfrm>
            <a:off x="1101686" y="3516630"/>
            <a:ext cx="531257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222" name="Shape 207"/>
          <p:cNvSpPr/>
          <p:nvPr/>
        </p:nvSpPr>
        <p:spPr>
          <a:xfrm>
            <a:off x="1175982" y="358806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23" name="Text 208"/>
          <p:cNvSpPr/>
          <p:nvPr/>
        </p:nvSpPr>
        <p:spPr>
          <a:xfrm>
            <a:off x="1271232" y="3550920"/>
            <a:ext cx="36361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825" dirty="0"/>
          </a:p>
        </p:txBody>
      </p:sp>
      <p:sp>
        <p:nvSpPr>
          <p:cNvPr id="224" name="Shape 209"/>
          <p:cNvSpPr/>
          <p:nvPr/>
        </p:nvSpPr>
        <p:spPr>
          <a:xfrm>
            <a:off x="2067165" y="3455670"/>
            <a:ext cx="1210032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25" name="Shape 210"/>
          <p:cNvSpPr/>
          <p:nvPr/>
        </p:nvSpPr>
        <p:spPr>
          <a:xfrm>
            <a:off x="2067165" y="3769995"/>
            <a:ext cx="121003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6" name="Text 211"/>
          <p:cNvSpPr/>
          <p:nvPr/>
        </p:nvSpPr>
        <p:spPr>
          <a:xfrm>
            <a:off x="2143365" y="3512820"/>
            <a:ext cx="11338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ct_4a91…</a:t>
            </a:r>
            <a:endParaRPr lang="en-US" sz="825" dirty="0"/>
          </a:p>
        </p:txBody>
      </p:sp>
      <p:sp>
        <p:nvSpPr>
          <p:cNvPr id="227" name="Shape 212"/>
          <p:cNvSpPr/>
          <p:nvPr/>
        </p:nvSpPr>
        <p:spPr>
          <a:xfrm>
            <a:off x="3277195" y="3455670"/>
            <a:ext cx="87439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28" name="Shape 213"/>
          <p:cNvSpPr/>
          <p:nvPr/>
        </p:nvSpPr>
        <p:spPr>
          <a:xfrm>
            <a:off x="3277195" y="3769995"/>
            <a:ext cx="87439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9" name="Text 214"/>
          <p:cNvSpPr/>
          <p:nvPr/>
        </p:nvSpPr>
        <p:spPr>
          <a:xfrm>
            <a:off x="3353395" y="3512820"/>
            <a:ext cx="7981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13:25:11</a:t>
            </a:r>
            <a:endParaRPr lang="en-US" sz="825" dirty="0"/>
          </a:p>
        </p:txBody>
      </p:sp>
      <p:sp>
        <p:nvSpPr>
          <p:cNvPr id="230" name="Shape 215"/>
          <p:cNvSpPr/>
          <p:nvPr/>
        </p:nvSpPr>
        <p:spPr>
          <a:xfrm>
            <a:off x="4151591" y="3455670"/>
            <a:ext cx="9582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31" name="Shape 216"/>
          <p:cNvSpPr/>
          <p:nvPr/>
        </p:nvSpPr>
        <p:spPr>
          <a:xfrm>
            <a:off x="4151591" y="3769995"/>
            <a:ext cx="9582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2" name="Text 217"/>
          <p:cNvSpPr/>
          <p:nvPr/>
        </p:nvSpPr>
        <p:spPr>
          <a:xfrm>
            <a:off x="4227791" y="3512820"/>
            <a:ext cx="8820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 xZ91</a:t>
            </a:r>
            <a:endParaRPr lang="en-US" sz="825" dirty="0"/>
          </a:p>
        </p:txBody>
      </p:sp>
      <p:sp>
        <p:nvSpPr>
          <p:cNvPr id="233" name="Shape 218"/>
          <p:cNvSpPr/>
          <p:nvPr/>
        </p:nvSpPr>
        <p:spPr>
          <a:xfrm>
            <a:off x="5109807" y="3455670"/>
            <a:ext cx="3721060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34" name="Shape 219"/>
          <p:cNvSpPr/>
          <p:nvPr/>
        </p:nvSpPr>
        <p:spPr>
          <a:xfrm>
            <a:off x="5109807" y="3769995"/>
            <a:ext cx="372106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5" name="Text 220"/>
          <p:cNvSpPr/>
          <p:nvPr/>
        </p:nvSpPr>
        <p:spPr>
          <a:xfrm>
            <a:off x="5186007" y="3512820"/>
            <a:ext cx="36802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ListBuckets on org root</a:t>
            </a:r>
            <a:endParaRPr lang="en-US" sz="900" dirty="0"/>
          </a:p>
        </p:txBody>
      </p:sp>
      <p:sp>
        <p:nvSpPr>
          <p:cNvPr id="236" name="Shape 221"/>
          <p:cNvSpPr/>
          <p:nvPr/>
        </p:nvSpPr>
        <p:spPr>
          <a:xfrm>
            <a:off x="8830866" y="3455670"/>
            <a:ext cx="127706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37" name="Shape 222"/>
          <p:cNvSpPr/>
          <p:nvPr/>
        </p:nvSpPr>
        <p:spPr>
          <a:xfrm>
            <a:off x="8830866" y="3769995"/>
            <a:ext cx="12770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8" name="Text 223"/>
          <p:cNvSpPr/>
          <p:nvPr/>
        </p:nvSpPr>
        <p:spPr>
          <a:xfrm>
            <a:off x="8907066" y="3512820"/>
            <a:ext cx="12008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CloudTrail</a:t>
            </a:r>
            <a:endParaRPr lang="en-US" sz="900" dirty="0"/>
          </a:p>
        </p:txBody>
      </p:sp>
      <p:sp>
        <p:nvSpPr>
          <p:cNvPr id="239" name="Shape 224"/>
          <p:cNvSpPr/>
          <p:nvPr/>
        </p:nvSpPr>
        <p:spPr>
          <a:xfrm>
            <a:off x="712470" y="3777615"/>
            <a:ext cx="3130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40" name="Shape 225"/>
          <p:cNvSpPr/>
          <p:nvPr/>
        </p:nvSpPr>
        <p:spPr>
          <a:xfrm>
            <a:off x="712470" y="4091940"/>
            <a:ext cx="3130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1" name="Text 226"/>
          <p:cNvSpPr/>
          <p:nvPr/>
        </p:nvSpPr>
        <p:spPr>
          <a:xfrm>
            <a:off x="788670" y="3834765"/>
            <a:ext cx="2368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900" dirty="0"/>
          </a:p>
        </p:txBody>
      </p:sp>
      <p:sp>
        <p:nvSpPr>
          <p:cNvPr id="242" name="Shape 227"/>
          <p:cNvSpPr/>
          <p:nvPr/>
        </p:nvSpPr>
        <p:spPr>
          <a:xfrm>
            <a:off x="1025486" y="3777615"/>
            <a:ext cx="1041678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43" name="Shape 228"/>
          <p:cNvSpPr/>
          <p:nvPr/>
        </p:nvSpPr>
        <p:spPr>
          <a:xfrm>
            <a:off x="1025486" y="4091940"/>
            <a:ext cx="104167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4" name="Shape 229"/>
          <p:cNvSpPr/>
          <p:nvPr/>
        </p:nvSpPr>
        <p:spPr>
          <a:xfrm>
            <a:off x="1101686" y="3838575"/>
            <a:ext cx="531257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245" name="Shape 230"/>
          <p:cNvSpPr/>
          <p:nvPr/>
        </p:nvSpPr>
        <p:spPr>
          <a:xfrm>
            <a:off x="1175982" y="391001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46" name="Text 231"/>
          <p:cNvSpPr/>
          <p:nvPr/>
        </p:nvSpPr>
        <p:spPr>
          <a:xfrm>
            <a:off x="1271232" y="3872865"/>
            <a:ext cx="36361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825" dirty="0"/>
          </a:p>
        </p:txBody>
      </p:sp>
      <p:sp>
        <p:nvSpPr>
          <p:cNvPr id="247" name="Shape 232"/>
          <p:cNvSpPr/>
          <p:nvPr/>
        </p:nvSpPr>
        <p:spPr>
          <a:xfrm>
            <a:off x="2067165" y="3777615"/>
            <a:ext cx="1210032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48" name="Shape 233"/>
          <p:cNvSpPr/>
          <p:nvPr/>
        </p:nvSpPr>
        <p:spPr>
          <a:xfrm>
            <a:off x="2067165" y="4091940"/>
            <a:ext cx="121003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9" name="Text 234"/>
          <p:cNvSpPr/>
          <p:nvPr/>
        </p:nvSpPr>
        <p:spPr>
          <a:xfrm>
            <a:off x="2143365" y="3834765"/>
            <a:ext cx="11338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ct_5b22…</a:t>
            </a:r>
            <a:endParaRPr lang="en-US" sz="825" dirty="0"/>
          </a:p>
        </p:txBody>
      </p:sp>
      <p:sp>
        <p:nvSpPr>
          <p:cNvPr id="250" name="Shape 235"/>
          <p:cNvSpPr/>
          <p:nvPr/>
        </p:nvSpPr>
        <p:spPr>
          <a:xfrm>
            <a:off x="3277195" y="3777615"/>
            <a:ext cx="87439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51" name="Shape 236"/>
          <p:cNvSpPr/>
          <p:nvPr/>
        </p:nvSpPr>
        <p:spPr>
          <a:xfrm>
            <a:off x="3277195" y="4091940"/>
            <a:ext cx="87439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2" name="Text 237"/>
          <p:cNvSpPr/>
          <p:nvPr/>
        </p:nvSpPr>
        <p:spPr>
          <a:xfrm>
            <a:off x="3353395" y="3834765"/>
            <a:ext cx="7981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13:26:02</a:t>
            </a:r>
            <a:endParaRPr lang="en-US" sz="825" dirty="0"/>
          </a:p>
        </p:txBody>
      </p:sp>
      <p:sp>
        <p:nvSpPr>
          <p:cNvPr id="253" name="Shape 238"/>
          <p:cNvSpPr/>
          <p:nvPr/>
        </p:nvSpPr>
        <p:spPr>
          <a:xfrm>
            <a:off x="4151591" y="3777615"/>
            <a:ext cx="9582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54" name="Shape 239"/>
          <p:cNvSpPr/>
          <p:nvPr/>
        </p:nvSpPr>
        <p:spPr>
          <a:xfrm>
            <a:off x="4151591" y="4091940"/>
            <a:ext cx="9582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5" name="Text 240"/>
          <p:cNvSpPr/>
          <p:nvPr/>
        </p:nvSpPr>
        <p:spPr>
          <a:xfrm>
            <a:off x="4227791" y="3834765"/>
            <a:ext cx="8820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 xZ91</a:t>
            </a:r>
            <a:endParaRPr lang="en-US" sz="825" dirty="0"/>
          </a:p>
        </p:txBody>
      </p:sp>
      <p:sp>
        <p:nvSpPr>
          <p:cNvPr id="256" name="Shape 241"/>
          <p:cNvSpPr/>
          <p:nvPr/>
        </p:nvSpPr>
        <p:spPr>
          <a:xfrm>
            <a:off x="5109807" y="3777615"/>
            <a:ext cx="3721060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57" name="Shape 242"/>
          <p:cNvSpPr/>
          <p:nvPr/>
        </p:nvSpPr>
        <p:spPr>
          <a:xfrm>
            <a:off x="5109807" y="4091940"/>
            <a:ext cx="372106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8" name="Text 243"/>
          <p:cNvSpPr/>
          <p:nvPr/>
        </p:nvSpPr>
        <p:spPr>
          <a:xfrm>
            <a:off x="5186007" y="3834765"/>
            <a:ext cx="36802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GetBucketPolicy acme-finance-bkt</a:t>
            </a:r>
            <a:endParaRPr lang="en-US" sz="900" dirty="0"/>
          </a:p>
        </p:txBody>
      </p:sp>
      <p:sp>
        <p:nvSpPr>
          <p:cNvPr id="259" name="Shape 244"/>
          <p:cNvSpPr/>
          <p:nvPr/>
        </p:nvSpPr>
        <p:spPr>
          <a:xfrm>
            <a:off x="8830866" y="3777615"/>
            <a:ext cx="127706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60" name="Shape 245"/>
          <p:cNvSpPr/>
          <p:nvPr/>
        </p:nvSpPr>
        <p:spPr>
          <a:xfrm>
            <a:off x="8830866" y="4091940"/>
            <a:ext cx="12770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1" name="Text 246"/>
          <p:cNvSpPr/>
          <p:nvPr/>
        </p:nvSpPr>
        <p:spPr>
          <a:xfrm>
            <a:off x="8907066" y="3834765"/>
            <a:ext cx="12008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CloudTrail</a:t>
            </a:r>
            <a:endParaRPr lang="en-US" sz="900" dirty="0"/>
          </a:p>
        </p:txBody>
      </p:sp>
      <p:sp>
        <p:nvSpPr>
          <p:cNvPr id="262" name="Shape 247"/>
          <p:cNvSpPr/>
          <p:nvPr/>
        </p:nvSpPr>
        <p:spPr>
          <a:xfrm>
            <a:off x="712470" y="4099560"/>
            <a:ext cx="3130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63" name="Shape 248"/>
          <p:cNvSpPr/>
          <p:nvPr/>
        </p:nvSpPr>
        <p:spPr>
          <a:xfrm>
            <a:off x="712470" y="4413885"/>
            <a:ext cx="3130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4" name="Text 249"/>
          <p:cNvSpPr/>
          <p:nvPr/>
        </p:nvSpPr>
        <p:spPr>
          <a:xfrm>
            <a:off x="788670" y="4156710"/>
            <a:ext cx="2368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900" dirty="0"/>
          </a:p>
        </p:txBody>
      </p:sp>
      <p:sp>
        <p:nvSpPr>
          <p:cNvPr id="265" name="Shape 250"/>
          <p:cNvSpPr/>
          <p:nvPr/>
        </p:nvSpPr>
        <p:spPr>
          <a:xfrm>
            <a:off x="1025486" y="4099560"/>
            <a:ext cx="1041678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66" name="Shape 251"/>
          <p:cNvSpPr/>
          <p:nvPr/>
        </p:nvSpPr>
        <p:spPr>
          <a:xfrm>
            <a:off x="1025486" y="4413885"/>
            <a:ext cx="104167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7" name="Shape 252"/>
          <p:cNvSpPr/>
          <p:nvPr/>
        </p:nvSpPr>
        <p:spPr>
          <a:xfrm>
            <a:off x="1101686" y="4160520"/>
            <a:ext cx="531257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268" name="Shape 253"/>
          <p:cNvSpPr/>
          <p:nvPr/>
        </p:nvSpPr>
        <p:spPr>
          <a:xfrm>
            <a:off x="1175982" y="423195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69" name="Text 254"/>
          <p:cNvSpPr/>
          <p:nvPr/>
        </p:nvSpPr>
        <p:spPr>
          <a:xfrm>
            <a:off x="1271232" y="4194810"/>
            <a:ext cx="36361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825" dirty="0"/>
          </a:p>
        </p:txBody>
      </p:sp>
      <p:sp>
        <p:nvSpPr>
          <p:cNvPr id="270" name="Shape 255"/>
          <p:cNvSpPr/>
          <p:nvPr/>
        </p:nvSpPr>
        <p:spPr>
          <a:xfrm>
            <a:off x="2067165" y="4099560"/>
            <a:ext cx="1210032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71" name="Shape 256"/>
          <p:cNvSpPr/>
          <p:nvPr/>
        </p:nvSpPr>
        <p:spPr>
          <a:xfrm>
            <a:off x="2067165" y="4413885"/>
            <a:ext cx="121003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2" name="Text 257"/>
          <p:cNvSpPr/>
          <p:nvPr/>
        </p:nvSpPr>
        <p:spPr>
          <a:xfrm>
            <a:off x="2143365" y="4156710"/>
            <a:ext cx="11338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ct_6c33…</a:t>
            </a:r>
            <a:endParaRPr lang="en-US" sz="825" dirty="0"/>
          </a:p>
        </p:txBody>
      </p:sp>
      <p:sp>
        <p:nvSpPr>
          <p:cNvPr id="273" name="Shape 258"/>
          <p:cNvSpPr/>
          <p:nvPr/>
        </p:nvSpPr>
        <p:spPr>
          <a:xfrm>
            <a:off x="3277195" y="4099560"/>
            <a:ext cx="87439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74" name="Shape 259"/>
          <p:cNvSpPr/>
          <p:nvPr/>
        </p:nvSpPr>
        <p:spPr>
          <a:xfrm>
            <a:off x="3277195" y="4413885"/>
            <a:ext cx="87439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5" name="Text 260"/>
          <p:cNvSpPr/>
          <p:nvPr/>
        </p:nvSpPr>
        <p:spPr>
          <a:xfrm>
            <a:off x="3353395" y="4156710"/>
            <a:ext cx="7981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13:31:00</a:t>
            </a:r>
            <a:endParaRPr lang="en-US" sz="825" dirty="0"/>
          </a:p>
        </p:txBody>
      </p:sp>
      <p:sp>
        <p:nvSpPr>
          <p:cNvPr id="276" name="Shape 261"/>
          <p:cNvSpPr/>
          <p:nvPr/>
        </p:nvSpPr>
        <p:spPr>
          <a:xfrm>
            <a:off x="4151591" y="4099560"/>
            <a:ext cx="9582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77" name="Shape 262"/>
          <p:cNvSpPr/>
          <p:nvPr/>
        </p:nvSpPr>
        <p:spPr>
          <a:xfrm>
            <a:off x="4151591" y="4413885"/>
            <a:ext cx="9582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8" name="Text 263"/>
          <p:cNvSpPr/>
          <p:nvPr/>
        </p:nvSpPr>
        <p:spPr>
          <a:xfrm>
            <a:off x="4227791" y="4156710"/>
            <a:ext cx="8820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 xZ91</a:t>
            </a:r>
            <a:endParaRPr lang="en-US" sz="825" dirty="0"/>
          </a:p>
        </p:txBody>
      </p:sp>
      <p:sp>
        <p:nvSpPr>
          <p:cNvPr id="279" name="Shape 264"/>
          <p:cNvSpPr/>
          <p:nvPr/>
        </p:nvSpPr>
        <p:spPr>
          <a:xfrm>
            <a:off x="5109807" y="4099560"/>
            <a:ext cx="3721060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80" name="Shape 265"/>
          <p:cNvSpPr/>
          <p:nvPr/>
        </p:nvSpPr>
        <p:spPr>
          <a:xfrm>
            <a:off x="5109807" y="4413885"/>
            <a:ext cx="372106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1" name="Text 266"/>
          <p:cNvSpPr/>
          <p:nvPr/>
        </p:nvSpPr>
        <p:spPr>
          <a:xfrm>
            <a:off x="5186007" y="4156710"/>
            <a:ext cx="36802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GetObject ×1,402 · 1.2 GB</a:t>
            </a:r>
            <a:endParaRPr lang="en-US" sz="900" dirty="0"/>
          </a:p>
        </p:txBody>
      </p:sp>
      <p:sp>
        <p:nvSpPr>
          <p:cNvPr id="282" name="Shape 267"/>
          <p:cNvSpPr/>
          <p:nvPr/>
        </p:nvSpPr>
        <p:spPr>
          <a:xfrm>
            <a:off x="8830866" y="4099560"/>
            <a:ext cx="127706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83" name="Shape 268"/>
          <p:cNvSpPr/>
          <p:nvPr/>
        </p:nvSpPr>
        <p:spPr>
          <a:xfrm>
            <a:off x="8830866" y="4413885"/>
            <a:ext cx="12770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4" name="Text 269"/>
          <p:cNvSpPr/>
          <p:nvPr/>
        </p:nvSpPr>
        <p:spPr>
          <a:xfrm>
            <a:off x="8907066" y="4156710"/>
            <a:ext cx="12008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CloudTrail</a:t>
            </a:r>
            <a:endParaRPr lang="en-US" sz="900" dirty="0"/>
          </a:p>
        </p:txBody>
      </p:sp>
      <p:sp>
        <p:nvSpPr>
          <p:cNvPr id="285" name="Shape 270"/>
          <p:cNvSpPr/>
          <p:nvPr/>
        </p:nvSpPr>
        <p:spPr>
          <a:xfrm>
            <a:off x="712470" y="4421505"/>
            <a:ext cx="3130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86" name="Shape 271"/>
          <p:cNvSpPr/>
          <p:nvPr/>
        </p:nvSpPr>
        <p:spPr>
          <a:xfrm>
            <a:off x="712470" y="4735830"/>
            <a:ext cx="3130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7" name="Text 272"/>
          <p:cNvSpPr/>
          <p:nvPr/>
        </p:nvSpPr>
        <p:spPr>
          <a:xfrm>
            <a:off x="788670" y="4478655"/>
            <a:ext cx="2368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900" dirty="0"/>
          </a:p>
        </p:txBody>
      </p:sp>
      <p:sp>
        <p:nvSpPr>
          <p:cNvPr id="288" name="Shape 273"/>
          <p:cNvSpPr/>
          <p:nvPr/>
        </p:nvSpPr>
        <p:spPr>
          <a:xfrm>
            <a:off x="1025486" y="4421505"/>
            <a:ext cx="1041678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89" name="Shape 274"/>
          <p:cNvSpPr/>
          <p:nvPr/>
        </p:nvSpPr>
        <p:spPr>
          <a:xfrm>
            <a:off x="1025486" y="4735830"/>
            <a:ext cx="104167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0" name="Shape 275"/>
          <p:cNvSpPr/>
          <p:nvPr/>
        </p:nvSpPr>
        <p:spPr>
          <a:xfrm>
            <a:off x="1101686" y="4482465"/>
            <a:ext cx="62841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91" name="Shape 276"/>
          <p:cNvSpPr/>
          <p:nvPr/>
        </p:nvSpPr>
        <p:spPr>
          <a:xfrm>
            <a:off x="1175982" y="455390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92" name="Text 277"/>
          <p:cNvSpPr/>
          <p:nvPr/>
        </p:nvSpPr>
        <p:spPr>
          <a:xfrm>
            <a:off x="1271232" y="4516755"/>
            <a:ext cx="4607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825" dirty="0"/>
          </a:p>
        </p:txBody>
      </p:sp>
      <p:sp>
        <p:nvSpPr>
          <p:cNvPr id="293" name="Shape 278"/>
          <p:cNvSpPr/>
          <p:nvPr/>
        </p:nvSpPr>
        <p:spPr>
          <a:xfrm>
            <a:off x="2067165" y="4421505"/>
            <a:ext cx="1210032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94" name="Shape 279"/>
          <p:cNvSpPr/>
          <p:nvPr/>
        </p:nvSpPr>
        <p:spPr>
          <a:xfrm>
            <a:off x="2067165" y="4735830"/>
            <a:ext cx="121003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5" name="Text 280"/>
          <p:cNvSpPr/>
          <p:nvPr/>
        </p:nvSpPr>
        <p:spPr>
          <a:xfrm>
            <a:off x="2143365" y="4478655"/>
            <a:ext cx="11338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kc_91…</a:t>
            </a:r>
            <a:endParaRPr lang="en-US" sz="825" dirty="0"/>
          </a:p>
        </p:txBody>
      </p:sp>
      <p:sp>
        <p:nvSpPr>
          <p:cNvPr id="296" name="Shape 281"/>
          <p:cNvSpPr/>
          <p:nvPr/>
        </p:nvSpPr>
        <p:spPr>
          <a:xfrm>
            <a:off x="3277195" y="4421505"/>
            <a:ext cx="87439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97" name="Shape 282"/>
          <p:cNvSpPr/>
          <p:nvPr/>
        </p:nvSpPr>
        <p:spPr>
          <a:xfrm>
            <a:off x="3277195" y="4735830"/>
            <a:ext cx="87439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8" name="Text 283"/>
          <p:cNvSpPr/>
          <p:nvPr/>
        </p:nvSpPr>
        <p:spPr>
          <a:xfrm>
            <a:off x="3353395" y="4478655"/>
            <a:ext cx="7981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13:31:55</a:t>
            </a:r>
            <a:endParaRPr lang="en-US" sz="825" dirty="0"/>
          </a:p>
        </p:txBody>
      </p:sp>
      <p:sp>
        <p:nvSpPr>
          <p:cNvPr id="299" name="Shape 284"/>
          <p:cNvSpPr/>
          <p:nvPr/>
        </p:nvSpPr>
        <p:spPr>
          <a:xfrm>
            <a:off x="4151591" y="4421505"/>
            <a:ext cx="9582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00" name="Shape 285"/>
          <p:cNvSpPr/>
          <p:nvPr/>
        </p:nvSpPr>
        <p:spPr>
          <a:xfrm>
            <a:off x="4151591" y="4735830"/>
            <a:ext cx="9582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1" name="Text 286"/>
          <p:cNvSpPr/>
          <p:nvPr/>
        </p:nvSpPr>
        <p:spPr>
          <a:xfrm>
            <a:off x="4227791" y="4478655"/>
            <a:ext cx="8820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ana-3</a:t>
            </a:r>
            <a:endParaRPr lang="en-US" sz="825" dirty="0"/>
          </a:p>
        </p:txBody>
      </p:sp>
      <p:sp>
        <p:nvSpPr>
          <p:cNvPr id="302" name="Shape 287"/>
          <p:cNvSpPr/>
          <p:nvPr/>
        </p:nvSpPr>
        <p:spPr>
          <a:xfrm>
            <a:off x="5109807" y="4421505"/>
            <a:ext cx="3721060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03" name="Shape 288"/>
          <p:cNvSpPr/>
          <p:nvPr/>
        </p:nvSpPr>
        <p:spPr>
          <a:xfrm>
            <a:off x="5109807" y="4735830"/>
            <a:ext cx="372106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4" name="Text 289"/>
          <p:cNvSpPr/>
          <p:nvPr/>
        </p:nvSpPr>
        <p:spPr>
          <a:xfrm>
            <a:off x="5186007" y="4478655"/>
            <a:ext cx="36802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connect 198.51.x:443</a:t>
            </a:r>
            <a:endParaRPr lang="en-US" sz="900" dirty="0"/>
          </a:p>
        </p:txBody>
      </p:sp>
      <p:sp>
        <p:nvSpPr>
          <p:cNvPr id="305" name="Shape 290"/>
          <p:cNvSpPr/>
          <p:nvPr/>
        </p:nvSpPr>
        <p:spPr>
          <a:xfrm>
            <a:off x="8830866" y="4421505"/>
            <a:ext cx="127706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06" name="Shape 291"/>
          <p:cNvSpPr/>
          <p:nvPr/>
        </p:nvSpPr>
        <p:spPr>
          <a:xfrm>
            <a:off x="8830866" y="4735830"/>
            <a:ext cx="12770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7" name="Text 292"/>
          <p:cNvSpPr/>
          <p:nvPr/>
        </p:nvSpPr>
        <p:spPr>
          <a:xfrm>
            <a:off x="8907066" y="4478655"/>
            <a:ext cx="12008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KubeArmor</a:t>
            </a:r>
            <a:endParaRPr lang="en-US" sz="900" dirty="0"/>
          </a:p>
        </p:txBody>
      </p:sp>
      <p:sp>
        <p:nvSpPr>
          <p:cNvPr id="308" name="Shape 293"/>
          <p:cNvSpPr/>
          <p:nvPr/>
        </p:nvSpPr>
        <p:spPr>
          <a:xfrm>
            <a:off x="712470" y="4743450"/>
            <a:ext cx="3130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09" name="Shape 294"/>
          <p:cNvSpPr/>
          <p:nvPr/>
        </p:nvSpPr>
        <p:spPr>
          <a:xfrm>
            <a:off x="712470" y="5057775"/>
            <a:ext cx="3130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0" name="Text 295"/>
          <p:cNvSpPr/>
          <p:nvPr/>
        </p:nvSpPr>
        <p:spPr>
          <a:xfrm>
            <a:off x="788670" y="4800600"/>
            <a:ext cx="2368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900" dirty="0"/>
          </a:p>
        </p:txBody>
      </p:sp>
      <p:sp>
        <p:nvSpPr>
          <p:cNvPr id="311" name="Shape 296"/>
          <p:cNvSpPr/>
          <p:nvPr/>
        </p:nvSpPr>
        <p:spPr>
          <a:xfrm>
            <a:off x="1025486" y="4743450"/>
            <a:ext cx="1041678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12" name="Shape 297"/>
          <p:cNvSpPr/>
          <p:nvPr/>
        </p:nvSpPr>
        <p:spPr>
          <a:xfrm>
            <a:off x="1025486" y="5057775"/>
            <a:ext cx="104167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3" name="Shape 298"/>
          <p:cNvSpPr/>
          <p:nvPr/>
        </p:nvSpPr>
        <p:spPr>
          <a:xfrm>
            <a:off x="1101686" y="4804410"/>
            <a:ext cx="62841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14" name="Shape 299"/>
          <p:cNvSpPr/>
          <p:nvPr/>
        </p:nvSpPr>
        <p:spPr>
          <a:xfrm>
            <a:off x="1175982" y="487584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15" name="Text 300"/>
          <p:cNvSpPr/>
          <p:nvPr/>
        </p:nvSpPr>
        <p:spPr>
          <a:xfrm>
            <a:off x="1271232" y="4838700"/>
            <a:ext cx="4607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825" dirty="0"/>
          </a:p>
        </p:txBody>
      </p:sp>
      <p:sp>
        <p:nvSpPr>
          <p:cNvPr id="316" name="Shape 301"/>
          <p:cNvSpPr/>
          <p:nvPr/>
        </p:nvSpPr>
        <p:spPr>
          <a:xfrm>
            <a:off x="2067165" y="4743450"/>
            <a:ext cx="1210032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17" name="Shape 302"/>
          <p:cNvSpPr/>
          <p:nvPr/>
        </p:nvSpPr>
        <p:spPr>
          <a:xfrm>
            <a:off x="2067165" y="5057775"/>
            <a:ext cx="121003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8" name="Text 303"/>
          <p:cNvSpPr/>
          <p:nvPr/>
        </p:nvSpPr>
        <p:spPr>
          <a:xfrm>
            <a:off x="2143365" y="4800600"/>
            <a:ext cx="11338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kc_92…</a:t>
            </a:r>
            <a:endParaRPr lang="en-US" sz="825" dirty="0"/>
          </a:p>
        </p:txBody>
      </p:sp>
      <p:sp>
        <p:nvSpPr>
          <p:cNvPr id="319" name="Shape 304"/>
          <p:cNvSpPr/>
          <p:nvPr/>
        </p:nvSpPr>
        <p:spPr>
          <a:xfrm>
            <a:off x="3277195" y="4743450"/>
            <a:ext cx="87439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20" name="Shape 305"/>
          <p:cNvSpPr/>
          <p:nvPr/>
        </p:nvSpPr>
        <p:spPr>
          <a:xfrm>
            <a:off x="3277195" y="5057775"/>
            <a:ext cx="87439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1" name="Text 306"/>
          <p:cNvSpPr/>
          <p:nvPr/>
        </p:nvSpPr>
        <p:spPr>
          <a:xfrm>
            <a:off x="3353395" y="4800600"/>
            <a:ext cx="7981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13:32:00</a:t>
            </a:r>
            <a:endParaRPr lang="en-US" sz="825" dirty="0"/>
          </a:p>
        </p:txBody>
      </p:sp>
      <p:sp>
        <p:nvSpPr>
          <p:cNvPr id="322" name="Shape 307"/>
          <p:cNvSpPr/>
          <p:nvPr/>
        </p:nvSpPr>
        <p:spPr>
          <a:xfrm>
            <a:off x="4151591" y="4743450"/>
            <a:ext cx="9582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23" name="Shape 308"/>
          <p:cNvSpPr/>
          <p:nvPr/>
        </p:nvSpPr>
        <p:spPr>
          <a:xfrm>
            <a:off x="4151591" y="5057775"/>
            <a:ext cx="9582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4" name="Text 309"/>
          <p:cNvSpPr/>
          <p:nvPr/>
        </p:nvSpPr>
        <p:spPr>
          <a:xfrm>
            <a:off x="4227791" y="4800600"/>
            <a:ext cx="8820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ana-3</a:t>
            </a:r>
            <a:endParaRPr lang="en-US" sz="825" dirty="0"/>
          </a:p>
        </p:txBody>
      </p:sp>
      <p:sp>
        <p:nvSpPr>
          <p:cNvPr id="325" name="Shape 310"/>
          <p:cNvSpPr/>
          <p:nvPr/>
        </p:nvSpPr>
        <p:spPr>
          <a:xfrm>
            <a:off x="5109807" y="4743450"/>
            <a:ext cx="3721060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26" name="Shape 311"/>
          <p:cNvSpPr/>
          <p:nvPr/>
        </p:nvSpPr>
        <p:spPr>
          <a:xfrm>
            <a:off x="5109807" y="5057775"/>
            <a:ext cx="372106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7" name="Text 312"/>
          <p:cNvSpPr/>
          <p:nvPr/>
        </p:nvSpPr>
        <p:spPr>
          <a:xfrm>
            <a:off x="5186007" y="4800600"/>
            <a:ext cx="36802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blocked at socket() · policy kc-fin-egress.v3</a:t>
            </a:r>
            <a:endParaRPr lang="en-US" sz="900" dirty="0"/>
          </a:p>
        </p:txBody>
      </p:sp>
      <p:sp>
        <p:nvSpPr>
          <p:cNvPr id="328" name="Shape 313"/>
          <p:cNvSpPr/>
          <p:nvPr/>
        </p:nvSpPr>
        <p:spPr>
          <a:xfrm>
            <a:off x="8830866" y="4743450"/>
            <a:ext cx="127706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29" name="Shape 314"/>
          <p:cNvSpPr/>
          <p:nvPr/>
        </p:nvSpPr>
        <p:spPr>
          <a:xfrm>
            <a:off x="8830866" y="5057775"/>
            <a:ext cx="12770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0" name="Text 315"/>
          <p:cNvSpPr/>
          <p:nvPr/>
        </p:nvSpPr>
        <p:spPr>
          <a:xfrm>
            <a:off x="8907066" y="4800600"/>
            <a:ext cx="12008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KubeArmor</a:t>
            </a:r>
            <a:endParaRPr lang="en-US" sz="900" dirty="0"/>
          </a:p>
        </p:txBody>
      </p:sp>
      <p:sp>
        <p:nvSpPr>
          <p:cNvPr id="331" name="Shape 316"/>
          <p:cNvSpPr/>
          <p:nvPr/>
        </p:nvSpPr>
        <p:spPr>
          <a:xfrm>
            <a:off x="1101686" y="5126355"/>
            <a:ext cx="410528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32" name="Shape 317"/>
          <p:cNvSpPr/>
          <p:nvPr/>
        </p:nvSpPr>
        <p:spPr>
          <a:xfrm>
            <a:off x="1175982" y="519779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333" name="Text 318"/>
          <p:cNvSpPr/>
          <p:nvPr/>
        </p:nvSpPr>
        <p:spPr>
          <a:xfrm>
            <a:off x="1271232" y="5160645"/>
            <a:ext cx="24288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endParaRPr lang="en-US" sz="825" dirty="0"/>
          </a:p>
        </p:txBody>
      </p:sp>
      <p:sp>
        <p:nvSpPr>
          <p:cNvPr id="334" name="Text 319"/>
          <p:cNvSpPr/>
          <p:nvPr/>
        </p:nvSpPr>
        <p:spPr>
          <a:xfrm>
            <a:off x="2143365" y="5122545"/>
            <a:ext cx="1133832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fw_8…</a:t>
            </a:r>
            <a:endParaRPr lang="en-US" sz="825" dirty="0"/>
          </a:p>
        </p:txBody>
      </p:sp>
      <p:sp>
        <p:nvSpPr>
          <p:cNvPr id="335" name="Text 320"/>
          <p:cNvSpPr/>
          <p:nvPr/>
        </p:nvSpPr>
        <p:spPr>
          <a:xfrm>
            <a:off x="3353395" y="5122545"/>
            <a:ext cx="798195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13:32:01</a:t>
            </a:r>
            <a:endParaRPr lang="en-US" sz="825" dirty="0"/>
          </a:p>
        </p:txBody>
      </p:sp>
      <p:sp>
        <p:nvSpPr>
          <p:cNvPr id="336" name="Text 321"/>
          <p:cNvSpPr/>
          <p:nvPr/>
        </p:nvSpPr>
        <p:spPr>
          <a:xfrm>
            <a:off x="4227791" y="5122545"/>
            <a:ext cx="882015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edge-fw</a:t>
            </a:r>
            <a:endParaRPr lang="en-US" sz="825" dirty="0"/>
          </a:p>
        </p:txBody>
      </p:sp>
      <p:sp>
        <p:nvSpPr>
          <p:cNvPr id="337" name="Text 322"/>
          <p:cNvSpPr/>
          <p:nvPr/>
        </p:nvSpPr>
        <p:spPr>
          <a:xfrm>
            <a:off x="5186007" y="5122545"/>
            <a:ext cx="3680292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bytes egressed · drop</a:t>
            </a:r>
            <a:endParaRPr lang="en-US" sz="900" dirty="0"/>
          </a:p>
        </p:txBody>
      </p:sp>
      <p:sp>
        <p:nvSpPr>
          <p:cNvPr id="338" name="Text 323"/>
          <p:cNvSpPr/>
          <p:nvPr/>
        </p:nvSpPr>
        <p:spPr>
          <a:xfrm>
            <a:off x="8907066" y="5122545"/>
            <a:ext cx="1200864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PaloAlto</a:t>
            </a:r>
            <a:endParaRPr lang="en-US" sz="900" dirty="0"/>
          </a:p>
        </p:txBody>
      </p:sp>
      <p:sp>
        <p:nvSpPr>
          <p:cNvPr id="339" name="Text 324"/>
          <p:cNvSpPr/>
          <p:nvPr/>
        </p:nvSpPr>
        <p:spPr>
          <a:xfrm>
            <a:off x="666750" y="6188393"/>
            <a:ext cx="321866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= used in verdict reasoning · click any row to drill to raw event.</a:t>
            </a:r>
            <a:endParaRPr lang="en-US" sz="863" dirty="0"/>
          </a:p>
        </p:txBody>
      </p:sp>
      <p:sp>
        <p:nvSpPr>
          <p:cNvPr id="340" name="Shape 325"/>
          <p:cNvSpPr/>
          <p:nvPr/>
        </p:nvSpPr>
        <p:spPr>
          <a:xfrm>
            <a:off x="8081009" y="5995988"/>
            <a:ext cx="2072640" cy="538163"/>
          </a:xfrm>
          <a:prstGeom prst="roundRect">
            <a:avLst>
              <a:gd name="adj" fmla="val 708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341" name="Text 326"/>
          <p:cNvSpPr/>
          <p:nvPr/>
        </p:nvSpPr>
        <p:spPr>
          <a:xfrm>
            <a:off x="8164829" y="6060758"/>
            <a:ext cx="1981200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data doesn't exist, the agent SAYS so. never fabricated.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1" y="12382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681401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#4129 · Entities tab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367200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475193" y="144780"/>
            <a:ext cx="99762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touched what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549016" y="74295"/>
            <a:ext cx="3941921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1884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823334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59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5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193524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&amp; identity graph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100292" y="616268"/>
            <a:ext cx="71449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7174590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0" name="Text 25"/>
          <p:cNvSpPr/>
          <p:nvPr/>
        </p:nvSpPr>
        <p:spPr>
          <a:xfrm>
            <a:off x="7269840" y="642938"/>
            <a:ext cx="54685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identities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7871938" y="616268"/>
            <a:ext cx="570548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7946231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3" name="Text 28"/>
          <p:cNvSpPr/>
          <p:nvPr/>
        </p:nvSpPr>
        <p:spPr>
          <a:xfrm>
            <a:off x="8041481" y="642938"/>
            <a:ext cx="40290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8499635" y="616268"/>
            <a:ext cx="61650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8573928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6" name="Text 31"/>
          <p:cNvSpPr/>
          <p:nvPr/>
        </p:nvSpPr>
        <p:spPr>
          <a:xfrm>
            <a:off x="8669178" y="642938"/>
            <a:ext cx="44886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825" dirty="0"/>
          </a:p>
        </p:txBody>
      </p:sp>
      <p:sp>
        <p:nvSpPr>
          <p:cNvPr id="47" name="Shape 32"/>
          <p:cNvSpPr/>
          <p:nvPr/>
        </p:nvSpPr>
        <p:spPr>
          <a:xfrm>
            <a:off x="9173291" y="590550"/>
            <a:ext cx="980361" cy="25146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8" name="Text 33"/>
          <p:cNvSpPr/>
          <p:nvPr/>
        </p:nvSpPr>
        <p:spPr>
          <a:xfrm>
            <a:off x="9276159" y="636270"/>
            <a:ext cx="85082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on user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666750" y="937260"/>
            <a:ext cx="6705600" cy="5596890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0" name="Shape 35"/>
          <p:cNvSpPr/>
          <p:nvPr/>
        </p:nvSpPr>
        <p:spPr>
          <a:xfrm rot="-8294382">
            <a:off x="1900507" y="2928020"/>
            <a:ext cx="242887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Shape 36"/>
          <p:cNvSpPr/>
          <p:nvPr/>
        </p:nvSpPr>
        <p:spPr>
          <a:xfrm rot="-2700000">
            <a:off x="3643058" y="2831084"/>
            <a:ext cx="256222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37"/>
          <p:cNvSpPr/>
          <p:nvPr/>
        </p:nvSpPr>
        <p:spPr>
          <a:xfrm rot="8859153">
            <a:off x="1594802" y="3453827"/>
            <a:ext cx="45910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38"/>
          <p:cNvSpPr/>
          <p:nvPr/>
        </p:nvSpPr>
        <p:spPr>
          <a:xfrm rot="1506890">
            <a:off x="3910414" y="4220327"/>
            <a:ext cx="22860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Shape 39"/>
          <p:cNvSpPr/>
          <p:nvPr/>
        </p:nvSpPr>
        <p:spPr>
          <a:xfrm rot="8803508">
            <a:off x="3815216" y="5222837"/>
            <a:ext cx="24765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Shape 40"/>
          <p:cNvSpPr/>
          <p:nvPr/>
        </p:nvSpPr>
        <p:spPr>
          <a:xfrm rot="9834550">
            <a:off x="2659423" y="5029007"/>
            <a:ext cx="349567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Shape 41"/>
          <p:cNvSpPr/>
          <p:nvPr/>
        </p:nvSpPr>
        <p:spPr>
          <a:xfrm rot="8100000">
            <a:off x="4761807" y="5093591"/>
            <a:ext cx="155257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42"/>
          <p:cNvSpPr/>
          <p:nvPr/>
        </p:nvSpPr>
        <p:spPr>
          <a:xfrm>
            <a:off x="4019550" y="3735705"/>
            <a:ext cx="258460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Shape 43"/>
          <p:cNvSpPr/>
          <p:nvPr/>
        </p:nvSpPr>
        <p:spPr>
          <a:xfrm rot="-10086682">
            <a:off x="1539305" y="3477240"/>
            <a:ext cx="250507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Shape 44"/>
          <p:cNvSpPr/>
          <p:nvPr/>
        </p:nvSpPr>
        <p:spPr>
          <a:xfrm rot="10800000">
            <a:off x="4666298" y="2226112"/>
            <a:ext cx="11620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Shape 45"/>
          <p:cNvSpPr/>
          <p:nvPr/>
        </p:nvSpPr>
        <p:spPr>
          <a:xfrm rot="-6295886">
            <a:off x="5458016" y="4059762"/>
            <a:ext cx="100012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Shape 46"/>
          <p:cNvSpPr/>
          <p:nvPr/>
        </p:nvSpPr>
        <p:spPr>
          <a:xfrm>
            <a:off x="3649982" y="3366135"/>
            <a:ext cx="739140" cy="73914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50800" dir="16200000">
              <a:srgbClr val="EF4444">
                <a:alpha val="15000"/>
              </a:srgbClr>
            </a:outerShdw>
          </a:effectLst>
        </p:spPr>
      </p:sp>
      <p:sp>
        <p:nvSpPr>
          <p:cNvPr id="62" name="Text 47"/>
          <p:cNvSpPr/>
          <p:nvPr/>
        </p:nvSpPr>
        <p:spPr>
          <a:xfrm>
            <a:off x="3657602" y="3411855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25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carlos.t</a:t>
            </a:r>
            <a:endParaRPr lang="en-US" sz="825" dirty="0"/>
          </a:p>
        </p:txBody>
      </p:sp>
      <p:sp>
        <p:nvSpPr>
          <p:cNvPr id="63" name="Shape 48"/>
          <p:cNvSpPr/>
          <p:nvPr/>
        </p:nvSpPr>
        <p:spPr>
          <a:xfrm>
            <a:off x="1935840" y="2113598"/>
            <a:ext cx="548640" cy="54864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50800" dir="16200000">
              <a:srgbClr val="EF4444">
                <a:alpha val="15000"/>
              </a:srgbClr>
            </a:outerShdw>
          </a:effectLst>
        </p:spPr>
      </p:sp>
      <p:sp>
        <p:nvSpPr>
          <p:cNvPr id="64" name="Text 49"/>
          <p:cNvSpPr/>
          <p:nvPr/>
        </p:nvSpPr>
        <p:spPr>
          <a:xfrm>
            <a:off x="1943460" y="215931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 · DocuSign</a:t>
            </a:r>
            <a:endParaRPr lang="en-US" sz="750" dirty="0"/>
          </a:p>
        </p:txBody>
      </p:sp>
      <p:sp>
        <p:nvSpPr>
          <p:cNvPr id="65" name="Shape 50"/>
          <p:cNvSpPr/>
          <p:nvPr/>
        </p:nvSpPr>
        <p:spPr>
          <a:xfrm>
            <a:off x="5554503" y="1951792"/>
            <a:ext cx="548640" cy="54864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50800" dir="16200000">
              <a:srgbClr val="EF4444">
                <a:alpha val="15000"/>
              </a:srgbClr>
            </a:outerShdw>
          </a:effectLst>
        </p:spPr>
      </p:sp>
      <p:sp>
        <p:nvSpPr>
          <p:cNvPr id="66" name="Text 51"/>
          <p:cNvSpPr/>
          <p:nvPr/>
        </p:nvSpPr>
        <p:spPr>
          <a:xfrm>
            <a:off x="5562123" y="199751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 · session xZ91</a:t>
            </a:r>
            <a:endParaRPr lang="en-US" sz="750" dirty="0"/>
          </a:p>
        </p:txBody>
      </p:sp>
      <p:sp>
        <p:nvSpPr>
          <p:cNvPr id="67" name="Shape 52"/>
          <p:cNvSpPr/>
          <p:nvPr/>
        </p:nvSpPr>
        <p:spPr>
          <a:xfrm>
            <a:off x="1677353" y="4000500"/>
            <a:ext cx="548640" cy="54864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50800" dir="16200000">
              <a:srgbClr val="EF4444">
                <a:alpha val="15000"/>
              </a:srgbClr>
            </a:outerShdw>
          </a:effectLst>
        </p:spPr>
      </p:sp>
      <p:sp>
        <p:nvSpPr>
          <p:cNvPr id="68" name="Text 53"/>
          <p:cNvSpPr/>
          <p:nvPr/>
        </p:nvSpPr>
        <p:spPr>
          <a:xfrm>
            <a:off x="1684973" y="404622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MOW · AS200000</a:t>
            </a:r>
            <a:endParaRPr lang="en-US" sz="750" dirty="0"/>
          </a:p>
        </p:txBody>
      </p:sp>
      <p:sp>
        <p:nvSpPr>
          <p:cNvPr id="69" name="Shape 54"/>
          <p:cNvSpPr/>
          <p:nvPr/>
        </p:nvSpPr>
        <p:spPr>
          <a:xfrm>
            <a:off x="5812989" y="4270058"/>
            <a:ext cx="548640" cy="548640"/>
          </a:xfrm>
          <a:prstGeom prst="ellipse">
            <a:avLst/>
          </a:prstGeom>
          <a:solidFill>
            <a:srgbClr val="FFFFFF"/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0" name="Text 55"/>
          <p:cNvSpPr/>
          <p:nvPr/>
        </p:nvSpPr>
        <p:spPr>
          <a:xfrm>
            <a:off x="5820609" y="431577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acme-finance-bkt</a:t>
            </a:r>
            <a:endParaRPr lang="en-US" sz="750" dirty="0"/>
          </a:p>
        </p:txBody>
      </p:sp>
      <p:sp>
        <p:nvSpPr>
          <p:cNvPr id="71" name="Shape 56"/>
          <p:cNvSpPr/>
          <p:nvPr/>
        </p:nvSpPr>
        <p:spPr>
          <a:xfrm>
            <a:off x="3811907" y="5468779"/>
            <a:ext cx="415290" cy="415290"/>
          </a:xfrm>
          <a:prstGeom prst="ellipse">
            <a:avLst/>
          </a:prstGeom>
          <a:solidFill>
            <a:srgbClr val="FFFFFF"/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2" name="Text 57"/>
          <p:cNvSpPr/>
          <p:nvPr/>
        </p:nvSpPr>
        <p:spPr>
          <a:xfrm>
            <a:off x="3819527" y="5514499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crown jewel · tax-ids</a:t>
            </a:r>
            <a:endParaRPr lang="en-US" sz="675" dirty="0"/>
          </a:p>
        </p:txBody>
      </p:sp>
      <p:sp>
        <p:nvSpPr>
          <p:cNvPr id="73" name="Shape 58"/>
          <p:cNvSpPr/>
          <p:nvPr/>
        </p:nvSpPr>
        <p:spPr>
          <a:xfrm>
            <a:off x="2519483" y="5145405"/>
            <a:ext cx="415290" cy="41529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4" name="Text 59"/>
          <p:cNvSpPr/>
          <p:nvPr/>
        </p:nvSpPr>
        <p:spPr>
          <a:xfrm>
            <a:off x="2527103" y="519112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marketing-bkt</a:t>
            </a:r>
            <a:endParaRPr lang="en-US" sz="675" dirty="0"/>
          </a:p>
        </p:txBody>
      </p:sp>
      <p:sp>
        <p:nvSpPr>
          <p:cNvPr id="75" name="Shape 60"/>
          <p:cNvSpPr/>
          <p:nvPr/>
        </p:nvSpPr>
        <p:spPr>
          <a:xfrm>
            <a:off x="4781076" y="5253157"/>
            <a:ext cx="415290" cy="41529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6" name="Text 61"/>
          <p:cNvSpPr/>
          <p:nvPr/>
        </p:nvSpPr>
        <p:spPr>
          <a:xfrm>
            <a:off x="4788696" y="5298877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snowflake.fin</a:t>
            </a:r>
            <a:endParaRPr lang="en-US" sz="675" dirty="0"/>
          </a:p>
        </p:txBody>
      </p:sp>
      <p:sp>
        <p:nvSpPr>
          <p:cNvPr id="77" name="Shape 62"/>
          <p:cNvSpPr/>
          <p:nvPr/>
        </p:nvSpPr>
        <p:spPr>
          <a:xfrm>
            <a:off x="6396517" y="3528060"/>
            <a:ext cx="415290" cy="41529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8" name="Text 63"/>
          <p:cNvSpPr/>
          <p:nvPr/>
        </p:nvSpPr>
        <p:spPr>
          <a:xfrm>
            <a:off x="6404137" y="357378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AdminRole</a:t>
            </a:r>
            <a:endParaRPr lang="en-US" sz="675" dirty="0"/>
          </a:p>
        </p:txBody>
      </p:sp>
      <p:sp>
        <p:nvSpPr>
          <p:cNvPr id="79" name="Shape 64"/>
          <p:cNvSpPr/>
          <p:nvPr/>
        </p:nvSpPr>
        <p:spPr>
          <a:xfrm>
            <a:off x="1356359" y="3096696"/>
            <a:ext cx="415290" cy="41529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0" name="Text 65"/>
          <p:cNvSpPr/>
          <p:nvPr/>
        </p:nvSpPr>
        <p:spPr>
          <a:xfrm>
            <a:off x="1363979" y="3142416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role</a:t>
            </a:r>
            <a:endParaRPr lang="en-US" sz="675" dirty="0"/>
          </a:p>
        </p:txBody>
      </p:sp>
      <p:sp>
        <p:nvSpPr>
          <p:cNvPr id="81" name="Shape 66"/>
          <p:cNvSpPr/>
          <p:nvPr/>
        </p:nvSpPr>
        <p:spPr>
          <a:xfrm>
            <a:off x="4458058" y="2018467"/>
            <a:ext cx="415290" cy="41529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2" name="Text 67"/>
          <p:cNvSpPr/>
          <p:nvPr/>
        </p:nvSpPr>
        <p:spPr>
          <a:xfrm>
            <a:off x="4465678" y="2064187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 MFA</a:t>
            </a:r>
            <a:endParaRPr lang="en-US" sz="675" dirty="0"/>
          </a:p>
        </p:txBody>
      </p:sp>
      <p:sp>
        <p:nvSpPr>
          <p:cNvPr id="83" name="Shape 68"/>
          <p:cNvSpPr/>
          <p:nvPr/>
        </p:nvSpPr>
        <p:spPr>
          <a:xfrm>
            <a:off x="5621178" y="3528060"/>
            <a:ext cx="415290" cy="41529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50800" dir="16200000">
              <a:srgbClr val="10B981">
                <a:alpha val="15000"/>
              </a:srgbClr>
            </a:outerShdw>
          </a:effectLst>
        </p:spPr>
      </p:sp>
      <p:sp>
        <p:nvSpPr>
          <p:cNvPr id="84" name="Text 69"/>
          <p:cNvSpPr/>
          <p:nvPr/>
        </p:nvSpPr>
        <p:spPr>
          <a:xfrm>
            <a:off x="5628798" y="357378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block (enf)</a:t>
            </a:r>
            <a:endParaRPr lang="en-US" sz="675" dirty="0"/>
          </a:p>
        </p:txBody>
      </p:sp>
      <p:sp>
        <p:nvSpPr>
          <p:cNvPr id="85" name="Shape 70"/>
          <p:cNvSpPr/>
          <p:nvPr/>
        </p:nvSpPr>
        <p:spPr>
          <a:xfrm>
            <a:off x="902973" y="6136005"/>
            <a:ext cx="797004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86" name="Shape 71"/>
          <p:cNvSpPr/>
          <p:nvPr/>
        </p:nvSpPr>
        <p:spPr>
          <a:xfrm>
            <a:off x="977266" y="6207443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7" name="Text 72"/>
          <p:cNvSpPr/>
          <p:nvPr/>
        </p:nvSpPr>
        <p:spPr>
          <a:xfrm>
            <a:off x="1072516" y="6162675"/>
            <a:ext cx="62936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anomalous</a:t>
            </a:r>
            <a:endParaRPr lang="en-US" sz="825" dirty="0"/>
          </a:p>
        </p:txBody>
      </p:sp>
      <p:sp>
        <p:nvSpPr>
          <p:cNvPr id="88" name="Shape 73"/>
          <p:cNvSpPr/>
          <p:nvPr/>
        </p:nvSpPr>
        <p:spPr>
          <a:xfrm>
            <a:off x="1757125" y="6136005"/>
            <a:ext cx="1127760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89" name="Shape 74"/>
          <p:cNvSpPr/>
          <p:nvPr/>
        </p:nvSpPr>
        <p:spPr>
          <a:xfrm>
            <a:off x="1831418" y="6207443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90" name="Text 75"/>
          <p:cNvSpPr/>
          <p:nvPr/>
        </p:nvSpPr>
        <p:spPr>
          <a:xfrm>
            <a:off x="1926668" y="6162675"/>
            <a:ext cx="96012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crown-jewel path</a:t>
            </a:r>
            <a:endParaRPr lang="en-US" sz="825" dirty="0"/>
          </a:p>
        </p:txBody>
      </p:sp>
      <p:sp>
        <p:nvSpPr>
          <p:cNvPr id="91" name="Shape 76"/>
          <p:cNvSpPr/>
          <p:nvPr/>
        </p:nvSpPr>
        <p:spPr>
          <a:xfrm>
            <a:off x="2942034" y="6136005"/>
            <a:ext cx="71080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92" name="Shape 77"/>
          <p:cNvSpPr/>
          <p:nvPr/>
        </p:nvSpPr>
        <p:spPr>
          <a:xfrm>
            <a:off x="3016332" y="620744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93" name="Text 78"/>
          <p:cNvSpPr/>
          <p:nvPr/>
        </p:nvSpPr>
        <p:spPr>
          <a:xfrm>
            <a:off x="3111582" y="6162675"/>
            <a:ext cx="54316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</a:t>
            </a:r>
            <a:endParaRPr lang="en-US" sz="825" dirty="0"/>
          </a:p>
        </p:txBody>
      </p:sp>
      <p:sp>
        <p:nvSpPr>
          <p:cNvPr id="94" name="Shape 79"/>
          <p:cNvSpPr/>
          <p:nvPr/>
        </p:nvSpPr>
        <p:spPr>
          <a:xfrm>
            <a:off x="7486650" y="937260"/>
            <a:ext cx="2667000" cy="559689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9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8573" y="1058228"/>
            <a:ext cx="123825" cy="123825"/>
          </a:xfrm>
          <a:prstGeom prst="rect">
            <a:avLst/>
          </a:prstGeom>
        </p:spPr>
      </p:pic>
      <p:sp>
        <p:nvSpPr>
          <p:cNvPr id="96" name="Text 80"/>
          <p:cNvSpPr/>
          <p:nvPr/>
        </p:nvSpPr>
        <p:spPr>
          <a:xfrm>
            <a:off x="7780023" y="1047750"/>
            <a:ext cx="10822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· carlos.t</a:t>
            </a:r>
            <a:endParaRPr lang="en-US" sz="900" dirty="0"/>
          </a:p>
        </p:txBody>
      </p:sp>
      <p:sp>
        <p:nvSpPr>
          <p:cNvPr id="97" name="Shape 81"/>
          <p:cNvSpPr/>
          <p:nvPr/>
        </p:nvSpPr>
        <p:spPr>
          <a:xfrm>
            <a:off x="7608573" y="1276350"/>
            <a:ext cx="617220" cy="6172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EF4444"/>
            </a:solidFill>
            <a:prstDash val="solid"/>
          </a:ln>
        </p:spPr>
      </p:sp>
      <p:sp>
        <p:nvSpPr>
          <p:cNvPr id="98" name="Text 82"/>
          <p:cNvSpPr/>
          <p:nvPr/>
        </p:nvSpPr>
        <p:spPr>
          <a:xfrm>
            <a:off x="7829076" y="1478280"/>
            <a:ext cx="25241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  <p:sp>
        <p:nvSpPr>
          <p:cNvPr id="99" name="Text 83"/>
          <p:cNvSpPr/>
          <p:nvPr/>
        </p:nvSpPr>
        <p:spPr>
          <a:xfrm>
            <a:off x="8340091" y="1418273"/>
            <a:ext cx="702469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1050" dirty="0"/>
          </a:p>
        </p:txBody>
      </p:sp>
      <p:sp>
        <p:nvSpPr>
          <p:cNvPr id="100" name="Text 84"/>
          <p:cNvSpPr/>
          <p:nvPr/>
        </p:nvSpPr>
        <p:spPr>
          <a:xfrm>
            <a:off x="8340091" y="1604963"/>
            <a:ext cx="70246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 in last 1h</a:t>
            </a:r>
            <a:endParaRPr lang="en-US" sz="825" dirty="0"/>
          </a:p>
        </p:txBody>
      </p:sp>
      <p:sp>
        <p:nvSpPr>
          <p:cNvPr id="101" name="Text 85"/>
          <p:cNvSpPr/>
          <p:nvPr/>
        </p:nvSpPr>
        <p:spPr>
          <a:xfrm>
            <a:off x="7608573" y="1969770"/>
            <a:ext cx="282773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975" dirty="0"/>
          </a:p>
        </p:txBody>
      </p:sp>
      <p:sp>
        <p:nvSpPr>
          <p:cNvPr id="102" name="Text 86"/>
          <p:cNvSpPr/>
          <p:nvPr/>
        </p:nvSpPr>
        <p:spPr>
          <a:xfrm>
            <a:off x="9205675" y="1969770"/>
            <a:ext cx="902256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finance.analyst</a:t>
            </a:r>
            <a:endParaRPr lang="en-US" sz="975" dirty="0"/>
          </a:p>
        </p:txBody>
      </p:sp>
      <p:sp>
        <p:nvSpPr>
          <p:cNvPr id="103" name="Text 87"/>
          <p:cNvSpPr/>
          <p:nvPr/>
        </p:nvSpPr>
        <p:spPr>
          <a:xfrm>
            <a:off x="7608573" y="2181225"/>
            <a:ext cx="427315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</a:t>
            </a:r>
            <a:endParaRPr lang="en-US" sz="975" dirty="0"/>
          </a:p>
        </p:txBody>
      </p:sp>
      <p:sp>
        <p:nvSpPr>
          <p:cNvPr id="104" name="Text 88"/>
          <p:cNvSpPr/>
          <p:nvPr/>
        </p:nvSpPr>
        <p:spPr>
          <a:xfrm>
            <a:off x="9625608" y="2181225"/>
            <a:ext cx="482322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2y 3mo</a:t>
            </a:r>
            <a:endParaRPr lang="en-US" sz="975" dirty="0"/>
          </a:p>
        </p:txBody>
      </p:sp>
      <p:sp>
        <p:nvSpPr>
          <p:cNvPr id="105" name="Text 89"/>
          <p:cNvSpPr/>
          <p:nvPr/>
        </p:nvSpPr>
        <p:spPr>
          <a:xfrm>
            <a:off x="7608573" y="2392680"/>
            <a:ext cx="43422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</a:t>
            </a:r>
            <a:endParaRPr lang="en-US" sz="975" dirty="0"/>
          </a:p>
        </p:txBody>
      </p:sp>
      <p:sp>
        <p:nvSpPr>
          <p:cNvPr id="106" name="Text 90"/>
          <p:cNvSpPr/>
          <p:nvPr/>
        </p:nvSpPr>
        <p:spPr>
          <a:xfrm>
            <a:off x="9139238" y="2392680"/>
            <a:ext cx="968693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MBP · managed</a:t>
            </a:r>
            <a:endParaRPr lang="en-US" sz="975" dirty="0"/>
          </a:p>
        </p:txBody>
      </p:sp>
      <p:sp>
        <p:nvSpPr>
          <p:cNvPr id="107" name="Text 91"/>
          <p:cNvSpPr/>
          <p:nvPr/>
        </p:nvSpPr>
        <p:spPr>
          <a:xfrm>
            <a:off x="7608573" y="2604135"/>
            <a:ext cx="330756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</a:t>
            </a:r>
            <a:endParaRPr lang="en-US" sz="975" dirty="0"/>
          </a:p>
        </p:txBody>
      </p:sp>
      <p:sp>
        <p:nvSpPr>
          <p:cNvPr id="108" name="Text 92"/>
          <p:cNvSpPr/>
          <p:nvPr/>
        </p:nvSpPr>
        <p:spPr>
          <a:xfrm>
            <a:off x="9501667" y="2604135"/>
            <a:ext cx="606266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 push</a:t>
            </a:r>
            <a:endParaRPr lang="en-US" sz="975" dirty="0"/>
          </a:p>
        </p:txBody>
      </p:sp>
      <p:sp>
        <p:nvSpPr>
          <p:cNvPr id="109" name="Text 93"/>
          <p:cNvSpPr/>
          <p:nvPr/>
        </p:nvSpPr>
        <p:spPr>
          <a:xfrm>
            <a:off x="7608573" y="2815590"/>
            <a:ext cx="571857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seen</a:t>
            </a:r>
            <a:endParaRPr lang="en-US" sz="975" dirty="0"/>
          </a:p>
        </p:txBody>
      </p:sp>
      <p:sp>
        <p:nvSpPr>
          <p:cNvPr id="110" name="Text 94"/>
          <p:cNvSpPr/>
          <p:nvPr/>
        </p:nvSpPr>
        <p:spPr>
          <a:xfrm>
            <a:off x="9371051" y="2815590"/>
            <a:ext cx="736878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13:24 MOW</a:t>
            </a:r>
            <a:endParaRPr lang="en-US" sz="975" dirty="0"/>
          </a:p>
        </p:txBody>
      </p:sp>
      <p:sp>
        <p:nvSpPr>
          <p:cNvPr id="111" name="Shape 95"/>
          <p:cNvSpPr/>
          <p:nvPr/>
        </p:nvSpPr>
        <p:spPr>
          <a:xfrm>
            <a:off x="7608573" y="3084195"/>
            <a:ext cx="2423160" cy="95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2" name="Text 96"/>
          <p:cNvSpPr/>
          <p:nvPr/>
        </p:nvSpPr>
        <p:spPr>
          <a:xfrm>
            <a:off x="7608573" y="3168015"/>
            <a:ext cx="24993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RISK EVENTS</a:t>
            </a:r>
            <a:endParaRPr lang="en-US" sz="750" dirty="0"/>
          </a:p>
        </p:txBody>
      </p:sp>
      <p:sp>
        <p:nvSpPr>
          <p:cNvPr id="113" name="Text 97"/>
          <p:cNvSpPr/>
          <p:nvPr/>
        </p:nvSpPr>
        <p:spPr>
          <a:xfrm>
            <a:off x="7608573" y="3339465"/>
            <a:ext cx="2499360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MFA prompts → 1 accepted</a:t>
            </a:r>
            <a:endParaRPr lang="en-US" sz="863" dirty="0"/>
          </a:p>
        </p:txBody>
      </p:sp>
      <p:sp>
        <p:nvSpPr>
          <p:cNvPr id="114" name="Text 98"/>
          <p:cNvSpPr/>
          <p:nvPr/>
        </p:nvSpPr>
        <p:spPr>
          <a:xfrm>
            <a:off x="7608573" y="3549968"/>
            <a:ext cx="2499360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pivoted to S3 mass GET</a:t>
            </a:r>
            <a:endParaRPr lang="en-US" sz="863" dirty="0"/>
          </a:p>
        </p:txBody>
      </p:sp>
      <p:sp>
        <p:nvSpPr>
          <p:cNvPr id="115" name="Text 99"/>
          <p:cNvSpPr/>
          <p:nvPr/>
        </p:nvSpPr>
        <p:spPr>
          <a:xfrm>
            <a:off x="7608573" y="3760470"/>
            <a:ext cx="2499360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from MOW · impossible travel</a:t>
            </a:r>
            <a:endParaRPr lang="en-US" sz="863" dirty="0"/>
          </a:p>
        </p:txBody>
      </p:sp>
      <p:sp>
        <p:nvSpPr>
          <p:cNvPr id="116" name="Shape 100"/>
          <p:cNvSpPr/>
          <p:nvPr/>
        </p:nvSpPr>
        <p:spPr>
          <a:xfrm>
            <a:off x="7608573" y="4009073"/>
            <a:ext cx="65151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7" name="Text 101"/>
          <p:cNvSpPr/>
          <p:nvPr/>
        </p:nvSpPr>
        <p:spPr>
          <a:xfrm>
            <a:off x="7682866" y="4035743"/>
            <a:ext cx="57912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here</a:t>
            </a:r>
            <a:endParaRPr lang="en-US" sz="825" dirty="0"/>
          </a:p>
        </p:txBody>
      </p:sp>
      <p:sp>
        <p:nvSpPr>
          <p:cNvPr id="118" name="Shape 102"/>
          <p:cNvSpPr/>
          <p:nvPr/>
        </p:nvSpPr>
        <p:spPr>
          <a:xfrm>
            <a:off x="8298182" y="4009073"/>
            <a:ext cx="830937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9" name="Text 103"/>
          <p:cNvSpPr/>
          <p:nvPr/>
        </p:nvSpPr>
        <p:spPr>
          <a:xfrm>
            <a:off x="8372475" y="4035743"/>
            <a:ext cx="75854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sessions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1" y="12382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69604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#4129 · blast radius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381845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489834" y="144780"/>
            <a:ext cx="11372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else is exposed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703323" y="74295"/>
            <a:ext cx="3787616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6191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977641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59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5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590550"/>
            <a:ext cx="103858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radius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251622" y="593407"/>
            <a:ext cx="100762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7325916" y="66484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0" name="Text 25"/>
          <p:cNvSpPr/>
          <p:nvPr/>
        </p:nvSpPr>
        <p:spPr>
          <a:xfrm>
            <a:off x="7421166" y="620078"/>
            <a:ext cx="83998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reachable from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8316399" y="593407"/>
            <a:ext cx="996791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8390692" y="664845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28"/>
          <p:cNvSpPr/>
          <p:nvPr/>
        </p:nvSpPr>
        <p:spPr>
          <a:xfrm>
            <a:off x="8485942" y="620078"/>
            <a:ext cx="82915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reaches it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9370340" y="593407"/>
            <a:ext cx="78331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9444633" y="66484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6" name="Text 31"/>
          <p:cNvSpPr/>
          <p:nvPr/>
        </p:nvSpPr>
        <p:spPr>
          <a:xfrm>
            <a:off x="9539883" y="620078"/>
            <a:ext cx="61567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range</a:t>
            </a:r>
            <a:endParaRPr lang="en-US" sz="825" dirty="0"/>
          </a:p>
        </p:txBody>
      </p:sp>
      <p:sp>
        <p:nvSpPr>
          <p:cNvPr id="47" name="Shape 32"/>
          <p:cNvSpPr/>
          <p:nvPr/>
        </p:nvSpPr>
        <p:spPr>
          <a:xfrm>
            <a:off x="666750" y="891540"/>
            <a:ext cx="6324600" cy="5642610"/>
          </a:xfrm>
          <a:prstGeom prst="roundRect">
            <a:avLst>
              <a:gd name="adj" fmla="val 135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8" name="Shape 33"/>
          <p:cNvSpPr/>
          <p:nvPr/>
        </p:nvSpPr>
        <p:spPr>
          <a:xfrm>
            <a:off x="2076450" y="1527810"/>
            <a:ext cx="3505200" cy="3505200"/>
          </a:xfrm>
          <a:prstGeom prst="ellipse">
            <a:avLst/>
          </a:prstGeom>
          <a:ln w="7620">
            <a:solidFill>
              <a:srgbClr val="E2E8F0"/>
            </a:solidFill>
            <a:prstDash val="dash"/>
          </a:ln>
        </p:spPr>
      </p:sp>
      <p:sp>
        <p:nvSpPr>
          <p:cNvPr id="49" name="Shape 34"/>
          <p:cNvSpPr/>
          <p:nvPr/>
        </p:nvSpPr>
        <p:spPr>
          <a:xfrm>
            <a:off x="2777491" y="2228850"/>
            <a:ext cx="2103120" cy="2103120"/>
          </a:xfrm>
          <a:prstGeom prst="ellipse">
            <a:avLst/>
          </a:prstGeom>
          <a:ln w="7620">
            <a:solidFill>
              <a:srgbClr val="E2E8F0"/>
            </a:solidFill>
            <a:prstDash val="dash"/>
          </a:ln>
        </p:spPr>
      </p:sp>
      <p:sp>
        <p:nvSpPr>
          <p:cNvPr id="50" name="Shape 35"/>
          <p:cNvSpPr/>
          <p:nvPr/>
        </p:nvSpPr>
        <p:spPr>
          <a:xfrm>
            <a:off x="3478532" y="2929890"/>
            <a:ext cx="701040" cy="701040"/>
          </a:xfrm>
          <a:prstGeom prst="ellipse">
            <a:avLst/>
          </a:prstGeom>
          <a:ln w="7620">
            <a:solidFill>
              <a:srgbClr val="E2E8F0"/>
            </a:solidFill>
            <a:prstDash val="dash"/>
          </a:ln>
        </p:spPr>
      </p:sp>
      <p:sp>
        <p:nvSpPr>
          <p:cNvPr id="51" name="Shape 36"/>
          <p:cNvSpPr/>
          <p:nvPr/>
        </p:nvSpPr>
        <p:spPr>
          <a:xfrm>
            <a:off x="3547109" y="2998470"/>
            <a:ext cx="563880" cy="563880"/>
          </a:xfrm>
          <a:prstGeom prst="ellipse">
            <a:avLst/>
          </a:prstGeom>
          <a:solidFill>
            <a:srgbClr val="FEF2F2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52" name="Text 37"/>
          <p:cNvSpPr/>
          <p:nvPr/>
        </p:nvSpPr>
        <p:spPr>
          <a:xfrm>
            <a:off x="3524250" y="3035856"/>
            <a:ext cx="72604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compromised</a:t>
            </a:r>
            <a:endParaRPr lang="en-US" sz="750" dirty="0"/>
          </a:p>
        </p:txBody>
      </p:sp>
      <p:sp>
        <p:nvSpPr>
          <p:cNvPr id="53" name="Text 38"/>
          <p:cNvSpPr/>
          <p:nvPr/>
        </p:nvSpPr>
        <p:spPr>
          <a:xfrm>
            <a:off x="3676055" y="3391495"/>
            <a:ext cx="42231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750" dirty="0"/>
          </a:p>
        </p:txBody>
      </p:sp>
      <p:sp>
        <p:nvSpPr>
          <p:cNvPr id="54" name="Shape 39"/>
          <p:cNvSpPr/>
          <p:nvPr/>
        </p:nvSpPr>
        <p:spPr>
          <a:xfrm>
            <a:off x="3926979" y="2358628"/>
            <a:ext cx="768072" cy="173831"/>
          </a:xfrm>
          <a:prstGeom prst="roundRect">
            <a:avLst>
              <a:gd name="adj" fmla="val 43836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55" name="Text 40"/>
          <p:cNvSpPr/>
          <p:nvPr/>
        </p:nvSpPr>
        <p:spPr>
          <a:xfrm>
            <a:off x="3963174" y="2385298"/>
            <a:ext cx="695682" cy="158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xZ91</a:t>
            </a:r>
            <a:endParaRPr lang="en-US" sz="825" dirty="0"/>
          </a:p>
        </p:txBody>
      </p:sp>
      <p:sp>
        <p:nvSpPr>
          <p:cNvPr id="56" name="Shape 41"/>
          <p:cNvSpPr/>
          <p:nvPr/>
        </p:nvSpPr>
        <p:spPr>
          <a:xfrm>
            <a:off x="4313100" y="3193495"/>
            <a:ext cx="959763" cy="173831"/>
          </a:xfrm>
          <a:prstGeom prst="roundRect">
            <a:avLst>
              <a:gd name="adj" fmla="val 43836"/>
            </a:avLst>
          </a:prstGeom>
          <a:solidFill>
            <a:srgbClr val="FFB020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57" name="Text 42"/>
          <p:cNvSpPr/>
          <p:nvPr/>
        </p:nvSpPr>
        <p:spPr>
          <a:xfrm>
            <a:off x="4349295" y="3220165"/>
            <a:ext cx="887373" cy="158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finance-bkt</a:t>
            </a:r>
            <a:endParaRPr lang="en-US" sz="825" dirty="0"/>
          </a:p>
        </p:txBody>
      </p:sp>
      <p:sp>
        <p:nvSpPr>
          <p:cNvPr id="58" name="Shape 43"/>
          <p:cNvSpPr/>
          <p:nvPr/>
        </p:nvSpPr>
        <p:spPr>
          <a:xfrm>
            <a:off x="3986808" y="4028242"/>
            <a:ext cx="648414" cy="173831"/>
          </a:xfrm>
          <a:prstGeom prst="roundRect">
            <a:avLst>
              <a:gd name="adj" fmla="val 43836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59" name="Text 44"/>
          <p:cNvSpPr/>
          <p:nvPr/>
        </p:nvSpPr>
        <p:spPr>
          <a:xfrm>
            <a:off x="4023003" y="4054912"/>
            <a:ext cx="576024" cy="158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 SSO</a:t>
            </a:r>
            <a:endParaRPr lang="en-US" sz="825" dirty="0"/>
          </a:p>
        </p:txBody>
      </p:sp>
      <p:sp>
        <p:nvSpPr>
          <p:cNvPr id="60" name="Shape 45"/>
          <p:cNvSpPr/>
          <p:nvPr/>
        </p:nvSpPr>
        <p:spPr>
          <a:xfrm>
            <a:off x="2971265" y="4028242"/>
            <a:ext cx="751642" cy="173831"/>
          </a:xfrm>
          <a:prstGeom prst="roundRect">
            <a:avLst>
              <a:gd name="adj" fmla="val 43836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61" name="Text 46"/>
          <p:cNvSpPr/>
          <p:nvPr/>
        </p:nvSpPr>
        <p:spPr>
          <a:xfrm>
            <a:off x="3007460" y="4054912"/>
            <a:ext cx="679252" cy="158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role acc</a:t>
            </a:r>
            <a:endParaRPr lang="en-US" sz="825" dirty="0"/>
          </a:p>
        </p:txBody>
      </p:sp>
      <p:sp>
        <p:nvSpPr>
          <p:cNvPr id="62" name="Shape 47"/>
          <p:cNvSpPr/>
          <p:nvPr/>
        </p:nvSpPr>
        <p:spPr>
          <a:xfrm>
            <a:off x="2572824" y="3026093"/>
            <a:ext cx="613648" cy="173831"/>
          </a:xfrm>
          <a:prstGeom prst="roundRect">
            <a:avLst>
              <a:gd name="adj" fmla="val 43836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63" name="Text 48"/>
          <p:cNvSpPr/>
          <p:nvPr/>
        </p:nvSpPr>
        <p:spPr>
          <a:xfrm>
            <a:off x="2609019" y="3052763"/>
            <a:ext cx="541258" cy="158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 push</a:t>
            </a:r>
            <a:endParaRPr lang="en-US" sz="825" dirty="0"/>
          </a:p>
        </p:txBody>
      </p:sp>
      <p:sp>
        <p:nvSpPr>
          <p:cNvPr id="64" name="Shape 49"/>
          <p:cNvSpPr/>
          <p:nvPr/>
        </p:nvSpPr>
        <p:spPr>
          <a:xfrm>
            <a:off x="3981808" y="1628894"/>
            <a:ext cx="833199" cy="173831"/>
          </a:xfrm>
          <a:prstGeom prst="roundRect">
            <a:avLst>
              <a:gd name="adj" fmla="val 43836"/>
            </a:avLst>
          </a:prstGeom>
          <a:solidFill>
            <a:srgbClr val="FFB020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65" name="Text 50"/>
          <p:cNvSpPr/>
          <p:nvPr/>
        </p:nvSpPr>
        <p:spPr>
          <a:xfrm>
            <a:off x="4018003" y="1655564"/>
            <a:ext cx="760809" cy="158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snowflake.fin</a:t>
            </a:r>
            <a:endParaRPr lang="en-US" sz="825" dirty="0"/>
          </a:p>
        </p:txBody>
      </p:sp>
      <p:sp>
        <p:nvSpPr>
          <p:cNvPr id="66" name="Shape 51"/>
          <p:cNvSpPr/>
          <p:nvPr/>
        </p:nvSpPr>
        <p:spPr>
          <a:xfrm>
            <a:off x="5031818" y="2563773"/>
            <a:ext cx="723424" cy="294322"/>
          </a:xfrm>
          <a:prstGeom prst="roundRect">
            <a:avLst>
              <a:gd name="adj" fmla="val 25890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67" name="Text 52"/>
          <p:cNvSpPr/>
          <p:nvPr/>
        </p:nvSpPr>
        <p:spPr>
          <a:xfrm>
            <a:off x="5068013" y="2590443"/>
            <a:ext cx="651034" cy="279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marketing-bkt</a:t>
            </a:r>
            <a:endParaRPr lang="en-US" sz="825" dirty="0"/>
          </a:p>
        </p:txBody>
      </p:sp>
      <p:sp>
        <p:nvSpPr>
          <p:cNvPr id="68" name="Shape 53"/>
          <p:cNvSpPr/>
          <p:nvPr/>
        </p:nvSpPr>
        <p:spPr>
          <a:xfrm>
            <a:off x="4649274" y="4263628"/>
            <a:ext cx="910352" cy="173831"/>
          </a:xfrm>
          <a:prstGeom prst="roundRect">
            <a:avLst>
              <a:gd name="adj" fmla="val 43836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69" name="Text 54"/>
          <p:cNvSpPr/>
          <p:nvPr/>
        </p:nvSpPr>
        <p:spPr>
          <a:xfrm>
            <a:off x="4685469" y="4290298"/>
            <a:ext cx="837962" cy="158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#finance</a:t>
            </a:r>
            <a:endParaRPr lang="en-US" sz="825" dirty="0"/>
          </a:p>
        </p:txBody>
      </p:sp>
      <p:sp>
        <p:nvSpPr>
          <p:cNvPr id="70" name="Shape 55"/>
          <p:cNvSpPr/>
          <p:nvPr/>
        </p:nvSpPr>
        <p:spPr>
          <a:xfrm>
            <a:off x="2806066" y="4757976"/>
            <a:ext cx="907018" cy="173831"/>
          </a:xfrm>
          <a:prstGeom prst="roundRect">
            <a:avLst>
              <a:gd name="adj" fmla="val 43836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71" name="Text 56"/>
          <p:cNvSpPr/>
          <p:nvPr/>
        </p:nvSpPr>
        <p:spPr>
          <a:xfrm>
            <a:off x="2842261" y="4784646"/>
            <a:ext cx="834628" cy="158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Looker dashbd</a:t>
            </a:r>
            <a:endParaRPr lang="en-US" sz="825" dirty="0"/>
          </a:p>
        </p:txBody>
      </p:sp>
      <p:sp>
        <p:nvSpPr>
          <p:cNvPr id="72" name="Shape 57"/>
          <p:cNvSpPr/>
          <p:nvPr/>
        </p:nvSpPr>
        <p:spPr>
          <a:xfrm>
            <a:off x="1841185" y="3482578"/>
            <a:ext cx="696277" cy="173831"/>
          </a:xfrm>
          <a:prstGeom prst="roundRect">
            <a:avLst>
              <a:gd name="adj" fmla="val 43836"/>
            </a:avLst>
          </a:prstGeom>
          <a:solidFill>
            <a:srgbClr val="FFB020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73" name="Text 58"/>
          <p:cNvSpPr/>
          <p:nvPr/>
        </p:nvSpPr>
        <p:spPr>
          <a:xfrm>
            <a:off x="1877380" y="3509248"/>
            <a:ext cx="623887" cy="158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AdminRole</a:t>
            </a:r>
            <a:endParaRPr lang="en-US" sz="825" dirty="0"/>
          </a:p>
        </p:txBody>
      </p:sp>
      <p:sp>
        <p:nvSpPr>
          <p:cNvPr id="74" name="Shape 59"/>
          <p:cNvSpPr/>
          <p:nvPr/>
        </p:nvSpPr>
        <p:spPr>
          <a:xfrm>
            <a:off x="2280284" y="1917978"/>
            <a:ext cx="957024" cy="173831"/>
          </a:xfrm>
          <a:prstGeom prst="roundRect">
            <a:avLst>
              <a:gd name="adj" fmla="val 43836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75" name="Text 60"/>
          <p:cNvSpPr/>
          <p:nvPr/>
        </p:nvSpPr>
        <p:spPr>
          <a:xfrm>
            <a:off x="2316479" y="1944648"/>
            <a:ext cx="884634" cy="158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acme/fin</a:t>
            </a:r>
            <a:endParaRPr lang="en-US" sz="825" dirty="0"/>
          </a:p>
        </p:txBody>
      </p:sp>
      <p:sp>
        <p:nvSpPr>
          <p:cNvPr id="76" name="Shape 61"/>
          <p:cNvSpPr/>
          <p:nvPr/>
        </p:nvSpPr>
        <p:spPr>
          <a:xfrm>
            <a:off x="5378174" y="1983105"/>
            <a:ext cx="468392" cy="535305"/>
          </a:xfrm>
          <a:prstGeom prst="roundRect">
            <a:avLst>
              <a:gd name="adj" fmla="val 16268"/>
            </a:avLst>
          </a:prstGeom>
          <a:solidFill>
            <a:srgbClr val="FFB020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77" name="Text 62"/>
          <p:cNvSpPr/>
          <p:nvPr/>
        </p:nvSpPr>
        <p:spPr>
          <a:xfrm>
            <a:off x="5414369" y="2009775"/>
            <a:ext cx="396002" cy="52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crown jewel · tax-id</a:t>
            </a:r>
            <a:endParaRPr lang="en-US" sz="825" dirty="0"/>
          </a:p>
        </p:txBody>
      </p:sp>
      <p:sp>
        <p:nvSpPr>
          <p:cNvPr id="78" name="Shape 63"/>
          <p:cNvSpPr/>
          <p:nvPr/>
        </p:nvSpPr>
        <p:spPr>
          <a:xfrm>
            <a:off x="3352684" y="5252799"/>
            <a:ext cx="952738" cy="173831"/>
          </a:xfrm>
          <a:prstGeom prst="roundRect">
            <a:avLst>
              <a:gd name="adj" fmla="val 43836"/>
            </a:avLst>
          </a:prstGeom>
          <a:solidFill>
            <a:srgbClr val="FFB020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79" name="Text 64"/>
          <p:cNvSpPr/>
          <p:nvPr/>
        </p:nvSpPr>
        <p:spPr>
          <a:xfrm>
            <a:off x="3388879" y="5279469"/>
            <a:ext cx="880348" cy="158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crown jewel · PII</a:t>
            </a:r>
            <a:endParaRPr lang="en-US" sz="825" dirty="0"/>
          </a:p>
        </p:txBody>
      </p:sp>
      <p:sp>
        <p:nvSpPr>
          <p:cNvPr id="80" name="Shape 65"/>
          <p:cNvSpPr/>
          <p:nvPr/>
        </p:nvSpPr>
        <p:spPr>
          <a:xfrm>
            <a:off x="1542752" y="2163842"/>
            <a:ext cx="1005721" cy="173831"/>
          </a:xfrm>
          <a:prstGeom prst="roundRect">
            <a:avLst>
              <a:gd name="adj" fmla="val 43836"/>
            </a:avLst>
          </a:prstGeom>
          <a:solidFill>
            <a:srgbClr val="FFB020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81" name="Text 66"/>
          <p:cNvSpPr/>
          <p:nvPr/>
        </p:nvSpPr>
        <p:spPr>
          <a:xfrm>
            <a:off x="1578947" y="2190512"/>
            <a:ext cx="933331" cy="158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crown jewel · PCI</a:t>
            </a:r>
            <a:endParaRPr lang="en-US" sz="825" dirty="0"/>
          </a:p>
        </p:txBody>
      </p:sp>
      <p:sp>
        <p:nvSpPr>
          <p:cNvPr id="82" name="Shape 67"/>
          <p:cNvSpPr/>
          <p:nvPr/>
        </p:nvSpPr>
        <p:spPr>
          <a:xfrm>
            <a:off x="788673" y="5874068"/>
            <a:ext cx="2072640" cy="538163"/>
          </a:xfrm>
          <a:prstGeom prst="roundRect">
            <a:avLst>
              <a:gd name="adj" fmla="val 708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83" name="Text 68"/>
          <p:cNvSpPr/>
          <p:nvPr/>
        </p:nvSpPr>
        <p:spPr>
          <a:xfrm>
            <a:off x="872493" y="5938838"/>
            <a:ext cx="1981200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a containment scope previews what a kernel policy would cut off.</a:t>
            </a:r>
            <a:endParaRPr lang="en-US" sz="825" dirty="0"/>
          </a:p>
        </p:txBody>
      </p:sp>
      <p:sp>
        <p:nvSpPr>
          <p:cNvPr id="84" name="Shape 69"/>
          <p:cNvSpPr/>
          <p:nvPr/>
        </p:nvSpPr>
        <p:spPr>
          <a:xfrm>
            <a:off x="7105650" y="891540"/>
            <a:ext cx="3048000" cy="135636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8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27573" y="1012507"/>
            <a:ext cx="123825" cy="123825"/>
          </a:xfrm>
          <a:prstGeom prst="rect">
            <a:avLst/>
          </a:prstGeom>
        </p:spPr>
      </p:pic>
      <p:sp>
        <p:nvSpPr>
          <p:cNvPr id="86" name="Text 70"/>
          <p:cNvSpPr/>
          <p:nvPr/>
        </p:nvSpPr>
        <p:spPr>
          <a:xfrm>
            <a:off x="7399023" y="1002030"/>
            <a:ext cx="103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Reachable assets</a:t>
            </a:r>
            <a:endParaRPr lang="en-US" sz="900" dirty="0"/>
          </a:p>
        </p:txBody>
      </p:sp>
      <p:sp>
        <p:nvSpPr>
          <p:cNvPr id="87" name="Text 71"/>
          <p:cNvSpPr/>
          <p:nvPr/>
        </p:nvSpPr>
        <p:spPr>
          <a:xfrm>
            <a:off x="7227573" y="1253966"/>
            <a:ext cx="45362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buckets</a:t>
            </a:r>
            <a:endParaRPr lang="en-US" sz="863" dirty="0"/>
          </a:p>
        </p:txBody>
      </p:sp>
      <p:sp>
        <p:nvSpPr>
          <p:cNvPr id="88" name="Shape 72"/>
          <p:cNvSpPr/>
          <p:nvPr/>
        </p:nvSpPr>
        <p:spPr>
          <a:xfrm>
            <a:off x="8962072" y="1230630"/>
            <a:ext cx="1069658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89" name="Shape 73"/>
          <p:cNvSpPr/>
          <p:nvPr/>
        </p:nvSpPr>
        <p:spPr>
          <a:xfrm>
            <a:off x="9036369" y="130206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90" name="Text 74"/>
          <p:cNvSpPr/>
          <p:nvPr/>
        </p:nvSpPr>
        <p:spPr>
          <a:xfrm>
            <a:off x="9131619" y="1257300"/>
            <a:ext cx="90201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1 crown-jewel</a:t>
            </a:r>
            <a:endParaRPr lang="en-US" sz="825" dirty="0"/>
          </a:p>
        </p:txBody>
      </p:sp>
      <p:sp>
        <p:nvSpPr>
          <p:cNvPr id="91" name="Text 75"/>
          <p:cNvSpPr/>
          <p:nvPr/>
        </p:nvSpPr>
        <p:spPr>
          <a:xfrm>
            <a:off x="7227573" y="1492091"/>
            <a:ext cx="666631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warehouses</a:t>
            </a:r>
            <a:endParaRPr lang="en-US" sz="863" dirty="0"/>
          </a:p>
        </p:txBody>
      </p:sp>
      <p:sp>
        <p:nvSpPr>
          <p:cNvPr id="92" name="Shape 76"/>
          <p:cNvSpPr/>
          <p:nvPr/>
        </p:nvSpPr>
        <p:spPr>
          <a:xfrm>
            <a:off x="9114713" y="1468755"/>
            <a:ext cx="917019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93" name="Shape 77"/>
          <p:cNvSpPr/>
          <p:nvPr/>
        </p:nvSpPr>
        <p:spPr>
          <a:xfrm>
            <a:off x="9189007" y="1540193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94" name="Text 78"/>
          <p:cNvSpPr/>
          <p:nvPr/>
        </p:nvSpPr>
        <p:spPr>
          <a:xfrm>
            <a:off x="9284257" y="1495425"/>
            <a:ext cx="74937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snowflake.fin</a:t>
            </a:r>
            <a:endParaRPr lang="en-US" sz="825" dirty="0"/>
          </a:p>
        </p:txBody>
      </p:sp>
      <p:sp>
        <p:nvSpPr>
          <p:cNvPr id="95" name="Text 79"/>
          <p:cNvSpPr/>
          <p:nvPr/>
        </p:nvSpPr>
        <p:spPr>
          <a:xfrm>
            <a:off x="7227573" y="1730216"/>
            <a:ext cx="30753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863" dirty="0"/>
          </a:p>
        </p:txBody>
      </p:sp>
      <p:sp>
        <p:nvSpPr>
          <p:cNvPr id="96" name="Shape 80"/>
          <p:cNvSpPr/>
          <p:nvPr/>
        </p:nvSpPr>
        <p:spPr>
          <a:xfrm>
            <a:off x="8741332" y="1706880"/>
            <a:ext cx="1290399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7" name="Shape 81"/>
          <p:cNvSpPr/>
          <p:nvPr/>
        </p:nvSpPr>
        <p:spPr>
          <a:xfrm>
            <a:off x="8815625" y="177831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98" name="Text 82"/>
          <p:cNvSpPr/>
          <p:nvPr/>
        </p:nvSpPr>
        <p:spPr>
          <a:xfrm>
            <a:off x="8910875" y="1733550"/>
            <a:ext cx="112275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· looker · github</a:t>
            </a:r>
            <a:endParaRPr lang="en-US" sz="825" dirty="0"/>
          </a:p>
        </p:txBody>
      </p:sp>
      <p:sp>
        <p:nvSpPr>
          <p:cNvPr id="99" name="Text 83"/>
          <p:cNvSpPr/>
          <p:nvPr/>
        </p:nvSpPr>
        <p:spPr>
          <a:xfrm>
            <a:off x="7227573" y="1968341"/>
            <a:ext cx="50839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identities</a:t>
            </a:r>
            <a:endParaRPr lang="en-US" sz="863" dirty="0"/>
          </a:p>
        </p:txBody>
      </p:sp>
      <p:sp>
        <p:nvSpPr>
          <p:cNvPr id="100" name="Shape 84"/>
          <p:cNvSpPr/>
          <p:nvPr/>
        </p:nvSpPr>
        <p:spPr>
          <a:xfrm>
            <a:off x="8723709" y="1945005"/>
            <a:ext cx="1308021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01" name="Shape 85"/>
          <p:cNvSpPr/>
          <p:nvPr/>
        </p:nvSpPr>
        <p:spPr>
          <a:xfrm>
            <a:off x="8798007" y="2016443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02" name="Text 86"/>
          <p:cNvSpPr/>
          <p:nvPr/>
        </p:nvSpPr>
        <p:spPr>
          <a:xfrm>
            <a:off x="8893257" y="1971675"/>
            <a:ext cx="114038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AdminRole reachable</a:t>
            </a:r>
            <a:endParaRPr lang="en-US" sz="825" dirty="0"/>
          </a:p>
        </p:txBody>
      </p:sp>
      <p:sp>
        <p:nvSpPr>
          <p:cNvPr id="103" name="Shape 87"/>
          <p:cNvSpPr/>
          <p:nvPr/>
        </p:nvSpPr>
        <p:spPr>
          <a:xfrm>
            <a:off x="7105650" y="2324100"/>
            <a:ext cx="3048000" cy="135636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10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27573" y="2445068"/>
            <a:ext cx="123825" cy="123825"/>
          </a:xfrm>
          <a:prstGeom prst="rect">
            <a:avLst/>
          </a:prstGeom>
        </p:spPr>
      </p:pic>
      <p:sp>
        <p:nvSpPr>
          <p:cNvPr id="105" name="Text 88"/>
          <p:cNvSpPr/>
          <p:nvPr/>
        </p:nvSpPr>
        <p:spPr>
          <a:xfrm>
            <a:off x="7399023" y="2434590"/>
            <a:ext cx="79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 range</a:t>
            </a:r>
            <a:endParaRPr lang="en-US" sz="900" dirty="0"/>
          </a:p>
        </p:txBody>
      </p:sp>
      <p:sp>
        <p:nvSpPr>
          <p:cNvPr id="106" name="Shape 89"/>
          <p:cNvSpPr/>
          <p:nvPr/>
        </p:nvSpPr>
        <p:spPr>
          <a:xfrm>
            <a:off x="7227573" y="2663190"/>
            <a:ext cx="92416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07" name="Shape 90"/>
          <p:cNvSpPr/>
          <p:nvPr/>
        </p:nvSpPr>
        <p:spPr>
          <a:xfrm>
            <a:off x="7301866" y="273462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08" name="Text 91"/>
          <p:cNvSpPr/>
          <p:nvPr/>
        </p:nvSpPr>
        <p:spPr>
          <a:xfrm>
            <a:off x="7397116" y="2689860"/>
            <a:ext cx="75652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· 1.2M rows</a:t>
            </a:r>
            <a:endParaRPr lang="en-US" sz="825" dirty="0"/>
          </a:p>
        </p:txBody>
      </p:sp>
      <p:sp>
        <p:nvSpPr>
          <p:cNvPr id="109" name="Shape 92"/>
          <p:cNvSpPr/>
          <p:nvPr/>
        </p:nvSpPr>
        <p:spPr>
          <a:xfrm>
            <a:off x="7227573" y="2901315"/>
            <a:ext cx="910471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10" name="Shape 93"/>
          <p:cNvSpPr/>
          <p:nvPr/>
        </p:nvSpPr>
        <p:spPr>
          <a:xfrm>
            <a:off x="7301866" y="2972753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11" name="Text 94"/>
          <p:cNvSpPr/>
          <p:nvPr/>
        </p:nvSpPr>
        <p:spPr>
          <a:xfrm>
            <a:off x="7397116" y="2927985"/>
            <a:ext cx="74283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tax-IDs · 412k</a:t>
            </a:r>
            <a:endParaRPr lang="en-US" sz="825" dirty="0"/>
          </a:p>
        </p:txBody>
      </p:sp>
      <p:sp>
        <p:nvSpPr>
          <p:cNvPr id="112" name="Shape 95"/>
          <p:cNvSpPr/>
          <p:nvPr/>
        </p:nvSpPr>
        <p:spPr>
          <a:xfrm>
            <a:off x="7227573" y="3139440"/>
            <a:ext cx="955715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13" name="Shape 96"/>
          <p:cNvSpPr/>
          <p:nvPr/>
        </p:nvSpPr>
        <p:spPr>
          <a:xfrm>
            <a:off x="7301866" y="321087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14" name="Text 97"/>
          <p:cNvSpPr/>
          <p:nvPr/>
        </p:nvSpPr>
        <p:spPr>
          <a:xfrm>
            <a:off x="7397116" y="3166110"/>
            <a:ext cx="78807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· 18k cards</a:t>
            </a:r>
            <a:endParaRPr lang="en-US" sz="825" dirty="0"/>
          </a:p>
        </p:txBody>
      </p:sp>
      <p:sp>
        <p:nvSpPr>
          <p:cNvPr id="115" name="Shape 98"/>
          <p:cNvSpPr/>
          <p:nvPr/>
        </p:nvSpPr>
        <p:spPr>
          <a:xfrm>
            <a:off x="7227573" y="3377565"/>
            <a:ext cx="138636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6" name="Shape 99"/>
          <p:cNvSpPr/>
          <p:nvPr/>
        </p:nvSpPr>
        <p:spPr>
          <a:xfrm>
            <a:off x="7301866" y="344900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17" name="Text 100"/>
          <p:cNvSpPr/>
          <p:nvPr/>
        </p:nvSpPr>
        <p:spPr>
          <a:xfrm>
            <a:off x="7397116" y="3404235"/>
            <a:ext cx="121872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· none in scope</a:t>
            </a:r>
            <a:endParaRPr lang="en-US" sz="825" dirty="0"/>
          </a:p>
        </p:txBody>
      </p:sp>
      <p:sp>
        <p:nvSpPr>
          <p:cNvPr id="118" name="Shape 101"/>
          <p:cNvSpPr/>
          <p:nvPr/>
        </p:nvSpPr>
        <p:spPr>
          <a:xfrm>
            <a:off x="7105650" y="3756660"/>
            <a:ext cx="3048000" cy="1280160"/>
          </a:xfrm>
          <a:prstGeom prst="roundRect">
            <a:avLst>
              <a:gd name="adj" fmla="val 5952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19" name="Text 102"/>
          <p:cNvSpPr/>
          <p:nvPr/>
        </p:nvSpPr>
        <p:spPr>
          <a:xfrm>
            <a:off x="7227573" y="3859530"/>
            <a:ext cx="28882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preview</a:t>
            </a:r>
            <a:endParaRPr lang="en-US" sz="900" dirty="0"/>
          </a:p>
        </p:txBody>
      </p:sp>
      <p:sp>
        <p:nvSpPr>
          <p:cNvPr id="120" name="Text 103"/>
          <p:cNvSpPr/>
          <p:nvPr/>
        </p:nvSpPr>
        <p:spPr>
          <a:xfrm>
            <a:off x="7227573" y="4095750"/>
            <a:ext cx="28882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policy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kc-fin-egress.v3</a:t>
            </a:r>
            <a:endParaRPr lang="en-US" sz="863" dirty="0"/>
          </a:p>
        </p:txBody>
      </p:sp>
      <p:sp>
        <p:nvSpPr>
          <p:cNvPr id="121" name="Shape 104"/>
          <p:cNvSpPr/>
          <p:nvPr/>
        </p:nvSpPr>
        <p:spPr>
          <a:xfrm>
            <a:off x="7227573" y="4295775"/>
            <a:ext cx="136040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22" name="Shape 105"/>
          <p:cNvSpPr/>
          <p:nvPr/>
        </p:nvSpPr>
        <p:spPr>
          <a:xfrm>
            <a:off x="7301866" y="436721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3" name="Text 106"/>
          <p:cNvSpPr/>
          <p:nvPr/>
        </p:nvSpPr>
        <p:spPr>
          <a:xfrm>
            <a:off x="7397116" y="4322445"/>
            <a:ext cx="119276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egress to 198.51.x</a:t>
            </a:r>
            <a:endParaRPr lang="en-US" sz="825" dirty="0"/>
          </a:p>
        </p:txBody>
      </p:sp>
      <p:sp>
        <p:nvSpPr>
          <p:cNvPr id="124" name="Shape 107"/>
          <p:cNvSpPr/>
          <p:nvPr/>
        </p:nvSpPr>
        <p:spPr>
          <a:xfrm>
            <a:off x="8626078" y="4295775"/>
            <a:ext cx="130790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25" name="Shape 108"/>
          <p:cNvSpPr/>
          <p:nvPr/>
        </p:nvSpPr>
        <p:spPr>
          <a:xfrm>
            <a:off x="8700376" y="436721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6" name="Text 109"/>
          <p:cNvSpPr/>
          <p:nvPr/>
        </p:nvSpPr>
        <p:spPr>
          <a:xfrm>
            <a:off x="8795626" y="4322445"/>
            <a:ext cx="11402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prod reads</a:t>
            </a:r>
            <a:endParaRPr lang="en-US" sz="825" dirty="0"/>
          </a:p>
        </p:txBody>
      </p:sp>
      <p:sp>
        <p:nvSpPr>
          <p:cNvPr id="127" name="Shape 110"/>
          <p:cNvSpPr/>
          <p:nvPr/>
        </p:nvSpPr>
        <p:spPr>
          <a:xfrm>
            <a:off x="7227573" y="4533900"/>
            <a:ext cx="1708547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28" name="Shape 111"/>
          <p:cNvSpPr/>
          <p:nvPr/>
        </p:nvSpPr>
        <p:spPr>
          <a:xfrm>
            <a:off x="7301866" y="460533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29" name="Text 112"/>
          <p:cNvSpPr/>
          <p:nvPr/>
        </p:nvSpPr>
        <p:spPr>
          <a:xfrm>
            <a:off x="7397116" y="4560570"/>
            <a:ext cx="154090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legit jobs affected (dry-run)</a:t>
            </a:r>
            <a:endParaRPr lang="en-US" sz="825" dirty="0"/>
          </a:p>
        </p:txBody>
      </p:sp>
      <p:sp>
        <p:nvSpPr>
          <p:cNvPr id="130" name="Shape 113"/>
          <p:cNvSpPr/>
          <p:nvPr/>
        </p:nvSpPr>
        <p:spPr>
          <a:xfrm>
            <a:off x="7227573" y="4733925"/>
            <a:ext cx="986314" cy="200025"/>
          </a:xfrm>
          <a:prstGeom prst="roundRect">
            <a:avLst>
              <a:gd name="adj" fmla="val 23810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31" name="Text 114"/>
          <p:cNvSpPr/>
          <p:nvPr/>
        </p:nvSpPr>
        <p:spPr>
          <a:xfrm>
            <a:off x="7301866" y="4760595"/>
            <a:ext cx="91392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policy →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1" y="12382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208157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#4129 · copilot fullscreen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767371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875359" y="144780"/>
            <a:ext cx="71806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anything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669627" y="74295"/>
            <a:ext cx="3821311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2495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943945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59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5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268998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alongside the agent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865748" y="590550"/>
            <a:ext cx="841534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Text 24"/>
          <p:cNvSpPr/>
          <p:nvPr/>
        </p:nvSpPr>
        <p:spPr>
          <a:xfrm>
            <a:off x="7968616" y="636270"/>
            <a:ext cx="71199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thread</a:t>
            </a:r>
            <a:endParaRPr lang="en-US" sz="900" dirty="0"/>
          </a:p>
        </p:txBody>
      </p:sp>
      <p:sp>
        <p:nvSpPr>
          <p:cNvPr id="40" name="Shape 25"/>
          <p:cNvSpPr/>
          <p:nvPr/>
        </p:nvSpPr>
        <p:spPr>
          <a:xfrm>
            <a:off x="8764428" y="590550"/>
            <a:ext cx="1389221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1" name="Text 26"/>
          <p:cNvSpPr/>
          <p:nvPr/>
        </p:nvSpPr>
        <p:spPr>
          <a:xfrm>
            <a:off x="8867301" y="636270"/>
            <a:ext cx="125968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to detection</a:t>
            </a:r>
            <a:endParaRPr lang="en-US" sz="900" dirty="0"/>
          </a:p>
        </p:txBody>
      </p:sp>
      <p:sp>
        <p:nvSpPr>
          <p:cNvPr id="42" name="Shape 27"/>
          <p:cNvSpPr/>
          <p:nvPr/>
        </p:nvSpPr>
        <p:spPr>
          <a:xfrm>
            <a:off x="666750" y="937260"/>
            <a:ext cx="6705600" cy="5596890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3" name="Shape 28"/>
          <p:cNvSpPr/>
          <p:nvPr/>
        </p:nvSpPr>
        <p:spPr>
          <a:xfrm>
            <a:off x="788673" y="1059180"/>
            <a:ext cx="5890260" cy="481012"/>
          </a:xfrm>
          <a:prstGeom prst="roundRect">
            <a:avLst>
              <a:gd name="adj" fmla="val 1584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4" name="Text 29"/>
          <p:cNvSpPr/>
          <p:nvPr/>
        </p:nvSpPr>
        <p:spPr>
          <a:xfrm>
            <a:off x="872491" y="1143000"/>
            <a:ext cx="589429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· 13:58</a:t>
            </a:r>
            <a:endParaRPr lang="en-US" sz="788" dirty="0"/>
          </a:p>
        </p:txBody>
      </p:sp>
      <p:sp>
        <p:nvSpPr>
          <p:cNvPr id="45" name="Text 30"/>
          <p:cNvSpPr/>
          <p:nvPr/>
        </p:nvSpPr>
        <p:spPr>
          <a:xfrm>
            <a:off x="872491" y="1298257"/>
            <a:ext cx="420954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me everything carlos.t touched in the last 24 h, grouped by service."</a:t>
            </a:r>
            <a:endParaRPr lang="en-US" sz="975" dirty="0"/>
          </a:p>
        </p:txBody>
      </p:sp>
      <p:sp>
        <p:nvSpPr>
          <p:cNvPr id="46" name="Shape 31"/>
          <p:cNvSpPr/>
          <p:nvPr/>
        </p:nvSpPr>
        <p:spPr>
          <a:xfrm>
            <a:off x="1360173" y="1635443"/>
            <a:ext cx="5890260" cy="907733"/>
          </a:xfrm>
          <a:prstGeom prst="roundRect">
            <a:avLst>
              <a:gd name="adj" fmla="val 839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7" name="Text 32"/>
          <p:cNvSpPr/>
          <p:nvPr/>
        </p:nvSpPr>
        <p:spPr>
          <a:xfrm>
            <a:off x="1443991" y="1719263"/>
            <a:ext cx="589429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· 13:58</a:t>
            </a:r>
            <a:endParaRPr lang="en-US" sz="788" dirty="0"/>
          </a:p>
        </p:txBody>
      </p:sp>
      <p:sp>
        <p:nvSpPr>
          <p:cNvPr id="48" name="Shape 33"/>
          <p:cNvSpPr/>
          <p:nvPr/>
        </p:nvSpPr>
        <p:spPr>
          <a:xfrm>
            <a:off x="1443991" y="1897380"/>
            <a:ext cx="1045369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49" name="Shape 34"/>
          <p:cNvSpPr/>
          <p:nvPr/>
        </p:nvSpPr>
        <p:spPr>
          <a:xfrm>
            <a:off x="1518284" y="196881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0" name="Text 35"/>
          <p:cNvSpPr/>
          <p:nvPr/>
        </p:nvSpPr>
        <p:spPr>
          <a:xfrm>
            <a:off x="1613534" y="1924050"/>
            <a:ext cx="87772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1,418 events</a:t>
            </a:r>
            <a:endParaRPr lang="en-US" sz="825" dirty="0"/>
          </a:p>
        </p:txBody>
      </p:sp>
      <p:sp>
        <p:nvSpPr>
          <p:cNvPr id="51" name="Shape 36"/>
          <p:cNvSpPr/>
          <p:nvPr/>
        </p:nvSpPr>
        <p:spPr>
          <a:xfrm>
            <a:off x="2527460" y="1897380"/>
            <a:ext cx="684967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52" name="Shape 37"/>
          <p:cNvSpPr/>
          <p:nvPr/>
        </p:nvSpPr>
        <p:spPr>
          <a:xfrm>
            <a:off x="2601753" y="196881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3" name="Text 38"/>
          <p:cNvSpPr/>
          <p:nvPr/>
        </p:nvSpPr>
        <p:spPr>
          <a:xfrm>
            <a:off x="2697003" y="1924050"/>
            <a:ext cx="51732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 · 27</a:t>
            </a:r>
            <a:endParaRPr lang="en-US" sz="825" dirty="0"/>
          </a:p>
        </p:txBody>
      </p:sp>
      <p:sp>
        <p:nvSpPr>
          <p:cNvPr id="54" name="Shape 39"/>
          <p:cNvSpPr/>
          <p:nvPr/>
        </p:nvSpPr>
        <p:spPr>
          <a:xfrm>
            <a:off x="3250527" y="1897380"/>
            <a:ext cx="1303853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3324820" y="196881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6" name="Text 41"/>
          <p:cNvSpPr/>
          <p:nvPr/>
        </p:nvSpPr>
        <p:spPr>
          <a:xfrm>
            <a:off x="3420070" y="1924050"/>
            <a:ext cx="113621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· 4 queries</a:t>
            </a:r>
            <a:endParaRPr lang="en-US" sz="825" dirty="0"/>
          </a:p>
        </p:txBody>
      </p:sp>
      <p:sp>
        <p:nvSpPr>
          <p:cNvPr id="57" name="Shape 42"/>
          <p:cNvSpPr/>
          <p:nvPr/>
        </p:nvSpPr>
        <p:spPr>
          <a:xfrm>
            <a:off x="4592478" y="1897380"/>
            <a:ext cx="957739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4666776" y="196881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9" name="Text 44"/>
          <p:cNvSpPr/>
          <p:nvPr/>
        </p:nvSpPr>
        <p:spPr>
          <a:xfrm>
            <a:off x="4762026" y="1924050"/>
            <a:ext cx="79009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· 11 msgs</a:t>
            </a:r>
            <a:endParaRPr lang="en-US" sz="825" dirty="0"/>
          </a:p>
        </p:txBody>
      </p:sp>
      <p:sp>
        <p:nvSpPr>
          <p:cNvPr id="60" name="Shape 45"/>
          <p:cNvSpPr/>
          <p:nvPr/>
        </p:nvSpPr>
        <p:spPr>
          <a:xfrm>
            <a:off x="5588319" y="1897380"/>
            <a:ext cx="749022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61" name="Shape 46"/>
          <p:cNvSpPr/>
          <p:nvPr/>
        </p:nvSpPr>
        <p:spPr>
          <a:xfrm>
            <a:off x="5662613" y="196881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62" name="Text 47"/>
          <p:cNvSpPr/>
          <p:nvPr/>
        </p:nvSpPr>
        <p:spPr>
          <a:xfrm>
            <a:off x="5757863" y="1924050"/>
            <a:ext cx="58138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· 0</a:t>
            </a:r>
            <a:endParaRPr lang="en-US" sz="825" dirty="0"/>
          </a:p>
        </p:txBody>
      </p:sp>
      <p:sp>
        <p:nvSpPr>
          <p:cNvPr id="63" name="Text 48"/>
          <p:cNvSpPr/>
          <p:nvPr/>
        </p:nvSpPr>
        <p:spPr>
          <a:xfrm>
            <a:off x="1443991" y="2135505"/>
            <a:ext cx="589429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 of S3 activity is concentrated 13:25–13:32, on bucket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acme-finance-bkt</a:t>
            </a:r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cited: 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[ev #14 · ev #19 · ev #22]</a:t>
            </a:r>
            <a:endParaRPr lang="en-US" sz="863" dirty="0"/>
          </a:p>
        </p:txBody>
      </p:sp>
      <p:sp>
        <p:nvSpPr>
          <p:cNvPr id="64" name="Shape 49"/>
          <p:cNvSpPr/>
          <p:nvPr/>
        </p:nvSpPr>
        <p:spPr>
          <a:xfrm>
            <a:off x="788673" y="2638425"/>
            <a:ext cx="5890260" cy="481012"/>
          </a:xfrm>
          <a:prstGeom prst="roundRect">
            <a:avLst>
              <a:gd name="adj" fmla="val 1584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5" name="Text 50"/>
          <p:cNvSpPr/>
          <p:nvPr/>
        </p:nvSpPr>
        <p:spPr>
          <a:xfrm>
            <a:off x="872491" y="2722245"/>
            <a:ext cx="589429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· 14:00</a:t>
            </a:r>
            <a:endParaRPr lang="en-US" sz="788" dirty="0"/>
          </a:p>
        </p:txBody>
      </p:sp>
      <p:sp>
        <p:nvSpPr>
          <p:cNvPr id="66" name="Text 51"/>
          <p:cNvSpPr/>
          <p:nvPr/>
        </p:nvSpPr>
        <p:spPr>
          <a:xfrm>
            <a:off x="872491" y="2877503"/>
            <a:ext cx="262854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any other user click that same phish link?"</a:t>
            </a:r>
            <a:endParaRPr lang="en-US" sz="975" dirty="0"/>
          </a:p>
        </p:txBody>
      </p:sp>
      <p:sp>
        <p:nvSpPr>
          <p:cNvPr id="67" name="Shape 52"/>
          <p:cNvSpPr/>
          <p:nvPr/>
        </p:nvSpPr>
        <p:spPr>
          <a:xfrm>
            <a:off x="1360173" y="3214688"/>
            <a:ext cx="5890260" cy="741998"/>
          </a:xfrm>
          <a:prstGeom prst="roundRect">
            <a:avLst>
              <a:gd name="adj" fmla="val 1027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8" name="Text 53"/>
          <p:cNvSpPr/>
          <p:nvPr/>
        </p:nvSpPr>
        <p:spPr>
          <a:xfrm>
            <a:off x="1443991" y="3298507"/>
            <a:ext cx="589429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· 14:00</a:t>
            </a:r>
            <a:endParaRPr lang="en-US" sz="788" dirty="0"/>
          </a:p>
        </p:txBody>
      </p:sp>
      <p:sp>
        <p:nvSpPr>
          <p:cNvPr id="69" name="Text 54"/>
          <p:cNvSpPr/>
          <p:nvPr/>
        </p:nvSpPr>
        <p:spPr>
          <a:xfrm>
            <a:off x="1443991" y="3453765"/>
            <a:ext cx="401222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mails went to 9 recipients. 0 clicks confirmed beyond carlos.t · cited</a:t>
            </a:r>
            <a:endParaRPr lang="en-US" sz="975" dirty="0"/>
          </a:p>
        </p:txBody>
      </p:sp>
      <p:sp>
        <p:nvSpPr>
          <p:cNvPr id="70" name="Text 55"/>
          <p:cNvSpPr/>
          <p:nvPr/>
        </p:nvSpPr>
        <p:spPr>
          <a:xfrm>
            <a:off x="5339358" y="3484245"/>
            <a:ext cx="127087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[mail.msg_8c3f…21a]</a:t>
            </a:r>
            <a:endParaRPr lang="en-US" sz="825" dirty="0"/>
          </a:p>
        </p:txBody>
      </p:sp>
      <p:sp>
        <p:nvSpPr>
          <p:cNvPr id="71" name="Text 56"/>
          <p:cNvSpPr/>
          <p:nvPr/>
        </p:nvSpPr>
        <p:spPr>
          <a:xfrm>
            <a:off x="6534034" y="3453765"/>
            <a:ext cx="1143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75" dirty="0"/>
          </a:p>
        </p:txBody>
      </p:sp>
      <p:sp>
        <p:nvSpPr>
          <p:cNvPr id="72" name="Shape 57"/>
          <p:cNvSpPr/>
          <p:nvPr/>
        </p:nvSpPr>
        <p:spPr>
          <a:xfrm>
            <a:off x="1443991" y="3672840"/>
            <a:ext cx="1138238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73" name="Shape 58"/>
          <p:cNvSpPr/>
          <p:nvPr/>
        </p:nvSpPr>
        <p:spPr>
          <a:xfrm>
            <a:off x="1518284" y="374427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74" name="Text 59"/>
          <p:cNvSpPr/>
          <p:nvPr/>
        </p:nvSpPr>
        <p:spPr>
          <a:xfrm>
            <a:off x="1613534" y="3699510"/>
            <a:ext cx="97059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open recipients</a:t>
            </a:r>
            <a:endParaRPr lang="en-US" sz="825" dirty="0"/>
          </a:p>
        </p:txBody>
      </p:sp>
      <p:sp>
        <p:nvSpPr>
          <p:cNvPr id="75" name="Shape 60"/>
          <p:cNvSpPr/>
          <p:nvPr/>
        </p:nvSpPr>
        <p:spPr>
          <a:xfrm>
            <a:off x="2620328" y="3672840"/>
            <a:ext cx="1020485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2694622" y="374427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77" name="Text 62"/>
          <p:cNvSpPr/>
          <p:nvPr/>
        </p:nvSpPr>
        <p:spPr>
          <a:xfrm>
            <a:off x="2789872" y="3699510"/>
            <a:ext cx="85284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quarantine all</a:t>
            </a:r>
            <a:endParaRPr lang="en-US" sz="825" dirty="0"/>
          </a:p>
        </p:txBody>
      </p:sp>
      <p:sp>
        <p:nvSpPr>
          <p:cNvPr id="78" name="Shape 63"/>
          <p:cNvSpPr/>
          <p:nvPr/>
        </p:nvSpPr>
        <p:spPr>
          <a:xfrm>
            <a:off x="788673" y="4051935"/>
            <a:ext cx="5890260" cy="481012"/>
          </a:xfrm>
          <a:prstGeom prst="roundRect">
            <a:avLst>
              <a:gd name="adj" fmla="val 1584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9" name="Text 64"/>
          <p:cNvSpPr/>
          <p:nvPr/>
        </p:nvSpPr>
        <p:spPr>
          <a:xfrm>
            <a:off x="872491" y="4135755"/>
            <a:ext cx="589429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· 14:01</a:t>
            </a:r>
            <a:endParaRPr lang="en-US" sz="788" dirty="0"/>
          </a:p>
        </p:txBody>
      </p:sp>
      <p:sp>
        <p:nvSpPr>
          <p:cNvPr id="80" name="Text 65"/>
          <p:cNvSpPr/>
          <p:nvPr/>
        </p:nvSpPr>
        <p:spPr>
          <a:xfrm>
            <a:off x="872491" y="4291013"/>
            <a:ext cx="2640931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we have any data on the C2 IP 198.51.x ?"</a:t>
            </a:r>
            <a:endParaRPr lang="en-US" sz="975" dirty="0"/>
          </a:p>
        </p:txBody>
      </p:sp>
      <p:sp>
        <p:nvSpPr>
          <p:cNvPr id="81" name="Shape 66"/>
          <p:cNvSpPr/>
          <p:nvPr/>
        </p:nvSpPr>
        <p:spPr>
          <a:xfrm>
            <a:off x="1360173" y="4628198"/>
            <a:ext cx="5890260" cy="911543"/>
          </a:xfrm>
          <a:prstGeom prst="roundRect">
            <a:avLst>
              <a:gd name="adj" fmla="val 835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2" name="Text 67"/>
          <p:cNvSpPr/>
          <p:nvPr/>
        </p:nvSpPr>
        <p:spPr>
          <a:xfrm>
            <a:off x="1443991" y="4712018"/>
            <a:ext cx="589429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· 14:01</a:t>
            </a:r>
            <a:endParaRPr lang="en-US" sz="788" dirty="0"/>
          </a:p>
        </p:txBody>
      </p:sp>
      <p:sp>
        <p:nvSpPr>
          <p:cNvPr id="83" name="Text 68"/>
          <p:cNvSpPr/>
          <p:nvPr/>
        </p:nvSpPr>
        <p:spPr>
          <a:xfrm>
            <a:off x="1443991" y="4867275"/>
            <a:ext cx="306720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· MISP tags it under UNC4841 since may 2026.</a:t>
            </a:r>
            <a:endParaRPr lang="en-US" sz="975" dirty="0"/>
          </a:p>
        </p:txBody>
      </p:sp>
      <p:sp>
        <p:nvSpPr>
          <p:cNvPr id="84" name="Text 69"/>
          <p:cNvSpPr/>
          <p:nvPr/>
        </p:nvSpPr>
        <p:spPr>
          <a:xfrm>
            <a:off x="1443991" y="5040630"/>
            <a:ext cx="243089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don't have first-party netflow before today.</a:t>
            </a:r>
            <a:endParaRPr lang="en-US" sz="975" dirty="0"/>
          </a:p>
        </p:txBody>
      </p:sp>
      <p:sp>
        <p:nvSpPr>
          <p:cNvPr id="85" name="Text 70"/>
          <p:cNvSpPr/>
          <p:nvPr/>
        </p:nvSpPr>
        <p:spPr>
          <a:xfrm>
            <a:off x="3833101" y="5040630"/>
            <a:ext cx="148721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(saying so, not guessing.)</a:t>
            </a:r>
            <a:endParaRPr lang="en-US" sz="975" dirty="0"/>
          </a:p>
        </p:txBody>
      </p:sp>
      <p:sp>
        <p:nvSpPr>
          <p:cNvPr id="86" name="Shape 71"/>
          <p:cNvSpPr/>
          <p:nvPr/>
        </p:nvSpPr>
        <p:spPr>
          <a:xfrm>
            <a:off x="1443991" y="5255895"/>
            <a:ext cx="852845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87" name="Shape 72"/>
          <p:cNvSpPr/>
          <p:nvPr/>
        </p:nvSpPr>
        <p:spPr>
          <a:xfrm>
            <a:off x="1518284" y="532733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88" name="Text 73"/>
          <p:cNvSpPr/>
          <p:nvPr/>
        </p:nvSpPr>
        <p:spPr>
          <a:xfrm>
            <a:off x="1613534" y="5282565"/>
            <a:ext cx="68520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run TI hunt</a:t>
            </a:r>
            <a:endParaRPr lang="en-US" sz="825" dirty="0"/>
          </a:p>
        </p:txBody>
      </p:sp>
      <p:sp>
        <p:nvSpPr>
          <p:cNvPr id="89" name="Text 74"/>
          <p:cNvSpPr/>
          <p:nvPr/>
        </p:nvSpPr>
        <p:spPr>
          <a:xfrm>
            <a:off x="788673" y="6126480"/>
            <a:ext cx="55917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anything · pivot · build a hunt…</a:t>
            </a:r>
            <a:endParaRPr lang="en-US" sz="975" dirty="0"/>
          </a:p>
        </p:txBody>
      </p:sp>
      <p:sp>
        <p:nvSpPr>
          <p:cNvPr id="90" name="Shape 75"/>
          <p:cNvSpPr/>
          <p:nvPr/>
        </p:nvSpPr>
        <p:spPr>
          <a:xfrm>
            <a:off x="6274715" y="6143625"/>
            <a:ext cx="441365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1" name="Text 76"/>
          <p:cNvSpPr/>
          <p:nvPr/>
        </p:nvSpPr>
        <p:spPr>
          <a:xfrm>
            <a:off x="6377583" y="6189345"/>
            <a:ext cx="31182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92" name="Shape 77"/>
          <p:cNvSpPr/>
          <p:nvPr/>
        </p:nvSpPr>
        <p:spPr>
          <a:xfrm>
            <a:off x="6773228" y="6143625"/>
            <a:ext cx="477203" cy="25146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93" name="Text 78"/>
          <p:cNvSpPr/>
          <p:nvPr/>
        </p:nvSpPr>
        <p:spPr>
          <a:xfrm>
            <a:off x="6876097" y="6189345"/>
            <a:ext cx="34766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endParaRPr lang="en-US" sz="900" dirty="0"/>
          </a:p>
        </p:txBody>
      </p:sp>
      <p:sp>
        <p:nvSpPr>
          <p:cNvPr id="94" name="Shape 79"/>
          <p:cNvSpPr/>
          <p:nvPr/>
        </p:nvSpPr>
        <p:spPr>
          <a:xfrm>
            <a:off x="7486650" y="937260"/>
            <a:ext cx="2667000" cy="1670685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9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8573" y="1058228"/>
            <a:ext cx="123825" cy="123825"/>
          </a:xfrm>
          <a:prstGeom prst="rect">
            <a:avLst/>
          </a:prstGeom>
        </p:spPr>
      </p:pic>
      <p:sp>
        <p:nvSpPr>
          <p:cNvPr id="96" name="Text 80"/>
          <p:cNvSpPr/>
          <p:nvPr/>
        </p:nvSpPr>
        <p:spPr>
          <a:xfrm>
            <a:off x="7780023" y="1047750"/>
            <a:ext cx="687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</a:t>
            </a:r>
            <a:endParaRPr lang="en-US" sz="900" dirty="0"/>
          </a:p>
        </p:txBody>
      </p:sp>
      <p:sp>
        <p:nvSpPr>
          <p:cNvPr id="97" name="Shape 81"/>
          <p:cNvSpPr/>
          <p:nvPr/>
        </p:nvSpPr>
        <p:spPr>
          <a:xfrm>
            <a:off x="7608573" y="1276350"/>
            <a:ext cx="242316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98" name="Shape 82"/>
          <p:cNvSpPr/>
          <p:nvPr/>
        </p:nvSpPr>
        <p:spPr>
          <a:xfrm>
            <a:off x="7682866" y="134778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99" name="Text 83"/>
          <p:cNvSpPr/>
          <p:nvPr/>
        </p:nvSpPr>
        <p:spPr>
          <a:xfrm>
            <a:off x="7778116" y="1303020"/>
            <a:ext cx="222087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files matching the bucket prefix `tax/`</a:t>
            </a:r>
            <a:endParaRPr lang="en-US" sz="825" dirty="0"/>
          </a:p>
        </p:txBody>
      </p:sp>
      <p:sp>
        <p:nvSpPr>
          <p:cNvPr id="100" name="Shape 84"/>
          <p:cNvSpPr/>
          <p:nvPr/>
        </p:nvSpPr>
        <p:spPr>
          <a:xfrm>
            <a:off x="7608573" y="1533525"/>
            <a:ext cx="242316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01" name="Shape 85"/>
          <p:cNvSpPr/>
          <p:nvPr/>
        </p:nvSpPr>
        <p:spPr>
          <a:xfrm>
            <a:off x="7682866" y="160496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2" name="Text 86"/>
          <p:cNvSpPr/>
          <p:nvPr/>
        </p:nvSpPr>
        <p:spPr>
          <a:xfrm>
            <a:off x="7778116" y="1560195"/>
            <a:ext cx="18148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C2 IP to historical sessions</a:t>
            </a:r>
            <a:endParaRPr lang="en-US" sz="825" dirty="0"/>
          </a:p>
        </p:txBody>
      </p:sp>
      <p:sp>
        <p:nvSpPr>
          <p:cNvPr id="103" name="Shape 87"/>
          <p:cNvSpPr/>
          <p:nvPr/>
        </p:nvSpPr>
        <p:spPr>
          <a:xfrm>
            <a:off x="7608573" y="1790700"/>
            <a:ext cx="242316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04" name="Shape 88"/>
          <p:cNvSpPr/>
          <p:nvPr/>
        </p:nvSpPr>
        <p:spPr>
          <a:xfrm>
            <a:off x="7682866" y="186213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5" name="Text 89"/>
          <p:cNvSpPr/>
          <p:nvPr/>
        </p:nvSpPr>
        <p:spPr>
          <a:xfrm>
            <a:off x="7778116" y="1817370"/>
            <a:ext cx="213217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else has read access to finance-bkt?</a:t>
            </a:r>
            <a:endParaRPr lang="en-US" sz="825" dirty="0"/>
          </a:p>
        </p:txBody>
      </p:sp>
      <p:sp>
        <p:nvSpPr>
          <p:cNvPr id="106" name="Shape 90"/>
          <p:cNvSpPr/>
          <p:nvPr/>
        </p:nvSpPr>
        <p:spPr>
          <a:xfrm>
            <a:off x="7608573" y="2047875"/>
            <a:ext cx="242316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07" name="Shape 91"/>
          <p:cNvSpPr/>
          <p:nvPr/>
        </p:nvSpPr>
        <p:spPr>
          <a:xfrm>
            <a:off x="7682866" y="211931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8" name="Text 92"/>
          <p:cNvSpPr/>
          <p:nvPr/>
        </p:nvSpPr>
        <p:spPr>
          <a:xfrm>
            <a:off x="7778116" y="2074545"/>
            <a:ext cx="141958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 kernel egress policy</a:t>
            </a:r>
            <a:endParaRPr lang="en-US" sz="825" dirty="0"/>
          </a:p>
        </p:txBody>
      </p:sp>
      <p:sp>
        <p:nvSpPr>
          <p:cNvPr id="109" name="Shape 93"/>
          <p:cNvSpPr/>
          <p:nvPr/>
        </p:nvSpPr>
        <p:spPr>
          <a:xfrm>
            <a:off x="7608573" y="2305050"/>
            <a:ext cx="242316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10" name="Shape 94"/>
          <p:cNvSpPr/>
          <p:nvPr/>
        </p:nvSpPr>
        <p:spPr>
          <a:xfrm>
            <a:off x="7682866" y="237648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11" name="Text 95"/>
          <p:cNvSpPr/>
          <p:nvPr/>
        </p:nvSpPr>
        <p:spPr>
          <a:xfrm>
            <a:off x="7778116" y="2331720"/>
            <a:ext cx="180474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saved hunt for this template</a:t>
            </a:r>
            <a:endParaRPr lang="en-US" sz="825" dirty="0"/>
          </a:p>
        </p:txBody>
      </p:sp>
      <p:sp>
        <p:nvSpPr>
          <p:cNvPr id="112" name="Shape 96"/>
          <p:cNvSpPr/>
          <p:nvPr/>
        </p:nvSpPr>
        <p:spPr>
          <a:xfrm>
            <a:off x="7486650" y="2684145"/>
            <a:ext cx="2667000" cy="135636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11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08573" y="2805113"/>
            <a:ext cx="123825" cy="123825"/>
          </a:xfrm>
          <a:prstGeom prst="rect">
            <a:avLst/>
          </a:prstGeom>
        </p:spPr>
      </p:pic>
      <p:sp>
        <p:nvSpPr>
          <p:cNvPr id="114" name="Text 97"/>
          <p:cNvSpPr/>
          <p:nvPr/>
        </p:nvSpPr>
        <p:spPr>
          <a:xfrm>
            <a:off x="7780023" y="2794635"/>
            <a:ext cx="8231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used</a:t>
            </a:r>
            <a:endParaRPr lang="en-US" sz="900" dirty="0"/>
          </a:p>
        </p:txBody>
      </p:sp>
      <p:sp>
        <p:nvSpPr>
          <p:cNvPr id="115" name="Text 98"/>
          <p:cNvSpPr/>
          <p:nvPr/>
        </p:nvSpPr>
        <p:spPr>
          <a:xfrm>
            <a:off x="7608573" y="3046572"/>
            <a:ext cx="79462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queried</a:t>
            </a:r>
            <a:endParaRPr lang="en-US" sz="863" dirty="0"/>
          </a:p>
        </p:txBody>
      </p:sp>
      <p:sp>
        <p:nvSpPr>
          <p:cNvPr id="116" name="Shape 99"/>
          <p:cNvSpPr/>
          <p:nvPr/>
        </p:nvSpPr>
        <p:spPr>
          <a:xfrm>
            <a:off x="9470947" y="3023235"/>
            <a:ext cx="56078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7" name="Shape 100"/>
          <p:cNvSpPr/>
          <p:nvPr/>
        </p:nvSpPr>
        <p:spPr>
          <a:xfrm>
            <a:off x="9545241" y="309467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18" name="Text 101"/>
          <p:cNvSpPr/>
          <p:nvPr/>
        </p:nvSpPr>
        <p:spPr>
          <a:xfrm>
            <a:off x="9640491" y="3049905"/>
            <a:ext cx="39314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14,201</a:t>
            </a:r>
            <a:endParaRPr lang="en-US" sz="825" dirty="0"/>
          </a:p>
        </p:txBody>
      </p:sp>
      <p:sp>
        <p:nvSpPr>
          <p:cNvPr id="119" name="Text 102"/>
          <p:cNvSpPr/>
          <p:nvPr/>
        </p:nvSpPr>
        <p:spPr>
          <a:xfrm>
            <a:off x="7608573" y="3284697"/>
            <a:ext cx="721400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cited</a:t>
            </a:r>
            <a:endParaRPr lang="en-US" sz="863" dirty="0"/>
          </a:p>
        </p:txBody>
      </p:sp>
      <p:sp>
        <p:nvSpPr>
          <p:cNvPr id="120" name="Shape 103"/>
          <p:cNvSpPr/>
          <p:nvPr/>
        </p:nvSpPr>
        <p:spPr>
          <a:xfrm>
            <a:off x="9725025" y="3261360"/>
            <a:ext cx="306705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21" name="Shape 104"/>
          <p:cNvSpPr/>
          <p:nvPr/>
        </p:nvSpPr>
        <p:spPr>
          <a:xfrm>
            <a:off x="9799323" y="333279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2" name="Text 105"/>
          <p:cNvSpPr/>
          <p:nvPr/>
        </p:nvSpPr>
        <p:spPr>
          <a:xfrm>
            <a:off x="9894573" y="3288030"/>
            <a:ext cx="13906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25" dirty="0"/>
          </a:p>
        </p:txBody>
      </p:sp>
      <p:sp>
        <p:nvSpPr>
          <p:cNvPr id="123" name="Text 106"/>
          <p:cNvSpPr/>
          <p:nvPr/>
        </p:nvSpPr>
        <p:spPr>
          <a:xfrm>
            <a:off x="7608573" y="3522822"/>
            <a:ext cx="636270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fabrications</a:t>
            </a:r>
            <a:endParaRPr lang="en-US" sz="863" dirty="0"/>
          </a:p>
        </p:txBody>
      </p:sp>
      <p:sp>
        <p:nvSpPr>
          <p:cNvPr id="124" name="Shape 107"/>
          <p:cNvSpPr/>
          <p:nvPr/>
        </p:nvSpPr>
        <p:spPr>
          <a:xfrm>
            <a:off x="9711928" y="3499485"/>
            <a:ext cx="31980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25" name="Shape 108"/>
          <p:cNvSpPr/>
          <p:nvPr/>
        </p:nvSpPr>
        <p:spPr>
          <a:xfrm>
            <a:off x="9786226" y="357092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6" name="Text 109"/>
          <p:cNvSpPr/>
          <p:nvPr/>
        </p:nvSpPr>
        <p:spPr>
          <a:xfrm>
            <a:off x="9881476" y="3526155"/>
            <a:ext cx="1521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25" dirty="0"/>
          </a:p>
        </p:txBody>
      </p:sp>
      <p:sp>
        <p:nvSpPr>
          <p:cNvPr id="127" name="Text 110"/>
          <p:cNvSpPr/>
          <p:nvPr/>
        </p:nvSpPr>
        <p:spPr>
          <a:xfrm>
            <a:off x="7608573" y="3760947"/>
            <a:ext cx="824746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memories used</a:t>
            </a:r>
            <a:endParaRPr lang="en-US" sz="863" dirty="0"/>
          </a:p>
        </p:txBody>
      </p:sp>
      <p:sp>
        <p:nvSpPr>
          <p:cNvPr id="128" name="Shape 111"/>
          <p:cNvSpPr/>
          <p:nvPr/>
        </p:nvSpPr>
        <p:spPr>
          <a:xfrm>
            <a:off x="9720979" y="3737610"/>
            <a:ext cx="31075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9" name="Shape 112"/>
          <p:cNvSpPr/>
          <p:nvPr/>
        </p:nvSpPr>
        <p:spPr>
          <a:xfrm>
            <a:off x="9795272" y="380904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30" name="Text 113"/>
          <p:cNvSpPr/>
          <p:nvPr/>
        </p:nvSpPr>
        <p:spPr>
          <a:xfrm>
            <a:off x="9890522" y="3764280"/>
            <a:ext cx="14311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1441" y="1600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962739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builder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1648541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1756530" y="144780"/>
            <a:ext cx="131385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+ structured · in sync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146589" y="74295"/>
            <a:ext cx="4344353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9457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420907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4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20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2666071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anything · no SQL required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840740" y="590550"/>
            <a:ext cx="866537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Text 24"/>
          <p:cNvSpPr/>
          <p:nvPr/>
        </p:nvSpPr>
        <p:spPr>
          <a:xfrm>
            <a:off x="7943617" y="636270"/>
            <a:ext cx="73699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as hunt</a:t>
            </a:r>
            <a:endParaRPr lang="en-US" sz="900" dirty="0"/>
          </a:p>
        </p:txBody>
      </p:sp>
      <p:sp>
        <p:nvSpPr>
          <p:cNvPr id="40" name="Shape 25"/>
          <p:cNvSpPr/>
          <p:nvPr/>
        </p:nvSpPr>
        <p:spPr>
          <a:xfrm>
            <a:off x="8764432" y="590550"/>
            <a:ext cx="1389221" cy="25146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1" name="Text 26"/>
          <p:cNvSpPr/>
          <p:nvPr/>
        </p:nvSpPr>
        <p:spPr>
          <a:xfrm>
            <a:off x="8867301" y="636270"/>
            <a:ext cx="125968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to detection</a:t>
            </a:r>
            <a:endParaRPr lang="en-US" sz="900" dirty="0"/>
          </a:p>
        </p:txBody>
      </p:sp>
      <p:sp>
        <p:nvSpPr>
          <p:cNvPr id="42" name="Shape 27"/>
          <p:cNvSpPr/>
          <p:nvPr/>
        </p:nvSpPr>
        <p:spPr>
          <a:xfrm>
            <a:off x="666750" y="937260"/>
            <a:ext cx="9486900" cy="796290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3" name="Text 28"/>
          <p:cNvSpPr/>
          <p:nvPr/>
        </p:nvSpPr>
        <p:spPr>
          <a:xfrm>
            <a:off x="788673" y="1040130"/>
            <a:ext cx="952035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</a:t>
            </a:r>
            <a:endParaRPr lang="en-US" sz="750" dirty="0"/>
          </a:p>
        </p:txBody>
      </p:sp>
      <p:sp>
        <p:nvSpPr>
          <p:cNvPr id="44" name="Shape 29"/>
          <p:cNvSpPr/>
          <p:nvPr/>
        </p:nvSpPr>
        <p:spPr>
          <a:xfrm>
            <a:off x="788673" y="1211580"/>
            <a:ext cx="9243060" cy="41910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Text 30"/>
          <p:cNvSpPr/>
          <p:nvPr/>
        </p:nvSpPr>
        <p:spPr>
          <a:xfrm>
            <a:off x="891541" y="1322070"/>
            <a:ext cx="791138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me users who got more than 10 MFA pushes in 10 minutes and signed in from a new ASN, last 7 days"</a:t>
            </a:r>
            <a:endParaRPr lang="en-US" sz="1200" dirty="0"/>
          </a:p>
        </p:txBody>
      </p:sp>
      <p:sp>
        <p:nvSpPr>
          <p:cNvPr id="46" name="Shape 31"/>
          <p:cNvSpPr/>
          <p:nvPr/>
        </p:nvSpPr>
        <p:spPr>
          <a:xfrm>
            <a:off x="8572500" y="1322070"/>
            <a:ext cx="93464" cy="190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32"/>
          <p:cNvSpPr/>
          <p:nvPr/>
        </p:nvSpPr>
        <p:spPr>
          <a:xfrm>
            <a:off x="8591550" y="1322070"/>
            <a:ext cx="13156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200" dirty="0"/>
          </a:p>
        </p:txBody>
      </p:sp>
      <p:sp>
        <p:nvSpPr>
          <p:cNvPr id="48" name="Shape 33"/>
          <p:cNvSpPr/>
          <p:nvPr/>
        </p:nvSpPr>
        <p:spPr>
          <a:xfrm>
            <a:off x="666750" y="1828800"/>
            <a:ext cx="9486900" cy="1927860"/>
          </a:xfrm>
          <a:prstGeom prst="roundRect">
            <a:avLst>
              <a:gd name="adj" fmla="val 395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9" name="Text 34"/>
          <p:cNvSpPr/>
          <p:nvPr/>
        </p:nvSpPr>
        <p:spPr>
          <a:xfrm>
            <a:off x="788673" y="1931670"/>
            <a:ext cx="952035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· auto-filled from the sentence above</a:t>
            </a:r>
            <a:endParaRPr lang="en-US" sz="900" dirty="0"/>
          </a:p>
        </p:txBody>
      </p:sp>
      <p:sp>
        <p:nvSpPr>
          <p:cNvPr id="50" name="Text 35"/>
          <p:cNvSpPr/>
          <p:nvPr/>
        </p:nvSpPr>
        <p:spPr>
          <a:xfrm>
            <a:off x="788673" y="2167890"/>
            <a:ext cx="1219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00" dirty="0"/>
          </a:p>
        </p:txBody>
      </p:sp>
      <p:sp>
        <p:nvSpPr>
          <p:cNvPr id="51" name="Shape 36"/>
          <p:cNvSpPr/>
          <p:nvPr/>
        </p:nvSpPr>
        <p:spPr>
          <a:xfrm>
            <a:off x="2007873" y="2167890"/>
            <a:ext cx="788075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52" name="Shape 37"/>
          <p:cNvSpPr/>
          <p:nvPr/>
        </p:nvSpPr>
        <p:spPr>
          <a:xfrm>
            <a:off x="2082166" y="2239328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3" name="Text 38"/>
          <p:cNvSpPr/>
          <p:nvPr/>
        </p:nvSpPr>
        <p:spPr>
          <a:xfrm>
            <a:off x="2177416" y="2194560"/>
            <a:ext cx="62043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 · auth</a:t>
            </a:r>
            <a:endParaRPr lang="en-US" sz="825" dirty="0"/>
          </a:p>
        </p:txBody>
      </p:sp>
      <p:sp>
        <p:nvSpPr>
          <p:cNvPr id="54" name="Shape 39"/>
          <p:cNvSpPr/>
          <p:nvPr/>
        </p:nvSpPr>
        <p:spPr>
          <a:xfrm>
            <a:off x="2834050" y="2167890"/>
            <a:ext cx="52780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2908343" y="223932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6" name="Text 41"/>
          <p:cNvSpPr/>
          <p:nvPr/>
        </p:nvSpPr>
        <p:spPr>
          <a:xfrm>
            <a:off x="3003593" y="2194560"/>
            <a:ext cx="36016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add</a:t>
            </a:r>
            <a:endParaRPr lang="en-US" sz="825" dirty="0"/>
          </a:p>
        </p:txBody>
      </p:sp>
      <p:sp>
        <p:nvSpPr>
          <p:cNvPr id="57" name="Text 42"/>
          <p:cNvSpPr/>
          <p:nvPr/>
        </p:nvSpPr>
        <p:spPr>
          <a:xfrm>
            <a:off x="788673" y="2425065"/>
            <a:ext cx="1219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900" dirty="0"/>
          </a:p>
        </p:txBody>
      </p:sp>
      <p:sp>
        <p:nvSpPr>
          <p:cNvPr id="58" name="Shape 43"/>
          <p:cNvSpPr/>
          <p:nvPr/>
        </p:nvSpPr>
        <p:spPr>
          <a:xfrm>
            <a:off x="2007873" y="2425065"/>
            <a:ext cx="459224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59" name="Shape 44"/>
          <p:cNvSpPr/>
          <p:nvPr/>
        </p:nvSpPr>
        <p:spPr>
          <a:xfrm>
            <a:off x="2082166" y="2496503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0" name="Text 45"/>
          <p:cNvSpPr/>
          <p:nvPr/>
        </p:nvSpPr>
        <p:spPr>
          <a:xfrm>
            <a:off x="2177416" y="2451735"/>
            <a:ext cx="29158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825" dirty="0"/>
          </a:p>
        </p:txBody>
      </p:sp>
      <p:sp>
        <p:nvSpPr>
          <p:cNvPr id="61" name="Text 46"/>
          <p:cNvSpPr/>
          <p:nvPr/>
        </p:nvSpPr>
        <p:spPr>
          <a:xfrm>
            <a:off x="788673" y="2682240"/>
            <a:ext cx="1219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900" dirty="0"/>
          </a:p>
        </p:txBody>
      </p:sp>
      <p:sp>
        <p:nvSpPr>
          <p:cNvPr id="62" name="Shape 47"/>
          <p:cNvSpPr/>
          <p:nvPr/>
        </p:nvSpPr>
        <p:spPr>
          <a:xfrm>
            <a:off x="2007873" y="2682240"/>
            <a:ext cx="759500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63" name="Shape 48"/>
          <p:cNvSpPr/>
          <p:nvPr/>
        </p:nvSpPr>
        <p:spPr>
          <a:xfrm>
            <a:off x="2082166" y="2753678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4" name="Text 49"/>
          <p:cNvSpPr/>
          <p:nvPr/>
        </p:nvSpPr>
        <p:spPr>
          <a:xfrm>
            <a:off x="2177416" y="2708910"/>
            <a:ext cx="59186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7 days</a:t>
            </a:r>
            <a:endParaRPr lang="en-US" sz="825" dirty="0"/>
          </a:p>
        </p:txBody>
      </p:sp>
      <p:sp>
        <p:nvSpPr>
          <p:cNvPr id="65" name="Text 50"/>
          <p:cNvSpPr/>
          <p:nvPr/>
        </p:nvSpPr>
        <p:spPr>
          <a:xfrm>
            <a:off x="788673" y="2939415"/>
            <a:ext cx="1219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</a:t>
            </a:r>
            <a:endParaRPr lang="en-US" sz="900" dirty="0"/>
          </a:p>
        </p:txBody>
      </p:sp>
      <p:sp>
        <p:nvSpPr>
          <p:cNvPr id="66" name="Shape 51"/>
          <p:cNvSpPr/>
          <p:nvPr/>
        </p:nvSpPr>
        <p:spPr>
          <a:xfrm>
            <a:off x="2007873" y="2939415"/>
            <a:ext cx="840938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7" name="Shape 52"/>
          <p:cNvSpPr/>
          <p:nvPr/>
        </p:nvSpPr>
        <p:spPr>
          <a:xfrm>
            <a:off x="2082166" y="301085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8" name="Text 53"/>
          <p:cNvSpPr/>
          <p:nvPr/>
        </p:nvSpPr>
        <p:spPr>
          <a:xfrm>
            <a:off x="2177416" y="2966085"/>
            <a:ext cx="67329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pushes</a:t>
            </a:r>
            <a:endParaRPr lang="en-US" sz="825" dirty="0"/>
          </a:p>
        </p:txBody>
      </p:sp>
      <p:sp>
        <p:nvSpPr>
          <p:cNvPr id="69" name="Shape 54"/>
          <p:cNvSpPr/>
          <p:nvPr/>
        </p:nvSpPr>
        <p:spPr>
          <a:xfrm>
            <a:off x="2886912" y="2939415"/>
            <a:ext cx="30932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0" name="Shape 55"/>
          <p:cNvSpPr/>
          <p:nvPr/>
        </p:nvSpPr>
        <p:spPr>
          <a:xfrm>
            <a:off x="2961205" y="301085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1" name="Text 56"/>
          <p:cNvSpPr/>
          <p:nvPr/>
        </p:nvSpPr>
        <p:spPr>
          <a:xfrm>
            <a:off x="3056455" y="2966085"/>
            <a:ext cx="14168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825" dirty="0"/>
          </a:p>
        </p:txBody>
      </p:sp>
      <p:sp>
        <p:nvSpPr>
          <p:cNvPr id="72" name="Shape 57"/>
          <p:cNvSpPr/>
          <p:nvPr/>
        </p:nvSpPr>
        <p:spPr>
          <a:xfrm>
            <a:off x="3234333" y="2939415"/>
            <a:ext cx="359807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73" name="Shape 58"/>
          <p:cNvSpPr/>
          <p:nvPr/>
        </p:nvSpPr>
        <p:spPr>
          <a:xfrm>
            <a:off x="3308626" y="3010853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4" name="Text 59"/>
          <p:cNvSpPr/>
          <p:nvPr/>
        </p:nvSpPr>
        <p:spPr>
          <a:xfrm>
            <a:off x="3403876" y="2966085"/>
            <a:ext cx="19216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25" dirty="0"/>
          </a:p>
        </p:txBody>
      </p:sp>
      <p:sp>
        <p:nvSpPr>
          <p:cNvPr id="75" name="Shape 60"/>
          <p:cNvSpPr/>
          <p:nvPr/>
        </p:nvSpPr>
        <p:spPr>
          <a:xfrm>
            <a:off x="3632243" y="2939415"/>
            <a:ext cx="54316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3706537" y="301085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7" name="Text 62"/>
          <p:cNvSpPr/>
          <p:nvPr/>
        </p:nvSpPr>
        <p:spPr>
          <a:xfrm>
            <a:off x="3801787" y="2966085"/>
            <a:ext cx="37552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825" dirty="0"/>
          </a:p>
        </p:txBody>
      </p:sp>
      <p:sp>
        <p:nvSpPr>
          <p:cNvPr id="78" name="Shape 63"/>
          <p:cNvSpPr/>
          <p:nvPr/>
        </p:nvSpPr>
        <p:spPr>
          <a:xfrm>
            <a:off x="4213501" y="2939415"/>
            <a:ext cx="473512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79" name="Shape 64"/>
          <p:cNvSpPr/>
          <p:nvPr/>
        </p:nvSpPr>
        <p:spPr>
          <a:xfrm>
            <a:off x="4287803" y="3010853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0" name="Text 65"/>
          <p:cNvSpPr/>
          <p:nvPr/>
        </p:nvSpPr>
        <p:spPr>
          <a:xfrm>
            <a:off x="4383053" y="2966085"/>
            <a:ext cx="30587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</a:t>
            </a:r>
            <a:endParaRPr lang="en-US" sz="825" dirty="0"/>
          </a:p>
        </p:txBody>
      </p:sp>
      <p:sp>
        <p:nvSpPr>
          <p:cNvPr id="81" name="Shape 66"/>
          <p:cNvSpPr/>
          <p:nvPr/>
        </p:nvSpPr>
        <p:spPr>
          <a:xfrm>
            <a:off x="2007873" y="3196590"/>
            <a:ext cx="46922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2" name="Shape 67"/>
          <p:cNvSpPr/>
          <p:nvPr/>
        </p:nvSpPr>
        <p:spPr>
          <a:xfrm>
            <a:off x="2082166" y="326802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83" name="Text 68"/>
          <p:cNvSpPr/>
          <p:nvPr/>
        </p:nvSpPr>
        <p:spPr>
          <a:xfrm>
            <a:off x="2177416" y="3223260"/>
            <a:ext cx="30158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825" dirty="0"/>
          </a:p>
        </p:txBody>
      </p:sp>
      <p:sp>
        <p:nvSpPr>
          <p:cNvPr id="84" name="Shape 69"/>
          <p:cNvSpPr/>
          <p:nvPr/>
        </p:nvSpPr>
        <p:spPr>
          <a:xfrm>
            <a:off x="2515195" y="3196590"/>
            <a:ext cx="80117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5" name="Shape 70"/>
          <p:cNvSpPr/>
          <p:nvPr/>
        </p:nvSpPr>
        <p:spPr>
          <a:xfrm>
            <a:off x="2589488" y="326802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86" name="Text 71"/>
          <p:cNvSpPr/>
          <p:nvPr/>
        </p:nvSpPr>
        <p:spPr>
          <a:xfrm>
            <a:off x="2684738" y="3223260"/>
            <a:ext cx="63353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sign-in.asn</a:t>
            </a:r>
            <a:endParaRPr lang="en-US" sz="825" dirty="0"/>
          </a:p>
        </p:txBody>
      </p:sp>
      <p:sp>
        <p:nvSpPr>
          <p:cNvPr id="87" name="Shape 72"/>
          <p:cNvSpPr/>
          <p:nvPr/>
        </p:nvSpPr>
        <p:spPr>
          <a:xfrm>
            <a:off x="3354465" y="3196590"/>
            <a:ext cx="74783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8" name="Shape 73"/>
          <p:cNvSpPr/>
          <p:nvPr/>
        </p:nvSpPr>
        <p:spPr>
          <a:xfrm>
            <a:off x="3428767" y="326802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89" name="Text 74"/>
          <p:cNvSpPr/>
          <p:nvPr/>
        </p:nvSpPr>
        <p:spPr>
          <a:xfrm>
            <a:off x="3524017" y="3223260"/>
            <a:ext cx="58019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NEW for</a:t>
            </a:r>
            <a:endParaRPr lang="en-US" sz="825" dirty="0"/>
          </a:p>
        </p:txBody>
      </p:sp>
      <p:sp>
        <p:nvSpPr>
          <p:cNvPr id="90" name="Shape 75"/>
          <p:cNvSpPr/>
          <p:nvPr/>
        </p:nvSpPr>
        <p:spPr>
          <a:xfrm>
            <a:off x="4140398" y="3196590"/>
            <a:ext cx="459224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91" name="Shape 76"/>
          <p:cNvSpPr/>
          <p:nvPr/>
        </p:nvSpPr>
        <p:spPr>
          <a:xfrm>
            <a:off x="4214692" y="3268028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2" name="Text 77"/>
          <p:cNvSpPr/>
          <p:nvPr/>
        </p:nvSpPr>
        <p:spPr>
          <a:xfrm>
            <a:off x="4309942" y="3223260"/>
            <a:ext cx="29158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825" dirty="0"/>
          </a:p>
        </p:txBody>
      </p:sp>
      <p:sp>
        <p:nvSpPr>
          <p:cNvPr id="93" name="Shape 78"/>
          <p:cNvSpPr/>
          <p:nvPr/>
        </p:nvSpPr>
        <p:spPr>
          <a:xfrm>
            <a:off x="2007873" y="3453765"/>
            <a:ext cx="802386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4" name="Shape 79"/>
          <p:cNvSpPr/>
          <p:nvPr/>
        </p:nvSpPr>
        <p:spPr>
          <a:xfrm>
            <a:off x="2082166" y="352520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95" name="Text 80"/>
          <p:cNvSpPr/>
          <p:nvPr/>
        </p:nvSpPr>
        <p:spPr>
          <a:xfrm>
            <a:off x="2177416" y="3480435"/>
            <a:ext cx="86129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add condition</a:t>
            </a:r>
            <a:endParaRPr lang="en-US" sz="825" dirty="0"/>
          </a:p>
        </p:txBody>
      </p:sp>
      <p:sp>
        <p:nvSpPr>
          <p:cNvPr id="96" name="Shape 81"/>
          <p:cNvSpPr/>
          <p:nvPr/>
        </p:nvSpPr>
        <p:spPr>
          <a:xfrm>
            <a:off x="666750" y="3851910"/>
            <a:ext cx="9486900" cy="2682240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97" name="Text 82"/>
          <p:cNvSpPr/>
          <p:nvPr/>
        </p:nvSpPr>
        <p:spPr>
          <a:xfrm>
            <a:off x="788673" y="3954780"/>
            <a:ext cx="952035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· 4 users</a:t>
            </a:r>
            <a:endParaRPr lang="en-US" sz="900" dirty="0"/>
          </a:p>
        </p:txBody>
      </p:sp>
      <p:sp>
        <p:nvSpPr>
          <p:cNvPr id="98" name="Shape 83"/>
          <p:cNvSpPr/>
          <p:nvPr/>
        </p:nvSpPr>
        <p:spPr>
          <a:xfrm>
            <a:off x="788673" y="4191000"/>
            <a:ext cx="1123117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9" name="Shape 84"/>
          <p:cNvSpPr/>
          <p:nvPr/>
        </p:nvSpPr>
        <p:spPr>
          <a:xfrm>
            <a:off x="788673" y="4429125"/>
            <a:ext cx="1123117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0" name="Text 85"/>
          <p:cNvSpPr/>
          <p:nvPr/>
        </p:nvSpPr>
        <p:spPr>
          <a:xfrm>
            <a:off x="864873" y="4238625"/>
            <a:ext cx="104691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825" dirty="0"/>
          </a:p>
        </p:txBody>
      </p:sp>
      <p:sp>
        <p:nvSpPr>
          <p:cNvPr id="101" name="Shape 86"/>
          <p:cNvSpPr/>
          <p:nvPr/>
        </p:nvSpPr>
        <p:spPr>
          <a:xfrm>
            <a:off x="1911786" y="4191000"/>
            <a:ext cx="1281708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2" name="Shape 87"/>
          <p:cNvSpPr/>
          <p:nvPr/>
        </p:nvSpPr>
        <p:spPr>
          <a:xfrm>
            <a:off x="1911786" y="4429125"/>
            <a:ext cx="1281708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3" name="Text 88"/>
          <p:cNvSpPr/>
          <p:nvPr/>
        </p:nvSpPr>
        <p:spPr>
          <a:xfrm>
            <a:off x="1987986" y="4238625"/>
            <a:ext cx="120550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PUSHES</a:t>
            </a:r>
            <a:endParaRPr lang="en-US" sz="825" dirty="0"/>
          </a:p>
        </p:txBody>
      </p:sp>
      <p:sp>
        <p:nvSpPr>
          <p:cNvPr id="104" name="Shape 89"/>
          <p:cNvSpPr/>
          <p:nvPr/>
        </p:nvSpPr>
        <p:spPr>
          <a:xfrm>
            <a:off x="3193498" y="4191000"/>
            <a:ext cx="1424226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5" name="Shape 90"/>
          <p:cNvSpPr/>
          <p:nvPr/>
        </p:nvSpPr>
        <p:spPr>
          <a:xfrm>
            <a:off x="3193498" y="4429125"/>
            <a:ext cx="142422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6" name="Text 91"/>
          <p:cNvSpPr/>
          <p:nvPr/>
        </p:nvSpPr>
        <p:spPr>
          <a:xfrm>
            <a:off x="3269698" y="4238625"/>
            <a:ext cx="13480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</a:t>
            </a:r>
            <a:endParaRPr lang="en-US" sz="825" dirty="0"/>
          </a:p>
        </p:txBody>
      </p:sp>
      <p:sp>
        <p:nvSpPr>
          <p:cNvPr id="107" name="Shape 92"/>
          <p:cNvSpPr/>
          <p:nvPr/>
        </p:nvSpPr>
        <p:spPr>
          <a:xfrm>
            <a:off x="4617718" y="4191000"/>
            <a:ext cx="2314099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8" name="Shape 93"/>
          <p:cNvSpPr/>
          <p:nvPr/>
        </p:nvSpPr>
        <p:spPr>
          <a:xfrm>
            <a:off x="4617718" y="4429125"/>
            <a:ext cx="2314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9" name="Text 94"/>
          <p:cNvSpPr/>
          <p:nvPr/>
        </p:nvSpPr>
        <p:spPr>
          <a:xfrm>
            <a:off x="4693918" y="4238625"/>
            <a:ext cx="22378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ASN</a:t>
            </a:r>
            <a:endParaRPr lang="en-US" sz="825" dirty="0"/>
          </a:p>
        </p:txBody>
      </p:sp>
      <p:sp>
        <p:nvSpPr>
          <p:cNvPr id="110" name="Shape 95"/>
          <p:cNvSpPr/>
          <p:nvPr/>
        </p:nvSpPr>
        <p:spPr>
          <a:xfrm>
            <a:off x="6931819" y="4191000"/>
            <a:ext cx="2596396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1" name="Shape 96"/>
          <p:cNvSpPr/>
          <p:nvPr/>
        </p:nvSpPr>
        <p:spPr>
          <a:xfrm>
            <a:off x="6931819" y="4429125"/>
            <a:ext cx="259639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2" name="Text 97"/>
          <p:cNvSpPr/>
          <p:nvPr/>
        </p:nvSpPr>
        <p:spPr>
          <a:xfrm>
            <a:off x="7008019" y="4238625"/>
            <a:ext cx="25218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IN?</a:t>
            </a:r>
            <a:endParaRPr lang="en-US" sz="825" dirty="0"/>
          </a:p>
        </p:txBody>
      </p:sp>
      <p:sp>
        <p:nvSpPr>
          <p:cNvPr id="113" name="Shape 98"/>
          <p:cNvSpPr/>
          <p:nvPr/>
        </p:nvSpPr>
        <p:spPr>
          <a:xfrm>
            <a:off x="9528218" y="4191000"/>
            <a:ext cx="503515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4" name="Shape 99"/>
          <p:cNvSpPr/>
          <p:nvPr/>
        </p:nvSpPr>
        <p:spPr>
          <a:xfrm>
            <a:off x="9528218" y="4429125"/>
            <a:ext cx="50351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5" name="Shape 100"/>
          <p:cNvSpPr/>
          <p:nvPr/>
        </p:nvSpPr>
        <p:spPr>
          <a:xfrm>
            <a:off x="788673" y="4436745"/>
            <a:ext cx="1123117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6" name="Shape 101"/>
          <p:cNvSpPr/>
          <p:nvPr/>
        </p:nvSpPr>
        <p:spPr>
          <a:xfrm>
            <a:off x="788673" y="4751070"/>
            <a:ext cx="112311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7" name="Text 102"/>
          <p:cNvSpPr/>
          <p:nvPr/>
        </p:nvSpPr>
        <p:spPr>
          <a:xfrm>
            <a:off x="864873" y="4493895"/>
            <a:ext cx="1046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carlos.t</a:t>
            </a:r>
            <a:endParaRPr lang="en-US" sz="900" dirty="0"/>
          </a:p>
        </p:txBody>
      </p:sp>
      <p:sp>
        <p:nvSpPr>
          <p:cNvPr id="118" name="Shape 103"/>
          <p:cNvSpPr/>
          <p:nvPr/>
        </p:nvSpPr>
        <p:spPr>
          <a:xfrm>
            <a:off x="1911786" y="4436745"/>
            <a:ext cx="1281708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9" name="Shape 104"/>
          <p:cNvSpPr/>
          <p:nvPr/>
        </p:nvSpPr>
        <p:spPr>
          <a:xfrm>
            <a:off x="1911786" y="4751070"/>
            <a:ext cx="12817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0" name="Text 105"/>
          <p:cNvSpPr/>
          <p:nvPr/>
        </p:nvSpPr>
        <p:spPr>
          <a:xfrm>
            <a:off x="1987986" y="4493895"/>
            <a:ext cx="120550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in 3m</a:t>
            </a:r>
            <a:endParaRPr lang="en-US" sz="900" dirty="0"/>
          </a:p>
        </p:txBody>
      </p:sp>
      <p:sp>
        <p:nvSpPr>
          <p:cNvPr id="121" name="Shape 106"/>
          <p:cNvSpPr/>
          <p:nvPr/>
        </p:nvSpPr>
        <p:spPr>
          <a:xfrm>
            <a:off x="3193498" y="4436745"/>
            <a:ext cx="1424226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2" name="Shape 107"/>
          <p:cNvSpPr/>
          <p:nvPr/>
        </p:nvSpPr>
        <p:spPr>
          <a:xfrm>
            <a:off x="3193498" y="4751070"/>
            <a:ext cx="142422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3" name="Text 108"/>
          <p:cNvSpPr/>
          <p:nvPr/>
        </p:nvSpPr>
        <p:spPr>
          <a:xfrm>
            <a:off x="3269698" y="4493895"/>
            <a:ext cx="134802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13:21</a:t>
            </a:r>
            <a:endParaRPr lang="en-US" sz="900" dirty="0"/>
          </a:p>
        </p:txBody>
      </p:sp>
      <p:sp>
        <p:nvSpPr>
          <p:cNvPr id="124" name="Shape 109"/>
          <p:cNvSpPr/>
          <p:nvPr/>
        </p:nvSpPr>
        <p:spPr>
          <a:xfrm>
            <a:off x="4617718" y="4436745"/>
            <a:ext cx="2314099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5" name="Shape 110"/>
          <p:cNvSpPr/>
          <p:nvPr/>
        </p:nvSpPr>
        <p:spPr>
          <a:xfrm>
            <a:off x="4617718" y="4751070"/>
            <a:ext cx="23140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6" name="Text 111"/>
          <p:cNvSpPr/>
          <p:nvPr/>
        </p:nvSpPr>
        <p:spPr>
          <a:xfrm>
            <a:off x="4693918" y="4493895"/>
            <a:ext cx="22378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AS200000 (MOW)</a:t>
            </a:r>
            <a:endParaRPr lang="en-US" sz="900" dirty="0"/>
          </a:p>
        </p:txBody>
      </p:sp>
      <p:sp>
        <p:nvSpPr>
          <p:cNvPr id="127" name="Shape 112"/>
          <p:cNvSpPr/>
          <p:nvPr/>
        </p:nvSpPr>
        <p:spPr>
          <a:xfrm>
            <a:off x="6931819" y="4436745"/>
            <a:ext cx="2596396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8" name="Shape 113"/>
          <p:cNvSpPr/>
          <p:nvPr/>
        </p:nvSpPr>
        <p:spPr>
          <a:xfrm>
            <a:off x="6931819" y="4751070"/>
            <a:ext cx="259639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9" name="Shape 114"/>
          <p:cNvSpPr/>
          <p:nvPr/>
        </p:nvSpPr>
        <p:spPr>
          <a:xfrm>
            <a:off x="7008019" y="4497705"/>
            <a:ext cx="1066324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30" name="Shape 115"/>
          <p:cNvSpPr/>
          <p:nvPr/>
        </p:nvSpPr>
        <p:spPr>
          <a:xfrm>
            <a:off x="7082312" y="4569143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31" name="Text 116"/>
          <p:cNvSpPr/>
          <p:nvPr/>
        </p:nvSpPr>
        <p:spPr>
          <a:xfrm>
            <a:off x="7177562" y="4524375"/>
            <a:ext cx="89868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· case #4129</a:t>
            </a:r>
            <a:endParaRPr lang="en-US" sz="825" dirty="0"/>
          </a:p>
        </p:txBody>
      </p:sp>
      <p:sp>
        <p:nvSpPr>
          <p:cNvPr id="132" name="Shape 117"/>
          <p:cNvSpPr/>
          <p:nvPr/>
        </p:nvSpPr>
        <p:spPr>
          <a:xfrm>
            <a:off x="9528218" y="4436745"/>
            <a:ext cx="503515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33" name="Shape 118"/>
          <p:cNvSpPr/>
          <p:nvPr/>
        </p:nvSpPr>
        <p:spPr>
          <a:xfrm>
            <a:off x="9528218" y="4751070"/>
            <a:ext cx="5035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4" name="Text 119"/>
          <p:cNvSpPr/>
          <p:nvPr/>
        </p:nvSpPr>
        <p:spPr>
          <a:xfrm>
            <a:off x="9604418" y="4493895"/>
            <a:ext cx="4273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900" dirty="0"/>
          </a:p>
        </p:txBody>
      </p:sp>
      <p:sp>
        <p:nvSpPr>
          <p:cNvPr id="135" name="Shape 120"/>
          <p:cNvSpPr/>
          <p:nvPr/>
        </p:nvSpPr>
        <p:spPr>
          <a:xfrm>
            <a:off x="788673" y="4758690"/>
            <a:ext cx="1123117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36" name="Shape 121"/>
          <p:cNvSpPr/>
          <p:nvPr/>
        </p:nvSpPr>
        <p:spPr>
          <a:xfrm>
            <a:off x="788673" y="5073015"/>
            <a:ext cx="112311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7" name="Text 122"/>
          <p:cNvSpPr/>
          <p:nvPr/>
        </p:nvSpPr>
        <p:spPr>
          <a:xfrm>
            <a:off x="864873" y="4815840"/>
            <a:ext cx="1046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priya.r</a:t>
            </a:r>
            <a:endParaRPr lang="en-US" sz="900" dirty="0"/>
          </a:p>
        </p:txBody>
      </p:sp>
      <p:sp>
        <p:nvSpPr>
          <p:cNvPr id="138" name="Shape 123"/>
          <p:cNvSpPr/>
          <p:nvPr/>
        </p:nvSpPr>
        <p:spPr>
          <a:xfrm>
            <a:off x="1911786" y="4758690"/>
            <a:ext cx="1281708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39" name="Shape 124"/>
          <p:cNvSpPr/>
          <p:nvPr/>
        </p:nvSpPr>
        <p:spPr>
          <a:xfrm>
            <a:off x="1911786" y="5073015"/>
            <a:ext cx="12817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0" name="Text 125"/>
          <p:cNvSpPr/>
          <p:nvPr/>
        </p:nvSpPr>
        <p:spPr>
          <a:xfrm>
            <a:off x="1987986" y="4815840"/>
            <a:ext cx="120550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in 7m</a:t>
            </a:r>
            <a:endParaRPr lang="en-US" sz="900" dirty="0"/>
          </a:p>
        </p:txBody>
      </p:sp>
      <p:sp>
        <p:nvSpPr>
          <p:cNvPr id="141" name="Shape 126"/>
          <p:cNvSpPr/>
          <p:nvPr/>
        </p:nvSpPr>
        <p:spPr>
          <a:xfrm>
            <a:off x="3193498" y="4758690"/>
            <a:ext cx="1424226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42" name="Shape 127"/>
          <p:cNvSpPr/>
          <p:nvPr/>
        </p:nvSpPr>
        <p:spPr>
          <a:xfrm>
            <a:off x="3193498" y="5073015"/>
            <a:ext cx="142422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3" name="Text 128"/>
          <p:cNvSpPr/>
          <p:nvPr/>
        </p:nvSpPr>
        <p:spPr>
          <a:xfrm>
            <a:off x="3269698" y="4815840"/>
            <a:ext cx="134802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02:18</a:t>
            </a:r>
            <a:endParaRPr lang="en-US" sz="900" dirty="0"/>
          </a:p>
        </p:txBody>
      </p:sp>
      <p:sp>
        <p:nvSpPr>
          <p:cNvPr id="144" name="Shape 129"/>
          <p:cNvSpPr/>
          <p:nvPr/>
        </p:nvSpPr>
        <p:spPr>
          <a:xfrm>
            <a:off x="4617718" y="4758690"/>
            <a:ext cx="2314099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45" name="Shape 130"/>
          <p:cNvSpPr/>
          <p:nvPr/>
        </p:nvSpPr>
        <p:spPr>
          <a:xfrm>
            <a:off x="4617718" y="5073015"/>
            <a:ext cx="23140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6" name="Text 131"/>
          <p:cNvSpPr/>
          <p:nvPr/>
        </p:nvSpPr>
        <p:spPr>
          <a:xfrm>
            <a:off x="4693918" y="4815840"/>
            <a:ext cx="22378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AS37100 (SG)</a:t>
            </a:r>
            <a:endParaRPr lang="en-US" sz="900" dirty="0"/>
          </a:p>
        </p:txBody>
      </p:sp>
      <p:sp>
        <p:nvSpPr>
          <p:cNvPr id="147" name="Shape 132"/>
          <p:cNvSpPr/>
          <p:nvPr/>
        </p:nvSpPr>
        <p:spPr>
          <a:xfrm>
            <a:off x="6931819" y="4758690"/>
            <a:ext cx="2596396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48" name="Shape 133"/>
          <p:cNvSpPr/>
          <p:nvPr/>
        </p:nvSpPr>
        <p:spPr>
          <a:xfrm>
            <a:off x="6931819" y="5073015"/>
            <a:ext cx="259639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9" name="Shape 134"/>
          <p:cNvSpPr/>
          <p:nvPr/>
        </p:nvSpPr>
        <p:spPr>
          <a:xfrm>
            <a:off x="7008019" y="4819650"/>
            <a:ext cx="876062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50" name="Shape 135"/>
          <p:cNvSpPr/>
          <p:nvPr/>
        </p:nvSpPr>
        <p:spPr>
          <a:xfrm>
            <a:off x="7082312" y="489108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51" name="Text 136"/>
          <p:cNvSpPr/>
          <p:nvPr/>
        </p:nvSpPr>
        <p:spPr>
          <a:xfrm>
            <a:off x="7177562" y="4846320"/>
            <a:ext cx="70842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· no case</a:t>
            </a:r>
            <a:endParaRPr lang="en-US" sz="825" dirty="0"/>
          </a:p>
        </p:txBody>
      </p:sp>
      <p:sp>
        <p:nvSpPr>
          <p:cNvPr id="152" name="Shape 137"/>
          <p:cNvSpPr/>
          <p:nvPr/>
        </p:nvSpPr>
        <p:spPr>
          <a:xfrm>
            <a:off x="9528218" y="4758690"/>
            <a:ext cx="503515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53" name="Shape 138"/>
          <p:cNvSpPr/>
          <p:nvPr/>
        </p:nvSpPr>
        <p:spPr>
          <a:xfrm>
            <a:off x="9528218" y="5073015"/>
            <a:ext cx="5035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4" name="Text 139"/>
          <p:cNvSpPr/>
          <p:nvPr/>
        </p:nvSpPr>
        <p:spPr>
          <a:xfrm>
            <a:off x="9604418" y="4815840"/>
            <a:ext cx="4273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900" dirty="0"/>
          </a:p>
        </p:txBody>
      </p:sp>
      <p:sp>
        <p:nvSpPr>
          <p:cNvPr id="155" name="Shape 140"/>
          <p:cNvSpPr/>
          <p:nvPr/>
        </p:nvSpPr>
        <p:spPr>
          <a:xfrm>
            <a:off x="788673" y="5354955"/>
            <a:ext cx="112311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6" name="Text 141"/>
          <p:cNvSpPr/>
          <p:nvPr/>
        </p:nvSpPr>
        <p:spPr>
          <a:xfrm>
            <a:off x="864873" y="5137785"/>
            <a:ext cx="104691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marco.l</a:t>
            </a:r>
            <a:endParaRPr lang="en-US" sz="900" dirty="0"/>
          </a:p>
        </p:txBody>
      </p:sp>
      <p:sp>
        <p:nvSpPr>
          <p:cNvPr id="157" name="Shape 142"/>
          <p:cNvSpPr/>
          <p:nvPr/>
        </p:nvSpPr>
        <p:spPr>
          <a:xfrm>
            <a:off x="1911786" y="5354955"/>
            <a:ext cx="12817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8" name="Text 143"/>
          <p:cNvSpPr/>
          <p:nvPr/>
        </p:nvSpPr>
        <p:spPr>
          <a:xfrm>
            <a:off x="1987986" y="5137785"/>
            <a:ext cx="120550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in 9m</a:t>
            </a:r>
            <a:endParaRPr lang="en-US" sz="900" dirty="0"/>
          </a:p>
        </p:txBody>
      </p:sp>
      <p:sp>
        <p:nvSpPr>
          <p:cNvPr id="159" name="Shape 144"/>
          <p:cNvSpPr/>
          <p:nvPr/>
        </p:nvSpPr>
        <p:spPr>
          <a:xfrm>
            <a:off x="3193498" y="5354955"/>
            <a:ext cx="142422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0" name="Text 145"/>
          <p:cNvSpPr/>
          <p:nvPr/>
        </p:nvSpPr>
        <p:spPr>
          <a:xfrm>
            <a:off x="3269698" y="5137785"/>
            <a:ext cx="134802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22:41</a:t>
            </a:r>
            <a:endParaRPr lang="en-US" sz="900" dirty="0"/>
          </a:p>
        </p:txBody>
      </p:sp>
      <p:sp>
        <p:nvSpPr>
          <p:cNvPr id="161" name="Shape 146"/>
          <p:cNvSpPr/>
          <p:nvPr/>
        </p:nvSpPr>
        <p:spPr>
          <a:xfrm>
            <a:off x="4617718" y="5354955"/>
            <a:ext cx="23140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2" name="Text 147"/>
          <p:cNvSpPr/>
          <p:nvPr/>
        </p:nvSpPr>
        <p:spPr>
          <a:xfrm>
            <a:off x="4693918" y="5137785"/>
            <a:ext cx="223789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AS3320 (DE)</a:t>
            </a:r>
            <a:endParaRPr lang="en-US" sz="900" dirty="0"/>
          </a:p>
        </p:txBody>
      </p:sp>
      <p:sp>
        <p:nvSpPr>
          <p:cNvPr id="163" name="Shape 148"/>
          <p:cNvSpPr/>
          <p:nvPr/>
        </p:nvSpPr>
        <p:spPr>
          <a:xfrm>
            <a:off x="6931819" y="5354955"/>
            <a:ext cx="259639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4" name="Text 149"/>
          <p:cNvSpPr/>
          <p:nvPr/>
        </p:nvSpPr>
        <p:spPr>
          <a:xfrm>
            <a:off x="7008019" y="5137785"/>
            <a:ext cx="252188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165" name="Shape 150"/>
          <p:cNvSpPr/>
          <p:nvPr/>
        </p:nvSpPr>
        <p:spPr>
          <a:xfrm>
            <a:off x="9528218" y="5354955"/>
            <a:ext cx="50351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6" name="Text 151"/>
          <p:cNvSpPr/>
          <p:nvPr/>
        </p:nvSpPr>
        <p:spPr>
          <a:xfrm>
            <a:off x="9604418" y="5137785"/>
            <a:ext cx="42731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900" dirty="0"/>
          </a:p>
        </p:txBody>
      </p:sp>
      <p:sp>
        <p:nvSpPr>
          <p:cNvPr id="167" name="Text 152"/>
          <p:cNvSpPr/>
          <p:nvPr/>
        </p:nvSpPr>
        <p:spPr>
          <a:xfrm>
            <a:off x="864873" y="5419725"/>
            <a:ext cx="1046917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diane.k</a:t>
            </a:r>
            <a:endParaRPr lang="en-US" sz="900" dirty="0"/>
          </a:p>
        </p:txBody>
      </p:sp>
      <p:sp>
        <p:nvSpPr>
          <p:cNvPr id="168" name="Text 153"/>
          <p:cNvSpPr/>
          <p:nvPr/>
        </p:nvSpPr>
        <p:spPr>
          <a:xfrm>
            <a:off x="1987986" y="5419725"/>
            <a:ext cx="1205508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in 4m</a:t>
            </a:r>
            <a:endParaRPr lang="en-US" sz="900" dirty="0"/>
          </a:p>
        </p:txBody>
      </p:sp>
      <p:sp>
        <p:nvSpPr>
          <p:cNvPr id="169" name="Text 154"/>
          <p:cNvSpPr/>
          <p:nvPr/>
        </p:nvSpPr>
        <p:spPr>
          <a:xfrm>
            <a:off x="3269698" y="5419725"/>
            <a:ext cx="1348026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03:11</a:t>
            </a:r>
            <a:endParaRPr lang="en-US" sz="900" dirty="0"/>
          </a:p>
        </p:txBody>
      </p:sp>
      <p:sp>
        <p:nvSpPr>
          <p:cNvPr id="170" name="Text 155"/>
          <p:cNvSpPr/>
          <p:nvPr/>
        </p:nvSpPr>
        <p:spPr>
          <a:xfrm>
            <a:off x="4693918" y="5419725"/>
            <a:ext cx="2237899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AS3209 (DE)</a:t>
            </a:r>
            <a:endParaRPr lang="en-US" sz="900" dirty="0"/>
          </a:p>
        </p:txBody>
      </p:sp>
      <p:sp>
        <p:nvSpPr>
          <p:cNvPr id="171" name="Text 156"/>
          <p:cNvSpPr/>
          <p:nvPr/>
        </p:nvSpPr>
        <p:spPr>
          <a:xfrm>
            <a:off x="7008019" y="5419725"/>
            <a:ext cx="2521888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172" name="Text 157"/>
          <p:cNvSpPr/>
          <p:nvPr/>
        </p:nvSpPr>
        <p:spPr>
          <a:xfrm>
            <a:off x="9604418" y="5419725"/>
            <a:ext cx="427315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21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71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71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71" y="1323975"/>
            <a:ext cx="171450" cy="17145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1446" y="1600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71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71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71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71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71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71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14621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over time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1832018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1940003" y="144780"/>
            <a:ext cx="101012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by clicking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026336" y="74295"/>
            <a:ext cx="4464606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9204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300654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4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20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590550"/>
            <a:ext cx="144208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· last 24 h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6866102" y="593407"/>
            <a:ext cx="772477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6940395" y="664845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25"/>
          <p:cNvSpPr/>
          <p:nvPr/>
        </p:nvSpPr>
        <p:spPr>
          <a:xfrm>
            <a:off x="7035645" y="620078"/>
            <a:ext cx="6048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sources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7695726" y="593407"/>
            <a:ext cx="46720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7770019" y="66484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3" name="Text 28"/>
          <p:cNvSpPr/>
          <p:nvPr/>
        </p:nvSpPr>
        <p:spPr>
          <a:xfrm>
            <a:off x="7865269" y="620078"/>
            <a:ext cx="29956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8220075" y="593407"/>
            <a:ext cx="53125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8294368" y="66484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6" name="Text 31"/>
          <p:cNvSpPr/>
          <p:nvPr/>
        </p:nvSpPr>
        <p:spPr>
          <a:xfrm>
            <a:off x="8389618" y="620078"/>
            <a:ext cx="36361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825" dirty="0"/>
          </a:p>
        </p:txBody>
      </p:sp>
      <p:sp>
        <p:nvSpPr>
          <p:cNvPr id="47" name="Shape 32"/>
          <p:cNvSpPr/>
          <p:nvPr/>
        </p:nvSpPr>
        <p:spPr>
          <a:xfrm>
            <a:off x="8808486" y="593407"/>
            <a:ext cx="62841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8" name="Shape 33"/>
          <p:cNvSpPr/>
          <p:nvPr/>
        </p:nvSpPr>
        <p:spPr>
          <a:xfrm>
            <a:off x="8882779" y="66484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9" name="Text 34"/>
          <p:cNvSpPr/>
          <p:nvPr/>
        </p:nvSpPr>
        <p:spPr>
          <a:xfrm>
            <a:off x="8978029" y="620078"/>
            <a:ext cx="46077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825" dirty="0"/>
          </a:p>
        </p:txBody>
      </p:sp>
      <p:sp>
        <p:nvSpPr>
          <p:cNvPr id="50" name="Shape 35"/>
          <p:cNvSpPr/>
          <p:nvPr/>
        </p:nvSpPr>
        <p:spPr>
          <a:xfrm>
            <a:off x="9494044" y="593407"/>
            <a:ext cx="65960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1" name="Shape 36"/>
          <p:cNvSpPr/>
          <p:nvPr/>
        </p:nvSpPr>
        <p:spPr>
          <a:xfrm>
            <a:off x="9568337" y="66484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2" name="Text 37"/>
          <p:cNvSpPr/>
          <p:nvPr/>
        </p:nvSpPr>
        <p:spPr>
          <a:xfrm>
            <a:off x="9663587" y="620078"/>
            <a:ext cx="49196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825" dirty="0"/>
          </a:p>
        </p:txBody>
      </p:sp>
      <p:sp>
        <p:nvSpPr>
          <p:cNvPr id="53" name="Shape 38"/>
          <p:cNvSpPr/>
          <p:nvPr/>
        </p:nvSpPr>
        <p:spPr>
          <a:xfrm>
            <a:off x="666750" y="891540"/>
            <a:ext cx="9486900" cy="1819275"/>
          </a:xfrm>
          <a:prstGeom prst="roundRect">
            <a:avLst>
              <a:gd name="adj" fmla="val 418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4" name="Shape 39"/>
          <p:cNvSpPr/>
          <p:nvPr/>
        </p:nvSpPr>
        <p:spPr>
          <a:xfrm>
            <a:off x="788668" y="1946910"/>
            <a:ext cx="261104" cy="28575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55" name="Shape 40"/>
          <p:cNvSpPr/>
          <p:nvPr/>
        </p:nvSpPr>
        <p:spPr>
          <a:xfrm>
            <a:off x="788668" y="1813560"/>
            <a:ext cx="261104" cy="133350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56" name="Shape 41"/>
          <p:cNvSpPr/>
          <p:nvPr/>
        </p:nvSpPr>
        <p:spPr>
          <a:xfrm>
            <a:off x="788668" y="1756410"/>
            <a:ext cx="26110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Shape 42"/>
          <p:cNvSpPr/>
          <p:nvPr/>
        </p:nvSpPr>
        <p:spPr>
          <a:xfrm>
            <a:off x="788668" y="1718310"/>
            <a:ext cx="261104" cy="381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8" name="Shape 43"/>
          <p:cNvSpPr/>
          <p:nvPr/>
        </p:nvSpPr>
        <p:spPr>
          <a:xfrm>
            <a:off x="1078353" y="1784985"/>
            <a:ext cx="261223" cy="44767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59" name="Shape 44"/>
          <p:cNvSpPr/>
          <p:nvPr/>
        </p:nvSpPr>
        <p:spPr>
          <a:xfrm>
            <a:off x="1078353" y="1546860"/>
            <a:ext cx="261223" cy="23812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60" name="Shape 45"/>
          <p:cNvSpPr/>
          <p:nvPr/>
        </p:nvSpPr>
        <p:spPr>
          <a:xfrm>
            <a:off x="1078353" y="142303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1" name="Shape 46"/>
          <p:cNvSpPr/>
          <p:nvPr/>
        </p:nvSpPr>
        <p:spPr>
          <a:xfrm>
            <a:off x="1078353" y="1356360"/>
            <a:ext cx="261223" cy="666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2" name="Shape 47"/>
          <p:cNvSpPr/>
          <p:nvPr/>
        </p:nvSpPr>
        <p:spPr>
          <a:xfrm>
            <a:off x="1368149" y="1623060"/>
            <a:ext cx="261104" cy="60960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63" name="Shape 48"/>
          <p:cNvSpPr/>
          <p:nvPr/>
        </p:nvSpPr>
        <p:spPr>
          <a:xfrm>
            <a:off x="1368149" y="1280160"/>
            <a:ext cx="261104" cy="342900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64" name="Shape 49"/>
          <p:cNvSpPr/>
          <p:nvPr/>
        </p:nvSpPr>
        <p:spPr>
          <a:xfrm>
            <a:off x="1368149" y="1223010"/>
            <a:ext cx="26110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5" name="Shape 50"/>
          <p:cNvSpPr/>
          <p:nvPr/>
        </p:nvSpPr>
        <p:spPr>
          <a:xfrm>
            <a:off x="1368149" y="1127760"/>
            <a:ext cx="261104" cy="9525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6" name="Shape 51"/>
          <p:cNvSpPr/>
          <p:nvPr/>
        </p:nvSpPr>
        <p:spPr>
          <a:xfrm>
            <a:off x="1657824" y="1842135"/>
            <a:ext cx="261223" cy="39052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67" name="Shape 52"/>
          <p:cNvSpPr/>
          <p:nvPr/>
        </p:nvSpPr>
        <p:spPr>
          <a:xfrm>
            <a:off x="1657824" y="1642110"/>
            <a:ext cx="261223" cy="20002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68" name="Shape 53"/>
          <p:cNvSpPr/>
          <p:nvPr/>
        </p:nvSpPr>
        <p:spPr>
          <a:xfrm>
            <a:off x="1657824" y="151828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9" name="Shape 54"/>
          <p:cNvSpPr/>
          <p:nvPr/>
        </p:nvSpPr>
        <p:spPr>
          <a:xfrm>
            <a:off x="1657824" y="1394460"/>
            <a:ext cx="261223" cy="12382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0" name="Shape 55"/>
          <p:cNvSpPr/>
          <p:nvPr/>
        </p:nvSpPr>
        <p:spPr>
          <a:xfrm>
            <a:off x="1947630" y="1680210"/>
            <a:ext cx="261104" cy="55245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71" name="Shape 56"/>
          <p:cNvSpPr/>
          <p:nvPr/>
        </p:nvSpPr>
        <p:spPr>
          <a:xfrm>
            <a:off x="1947630" y="1375410"/>
            <a:ext cx="261104" cy="304800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72" name="Shape 57"/>
          <p:cNvSpPr/>
          <p:nvPr/>
        </p:nvSpPr>
        <p:spPr>
          <a:xfrm>
            <a:off x="1947630" y="1318260"/>
            <a:ext cx="26110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3" name="Shape 58"/>
          <p:cNvSpPr/>
          <p:nvPr/>
        </p:nvSpPr>
        <p:spPr>
          <a:xfrm>
            <a:off x="1947630" y="1261110"/>
            <a:ext cx="261104" cy="5715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4" name="Shape 59"/>
          <p:cNvSpPr/>
          <p:nvPr/>
        </p:nvSpPr>
        <p:spPr>
          <a:xfrm>
            <a:off x="2237305" y="1899285"/>
            <a:ext cx="261223" cy="33337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75" name="Shape 60"/>
          <p:cNvSpPr/>
          <p:nvPr/>
        </p:nvSpPr>
        <p:spPr>
          <a:xfrm>
            <a:off x="2237305" y="1737360"/>
            <a:ext cx="261223" cy="16192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76" name="Shape 61"/>
          <p:cNvSpPr/>
          <p:nvPr/>
        </p:nvSpPr>
        <p:spPr>
          <a:xfrm>
            <a:off x="2237305" y="161353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7" name="Shape 62"/>
          <p:cNvSpPr/>
          <p:nvPr/>
        </p:nvSpPr>
        <p:spPr>
          <a:xfrm>
            <a:off x="2237305" y="1527810"/>
            <a:ext cx="261223" cy="8572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8" name="Shape 63"/>
          <p:cNvSpPr/>
          <p:nvPr/>
        </p:nvSpPr>
        <p:spPr>
          <a:xfrm>
            <a:off x="2527102" y="1737360"/>
            <a:ext cx="261104" cy="49530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79" name="Shape 64"/>
          <p:cNvSpPr/>
          <p:nvPr/>
        </p:nvSpPr>
        <p:spPr>
          <a:xfrm>
            <a:off x="2527102" y="1470660"/>
            <a:ext cx="261104" cy="266700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80" name="Shape 65"/>
          <p:cNvSpPr/>
          <p:nvPr/>
        </p:nvSpPr>
        <p:spPr>
          <a:xfrm>
            <a:off x="2527102" y="1413510"/>
            <a:ext cx="26110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1" name="Shape 66"/>
          <p:cNvSpPr/>
          <p:nvPr/>
        </p:nvSpPr>
        <p:spPr>
          <a:xfrm>
            <a:off x="2527102" y="1299210"/>
            <a:ext cx="261104" cy="1143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2" name="Shape 67"/>
          <p:cNvSpPr/>
          <p:nvPr/>
        </p:nvSpPr>
        <p:spPr>
          <a:xfrm>
            <a:off x="2816786" y="1575435"/>
            <a:ext cx="261223" cy="65722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83" name="Shape 68"/>
          <p:cNvSpPr/>
          <p:nvPr/>
        </p:nvSpPr>
        <p:spPr>
          <a:xfrm>
            <a:off x="2816786" y="1203960"/>
            <a:ext cx="261223" cy="37147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84" name="Shape 69"/>
          <p:cNvSpPr/>
          <p:nvPr/>
        </p:nvSpPr>
        <p:spPr>
          <a:xfrm>
            <a:off x="2816786" y="108013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5" name="Shape 70"/>
          <p:cNvSpPr/>
          <p:nvPr/>
        </p:nvSpPr>
        <p:spPr>
          <a:xfrm>
            <a:off x="2816786" y="1032510"/>
            <a:ext cx="261223" cy="4762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6" name="Shape 71"/>
          <p:cNvSpPr/>
          <p:nvPr/>
        </p:nvSpPr>
        <p:spPr>
          <a:xfrm>
            <a:off x="3106582" y="1794510"/>
            <a:ext cx="261104" cy="43815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87" name="Shape 72"/>
          <p:cNvSpPr/>
          <p:nvPr/>
        </p:nvSpPr>
        <p:spPr>
          <a:xfrm>
            <a:off x="3106582" y="1565910"/>
            <a:ext cx="261104" cy="228600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88" name="Shape 73"/>
          <p:cNvSpPr/>
          <p:nvPr/>
        </p:nvSpPr>
        <p:spPr>
          <a:xfrm>
            <a:off x="3106582" y="1508760"/>
            <a:ext cx="26110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9" name="Shape 74"/>
          <p:cNvSpPr/>
          <p:nvPr/>
        </p:nvSpPr>
        <p:spPr>
          <a:xfrm>
            <a:off x="3106582" y="1432560"/>
            <a:ext cx="261104" cy="76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0" name="Shape 75"/>
          <p:cNvSpPr/>
          <p:nvPr/>
        </p:nvSpPr>
        <p:spPr>
          <a:xfrm>
            <a:off x="3396258" y="1632585"/>
            <a:ext cx="261223" cy="60007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91" name="Shape 76"/>
          <p:cNvSpPr/>
          <p:nvPr/>
        </p:nvSpPr>
        <p:spPr>
          <a:xfrm>
            <a:off x="3396258" y="1299210"/>
            <a:ext cx="261223" cy="33337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92" name="Shape 77"/>
          <p:cNvSpPr/>
          <p:nvPr/>
        </p:nvSpPr>
        <p:spPr>
          <a:xfrm>
            <a:off x="3396258" y="117538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3" name="Shape 78"/>
          <p:cNvSpPr/>
          <p:nvPr/>
        </p:nvSpPr>
        <p:spPr>
          <a:xfrm>
            <a:off x="3396258" y="1070610"/>
            <a:ext cx="261223" cy="1047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4" name="Shape 79"/>
          <p:cNvSpPr/>
          <p:nvPr/>
        </p:nvSpPr>
        <p:spPr>
          <a:xfrm>
            <a:off x="3686054" y="1851660"/>
            <a:ext cx="261104" cy="38100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95" name="Shape 80"/>
          <p:cNvSpPr/>
          <p:nvPr/>
        </p:nvSpPr>
        <p:spPr>
          <a:xfrm>
            <a:off x="3686054" y="1661160"/>
            <a:ext cx="261104" cy="190500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96" name="Shape 81"/>
          <p:cNvSpPr/>
          <p:nvPr/>
        </p:nvSpPr>
        <p:spPr>
          <a:xfrm>
            <a:off x="3686054" y="1604010"/>
            <a:ext cx="26110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7" name="Shape 82"/>
          <p:cNvSpPr/>
          <p:nvPr/>
        </p:nvSpPr>
        <p:spPr>
          <a:xfrm>
            <a:off x="3686054" y="1565910"/>
            <a:ext cx="261104" cy="381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8" name="Shape 83"/>
          <p:cNvSpPr/>
          <p:nvPr/>
        </p:nvSpPr>
        <p:spPr>
          <a:xfrm>
            <a:off x="3975739" y="1689735"/>
            <a:ext cx="261223" cy="54292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99" name="Shape 84"/>
          <p:cNvSpPr/>
          <p:nvPr/>
        </p:nvSpPr>
        <p:spPr>
          <a:xfrm>
            <a:off x="3975739" y="1394460"/>
            <a:ext cx="261223" cy="29527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00" name="Shape 85"/>
          <p:cNvSpPr/>
          <p:nvPr/>
        </p:nvSpPr>
        <p:spPr>
          <a:xfrm>
            <a:off x="3975739" y="127063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1" name="Shape 86"/>
          <p:cNvSpPr/>
          <p:nvPr/>
        </p:nvSpPr>
        <p:spPr>
          <a:xfrm>
            <a:off x="3975739" y="1203960"/>
            <a:ext cx="261223" cy="666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2" name="Shape 87"/>
          <p:cNvSpPr/>
          <p:nvPr/>
        </p:nvSpPr>
        <p:spPr>
          <a:xfrm>
            <a:off x="4265535" y="1908810"/>
            <a:ext cx="261104" cy="32385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03" name="Shape 88"/>
          <p:cNvSpPr/>
          <p:nvPr/>
        </p:nvSpPr>
        <p:spPr>
          <a:xfrm>
            <a:off x="4265535" y="1756410"/>
            <a:ext cx="261104" cy="152400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04" name="Shape 89"/>
          <p:cNvSpPr/>
          <p:nvPr/>
        </p:nvSpPr>
        <p:spPr>
          <a:xfrm>
            <a:off x="4265535" y="1699260"/>
            <a:ext cx="26110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5" name="Shape 90"/>
          <p:cNvSpPr/>
          <p:nvPr/>
        </p:nvSpPr>
        <p:spPr>
          <a:xfrm>
            <a:off x="4265535" y="1604010"/>
            <a:ext cx="261104" cy="9525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6" name="Shape 91"/>
          <p:cNvSpPr/>
          <p:nvPr/>
        </p:nvSpPr>
        <p:spPr>
          <a:xfrm>
            <a:off x="4555210" y="1746885"/>
            <a:ext cx="261223" cy="48577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07" name="Shape 92"/>
          <p:cNvSpPr/>
          <p:nvPr/>
        </p:nvSpPr>
        <p:spPr>
          <a:xfrm>
            <a:off x="4555210" y="1489710"/>
            <a:ext cx="261223" cy="25717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08" name="Shape 93"/>
          <p:cNvSpPr/>
          <p:nvPr/>
        </p:nvSpPr>
        <p:spPr>
          <a:xfrm>
            <a:off x="4555210" y="136588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9" name="Shape 94"/>
          <p:cNvSpPr/>
          <p:nvPr/>
        </p:nvSpPr>
        <p:spPr>
          <a:xfrm>
            <a:off x="4555210" y="1242060"/>
            <a:ext cx="261223" cy="12382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0" name="Shape 95"/>
          <p:cNvSpPr/>
          <p:nvPr/>
        </p:nvSpPr>
        <p:spPr>
          <a:xfrm>
            <a:off x="4845016" y="1584960"/>
            <a:ext cx="261104" cy="64770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11" name="Shape 96"/>
          <p:cNvSpPr/>
          <p:nvPr/>
        </p:nvSpPr>
        <p:spPr>
          <a:xfrm>
            <a:off x="4845016" y="1223010"/>
            <a:ext cx="261104" cy="361950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12" name="Shape 97"/>
          <p:cNvSpPr/>
          <p:nvPr/>
        </p:nvSpPr>
        <p:spPr>
          <a:xfrm>
            <a:off x="4845016" y="1165860"/>
            <a:ext cx="26110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3" name="Shape 98"/>
          <p:cNvSpPr/>
          <p:nvPr/>
        </p:nvSpPr>
        <p:spPr>
          <a:xfrm>
            <a:off x="4845016" y="1108710"/>
            <a:ext cx="261104" cy="5715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4" name="Shape 99"/>
          <p:cNvSpPr/>
          <p:nvPr/>
        </p:nvSpPr>
        <p:spPr>
          <a:xfrm>
            <a:off x="5134691" y="1804035"/>
            <a:ext cx="261223" cy="42862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15" name="Shape 100"/>
          <p:cNvSpPr/>
          <p:nvPr/>
        </p:nvSpPr>
        <p:spPr>
          <a:xfrm>
            <a:off x="5134691" y="1584960"/>
            <a:ext cx="261223" cy="21907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16" name="Shape 101"/>
          <p:cNvSpPr/>
          <p:nvPr/>
        </p:nvSpPr>
        <p:spPr>
          <a:xfrm>
            <a:off x="5134691" y="146113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7" name="Shape 102"/>
          <p:cNvSpPr/>
          <p:nvPr/>
        </p:nvSpPr>
        <p:spPr>
          <a:xfrm>
            <a:off x="5134691" y="1375410"/>
            <a:ext cx="261223" cy="8572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8" name="Shape 103"/>
          <p:cNvSpPr/>
          <p:nvPr/>
        </p:nvSpPr>
        <p:spPr>
          <a:xfrm>
            <a:off x="5424488" y="1642110"/>
            <a:ext cx="261104" cy="59055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19" name="Shape 104"/>
          <p:cNvSpPr/>
          <p:nvPr/>
        </p:nvSpPr>
        <p:spPr>
          <a:xfrm>
            <a:off x="5424488" y="1318260"/>
            <a:ext cx="261104" cy="323850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20" name="Shape 105"/>
          <p:cNvSpPr/>
          <p:nvPr/>
        </p:nvSpPr>
        <p:spPr>
          <a:xfrm>
            <a:off x="5424488" y="1261110"/>
            <a:ext cx="26110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1" name="Shape 106"/>
          <p:cNvSpPr/>
          <p:nvPr/>
        </p:nvSpPr>
        <p:spPr>
          <a:xfrm>
            <a:off x="5424488" y="1146810"/>
            <a:ext cx="261104" cy="1143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2" name="Shape 107"/>
          <p:cNvSpPr/>
          <p:nvPr/>
        </p:nvSpPr>
        <p:spPr>
          <a:xfrm>
            <a:off x="5714172" y="1861185"/>
            <a:ext cx="261223" cy="37147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23" name="Shape 108"/>
          <p:cNvSpPr/>
          <p:nvPr/>
        </p:nvSpPr>
        <p:spPr>
          <a:xfrm>
            <a:off x="5714172" y="1680210"/>
            <a:ext cx="261223" cy="18097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24" name="Shape 109"/>
          <p:cNvSpPr/>
          <p:nvPr/>
        </p:nvSpPr>
        <p:spPr>
          <a:xfrm>
            <a:off x="5714172" y="155638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5" name="Shape 110"/>
          <p:cNvSpPr/>
          <p:nvPr/>
        </p:nvSpPr>
        <p:spPr>
          <a:xfrm>
            <a:off x="5714172" y="1508760"/>
            <a:ext cx="261223" cy="4762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6" name="Shape 111"/>
          <p:cNvSpPr/>
          <p:nvPr/>
        </p:nvSpPr>
        <p:spPr>
          <a:xfrm>
            <a:off x="6003968" y="1776532"/>
            <a:ext cx="261104" cy="456128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27" name="Shape 112"/>
          <p:cNvSpPr/>
          <p:nvPr/>
        </p:nvSpPr>
        <p:spPr>
          <a:xfrm>
            <a:off x="6003968" y="1532097"/>
            <a:ext cx="261104" cy="24443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28" name="Shape 113"/>
          <p:cNvSpPr/>
          <p:nvPr/>
        </p:nvSpPr>
        <p:spPr>
          <a:xfrm>
            <a:off x="6003968" y="1483162"/>
            <a:ext cx="261104" cy="4893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9" name="Shape 114"/>
          <p:cNvSpPr/>
          <p:nvPr/>
        </p:nvSpPr>
        <p:spPr>
          <a:xfrm>
            <a:off x="6003968" y="994410"/>
            <a:ext cx="261104" cy="4887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0" name="Text 115"/>
          <p:cNvSpPr/>
          <p:nvPr/>
        </p:nvSpPr>
        <p:spPr>
          <a:xfrm>
            <a:off x="5998369" y="937260"/>
            <a:ext cx="34837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</a:t>
            </a:r>
            <a:endParaRPr lang="en-US" sz="825" dirty="0"/>
          </a:p>
        </p:txBody>
      </p:sp>
      <p:sp>
        <p:nvSpPr>
          <p:cNvPr id="131" name="Shape 116"/>
          <p:cNvSpPr/>
          <p:nvPr/>
        </p:nvSpPr>
        <p:spPr>
          <a:xfrm>
            <a:off x="6293644" y="1918335"/>
            <a:ext cx="261223" cy="31432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32" name="Shape 117"/>
          <p:cNvSpPr/>
          <p:nvPr/>
        </p:nvSpPr>
        <p:spPr>
          <a:xfrm>
            <a:off x="6293644" y="1775460"/>
            <a:ext cx="261223" cy="14287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33" name="Shape 118"/>
          <p:cNvSpPr/>
          <p:nvPr/>
        </p:nvSpPr>
        <p:spPr>
          <a:xfrm>
            <a:off x="6293644" y="165163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4" name="Shape 119"/>
          <p:cNvSpPr/>
          <p:nvPr/>
        </p:nvSpPr>
        <p:spPr>
          <a:xfrm>
            <a:off x="6293644" y="1546860"/>
            <a:ext cx="261223" cy="1047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5" name="Shape 120"/>
          <p:cNvSpPr/>
          <p:nvPr/>
        </p:nvSpPr>
        <p:spPr>
          <a:xfrm>
            <a:off x="6583440" y="1756410"/>
            <a:ext cx="261104" cy="47625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36" name="Shape 121"/>
          <p:cNvSpPr/>
          <p:nvPr/>
        </p:nvSpPr>
        <p:spPr>
          <a:xfrm>
            <a:off x="6583440" y="1508760"/>
            <a:ext cx="261104" cy="247650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37" name="Shape 122"/>
          <p:cNvSpPr/>
          <p:nvPr/>
        </p:nvSpPr>
        <p:spPr>
          <a:xfrm>
            <a:off x="6583440" y="1451610"/>
            <a:ext cx="26110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8" name="Shape 123"/>
          <p:cNvSpPr/>
          <p:nvPr/>
        </p:nvSpPr>
        <p:spPr>
          <a:xfrm>
            <a:off x="6583440" y="1413510"/>
            <a:ext cx="261104" cy="381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9" name="Shape 124"/>
          <p:cNvSpPr/>
          <p:nvPr/>
        </p:nvSpPr>
        <p:spPr>
          <a:xfrm>
            <a:off x="6873125" y="1594485"/>
            <a:ext cx="261223" cy="63817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40" name="Shape 125"/>
          <p:cNvSpPr/>
          <p:nvPr/>
        </p:nvSpPr>
        <p:spPr>
          <a:xfrm>
            <a:off x="6873125" y="1242060"/>
            <a:ext cx="261223" cy="35242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41" name="Shape 126"/>
          <p:cNvSpPr/>
          <p:nvPr/>
        </p:nvSpPr>
        <p:spPr>
          <a:xfrm>
            <a:off x="6873125" y="111823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2" name="Shape 127"/>
          <p:cNvSpPr/>
          <p:nvPr/>
        </p:nvSpPr>
        <p:spPr>
          <a:xfrm>
            <a:off x="6873125" y="1051560"/>
            <a:ext cx="261223" cy="666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3" name="Shape 128"/>
          <p:cNvSpPr/>
          <p:nvPr/>
        </p:nvSpPr>
        <p:spPr>
          <a:xfrm>
            <a:off x="7162921" y="1813560"/>
            <a:ext cx="261104" cy="41910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44" name="Shape 129"/>
          <p:cNvSpPr/>
          <p:nvPr/>
        </p:nvSpPr>
        <p:spPr>
          <a:xfrm>
            <a:off x="7162921" y="1604010"/>
            <a:ext cx="261104" cy="209550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45" name="Shape 130"/>
          <p:cNvSpPr/>
          <p:nvPr/>
        </p:nvSpPr>
        <p:spPr>
          <a:xfrm>
            <a:off x="7162921" y="1546860"/>
            <a:ext cx="26110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6" name="Shape 131"/>
          <p:cNvSpPr/>
          <p:nvPr/>
        </p:nvSpPr>
        <p:spPr>
          <a:xfrm>
            <a:off x="7162921" y="1451610"/>
            <a:ext cx="261104" cy="9525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7" name="Shape 132"/>
          <p:cNvSpPr/>
          <p:nvPr/>
        </p:nvSpPr>
        <p:spPr>
          <a:xfrm>
            <a:off x="7452596" y="1651635"/>
            <a:ext cx="261223" cy="58102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48" name="Shape 133"/>
          <p:cNvSpPr/>
          <p:nvPr/>
        </p:nvSpPr>
        <p:spPr>
          <a:xfrm>
            <a:off x="7452596" y="1337310"/>
            <a:ext cx="261223" cy="31432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49" name="Shape 134"/>
          <p:cNvSpPr/>
          <p:nvPr/>
        </p:nvSpPr>
        <p:spPr>
          <a:xfrm>
            <a:off x="7452596" y="121348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0" name="Shape 135"/>
          <p:cNvSpPr/>
          <p:nvPr/>
        </p:nvSpPr>
        <p:spPr>
          <a:xfrm>
            <a:off x="7452596" y="1089660"/>
            <a:ext cx="261223" cy="12382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1" name="Shape 136"/>
          <p:cNvSpPr/>
          <p:nvPr/>
        </p:nvSpPr>
        <p:spPr>
          <a:xfrm>
            <a:off x="7742402" y="1870710"/>
            <a:ext cx="261104" cy="36195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52" name="Shape 137"/>
          <p:cNvSpPr/>
          <p:nvPr/>
        </p:nvSpPr>
        <p:spPr>
          <a:xfrm>
            <a:off x="7742402" y="1699260"/>
            <a:ext cx="261104" cy="171450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53" name="Shape 138"/>
          <p:cNvSpPr/>
          <p:nvPr/>
        </p:nvSpPr>
        <p:spPr>
          <a:xfrm>
            <a:off x="7742402" y="1642110"/>
            <a:ext cx="26110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4" name="Shape 139"/>
          <p:cNvSpPr/>
          <p:nvPr/>
        </p:nvSpPr>
        <p:spPr>
          <a:xfrm>
            <a:off x="7742402" y="1584960"/>
            <a:ext cx="261104" cy="5715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5" name="Shape 140"/>
          <p:cNvSpPr/>
          <p:nvPr/>
        </p:nvSpPr>
        <p:spPr>
          <a:xfrm>
            <a:off x="8032077" y="1708785"/>
            <a:ext cx="261223" cy="52387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56" name="Shape 141"/>
          <p:cNvSpPr/>
          <p:nvPr/>
        </p:nvSpPr>
        <p:spPr>
          <a:xfrm>
            <a:off x="8032077" y="1432560"/>
            <a:ext cx="261223" cy="27622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57" name="Shape 142"/>
          <p:cNvSpPr/>
          <p:nvPr/>
        </p:nvSpPr>
        <p:spPr>
          <a:xfrm>
            <a:off x="8032077" y="130873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8" name="Shape 143"/>
          <p:cNvSpPr/>
          <p:nvPr/>
        </p:nvSpPr>
        <p:spPr>
          <a:xfrm>
            <a:off x="8032077" y="1223010"/>
            <a:ext cx="261223" cy="8572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9" name="Shape 144"/>
          <p:cNvSpPr/>
          <p:nvPr/>
        </p:nvSpPr>
        <p:spPr>
          <a:xfrm>
            <a:off x="8321873" y="1927860"/>
            <a:ext cx="261104" cy="30480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60" name="Shape 145"/>
          <p:cNvSpPr/>
          <p:nvPr/>
        </p:nvSpPr>
        <p:spPr>
          <a:xfrm>
            <a:off x="8321873" y="1794510"/>
            <a:ext cx="261104" cy="133350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61" name="Shape 146"/>
          <p:cNvSpPr/>
          <p:nvPr/>
        </p:nvSpPr>
        <p:spPr>
          <a:xfrm>
            <a:off x="8321873" y="1737360"/>
            <a:ext cx="26110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2" name="Shape 147"/>
          <p:cNvSpPr/>
          <p:nvPr/>
        </p:nvSpPr>
        <p:spPr>
          <a:xfrm>
            <a:off x="8321873" y="1623060"/>
            <a:ext cx="261104" cy="1143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3" name="Shape 148"/>
          <p:cNvSpPr/>
          <p:nvPr/>
        </p:nvSpPr>
        <p:spPr>
          <a:xfrm>
            <a:off x="8611558" y="1765935"/>
            <a:ext cx="261223" cy="46672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64" name="Shape 149"/>
          <p:cNvSpPr/>
          <p:nvPr/>
        </p:nvSpPr>
        <p:spPr>
          <a:xfrm>
            <a:off x="8611558" y="1527810"/>
            <a:ext cx="261223" cy="23812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65" name="Shape 150"/>
          <p:cNvSpPr/>
          <p:nvPr/>
        </p:nvSpPr>
        <p:spPr>
          <a:xfrm>
            <a:off x="8611558" y="140398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6" name="Shape 151"/>
          <p:cNvSpPr/>
          <p:nvPr/>
        </p:nvSpPr>
        <p:spPr>
          <a:xfrm>
            <a:off x="8611558" y="1356360"/>
            <a:ext cx="261223" cy="4762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7" name="Shape 152"/>
          <p:cNvSpPr/>
          <p:nvPr/>
        </p:nvSpPr>
        <p:spPr>
          <a:xfrm>
            <a:off x="8901354" y="1604010"/>
            <a:ext cx="261104" cy="62865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68" name="Shape 153"/>
          <p:cNvSpPr/>
          <p:nvPr/>
        </p:nvSpPr>
        <p:spPr>
          <a:xfrm>
            <a:off x="8901354" y="1261110"/>
            <a:ext cx="261104" cy="342900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69" name="Shape 154"/>
          <p:cNvSpPr/>
          <p:nvPr/>
        </p:nvSpPr>
        <p:spPr>
          <a:xfrm>
            <a:off x="8901354" y="1203960"/>
            <a:ext cx="26110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0" name="Shape 155"/>
          <p:cNvSpPr/>
          <p:nvPr/>
        </p:nvSpPr>
        <p:spPr>
          <a:xfrm>
            <a:off x="8901354" y="1127760"/>
            <a:ext cx="261104" cy="76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1" name="Shape 156"/>
          <p:cNvSpPr/>
          <p:nvPr/>
        </p:nvSpPr>
        <p:spPr>
          <a:xfrm>
            <a:off x="9191030" y="1823085"/>
            <a:ext cx="261223" cy="40957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72" name="Shape 157"/>
          <p:cNvSpPr/>
          <p:nvPr/>
        </p:nvSpPr>
        <p:spPr>
          <a:xfrm>
            <a:off x="9191030" y="1623060"/>
            <a:ext cx="261223" cy="20002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73" name="Shape 158"/>
          <p:cNvSpPr/>
          <p:nvPr/>
        </p:nvSpPr>
        <p:spPr>
          <a:xfrm>
            <a:off x="9191030" y="149923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4" name="Shape 159"/>
          <p:cNvSpPr/>
          <p:nvPr/>
        </p:nvSpPr>
        <p:spPr>
          <a:xfrm>
            <a:off x="9191030" y="1394460"/>
            <a:ext cx="261223" cy="1047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5" name="Shape 160"/>
          <p:cNvSpPr/>
          <p:nvPr/>
        </p:nvSpPr>
        <p:spPr>
          <a:xfrm>
            <a:off x="9480826" y="1661160"/>
            <a:ext cx="261104" cy="57150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76" name="Shape 161"/>
          <p:cNvSpPr/>
          <p:nvPr/>
        </p:nvSpPr>
        <p:spPr>
          <a:xfrm>
            <a:off x="9480826" y="1356360"/>
            <a:ext cx="261104" cy="304800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77" name="Shape 162"/>
          <p:cNvSpPr/>
          <p:nvPr/>
        </p:nvSpPr>
        <p:spPr>
          <a:xfrm>
            <a:off x="9480826" y="1299210"/>
            <a:ext cx="26110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8" name="Shape 163"/>
          <p:cNvSpPr/>
          <p:nvPr/>
        </p:nvSpPr>
        <p:spPr>
          <a:xfrm>
            <a:off x="9480826" y="1261110"/>
            <a:ext cx="261104" cy="381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9" name="Shape 164"/>
          <p:cNvSpPr/>
          <p:nvPr/>
        </p:nvSpPr>
        <p:spPr>
          <a:xfrm>
            <a:off x="9770511" y="1880235"/>
            <a:ext cx="261223" cy="352425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80" name="Shape 165"/>
          <p:cNvSpPr/>
          <p:nvPr/>
        </p:nvSpPr>
        <p:spPr>
          <a:xfrm>
            <a:off x="9770511" y="1718310"/>
            <a:ext cx="261223" cy="161925"/>
          </a:xfrm>
          <a:prstGeom prst="rect">
            <a:avLst/>
          </a:prstGeom>
          <a:solidFill>
            <a:srgbClr val="36C5F0">
              <a:alpha val="80000"/>
            </a:srgbClr>
          </a:solidFill>
          <a:ln/>
        </p:spPr>
      </p:sp>
      <p:sp>
        <p:nvSpPr>
          <p:cNvPr id="181" name="Shape 166"/>
          <p:cNvSpPr/>
          <p:nvPr/>
        </p:nvSpPr>
        <p:spPr>
          <a:xfrm>
            <a:off x="9770511" y="1594485"/>
            <a:ext cx="261223" cy="1238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2" name="Shape 167"/>
          <p:cNvSpPr/>
          <p:nvPr/>
        </p:nvSpPr>
        <p:spPr>
          <a:xfrm>
            <a:off x="9770511" y="1527810"/>
            <a:ext cx="261223" cy="666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3" name="Text 168"/>
          <p:cNvSpPr/>
          <p:nvPr/>
        </p:nvSpPr>
        <p:spPr>
          <a:xfrm>
            <a:off x="788668" y="2270760"/>
            <a:ext cx="9336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yesterday 19:00</a:t>
            </a:r>
            <a:endParaRPr lang="en-US" sz="750" dirty="0"/>
          </a:p>
        </p:txBody>
      </p:sp>
      <p:sp>
        <p:nvSpPr>
          <p:cNvPr id="184" name="Text 169"/>
          <p:cNvSpPr/>
          <p:nvPr/>
        </p:nvSpPr>
        <p:spPr>
          <a:xfrm>
            <a:off x="9517261" y="2270760"/>
            <a:ext cx="5906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19:00</a:t>
            </a:r>
            <a:endParaRPr lang="en-US" sz="750" dirty="0"/>
          </a:p>
        </p:txBody>
      </p:sp>
      <p:sp>
        <p:nvSpPr>
          <p:cNvPr id="185" name="Shape 170"/>
          <p:cNvSpPr/>
          <p:nvPr/>
        </p:nvSpPr>
        <p:spPr>
          <a:xfrm>
            <a:off x="788668" y="2486978"/>
            <a:ext cx="95250" cy="952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6" name="Text 171"/>
          <p:cNvSpPr/>
          <p:nvPr/>
        </p:nvSpPr>
        <p:spPr>
          <a:xfrm>
            <a:off x="922018" y="2461260"/>
            <a:ext cx="28015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825" dirty="0"/>
          </a:p>
        </p:txBody>
      </p:sp>
      <p:sp>
        <p:nvSpPr>
          <p:cNvPr id="187" name="Shape 172"/>
          <p:cNvSpPr/>
          <p:nvPr/>
        </p:nvSpPr>
        <p:spPr>
          <a:xfrm>
            <a:off x="1183128" y="2486978"/>
            <a:ext cx="95250" cy="95250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188" name="Text 173"/>
          <p:cNvSpPr/>
          <p:nvPr/>
        </p:nvSpPr>
        <p:spPr>
          <a:xfrm>
            <a:off x="1316478" y="2461260"/>
            <a:ext cx="32670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825" dirty="0"/>
          </a:p>
        </p:txBody>
      </p:sp>
      <p:sp>
        <p:nvSpPr>
          <p:cNvPr id="189" name="Shape 174"/>
          <p:cNvSpPr/>
          <p:nvPr/>
        </p:nvSpPr>
        <p:spPr>
          <a:xfrm>
            <a:off x="1624133" y="2486978"/>
            <a:ext cx="95250" cy="952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0" name="Text 175"/>
          <p:cNvSpPr/>
          <p:nvPr/>
        </p:nvSpPr>
        <p:spPr>
          <a:xfrm>
            <a:off x="1757483" y="2461260"/>
            <a:ext cx="42564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825" dirty="0"/>
          </a:p>
        </p:txBody>
      </p:sp>
      <p:sp>
        <p:nvSpPr>
          <p:cNvPr id="191" name="Shape 176"/>
          <p:cNvSpPr/>
          <p:nvPr/>
        </p:nvSpPr>
        <p:spPr>
          <a:xfrm>
            <a:off x="2164082" y="2486978"/>
            <a:ext cx="95250" cy="9525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2" name="Text 177"/>
          <p:cNvSpPr/>
          <p:nvPr/>
        </p:nvSpPr>
        <p:spPr>
          <a:xfrm>
            <a:off x="2297432" y="2461260"/>
            <a:ext cx="44315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825" dirty="0"/>
          </a:p>
        </p:txBody>
      </p:sp>
      <p:sp>
        <p:nvSpPr>
          <p:cNvPr id="193" name="Shape 178"/>
          <p:cNvSpPr/>
          <p:nvPr/>
        </p:nvSpPr>
        <p:spPr>
          <a:xfrm>
            <a:off x="666750" y="2806065"/>
            <a:ext cx="9486900" cy="3728085"/>
          </a:xfrm>
          <a:prstGeom prst="roundRect">
            <a:avLst>
              <a:gd name="adj" fmla="val 204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94" name="Text 179"/>
          <p:cNvSpPr/>
          <p:nvPr/>
        </p:nvSpPr>
        <p:spPr>
          <a:xfrm>
            <a:off x="788668" y="2916555"/>
            <a:ext cx="23851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· filtered to 13:00–13:35 (selection)</a:t>
            </a:r>
            <a:endParaRPr lang="en-US" sz="900" dirty="0"/>
          </a:p>
        </p:txBody>
      </p:sp>
      <p:sp>
        <p:nvSpPr>
          <p:cNvPr id="195" name="Text 180"/>
          <p:cNvSpPr/>
          <p:nvPr/>
        </p:nvSpPr>
        <p:spPr>
          <a:xfrm>
            <a:off x="9565602" y="2915603"/>
            <a:ext cx="54233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of 1,402</a:t>
            </a:r>
            <a:endParaRPr lang="en-US" sz="825" dirty="0"/>
          </a:p>
        </p:txBody>
      </p:sp>
      <p:sp>
        <p:nvSpPr>
          <p:cNvPr id="196" name="Shape 181"/>
          <p:cNvSpPr/>
          <p:nvPr/>
        </p:nvSpPr>
        <p:spPr>
          <a:xfrm>
            <a:off x="788668" y="3145155"/>
            <a:ext cx="1315045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7" name="Shape 182"/>
          <p:cNvSpPr/>
          <p:nvPr/>
        </p:nvSpPr>
        <p:spPr>
          <a:xfrm>
            <a:off x="788668" y="3383280"/>
            <a:ext cx="131504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8" name="Text 183"/>
          <p:cNvSpPr/>
          <p:nvPr/>
        </p:nvSpPr>
        <p:spPr>
          <a:xfrm>
            <a:off x="864868" y="3192780"/>
            <a:ext cx="12388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25" dirty="0"/>
          </a:p>
        </p:txBody>
      </p:sp>
      <p:sp>
        <p:nvSpPr>
          <p:cNvPr id="199" name="Shape 184"/>
          <p:cNvSpPr/>
          <p:nvPr/>
        </p:nvSpPr>
        <p:spPr>
          <a:xfrm>
            <a:off x="2103713" y="3145155"/>
            <a:ext cx="1371719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0" name="Shape 185"/>
          <p:cNvSpPr/>
          <p:nvPr/>
        </p:nvSpPr>
        <p:spPr>
          <a:xfrm>
            <a:off x="2103713" y="3383280"/>
            <a:ext cx="137171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1" name="Text 186"/>
          <p:cNvSpPr/>
          <p:nvPr/>
        </p:nvSpPr>
        <p:spPr>
          <a:xfrm>
            <a:off x="2179913" y="3192780"/>
            <a:ext cx="12955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</a:t>
            </a:r>
            <a:endParaRPr lang="en-US" sz="825" dirty="0"/>
          </a:p>
        </p:txBody>
      </p:sp>
      <p:sp>
        <p:nvSpPr>
          <p:cNvPr id="202" name="Shape 187"/>
          <p:cNvSpPr/>
          <p:nvPr/>
        </p:nvSpPr>
        <p:spPr>
          <a:xfrm>
            <a:off x="3475434" y="3145155"/>
            <a:ext cx="1188958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3" name="Shape 188"/>
          <p:cNvSpPr/>
          <p:nvPr/>
        </p:nvSpPr>
        <p:spPr>
          <a:xfrm>
            <a:off x="3475434" y="3383280"/>
            <a:ext cx="1188958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4" name="Text 189"/>
          <p:cNvSpPr/>
          <p:nvPr/>
        </p:nvSpPr>
        <p:spPr>
          <a:xfrm>
            <a:off x="3551634" y="3192780"/>
            <a:ext cx="11127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825" dirty="0"/>
          </a:p>
        </p:txBody>
      </p:sp>
      <p:sp>
        <p:nvSpPr>
          <p:cNvPr id="205" name="Shape 190"/>
          <p:cNvSpPr/>
          <p:nvPr/>
        </p:nvSpPr>
        <p:spPr>
          <a:xfrm>
            <a:off x="4664394" y="3145155"/>
            <a:ext cx="1441133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6" name="Shape 191"/>
          <p:cNvSpPr/>
          <p:nvPr/>
        </p:nvSpPr>
        <p:spPr>
          <a:xfrm>
            <a:off x="4664394" y="3383280"/>
            <a:ext cx="1441133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7" name="Text 192"/>
          <p:cNvSpPr/>
          <p:nvPr/>
        </p:nvSpPr>
        <p:spPr>
          <a:xfrm>
            <a:off x="4740594" y="3192780"/>
            <a:ext cx="13649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825" dirty="0"/>
          </a:p>
        </p:txBody>
      </p:sp>
      <p:sp>
        <p:nvSpPr>
          <p:cNvPr id="208" name="Shape 193"/>
          <p:cNvSpPr/>
          <p:nvPr/>
        </p:nvSpPr>
        <p:spPr>
          <a:xfrm>
            <a:off x="6105525" y="3145155"/>
            <a:ext cx="2460069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9" name="Shape 194"/>
          <p:cNvSpPr/>
          <p:nvPr/>
        </p:nvSpPr>
        <p:spPr>
          <a:xfrm>
            <a:off x="6105525" y="3383280"/>
            <a:ext cx="246006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0" name="Text 195"/>
          <p:cNvSpPr/>
          <p:nvPr/>
        </p:nvSpPr>
        <p:spPr>
          <a:xfrm>
            <a:off x="6181725" y="3192780"/>
            <a:ext cx="238386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25" dirty="0"/>
          </a:p>
        </p:txBody>
      </p:sp>
      <p:sp>
        <p:nvSpPr>
          <p:cNvPr id="211" name="Shape 196"/>
          <p:cNvSpPr/>
          <p:nvPr/>
        </p:nvSpPr>
        <p:spPr>
          <a:xfrm>
            <a:off x="8565598" y="3145155"/>
            <a:ext cx="1466136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2" name="Shape 197"/>
          <p:cNvSpPr/>
          <p:nvPr/>
        </p:nvSpPr>
        <p:spPr>
          <a:xfrm>
            <a:off x="8565598" y="3383280"/>
            <a:ext cx="146613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3" name="Text 198"/>
          <p:cNvSpPr/>
          <p:nvPr/>
        </p:nvSpPr>
        <p:spPr>
          <a:xfrm>
            <a:off x="8641798" y="3192780"/>
            <a:ext cx="13899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25" dirty="0"/>
          </a:p>
        </p:txBody>
      </p:sp>
      <p:sp>
        <p:nvSpPr>
          <p:cNvPr id="214" name="Shape 199"/>
          <p:cNvSpPr/>
          <p:nvPr/>
        </p:nvSpPr>
        <p:spPr>
          <a:xfrm>
            <a:off x="788668" y="3705225"/>
            <a:ext cx="131504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5" name="Text 200"/>
          <p:cNvSpPr/>
          <p:nvPr/>
        </p:nvSpPr>
        <p:spPr>
          <a:xfrm>
            <a:off x="864868" y="3448050"/>
            <a:ext cx="12388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13:21:09</a:t>
            </a:r>
            <a:endParaRPr lang="en-US" sz="825" dirty="0"/>
          </a:p>
        </p:txBody>
      </p:sp>
      <p:sp>
        <p:nvSpPr>
          <p:cNvPr id="216" name="Shape 201"/>
          <p:cNvSpPr/>
          <p:nvPr/>
        </p:nvSpPr>
        <p:spPr>
          <a:xfrm>
            <a:off x="2103713" y="3705225"/>
            <a:ext cx="13717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7" name="Shape 202"/>
          <p:cNvSpPr/>
          <p:nvPr/>
        </p:nvSpPr>
        <p:spPr>
          <a:xfrm>
            <a:off x="2179913" y="3451860"/>
            <a:ext cx="467201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218" name="Shape 203"/>
          <p:cNvSpPr/>
          <p:nvPr/>
        </p:nvSpPr>
        <p:spPr>
          <a:xfrm>
            <a:off x="2254216" y="352329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219" name="Text 204"/>
          <p:cNvSpPr/>
          <p:nvPr/>
        </p:nvSpPr>
        <p:spPr>
          <a:xfrm>
            <a:off x="2349466" y="3486150"/>
            <a:ext cx="29955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825" dirty="0"/>
          </a:p>
        </p:txBody>
      </p:sp>
      <p:sp>
        <p:nvSpPr>
          <p:cNvPr id="220" name="Shape 205"/>
          <p:cNvSpPr/>
          <p:nvPr/>
        </p:nvSpPr>
        <p:spPr>
          <a:xfrm>
            <a:off x="3475434" y="3705225"/>
            <a:ext cx="118895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1" name="Text 206"/>
          <p:cNvSpPr/>
          <p:nvPr/>
        </p:nvSpPr>
        <p:spPr>
          <a:xfrm>
            <a:off x="3551634" y="3448050"/>
            <a:ext cx="11127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mfa_a91</a:t>
            </a:r>
            <a:endParaRPr lang="en-US" sz="825" dirty="0"/>
          </a:p>
        </p:txBody>
      </p:sp>
      <p:sp>
        <p:nvSpPr>
          <p:cNvPr id="222" name="Shape 207"/>
          <p:cNvSpPr/>
          <p:nvPr/>
        </p:nvSpPr>
        <p:spPr>
          <a:xfrm>
            <a:off x="4664394" y="3705225"/>
            <a:ext cx="144113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3" name="Text 208"/>
          <p:cNvSpPr/>
          <p:nvPr/>
        </p:nvSpPr>
        <p:spPr>
          <a:xfrm>
            <a:off x="4740594" y="3448050"/>
            <a:ext cx="136493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carlos.t</a:t>
            </a:r>
            <a:endParaRPr lang="en-US" sz="825" dirty="0"/>
          </a:p>
        </p:txBody>
      </p:sp>
      <p:sp>
        <p:nvSpPr>
          <p:cNvPr id="224" name="Shape 209"/>
          <p:cNvSpPr/>
          <p:nvPr/>
        </p:nvSpPr>
        <p:spPr>
          <a:xfrm>
            <a:off x="6105525" y="3705225"/>
            <a:ext cx="246006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5" name="Text 210"/>
          <p:cNvSpPr/>
          <p:nvPr/>
        </p:nvSpPr>
        <p:spPr>
          <a:xfrm>
            <a:off x="6181725" y="3448050"/>
            <a:ext cx="23838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#1 of 14</a:t>
            </a:r>
            <a:endParaRPr lang="en-US" sz="900" dirty="0"/>
          </a:p>
        </p:txBody>
      </p:sp>
      <p:sp>
        <p:nvSpPr>
          <p:cNvPr id="226" name="Shape 211"/>
          <p:cNvSpPr/>
          <p:nvPr/>
        </p:nvSpPr>
        <p:spPr>
          <a:xfrm>
            <a:off x="8565598" y="3705225"/>
            <a:ext cx="146613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7" name="Text 212"/>
          <p:cNvSpPr/>
          <p:nvPr/>
        </p:nvSpPr>
        <p:spPr>
          <a:xfrm>
            <a:off x="8641798" y="3448050"/>
            <a:ext cx="13899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900" dirty="0"/>
          </a:p>
        </p:txBody>
      </p:sp>
      <p:sp>
        <p:nvSpPr>
          <p:cNvPr id="228" name="Shape 213"/>
          <p:cNvSpPr/>
          <p:nvPr/>
        </p:nvSpPr>
        <p:spPr>
          <a:xfrm>
            <a:off x="788668" y="4027170"/>
            <a:ext cx="131504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9" name="Text 214"/>
          <p:cNvSpPr/>
          <p:nvPr/>
        </p:nvSpPr>
        <p:spPr>
          <a:xfrm>
            <a:off x="864868" y="3769995"/>
            <a:ext cx="12388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13:23:55</a:t>
            </a:r>
            <a:endParaRPr lang="en-US" sz="825" dirty="0"/>
          </a:p>
        </p:txBody>
      </p:sp>
      <p:sp>
        <p:nvSpPr>
          <p:cNvPr id="230" name="Shape 215"/>
          <p:cNvSpPr/>
          <p:nvPr/>
        </p:nvSpPr>
        <p:spPr>
          <a:xfrm>
            <a:off x="2103713" y="4027170"/>
            <a:ext cx="13717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1" name="Shape 216"/>
          <p:cNvSpPr/>
          <p:nvPr/>
        </p:nvSpPr>
        <p:spPr>
          <a:xfrm>
            <a:off x="2179913" y="3773805"/>
            <a:ext cx="467201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232" name="Shape 217"/>
          <p:cNvSpPr/>
          <p:nvPr/>
        </p:nvSpPr>
        <p:spPr>
          <a:xfrm>
            <a:off x="2254216" y="3845243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233" name="Text 218"/>
          <p:cNvSpPr/>
          <p:nvPr/>
        </p:nvSpPr>
        <p:spPr>
          <a:xfrm>
            <a:off x="2349466" y="3808095"/>
            <a:ext cx="29955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825" dirty="0"/>
          </a:p>
        </p:txBody>
      </p:sp>
      <p:sp>
        <p:nvSpPr>
          <p:cNvPr id="234" name="Shape 219"/>
          <p:cNvSpPr/>
          <p:nvPr/>
        </p:nvSpPr>
        <p:spPr>
          <a:xfrm>
            <a:off x="3475434" y="4027170"/>
            <a:ext cx="118895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5" name="Text 220"/>
          <p:cNvSpPr/>
          <p:nvPr/>
        </p:nvSpPr>
        <p:spPr>
          <a:xfrm>
            <a:off x="3551634" y="3769995"/>
            <a:ext cx="11127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mfa_b14</a:t>
            </a:r>
            <a:endParaRPr lang="en-US" sz="825" dirty="0"/>
          </a:p>
        </p:txBody>
      </p:sp>
      <p:sp>
        <p:nvSpPr>
          <p:cNvPr id="236" name="Shape 221"/>
          <p:cNvSpPr/>
          <p:nvPr/>
        </p:nvSpPr>
        <p:spPr>
          <a:xfrm>
            <a:off x="4664394" y="4027170"/>
            <a:ext cx="144113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7" name="Text 222"/>
          <p:cNvSpPr/>
          <p:nvPr/>
        </p:nvSpPr>
        <p:spPr>
          <a:xfrm>
            <a:off x="4740594" y="3769995"/>
            <a:ext cx="136493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carlos.t</a:t>
            </a:r>
            <a:endParaRPr lang="en-US" sz="825" dirty="0"/>
          </a:p>
        </p:txBody>
      </p:sp>
      <p:sp>
        <p:nvSpPr>
          <p:cNvPr id="238" name="Shape 223"/>
          <p:cNvSpPr/>
          <p:nvPr/>
        </p:nvSpPr>
        <p:spPr>
          <a:xfrm>
            <a:off x="6105525" y="4027170"/>
            <a:ext cx="246006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9" name="Text 224"/>
          <p:cNvSpPr/>
          <p:nvPr/>
        </p:nvSpPr>
        <p:spPr>
          <a:xfrm>
            <a:off x="6181725" y="3769995"/>
            <a:ext cx="23838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#14 approved</a:t>
            </a:r>
            <a:endParaRPr lang="en-US" sz="900" dirty="0"/>
          </a:p>
        </p:txBody>
      </p:sp>
      <p:sp>
        <p:nvSpPr>
          <p:cNvPr id="240" name="Shape 225"/>
          <p:cNvSpPr/>
          <p:nvPr/>
        </p:nvSpPr>
        <p:spPr>
          <a:xfrm>
            <a:off x="8565598" y="4027170"/>
            <a:ext cx="146613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1" name="Text 226"/>
          <p:cNvSpPr/>
          <p:nvPr/>
        </p:nvSpPr>
        <p:spPr>
          <a:xfrm>
            <a:off x="8641798" y="3769995"/>
            <a:ext cx="13899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900" dirty="0"/>
          </a:p>
        </p:txBody>
      </p:sp>
      <p:sp>
        <p:nvSpPr>
          <p:cNvPr id="242" name="Shape 227"/>
          <p:cNvSpPr/>
          <p:nvPr/>
        </p:nvSpPr>
        <p:spPr>
          <a:xfrm>
            <a:off x="788668" y="4349115"/>
            <a:ext cx="131504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3" name="Text 228"/>
          <p:cNvSpPr/>
          <p:nvPr/>
        </p:nvSpPr>
        <p:spPr>
          <a:xfrm>
            <a:off x="864868" y="4091940"/>
            <a:ext cx="12388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13:25:11</a:t>
            </a:r>
            <a:endParaRPr lang="en-US" sz="825" dirty="0"/>
          </a:p>
        </p:txBody>
      </p:sp>
      <p:sp>
        <p:nvSpPr>
          <p:cNvPr id="244" name="Shape 229"/>
          <p:cNvSpPr/>
          <p:nvPr/>
        </p:nvSpPr>
        <p:spPr>
          <a:xfrm>
            <a:off x="2103713" y="4349115"/>
            <a:ext cx="13717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5" name="Shape 230"/>
          <p:cNvSpPr/>
          <p:nvPr/>
        </p:nvSpPr>
        <p:spPr>
          <a:xfrm>
            <a:off x="2179913" y="4095750"/>
            <a:ext cx="531257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246" name="Shape 231"/>
          <p:cNvSpPr/>
          <p:nvPr/>
        </p:nvSpPr>
        <p:spPr>
          <a:xfrm>
            <a:off x="2254216" y="416718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47" name="Text 232"/>
          <p:cNvSpPr/>
          <p:nvPr/>
        </p:nvSpPr>
        <p:spPr>
          <a:xfrm>
            <a:off x="2349466" y="4130040"/>
            <a:ext cx="36361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825" dirty="0"/>
          </a:p>
        </p:txBody>
      </p:sp>
      <p:sp>
        <p:nvSpPr>
          <p:cNvPr id="248" name="Shape 233"/>
          <p:cNvSpPr/>
          <p:nvPr/>
        </p:nvSpPr>
        <p:spPr>
          <a:xfrm>
            <a:off x="3475434" y="4349115"/>
            <a:ext cx="118895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9" name="Text 234"/>
          <p:cNvSpPr/>
          <p:nvPr/>
        </p:nvSpPr>
        <p:spPr>
          <a:xfrm>
            <a:off x="3551634" y="4091940"/>
            <a:ext cx="11127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ct_4a91</a:t>
            </a:r>
            <a:endParaRPr lang="en-US" sz="825" dirty="0"/>
          </a:p>
        </p:txBody>
      </p:sp>
      <p:sp>
        <p:nvSpPr>
          <p:cNvPr id="250" name="Shape 235"/>
          <p:cNvSpPr/>
          <p:nvPr/>
        </p:nvSpPr>
        <p:spPr>
          <a:xfrm>
            <a:off x="4664394" y="4349115"/>
            <a:ext cx="144113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1" name="Text 236"/>
          <p:cNvSpPr/>
          <p:nvPr/>
        </p:nvSpPr>
        <p:spPr>
          <a:xfrm>
            <a:off x="4740594" y="4091940"/>
            <a:ext cx="136493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 xZ91</a:t>
            </a:r>
            <a:endParaRPr lang="en-US" sz="825" dirty="0"/>
          </a:p>
        </p:txBody>
      </p:sp>
      <p:sp>
        <p:nvSpPr>
          <p:cNvPr id="252" name="Shape 237"/>
          <p:cNvSpPr/>
          <p:nvPr/>
        </p:nvSpPr>
        <p:spPr>
          <a:xfrm>
            <a:off x="6105525" y="4349115"/>
            <a:ext cx="246006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3" name="Text 238"/>
          <p:cNvSpPr/>
          <p:nvPr/>
        </p:nvSpPr>
        <p:spPr>
          <a:xfrm>
            <a:off x="6181725" y="4091940"/>
            <a:ext cx="23838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ListBuckets</a:t>
            </a:r>
            <a:endParaRPr lang="en-US" sz="900" dirty="0"/>
          </a:p>
        </p:txBody>
      </p:sp>
      <p:sp>
        <p:nvSpPr>
          <p:cNvPr id="254" name="Shape 239"/>
          <p:cNvSpPr/>
          <p:nvPr/>
        </p:nvSpPr>
        <p:spPr>
          <a:xfrm>
            <a:off x="8565598" y="4349115"/>
            <a:ext cx="146613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5" name="Text 240"/>
          <p:cNvSpPr/>
          <p:nvPr/>
        </p:nvSpPr>
        <p:spPr>
          <a:xfrm>
            <a:off x="8641798" y="4091940"/>
            <a:ext cx="13899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</a:t>
            </a:r>
            <a:endParaRPr lang="en-US" sz="900" dirty="0"/>
          </a:p>
        </p:txBody>
      </p:sp>
      <p:sp>
        <p:nvSpPr>
          <p:cNvPr id="256" name="Shape 241"/>
          <p:cNvSpPr/>
          <p:nvPr/>
        </p:nvSpPr>
        <p:spPr>
          <a:xfrm>
            <a:off x="788668" y="4671060"/>
            <a:ext cx="131504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7" name="Text 242"/>
          <p:cNvSpPr/>
          <p:nvPr/>
        </p:nvSpPr>
        <p:spPr>
          <a:xfrm>
            <a:off x="864868" y="4413885"/>
            <a:ext cx="12388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13:31:00</a:t>
            </a:r>
            <a:endParaRPr lang="en-US" sz="825" dirty="0"/>
          </a:p>
        </p:txBody>
      </p:sp>
      <p:sp>
        <p:nvSpPr>
          <p:cNvPr id="258" name="Shape 243"/>
          <p:cNvSpPr/>
          <p:nvPr/>
        </p:nvSpPr>
        <p:spPr>
          <a:xfrm>
            <a:off x="2103713" y="4671060"/>
            <a:ext cx="13717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9" name="Shape 244"/>
          <p:cNvSpPr/>
          <p:nvPr/>
        </p:nvSpPr>
        <p:spPr>
          <a:xfrm>
            <a:off x="2179913" y="4417695"/>
            <a:ext cx="531257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260" name="Shape 245"/>
          <p:cNvSpPr/>
          <p:nvPr/>
        </p:nvSpPr>
        <p:spPr>
          <a:xfrm>
            <a:off x="2254216" y="448913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61" name="Text 246"/>
          <p:cNvSpPr/>
          <p:nvPr/>
        </p:nvSpPr>
        <p:spPr>
          <a:xfrm>
            <a:off x="2349466" y="4451985"/>
            <a:ext cx="36361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825" dirty="0"/>
          </a:p>
        </p:txBody>
      </p:sp>
      <p:sp>
        <p:nvSpPr>
          <p:cNvPr id="262" name="Shape 247"/>
          <p:cNvSpPr/>
          <p:nvPr/>
        </p:nvSpPr>
        <p:spPr>
          <a:xfrm>
            <a:off x="3475434" y="4671060"/>
            <a:ext cx="118895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3" name="Text 248"/>
          <p:cNvSpPr/>
          <p:nvPr/>
        </p:nvSpPr>
        <p:spPr>
          <a:xfrm>
            <a:off x="3551634" y="4413885"/>
            <a:ext cx="11127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ct_6c33</a:t>
            </a:r>
            <a:endParaRPr lang="en-US" sz="825" dirty="0"/>
          </a:p>
        </p:txBody>
      </p:sp>
      <p:sp>
        <p:nvSpPr>
          <p:cNvPr id="264" name="Shape 249"/>
          <p:cNvSpPr/>
          <p:nvPr/>
        </p:nvSpPr>
        <p:spPr>
          <a:xfrm>
            <a:off x="4664394" y="4671060"/>
            <a:ext cx="144113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5" name="Text 250"/>
          <p:cNvSpPr/>
          <p:nvPr/>
        </p:nvSpPr>
        <p:spPr>
          <a:xfrm>
            <a:off x="4740594" y="4413885"/>
            <a:ext cx="136493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 xZ91</a:t>
            </a:r>
            <a:endParaRPr lang="en-US" sz="825" dirty="0"/>
          </a:p>
        </p:txBody>
      </p:sp>
      <p:sp>
        <p:nvSpPr>
          <p:cNvPr id="266" name="Shape 251"/>
          <p:cNvSpPr/>
          <p:nvPr/>
        </p:nvSpPr>
        <p:spPr>
          <a:xfrm>
            <a:off x="6105525" y="4671060"/>
            <a:ext cx="246006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7" name="Text 252"/>
          <p:cNvSpPr/>
          <p:nvPr/>
        </p:nvSpPr>
        <p:spPr>
          <a:xfrm>
            <a:off x="6181725" y="4413885"/>
            <a:ext cx="23838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GetObject ×1,402</a:t>
            </a:r>
            <a:endParaRPr lang="en-US" sz="900" dirty="0"/>
          </a:p>
        </p:txBody>
      </p:sp>
      <p:sp>
        <p:nvSpPr>
          <p:cNvPr id="268" name="Shape 253"/>
          <p:cNvSpPr/>
          <p:nvPr/>
        </p:nvSpPr>
        <p:spPr>
          <a:xfrm>
            <a:off x="8565598" y="4671060"/>
            <a:ext cx="146613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9" name="Text 254"/>
          <p:cNvSpPr/>
          <p:nvPr/>
        </p:nvSpPr>
        <p:spPr>
          <a:xfrm>
            <a:off x="8641798" y="4413885"/>
            <a:ext cx="13899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</a:t>
            </a:r>
            <a:endParaRPr lang="en-US" sz="900" dirty="0"/>
          </a:p>
        </p:txBody>
      </p:sp>
      <p:sp>
        <p:nvSpPr>
          <p:cNvPr id="270" name="Shape 255"/>
          <p:cNvSpPr/>
          <p:nvPr/>
        </p:nvSpPr>
        <p:spPr>
          <a:xfrm>
            <a:off x="788668" y="4678680"/>
            <a:ext cx="1315045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71" name="Shape 256"/>
          <p:cNvSpPr/>
          <p:nvPr/>
        </p:nvSpPr>
        <p:spPr>
          <a:xfrm>
            <a:off x="788668" y="4993005"/>
            <a:ext cx="131504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2" name="Text 257"/>
          <p:cNvSpPr/>
          <p:nvPr/>
        </p:nvSpPr>
        <p:spPr>
          <a:xfrm>
            <a:off x="864868" y="4735830"/>
            <a:ext cx="12388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13:31:55</a:t>
            </a:r>
            <a:endParaRPr lang="en-US" sz="825" dirty="0"/>
          </a:p>
        </p:txBody>
      </p:sp>
      <p:sp>
        <p:nvSpPr>
          <p:cNvPr id="273" name="Shape 258"/>
          <p:cNvSpPr/>
          <p:nvPr/>
        </p:nvSpPr>
        <p:spPr>
          <a:xfrm>
            <a:off x="2103713" y="4678680"/>
            <a:ext cx="1371719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74" name="Shape 259"/>
          <p:cNvSpPr/>
          <p:nvPr/>
        </p:nvSpPr>
        <p:spPr>
          <a:xfrm>
            <a:off x="2103713" y="4993005"/>
            <a:ext cx="13717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5" name="Shape 260"/>
          <p:cNvSpPr/>
          <p:nvPr/>
        </p:nvSpPr>
        <p:spPr>
          <a:xfrm>
            <a:off x="2179913" y="4739640"/>
            <a:ext cx="402074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76" name="Shape 261"/>
          <p:cNvSpPr/>
          <p:nvPr/>
        </p:nvSpPr>
        <p:spPr>
          <a:xfrm>
            <a:off x="2254216" y="481107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77" name="Text 262"/>
          <p:cNvSpPr/>
          <p:nvPr/>
        </p:nvSpPr>
        <p:spPr>
          <a:xfrm>
            <a:off x="2349466" y="4773930"/>
            <a:ext cx="23443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25" dirty="0"/>
          </a:p>
        </p:txBody>
      </p:sp>
      <p:sp>
        <p:nvSpPr>
          <p:cNvPr id="278" name="Shape 263"/>
          <p:cNvSpPr/>
          <p:nvPr/>
        </p:nvSpPr>
        <p:spPr>
          <a:xfrm>
            <a:off x="3475434" y="4678680"/>
            <a:ext cx="1188958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79" name="Shape 264"/>
          <p:cNvSpPr/>
          <p:nvPr/>
        </p:nvSpPr>
        <p:spPr>
          <a:xfrm>
            <a:off x="3475434" y="4993005"/>
            <a:ext cx="118895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0" name="Text 265"/>
          <p:cNvSpPr/>
          <p:nvPr/>
        </p:nvSpPr>
        <p:spPr>
          <a:xfrm>
            <a:off x="3551634" y="4735830"/>
            <a:ext cx="11127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kc_91</a:t>
            </a:r>
            <a:endParaRPr lang="en-US" sz="825" dirty="0"/>
          </a:p>
        </p:txBody>
      </p:sp>
      <p:sp>
        <p:nvSpPr>
          <p:cNvPr id="281" name="Shape 266"/>
          <p:cNvSpPr/>
          <p:nvPr/>
        </p:nvSpPr>
        <p:spPr>
          <a:xfrm>
            <a:off x="4664394" y="4678680"/>
            <a:ext cx="1441133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82" name="Shape 267"/>
          <p:cNvSpPr/>
          <p:nvPr/>
        </p:nvSpPr>
        <p:spPr>
          <a:xfrm>
            <a:off x="4664394" y="4993005"/>
            <a:ext cx="144113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3" name="Text 268"/>
          <p:cNvSpPr/>
          <p:nvPr/>
        </p:nvSpPr>
        <p:spPr>
          <a:xfrm>
            <a:off x="4740594" y="4735830"/>
            <a:ext cx="136493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ana-3</a:t>
            </a:r>
            <a:endParaRPr lang="en-US" sz="825" dirty="0"/>
          </a:p>
        </p:txBody>
      </p:sp>
      <p:sp>
        <p:nvSpPr>
          <p:cNvPr id="284" name="Shape 269"/>
          <p:cNvSpPr/>
          <p:nvPr/>
        </p:nvSpPr>
        <p:spPr>
          <a:xfrm>
            <a:off x="6105525" y="4678680"/>
            <a:ext cx="2460069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85" name="Shape 270"/>
          <p:cNvSpPr/>
          <p:nvPr/>
        </p:nvSpPr>
        <p:spPr>
          <a:xfrm>
            <a:off x="6105525" y="4993005"/>
            <a:ext cx="246006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6" name="Text 271"/>
          <p:cNvSpPr/>
          <p:nvPr/>
        </p:nvSpPr>
        <p:spPr>
          <a:xfrm>
            <a:off x="6181725" y="4735830"/>
            <a:ext cx="23838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198.51.x</a:t>
            </a:r>
            <a:endParaRPr lang="en-US" sz="900" dirty="0"/>
          </a:p>
        </p:txBody>
      </p:sp>
      <p:sp>
        <p:nvSpPr>
          <p:cNvPr id="287" name="Shape 272"/>
          <p:cNvSpPr/>
          <p:nvPr/>
        </p:nvSpPr>
        <p:spPr>
          <a:xfrm>
            <a:off x="8565598" y="4678680"/>
            <a:ext cx="1466136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88" name="Shape 273"/>
          <p:cNvSpPr/>
          <p:nvPr/>
        </p:nvSpPr>
        <p:spPr>
          <a:xfrm>
            <a:off x="8565598" y="4993005"/>
            <a:ext cx="146613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9" name="Text 274"/>
          <p:cNvSpPr/>
          <p:nvPr/>
        </p:nvSpPr>
        <p:spPr>
          <a:xfrm>
            <a:off x="8641798" y="4735830"/>
            <a:ext cx="13899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KubeArmor</a:t>
            </a:r>
            <a:endParaRPr lang="en-US" sz="900" dirty="0"/>
          </a:p>
        </p:txBody>
      </p:sp>
      <p:sp>
        <p:nvSpPr>
          <p:cNvPr id="290" name="Shape 275"/>
          <p:cNvSpPr/>
          <p:nvPr/>
        </p:nvSpPr>
        <p:spPr>
          <a:xfrm>
            <a:off x="788668" y="5000625"/>
            <a:ext cx="1315045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291" name="Shape 276"/>
          <p:cNvSpPr/>
          <p:nvPr/>
        </p:nvSpPr>
        <p:spPr>
          <a:xfrm>
            <a:off x="788668" y="5314950"/>
            <a:ext cx="131504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2" name="Text 277"/>
          <p:cNvSpPr/>
          <p:nvPr/>
        </p:nvSpPr>
        <p:spPr>
          <a:xfrm>
            <a:off x="864868" y="5057775"/>
            <a:ext cx="12388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13:32:00</a:t>
            </a:r>
            <a:endParaRPr lang="en-US" sz="825" dirty="0"/>
          </a:p>
        </p:txBody>
      </p:sp>
      <p:sp>
        <p:nvSpPr>
          <p:cNvPr id="293" name="Shape 278"/>
          <p:cNvSpPr/>
          <p:nvPr/>
        </p:nvSpPr>
        <p:spPr>
          <a:xfrm>
            <a:off x="2103713" y="5000625"/>
            <a:ext cx="1371719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294" name="Shape 279"/>
          <p:cNvSpPr/>
          <p:nvPr/>
        </p:nvSpPr>
        <p:spPr>
          <a:xfrm>
            <a:off x="2103713" y="5314950"/>
            <a:ext cx="13717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5" name="Shape 280"/>
          <p:cNvSpPr/>
          <p:nvPr/>
        </p:nvSpPr>
        <p:spPr>
          <a:xfrm>
            <a:off x="2179913" y="5061585"/>
            <a:ext cx="402074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96" name="Shape 281"/>
          <p:cNvSpPr/>
          <p:nvPr/>
        </p:nvSpPr>
        <p:spPr>
          <a:xfrm>
            <a:off x="2254216" y="513302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97" name="Text 282"/>
          <p:cNvSpPr/>
          <p:nvPr/>
        </p:nvSpPr>
        <p:spPr>
          <a:xfrm>
            <a:off x="2349466" y="5095875"/>
            <a:ext cx="23443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25" dirty="0"/>
          </a:p>
        </p:txBody>
      </p:sp>
      <p:sp>
        <p:nvSpPr>
          <p:cNvPr id="298" name="Shape 283"/>
          <p:cNvSpPr/>
          <p:nvPr/>
        </p:nvSpPr>
        <p:spPr>
          <a:xfrm>
            <a:off x="3475434" y="5000625"/>
            <a:ext cx="1188958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299" name="Shape 284"/>
          <p:cNvSpPr/>
          <p:nvPr/>
        </p:nvSpPr>
        <p:spPr>
          <a:xfrm>
            <a:off x="3475434" y="5314950"/>
            <a:ext cx="118895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0" name="Text 285"/>
          <p:cNvSpPr/>
          <p:nvPr/>
        </p:nvSpPr>
        <p:spPr>
          <a:xfrm>
            <a:off x="3551634" y="5057775"/>
            <a:ext cx="11127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kc_92</a:t>
            </a:r>
            <a:endParaRPr lang="en-US" sz="825" dirty="0"/>
          </a:p>
        </p:txBody>
      </p:sp>
      <p:sp>
        <p:nvSpPr>
          <p:cNvPr id="301" name="Shape 286"/>
          <p:cNvSpPr/>
          <p:nvPr/>
        </p:nvSpPr>
        <p:spPr>
          <a:xfrm>
            <a:off x="4664394" y="5000625"/>
            <a:ext cx="1441133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302" name="Shape 287"/>
          <p:cNvSpPr/>
          <p:nvPr/>
        </p:nvSpPr>
        <p:spPr>
          <a:xfrm>
            <a:off x="4664394" y="5314950"/>
            <a:ext cx="144113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3" name="Text 288"/>
          <p:cNvSpPr/>
          <p:nvPr/>
        </p:nvSpPr>
        <p:spPr>
          <a:xfrm>
            <a:off x="4740594" y="5057775"/>
            <a:ext cx="136493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ana-3</a:t>
            </a:r>
            <a:endParaRPr lang="en-US" sz="825" dirty="0"/>
          </a:p>
        </p:txBody>
      </p:sp>
      <p:sp>
        <p:nvSpPr>
          <p:cNvPr id="304" name="Shape 289"/>
          <p:cNvSpPr/>
          <p:nvPr/>
        </p:nvSpPr>
        <p:spPr>
          <a:xfrm>
            <a:off x="6105525" y="5000625"/>
            <a:ext cx="2460069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305" name="Shape 290"/>
          <p:cNvSpPr/>
          <p:nvPr/>
        </p:nvSpPr>
        <p:spPr>
          <a:xfrm>
            <a:off x="6105525" y="5314950"/>
            <a:ext cx="246006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6" name="Text 291"/>
          <p:cNvSpPr/>
          <p:nvPr/>
        </p:nvSpPr>
        <p:spPr>
          <a:xfrm>
            <a:off x="6181725" y="5057775"/>
            <a:ext cx="23838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blocked at socket()</a:t>
            </a:r>
            <a:endParaRPr lang="en-US" sz="900" dirty="0"/>
          </a:p>
        </p:txBody>
      </p:sp>
      <p:sp>
        <p:nvSpPr>
          <p:cNvPr id="307" name="Shape 292"/>
          <p:cNvSpPr/>
          <p:nvPr/>
        </p:nvSpPr>
        <p:spPr>
          <a:xfrm>
            <a:off x="8565598" y="5000625"/>
            <a:ext cx="1466136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308" name="Shape 293"/>
          <p:cNvSpPr/>
          <p:nvPr/>
        </p:nvSpPr>
        <p:spPr>
          <a:xfrm>
            <a:off x="8565598" y="5314950"/>
            <a:ext cx="146613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9" name="Text 294"/>
          <p:cNvSpPr/>
          <p:nvPr/>
        </p:nvSpPr>
        <p:spPr>
          <a:xfrm>
            <a:off x="8641798" y="5057775"/>
            <a:ext cx="13899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KubeArmor</a:t>
            </a:r>
            <a:endParaRPr lang="en-US" sz="900" dirty="0"/>
          </a:p>
        </p:txBody>
      </p:sp>
      <p:sp>
        <p:nvSpPr>
          <p:cNvPr id="310" name="Text 295"/>
          <p:cNvSpPr/>
          <p:nvPr/>
        </p:nvSpPr>
        <p:spPr>
          <a:xfrm>
            <a:off x="864868" y="5379720"/>
            <a:ext cx="1238845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13:32:01</a:t>
            </a:r>
            <a:endParaRPr lang="en-US" sz="825" dirty="0"/>
          </a:p>
        </p:txBody>
      </p:sp>
      <p:sp>
        <p:nvSpPr>
          <p:cNvPr id="311" name="Shape 296"/>
          <p:cNvSpPr/>
          <p:nvPr/>
        </p:nvSpPr>
        <p:spPr>
          <a:xfrm>
            <a:off x="2179913" y="5383530"/>
            <a:ext cx="410528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2" name="Shape 297"/>
          <p:cNvSpPr/>
          <p:nvPr/>
        </p:nvSpPr>
        <p:spPr>
          <a:xfrm>
            <a:off x="2254216" y="545496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313" name="Text 298"/>
          <p:cNvSpPr/>
          <p:nvPr/>
        </p:nvSpPr>
        <p:spPr>
          <a:xfrm>
            <a:off x="2349466" y="5417820"/>
            <a:ext cx="24288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endParaRPr lang="en-US" sz="825" dirty="0"/>
          </a:p>
        </p:txBody>
      </p:sp>
      <p:sp>
        <p:nvSpPr>
          <p:cNvPr id="314" name="Text 299"/>
          <p:cNvSpPr/>
          <p:nvPr/>
        </p:nvSpPr>
        <p:spPr>
          <a:xfrm>
            <a:off x="3551634" y="5379720"/>
            <a:ext cx="1112758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fw_8</a:t>
            </a:r>
            <a:endParaRPr lang="en-US" sz="825" dirty="0"/>
          </a:p>
        </p:txBody>
      </p:sp>
      <p:sp>
        <p:nvSpPr>
          <p:cNvPr id="315" name="Text 300"/>
          <p:cNvSpPr/>
          <p:nvPr/>
        </p:nvSpPr>
        <p:spPr>
          <a:xfrm>
            <a:off x="4740594" y="5379720"/>
            <a:ext cx="1364933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edge-fw</a:t>
            </a:r>
            <a:endParaRPr lang="en-US" sz="825" dirty="0"/>
          </a:p>
        </p:txBody>
      </p:sp>
      <p:sp>
        <p:nvSpPr>
          <p:cNvPr id="316" name="Text 301"/>
          <p:cNvSpPr/>
          <p:nvPr/>
        </p:nvSpPr>
        <p:spPr>
          <a:xfrm>
            <a:off x="6181725" y="5379720"/>
            <a:ext cx="2383869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· 0 bytes egress</a:t>
            </a:r>
            <a:endParaRPr lang="en-US" sz="900" dirty="0"/>
          </a:p>
        </p:txBody>
      </p:sp>
      <p:sp>
        <p:nvSpPr>
          <p:cNvPr id="317" name="Text 302"/>
          <p:cNvSpPr/>
          <p:nvPr/>
        </p:nvSpPr>
        <p:spPr>
          <a:xfrm>
            <a:off x="8641798" y="5379720"/>
            <a:ext cx="1389936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PaloAlto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21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71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71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71" y="1323975"/>
            <a:ext cx="171450" cy="17145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1446" y="1600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71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71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71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71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71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71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94179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anomaly · carlos.t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627588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735582" y="144780"/>
            <a:ext cx="193143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scores · not LM guesses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4743217" y="74295"/>
            <a:ext cx="2747724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086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017536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4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20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159162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heatmap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076126" y="616268"/>
            <a:ext cx="909638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7150419" y="687705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25"/>
          <p:cNvSpPr/>
          <p:nvPr/>
        </p:nvSpPr>
        <p:spPr>
          <a:xfrm>
            <a:off x="7245669" y="642938"/>
            <a:ext cx="74199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· carlos.t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8042914" y="616268"/>
            <a:ext cx="80772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8117207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3" name="Text 28"/>
          <p:cNvSpPr/>
          <p:nvPr/>
        </p:nvSpPr>
        <p:spPr>
          <a:xfrm>
            <a:off x="8212457" y="642938"/>
            <a:ext cx="6400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· S3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8907782" y="590550"/>
            <a:ext cx="1245870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Text 30"/>
          <p:cNvSpPr/>
          <p:nvPr/>
        </p:nvSpPr>
        <p:spPr>
          <a:xfrm>
            <a:off x="9010650" y="636270"/>
            <a:ext cx="111633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baselines</a:t>
            </a:r>
            <a:endParaRPr lang="en-US" sz="900" dirty="0"/>
          </a:p>
        </p:txBody>
      </p:sp>
      <p:sp>
        <p:nvSpPr>
          <p:cNvPr id="46" name="Shape 31"/>
          <p:cNvSpPr/>
          <p:nvPr/>
        </p:nvSpPr>
        <p:spPr>
          <a:xfrm>
            <a:off x="666750" y="937260"/>
            <a:ext cx="6705600" cy="5596890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7" name="Text 32"/>
          <p:cNvSpPr/>
          <p:nvPr/>
        </p:nvSpPr>
        <p:spPr>
          <a:xfrm>
            <a:off x="1160143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25" dirty="0"/>
          </a:p>
        </p:txBody>
      </p:sp>
      <p:sp>
        <p:nvSpPr>
          <p:cNvPr id="48" name="Text 33"/>
          <p:cNvSpPr/>
          <p:nvPr/>
        </p:nvSpPr>
        <p:spPr>
          <a:xfrm>
            <a:off x="1413514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25" dirty="0"/>
          </a:p>
        </p:txBody>
      </p:sp>
      <p:sp>
        <p:nvSpPr>
          <p:cNvPr id="49" name="Text 34"/>
          <p:cNvSpPr/>
          <p:nvPr/>
        </p:nvSpPr>
        <p:spPr>
          <a:xfrm>
            <a:off x="1666875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25" dirty="0"/>
          </a:p>
        </p:txBody>
      </p:sp>
      <p:sp>
        <p:nvSpPr>
          <p:cNvPr id="50" name="Text 35"/>
          <p:cNvSpPr/>
          <p:nvPr/>
        </p:nvSpPr>
        <p:spPr>
          <a:xfrm>
            <a:off x="1920246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25" dirty="0"/>
          </a:p>
        </p:txBody>
      </p:sp>
      <p:sp>
        <p:nvSpPr>
          <p:cNvPr id="51" name="Text 36"/>
          <p:cNvSpPr/>
          <p:nvPr/>
        </p:nvSpPr>
        <p:spPr>
          <a:xfrm>
            <a:off x="2173607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25" dirty="0"/>
          </a:p>
        </p:txBody>
      </p:sp>
      <p:sp>
        <p:nvSpPr>
          <p:cNvPr id="52" name="Text 37"/>
          <p:cNvSpPr/>
          <p:nvPr/>
        </p:nvSpPr>
        <p:spPr>
          <a:xfrm>
            <a:off x="2426968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25" dirty="0"/>
          </a:p>
        </p:txBody>
      </p:sp>
      <p:sp>
        <p:nvSpPr>
          <p:cNvPr id="53" name="Text 38"/>
          <p:cNvSpPr/>
          <p:nvPr/>
        </p:nvSpPr>
        <p:spPr>
          <a:xfrm>
            <a:off x="2680339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25" dirty="0"/>
          </a:p>
        </p:txBody>
      </p:sp>
      <p:sp>
        <p:nvSpPr>
          <p:cNvPr id="54" name="Text 39"/>
          <p:cNvSpPr/>
          <p:nvPr/>
        </p:nvSpPr>
        <p:spPr>
          <a:xfrm>
            <a:off x="2933700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25" dirty="0"/>
          </a:p>
        </p:txBody>
      </p:sp>
      <p:sp>
        <p:nvSpPr>
          <p:cNvPr id="55" name="Text 40"/>
          <p:cNvSpPr/>
          <p:nvPr/>
        </p:nvSpPr>
        <p:spPr>
          <a:xfrm>
            <a:off x="3187071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25" dirty="0"/>
          </a:p>
        </p:txBody>
      </p:sp>
      <p:sp>
        <p:nvSpPr>
          <p:cNvPr id="56" name="Text 41"/>
          <p:cNvSpPr/>
          <p:nvPr/>
        </p:nvSpPr>
        <p:spPr>
          <a:xfrm>
            <a:off x="3440432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25" dirty="0"/>
          </a:p>
        </p:txBody>
      </p:sp>
      <p:sp>
        <p:nvSpPr>
          <p:cNvPr id="57" name="Text 42"/>
          <p:cNvSpPr/>
          <p:nvPr/>
        </p:nvSpPr>
        <p:spPr>
          <a:xfrm>
            <a:off x="3693793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25" dirty="0"/>
          </a:p>
        </p:txBody>
      </p:sp>
      <p:sp>
        <p:nvSpPr>
          <p:cNvPr id="58" name="Text 43"/>
          <p:cNvSpPr/>
          <p:nvPr/>
        </p:nvSpPr>
        <p:spPr>
          <a:xfrm>
            <a:off x="3947164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25" dirty="0"/>
          </a:p>
        </p:txBody>
      </p:sp>
      <p:sp>
        <p:nvSpPr>
          <p:cNvPr id="59" name="Text 44"/>
          <p:cNvSpPr/>
          <p:nvPr/>
        </p:nvSpPr>
        <p:spPr>
          <a:xfrm>
            <a:off x="4200525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25" dirty="0"/>
          </a:p>
        </p:txBody>
      </p:sp>
      <p:sp>
        <p:nvSpPr>
          <p:cNvPr id="60" name="Text 45"/>
          <p:cNvSpPr/>
          <p:nvPr/>
        </p:nvSpPr>
        <p:spPr>
          <a:xfrm>
            <a:off x="4453896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25" dirty="0"/>
          </a:p>
        </p:txBody>
      </p:sp>
      <p:sp>
        <p:nvSpPr>
          <p:cNvPr id="61" name="Text 46"/>
          <p:cNvSpPr/>
          <p:nvPr/>
        </p:nvSpPr>
        <p:spPr>
          <a:xfrm>
            <a:off x="4707257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25" dirty="0"/>
          </a:p>
        </p:txBody>
      </p:sp>
      <p:sp>
        <p:nvSpPr>
          <p:cNvPr id="62" name="Text 47"/>
          <p:cNvSpPr/>
          <p:nvPr/>
        </p:nvSpPr>
        <p:spPr>
          <a:xfrm>
            <a:off x="4960618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25" dirty="0"/>
          </a:p>
        </p:txBody>
      </p:sp>
      <p:sp>
        <p:nvSpPr>
          <p:cNvPr id="63" name="Text 48"/>
          <p:cNvSpPr/>
          <p:nvPr/>
        </p:nvSpPr>
        <p:spPr>
          <a:xfrm>
            <a:off x="5213989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25" dirty="0"/>
          </a:p>
        </p:txBody>
      </p:sp>
      <p:sp>
        <p:nvSpPr>
          <p:cNvPr id="64" name="Text 49"/>
          <p:cNvSpPr/>
          <p:nvPr/>
        </p:nvSpPr>
        <p:spPr>
          <a:xfrm>
            <a:off x="5467350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25" dirty="0"/>
          </a:p>
        </p:txBody>
      </p:sp>
      <p:sp>
        <p:nvSpPr>
          <p:cNvPr id="65" name="Text 50"/>
          <p:cNvSpPr/>
          <p:nvPr/>
        </p:nvSpPr>
        <p:spPr>
          <a:xfrm>
            <a:off x="5720721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25" dirty="0"/>
          </a:p>
        </p:txBody>
      </p:sp>
      <p:sp>
        <p:nvSpPr>
          <p:cNvPr id="66" name="Text 51"/>
          <p:cNvSpPr/>
          <p:nvPr/>
        </p:nvSpPr>
        <p:spPr>
          <a:xfrm>
            <a:off x="5974082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25" dirty="0"/>
          </a:p>
        </p:txBody>
      </p:sp>
      <p:sp>
        <p:nvSpPr>
          <p:cNvPr id="67" name="Text 52"/>
          <p:cNvSpPr/>
          <p:nvPr/>
        </p:nvSpPr>
        <p:spPr>
          <a:xfrm>
            <a:off x="6227443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25" dirty="0"/>
          </a:p>
        </p:txBody>
      </p:sp>
      <p:sp>
        <p:nvSpPr>
          <p:cNvPr id="68" name="Text 53"/>
          <p:cNvSpPr/>
          <p:nvPr/>
        </p:nvSpPr>
        <p:spPr>
          <a:xfrm>
            <a:off x="6480814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825" dirty="0"/>
          </a:p>
        </p:txBody>
      </p:sp>
      <p:sp>
        <p:nvSpPr>
          <p:cNvPr id="69" name="Text 54"/>
          <p:cNvSpPr/>
          <p:nvPr/>
        </p:nvSpPr>
        <p:spPr>
          <a:xfrm>
            <a:off x="6734175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825" dirty="0"/>
          </a:p>
        </p:txBody>
      </p:sp>
      <p:sp>
        <p:nvSpPr>
          <p:cNvPr id="70" name="Text 55"/>
          <p:cNvSpPr/>
          <p:nvPr/>
        </p:nvSpPr>
        <p:spPr>
          <a:xfrm>
            <a:off x="6987546" y="1040130"/>
            <a:ext cx="300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825" dirty="0"/>
          </a:p>
        </p:txBody>
      </p:sp>
      <p:sp>
        <p:nvSpPr>
          <p:cNvPr id="71" name="Text 56"/>
          <p:cNvSpPr/>
          <p:nvPr/>
        </p:nvSpPr>
        <p:spPr>
          <a:xfrm>
            <a:off x="788668" y="1247775"/>
            <a:ext cx="4572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900" dirty="0"/>
          </a:p>
        </p:txBody>
      </p:sp>
      <p:sp>
        <p:nvSpPr>
          <p:cNvPr id="72" name="Shape 57"/>
          <p:cNvSpPr/>
          <p:nvPr/>
        </p:nvSpPr>
        <p:spPr>
          <a:xfrm>
            <a:off x="1198243" y="1215390"/>
            <a:ext cx="224790" cy="224790"/>
          </a:xfrm>
          <a:prstGeom prst="roundRect">
            <a:avLst>
              <a:gd name="adj" fmla="val 12712"/>
            </a:avLst>
          </a:prstGeom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3" name="Shape 58"/>
          <p:cNvSpPr/>
          <p:nvPr/>
        </p:nvSpPr>
        <p:spPr>
          <a:xfrm>
            <a:off x="1451614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4" name="Shape 59"/>
          <p:cNvSpPr/>
          <p:nvPr/>
        </p:nvSpPr>
        <p:spPr>
          <a:xfrm>
            <a:off x="1704975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5" name="Shape 60"/>
          <p:cNvSpPr/>
          <p:nvPr/>
        </p:nvSpPr>
        <p:spPr>
          <a:xfrm>
            <a:off x="1958346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2211707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7" name="Shape 62"/>
          <p:cNvSpPr/>
          <p:nvPr/>
        </p:nvSpPr>
        <p:spPr>
          <a:xfrm>
            <a:off x="2465068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8" name="Shape 63"/>
          <p:cNvSpPr/>
          <p:nvPr/>
        </p:nvSpPr>
        <p:spPr>
          <a:xfrm>
            <a:off x="2718439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9" name="Shape 64"/>
          <p:cNvSpPr/>
          <p:nvPr/>
        </p:nvSpPr>
        <p:spPr>
          <a:xfrm>
            <a:off x="2971800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0" name="Shape 65"/>
          <p:cNvSpPr/>
          <p:nvPr/>
        </p:nvSpPr>
        <p:spPr>
          <a:xfrm>
            <a:off x="3225171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1" name="Shape 66"/>
          <p:cNvSpPr/>
          <p:nvPr/>
        </p:nvSpPr>
        <p:spPr>
          <a:xfrm>
            <a:off x="3478532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2" name="Shape 67"/>
          <p:cNvSpPr/>
          <p:nvPr/>
        </p:nvSpPr>
        <p:spPr>
          <a:xfrm>
            <a:off x="3731893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3" name="Shape 68"/>
          <p:cNvSpPr/>
          <p:nvPr/>
        </p:nvSpPr>
        <p:spPr>
          <a:xfrm>
            <a:off x="3985264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4" name="Shape 69"/>
          <p:cNvSpPr/>
          <p:nvPr/>
        </p:nvSpPr>
        <p:spPr>
          <a:xfrm>
            <a:off x="4238625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5" name="Shape 70"/>
          <p:cNvSpPr/>
          <p:nvPr/>
        </p:nvSpPr>
        <p:spPr>
          <a:xfrm>
            <a:off x="4491996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6" name="Shape 71"/>
          <p:cNvSpPr/>
          <p:nvPr/>
        </p:nvSpPr>
        <p:spPr>
          <a:xfrm>
            <a:off x="4745357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7" name="Shape 72"/>
          <p:cNvSpPr/>
          <p:nvPr/>
        </p:nvSpPr>
        <p:spPr>
          <a:xfrm>
            <a:off x="4998718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8" name="Shape 73"/>
          <p:cNvSpPr/>
          <p:nvPr/>
        </p:nvSpPr>
        <p:spPr>
          <a:xfrm>
            <a:off x="5252089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9" name="Shape 74"/>
          <p:cNvSpPr/>
          <p:nvPr/>
        </p:nvSpPr>
        <p:spPr>
          <a:xfrm>
            <a:off x="5505450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0" name="Shape 75"/>
          <p:cNvSpPr/>
          <p:nvPr/>
        </p:nvSpPr>
        <p:spPr>
          <a:xfrm>
            <a:off x="5758821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1" name="Shape 76"/>
          <p:cNvSpPr/>
          <p:nvPr/>
        </p:nvSpPr>
        <p:spPr>
          <a:xfrm>
            <a:off x="6012182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2" name="Shape 77"/>
          <p:cNvSpPr/>
          <p:nvPr/>
        </p:nvSpPr>
        <p:spPr>
          <a:xfrm>
            <a:off x="6265543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3" name="Shape 78"/>
          <p:cNvSpPr/>
          <p:nvPr/>
        </p:nvSpPr>
        <p:spPr>
          <a:xfrm>
            <a:off x="6518914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4" name="Shape 79"/>
          <p:cNvSpPr/>
          <p:nvPr/>
        </p:nvSpPr>
        <p:spPr>
          <a:xfrm>
            <a:off x="6772275" y="121539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5" name="Shape 80"/>
          <p:cNvSpPr/>
          <p:nvPr/>
        </p:nvSpPr>
        <p:spPr>
          <a:xfrm>
            <a:off x="7025646" y="1215390"/>
            <a:ext cx="224790" cy="224790"/>
          </a:xfrm>
          <a:prstGeom prst="roundRect">
            <a:avLst>
              <a:gd name="adj" fmla="val 12712"/>
            </a:avLst>
          </a:prstGeom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6" name="Text 81"/>
          <p:cNvSpPr/>
          <p:nvPr/>
        </p:nvSpPr>
        <p:spPr>
          <a:xfrm>
            <a:off x="788668" y="1501140"/>
            <a:ext cx="4572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</a:t>
            </a:r>
            <a:endParaRPr lang="en-US" sz="900" dirty="0"/>
          </a:p>
        </p:txBody>
      </p:sp>
      <p:sp>
        <p:nvSpPr>
          <p:cNvPr id="97" name="Shape 82"/>
          <p:cNvSpPr/>
          <p:nvPr/>
        </p:nvSpPr>
        <p:spPr>
          <a:xfrm>
            <a:off x="1198243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8" name="Shape 83"/>
          <p:cNvSpPr/>
          <p:nvPr/>
        </p:nvSpPr>
        <p:spPr>
          <a:xfrm>
            <a:off x="1451614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9" name="Shape 84"/>
          <p:cNvSpPr/>
          <p:nvPr/>
        </p:nvSpPr>
        <p:spPr>
          <a:xfrm>
            <a:off x="1704975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0" name="Shape 85"/>
          <p:cNvSpPr/>
          <p:nvPr/>
        </p:nvSpPr>
        <p:spPr>
          <a:xfrm>
            <a:off x="1958346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1" name="Shape 86"/>
          <p:cNvSpPr/>
          <p:nvPr/>
        </p:nvSpPr>
        <p:spPr>
          <a:xfrm>
            <a:off x="2211707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2" name="Shape 87"/>
          <p:cNvSpPr/>
          <p:nvPr/>
        </p:nvSpPr>
        <p:spPr>
          <a:xfrm>
            <a:off x="2465068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3" name="Shape 88"/>
          <p:cNvSpPr/>
          <p:nvPr/>
        </p:nvSpPr>
        <p:spPr>
          <a:xfrm>
            <a:off x="2718439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4" name="Shape 89"/>
          <p:cNvSpPr/>
          <p:nvPr/>
        </p:nvSpPr>
        <p:spPr>
          <a:xfrm>
            <a:off x="2971800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5" name="Shape 90"/>
          <p:cNvSpPr/>
          <p:nvPr/>
        </p:nvSpPr>
        <p:spPr>
          <a:xfrm>
            <a:off x="3225171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6" name="Shape 91"/>
          <p:cNvSpPr/>
          <p:nvPr/>
        </p:nvSpPr>
        <p:spPr>
          <a:xfrm>
            <a:off x="3478532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7" name="Shape 92"/>
          <p:cNvSpPr/>
          <p:nvPr/>
        </p:nvSpPr>
        <p:spPr>
          <a:xfrm>
            <a:off x="3731893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8" name="Shape 93"/>
          <p:cNvSpPr/>
          <p:nvPr/>
        </p:nvSpPr>
        <p:spPr>
          <a:xfrm>
            <a:off x="3985264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9" name="Shape 94"/>
          <p:cNvSpPr/>
          <p:nvPr/>
        </p:nvSpPr>
        <p:spPr>
          <a:xfrm>
            <a:off x="4238625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0" name="Shape 95"/>
          <p:cNvSpPr/>
          <p:nvPr/>
        </p:nvSpPr>
        <p:spPr>
          <a:xfrm>
            <a:off x="4491996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6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1" name="Shape 96"/>
          <p:cNvSpPr/>
          <p:nvPr/>
        </p:nvSpPr>
        <p:spPr>
          <a:xfrm>
            <a:off x="4745357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2" name="Shape 97"/>
          <p:cNvSpPr/>
          <p:nvPr/>
        </p:nvSpPr>
        <p:spPr>
          <a:xfrm>
            <a:off x="4998718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3" name="Shape 98"/>
          <p:cNvSpPr/>
          <p:nvPr/>
        </p:nvSpPr>
        <p:spPr>
          <a:xfrm>
            <a:off x="5252089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4" name="Shape 99"/>
          <p:cNvSpPr/>
          <p:nvPr/>
        </p:nvSpPr>
        <p:spPr>
          <a:xfrm>
            <a:off x="5505450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5" name="Shape 100"/>
          <p:cNvSpPr/>
          <p:nvPr/>
        </p:nvSpPr>
        <p:spPr>
          <a:xfrm>
            <a:off x="5758821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6" name="Shape 101"/>
          <p:cNvSpPr/>
          <p:nvPr/>
        </p:nvSpPr>
        <p:spPr>
          <a:xfrm>
            <a:off x="6012182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7" name="Shape 102"/>
          <p:cNvSpPr/>
          <p:nvPr/>
        </p:nvSpPr>
        <p:spPr>
          <a:xfrm>
            <a:off x="6265543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8" name="Shape 103"/>
          <p:cNvSpPr/>
          <p:nvPr/>
        </p:nvSpPr>
        <p:spPr>
          <a:xfrm>
            <a:off x="6518914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9" name="Shape 104"/>
          <p:cNvSpPr/>
          <p:nvPr/>
        </p:nvSpPr>
        <p:spPr>
          <a:xfrm>
            <a:off x="6772275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0" name="Shape 105"/>
          <p:cNvSpPr/>
          <p:nvPr/>
        </p:nvSpPr>
        <p:spPr>
          <a:xfrm>
            <a:off x="7025646" y="146875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1" name="Text 106"/>
          <p:cNvSpPr/>
          <p:nvPr/>
        </p:nvSpPr>
        <p:spPr>
          <a:xfrm>
            <a:off x="788668" y="1754505"/>
            <a:ext cx="4572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900" dirty="0"/>
          </a:p>
        </p:txBody>
      </p:sp>
      <p:sp>
        <p:nvSpPr>
          <p:cNvPr id="122" name="Shape 107"/>
          <p:cNvSpPr/>
          <p:nvPr/>
        </p:nvSpPr>
        <p:spPr>
          <a:xfrm>
            <a:off x="1198243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3" name="Shape 108"/>
          <p:cNvSpPr/>
          <p:nvPr/>
        </p:nvSpPr>
        <p:spPr>
          <a:xfrm>
            <a:off x="1451614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4" name="Shape 109"/>
          <p:cNvSpPr/>
          <p:nvPr/>
        </p:nvSpPr>
        <p:spPr>
          <a:xfrm>
            <a:off x="1704975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5" name="Shape 110"/>
          <p:cNvSpPr/>
          <p:nvPr/>
        </p:nvSpPr>
        <p:spPr>
          <a:xfrm>
            <a:off x="1958346" y="1722120"/>
            <a:ext cx="224790" cy="224790"/>
          </a:xfrm>
          <a:prstGeom prst="roundRect">
            <a:avLst>
              <a:gd name="adj" fmla="val 12712"/>
            </a:avLst>
          </a:prstGeom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6" name="Shape 111"/>
          <p:cNvSpPr/>
          <p:nvPr/>
        </p:nvSpPr>
        <p:spPr>
          <a:xfrm>
            <a:off x="2211707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7" name="Shape 112"/>
          <p:cNvSpPr/>
          <p:nvPr/>
        </p:nvSpPr>
        <p:spPr>
          <a:xfrm>
            <a:off x="2465068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8" name="Shape 113"/>
          <p:cNvSpPr/>
          <p:nvPr/>
        </p:nvSpPr>
        <p:spPr>
          <a:xfrm>
            <a:off x="2718439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9" name="Shape 114"/>
          <p:cNvSpPr/>
          <p:nvPr/>
        </p:nvSpPr>
        <p:spPr>
          <a:xfrm>
            <a:off x="2971800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0" name="Shape 115"/>
          <p:cNvSpPr/>
          <p:nvPr/>
        </p:nvSpPr>
        <p:spPr>
          <a:xfrm>
            <a:off x="3225171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1" name="Shape 116"/>
          <p:cNvSpPr/>
          <p:nvPr/>
        </p:nvSpPr>
        <p:spPr>
          <a:xfrm>
            <a:off x="3478532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2" name="Shape 117"/>
          <p:cNvSpPr/>
          <p:nvPr/>
        </p:nvSpPr>
        <p:spPr>
          <a:xfrm>
            <a:off x="3731893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3" name="Shape 118"/>
          <p:cNvSpPr/>
          <p:nvPr/>
        </p:nvSpPr>
        <p:spPr>
          <a:xfrm>
            <a:off x="3985264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4" name="Shape 119"/>
          <p:cNvSpPr/>
          <p:nvPr/>
        </p:nvSpPr>
        <p:spPr>
          <a:xfrm>
            <a:off x="4238625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5" name="Shape 120"/>
          <p:cNvSpPr/>
          <p:nvPr/>
        </p:nvSpPr>
        <p:spPr>
          <a:xfrm>
            <a:off x="4491996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6" name="Shape 121"/>
          <p:cNvSpPr/>
          <p:nvPr/>
        </p:nvSpPr>
        <p:spPr>
          <a:xfrm>
            <a:off x="4745357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7" name="Shape 122"/>
          <p:cNvSpPr/>
          <p:nvPr/>
        </p:nvSpPr>
        <p:spPr>
          <a:xfrm>
            <a:off x="4998718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8" name="Shape 123"/>
          <p:cNvSpPr/>
          <p:nvPr/>
        </p:nvSpPr>
        <p:spPr>
          <a:xfrm>
            <a:off x="5252089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9" name="Shape 124"/>
          <p:cNvSpPr/>
          <p:nvPr/>
        </p:nvSpPr>
        <p:spPr>
          <a:xfrm>
            <a:off x="5505450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0" name="Shape 125"/>
          <p:cNvSpPr/>
          <p:nvPr/>
        </p:nvSpPr>
        <p:spPr>
          <a:xfrm>
            <a:off x="5758821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1" name="Shape 126"/>
          <p:cNvSpPr/>
          <p:nvPr/>
        </p:nvSpPr>
        <p:spPr>
          <a:xfrm>
            <a:off x="6012182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2" name="Shape 127"/>
          <p:cNvSpPr/>
          <p:nvPr/>
        </p:nvSpPr>
        <p:spPr>
          <a:xfrm>
            <a:off x="6265543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3" name="Shape 128"/>
          <p:cNvSpPr/>
          <p:nvPr/>
        </p:nvSpPr>
        <p:spPr>
          <a:xfrm>
            <a:off x="6518914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4" name="Shape 129"/>
          <p:cNvSpPr/>
          <p:nvPr/>
        </p:nvSpPr>
        <p:spPr>
          <a:xfrm>
            <a:off x="6772275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5" name="Shape 130"/>
          <p:cNvSpPr/>
          <p:nvPr/>
        </p:nvSpPr>
        <p:spPr>
          <a:xfrm>
            <a:off x="7025646" y="172212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6" name="Text 131"/>
          <p:cNvSpPr/>
          <p:nvPr/>
        </p:nvSpPr>
        <p:spPr>
          <a:xfrm>
            <a:off x="788668" y="2007870"/>
            <a:ext cx="4572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</a:t>
            </a:r>
            <a:endParaRPr lang="en-US" sz="900" dirty="0"/>
          </a:p>
        </p:txBody>
      </p:sp>
      <p:sp>
        <p:nvSpPr>
          <p:cNvPr id="147" name="Shape 132"/>
          <p:cNvSpPr/>
          <p:nvPr/>
        </p:nvSpPr>
        <p:spPr>
          <a:xfrm>
            <a:off x="1198243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8" name="Shape 133"/>
          <p:cNvSpPr/>
          <p:nvPr/>
        </p:nvSpPr>
        <p:spPr>
          <a:xfrm>
            <a:off x="1451614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9" name="Shape 134"/>
          <p:cNvSpPr/>
          <p:nvPr/>
        </p:nvSpPr>
        <p:spPr>
          <a:xfrm>
            <a:off x="1704975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" name="Shape 135"/>
          <p:cNvSpPr/>
          <p:nvPr/>
        </p:nvSpPr>
        <p:spPr>
          <a:xfrm>
            <a:off x="1958346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" name="Shape 136"/>
          <p:cNvSpPr/>
          <p:nvPr/>
        </p:nvSpPr>
        <p:spPr>
          <a:xfrm>
            <a:off x="2211707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2" name="Shape 137"/>
          <p:cNvSpPr/>
          <p:nvPr/>
        </p:nvSpPr>
        <p:spPr>
          <a:xfrm>
            <a:off x="2465068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3" name="Shape 138"/>
          <p:cNvSpPr/>
          <p:nvPr/>
        </p:nvSpPr>
        <p:spPr>
          <a:xfrm>
            <a:off x="2718439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4" name="Shape 139"/>
          <p:cNvSpPr/>
          <p:nvPr/>
        </p:nvSpPr>
        <p:spPr>
          <a:xfrm>
            <a:off x="2971800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5" name="Shape 140"/>
          <p:cNvSpPr/>
          <p:nvPr/>
        </p:nvSpPr>
        <p:spPr>
          <a:xfrm>
            <a:off x="3225171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6" name="Shape 141"/>
          <p:cNvSpPr/>
          <p:nvPr/>
        </p:nvSpPr>
        <p:spPr>
          <a:xfrm>
            <a:off x="3478532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7" name="Shape 142"/>
          <p:cNvSpPr/>
          <p:nvPr/>
        </p:nvSpPr>
        <p:spPr>
          <a:xfrm>
            <a:off x="3731893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8" name="Shape 143"/>
          <p:cNvSpPr/>
          <p:nvPr/>
        </p:nvSpPr>
        <p:spPr>
          <a:xfrm>
            <a:off x="3985264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9" name="Shape 144"/>
          <p:cNvSpPr/>
          <p:nvPr/>
        </p:nvSpPr>
        <p:spPr>
          <a:xfrm>
            <a:off x="4238625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0" name="Shape 145"/>
          <p:cNvSpPr/>
          <p:nvPr/>
        </p:nvSpPr>
        <p:spPr>
          <a:xfrm>
            <a:off x="4491996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1" name="Shape 146"/>
          <p:cNvSpPr/>
          <p:nvPr/>
        </p:nvSpPr>
        <p:spPr>
          <a:xfrm>
            <a:off x="4745357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4998718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5252089" y="1975485"/>
            <a:ext cx="224790" cy="224790"/>
          </a:xfrm>
          <a:prstGeom prst="roundRect">
            <a:avLst>
              <a:gd name="adj" fmla="val 12712"/>
            </a:avLst>
          </a:prstGeom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5505450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5758821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6" name="Shape 151"/>
          <p:cNvSpPr/>
          <p:nvPr/>
        </p:nvSpPr>
        <p:spPr>
          <a:xfrm>
            <a:off x="6012182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7" name="Shape 152"/>
          <p:cNvSpPr/>
          <p:nvPr/>
        </p:nvSpPr>
        <p:spPr>
          <a:xfrm>
            <a:off x="6265543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8" name="Shape 153"/>
          <p:cNvSpPr/>
          <p:nvPr/>
        </p:nvSpPr>
        <p:spPr>
          <a:xfrm>
            <a:off x="6518914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9" name="Shape 154"/>
          <p:cNvSpPr/>
          <p:nvPr/>
        </p:nvSpPr>
        <p:spPr>
          <a:xfrm>
            <a:off x="6772275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0" name="Shape 155"/>
          <p:cNvSpPr/>
          <p:nvPr/>
        </p:nvSpPr>
        <p:spPr>
          <a:xfrm>
            <a:off x="7025646" y="197548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1" name="Text 156"/>
          <p:cNvSpPr/>
          <p:nvPr/>
        </p:nvSpPr>
        <p:spPr>
          <a:xfrm>
            <a:off x="788668" y="2261235"/>
            <a:ext cx="4572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900" dirty="0"/>
          </a:p>
        </p:txBody>
      </p:sp>
      <p:sp>
        <p:nvSpPr>
          <p:cNvPr id="172" name="Shape 157"/>
          <p:cNvSpPr/>
          <p:nvPr/>
        </p:nvSpPr>
        <p:spPr>
          <a:xfrm>
            <a:off x="1198243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3" name="Shape 158"/>
          <p:cNvSpPr/>
          <p:nvPr/>
        </p:nvSpPr>
        <p:spPr>
          <a:xfrm>
            <a:off x="1451614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4" name="Shape 159"/>
          <p:cNvSpPr/>
          <p:nvPr/>
        </p:nvSpPr>
        <p:spPr>
          <a:xfrm>
            <a:off x="1704975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5" name="Shape 160"/>
          <p:cNvSpPr/>
          <p:nvPr/>
        </p:nvSpPr>
        <p:spPr>
          <a:xfrm>
            <a:off x="1958346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6" name="Shape 161"/>
          <p:cNvSpPr/>
          <p:nvPr/>
        </p:nvSpPr>
        <p:spPr>
          <a:xfrm>
            <a:off x="2211707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7" name="Shape 162"/>
          <p:cNvSpPr/>
          <p:nvPr/>
        </p:nvSpPr>
        <p:spPr>
          <a:xfrm>
            <a:off x="2465068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8" name="Shape 163"/>
          <p:cNvSpPr/>
          <p:nvPr/>
        </p:nvSpPr>
        <p:spPr>
          <a:xfrm>
            <a:off x="2718439" y="2228850"/>
            <a:ext cx="224790" cy="224790"/>
          </a:xfrm>
          <a:prstGeom prst="roundRect">
            <a:avLst>
              <a:gd name="adj" fmla="val 12712"/>
            </a:avLst>
          </a:prstGeom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9" name="Shape 164"/>
          <p:cNvSpPr/>
          <p:nvPr/>
        </p:nvSpPr>
        <p:spPr>
          <a:xfrm>
            <a:off x="2971800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0" name="Shape 165"/>
          <p:cNvSpPr/>
          <p:nvPr/>
        </p:nvSpPr>
        <p:spPr>
          <a:xfrm>
            <a:off x="3225171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1" name="Shape 166"/>
          <p:cNvSpPr/>
          <p:nvPr/>
        </p:nvSpPr>
        <p:spPr>
          <a:xfrm>
            <a:off x="3478532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2" name="Shape 167"/>
          <p:cNvSpPr/>
          <p:nvPr/>
        </p:nvSpPr>
        <p:spPr>
          <a:xfrm>
            <a:off x="3731893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3985264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4238625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5" name="Shape 170"/>
          <p:cNvSpPr/>
          <p:nvPr/>
        </p:nvSpPr>
        <p:spPr>
          <a:xfrm>
            <a:off x="4491996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6" name="Shape 171"/>
          <p:cNvSpPr/>
          <p:nvPr/>
        </p:nvSpPr>
        <p:spPr>
          <a:xfrm>
            <a:off x="4745357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7" name="Shape 172"/>
          <p:cNvSpPr/>
          <p:nvPr/>
        </p:nvSpPr>
        <p:spPr>
          <a:xfrm>
            <a:off x="4998718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8" name="Shape 173"/>
          <p:cNvSpPr/>
          <p:nvPr/>
        </p:nvSpPr>
        <p:spPr>
          <a:xfrm>
            <a:off x="5252089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9" name="Shape 174"/>
          <p:cNvSpPr/>
          <p:nvPr/>
        </p:nvSpPr>
        <p:spPr>
          <a:xfrm>
            <a:off x="5505450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0" name="Shape 175"/>
          <p:cNvSpPr/>
          <p:nvPr/>
        </p:nvSpPr>
        <p:spPr>
          <a:xfrm>
            <a:off x="5758821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1" name="Shape 176"/>
          <p:cNvSpPr/>
          <p:nvPr/>
        </p:nvSpPr>
        <p:spPr>
          <a:xfrm>
            <a:off x="6012182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2" name="Shape 177"/>
          <p:cNvSpPr/>
          <p:nvPr/>
        </p:nvSpPr>
        <p:spPr>
          <a:xfrm>
            <a:off x="6265543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3" name="Shape 178"/>
          <p:cNvSpPr/>
          <p:nvPr/>
        </p:nvSpPr>
        <p:spPr>
          <a:xfrm>
            <a:off x="6518914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4" name="Shape 179"/>
          <p:cNvSpPr/>
          <p:nvPr/>
        </p:nvSpPr>
        <p:spPr>
          <a:xfrm>
            <a:off x="6772275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5" name="Shape 180"/>
          <p:cNvSpPr/>
          <p:nvPr/>
        </p:nvSpPr>
        <p:spPr>
          <a:xfrm>
            <a:off x="7025646" y="222885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6" name="Text 181"/>
          <p:cNvSpPr/>
          <p:nvPr/>
        </p:nvSpPr>
        <p:spPr>
          <a:xfrm>
            <a:off x="788668" y="2514600"/>
            <a:ext cx="4572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endParaRPr lang="en-US" sz="900" dirty="0"/>
          </a:p>
        </p:txBody>
      </p:sp>
      <p:sp>
        <p:nvSpPr>
          <p:cNvPr id="197" name="Shape 182"/>
          <p:cNvSpPr/>
          <p:nvPr/>
        </p:nvSpPr>
        <p:spPr>
          <a:xfrm>
            <a:off x="1198243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8" name="Shape 183"/>
          <p:cNvSpPr/>
          <p:nvPr/>
        </p:nvSpPr>
        <p:spPr>
          <a:xfrm>
            <a:off x="1451614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9" name="Shape 184"/>
          <p:cNvSpPr/>
          <p:nvPr/>
        </p:nvSpPr>
        <p:spPr>
          <a:xfrm>
            <a:off x="1704975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0" name="Shape 185"/>
          <p:cNvSpPr/>
          <p:nvPr/>
        </p:nvSpPr>
        <p:spPr>
          <a:xfrm>
            <a:off x="1958346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1" name="Shape 186"/>
          <p:cNvSpPr/>
          <p:nvPr/>
        </p:nvSpPr>
        <p:spPr>
          <a:xfrm>
            <a:off x="2211707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2" name="Shape 187"/>
          <p:cNvSpPr/>
          <p:nvPr/>
        </p:nvSpPr>
        <p:spPr>
          <a:xfrm>
            <a:off x="2465068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3" name="Shape 188"/>
          <p:cNvSpPr/>
          <p:nvPr/>
        </p:nvSpPr>
        <p:spPr>
          <a:xfrm>
            <a:off x="2718439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4" name="Shape 189"/>
          <p:cNvSpPr/>
          <p:nvPr/>
        </p:nvSpPr>
        <p:spPr>
          <a:xfrm>
            <a:off x="2971800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5" name="Shape 190"/>
          <p:cNvSpPr/>
          <p:nvPr/>
        </p:nvSpPr>
        <p:spPr>
          <a:xfrm>
            <a:off x="3225171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6" name="Shape 191"/>
          <p:cNvSpPr/>
          <p:nvPr/>
        </p:nvSpPr>
        <p:spPr>
          <a:xfrm>
            <a:off x="3478532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7" name="Shape 192"/>
          <p:cNvSpPr/>
          <p:nvPr/>
        </p:nvSpPr>
        <p:spPr>
          <a:xfrm>
            <a:off x="3731893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8" name="Shape 193"/>
          <p:cNvSpPr/>
          <p:nvPr/>
        </p:nvSpPr>
        <p:spPr>
          <a:xfrm>
            <a:off x="3985264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9" name="Shape 194"/>
          <p:cNvSpPr/>
          <p:nvPr/>
        </p:nvSpPr>
        <p:spPr>
          <a:xfrm>
            <a:off x="4238625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0" name="Shape 195"/>
          <p:cNvSpPr/>
          <p:nvPr/>
        </p:nvSpPr>
        <p:spPr>
          <a:xfrm>
            <a:off x="4491996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1" name="Shape 196"/>
          <p:cNvSpPr/>
          <p:nvPr/>
        </p:nvSpPr>
        <p:spPr>
          <a:xfrm>
            <a:off x="4745357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2" name="Shape 197"/>
          <p:cNvSpPr/>
          <p:nvPr/>
        </p:nvSpPr>
        <p:spPr>
          <a:xfrm>
            <a:off x="4998718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3" name="Shape 198"/>
          <p:cNvSpPr/>
          <p:nvPr/>
        </p:nvSpPr>
        <p:spPr>
          <a:xfrm>
            <a:off x="5252089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4" name="Shape 199"/>
          <p:cNvSpPr/>
          <p:nvPr/>
        </p:nvSpPr>
        <p:spPr>
          <a:xfrm>
            <a:off x="5505450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5" name="Shape 200"/>
          <p:cNvSpPr/>
          <p:nvPr/>
        </p:nvSpPr>
        <p:spPr>
          <a:xfrm>
            <a:off x="5758821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6" name="Shape 201"/>
          <p:cNvSpPr/>
          <p:nvPr/>
        </p:nvSpPr>
        <p:spPr>
          <a:xfrm>
            <a:off x="6012182" y="2482215"/>
            <a:ext cx="224790" cy="224790"/>
          </a:xfrm>
          <a:prstGeom prst="roundRect">
            <a:avLst>
              <a:gd name="adj" fmla="val 12712"/>
            </a:avLst>
          </a:prstGeom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7" name="Shape 202"/>
          <p:cNvSpPr/>
          <p:nvPr/>
        </p:nvSpPr>
        <p:spPr>
          <a:xfrm>
            <a:off x="6265543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8" name="Shape 203"/>
          <p:cNvSpPr/>
          <p:nvPr/>
        </p:nvSpPr>
        <p:spPr>
          <a:xfrm>
            <a:off x="6518914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9" name="Shape 204"/>
          <p:cNvSpPr/>
          <p:nvPr/>
        </p:nvSpPr>
        <p:spPr>
          <a:xfrm>
            <a:off x="6772275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4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20" name="Shape 205"/>
          <p:cNvSpPr/>
          <p:nvPr/>
        </p:nvSpPr>
        <p:spPr>
          <a:xfrm>
            <a:off x="7025646" y="2482215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4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21" name="Text 206"/>
          <p:cNvSpPr/>
          <p:nvPr/>
        </p:nvSpPr>
        <p:spPr>
          <a:xfrm>
            <a:off x="788668" y="2767965"/>
            <a:ext cx="4572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</a:t>
            </a:r>
            <a:endParaRPr lang="en-US" sz="900" dirty="0"/>
          </a:p>
        </p:txBody>
      </p:sp>
      <p:sp>
        <p:nvSpPr>
          <p:cNvPr id="222" name="Shape 207"/>
          <p:cNvSpPr/>
          <p:nvPr/>
        </p:nvSpPr>
        <p:spPr>
          <a:xfrm>
            <a:off x="1198243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23" name="Shape 208"/>
          <p:cNvSpPr/>
          <p:nvPr/>
        </p:nvSpPr>
        <p:spPr>
          <a:xfrm>
            <a:off x="1451614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24" name="Shape 209"/>
          <p:cNvSpPr/>
          <p:nvPr/>
        </p:nvSpPr>
        <p:spPr>
          <a:xfrm>
            <a:off x="1704975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9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25" name="Shape 210"/>
          <p:cNvSpPr/>
          <p:nvPr/>
        </p:nvSpPr>
        <p:spPr>
          <a:xfrm>
            <a:off x="1958346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9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26" name="Shape 211"/>
          <p:cNvSpPr/>
          <p:nvPr/>
        </p:nvSpPr>
        <p:spPr>
          <a:xfrm>
            <a:off x="2211707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9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27" name="Shape 212"/>
          <p:cNvSpPr/>
          <p:nvPr/>
        </p:nvSpPr>
        <p:spPr>
          <a:xfrm>
            <a:off x="2465068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28" name="Shape 213"/>
          <p:cNvSpPr/>
          <p:nvPr/>
        </p:nvSpPr>
        <p:spPr>
          <a:xfrm>
            <a:off x="2718439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29" name="Shape 214"/>
          <p:cNvSpPr/>
          <p:nvPr/>
        </p:nvSpPr>
        <p:spPr>
          <a:xfrm>
            <a:off x="2971800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8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0" name="Shape 215"/>
          <p:cNvSpPr/>
          <p:nvPr/>
        </p:nvSpPr>
        <p:spPr>
          <a:xfrm>
            <a:off x="3225171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3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1" name="Shape 216"/>
          <p:cNvSpPr/>
          <p:nvPr/>
        </p:nvSpPr>
        <p:spPr>
          <a:xfrm>
            <a:off x="3478532" y="2735580"/>
            <a:ext cx="224790" cy="224790"/>
          </a:xfrm>
          <a:prstGeom prst="roundRect">
            <a:avLst>
              <a:gd name="adj" fmla="val 12712"/>
            </a:avLst>
          </a:prstGeom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2" name="Shape 217"/>
          <p:cNvSpPr/>
          <p:nvPr/>
        </p:nvSpPr>
        <p:spPr>
          <a:xfrm>
            <a:off x="3731893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3" name="Shape 218"/>
          <p:cNvSpPr/>
          <p:nvPr/>
        </p:nvSpPr>
        <p:spPr>
          <a:xfrm>
            <a:off x="3985264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4" name="Shape 219"/>
          <p:cNvSpPr/>
          <p:nvPr/>
        </p:nvSpPr>
        <p:spPr>
          <a:xfrm>
            <a:off x="4238625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5" name="Shape 220"/>
          <p:cNvSpPr/>
          <p:nvPr/>
        </p:nvSpPr>
        <p:spPr>
          <a:xfrm>
            <a:off x="4491996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6" name="Shape 221"/>
          <p:cNvSpPr/>
          <p:nvPr/>
        </p:nvSpPr>
        <p:spPr>
          <a:xfrm>
            <a:off x="4745357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7" name="Shape 222"/>
          <p:cNvSpPr/>
          <p:nvPr/>
        </p:nvSpPr>
        <p:spPr>
          <a:xfrm>
            <a:off x="4998718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8" name="Shape 223"/>
          <p:cNvSpPr/>
          <p:nvPr/>
        </p:nvSpPr>
        <p:spPr>
          <a:xfrm>
            <a:off x="5252089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9" name="Shape 224"/>
          <p:cNvSpPr/>
          <p:nvPr/>
        </p:nvSpPr>
        <p:spPr>
          <a:xfrm>
            <a:off x="5505450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0" name="Shape 225"/>
          <p:cNvSpPr/>
          <p:nvPr/>
        </p:nvSpPr>
        <p:spPr>
          <a:xfrm>
            <a:off x="5758821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1" name="Shape 226"/>
          <p:cNvSpPr/>
          <p:nvPr/>
        </p:nvSpPr>
        <p:spPr>
          <a:xfrm>
            <a:off x="6012182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2" name="Shape 227"/>
          <p:cNvSpPr/>
          <p:nvPr/>
        </p:nvSpPr>
        <p:spPr>
          <a:xfrm>
            <a:off x="6265543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1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3" name="Shape 228"/>
          <p:cNvSpPr/>
          <p:nvPr/>
        </p:nvSpPr>
        <p:spPr>
          <a:xfrm>
            <a:off x="6518914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4" name="Shape 229"/>
          <p:cNvSpPr/>
          <p:nvPr/>
        </p:nvSpPr>
        <p:spPr>
          <a:xfrm>
            <a:off x="6772275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27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5" name="Shape 230"/>
          <p:cNvSpPr/>
          <p:nvPr/>
        </p:nvSpPr>
        <p:spPr>
          <a:xfrm>
            <a:off x="7025646" y="2735580"/>
            <a:ext cx="224790" cy="224790"/>
          </a:xfrm>
          <a:prstGeom prst="roundRect">
            <a:avLst>
              <a:gd name="adj" fmla="val 12712"/>
            </a:avLst>
          </a:prstGeom>
          <a:solidFill>
            <a:srgbClr val="FF4D5E">
              <a:alpha val="32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6" name="Text 231"/>
          <p:cNvSpPr/>
          <p:nvPr/>
        </p:nvSpPr>
        <p:spPr>
          <a:xfrm>
            <a:off x="788668" y="3055620"/>
            <a:ext cx="4549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·</a:t>
            </a:r>
            <a:endParaRPr lang="en-US" sz="825" dirty="0"/>
          </a:p>
        </p:txBody>
      </p:sp>
      <p:sp>
        <p:nvSpPr>
          <p:cNvPr id="247" name="Shape 232"/>
          <p:cNvSpPr/>
          <p:nvPr/>
        </p:nvSpPr>
        <p:spPr>
          <a:xfrm>
            <a:off x="1224558" y="3064193"/>
            <a:ext cx="167640" cy="129540"/>
          </a:xfrm>
          <a:prstGeom prst="rect">
            <a:avLst/>
          </a:prstGeom>
          <a:solidFill>
            <a:srgbClr val="FF4D5E">
              <a:alpha val="1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8" name="Shape 233"/>
          <p:cNvSpPr/>
          <p:nvPr/>
        </p:nvSpPr>
        <p:spPr>
          <a:xfrm>
            <a:off x="1449353" y="3064193"/>
            <a:ext cx="167640" cy="129540"/>
          </a:xfrm>
          <a:prstGeom prst="rect">
            <a:avLst/>
          </a:prstGeom>
          <a:solidFill>
            <a:srgbClr val="FF4D5E">
              <a:alpha val="3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9" name="Shape 234"/>
          <p:cNvSpPr/>
          <p:nvPr/>
        </p:nvSpPr>
        <p:spPr>
          <a:xfrm>
            <a:off x="1674140" y="3064193"/>
            <a:ext cx="167640" cy="129540"/>
          </a:xfrm>
          <a:prstGeom prst="rect">
            <a:avLst/>
          </a:prstGeom>
          <a:solidFill>
            <a:srgbClr val="FF4D5E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0" name="Shape 235"/>
          <p:cNvSpPr/>
          <p:nvPr/>
        </p:nvSpPr>
        <p:spPr>
          <a:xfrm>
            <a:off x="1898926" y="3064193"/>
            <a:ext cx="167640" cy="129540"/>
          </a:xfrm>
          <a:prstGeom prst="rect">
            <a:avLst/>
          </a:prstGeom>
          <a:solidFill>
            <a:srgbClr val="FF4D5E">
              <a:alpha val="7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1" name="Shape 236"/>
          <p:cNvSpPr/>
          <p:nvPr/>
        </p:nvSpPr>
        <p:spPr>
          <a:xfrm>
            <a:off x="2123722" y="3064193"/>
            <a:ext cx="167640" cy="129540"/>
          </a:xfrm>
          <a:prstGeom prst="rect">
            <a:avLst/>
          </a:prstGeom>
          <a:solidFill>
            <a:srgbClr val="FF4D5E">
              <a:alpha val="9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2" name="Text 237"/>
          <p:cNvSpPr/>
          <p:nvPr/>
        </p:nvSpPr>
        <p:spPr>
          <a:xfrm>
            <a:off x="2348508" y="3055620"/>
            <a:ext cx="57709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 → hot</a:t>
            </a:r>
            <a:endParaRPr lang="en-US" sz="825" dirty="0"/>
          </a:p>
        </p:txBody>
      </p:sp>
      <p:sp>
        <p:nvSpPr>
          <p:cNvPr id="253" name="Shape 238"/>
          <p:cNvSpPr/>
          <p:nvPr/>
        </p:nvSpPr>
        <p:spPr>
          <a:xfrm>
            <a:off x="8218763" y="6113145"/>
            <a:ext cx="1915835" cy="401955"/>
          </a:xfrm>
          <a:prstGeom prst="roundRect">
            <a:avLst>
              <a:gd name="adj" fmla="val 9479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254" name="Text 239"/>
          <p:cNvSpPr/>
          <p:nvPr/>
        </p:nvSpPr>
        <p:spPr>
          <a:xfrm>
            <a:off x="8302583" y="6177915"/>
            <a:ext cx="1824395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bright cell at 3am on Sunday tells the story before any text does.</a:t>
            </a:r>
            <a:endParaRPr lang="en-US" sz="825" dirty="0"/>
          </a:p>
        </p:txBody>
      </p:sp>
      <p:sp>
        <p:nvSpPr>
          <p:cNvPr id="255" name="Shape 240"/>
          <p:cNvSpPr/>
          <p:nvPr/>
        </p:nvSpPr>
        <p:spPr>
          <a:xfrm>
            <a:off x="7486650" y="937260"/>
            <a:ext cx="2667000" cy="559689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56" name="Text 241"/>
          <p:cNvSpPr/>
          <p:nvPr/>
        </p:nvSpPr>
        <p:spPr>
          <a:xfrm>
            <a:off x="7608568" y="1040130"/>
            <a:ext cx="249936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cell · Sun 03:00</a:t>
            </a:r>
            <a:endParaRPr lang="en-US" sz="900" dirty="0"/>
          </a:p>
        </p:txBody>
      </p:sp>
      <p:sp>
        <p:nvSpPr>
          <p:cNvPr id="257" name="Text 242"/>
          <p:cNvSpPr/>
          <p:nvPr/>
        </p:nvSpPr>
        <p:spPr>
          <a:xfrm>
            <a:off x="7608568" y="1299686"/>
            <a:ext cx="51458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deviation</a:t>
            </a:r>
            <a:endParaRPr lang="en-US" sz="863" dirty="0"/>
          </a:p>
        </p:txBody>
      </p:sp>
      <p:sp>
        <p:nvSpPr>
          <p:cNvPr id="258" name="Shape 243"/>
          <p:cNvSpPr/>
          <p:nvPr/>
        </p:nvSpPr>
        <p:spPr>
          <a:xfrm>
            <a:off x="9511429" y="1276350"/>
            <a:ext cx="520303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259" name="Shape 244"/>
          <p:cNvSpPr/>
          <p:nvPr/>
        </p:nvSpPr>
        <p:spPr>
          <a:xfrm>
            <a:off x="9585722" y="1347788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60" name="Text 245"/>
          <p:cNvSpPr/>
          <p:nvPr/>
        </p:nvSpPr>
        <p:spPr>
          <a:xfrm>
            <a:off x="9680972" y="1303020"/>
            <a:ext cx="35266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· 6.2</a:t>
            </a:r>
            <a:endParaRPr lang="en-US" sz="825" dirty="0"/>
          </a:p>
        </p:txBody>
      </p:sp>
      <p:sp>
        <p:nvSpPr>
          <p:cNvPr id="261" name="Text 246"/>
          <p:cNvSpPr/>
          <p:nvPr/>
        </p:nvSpPr>
        <p:spPr>
          <a:xfrm>
            <a:off x="7608568" y="1556861"/>
            <a:ext cx="39885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863" dirty="0"/>
          </a:p>
        </p:txBody>
      </p:sp>
      <p:sp>
        <p:nvSpPr>
          <p:cNvPr id="262" name="Shape 247"/>
          <p:cNvSpPr/>
          <p:nvPr/>
        </p:nvSpPr>
        <p:spPr>
          <a:xfrm>
            <a:off x="9511075" y="1533525"/>
            <a:ext cx="52066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3" name="Shape 248"/>
          <p:cNvSpPr/>
          <p:nvPr/>
        </p:nvSpPr>
        <p:spPr>
          <a:xfrm>
            <a:off x="9585368" y="160496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64" name="Text 249"/>
          <p:cNvSpPr/>
          <p:nvPr/>
        </p:nvSpPr>
        <p:spPr>
          <a:xfrm>
            <a:off x="9680618" y="1560195"/>
            <a:ext cx="35302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1,402</a:t>
            </a:r>
            <a:endParaRPr lang="en-US" sz="825" dirty="0"/>
          </a:p>
        </p:txBody>
      </p:sp>
      <p:sp>
        <p:nvSpPr>
          <p:cNvPr id="265" name="Text 250"/>
          <p:cNvSpPr/>
          <p:nvPr/>
        </p:nvSpPr>
        <p:spPr>
          <a:xfrm>
            <a:off x="7608568" y="1814036"/>
            <a:ext cx="624126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baseline</a:t>
            </a:r>
            <a:endParaRPr lang="en-US" sz="863" dirty="0"/>
          </a:p>
        </p:txBody>
      </p:sp>
      <p:sp>
        <p:nvSpPr>
          <p:cNvPr id="266" name="Shape 251"/>
          <p:cNvSpPr/>
          <p:nvPr/>
        </p:nvSpPr>
        <p:spPr>
          <a:xfrm>
            <a:off x="9501429" y="1790700"/>
            <a:ext cx="53030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7" name="Shape 252"/>
          <p:cNvSpPr/>
          <p:nvPr/>
        </p:nvSpPr>
        <p:spPr>
          <a:xfrm>
            <a:off x="9575722" y="186213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68" name="Text 253"/>
          <p:cNvSpPr/>
          <p:nvPr/>
        </p:nvSpPr>
        <p:spPr>
          <a:xfrm>
            <a:off x="9670972" y="1817370"/>
            <a:ext cx="36266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+117 ×</a:t>
            </a:r>
            <a:endParaRPr lang="en-US" sz="825" dirty="0"/>
          </a:p>
        </p:txBody>
      </p:sp>
      <p:sp>
        <p:nvSpPr>
          <p:cNvPr id="269" name="Text 254"/>
          <p:cNvSpPr/>
          <p:nvPr/>
        </p:nvSpPr>
        <p:spPr>
          <a:xfrm>
            <a:off x="7608568" y="2071211"/>
            <a:ext cx="63019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cohort</a:t>
            </a:r>
            <a:endParaRPr lang="en-US" sz="863" dirty="0"/>
          </a:p>
        </p:txBody>
      </p:sp>
      <p:sp>
        <p:nvSpPr>
          <p:cNvPr id="270" name="Shape 255"/>
          <p:cNvSpPr/>
          <p:nvPr/>
        </p:nvSpPr>
        <p:spPr>
          <a:xfrm>
            <a:off x="9085538" y="2047875"/>
            <a:ext cx="946190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271" name="Shape 256"/>
          <p:cNvSpPr/>
          <p:nvPr/>
        </p:nvSpPr>
        <p:spPr>
          <a:xfrm>
            <a:off x="9159841" y="2119313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272" name="Text 257"/>
          <p:cNvSpPr/>
          <p:nvPr/>
        </p:nvSpPr>
        <p:spPr>
          <a:xfrm>
            <a:off x="9255091" y="2074545"/>
            <a:ext cx="7785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abnormal</a:t>
            </a:r>
            <a:endParaRPr lang="en-US" sz="825" dirty="0"/>
          </a:p>
        </p:txBody>
      </p:sp>
      <p:sp>
        <p:nvSpPr>
          <p:cNvPr id="273" name="Shape 258"/>
          <p:cNvSpPr/>
          <p:nvPr/>
        </p:nvSpPr>
        <p:spPr>
          <a:xfrm>
            <a:off x="7608568" y="2324100"/>
            <a:ext cx="2423160" cy="95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4" name="Text 259"/>
          <p:cNvSpPr/>
          <p:nvPr/>
        </p:nvSpPr>
        <p:spPr>
          <a:xfrm>
            <a:off x="7608568" y="2388870"/>
            <a:ext cx="24993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SCORE</a:t>
            </a:r>
            <a:endParaRPr lang="en-US" sz="750" dirty="0"/>
          </a:p>
        </p:txBody>
      </p:sp>
      <p:sp>
        <p:nvSpPr>
          <p:cNvPr id="275" name="Text 260"/>
          <p:cNvSpPr/>
          <p:nvPr/>
        </p:nvSpPr>
        <p:spPr>
          <a:xfrm>
            <a:off x="7608568" y="2522220"/>
            <a:ext cx="2499360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mean: 12 events/h. observed: 1,402 in 9 min. computed by behavior model — deterministic, not LM.</a:t>
            </a:r>
            <a:endParaRPr lang="en-US" sz="825" dirty="0"/>
          </a:p>
        </p:txBody>
      </p:sp>
      <p:sp>
        <p:nvSpPr>
          <p:cNvPr id="276" name="Shape 261"/>
          <p:cNvSpPr/>
          <p:nvPr/>
        </p:nvSpPr>
        <p:spPr>
          <a:xfrm>
            <a:off x="7608568" y="3038475"/>
            <a:ext cx="792599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7" name="Text 262"/>
          <p:cNvSpPr/>
          <p:nvPr/>
        </p:nvSpPr>
        <p:spPr>
          <a:xfrm>
            <a:off x="7682871" y="3065145"/>
            <a:ext cx="72020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to case</a:t>
            </a:r>
            <a:endParaRPr lang="en-US" sz="825" dirty="0"/>
          </a:p>
        </p:txBody>
      </p:sp>
      <p:sp>
        <p:nvSpPr>
          <p:cNvPr id="278" name="Shape 263"/>
          <p:cNvSpPr/>
          <p:nvPr/>
        </p:nvSpPr>
        <p:spPr>
          <a:xfrm>
            <a:off x="8439271" y="3038475"/>
            <a:ext cx="75438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9" name="Text 264"/>
          <p:cNvSpPr/>
          <p:nvPr/>
        </p:nvSpPr>
        <p:spPr>
          <a:xfrm>
            <a:off x="8513564" y="3065145"/>
            <a:ext cx="6819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as hunt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21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71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71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71" y="1323975"/>
            <a:ext cx="171450" cy="17145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1446" y="1600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71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71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71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71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71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71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22491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inventory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1910721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018705" y="144780"/>
            <a:ext cx="116264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· machine · AI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257550" y="74295"/>
            <a:ext cx="4233386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0418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531868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4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20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196465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attack surface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6106120" y="616268"/>
            <a:ext cx="754618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6180413" y="687705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25"/>
          <p:cNvSpPr/>
          <p:nvPr/>
        </p:nvSpPr>
        <p:spPr>
          <a:xfrm>
            <a:off x="6275663" y="642938"/>
            <a:ext cx="58697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· 65,418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6917894" y="616268"/>
            <a:ext cx="58209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6992187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3" name="Text 28"/>
          <p:cNvSpPr/>
          <p:nvPr/>
        </p:nvSpPr>
        <p:spPr>
          <a:xfrm>
            <a:off x="7087437" y="642938"/>
            <a:ext cx="41445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7557139" y="616268"/>
            <a:ext cx="67365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7631432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6" name="Text 31"/>
          <p:cNvSpPr/>
          <p:nvPr/>
        </p:nvSpPr>
        <p:spPr>
          <a:xfrm>
            <a:off x="7726682" y="642938"/>
            <a:ext cx="50601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</a:t>
            </a:r>
            <a:endParaRPr lang="en-US" sz="825" dirty="0"/>
          </a:p>
        </p:txBody>
      </p:sp>
      <p:sp>
        <p:nvSpPr>
          <p:cNvPr id="47" name="Shape 32"/>
          <p:cNvSpPr/>
          <p:nvPr/>
        </p:nvSpPr>
        <p:spPr>
          <a:xfrm>
            <a:off x="8287941" y="616268"/>
            <a:ext cx="65603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8" name="Shape 33"/>
          <p:cNvSpPr/>
          <p:nvPr/>
        </p:nvSpPr>
        <p:spPr>
          <a:xfrm>
            <a:off x="8362234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9" name="Text 34"/>
          <p:cNvSpPr/>
          <p:nvPr/>
        </p:nvSpPr>
        <p:spPr>
          <a:xfrm>
            <a:off x="8457484" y="642938"/>
            <a:ext cx="48839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825" dirty="0"/>
          </a:p>
        </p:txBody>
      </p:sp>
      <p:sp>
        <p:nvSpPr>
          <p:cNvPr id="50" name="Shape 35"/>
          <p:cNvSpPr/>
          <p:nvPr/>
        </p:nvSpPr>
        <p:spPr>
          <a:xfrm>
            <a:off x="9001125" y="590550"/>
            <a:ext cx="1152525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1" name="Text 36"/>
          <p:cNvSpPr/>
          <p:nvPr/>
        </p:nvSpPr>
        <p:spPr>
          <a:xfrm>
            <a:off x="9103993" y="636270"/>
            <a:ext cx="10229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 unused</a:t>
            </a:r>
            <a:endParaRPr lang="en-US" sz="900" dirty="0"/>
          </a:p>
        </p:txBody>
      </p:sp>
      <p:sp>
        <p:nvSpPr>
          <p:cNvPr id="52" name="Shape 37"/>
          <p:cNvSpPr/>
          <p:nvPr/>
        </p:nvSpPr>
        <p:spPr>
          <a:xfrm>
            <a:off x="666750" y="937260"/>
            <a:ext cx="6324600" cy="5596890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3" name="Shape 38"/>
          <p:cNvSpPr/>
          <p:nvPr/>
        </p:nvSpPr>
        <p:spPr>
          <a:xfrm>
            <a:off x="788668" y="1040130"/>
            <a:ext cx="857964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4" name="Shape 39"/>
          <p:cNvSpPr/>
          <p:nvPr/>
        </p:nvSpPr>
        <p:spPr>
          <a:xfrm>
            <a:off x="788668" y="1278255"/>
            <a:ext cx="857964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40"/>
          <p:cNvSpPr/>
          <p:nvPr/>
        </p:nvSpPr>
        <p:spPr>
          <a:xfrm>
            <a:off x="864868" y="1087755"/>
            <a:ext cx="7817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825" dirty="0"/>
          </a:p>
        </p:txBody>
      </p:sp>
      <p:sp>
        <p:nvSpPr>
          <p:cNvPr id="56" name="Shape 41"/>
          <p:cNvSpPr/>
          <p:nvPr/>
        </p:nvSpPr>
        <p:spPr>
          <a:xfrm>
            <a:off x="1646634" y="1040130"/>
            <a:ext cx="1030248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Shape 42"/>
          <p:cNvSpPr/>
          <p:nvPr/>
        </p:nvSpPr>
        <p:spPr>
          <a:xfrm>
            <a:off x="1646634" y="1278255"/>
            <a:ext cx="1030248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43"/>
          <p:cNvSpPr/>
          <p:nvPr/>
        </p:nvSpPr>
        <p:spPr>
          <a:xfrm>
            <a:off x="1722834" y="1087755"/>
            <a:ext cx="9540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825" dirty="0"/>
          </a:p>
        </p:txBody>
      </p:sp>
      <p:sp>
        <p:nvSpPr>
          <p:cNvPr id="59" name="Shape 44"/>
          <p:cNvSpPr/>
          <p:nvPr/>
        </p:nvSpPr>
        <p:spPr>
          <a:xfrm>
            <a:off x="2676888" y="1040130"/>
            <a:ext cx="1333857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Shape 45"/>
          <p:cNvSpPr/>
          <p:nvPr/>
        </p:nvSpPr>
        <p:spPr>
          <a:xfrm>
            <a:off x="2676888" y="1278255"/>
            <a:ext cx="1333857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Text 46"/>
          <p:cNvSpPr/>
          <p:nvPr/>
        </p:nvSpPr>
        <p:spPr>
          <a:xfrm>
            <a:off x="2753088" y="1087755"/>
            <a:ext cx="125765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825" dirty="0"/>
          </a:p>
        </p:txBody>
      </p:sp>
      <p:sp>
        <p:nvSpPr>
          <p:cNvPr id="62" name="Shape 47"/>
          <p:cNvSpPr/>
          <p:nvPr/>
        </p:nvSpPr>
        <p:spPr>
          <a:xfrm>
            <a:off x="4010741" y="1040130"/>
            <a:ext cx="985599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3" name="Shape 48"/>
          <p:cNvSpPr/>
          <p:nvPr/>
        </p:nvSpPr>
        <p:spPr>
          <a:xfrm>
            <a:off x="4010741" y="1278255"/>
            <a:ext cx="9855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49"/>
          <p:cNvSpPr/>
          <p:nvPr/>
        </p:nvSpPr>
        <p:spPr>
          <a:xfrm>
            <a:off x="4086941" y="1087755"/>
            <a:ext cx="9093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ACTIVITY</a:t>
            </a:r>
            <a:endParaRPr lang="en-US" sz="825" dirty="0"/>
          </a:p>
        </p:txBody>
      </p:sp>
      <p:sp>
        <p:nvSpPr>
          <p:cNvPr id="65" name="Shape 50"/>
          <p:cNvSpPr/>
          <p:nvPr/>
        </p:nvSpPr>
        <p:spPr>
          <a:xfrm>
            <a:off x="4996337" y="1040130"/>
            <a:ext cx="1009769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6" name="Shape 51"/>
          <p:cNvSpPr/>
          <p:nvPr/>
        </p:nvSpPr>
        <p:spPr>
          <a:xfrm>
            <a:off x="4996337" y="1278255"/>
            <a:ext cx="100976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Text 52"/>
          <p:cNvSpPr/>
          <p:nvPr/>
        </p:nvSpPr>
        <p:spPr>
          <a:xfrm>
            <a:off x="5072537" y="1087755"/>
            <a:ext cx="93356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 PRIVS</a:t>
            </a:r>
            <a:endParaRPr lang="en-US" sz="825" dirty="0"/>
          </a:p>
        </p:txBody>
      </p:sp>
      <p:sp>
        <p:nvSpPr>
          <p:cNvPr id="68" name="Shape 53"/>
          <p:cNvSpPr/>
          <p:nvPr/>
        </p:nvSpPr>
        <p:spPr>
          <a:xfrm>
            <a:off x="6006108" y="1040130"/>
            <a:ext cx="863322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9" name="Shape 54"/>
          <p:cNvSpPr/>
          <p:nvPr/>
        </p:nvSpPr>
        <p:spPr>
          <a:xfrm>
            <a:off x="6006108" y="1278255"/>
            <a:ext cx="863322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55"/>
          <p:cNvSpPr/>
          <p:nvPr/>
        </p:nvSpPr>
        <p:spPr>
          <a:xfrm>
            <a:off x="6082308" y="1087755"/>
            <a:ext cx="78712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825" dirty="0"/>
          </a:p>
        </p:txBody>
      </p:sp>
      <p:sp>
        <p:nvSpPr>
          <p:cNvPr id="71" name="Shape 56"/>
          <p:cNvSpPr/>
          <p:nvPr/>
        </p:nvSpPr>
        <p:spPr>
          <a:xfrm>
            <a:off x="788668" y="1285875"/>
            <a:ext cx="85796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72" name="Shape 57"/>
          <p:cNvSpPr/>
          <p:nvPr/>
        </p:nvSpPr>
        <p:spPr>
          <a:xfrm>
            <a:off x="788668" y="1600200"/>
            <a:ext cx="8579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3" name="Shape 58"/>
          <p:cNvSpPr/>
          <p:nvPr/>
        </p:nvSpPr>
        <p:spPr>
          <a:xfrm>
            <a:off x="864868" y="1346835"/>
            <a:ext cx="58209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4" name="Shape 59"/>
          <p:cNvSpPr/>
          <p:nvPr/>
        </p:nvSpPr>
        <p:spPr>
          <a:xfrm>
            <a:off x="939171" y="141827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5" name="Text 60"/>
          <p:cNvSpPr/>
          <p:nvPr/>
        </p:nvSpPr>
        <p:spPr>
          <a:xfrm>
            <a:off x="1034421" y="1381125"/>
            <a:ext cx="41444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825" dirty="0"/>
          </a:p>
        </p:txBody>
      </p:sp>
      <p:sp>
        <p:nvSpPr>
          <p:cNvPr id="76" name="Shape 61"/>
          <p:cNvSpPr/>
          <p:nvPr/>
        </p:nvSpPr>
        <p:spPr>
          <a:xfrm>
            <a:off x="1646634" y="1285875"/>
            <a:ext cx="1030248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77" name="Shape 62"/>
          <p:cNvSpPr/>
          <p:nvPr/>
        </p:nvSpPr>
        <p:spPr>
          <a:xfrm>
            <a:off x="1646634" y="1600200"/>
            <a:ext cx="10302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8" name="Text 63"/>
          <p:cNvSpPr/>
          <p:nvPr/>
        </p:nvSpPr>
        <p:spPr>
          <a:xfrm>
            <a:off x="1722834" y="1343025"/>
            <a:ext cx="954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carlos.t</a:t>
            </a:r>
            <a:endParaRPr lang="en-US" sz="900" dirty="0"/>
          </a:p>
        </p:txBody>
      </p:sp>
      <p:sp>
        <p:nvSpPr>
          <p:cNvPr id="79" name="Shape 64"/>
          <p:cNvSpPr/>
          <p:nvPr/>
        </p:nvSpPr>
        <p:spPr>
          <a:xfrm>
            <a:off x="2676888" y="1285875"/>
            <a:ext cx="1333857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80" name="Shape 65"/>
          <p:cNvSpPr/>
          <p:nvPr/>
        </p:nvSpPr>
        <p:spPr>
          <a:xfrm>
            <a:off x="2676888" y="1600200"/>
            <a:ext cx="133385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1" name="Text 66"/>
          <p:cNvSpPr/>
          <p:nvPr/>
        </p:nvSpPr>
        <p:spPr>
          <a:xfrm>
            <a:off x="2753088" y="1343025"/>
            <a:ext cx="125765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finance.analyst</a:t>
            </a:r>
            <a:endParaRPr lang="en-US" sz="825" dirty="0"/>
          </a:p>
        </p:txBody>
      </p:sp>
      <p:sp>
        <p:nvSpPr>
          <p:cNvPr id="82" name="Shape 67"/>
          <p:cNvSpPr/>
          <p:nvPr/>
        </p:nvSpPr>
        <p:spPr>
          <a:xfrm>
            <a:off x="4010741" y="1285875"/>
            <a:ext cx="985599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83" name="Shape 68"/>
          <p:cNvSpPr/>
          <p:nvPr/>
        </p:nvSpPr>
        <p:spPr>
          <a:xfrm>
            <a:off x="4010741" y="1600200"/>
            <a:ext cx="985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4" name="Text 69"/>
          <p:cNvSpPr/>
          <p:nvPr/>
        </p:nvSpPr>
        <p:spPr>
          <a:xfrm>
            <a:off x="4086941" y="1343025"/>
            <a:ext cx="909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13:24</a:t>
            </a:r>
            <a:endParaRPr lang="en-US" sz="825" dirty="0"/>
          </a:p>
        </p:txBody>
      </p:sp>
      <p:sp>
        <p:nvSpPr>
          <p:cNvPr id="85" name="Shape 70"/>
          <p:cNvSpPr/>
          <p:nvPr/>
        </p:nvSpPr>
        <p:spPr>
          <a:xfrm>
            <a:off x="4996337" y="1285875"/>
            <a:ext cx="1009769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86" name="Shape 71"/>
          <p:cNvSpPr/>
          <p:nvPr/>
        </p:nvSpPr>
        <p:spPr>
          <a:xfrm>
            <a:off x="4996337" y="1600200"/>
            <a:ext cx="100976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7" name="Shape 72"/>
          <p:cNvSpPr/>
          <p:nvPr/>
        </p:nvSpPr>
        <p:spPr>
          <a:xfrm>
            <a:off x="5072537" y="1346835"/>
            <a:ext cx="30777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8" name="Shape 73"/>
          <p:cNvSpPr/>
          <p:nvPr/>
        </p:nvSpPr>
        <p:spPr>
          <a:xfrm>
            <a:off x="5146839" y="141827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89" name="Text 74"/>
          <p:cNvSpPr/>
          <p:nvPr/>
        </p:nvSpPr>
        <p:spPr>
          <a:xfrm>
            <a:off x="5242089" y="1381125"/>
            <a:ext cx="14013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5" dirty="0"/>
          </a:p>
        </p:txBody>
      </p:sp>
      <p:sp>
        <p:nvSpPr>
          <p:cNvPr id="90" name="Shape 75"/>
          <p:cNvSpPr/>
          <p:nvPr/>
        </p:nvSpPr>
        <p:spPr>
          <a:xfrm>
            <a:off x="6006108" y="1285875"/>
            <a:ext cx="863322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91" name="Shape 76"/>
          <p:cNvSpPr/>
          <p:nvPr/>
        </p:nvSpPr>
        <p:spPr>
          <a:xfrm>
            <a:off x="6006108" y="1600200"/>
            <a:ext cx="86332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2" name="Text 77"/>
          <p:cNvSpPr/>
          <p:nvPr/>
        </p:nvSpPr>
        <p:spPr>
          <a:xfrm>
            <a:off x="6120408" y="1373505"/>
            <a:ext cx="1927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825" dirty="0"/>
          </a:p>
        </p:txBody>
      </p:sp>
      <p:sp>
        <p:nvSpPr>
          <p:cNvPr id="93" name="Shape 78"/>
          <p:cNvSpPr/>
          <p:nvPr/>
        </p:nvSpPr>
        <p:spPr>
          <a:xfrm>
            <a:off x="788668" y="1922145"/>
            <a:ext cx="8579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4" name="Shape 79"/>
          <p:cNvSpPr/>
          <p:nvPr/>
        </p:nvSpPr>
        <p:spPr>
          <a:xfrm>
            <a:off x="864868" y="1668780"/>
            <a:ext cx="58209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5" name="Shape 80"/>
          <p:cNvSpPr/>
          <p:nvPr/>
        </p:nvSpPr>
        <p:spPr>
          <a:xfrm>
            <a:off x="939171" y="174021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96" name="Text 81"/>
          <p:cNvSpPr/>
          <p:nvPr/>
        </p:nvSpPr>
        <p:spPr>
          <a:xfrm>
            <a:off x="1034421" y="1703070"/>
            <a:ext cx="41444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825" dirty="0"/>
          </a:p>
        </p:txBody>
      </p:sp>
      <p:sp>
        <p:nvSpPr>
          <p:cNvPr id="97" name="Shape 82"/>
          <p:cNvSpPr/>
          <p:nvPr/>
        </p:nvSpPr>
        <p:spPr>
          <a:xfrm>
            <a:off x="1646634" y="1922145"/>
            <a:ext cx="10302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8" name="Text 83"/>
          <p:cNvSpPr/>
          <p:nvPr/>
        </p:nvSpPr>
        <p:spPr>
          <a:xfrm>
            <a:off x="1722834" y="1664970"/>
            <a:ext cx="954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alex.m</a:t>
            </a:r>
            <a:endParaRPr lang="en-US" sz="900" dirty="0"/>
          </a:p>
        </p:txBody>
      </p:sp>
      <p:sp>
        <p:nvSpPr>
          <p:cNvPr id="99" name="Shape 84"/>
          <p:cNvSpPr/>
          <p:nvPr/>
        </p:nvSpPr>
        <p:spPr>
          <a:xfrm>
            <a:off x="2676888" y="1922145"/>
            <a:ext cx="133385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0" name="Text 85"/>
          <p:cNvSpPr/>
          <p:nvPr/>
        </p:nvSpPr>
        <p:spPr>
          <a:xfrm>
            <a:off x="2753088" y="1664970"/>
            <a:ext cx="125765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soc.l2</a:t>
            </a:r>
            <a:endParaRPr lang="en-US" sz="825" dirty="0"/>
          </a:p>
        </p:txBody>
      </p:sp>
      <p:sp>
        <p:nvSpPr>
          <p:cNvPr id="101" name="Shape 86"/>
          <p:cNvSpPr/>
          <p:nvPr/>
        </p:nvSpPr>
        <p:spPr>
          <a:xfrm>
            <a:off x="4010741" y="1922145"/>
            <a:ext cx="985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2" name="Text 87"/>
          <p:cNvSpPr/>
          <p:nvPr/>
        </p:nvSpPr>
        <p:spPr>
          <a:xfrm>
            <a:off x="4086941" y="1664970"/>
            <a:ext cx="909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825" dirty="0"/>
          </a:p>
        </p:txBody>
      </p:sp>
      <p:sp>
        <p:nvSpPr>
          <p:cNvPr id="103" name="Shape 88"/>
          <p:cNvSpPr/>
          <p:nvPr/>
        </p:nvSpPr>
        <p:spPr>
          <a:xfrm>
            <a:off x="4996337" y="1922145"/>
            <a:ext cx="100976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4" name="Shape 89"/>
          <p:cNvSpPr/>
          <p:nvPr/>
        </p:nvSpPr>
        <p:spPr>
          <a:xfrm>
            <a:off x="5072537" y="1668780"/>
            <a:ext cx="306705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05" name="Shape 90"/>
          <p:cNvSpPr/>
          <p:nvPr/>
        </p:nvSpPr>
        <p:spPr>
          <a:xfrm>
            <a:off x="5146839" y="174021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06" name="Text 91"/>
          <p:cNvSpPr/>
          <p:nvPr/>
        </p:nvSpPr>
        <p:spPr>
          <a:xfrm>
            <a:off x="5242089" y="1703070"/>
            <a:ext cx="13906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25" dirty="0"/>
          </a:p>
        </p:txBody>
      </p:sp>
      <p:sp>
        <p:nvSpPr>
          <p:cNvPr id="107" name="Shape 92"/>
          <p:cNvSpPr/>
          <p:nvPr/>
        </p:nvSpPr>
        <p:spPr>
          <a:xfrm>
            <a:off x="6006108" y="1922145"/>
            <a:ext cx="86332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8" name="Text 93"/>
          <p:cNvSpPr/>
          <p:nvPr/>
        </p:nvSpPr>
        <p:spPr>
          <a:xfrm>
            <a:off x="6120408" y="1695450"/>
            <a:ext cx="1927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25" dirty="0"/>
          </a:p>
        </p:txBody>
      </p:sp>
      <p:sp>
        <p:nvSpPr>
          <p:cNvPr id="109" name="Shape 94"/>
          <p:cNvSpPr/>
          <p:nvPr/>
        </p:nvSpPr>
        <p:spPr>
          <a:xfrm>
            <a:off x="788668" y="1929765"/>
            <a:ext cx="857964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10" name="Shape 95"/>
          <p:cNvSpPr/>
          <p:nvPr/>
        </p:nvSpPr>
        <p:spPr>
          <a:xfrm>
            <a:off x="788668" y="2244090"/>
            <a:ext cx="8579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1" name="Shape 96"/>
          <p:cNvSpPr/>
          <p:nvPr/>
        </p:nvSpPr>
        <p:spPr>
          <a:xfrm>
            <a:off x="864868" y="1990725"/>
            <a:ext cx="539829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12" name="Shape 97"/>
          <p:cNvSpPr/>
          <p:nvPr/>
        </p:nvSpPr>
        <p:spPr>
          <a:xfrm>
            <a:off x="939171" y="206216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13" name="Text 98"/>
          <p:cNvSpPr/>
          <p:nvPr/>
        </p:nvSpPr>
        <p:spPr>
          <a:xfrm>
            <a:off x="1034421" y="2025015"/>
            <a:ext cx="37218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25" dirty="0"/>
          </a:p>
        </p:txBody>
      </p:sp>
      <p:sp>
        <p:nvSpPr>
          <p:cNvPr id="114" name="Shape 99"/>
          <p:cNvSpPr/>
          <p:nvPr/>
        </p:nvSpPr>
        <p:spPr>
          <a:xfrm>
            <a:off x="1646634" y="1929765"/>
            <a:ext cx="1030248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15" name="Shape 100"/>
          <p:cNvSpPr/>
          <p:nvPr/>
        </p:nvSpPr>
        <p:spPr>
          <a:xfrm>
            <a:off x="1646634" y="2244090"/>
            <a:ext cx="10302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6" name="Text 101"/>
          <p:cNvSpPr/>
          <p:nvPr/>
        </p:nvSpPr>
        <p:spPr>
          <a:xfrm>
            <a:off x="1722834" y="1986915"/>
            <a:ext cx="954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claude-fin-bot</a:t>
            </a:r>
            <a:endParaRPr lang="en-US" sz="900" dirty="0"/>
          </a:p>
        </p:txBody>
      </p:sp>
      <p:sp>
        <p:nvSpPr>
          <p:cNvPr id="117" name="Shape 102"/>
          <p:cNvSpPr/>
          <p:nvPr/>
        </p:nvSpPr>
        <p:spPr>
          <a:xfrm>
            <a:off x="2676888" y="1929765"/>
            <a:ext cx="1333857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18" name="Shape 103"/>
          <p:cNvSpPr/>
          <p:nvPr/>
        </p:nvSpPr>
        <p:spPr>
          <a:xfrm>
            <a:off x="2676888" y="2244090"/>
            <a:ext cx="133385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9" name="Text 104"/>
          <p:cNvSpPr/>
          <p:nvPr/>
        </p:nvSpPr>
        <p:spPr>
          <a:xfrm>
            <a:off x="2753088" y="1986915"/>
            <a:ext cx="125765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· finance recon</a:t>
            </a:r>
            <a:endParaRPr lang="en-US" sz="825" dirty="0"/>
          </a:p>
        </p:txBody>
      </p:sp>
      <p:sp>
        <p:nvSpPr>
          <p:cNvPr id="120" name="Shape 105"/>
          <p:cNvSpPr/>
          <p:nvPr/>
        </p:nvSpPr>
        <p:spPr>
          <a:xfrm>
            <a:off x="4010741" y="1929765"/>
            <a:ext cx="985599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21" name="Shape 106"/>
          <p:cNvSpPr/>
          <p:nvPr/>
        </p:nvSpPr>
        <p:spPr>
          <a:xfrm>
            <a:off x="4010741" y="2244090"/>
            <a:ext cx="985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2" name="Text 107"/>
          <p:cNvSpPr/>
          <p:nvPr/>
        </p:nvSpPr>
        <p:spPr>
          <a:xfrm>
            <a:off x="4086941" y="1986915"/>
            <a:ext cx="909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13:32</a:t>
            </a:r>
            <a:endParaRPr lang="en-US" sz="825" dirty="0"/>
          </a:p>
        </p:txBody>
      </p:sp>
      <p:sp>
        <p:nvSpPr>
          <p:cNvPr id="123" name="Shape 108"/>
          <p:cNvSpPr/>
          <p:nvPr/>
        </p:nvSpPr>
        <p:spPr>
          <a:xfrm>
            <a:off x="4996337" y="1929765"/>
            <a:ext cx="1009769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24" name="Shape 109"/>
          <p:cNvSpPr/>
          <p:nvPr/>
        </p:nvSpPr>
        <p:spPr>
          <a:xfrm>
            <a:off x="4996337" y="2244090"/>
            <a:ext cx="100976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5" name="Shape 110"/>
          <p:cNvSpPr/>
          <p:nvPr/>
        </p:nvSpPr>
        <p:spPr>
          <a:xfrm>
            <a:off x="5072537" y="1990725"/>
            <a:ext cx="323969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26" name="Shape 111"/>
          <p:cNvSpPr/>
          <p:nvPr/>
        </p:nvSpPr>
        <p:spPr>
          <a:xfrm>
            <a:off x="5146839" y="2062163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27" name="Text 112"/>
          <p:cNvSpPr/>
          <p:nvPr/>
        </p:nvSpPr>
        <p:spPr>
          <a:xfrm>
            <a:off x="5242089" y="2025015"/>
            <a:ext cx="15632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25" dirty="0"/>
          </a:p>
        </p:txBody>
      </p:sp>
      <p:sp>
        <p:nvSpPr>
          <p:cNvPr id="128" name="Shape 113"/>
          <p:cNvSpPr/>
          <p:nvPr/>
        </p:nvSpPr>
        <p:spPr>
          <a:xfrm>
            <a:off x="6006108" y="1929765"/>
            <a:ext cx="863322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29" name="Shape 114"/>
          <p:cNvSpPr/>
          <p:nvPr/>
        </p:nvSpPr>
        <p:spPr>
          <a:xfrm>
            <a:off x="6006108" y="2244090"/>
            <a:ext cx="86332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0" name="Text 115"/>
          <p:cNvSpPr/>
          <p:nvPr/>
        </p:nvSpPr>
        <p:spPr>
          <a:xfrm>
            <a:off x="6120408" y="2017395"/>
            <a:ext cx="1927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825" dirty="0"/>
          </a:p>
        </p:txBody>
      </p:sp>
      <p:sp>
        <p:nvSpPr>
          <p:cNvPr id="131" name="Shape 116"/>
          <p:cNvSpPr/>
          <p:nvPr/>
        </p:nvSpPr>
        <p:spPr>
          <a:xfrm>
            <a:off x="788668" y="2251710"/>
            <a:ext cx="857964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32" name="Shape 117"/>
          <p:cNvSpPr/>
          <p:nvPr/>
        </p:nvSpPr>
        <p:spPr>
          <a:xfrm>
            <a:off x="788668" y="2566035"/>
            <a:ext cx="8579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3" name="Shape 118"/>
          <p:cNvSpPr/>
          <p:nvPr/>
        </p:nvSpPr>
        <p:spPr>
          <a:xfrm>
            <a:off x="864868" y="2312670"/>
            <a:ext cx="539829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34" name="Shape 119"/>
          <p:cNvSpPr/>
          <p:nvPr/>
        </p:nvSpPr>
        <p:spPr>
          <a:xfrm>
            <a:off x="939171" y="2384107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35" name="Text 120"/>
          <p:cNvSpPr/>
          <p:nvPr/>
        </p:nvSpPr>
        <p:spPr>
          <a:xfrm>
            <a:off x="1034421" y="2346960"/>
            <a:ext cx="37218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25" dirty="0"/>
          </a:p>
        </p:txBody>
      </p:sp>
      <p:sp>
        <p:nvSpPr>
          <p:cNvPr id="136" name="Shape 121"/>
          <p:cNvSpPr/>
          <p:nvPr/>
        </p:nvSpPr>
        <p:spPr>
          <a:xfrm>
            <a:off x="1646634" y="2251710"/>
            <a:ext cx="1030248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37" name="Shape 122"/>
          <p:cNvSpPr/>
          <p:nvPr/>
        </p:nvSpPr>
        <p:spPr>
          <a:xfrm>
            <a:off x="1646634" y="2566035"/>
            <a:ext cx="10302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8" name="Text 123"/>
          <p:cNvSpPr/>
          <p:nvPr/>
        </p:nvSpPr>
        <p:spPr>
          <a:xfrm>
            <a:off x="1722834" y="2308860"/>
            <a:ext cx="954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claw-armor-1</a:t>
            </a:r>
            <a:endParaRPr lang="en-US" sz="900" dirty="0"/>
          </a:p>
        </p:txBody>
      </p:sp>
      <p:sp>
        <p:nvSpPr>
          <p:cNvPr id="139" name="Shape 124"/>
          <p:cNvSpPr/>
          <p:nvPr/>
        </p:nvSpPr>
        <p:spPr>
          <a:xfrm>
            <a:off x="2676888" y="2251710"/>
            <a:ext cx="1333857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40" name="Shape 125"/>
          <p:cNvSpPr/>
          <p:nvPr/>
        </p:nvSpPr>
        <p:spPr>
          <a:xfrm>
            <a:off x="2676888" y="2566035"/>
            <a:ext cx="133385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1" name="Text 126"/>
          <p:cNvSpPr/>
          <p:nvPr/>
        </p:nvSpPr>
        <p:spPr>
          <a:xfrm>
            <a:off x="2753088" y="2308860"/>
            <a:ext cx="125765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· soc detect</a:t>
            </a:r>
            <a:endParaRPr lang="en-US" sz="825" dirty="0"/>
          </a:p>
        </p:txBody>
      </p:sp>
      <p:sp>
        <p:nvSpPr>
          <p:cNvPr id="142" name="Shape 127"/>
          <p:cNvSpPr/>
          <p:nvPr/>
        </p:nvSpPr>
        <p:spPr>
          <a:xfrm>
            <a:off x="4010741" y="2251710"/>
            <a:ext cx="985599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43" name="Shape 128"/>
          <p:cNvSpPr/>
          <p:nvPr/>
        </p:nvSpPr>
        <p:spPr>
          <a:xfrm>
            <a:off x="4010741" y="2566035"/>
            <a:ext cx="985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4" name="Text 129"/>
          <p:cNvSpPr/>
          <p:nvPr/>
        </p:nvSpPr>
        <p:spPr>
          <a:xfrm>
            <a:off x="4086941" y="2308860"/>
            <a:ext cx="909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825" dirty="0"/>
          </a:p>
        </p:txBody>
      </p:sp>
      <p:sp>
        <p:nvSpPr>
          <p:cNvPr id="145" name="Shape 130"/>
          <p:cNvSpPr/>
          <p:nvPr/>
        </p:nvSpPr>
        <p:spPr>
          <a:xfrm>
            <a:off x="4996337" y="2251710"/>
            <a:ext cx="1009769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46" name="Shape 131"/>
          <p:cNvSpPr/>
          <p:nvPr/>
        </p:nvSpPr>
        <p:spPr>
          <a:xfrm>
            <a:off x="4996337" y="2566035"/>
            <a:ext cx="100976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7" name="Shape 132"/>
          <p:cNvSpPr/>
          <p:nvPr/>
        </p:nvSpPr>
        <p:spPr>
          <a:xfrm>
            <a:off x="5072537" y="2312670"/>
            <a:ext cx="28396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8" name="Shape 133"/>
          <p:cNvSpPr/>
          <p:nvPr/>
        </p:nvSpPr>
        <p:spPr>
          <a:xfrm>
            <a:off x="5146839" y="238410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49" name="Text 134"/>
          <p:cNvSpPr/>
          <p:nvPr/>
        </p:nvSpPr>
        <p:spPr>
          <a:xfrm>
            <a:off x="5242089" y="2346960"/>
            <a:ext cx="11631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25" dirty="0"/>
          </a:p>
        </p:txBody>
      </p:sp>
      <p:sp>
        <p:nvSpPr>
          <p:cNvPr id="150" name="Shape 135"/>
          <p:cNvSpPr/>
          <p:nvPr/>
        </p:nvSpPr>
        <p:spPr>
          <a:xfrm>
            <a:off x="6006108" y="2251710"/>
            <a:ext cx="863322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51" name="Shape 136"/>
          <p:cNvSpPr/>
          <p:nvPr/>
        </p:nvSpPr>
        <p:spPr>
          <a:xfrm>
            <a:off x="6006108" y="2566035"/>
            <a:ext cx="86332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2" name="Text 137"/>
          <p:cNvSpPr/>
          <p:nvPr/>
        </p:nvSpPr>
        <p:spPr>
          <a:xfrm>
            <a:off x="6120408" y="2339340"/>
            <a:ext cx="1345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25" dirty="0"/>
          </a:p>
        </p:txBody>
      </p:sp>
      <p:sp>
        <p:nvSpPr>
          <p:cNvPr id="153" name="Shape 138"/>
          <p:cNvSpPr/>
          <p:nvPr/>
        </p:nvSpPr>
        <p:spPr>
          <a:xfrm>
            <a:off x="788668" y="2887980"/>
            <a:ext cx="8579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4" name="Shape 139"/>
          <p:cNvSpPr/>
          <p:nvPr/>
        </p:nvSpPr>
        <p:spPr>
          <a:xfrm>
            <a:off x="864868" y="2634615"/>
            <a:ext cx="67365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55" name="Shape 140"/>
          <p:cNvSpPr/>
          <p:nvPr/>
        </p:nvSpPr>
        <p:spPr>
          <a:xfrm>
            <a:off x="939171" y="2706053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56" name="Text 141"/>
          <p:cNvSpPr/>
          <p:nvPr/>
        </p:nvSpPr>
        <p:spPr>
          <a:xfrm>
            <a:off x="1034421" y="2668905"/>
            <a:ext cx="50601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</a:t>
            </a:r>
            <a:endParaRPr lang="en-US" sz="825" dirty="0"/>
          </a:p>
        </p:txBody>
      </p:sp>
      <p:sp>
        <p:nvSpPr>
          <p:cNvPr id="157" name="Shape 142"/>
          <p:cNvSpPr/>
          <p:nvPr/>
        </p:nvSpPr>
        <p:spPr>
          <a:xfrm>
            <a:off x="1646634" y="2887980"/>
            <a:ext cx="10302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8" name="Text 143"/>
          <p:cNvSpPr/>
          <p:nvPr/>
        </p:nvSpPr>
        <p:spPr>
          <a:xfrm>
            <a:off x="1722834" y="2630805"/>
            <a:ext cx="954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ec2-finsrv-22</a:t>
            </a:r>
            <a:endParaRPr lang="en-US" sz="900" dirty="0"/>
          </a:p>
        </p:txBody>
      </p:sp>
      <p:sp>
        <p:nvSpPr>
          <p:cNvPr id="159" name="Shape 144"/>
          <p:cNvSpPr/>
          <p:nvPr/>
        </p:nvSpPr>
        <p:spPr>
          <a:xfrm>
            <a:off x="2676888" y="2887980"/>
            <a:ext cx="133385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0" name="Text 145"/>
          <p:cNvSpPr/>
          <p:nvPr/>
        </p:nvSpPr>
        <p:spPr>
          <a:xfrm>
            <a:off x="2753088" y="2630805"/>
            <a:ext cx="125765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</a:t>
            </a:r>
            <a:endParaRPr lang="en-US" sz="825" dirty="0"/>
          </a:p>
        </p:txBody>
      </p:sp>
      <p:sp>
        <p:nvSpPr>
          <p:cNvPr id="161" name="Shape 146"/>
          <p:cNvSpPr/>
          <p:nvPr/>
        </p:nvSpPr>
        <p:spPr>
          <a:xfrm>
            <a:off x="4010741" y="2887980"/>
            <a:ext cx="985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2" name="Text 147"/>
          <p:cNvSpPr/>
          <p:nvPr/>
        </p:nvSpPr>
        <p:spPr>
          <a:xfrm>
            <a:off x="4086941" y="2630805"/>
            <a:ext cx="909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</a:t>
            </a:r>
            <a:endParaRPr lang="en-US" sz="825" dirty="0"/>
          </a:p>
        </p:txBody>
      </p:sp>
      <p:sp>
        <p:nvSpPr>
          <p:cNvPr id="163" name="Shape 148"/>
          <p:cNvSpPr/>
          <p:nvPr/>
        </p:nvSpPr>
        <p:spPr>
          <a:xfrm>
            <a:off x="4996337" y="2887980"/>
            <a:ext cx="100976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4" name="Shape 149"/>
          <p:cNvSpPr/>
          <p:nvPr/>
        </p:nvSpPr>
        <p:spPr>
          <a:xfrm>
            <a:off x="5072537" y="2634615"/>
            <a:ext cx="30134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5146839" y="270605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66" name="Text 151"/>
          <p:cNvSpPr/>
          <p:nvPr/>
        </p:nvSpPr>
        <p:spPr>
          <a:xfrm>
            <a:off x="5242089" y="2668905"/>
            <a:ext cx="13370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25" dirty="0"/>
          </a:p>
        </p:txBody>
      </p:sp>
      <p:sp>
        <p:nvSpPr>
          <p:cNvPr id="167" name="Shape 152"/>
          <p:cNvSpPr/>
          <p:nvPr/>
        </p:nvSpPr>
        <p:spPr>
          <a:xfrm>
            <a:off x="6006108" y="2887980"/>
            <a:ext cx="86332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8" name="Text 153"/>
          <p:cNvSpPr/>
          <p:nvPr/>
        </p:nvSpPr>
        <p:spPr>
          <a:xfrm>
            <a:off x="6120408" y="2661285"/>
            <a:ext cx="1927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25" dirty="0"/>
          </a:p>
        </p:txBody>
      </p:sp>
      <p:sp>
        <p:nvSpPr>
          <p:cNvPr id="169" name="Shape 154"/>
          <p:cNvSpPr/>
          <p:nvPr/>
        </p:nvSpPr>
        <p:spPr>
          <a:xfrm>
            <a:off x="788668" y="3209925"/>
            <a:ext cx="8579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0" name="Shape 155"/>
          <p:cNvSpPr/>
          <p:nvPr/>
        </p:nvSpPr>
        <p:spPr>
          <a:xfrm>
            <a:off x="864868" y="2956560"/>
            <a:ext cx="67365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1" name="Shape 156"/>
          <p:cNvSpPr/>
          <p:nvPr/>
        </p:nvSpPr>
        <p:spPr>
          <a:xfrm>
            <a:off x="939171" y="3027998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72" name="Text 157"/>
          <p:cNvSpPr/>
          <p:nvPr/>
        </p:nvSpPr>
        <p:spPr>
          <a:xfrm>
            <a:off x="1034421" y="2990850"/>
            <a:ext cx="50601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</a:t>
            </a:r>
            <a:endParaRPr lang="en-US" sz="825" dirty="0"/>
          </a:p>
        </p:txBody>
      </p:sp>
      <p:sp>
        <p:nvSpPr>
          <p:cNvPr id="173" name="Shape 158"/>
          <p:cNvSpPr/>
          <p:nvPr/>
        </p:nvSpPr>
        <p:spPr>
          <a:xfrm>
            <a:off x="1646634" y="3209925"/>
            <a:ext cx="10302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4" name="Text 159"/>
          <p:cNvSpPr/>
          <p:nvPr/>
        </p:nvSpPr>
        <p:spPr>
          <a:xfrm>
            <a:off x="1722834" y="2952750"/>
            <a:ext cx="954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github-bot-87</a:t>
            </a:r>
            <a:endParaRPr lang="en-US" sz="900" dirty="0"/>
          </a:p>
        </p:txBody>
      </p:sp>
      <p:sp>
        <p:nvSpPr>
          <p:cNvPr id="175" name="Shape 160"/>
          <p:cNvSpPr/>
          <p:nvPr/>
        </p:nvSpPr>
        <p:spPr>
          <a:xfrm>
            <a:off x="2676888" y="3209925"/>
            <a:ext cx="133385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6" name="Text 161"/>
          <p:cNvSpPr/>
          <p:nvPr/>
        </p:nvSpPr>
        <p:spPr>
          <a:xfrm>
            <a:off x="2753088" y="2952750"/>
            <a:ext cx="125765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ci/cd</a:t>
            </a:r>
            <a:endParaRPr lang="en-US" sz="825" dirty="0"/>
          </a:p>
        </p:txBody>
      </p:sp>
      <p:sp>
        <p:nvSpPr>
          <p:cNvPr id="177" name="Shape 162"/>
          <p:cNvSpPr/>
          <p:nvPr/>
        </p:nvSpPr>
        <p:spPr>
          <a:xfrm>
            <a:off x="4010741" y="3209925"/>
            <a:ext cx="985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8" name="Text 163"/>
          <p:cNvSpPr/>
          <p:nvPr/>
        </p:nvSpPr>
        <p:spPr>
          <a:xfrm>
            <a:off x="4086941" y="2952750"/>
            <a:ext cx="909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13:55</a:t>
            </a:r>
            <a:endParaRPr lang="en-US" sz="825" dirty="0"/>
          </a:p>
        </p:txBody>
      </p:sp>
      <p:sp>
        <p:nvSpPr>
          <p:cNvPr id="179" name="Shape 164"/>
          <p:cNvSpPr/>
          <p:nvPr/>
        </p:nvSpPr>
        <p:spPr>
          <a:xfrm>
            <a:off x="4996337" y="3209925"/>
            <a:ext cx="100976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0" name="Shape 165"/>
          <p:cNvSpPr/>
          <p:nvPr/>
        </p:nvSpPr>
        <p:spPr>
          <a:xfrm>
            <a:off x="5072537" y="2956560"/>
            <a:ext cx="350758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81" name="Shape 166"/>
          <p:cNvSpPr/>
          <p:nvPr/>
        </p:nvSpPr>
        <p:spPr>
          <a:xfrm>
            <a:off x="5146839" y="302799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82" name="Text 167"/>
          <p:cNvSpPr/>
          <p:nvPr/>
        </p:nvSpPr>
        <p:spPr>
          <a:xfrm>
            <a:off x="5242089" y="2990850"/>
            <a:ext cx="18311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25" dirty="0"/>
          </a:p>
        </p:txBody>
      </p:sp>
      <p:sp>
        <p:nvSpPr>
          <p:cNvPr id="183" name="Shape 168"/>
          <p:cNvSpPr/>
          <p:nvPr/>
        </p:nvSpPr>
        <p:spPr>
          <a:xfrm>
            <a:off x="6006108" y="3209925"/>
            <a:ext cx="86332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4" name="Text 169"/>
          <p:cNvSpPr/>
          <p:nvPr/>
        </p:nvSpPr>
        <p:spPr>
          <a:xfrm>
            <a:off x="6120408" y="2983230"/>
            <a:ext cx="1927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25" dirty="0"/>
          </a:p>
        </p:txBody>
      </p:sp>
      <p:sp>
        <p:nvSpPr>
          <p:cNvPr id="185" name="Shape 170"/>
          <p:cNvSpPr/>
          <p:nvPr/>
        </p:nvSpPr>
        <p:spPr>
          <a:xfrm>
            <a:off x="788668" y="3531870"/>
            <a:ext cx="8579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6" name="Shape 171"/>
          <p:cNvSpPr/>
          <p:nvPr/>
        </p:nvSpPr>
        <p:spPr>
          <a:xfrm>
            <a:off x="864868" y="3278505"/>
            <a:ext cx="58209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7" name="Shape 172"/>
          <p:cNvSpPr/>
          <p:nvPr/>
        </p:nvSpPr>
        <p:spPr>
          <a:xfrm>
            <a:off x="939171" y="334994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88" name="Text 173"/>
          <p:cNvSpPr/>
          <p:nvPr/>
        </p:nvSpPr>
        <p:spPr>
          <a:xfrm>
            <a:off x="1034421" y="3312795"/>
            <a:ext cx="41444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825" dirty="0"/>
          </a:p>
        </p:txBody>
      </p:sp>
      <p:sp>
        <p:nvSpPr>
          <p:cNvPr id="189" name="Shape 174"/>
          <p:cNvSpPr/>
          <p:nvPr/>
        </p:nvSpPr>
        <p:spPr>
          <a:xfrm>
            <a:off x="1646634" y="3531870"/>
            <a:ext cx="10302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0" name="Text 175"/>
          <p:cNvSpPr/>
          <p:nvPr/>
        </p:nvSpPr>
        <p:spPr>
          <a:xfrm>
            <a:off x="1722834" y="3274695"/>
            <a:ext cx="954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priya.r</a:t>
            </a:r>
            <a:endParaRPr lang="en-US" sz="900" dirty="0"/>
          </a:p>
        </p:txBody>
      </p:sp>
      <p:sp>
        <p:nvSpPr>
          <p:cNvPr id="191" name="Shape 176"/>
          <p:cNvSpPr/>
          <p:nvPr/>
        </p:nvSpPr>
        <p:spPr>
          <a:xfrm>
            <a:off x="2676888" y="3531870"/>
            <a:ext cx="133385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2" name="Text 177"/>
          <p:cNvSpPr/>
          <p:nvPr/>
        </p:nvSpPr>
        <p:spPr>
          <a:xfrm>
            <a:off x="2753088" y="3274695"/>
            <a:ext cx="125765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soc.l1</a:t>
            </a:r>
            <a:endParaRPr lang="en-US" sz="825" dirty="0"/>
          </a:p>
        </p:txBody>
      </p:sp>
      <p:sp>
        <p:nvSpPr>
          <p:cNvPr id="193" name="Shape 178"/>
          <p:cNvSpPr/>
          <p:nvPr/>
        </p:nvSpPr>
        <p:spPr>
          <a:xfrm>
            <a:off x="4010741" y="3531870"/>
            <a:ext cx="985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4" name="Text 179"/>
          <p:cNvSpPr/>
          <p:nvPr/>
        </p:nvSpPr>
        <p:spPr>
          <a:xfrm>
            <a:off x="4086941" y="3274695"/>
            <a:ext cx="909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08:12</a:t>
            </a:r>
            <a:endParaRPr lang="en-US" sz="825" dirty="0"/>
          </a:p>
        </p:txBody>
      </p:sp>
      <p:sp>
        <p:nvSpPr>
          <p:cNvPr id="195" name="Shape 180"/>
          <p:cNvSpPr/>
          <p:nvPr/>
        </p:nvSpPr>
        <p:spPr>
          <a:xfrm>
            <a:off x="4996337" y="3531870"/>
            <a:ext cx="100976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6" name="Shape 181"/>
          <p:cNvSpPr/>
          <p:nvPr/>
        </p:nvSpPr>
        <p:spPr>
          <a:xfrm>
            <a:off x="5072537" y="3278505"/>
            <a:ext cx="30670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7" name="Shape 182"/>
          <p:cNvSpPr/>
          <p:nvPr/>
        </p:nvSpPr>
        <p:spPr>
          <a:xfrm>
            <a:off x="5146839" y="334994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98" name="Text 183"/>
          <p:cNvSpPr/>
          <p:nvPr/>
        </p:nvSpPr>
        <p:spPr>
          <a:xfrm>
            <a:off x="5242089" y="3312795"/>
            <a:ext cx="13906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25" dirty="0"/>
          </a:p>
        </p:txBody>
      </p:sp>
      <p:sp>
        <p:nvSpPr>
          <p:cNvPr id="199" name="Shape 184"/>
          <p:cNvSpPr/>
          <p:nvPr/>
        </p:nvSpPr>
        <p:spPr>
          <a:xfrm>
            <a:off x="6006108" y="3531870"/>
            <a:ext cx="86332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0" name="Text 185"/>
          <p:cNvSpPr/>
          <p:nvPr/>
        </p:nvSpPr>
        <p:spPr>
          <a:xfrm>
            <a:off x="6120408" y="3305175"/>
            <a:ext cx="1927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25" dirty="0"/>
          </a:p>
        </p:txBody>
      </p:sp>
      <p:sp>
        <p:nvSpPr>
          <p:cNvPr id="201" name="Shape 186"/>
          <p:cNvSpPr/>
          <p:nvPr/>
        </p:nvSpPr>
        <p:spPr>
          <a:xfrm>
            <a:off x="788668" y="3539490"/>
            <a:ext cx="857964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02" name="Shape 187"/>
          <p:cNvSpPr/>
          <p:nvPr/>
        </p:nvSpPr>
        <p:spPr>
          <a:xfrm>
            <a:off x="788668" y="3853815"/>
            <a:ext cx="8579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3" name="Shape 188"/>
          <p:cNvSpPr/>
          <p:nvPr/>
        </p:nvSpPr>
        <p:spPr>
          <a:xfrm>
            <a:off x="864868" y="3600450"/>
            <a:ext cx="58209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4" name="Shape 189"/>
          <p:cNvSpPr/>
          <p:nvPr/>
        </p:nvSpPr>
        <p:spPr>
          <a:xfrm>
            <a:off x="939171" y="367188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05" name="Text 190"/>
          <p:cNvSpPr/>
          <p:nvPr/>
        </p:nvSpPr>
        <p:spPr>
          <a:xfrm>
            <a:off x="1034421" y="3634740"/>
            <a:ext cx="41444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825" dirty="0"/>
          </a:p>
        </p:txBody>
      </p:sp>
      <p:sp>
        <p:nvSpPr>
          <p:cNvPr id="206" name="Shape 191"/>
          <p:cNvSpPr/>
          <p:nvPr/>
        </p:nvSpPr>
        <p:spPr>
          <a:xfrm>
            <a:off x="1646634" y="3539490"/>
            <a:ext cx="1030248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07" name="Shape 192"/>
          <p:cNvSpPr/>
          <p:nvPr/>
        </p:nvSpPr>
        <p:spPr>
          <a:xfrm>
            <a:off x="1646634" y="3853815"/>
            <a:ext cx="10302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8" name="Text 193"/>
          <p:cNvSpPr/>
          <p:nvPr/>
        </p:nvSpPr>
        <p:spPr>
          <a:xfrm>
            <a:off x="1722834" y="3596640"/>
            <a:ext cx="954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diane.k</a:t>
            </a:r>
            <a:endParaRPr lang="en-US" sz="900" dirty="0"/>
          </a:p>
        </p:txBody>
      </p:sp>
      <p:sp>
        <p:nvSpPr>
          <p:cNvPr id="209" name="Shape 194"/>
          <p:cNvSpPr/>
          <p:nvPr/>
        </p:nvSpPr>
        <p:spPr>
          <a:xfrm>
            <a:off x="2676888" y="3539490"/>
            <a:ext cx="1333857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10" name="Shape 195"/>
          <p:cNvSpPr/>
          <p:nvPr/>
        </p:nvSpPr>
        <p:spPr>
          <a:xfrm>
            <a:off x="2676888" y="3853815"/>
            <a:ext cx="133385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1" name="Text 196"/>
          <p:cNvSpPr/>
          <p:nvPr/>
        </p:nvSpPr>
        <p:spPr>
          <a:xfrm>
            <a:off x="2753088" y="3596640"/>
            <a:ext cx="125765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data.eng</a:t>
            </a:r>
            <a:endParaRPr lang="en-US" sz="825" dirty="0"/>
          </a:p>
        </p:txBody>
      </p:sp>
      <p:sp>
        <p:nvSpPr>
          <p:cNvPr id="212" name="Shape 197"/>
          <p:cNvSpPr/>
          <p:nvPr/>
        </p:nvSpPr>
        <p:spPr>
          <a:xfrm>
            <a:off x="4010741" y="3539490"/>
            <a:ext cx="985599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13" name="Shape 198"/>
          <p:cNvSpPr/>
          <p:nvPr/>
        </p:nvSpPr>
        <p:spPr>
          <a:xfrm>
            <a:off x="4010741" y="3853815"/>
            <a:ext cx="985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4" name="Text 199"/>
          <p:cNvSpPr/>
          <p:nvPr/>
        </p:nvSpPr>
        <p:spPr>
          <a:xfrm>
            <a:off x="4086941" y="3596640"/>
            <a:ext cx="909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03:11</a:t>
            </a:r>
            <a:endParaRPr lang="en-US" sz="825" dirty="0"/>
          </a:p>
        </p:txBody>
      </p:sp>
      <p:sp>
        <p:nvSpPr>
          <p:cNvPr id="215" name="Shape 200"/>
          <p:cNvSpPr/>
          <p:nvPr/>
        </p:nvSpPr>
        <p:spPr>
          <a:xfrm>
            <a:off x="4996337" y="3539490"/>
            <a:ext cx="1009769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16" name="Shape 201"/>
          <p:cNvSpPr/>
          <p:nvPr/>
        </p:nvSpPr>
        <p:spPr>
          <a:xfrm>
            <a:off x="4996337" y="3853815"/>
            <a:ext cx="100976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7" name="Shape 202"/>
          <p:cNvSpPr/>
          <p:nvPr/>
        </p:nvSpPr>
        <p:spPr>
          <a:xfrm>
            <a:off x="5072537" y="3600450"/>
            <a:ext cx="31075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8" name="Shape 203"/>
          <p:cNvSpPr/>
          <p:nvPr/>
        </p:nvSpPr>
        <p:spPr>
          <a:xfrm>
            <a:off x="5146839" y="367188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19" name="Text 204"/>
          <p:cNvSpPr/>
          <p:nvPr/>
        </p:nvSpPr>
        <p:spPr>
          <a:xfrm>
            <a:off x="5242089" y="3634740"/>
            <a:ext cx="14310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25" dirty="0"/>
          </a:p>
        </p:txBody>
      </p:sp>
      <p:sp>
        <p:nvSpPr>
          <p:cNvPr id="220" name="Shape 205"/>
          <p:cNvSpPr/>
          <p:nvPr/>
        </p:nvSpPr>
        <p:spPr>
          <a:xfrm>
            <a:off x="6006108" y="3539490"/>
            <a:ext cx="863322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221" name="Shape 206"/>
          <p:cNvSpPr/>
          <p:nvPr/>
        </p:nvSpPr>
        <p:spPr>
          <a:xfrm>
            <a:off x="6006108" y="3853815"/>
            <a:ext cx="86332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2" name="Text 207"/>
          <p:cNvSpPr/>
          <p:nvPr/>
        </p:nvSpPr>
        <p:spPr>
          <a:xfrm>
            <a:off x="6120408" y="3627120"/>
            <a:ext cx="1927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825" dirty="0"/>
          </a:p>
        </p:txBody>
      </p:sp>
      <p:sp>
        <p:nvSpPr>
          <p:cNvPr id="223" name="Shape 208"/>
          <p:cNvSpPr/>
          <p:nvPr/>
        </p:nvSpPr>
        <p:spPr>
          <a:xfrm>
            <a:off x="788668" y="4175760"/>
            <a:ext cx="85796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4" name="Shape 209"/>
          <p:cNvSpPr/>
          <p:nvPr/>
        </p:nvSpPr>
        <p:spPr>
          <a:xfrm>
            <a:off x="864868" y="3922395"/>
            <a:ext cx="539829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225" name="Shape 210"/>
          <p:cNvSpPr/>
          <p:nvPr/>
        </p:nvSpPr>
        <p:spPr>
          <a:xfrm>
            <a:off x="939171" y="399383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26" name="Text 211"/>
          <p:cNvSpPr/>
          <p:nvPr/>
        </p:nvSpPr>
        <p:spPr>
          <a:xfrm>
            <a:off x="1034421" y="3956685"/>
            <a:ext cx="37218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25" dirty="0"/>
          </a:p>
        </p:txBody>
      </p:sp>
      <p:sp>
        <p:nvSpPr>
          <p:cNvPr id="227" name="Shape 212"/>
          <p:cNvSpPr/>
          <p:nvPr/>
        </p:nvSpPr>
        <p:spPr>
          <a:xfrm>
            <a:off x="1646634" y="4175760"/>
            <a:ext cx="10302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8" name="Text 213"/>
          <p:cNvSpPr/>
          <p:nvPr/>
        </p:nvSpPr>
        <p:spPr>
          <a:xfrm>
            <a:off x="1722834" y="3918585"/>
            <a:ext cx="954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gpt-helpdesk</a:t>
            </a:r>
            <a:endParaRPr lang="en-US" sz="900" dirty="0"/>
          </a:p>
        </p:txBody>
      </p:sp>
      <p:sp>
        <p:nvSpPr>
          <p:cNvPr id="229" name="Shape 214"/>
          <p:cNvSpPr/>
          <p:nvPr/>
        </p:nvSpPr>
        <p:spPr>
          <a:xfrm>
            <a:off x="2676888" y="4175760"/>
            <a:ext cx="133385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0" name="Text 215"/>
          <p:cNvSpPr/>
          <p:nvPr/>
        </p:nvSpPr>
        <p:spPr>
          <a:xfrm>
            <a:off x="2753088" y="3918585"/>
            <a:ext cx="125765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· helpdesk</a:t>
            </a:r>
            <a:endParaRPr lang="en-US" sz="825" dirty="0"/>
          </a:p>
        </p:txBody>
      </p:sp>
      <p:sp>
        <p:nvSpPr>
          <p:cNvPr id="231" name="Shape 216"/>
          <p:cNvSpPr/>
          <p:nvPr/>
        </p:nvSpPr>
        <p:spPr>
          <a:xfrm>
            <a:off x="4010741" y="4175760"/>
            <a:ext cx="985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2" name="Text 217"/>
          <p:cNvSpPr/>
          <p:nvPr/>
        </p:nvSpPr>
        <p:spPr>
          <a:xfrm>
            <a:off x="4086941" y="3918585"/>
            <a:ext cx="909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825" dirty="0"/>
          </a:p>
        </p:txBody>
      </p:sp>
      <p:sp>
        <p:nvSpPr>
          <p:cNvPr id="233" name="Shape 218"/>
          <p:cNvSpPr/>
          <p:nvPr/>
        </p:nvSpPr>
        <p:spPr>
          <a:xfrm>
            <a:off x="4996337" y="4175760"/>
            <a:ext cx="100976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4" name="Shape 219"/>
          <p:cNvSpPr/>
          <p:nvPr/>
        </p:nvSpPr>
        <p:spPr>
          <a:xfrm>
            <a:off x="5072537" y="3922395"/>
            <a:ext cx="30980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35" name="Shape 220"/>
          <p:cNvSpPr/>
          <p:nvPr/>
        </p:nvSpPr>
        <p:spPr>
          <a:xfrm>
            <a:off x="5146839" y="399383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36" name="Text 221"/>
          <p:cNvSpPr/>
          <p:nvPr/>
        </p:nvSpPr>
        <p:spPr>
          <a:xfrm>
            <a:off x="5242089" y="3956685"/>
            <a:ext cx="14215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25" dirty="0"/>
          </a:p>
        </p:txBody>
      </p:sp>
      <p:sp>
        <p:nvSpPr>
          <p:cNvPr id="237" name="Shape 222"/>
          <p:cNvSpPr/>
          <p:nvPr/>
        </p:nvSpPr>
        <p:spPr>
          <a:xfrm>
            <a:off x="6006108" y="4175760"/>
            <a:ext cx="86332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8" name="Text 223"/>
          <p:cNvSpPr/>
          <p:nvPr/>
        </p:nvSpPr>
        <p:spPr>
          <a:xfrm>
            <a:off x="6120408" y="3949065"/>
            <a:ext cx="1927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25" dirty="0"/>
          </a:p>
        </p:txBody>
      </p:sp>
      <p:sp>
        <p:nvSpPr>
          <p:cNvPr id="239" name="Shape 224"/>
          <p:cNvSpPr/>
          <p:nvPr/>
        </p:nvSpPr>
        <p:spPr>
          <a:xfrm>
            <a:off x="864868" y="4244340"/>
            <a:ext cx="67365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0" name="Shape 225"/>
          <p:cNvSpPr/>
          <p:nvPr/>
        </p:nvSpPr>
        <p:spPr>
          <a:xfrm>
            <a:off x="939171" y="4315778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41" name="Text 226"/>
          <p:cNvSpPr/>
          <p:nvPr/>
        </p:nvSpPr>
        <p:spPr>
          <a:xfrm>
            <a:off x="1034421" y="4278630"/>
            <a:ext cx="50601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</a:t>
            </a:r>
            <a:endParaRPr lang="en-US" sz="825" dirty="0"/>
          </a:p>
        </p:txBody>
      </p:sp>
      <p:sp>
        <p:nvSpPr>
          <p:cNvPr id="242" name="Text 227"/>
          <p:cNvSpPr/>
          <p:nvPr/>
        </p:nvSpPr>
        <p:spPr>
          <a:xfrm>
            <a:off x="1722834" y="4240530"/>
            <a:ext cx="954048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kube-svc-acc</a:t>
            </a:r>
            <a:endParaRPr lang="en-US" sz="900" dirty="0"/>
          </a:p>
        </p:txBody>
      </p:sp>
      <p:sp>
        <p:nvSpPr>
          <p:cNvPr id="243" name="Text 228"/>
          <p:cNvSpPr/>
          <p:nvPr/>
        </p:nvSpPr>
        <p:spPr>
          <a:xfrm>
            <a:off x="2753088" y="4240530"/>
            <a:ext cx="1257657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825" dirty="0"/>
          </a:p>
        </p:txBody>
      </p:sp>
      <p:sp>
        <p:nvSpPr>
          <p:cNvPr id="244" name="Text 229"/>
          <p:cNvSpPr/>
          <p:nvPr/>
        </p:nvSpPr>
        <p:spPr>
          <a:xfrm>
            <a:off x="4086941" y="4240530"/>
            <a:ext cx="909399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825" dirty="0"/>
          </a:p>
        </p:txBody>
      </p:sp>
      <p:sp>
        <p:nvSpPr>
          <p:cNvPr id="245" name="Shape 230"/>
          <p:cNvSpPr/>
          <p:nvPr/>
        </p:nvSpPr>
        <p:spPr>
          <a:xfrm>
            <a:off x="5072537" y="4244340"/>
            <a:ext cx="369451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246" name="Shape 231"/>
          <p:cNvSpPr/>
          <p:nvPr/>
        </p:nvSpPr>
        <p:spPr>
          <a:xfrm>
            <a:off x="5146839" y="431577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247" name="Text 232"/>
          <p:cNvSpPr/>
          <p:nvPr/>
        </p:nvSpPr>
        <p:spPr>
          <a:xfrm>
            <a:off x="5242089" y="4278630"/>
            <a:ext cx="20181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25" dirty="0"/>
          </a:p>
        </p:txBody>
      </p:sp>
      <p:sp>
        <p:nvSpPr>
          <p:cNvPr id="248" name="Text 233"/>
          <p:cNvSpPr/>
          <p:nvPr/>
        </p:nvSpPr>
        <p:spPr>
          <a:xfrm>
            <a:off x="6120408" y="4271010"/>
            <a:ext cx="1927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25" dirty="0"/>
          </a:p>
        </p:txBody>
      </p:sp>
      <p:sp>
        <p:nvSpPr>
          <p:cNvPr id="249" name="Shape 234"/>
          <p:cNvSpPr/>
          <p:nvPr/>
        </p:nvSpPr>
        <p:spPr>
          <a:xfrm>
            <a:off x="7105650" y="937260"/>
            <a:ext cx="3048000" cy="559689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50" name="Text 235"/>
          <p:cNvSpPr/>
          <p:nvPr/>
        </p:nvSpPr>
        <p:spPr>
          <a:xfrm>
            <a:off x="7227568" y="1047750"/>
            <a:ext cx="1353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· claude-fin-bot</a:t>
            </a:r>
            <a:endParaRPr lang="en-US" sz="900" dirty="0"/>
          </a:p>
        </p:txBody>
      </p:sp>
      <p:sp>
        <p:nvSpPr>
          <p:cNvPr id="251" name="Text 236"/>
          <p:cNvSpPr/>
          <p:nvPr/>
        </p:nvSpPr>
        <p:spPr>
          <a:xfrm>
            <a:off x="9641328" y="1046798"/>
            <a:ext cx="4666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825" dirty="0"/>
          </a:p>
        </p:txBody>
      </p:sp>
      <p:sp>
        <p:nvSpPr>
          <p:cNvPr id="252" name="Shape 237"/>
          <p:cNvSpPr/>
          <p:nvPr/>
        </p:nvSpPr>
        <p:spPr>
          <a:xfrm>
            <a:off x="7227568" y="1276350"/>
            <a:ext cx="617220" cy="6172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F59E0B"/>
            </a:solidFill>
            <a:prstDash val="solid"/>
          </a:ln>
        </p:spPr>
      </p:sp>
      <p:sp>
        <p:nvSpPr>
          <p:cNvPr id="253" name="Text 238"/>
          <p:cNvSpPr/>
          <p:nvPr/>
        </p:nvSpPr>
        <p:spPr>
          <a:xfrm>
            <a:off x="7439862" y="1478280"/>
            <a:ext cx="26884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00" dirty="0"/>
          </a:p>
        </p:txBody>
      </p:sp>
      <p:sp>
        <p:nvSpPr>
          <p:cNvPr id="254" name="Text 239"/>
          <p:cNvSpPr/>
          <p:nvPr/>
        </p:nvSpPr>
        <p:spPr>
          <a:xfrm>
            <a:off x="7959096" y="1418273"/>
            <a:ext cx="116526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50" dirty="0"/>
          </a:p>
        </p:txBody>
      </p:sp>
      <p:sp>
        <p:nvSpPr>
          <p:cNvPr id="255" name="Text 240"/>
          <p:cNvSpPr/>
          <p:nvPr/>
        </p:nvSpPr>
        <p:spPr>
          <a:xfrm>
            <a:off x="7959096" y="1604963"/>
            <a:ext cx="116526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tried model exfil · 13:32</a:t>
            </a:r>
            <a:endParaRPr lang="en-US" sz="825" dirty="0"/>
          </a:p>
        </p:txBody>
      </p:sp>
      <p:sp>
        <p:nvSpPr>
          <p:cNvPr id="256" name="Text 241"/>
          <p:cNvSpPr/>
          <p:nvPr/>
        </p:nvSpPr>
        <p:spPr>
          <a:xfrm>
            <a:off x="7227568" y="1969770"/>
            <a:ext cx="37445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863" dirty="0"/>
          </a:p>
        </p:txBody>
      </p:sp>
      <p:sp>
        <p:nvSpPr>
          <p:cNvPr id="257" name="Text 242"/>
          <p:cNvSpPr/>
          <p:nvPr/>
        </p:nvSpPr>
        <p:spPr>
          <a:xfrm>
            <a:off x="9404747" y="1969770"/>
            <a:ext cx="70318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team</a:t>
            </a:r>
            <a:endParaRPr lang="en-US" sz="863" dirty="0"/>
          </a:p>
        </p:txBody>
      </p:sp>
      <p:sp>
        <p:nvSpPr>
          <p:cNvPr id="258" name="Text 243"/>
          <p:cNvSpPr/>
          <p:nvPr/>
        </p:nvSpPr>
        <p:spPr>
          <a:xfrm>
            <a:off x="7227568" y="2161223"/>
            <a:ext cx="37445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63" dirty="0"/>
          </a:p>
        </p:txBody>
      </p:sp>
      <p:sp>
        <p:nvSpPr>
          <p:cNvPr id="259" name="Text 244"/>
          <p:cNvSpPr/>
          <p:nvPr/>
        </p:nvSpPr>
        <p:spPr>
          <a:xfrm>
            <a:off x="9520358" y="2161223"/>
            <a:ext cx="58757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claude-3.5</a:t>
            </a:r>
            <a:endParaRPr lang="en-US" sz="863" dirty="0"/>
          </a:p>
        </p:txBody>
      </p:sp>
      <p:sp>
        <p:nvSpPr>
          <p:cNvPr id="260" name="Text 245"/>
          <p:cNvSpPr/>
          <p:nvPr/>
        </p:nvSpPr>
        <p:spPr>
          <a:xfrm>
            <a:off x="7227568" y="2352675"/>
            <a:ext cx="30753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863" dirty="0"/>
          </a:p>
        </p:txBody>
      </p:sp>
      <p:sp>
        <p:nvSpPr>
          <p:cNvPr id="261" name="Text 246"/>
          <p:cNvSpPr/>
          <p:nvPr/>
        </p:nvSpPr>
        <p:spPr>
          <a:xfrm>
            <a:off x="9082329" y="2352675"/>
            <a:ext cx="102560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Snowflake · sh</a:t>
            </a:r>
            <a:endParaRPr lang="en-US" sz="863" dirty="0"/>
          </a:p>
        </p:txBody>
      </p:sp>
      <p:sp>
        <p:nvSpPr>
          <p:cNvPr id="262" name="Text 247"/>
          <p:cNvSpPr/>
          <p:nvPr/>
        </p:nvSpPr>
        <p:spPr>
          <a:xfrm>
            <a:off x="7227568" y="2567464"/>
            <a:ext cx="49029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</a:t>
            </a:r>
            <a:endParaRPr lang="en-US" sz="863" dirty="0"/>
          </a:p>
        </p:txBody>
      </p:sp>
      <p:sp>
        <p:nvSpPr>
          <p:cNvPr id="263" name="Shape 248"/>
          <p:cNvSpPr/>
          <p:nvPr/>
        </p:nvSpPr>
        <p:spPr>
          <a:xfrm>
            <a:off x="9284494" y="2544128"/>
            <a:ext cx="747236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64" name="Shape 249"/>
          <p:cNvSpPr/>
          <p:nvPr/>
        </p:nvSpPr>
        <p:spPr>
          <a:xfrm>
            <a:off x="9358787" y="261556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65" name="Text 250"/>
          <p:cNvSpPr/>
          <p:nvPr/>
        </p:nvSpPr>
        <p:spPr>
          <a:xfrm>
            <a:off x="9454037" y="2570798"/>
            <a:ext cx="57959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KnoxClaw</a:t>
            </a:r>
            <a:endParaRPr lang="en-US" sz="825" dirty="0"/>
          </a:p>
        </p:txBody>
      </p:sp>
      <p:sp>
        <p:nvSpPr>
          <p:cNvPr id="266" name="Shape 251"/>
          <p:cNvSpPr/>
          <p:nvPr/>
        </p:nvSpPr>
        <p:spPr>
          <a:xfrm>
            <a:off x="7227568" y="2820353"/>
            <a:ext cx="2804160" cy="95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7" name="Text 252"/>
          <p:cNvSpPr/>
          <p:nvPr/>
        </p:nvSpPr>
        <p:spPr>
          <a:xfrm>
            <a:off x="7227568" y="2885123"/>
            <a:ext cx="2888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PERMISSIONS</a:t>
            </a:r>
            <a:endParaRPr lang="en-US" sz="750" dirty="0"/>
          </a:p>
        </p:txBody>
      </p:sp>
      <p:sp>
        <p:nvSpPr>
          <p:cNvPr id="268" name="Shape 253"/>
          <p:cNvSpPr/>
          <p:nvPr/>
        </p:nvSpPr>
        <p:spPr>
          <a:xfrm>
            <a:off x="7227568" y="3056573"/>
            <a:ext cx="149947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9" name="Shape 254"/>
          <p:cNvSpPr/>
          <p:nvPr/>
        </p:nvSpPr>
        <p:spPr>
          <a:xfrm>
            <a:off x="7301871" y="3128010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70" name="Text 255"/>
          <p:cNvSpPr/>
          <p:nvPr/>
        </p:nvSpPr>
        <p:spPr>
          <a:xfrm>
            <a:off x="7397121" y="3083243"/>
            <a:ext cx="133183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s3:GetObject (finance/*)</a:t>
            </a:r>
            <a:endParaRPr lang="en-US" sz="825" dirty="0"/>
          </a:p>
        </p:txBody>
      </p:sp>
      <p:sp>
        <p:nvSpPr>
          <p:cNvPr id="271" name="Shape 256"/>
          <p:cNvSpPr/>
          <p:nvPr/>
        </p:nvSpPr>
        <p:spPr>
          <a:xfrm>
            <a:off x="8765149" y="3056573"/>
            <a:ext cx="102441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2" name="Shape 257"/>
          <p:cNvSpPr/>
          <p:nvPr/>
        </p:nvSpPr>
        <p:spPr>
          <a:xfrm>
            <a:off x="8839442" y="3128010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73" name="Text 258"/>
          <p:cNvSpPr/>
          <p:nvPr/>
        </p:nvSpPr>
        <p:spPr>
          <a:xfrm>
            <a:off x="8934692" y="3083243"/>
            <a:ext cx="85677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snowflake.read</a:t>
            </a:r>
            <a:endParaRPr lang="en-US" sz="825" dirty="0"/>
          </a:p>
        </p:txBody>
      </p:sp>
      <p:sp>
        <p:nvSpPr>
          <p:cNvPr id="274" name="Shape 259"/>
          <p:cNvSpPr/>
          <p:nvPr/>
        </p:nvSpPr>
        <p:spPr>
          <a:xfrm>
            <a:off x="7227568" y="3294698"/>
            <a:ext cx="633651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275" name="Shape 260"/>
          <p:cNvSpPr/>
          <p:nvPr/>
        </p:nvSpPr>
        <p:spPr>
          <a:xfrm>
            <a:off x="7301871" y="3366135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276" name="Text 261"/>
          <p:cNvSpPr/>
          <p:nvPr/>
        </p:nvSpPr>
        <p:spPr>
          <a:xfrm>
            <a:off x="7397121" y="3321368"/>
            <a:ext cx="46601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sh.exec</a:t>
            </a:r>
            <a:endParaRPr lang="en-US" sz="825" dirty="0"/>
          </a:p>
        </p:txBody>
      </p:sp>
      <p:sp>
        <p:nvSpPr>
          <p:cNvPr id="277" name="Shape 262"/>
          <p:cNvSpPr/>
          <p:nvPr/>
        </p:nvSpPr>
        <p:spPr>
          <a:xfrm>
            <a:off x="7899322" y="3294698"/>
            <a:ext cx="655796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278" name="Shape 263"/>
          <p:cNvSpPr/>
          <p:nvPr/>
        </p:nvSpPr>
        <p:spPr>
          <a:xfrm>
            <a:off x="7973616" y="3366135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279" name="Text 264"/>
          <p:cNvSpPr/>
          <p:nvPr/>
        </p:nvSpPr>
        <p:spPr>
          <a:xfrm>
            <a:off x="8068866" y="3321368"/>
            <a:ext cx="4881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*</a:t>
            </a:r>
            <a:endParaRPr lang="en-US" sz="825" dirty="0"/>
          </a:p>
        </p:txBody>
      </p:sp>
      <p:sp>
        <p:nvSpPr>
          <p:cNvPr id="280" name="Shape 265"/>
          <p:cNvSpPr/>
          <p:nvPr/>
        </p:nvSpPr>
        <p:spPr>
          <a:xfrm>
            <a:off x="7227568" y="3570923"/>
            <a:ext cx="628055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1" name="Text 266"/>
          <p:cNvSpPr/>
          <p:nvPr/>
        </p:nvSpPr>
        <p:spPr>
          <a:xfrm>
            <a:off x="7301871" y="3597593"/>
            <a:ext cx="55566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</a:t>
            </a:r>
            <a:endParaRPr lang="en-US" sz="825" dirty="0"/>
          </a:p>
        </p:txBody>
      </p:sp>
      <p:sp>
        <p:nvSpPr>
          <p:cNvPr id="282" name="Shape 267"/>
          <p:cNvSpPr/>
          <p:nvPr/>
        </p:nvSpPr>
        <p:spPr>
          <a:xfrm>
            <a:off x="7893723" y="3570923"/>
            <a:ext cx="83308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3" name="Text 268"/>
          <p:cNvSpPr/>
          <p:nvPr/>
        </p:nvSpPr>
        <p:spPr>
          <a:xfrm>
            <a:off x="7968025" y="3597593"/>
            <a:ext cx="7606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sandbox</a:t>
            </a:r>
            <a:endParaRPr lang="en-US" sz="825" dirty="0"/>
          </a:p>
        </p:txBody>
      </p:sp>
      <p:sp>
        <p:nvSpPr>
          <p:cNvPr id="284" name="Shape 269"/>
          <p:cNvSpPr/>
          <p:nvPr/>
        </p:nvSpPr>
        <p:spPr>
          <a:xfrm>
            <a:off x="76200" y="6053138"/>
            <a:ext cx="2072640" cy="538163"/>
          </a:xfrm>
          <a:prstGeom prst="roundRect">
            <a:avLst>
              <a:gd name="adj" fmla="val 708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285" name="Text 270"/>
          <p:cNvSpPr/>
          <p:nvPr/>
        </p:nvSpPr>
        <p:spPr>
          <a:xfrm>
            <a:off x="160020" y="6117908"/>
            <a:ext cx="1981200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= first-class identities. nod to AccuKnox agent-security story.</a:t>
            </a:r>
            <a:endParaRPr lang="en-US" sz="8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5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962025"/>
            <a:ext cx="171450" cy="1714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0" y="12382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" y="1323975"/>
            <a:ext cx="171450" cy="1714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83558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#4129 · Response tab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521387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629376" y="144780"/>
            <a:ext cx="90844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risk-scoped plan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614023" y="74295"/>
            <a:ext cx="3876913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6893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888343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6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0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1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1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2" y="107633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6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128920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plan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6846213" y="616268"/>
            <a:ext cx="1235988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6920508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0" name="Text 25"/>
          <p:cNvSpPr/>
          <p:nvPr/>
        </p:nvSpPr>
        <p:spPr>
          <a:xfrm>
            <a:off x="7015758" y="642938"/>
            <a:ext cx="106834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· medium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8139351" y="590550"/>
            <a:ext cx="714137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Text 27"/>
          <p:cNvSpPr/>
          <p:nvPr/>
        </p:nvSpPr>
        <p:spPr>
          <a:xfrm>
            <a:off x="8242221" y="636270"/>
            <a:ext cx="58459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plan</a:t>
            </a:r>
            <a:endParaRPr lang="en-US" sz="900" dirty="0"/>
          </a:p>
        </p:txBody>
      </p:sp>
      <p:sp>
        <p:nvSpPr>
          <p:cNvPr id="43" name="Shape 28"/>
          <p:cNvSpPr/>
          <p:nvPr/>
        </p:nvSpPr>
        <p:spPr>
          <a:xfrm>
            <a:off x="8910638" y="590550"/>
            <a:ext cx="1243013" cy="251460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44" name="Text 29"/>
          <p:cNvSpPr/>
          <p:nvPr/>
        </p:nvSpPr>
        <p:spPr>
          <a:xfrm>
            <a:off x="9013507" y="636270"/>
            <a:ext cx="111347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all approved (4)</a:t>
            </a:r>
            <a:endParaRPr lang="en-US" sz="900" dirty="0"/>
          </a:p>
        </p:txBody>
      </p:sp>
      <p:sp>
        <p:nvSpPr>
          <p:cNvPr id="45" name="Shape 30"/>
          <p:cNvSpPr/>
          <p:nvPr/>
        </p:nvSpPr>
        <p:spPr>
          <a:xfrm>
            <a:off x="666750" y="937260"/>
            <a:ext cx="6324600" cy="1060133"/>
          </a:xfrm>
          <a:prstGeom prst="roundRect">
            <a:avLst>
              <a:gd name="adj" fmla="val 7188"/>
            </a:avLst>
          </a:prstGeom>
          <a:solidFill>
            <a:srgbClr val="2D6CFF">
              <a:alpha val="8000"/>
            </a:srgbClr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6" name="Shape 31"/>
          <p:cNvSpPr/>
          <p:nvPr/>
        </p:nvSpPr>
        <p:spPr>
          <a:xfrm>
            <a:off x="777240" y="1047750"/>
            <a:ext cx="209550" cy="20955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7" name="Text 32"/>
          <p:cNvSpPr/>
          <p:nvPr/>
        </p:nvSpPr>
        <p:spPr>
          <a:xfrm>
            <a:off x="777240" y="104775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25" dirty="0"/>
          </a:p>
        </p:txBody>
      </p:sp>
      <p:sp>
        <p:nvSpPr>
          <p:cNvPr id="48" name="Text 33"/>
          <p:cNvSpPr/>
          <p:nvPr/>
        </p:nvSpPr>
        <p:spPr>
          <a:xfrm>
            <a:off x="1043940" y="1059180"/>
            <a:ext cx="227945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active sessions for carlos.t</a:t>
            </a:r>
            <a:endParaRPr lang="en-US" sz="1050" dirty="0"/>
          </a:p>
        </p:txBody>
      </p:sp>
      <p:sp>
        <p:nvSpPr>
          <p:cNvPr id="49" name="Shape 34"/>
          <p:cNvSpPr/>
          <p:nvPr/>
        </p:nvSpPr>
        <p:spPr>
          <a:xfrm>
            <a:off x="3304342" y="1052513"/>
            <a:ext cx="902613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50" name="Shape 35"/>
          <p:cNvSpPr/>
          <p:nvPr/>
        </p:nvSpPr>
        <p:spPr>
          <a:xfrm>
            <a:off x="3378637" y="1123950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1" name="Text 36"/>
          <p:cNvSpPr/>
          <p:nvPr/>
        </p:nvSpPr>
        <p:spPr>
          <a:xfrm>
            <a:off x="3473887" y="1079182"/>
            <a:ext cx="73497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</a:t>
            </a:r>
            <a:endParaRPr lang="en-US" sz="825" dirty="0"/>
          </a:p>
        </p:txBody>
      </p:sp>
      <p:sp>
        <p:nvSpPr>
          <p:cNvPr id="52" name="Shape 37"/>
          <p:cNvSpPr/>
          <p:nvPr/>
        </p:nvSpPr>
        <p:spPr>
          <a:xfrm>
            <a:off x="5946577" y="1052513"/>
            <a:ext cx="42279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3" name="Shape 38"/>
          <p:cNvSpPr/>
          <p:nvPr/>
        </p:nvSpPr>
        <p:spPr>
          <a:xfrm>
            <a:off x="6020871" y="1123950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4" name="Text 39"/>
          <p:cNvSpPr/>
          <p:nvPr/>
        </p:nvSpPr>
        <p:spPr>
          <a:xfrm>
            <a:off x="6116121" y="1086803"/>
            <a:ext cx="25515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25" dirty="0"/>
          </a:p>
        </p:txBody>
      </p:sp>
      <p:sp>
        <p:nvSpPr>
          <p:cNvPr id="55" name="Shape 40"/>
          <p:cNvSpPr/>
          <p:nvPr/>
        </p:nvSpPr>
        <p:spPr>
          <a:xfrm>
            <a:off x="6407468" y="1052513"/>
            <a:ext cx="47339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56" name="Shape 41"/>
          <p:cNvSpPr/>
          <p:nvPr/>
        </p:nvSpPr>
        <p:spPr>
          <a:xfrm>
            <a:off x="6481763" y="1123950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7" name="Text 42"/>
          <p:cNvSpPr/>
          <p:nvPr/>
        </p:nvSpPr>
        <p:spPr>
          <a:xfrm>
            <a:off x="6577013" y="1086803"/>
            <a:ext cx="30575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25" dirty="0"/>
          </a:p>
        </p:txBody>
      </p:sp>
      <p:sp>
        <p:nvSpPr>
          <p:cNvPr id="58" name="Text 43"/>
          <p:cNvSpPr/>
          <p:nvPr/>
        </p:nvSpPr>
        <p:spPr>
          <a:xfrm>
            <a:off x="777240" y="1295400"/>
            <a:ext cx="62867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·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okta/sess xZ91 + 2</a:t>
            </a:r>
            <a:endParaRPr lang="en-US" sz="863" dirty="0"/>
          </a:p>
        </p:txBody>
      </p:sp>
      <p:sp>
        <p:nvSpPr>
          <p:cNvPr id="59" name="Text 44"/>
          <p:cNvSpPr/>
          <p:nvPr/>
        </p:nvSpPr>
        <p:spPr>
          <a:xfrm>
            <a:off x="777240" y="1476375"/>
            <a:ext cx="628672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· re-auth required next login</a:t>
            </a:r>
            <a:endParaRPr lang="en-US" sz="863" dirty="0"/>
          </a:p>
        </p:txBody>
      </p:sp>
      <p:sp>
        <p:nvSpPr>
          <p:cNvPr id="60" name="Shape 45"/>
          <p:cNvSpPr/>
          <p:nvPr/>
        </p:nvSpPr>
        <p:spPr>
          <a:xfrm>
            <a:off x="777240" y="1686878"/>
            <a:ext cx="649724" cy="200025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61" name="Text 46"/>
          <p:cNvSpPr/>
          <p:nvPr/>
        </p:nvSpPr>
        <p:spPr>
          <a:xfrm>
            <a:off x="851535" y="1713547"/>
            <a:ext cx="57733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via API</a:t>
            </a:r>
            <a:endParaRPr lang="en-US" sz="825" dirty="0"/>
          </a:p>
        </p:txBody>
      </p:sp>
      <p:sp>
        <p:nvSpPr>
          <p:cNvPr id="62" name="Shape 47"/>
          <p:cNvSpPr/>
          <p:nvPr/>
        </p:nvSpPr>
        <p:spPr>
          <a:xfrm>
            <a:off x="1465064" y="1686878"/>
            <a:ext cx="527328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3" name="Text 48"/>
          <p:cNvSpPr/>
          <p:nvPr/>
        </p:nvSpPr>
        <p:spPr>
          <a:xfrm>
            <a:off x="1539359" y="1713547"/>
            <a:ext cx="4549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</a:t>
            </a:r>
            <a:endParaRPr lang="en-US" sz="825" dirty="0"/>
          </a:p>
        </p:txBody>
      </p:sp>
      <p:sp>
        <p:nvSpPr>
          <p:cNvPr id="64" name="Shape 49"/>
          <p:cNvSpPr/>
          <p:nvPr/>
        </p:nvSpPr>
        <p:spPr>
          <a:xfrm>
            <a:off x="2030492" y="1686878"/>
            <a:ext cx="572333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5" name="Text 50"/>
          <p:cNvSpPr/>
          <p:nvPr/>
        </p:nvSpPr>
        <p:spPr>
          <a:xfrm>
            <a:off x="2104787" y="1713547"/>
            <a:ext cx="49994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825" dirty="0"/>
          </a:p>
        </p:txBody>
      </p:sp>
      <p:sp>
        <p:nvSpPr>
          <p:cNvPr id="66" name="Shape 51"/>
          <p:cNvSpPr/>
          <p:nvPr/>
        </p:nvSpPr>
        <p:spPr>
          <a:xfrm>
            <a:off x="666750" y="2073593"/>
            <a:ext cx="6324600" cy="1060133"/>
          </a:xfrm>
          <a:prstGeom prst="roundRect">
            <a:avLst>
              <a:gd name="adj" fmla="val 7188"/>
            </a:avLst>
          </a:prstGeom>
          <a:solidFill>
            <a:srgbClr val="2D6CFF">
              <a:alpha val="8000"/>
            </a:srgbClr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7" name="Shape 52"/>
          <p:cNvSpPr/>
          <p:nvPr/>
        </p:nvSpPr>
        <p:spPr>
          <a:xfrm>
            <a:off x="777240" y="2184083"/>
            <a:ext cx="209550" cy="20955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8" name="Text 53"/>
          <p:cNvSpPr/>
          <p:nvPr/>
        </p:nvSpPr>
        <p:spPr>
          <a:xfrm>
            <a:off x="777240" y="2184083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sp>
        <p:nvSpPr>
          <p:cNvPr id="69" name="Text 54"/>
          <p:cNvSpPr/>
          <p:nvPr/>
        </p:nvSpPr>
        <p:spPr>
          <a:xfrm>
            <a:off x="1043940" y="2195513"/>
            <a:ext cx="274259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 41 phishing mails · 9 mailboxes</a:t>
            </a:r>
            <a:endParaRPr lang="en-US" sz="1050" dirty="0"/>
          </a:p>
        </p:txBody>
      </p:sp>
      <p:sp>
        <p:nvSpPr>
          <p:cNvPr id="70" name="Shape 55"/>
          <p:cNvSpPr/>
          <p:nvPr/>
        </p:nvSpPr>
        <p:spPr>
          <a:xfrm>
            <a:off x="3763804" y="2188845"/>
            <a:ext cx="902613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71" name="Shape 56"/>
          <p:cNvSpPr/>
          <p:nvPr/>
        </p:nvSpPr>
        <p:spPr>
          <a:xfrm>
            <a:off x="3838099" y="2260283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2" name="Text 57"/>
          <p:cNvSpPr/>
          <p:nvPr/>
        </p:nvSpPr>
        <p:spPr>
          <a:xfrm>
            <a:off x="3933349" y="2215515"/>
            <a:ext cx="73497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</a:t>
            </a:r>
            <a:endParaRPr lang="en-US" sz="825" dirty="0"/>
          </a:p>
        </p:txBody>
      </p:sp>
      <p:sp>
        <p:nvSpPr>
          <p:cNvPr id="73" name="Shape 58"/>
          <p:cNvSpPr/>
          <p:nvPr/>
        </p:nvSpPr>
        <p:spPr>
          <a:xfrm>
            <a:off x="5946577" y="2188845"/>
            <a:ext cx="42279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4" name="Shape 59"/>
          <p:cNvSpPr/>
          <p:nvPr/>
        </p:nvSpPr>
        <p:spPr>
          <a:xfrm>
            <a:off x="6020871" y="2260283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5" name="Text 60"/>
          <p:cNvSpPr/>
          <p:nvPr/>
        </p:nvSpPr>
        <p:spPr>
          <a:xfrm>
            <a:off x="6116121" y="2223135"/>
            <a:ext cx="25515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25" dirty="0"/>
          </a:p>
        </p:txBody>
      </p:sp>
      <p:sp>
        <p:nvSpPr>
          <p:cNvPr id="76" name="Shape 61"/>
          <p:cNvSpPr/>
          <p:nvPr/>
        </p:nvSpPr>
        <p:spPr>
          <a:xfrm>
            <a:off x="6407468" y="2188845"/>
            <a:ext cx="47339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77" name="Shape 62"/>
          <p:cNvSpPr/>
          <p:nvPr/>
        </p:nvSpPr>
        <p:spPr>
          <a:xfrm>
            <a:off x="6481763" y="226028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78" name="Text 63"/>
          <p:cNvSpPr/>
          <p:nvPr/>
        </p:nvSpPr>
        <p:spPr>
          <a:xfrm>
            <a:off x="6577013" y="2223135"/>
            <a:ext cx="30575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25" dirty="0"/>
          </a:p>
        </p:txBody>
      </p:sp>
      <p:sp>
        <p:nvSpPr>
          <p:cNvPr id="79" name="Text 64"/>
          <p:cNvSpPr/>
          <p:nvPr/>
        </p:nvSpPr>
        <p:spPr>
          <a:xfrm>
            <a:off x="777240" y="2431733"/>
            <a:ext cx="62867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·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o365 · brand-impersonation rule</a:t>
            </a:r>
            <a:endParaRPr lang="en-US" sz="863" dirty="0"/>
          </a:p>
        </p:txBody>
      </p:sp>
      <p:sp>
        <p:nvSpPr>
          <p:cNvPr id="80" name="Text 65"/>
          <p:cNvSpPr/>
          <p:nvPr/>
        </p:nvSpPr>
        <p:spPr>
          <a:xfrm>
            <a:off x="777240" y="2612708"/>
            <a:ext cx="628672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· push to journaling</a:t>
            </a:r>
            <a:endParaRPr lang="en-US" sz="863" dirty="0"/>
          </a:p>
        </p:txBody>
      </p:sp>
      <p:sp>
        <p:nvSpPr>
          <p:cNvPr id="81" name="Shape 66"/>
          <p:cNvSpPr/>
          <p:nvPr/>
        </p:nvSpPr>
        <p:spPr>
          <a:xfrm>
            <a:off x="777240" y="2823210"/>
            <a:ext cx="649724" cy="200025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82" name="Text 67"/>
          <p:cNvSpPr/>
          <p:nvPr/>
        </p:nvSpPr>
        <p:spPr>
          <a:xfrm>
            <a:off x="851535" y="2849880"/>
            <a:ext cx="57733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via API</a:t>
            </a:r>
            <a:endParaRPr lang="en-US" sz="825" dirty="0"/>
          </a:p>
        </p:txBody>
      </p:sp>
      <p:sp>
        <p:nvSpPr>
          <p:cNvPr id="83" name="Shape 68"/>
          <p:cNvSpPr/>
          <p:nvPr/>
        </p:nvSpPr>
        <p:spPr>
          <a:xfrm>
            <a:off x="1465064" y="2823210"/>
            <a:ext cx="527328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4" name="Text 69"/>
          <p:cNvSpPr/>
          <p:nvPr/>
        </p:nvSpPr>
        <p:spPr>
          <a:xfrm>
            <a:off x="1539359" y="2849880"/>
            <a:ext cx="4549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</a:t>
            </a:r>
            <a:endParaRPr lang="en-US" sz="825" dirty="0"/>
          </a:p>
        </p:txBody>
      </p:sp>
      <p:sp>
        <p:nvSpPr>
          <p:cNvPr id="85" name="Shape 70"/>
          <p:cNvSpPr/>
          <p:nvPr/>
        </p:nvSpPr>
        <p:spPr>
          <a:xfrm>
            <a:off x="2030492" y="2823210"/>
            <a:ext cx="572333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6" name="Text 71"/>
          <p:cNvSpPr/>
          <p:nvPr/>
        </p:nvSpPr>
        <p:spPr>
          <a:xfrm>
            <a:off x="2104787" y="2849880"/>
            <a:ext cx="49994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825" dirty="0"/>
          </a:p>
        </p:txBody>
      </p:sp>
      <p:sp>
        <p:nvSpPr>
          <p:cNvPr id="87" name="Shape 72"/>
          <p:cNvSpPr/>
          <p:nvPr/>
        </p:nvSpPr>
        <p:spPr>
          <a:xfrm>
            <a:off x="666750" y="3209925"/>
            <a:ext cx="6324600" cy="1060133"/>
          </a:xfrm>
          <a:prstGeom prst="roundRect">
            <a:avLst>
              <a:gd name="adj" fmla="val 7188"/>
            </a:avLst>
          </a:prstGeom>
          <a:solidFill>
            <a:srgbClr val="2D6CFF">
              <a:alpha val="8000"/>
            </a:srgbClr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8" name="Shape 73"/>
          <p:cNvSpPr/>
          <p:nvPr/>
        </p:nvSpPr>
        <p:spPr>
          <a:xfrm>
            <a:off x="777240" y="3320415"/>
            <a:ext cx="209550" cy="20955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89" name="Text 74"/>
          <p:cNvSpPr/>
          <p:nvPr/>
        </p:nvSpPr>
        <p:spPr>
          <a:xfrm>
            <a:off x="777240" y="3320415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5" dirty="0"/>
          </a:p>
        </p:txBody>
      </p:sp>
      <p:sp>
        <p:nvSpPr>
          <p:cNvPr id="90" name="Text 75"/>
          <p:cNvSpPr/>
          <p:nvPr/>
        </p:nvSpPr>
        <p:spPr>
          <a:xfrm>
            <a:off x="1043940" y="3331845"/>
            <a:ext cx="214038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inbound MFA push for 1 h</a:t>
            </a:r>
            <a:endParaRPr lang="en-US" sz="1050" dirty="0"/>
          </a:p>
        </p:txBody>
      </p:sp>
      <p:sp>
        <p:nvSpPr>
          <p:cNvPr id="91" name="Shape 76"/>
          <p:cNvSpPr/>
          <p:nvPr/>
        </p:nvSpPr>
        <p:spPr>
          <a:xfrm>
            <a:off x="3165277" y="3325177"/>
            <a:ext cx="902613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92" name="Shape 77"/>
          <p:cNvSpPr/>
          <p:nvPr/>
        </p:nvSpPr>
        <p:spPr>
          <a:xfrm>
            <a:off x="3239572" y="3396615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3" name="Text 78"/>
          <p:cNvSpPr/>
          <p:nvPr/>
        </p:nvSpPr>
        <p:spPr>
          <a:xfrm>
            <a:off x="3334822" y="3351848"/>
            <a:ext cx="73497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</a:t>
            </a:r>
            <a:endParaRPr lang="en-US" sz="825" dirty="0"/>
          </a:p>
        </p:txBody>
      </p:sp>
      <p:sp>
        <p:nvSpPr>
          <p:cNvPr id="94" name="Shape 79"/>
          <p:cNvSpPr/>
          <p:nvPr/>
        </p:nvSpPr>
        <p:spPr>
          <a:xfrm>
            <a:off x="5785009" y="3325177"/>
            <a:ext cx="473988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95" name="Shape 80"/>
          <p:cNvSpPr/>
          <p:nvPr/>
        </p:nvSpPr>
        <p:spPr>
          <a:xfrm>
            <a:off x="5859304" y="3396615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96" name="Text 81"/>
          <p:cNvSpPr/>
          <p:nvPr/>
        </p:nvSpPr>
        <p:spPr>
          <a:xfrm>
            <a:off x="5954554" y="3359468"/>
            <a:ext cx="30634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25" dirty="0"/>
          </a:p>
        </p:txBody>
      </p:sp>
      <p:sp>
        <p:nvSpPr>
          <p:cNvPr id="97" name="Shape 82"/>
          <p:cNvSpPr/>
          <p:nvPr/>
        </p:nvSpPr>
        <p:spPr>
          <a:xfrm>
            <a:off x="6297096" y="3325177"/>
            <a:ext cx="58376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98" name="Shape 83"/>
          <p:cNvSpPr/>
          <p:nvPr/>
        </p:nvSpPr>
        <p:spPr>
          <a:xfrm>
            <a:off x="6371392" y="3396615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99" name="Text 84"/>
          <p:cNvSpPr/>
          <p:nvPr/>
        </p:nvSpPr>
        <p:spPr>
          <a:xfrm>
            <a:off x="6466642" y="3359468"/>
            <a:ext cx="41612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825" dirty="0"/>
          </a:p>
        </p:txBody>
      </p:sp>
      <p:sp>
        <p:nvSpPr>
          <p:cNvPr id="100" name="Text 85"/>
          <p:cNvSpPr/>
          <p:nvPr/>
        </p:nvSpPr>
        <p:spPr>
          <a:xfrm>
            <a:off x="777240" y="3568065"/>
            <a:ext cx="62867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·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duo · group finance</a:t>
            </a:r>
            <a:endParaRPr lang="en-US" sz="863" dirty="0"/>
          </a:p>
        </p:txBody>
      </p:sp>
      <p:sp>
        <p:nvSpPr>
          <p:cNvPr id="101" name="Text 86"/>
          <p:cNvSpPr/>
          <p:nvPr/>
        </p:nvSpPr>
        <p:spPr>
          <a:xfrm>
            <a:off x="777240" y="3749040"/>
            <a:ext cx="628672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· pause to break the spam loop</a:t>
            </a:r>
            <a:endParaRPr lang="en-US" sz="863" dirty="0"/>
          </a:p>
        </p:txBody>
      </p:sp>
      <p:sp>
        <p:nvSpPr>
          <p:cNvPr id="102" name="Shape 87"/>
          <p:cNvSpPr/>
          <p:nvPr/>
        </p:nvSpPr>
        <p:spPr>
          <a:xfrm>
            <a:off x="777240" y="3959543"/>
            <a:ext cx="649724" cy="200025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03" name="Text 88"/>
          <p:cNvSpPr/>
          <p:nvPr/>
        </p:nvSpPr>
        <p:spPr>
          <a:xfrm>
            <a:off x="851535" y="3986213"/>
            <a:ext cx="57733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via API</a:t>
            </a:r>
            <a:endParaRPr lang="en-US" sz="825" dirty="0"/>
          </a:p>
        </p:txBody>
      </p:sp>
      <p:sp>
        <p:nvSpPr>
          <p:cNvPr id="104" name="Shape 89"/>
          <p:cNvSpPr/>
          <p:nvPr/>
        </p:nvSpPr>
        <p:spPr>
          <a:xfrm>
            <a:off x="1465064" y="3959543"/>
            <a:ext cx="527328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5" name="Text 90"/>
          <p:cNvSpPr/>
          <p:nvPr/>
        </p:nvSpPr>
        <p:spPr>
          <a:xfrm>
            <a:off x="1539359" y="3986213"/>
            <a:ext cx="4549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</a:t>
            </a:r>
            <a:endParaRPr lang="en-US" sz="825" dirty="0"/>
          </a:p>
        </p:txBody>
      </p:sp>
      <p:sp>
        <p:nvSpPr>
          <p:cNvPr id="106" name="Shape 91"/>
          <p:cNvSpPr/>
          <p:nvPr/>
        </p:nvSpPr>
        <p:spPr>
          <a:xfrm>
            <a:off x="2030492" y="3959543"/>
            <a:ext cx="572333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7" name="Text 92"/>
          <p:cNvSpPr/>
          <p:nvPr/>
        </p:nvSpPr>
        <p:spPr>
          <a:xfrm>
            <a:off x="2104787" y="3986213"/>
            <a:ext cx="49994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825" dirty="0"/>
          </a:p>
        </p:txBody>
      </p:sp>
      <p:sp>
        <p:nvSpPr>
          <p:cNvPr id="108" name="Shape 93"/>
          <p:cNvSpPr/>
          <p:nvPr/>
        </p:nvSpPr>
        <p:spPr>
          <a:xfrm>
            <a:off x="666750" y="4346258"/>
            <a:ext cx="6324600" cy="1060133"/>
          </a:xfrm>
          <a:prstGeom prst="roundRect">
            <a:avLst>
              <a:gd name="adj" fmla="val 7188"/>
            </a:avLst>
          </a:prstGeom>
          <a:solidFill>
            <a:srgbClr val="1FD191">
              <a:alpha val="10000"/>
            </a:srgbClr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9" name="Shape 94"/>
          <p:cNvSpPr/>
          <p:nvPr/>
        </p:nvSpPr>
        <p:spPr>
          <a:xfrm>
            <a:off x="777240" y="4456748"/>
            <a:ext cx="209550" cy="20955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10" name="Text 95"/>
          <p:cNvSpPr/>
          <p:nvPr/>
        </p:nvSpPr>
        <p:spPr>
          <a:xfrm>
            <a:off x="777240" y="4456748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25" dirty="0"/>
          </a:p>
        </p:txBody>
      </p:sp>
      <p:sp>
        <p:nvSpPr>
          <p:cNvPr id="111" name="Text 96"/>
          <p:cNvSpPr/>
          <p:nvPr/>
        </p:nvSpPr>
        <p:spPr>
          <a:xfrm>
            <a:off x="1043940" y="4468177"/>
            <a:ext cx="245792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outbound 198.51.x at the kernel</a:t>
            </a:r>
            <a:endParaRPr lang="en-US" sz="1050" dirty="0"/>
          </a:p>
        </p:txBody>
      </p:sp>
      <p:sp>
        <p:nvSpPr>
          <p:cNvPr id="112" name="Shape 97"/>
          <p:cNvSpPr/>
          <p:nvPr/>
        </p:nvSpPr>
        <p:spPr>
          <a:xfrm>
            <a:off x="3482816" y="4461510"/>
            <a:ext cx="119419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13" name="Shape 98"/>
          <p:cNvSpPr/>
          <p:nvPr/>
        </p:nvSpPr>
        <p:spPr>
          <a:xfrm>
            <a:off x="3557111" y="453294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14" name="Text 99"/>
          <p:cNvSpPr/>
          <p:nvPr/>
        </p:nvSpPr>
        <p:spPr>
          <a:xfrm>
            <a:off x="3652361" y="4488180"/>
            <a:ext cx="102655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· KubeArmor</a:t>
            </a:r>
            <a:endParaRPr lang="en-US" sz="825" dirty="0"/>
          </a:p>
        </p:txBody>
      </p:sp>
      <p:sp>
        <p:nvSpPr>
          <p:cNvPr id="115" name="Shape 100"/>
          <p:cNvSpPr/>
          <p:nvPr/>
        </p:nvSpPr>
        <p:spPr>
          <a:xfrm>
            <a:off x="5785009" y="4461510"/>
            <a:ext cx="473988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16" name="Shape 101"/>
          <p:cNvSpPr/>
          <p:nvPr/>
        </p:nvSpPr>
        <p:spPr>
          <a:xfrm>
            <a:off x="5859304" y="453294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17" name="Text 102"/>
          <p:cNvSpPr/>
          <p:nvPr/>
        </p:nvSpPr>
        <p:spPr>
          <a:xfrm>
            <a:off x="5954554" y="4495800"/>
            <a:ext cx="30634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25" dirty="0"/>
          </a:p>
        </p:txBody>
      </p:sp>
      <p:sp>
        <p:nvSpPr>
          <p:cNvPr id="118" name="Shape 103"/>
          <p:cNvSpPr/>
          <p:nvPr/>
        </p:nvSpPr>
        <p:spPr>
          <a:xfrm>
            <a:off x="6297096" y="4461510"/>
            <a:ext cx="58376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19" name="Shape 104"/>
          <p:cNvSpPr/>
          <p:nvPr/>
        </p:nvSpPr>
        <p:spPr>
          <a:xfrm>
            <a:off x="6371392" y="453294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20" name="Text 105"/>
          <p:cNvSpPr/>
          <p:nvPr/>
        </p:nvSpPr>
        <p:spPr>
          <a:xfrm>
            <a:off x="6466642" y="4495800"/>
            <a:ext cx="41612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825" dirty="0"/>
          </a:p>
        </p:txBody>
      </p:sp>
      <p:sp>
        <p:nvSpPr>
          <p:cNvPr id="121" name="Text 106"/>
          <p:cNvSpPr/>
          <p:nvPr/>
        </p:nvSpPr>
        <p:spPr>
          <a:xfrm>
            <a:off x="777240" y="4704398"/>
            <a:ext cx="62867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·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ana-3 · KubeArmor policy kc-fin-egress.v3</a:t>
            </a:r>
            <a:endParaRPr lang="en-US" sz="863" dirty="0"/>
          </a:p>
        </p:txBody>
      </p:sp>
      <p:sp>
        <p:nvSpPr>
          <p:cNvPr id="122" name="Text 107"/>
          <p:cNvSpPr/>
          <p:nvPr/>
        </p:nvSpPr>
        <p:spPr>
          <a:xfrm>
            <a:off x="777240" y="4885373"/>
            <a:ext cx="628672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at socket() · zero workload overhead</a:t>
            </a:r>
            <a:endParaRPr lang="en-US" sz="863" dirty="0"/>
          </a:p>
        </p:txBody>
      </p:sp>
      <p:sp>
        <p:nvSpPr>
          <p:cNvPr id="123" name="Shape 108"/>
          <p:cNvSpPr/>
          <p:nvPr/>
        </p:nvSpPr>
        <p:spPr>
          <a:xfrm>
            <a:off x="777240" y="5095875"/>
            <a:ext cx="936546" cy="200025"/>
          </a:xfrm>
          <a:prstGeom prst="roundRect">
            <a:avLst>
              <a:gd name="adj" fmla="val 23810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24" name="Text 109"/>
          <p:cNvSpPr/>
          <p:nvPr/>
        </p:nvSpPr>
        <p:spPr>
          <a:xfrm>
            <a:off x="851535" y="5122545"/>
            <a:ext cx="8641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kernel block</a:t>
            </a:r>
            <a:endParaRPr lang="en-US" sz="825" dirty="0"/>
          </a:p>
        </p:txBody>
      </p:sp>
      <p:sp>
        <p:nvSpPr>
          <p:cNvPr id="125" name="Shape 110"/>
          <p:cNvSpPr/>
          <p:nvPr/>
        </p:nvSpPr>
        <p:spPr>
          <a:xfrm>
            <a:off x="1751886" y="5095875"/>
            <a:ext cx="527328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6" name="Text 111"/>
          <p:cNvSpPr/>
          <p:nvPr/>
        </p:nvSpPr>
        <p:spPr>
          <a:xfrm>
            <a:off x="1826181" y="5122545"/>
            <a:ext cx="4549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</a:t>
            </a:r>
            <a:endParaRPr lang="en-US" sz="825" dirty="0"/>
          </a:p>
        </p:txBody>
      </p:sp>
      <p:sp>
        <p:nvSpPr>
          <p:cNvPr id="127" name="Shape 112"/>
          <p:cNvSpPr/>
          <p:nvPr/>
        </p:nvSpPr>
        <p:spPr>
          <a:xfrm>
            <a:off x="2317313" y="5095875"/>
            <a:ext cx="572333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8" name="Text 113"/>
          <p:cNvSpPr/>
          <p:nvPr/>
        </p:nvSpPr>
        <p:spPr>
          <a:xfrm>
            <a:off x="2391608" y="5122545"/>
            <a:ext cx="49994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825" dirty="0"/>
          </a:p>
        </p:txBody>
      </p:sp>
      <p:sp>
        <p:nvSpPr>
          <p:cNvPr id="129" name="Shape 114"/>
          <p:cNvSpPr/>
          <p:nvPr/>
        </p:nvSpPr>
        <p:spPr>
          <a:xfrm>
            <a:off x="666750" y="5482590"/>
            <a:ext cx="6324600" cy="1060133"/>
          </a:xfrm>
          <a:prstGeom prst="roundRect">
            <a:avLst>
              <a:gd name="adj" fmla="val 7188"/>
            </a:avLst>
          </a:prstGeom>
          <a:solidFill>
            <a:srgbClr val="1FD191">
              <a:alpha val="10000"/>
            </a:srgbClr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30" name="Shape 115"/>
          <p:cNvSpPr/>
          <p:nvPr/>
        </p:nvSpPr>
        <p:spPr>
          <a:xfrm>
            <a:off x="777240" y="5593080"/>
            <a:ext cx="209550" cy="20955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1" name="Text 116"/>
          <p:cNvSpPr/>
          <p:nvPr/>
        </p:nvSpPr>
        <p:spPr>
          <a:xfrm>
            <a:off x="777240" y="559308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25" dirty="0"/>
          </a:p>
        </p:txBody>
      </p:sp>
      <p:sp>
        <p:nvSpPr>
          <p:cNvPr id="132" name="Text 117"/>
          <p:cNvSpPr/>
          <p:nvPr/>
        </p:nvSpPr>
        <p:spPr>
          <a:xfrm>
            <a:off x="1043940" y="5604510"/>
            <a:ext cx="2800479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claude-fin-bot (read-only on S3)</a:t>
            </a:r>
            <a:endParaRPr lang="en-US" sz="1050" dirty="0"/>
          </a:p>
        </p:txBody>
      </p:sp>
      <p:sp>
        <p:nvSpPr>
          <p:cNvPr id="133" name="Shape 118"/>
          <p:cNvSpPr/>
          <p:nvPr/>
        </p:nvSpPr>
        <p:spPr>
          <a:xfrm>
            <a:off x="3820001" y="5597843"/>
            <a:ext cx="119419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34" name="Shape 119"/>
          <p:cNvSpPr/>
          <p:nvPr/>
        </p:nvSpPr>
        <p:spPr>
          <a:xfrm>
            <a:off x="3894296" y="5669280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35" name="Text 120"/>
          <p:cNvSpPr/>
          <p:nvPr/>
        </p:nvSpPr>
        <p:spPr>
          <a:xfrm>
            <a:off x="3989546" y="5624512"/>
            <a:ext cx="102655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· KubeArmor</a:t>
            </a:r>
            <a:endParaRPr lang="en-US" sz="825" dirty="0"/>
          </a:p>
        </p:txBody>
      </p:sp>
      <p:sp>
        <p:nvSpPr>
          <p:cNvPr id="136" name="Shape 121"/>
          <p:cNvSpPr/>
          <p:nvPr/>
        </p:nvSpPr>
        <p:spPr>
          <a:xfrm>
            <a:off x="5785009" y="5597843"/>
            <a:ext cx="473988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37" name="Shape 122"/>
          <p:cNvSpPr/>
          <p:nvPr/>
        </p:nvSpPr>
        <p:spPr>
          <a:xfrm>
            <a:off x="5859304" y="5669280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38" name="Text 123"/>
          <p:cNvSpPr/>
          <p:nvPr/>
        </p:nvSpPr>
        <p:spPr>
          <a:xfrm>
            <a:off x="5954554" y="5632133"/>
            <a:ext cx="30634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25" dirty="0"/>
          </a:p>
        </p:txBody>
      </p:sp>
      <p:sp>
        <p:nvSpPr>
          <p:cNvPr id="139" name="Shape 124"/>
          <p:cNvSpPr/>
          <p:nvPr/>
        </p:nvSpPr>
        <p:spPr>
          <a:xfrm>
            <a:off x="6297096" y="5597843"/>
            <a:ext cx="58376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40" name="Shape 125"/>
          <p:cNvSpPr/>
          <p:nvPr/>
        </p:nvSpPr>
        <p:spPr>
          <a:xfrm>
            <a:off x="6371392" y="5669280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41" name="Text 126"/>
          <p:cNvSpPr/>
          <p:nvPr/>
        </p:nvSpPr>
        <p:spPr>
          <a:xfrm>
            <a:off x="6466642" y="5632133"/>
            <a:ext cx="41612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825" dirty="0"/>
          </a:p>
        </p:txBody>
      </p:sp>
      <p:sp>
        <p:nvSpPr>
          <p:cNvPr id="142" name="Text 127"/>
          <p:cNvSpPr/>
          <p:nvPr/>
        </p:nvSpPr>
        <p:spPr>
          <a:xfrm>
            <a:off x="777240" y="5840730"/>
            <a:ext cx="62867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·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agent/claude-fin-bot · ModelArmor</a:t>
            </a:r>
            <a:endParaRPr lang="en-US" sz="863" dirty="0"/>
          </a:p>
        </p:txBody>
      </p:sp>
      <p:sp>
        <p:nvSpPr>
          <p:cNvPr id="143" name="Text 128"/>
          <p:cNvSpPr/>
          <p:nvPr/>
        </p:nvSpPr>
        <p:spPr>
          <a:xfrm>
            <a:off x="777240" y="6021705"/>
            <a:ext cx="628672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retained · tool execution restricted to GET</a:t>
            </a:r>
            <a:endParaRPr lang="en-US" sz="863" dirty="0"/>
          </a:p>
        </p:txBody>
      </p:sp>
      <p:sp>
        <p:nvSpPr>
          <p:cNvPr id="144" name="Shape 129"/>
          <p:cNvSpPr/>
          <p:nvPr/>
        </p:nvSpPr>
        <p:spPr>
          <a:xfrm>
            <a:off x="777240" y="6232208"/>
            <a:ext cx="936546" cy="200025"/>
          </a:xfrm>
          <a:prstGeom prst="roundRect">
            <a:avLst>
              <a:gd name="adj" fmla="val 23810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45" name="Text 130"/>
          <p:cNvSpPr/>
          <p:nvPr/>
        </p:nvSpPr>
        <p:spPr>
          <a:xfrm>
            <a:off x="851535" y="6258878"/>
            <a:ext cx="8641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kernel block</a:t>
            </a:r>
            <a:endParaRPr lang="en-US" sz="825" dirty="0"/>
          </a:p>
        </p:txBody>
      </p:sp>
      <p:sp>
        <p:nvSpPr>
          <p:cNvPr id="146" name="Shape 131"/>
          <p:cNvSpPr/>
          <p:nvPr/>
        </p:nvSpPr>
        <p:spPr>
          <a:xfrm>
            <a:off x="1751886" y="6232208"/>
            <a:ext cx="527328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7" name="Text 132"/>
          <p:cNvSpPr/>
          <p:nvPr/>
        </p:nvSpPr>
        <p:spPr>
          <a:xfrm>
            <a:off x="1826181" y="6258878"/>
            <a:ext cx="4549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</a:t>
            </a:r>
            <a:endParaRPr lang="en-US" sz="825" dirty="0"/>
          </a:p>
        </p:txBody>
      </p:sp>
      <p:sp>
        <p:nvSpPr>
          <p:cNvPr id="148" name="Shape 133"/>
          <p:cNvSpPr/>
          <p:nvPr/>
        </p:nvSpPr>
        <p:spPr>
          <a:xfrm>
            <a:off x="2317313" y="6232208"/>
            <a:ext cx="572333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9" name="Text 134"/>
          <p:cNvSpPr/>
          <p:nvPr/>
        </p:nvSpPr>
        <p:spPr>
          <a:xfrm>
            <a:off x="2391608" y="6258878"/>
            <a:ext cx="49994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825" dirty="0"/>
          </a:p>
        </p:txBody>
      </p:sp>
      <p:sp>
        <p:nvSpPr>
          <p:cNvPr id="150" name="Shape 135"/>
          <p:cNvSpPr/>
          <p:nvPr/>
        </p:nvSpPr>
        <p:spPr>
          <a:xfrm>
            <a:off x="666750" y="6618923"/>
            <a:ext cx="6324600" cy="1060133"/>
          </a:xfrm>
          <a:prstGeom prst="roundRect">
            <a:avLst>
              <a:gd name="adj" fmla="val 7188"/>
            </a:avLst>
          </a:prstGeom>
          <a:solidFill>
            <a:srgbClr val="2D6CFF">
              <a:alpha val="8000"/>
            </a:srgbClr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51" name="Shape 136"/>
          <p:cNvSpPr/>
          <p:nvPr/>
        </p:nvSpPr>
        <p:spPr>
          <a:xfrm>
            <a:off x="777240" y="6729412"/>
            <a:ext cx="209550" cy="20955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2" name="Text 137"/>
          <p:cNvSpPr/>
          <p:nvPr/>
        </p:nvSpPr>
        <p:spPr>
          <a:xfrm>
            <a:off x="777240" y="6729412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25" dirty="0"/>
          </a:p>
        </p:txBody>
      </p:sp>
      <p:sp>
        <p:nvSpPr>
          <p:cNvPr id="153" name="Text 138"/>
          <p:cNvSpPr/>
          <p:nvPr/>
        </p:nvSpPr>
        <p:spPr>
          <a:xfrm>
            <a:off x="1043940" y="6740843"/>
            <a:ext cx="233076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incident · PagerDuty · SOC P1</a:t>
            </a:r>
            <a:endParaRPr lang="en-US" sz="1050" dirty="0"/>
          </a:p>
        </p:txBody>
      </p:sp>
      <p:sp>
        <p:nvSpPr>
          <p:cNvPr id="154" name="Shape 139"/>
          <p:cNvSpPr/>
          <p:nvPr/>
        </p:nvSpPr>
        <p:spPr>
          <a:xfrm>
            <a:off x="3355658" y="6734175"/>
            <a:ext cx="902613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155" name="Shape 140"/>
          <p:cNvSpPr/>
          <p:nvPr/>
        </p:nvSpPr>
        <p:spPr>
          <a:xfrm>
            <a:off x="3429953" y="6805612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6" name="Text 141"/>
          <p:cNvSpPr/>
          <p:nvPr/>
        </p:nvSpPr>
        <p:spPr>
          <a:xfrm>
            <a:off x="3525203" y="6760845"/>
            <a:ext cx="73497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</a:t>
            </a:r>
            <a:endParaRPr lang="en-US" sz="825" dirty="0"/>
          </a:p>
        </p:txBody>
      </p:sp>
      <p:sp>
        <p:nvSpPr>
          <p:cNvPr id="157" name="Shape 142"/>
          <p:cNvSpPr/>
          <p:nvPr/>
        </p:nvSpPr>
        <p:spPr>
          <a:xfrm>
            <a:off x="5946577" y="6734175"/>
            <a:ext cx="42279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58" name="Shape 143"/>
          <p:cNvSpPr/>
          <p:nvPr/>
        </p:nvSpPr>
        <p:spPr>
          <a:xfrm>
            <a:off x="6020871" y="6805612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59" name="Text 144"/>
          <p:cNvSpPr/>
          <p:nvPr/>
        </p:nvSpPr>
        <p:spPr>
          <a:xfrm>
            <a:off x="6116121" y="6768465"/>
            <a:ext cx="25515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25" dirty="0"/>
          </a:p>
        </p:txBody>
      </p:sp>
      <p:sp>
        <p:nvSpPr>
          <p:cNvPr id="160" name="Shape 145"/>
          <p:cNvSpPr/>
          <p:nvPr/>
        </p:nvSpPr>
        <p:spPr>
          <a:xfrm>
            <a:off x="6407468" y="6734175"/>
            <a:ext cx="47339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61" name="Shape 146"/>
          <p:cNvSpPr/>
          <p:nvPr/>
        </p:nvSpPr>
        <p:spPr>
          <a:xfrm>
            <a:off x="6481763" y="680561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62" name="Text 147"/>
          <p:cNvSpPr/>
          <p:nvPr/>
        </p:nvSpPr>
        <p:spPr>
          <a:xfrm>
            <a:off x="6577013" y="6768465"/>
            <a:ext cx="30575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25" dirty="0"/>
          </a:p>
        </p:txBody>
      </p:sp>
      <p:sp>
        <p:nvSpPr>
          <p:cNvPr id="163" name="Text 148"/>
          <p:cNvSpPr/>
          <p:nvPr/>
        </p:nvSpPr>
        <p:spPr>
          <a:xfrm>
            <a:off x="777240" y="6977062"/>
            <a:ext cx="62867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·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 · soc-team</a:t>
            </a:r>
            <a:endParaRPr lang="en-US" sz="863" dirty="0"/>
          </a:p>
        </p:txBody>
      </p:sp>
      <p:sp>
        <p:nvSpPr>
          <p:cNvPr id="164" name="Text 149"/>
          <p:cNvSpPr/>
          <p:nvPr/>
        </p:nvSpPr>
        <p:spPr>
          <a:xfrm>
            <a:off x="777240" y="7158037"/>
            <a:ext cx="628672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auto-includes case link + reasoning</a:t>
            </a:r>
            <a:endParaRPr lang="en-US" sz="863" dirty="0"/>
          </a:p>
        </p:txBody>
      </p:sp>
      <p:sp>
        <p:nvSpPr>
          <p:cNvPr id="165" name="Shape 150"/>
          <p:cNvSpPr/>
          <p:nvPr/>
        </p:nvSpPr>
        <p:spPr>
          <a:xfrm>
            <a:off x="777240" y="7368540"/>
            <a:ext cx="649724" cy="200025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66" name="Text 151"/>
          <p:cNvSpPr/>
          <p:nvPr/>
        </p:nvSpPr>
        <p:spPr>
          <a:xfrm>
            <a:off x="851535" y="7395210"/>
            <a:ext cx="57733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via API</a:t>
            </a:r>
            <a:endParaRPr lang="en-US" sz="825" dirty="0"/>
          </a:p>
        </p:txBody>
      </p:sp>
      <p:sp>
        <p:nvSpPr>
          <p:cNvPr id="167" name="Shape 152"/>
          <p:cNvSpPr/>
          <p:nvPr/>
        </p:nvSpPr>
        <p:spPr>
          <a:xfrm>
            <a:off x="1465064" y="7368540"/>
            <a:ext cx="527328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8" name="Text 153"/>
          <p:cNvSpPr/>
          <p:nvPr/>
        </p:nvSpPr>
        <p:spPr>
          <a:xfrm>
            <a:off x="1539359" y="7395210"/>
            <a:ext cx="4549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</a:t>
            </a:r>
            <a:endParaRPr lang="en-US" sz="825" dirty="0"/>
          </a:p>
        </p:txBody>
      </p:sp>
      <p:sp>
        <p:nvSpPr>
          <p:cNvPr id="169" name="Shape 154"/>
          <p:cNvSpPr/>
          <p:nvPr/>
        </p:nvSpPr>
        <p:spPr>
          <a:xfrm>
            <a:off x="2030492" y="7368540"/>
            <a:ext cx="572333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0" name="Text 155"/>
          <p:cNvSpPr/>
          <p:nvPr/>
        </p:nvSpPr>
        <p:spPr>
          <a:xfrm>
            <a:off x="2104787" y="7395210"/>
            <a:ext cx="49994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825" dirty="0"/>
          </a:p>
        </p:txBody>
      </p:sp>
      <p:sp>
        <p:nvSpPr>
          <p:cNvPr id="171" name="Shape 156"/>
          <p:cNvSpPr/>
          <p:nvPr/>
        </p:nvSpPr>
        <p:spPr>
          <a:xfrm>
            <a:off x="7105650" y="937260"/>
            <a:ext cx="3048000" cy="1211580"/>
          </a:xfrm>
          <a:prstGeom prst="roundRect">
            <a:avLst>
              <a:gd name="adj" fmla="val 628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72" name="Text 157"/>
          <p:cNvSpPr/>
          <p:nvPr/>
        </p:nvSpPr>
        <p:spPr>
          <a:xfrm>
            <a:off x="7227570" y="1040130"/>
            <a:ext cx="28882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900" dirty="0"/>
          </a:p>
        </p:txBody>
      </p:sp>
      <p:sp>
        <p:nvSpPr>
          <p:cNvPr id="173" name="Shape 158"/>
          <p:cNvSpPr/>
          <p:nvPr/>
        </p:nvSpPr>
        <p:spPr>
          <a:xfrm>
            <a:off x="7227570" y="1276350"/>
            <a:ext cx="902613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174" name="Shape 159"/>
          <p:cNvSpPr/>
          <p:nvPr/>
        </p:nvSpPr>
        <p:spPr>
          <a:xfrm>
            <a:off x="7301865" y="1347788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5" name="Text 160"/>
          <p:cNvSpPr/>
          <p:nvPr/>
        </p:nvSpPr>
        <p:spPr>
          <a:xfrm>
            <a:off x="7397115" y="1303020"/>
            <a:ext cx="73497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</a:t>
            </a:r>
            <a:endParaRPr lang="en-US" sz="825" dirty="0"/>
          </a:p>
        </p:txBody>
      </p:sp>
      <p:sp>
        <p:nvSpPr>
          <p:cNvPr id="176" name="Text 161"/>
          <p:cNvSpPr/>
          <p:nvPr/>
        </p:nvSpPr>
        <p:spPr>
          <a:xfrm>
            <a:off x="8168283" y="1296353"/>
            <a:ext cx="161353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API (SaaS / identity / EDR)</a:t>
            </a:r>
            <a:endParaRPr lang="en-US" sz="900" dirty="0"/>
          </a:p>
        </p:txBody>
      </p:sp>
      <p:sp>
        <p:nvSpPr>
          <p:cNvPr id="177" name="Shape 162"/>
          <p:cNvSpPr/>
          <p:nvPr/>
        </p:nvSpPr>
        <p:spPr>
          <a:xfrm>
            <a:off x="7227570" y="1514475"/>
            <a:ext cx="967145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78" name="Shape 163"/>
          <p:cNvSpPr/>
          <p:nvPr/>
        </p:nvSpPr>
        <p:spPr>
          <a:xfrm>
            <a:off x="7301865" y="158591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79" name="Text 164"/>
          <p:cNvSpPr/>
          <p:nvPr/>
        </p:nvSpPr>
        <p:spPr>
          <a:xfrm>
            <a:off x="7397115" y="1541145"/>
            <a:ext cx="79950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enforce</a:t>
            </a:r>
            <a:endParaRPr lang="en-US" sz="825" dirty="0"/>
          </a:p>
        </p:txBody>
      </p:sp>
      <p:sp>
        <p:nvSpPr>
          <p:cNvPr id="180" name="Text 165"/>
          <p:cNvSpPr/>
          <p:nvPr/>
        </p:nvSpPr>
        <p:spPr>
          <a:xfrm>
            <a:off x="8232815" y="1534478"/>
            <a:ext cx="107049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+ KubeArmor</a:t>
            </a:r>
            <a:endParaRPr lang="en-US" sz="900" dirty="0"/>
          </a:p>
        </p:txBody>
      </p:sp>
      <p:sp>
        <p:nvSpPr>
          <p:cNvPr id="181" name="Text 166"/>
          <p:cNvSpPr/>
          <p:nvPr/>
        </p:nvSpPr>
        <p:spPr>
          <a:xfrm>
            <a:off x="7227570" y="1752600"/>
            <a:ext cx="288828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clearly distinct action types · enforce-green is visually heavier because it is stronger.</a:t>
            </a:r>
            <a:endParaRPr lang="en-US" sz="825" dirty="0"/>
          </a:p>
        </p:txBody>
      </p:sp>
      <p:sp>
        <p:nvSpPr>
          <p:cNvPr id="182" name="Shape 167"/>
          <p:cNvSpPr/>
          <p:nvPr/>
        </p:nvSpPr>
        <p:spPr>
          <a:xfrm>
            <a:off x="7105650" y="2225040"/>
            <a:ext cx="3048000" cy="1594485"/>
          </a:xfrm>
          <a:prstGeom prst="roundRect">
            <a:avLst>
              <a:gd name="adj" fmla="val 477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83" name="Text 168"/>
          <p:cNvSpPr/>
          <p:nvPr/>
        </p:nvSpPr>
        <p:spPr>
          <a:xfrm>
            <a:off x="7227570" y="2327910"/>
            <a:ext cx="28882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summary</a:t>
            </a:r>
            <a:endParaRPr lang="en-US" sz="900" dirty="0"/>
          </a:p>
        </p:txBody>
      </p:sp>
      <p:sp>
        <p:nvSpPr>
          <p:cNvPr id="184" name="Text 169"/>
          <p:cNvSpPr/>
          <p:nvPr/>
        </p:nvSpPr>
        <p:spPr>
          <a:xfrm>
            <a:off x="7227570" y="2587466"/>
            <a:ext cx="76211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affected</a:t>
            </a:r>
            <a:endParaRPr lang="en-US" sz="863" dirty="0"/>
          </a:p>
        </p:txBody>
      </p:sp>
      <p:sp>
        <p:nvSpPr>
          <p:cNvPr id="185" name="Shape 170"/>
          <p:cNvSpPr/>
          <p:nvPr/>
        </p:nvSpPr>
        <p:spPr>
          <a:xfrm>
            <a:off x="9747767" y="2564130"/>
            <a:ext cx="28396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6" name="Shape 171"/>
          <p:cNvSpPr/>
          <p:nvPr/>
        </p:nvSpPr>
        <p:spPr>
          <a:xfrm>
            <a:off x="9822061" y="263556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87" name="Text 172"/>
          <p:cNvSpPr/>
          <p:nvPr/>
        </p:nvSpPr>
        <p:spPr>
          <a:xfrm>
            <a:off x="9917311" y="2590800"/>
            <a:ext cx="11632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25" dirty="0"/>
          </a:p>
        </p:txBody>
      </p:sp>
      <p:sp>
        <p:nvSpPr>
          <p:cNvPr id="188" name="Text 173"/>
          <p:cNvSpPr/>
          <p:nvPr/>
        </p:nvSpPr>
        <p:spPr>
          <a:xfrm>
            <a:off x="7227570" y="2825591"/>
            <a:ext cx="56923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workloads</a:t>
            </a:r>
            <a:endParaRPr lang="en-US" sz="863" dirty="0"/>
          </a:p>
        </p:txBody>
      </p:sp>
      <p:sp>
        <p:nvSpPr>
          <p:cNvPr id="189" name="Shape 174"/>
          <p:cNvSpPr/>
          <p:nvPr/>
        </p:nvSpPr>
        <p:spPr>
          <a:xfrm>
            <a:off x="9347240" y="2802255"/>
            <a:ext cx="684490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90" name="Shape 175"/>
          <p:cNvSpPr/>
          <p:nvPr/>
        </p:nvSpPr>
        <p:spPr>
          <a:xfrm>
            <a:off x="9421535" y="287369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91" name="Text 176"/>
          <p:cNvSpPr/>
          <p:nvPr/>
        </p:nvSpPr>
        <p:spPr>
          <a:xfrm>
            <a:off x="9516785" y="2828925"/>
            <a:ext cx="5168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kernel</a:t>
            </a:r>
            <a:endParaRPr lang="en-US" sz="825" dirty="0"/>
          </a:p>
        </p:txBody>
      </p:sp>
      <p:sp>
        <p:nvSpPr>
          <p:cNvPr id="192" name="Text 177"/>
          <p:cNvSpPr/>
          <p:nvPr/>
        </p:nvSpPr>
        <p:spPr>
          <a:xfrm>
            <a:off x="7227570" y="3063716"/>
            <a:ext cx="611981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apps</a:t>
            </a:r>
            <a:endParaRPr lang="en-US" sz="863" dirty="0"/>
          </a:p>
        </p:txBody>
      </p:sp>
      <p:sp>
        <p:nvSpPr>
          <p:cNvPr id="193" name="Shape 178"/>
          <p:cNvSpPr/>
          <p:nvPr/>
        </p:nvSpPr>
        <p:spPr>
          <a:xfrm>
            <a:off x="9723954" y="3040380"/>
            <a:ext cx="307777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194" name="Shape 179"/>
          <p:cNvSpPr/>
          <p:nvPr/>
        </p:nvSpPr>
        <p:spPr>
          <a:xfrm>
            <a:off x="9798248" y="3111818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5" name="Text 180"/>
          <p:cNvSpPr/>
          <p:nvPr/>
        </p:nvSpPr>
        <p:spPr>
          <a:xfrm>
            <a:off x="9893498" y="3067050"/>
            <a:ext cx="14013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5" dirty="0"/>
          </a:p>
        </p:txBody>
      </p:sp>
      <p:sp>
        <p:nvSpPr>
          <p:cNvPr id="196" name="Text 181"/>
          <p:cNvSpPr/>
          <p:nvPr/>
        </p:nvSpPr>
        <p:spPr>
          <a:xfrm>
            <a:off x="7227570" y="3301841"/>
            <a:ext cx="84308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steps</a:t>
            </a:r>
            <a:endParaRPr lang="en-US" sz="863" dirty="0"/>
          </a:p>
        </p:txBody>
      </p:sp>
      <p:sp>
        <p:nvSpPr>
          <p:cNvPr id="197" name="Shape 182"/>
          <p:cNvSpPr/>
          <p:nvPr/>
        </p:nvSpPr>
        <p:spPr>
          <a:xfrm>
            <a:off x="9515952" y="3278505"/>
            <a:ext cx="515779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98" name="Shape 183"/>
          <p:cNvSpPr/>
          <p:nvPr/>
        </p:nvSpPr>
        <p:spPr>
          <a:xfrm>
            <a:off x="9590246" y="334994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99" name="Text 184"/>
          <p:cNvSpPr/>
          <p:nvPr/>
        </p:nvSpPr>
        <p:spPr>
          <a:xfrm>
            <a:off x="9685496" y="3305175"/>
            <a:ext cx="34813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6</a:t>
            </a:r>
            <a:endParaRPr lang="en-US" sz="825" dirty="0"/>
          </a:p>
        </p:txBody>
      </p:sp>
      <p:sp>
        <p:nvSpPr>
          <p:cNvPr id="200" name="Text 185"/>
          <p:cNvSpPr/>
          <p:nvPr/>
        </p:nvSpPr>
        <p:spPr>
          <a:xfrm>
            <a:off x="7227570" y="3539966"/>
            <a:ext cx="812721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radius cut</a:t>
            </a:r>
            <a:endParaRPr lang="en-US" sz="863" dirty="0"/>
          </a:p>
        </p:txBody>
      </p:sp>
      <p:sp>
        <p:nvSpPr>
          <p:cNvPr id="201" name="Shape 186"/>
          <p:cNvSpPr/>
          <p:nvPr/>
        </p:nvSpPr>
        <p:spPr>
          <a:xfrm>
            <a:off x="9476423" y="3516630"/>
            <a:ext cx="5553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02" name="Shape 187"/>
          <p:cNvSpPr/>
          <p:nvPr/>
        </p:nvSpPr>
        <p:spPr>
          <a:xfrm>
            <a:off x="9550718" y="358806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03" name="Text 188"/>
          <p:cNvSpPr/>
          <p:nvPr/>
        </p:nvSpPr>
        <p:spPr>
          <a:xfrm>
            <a:off x="9645968" y="3543300"/>
            <a:ext cx="38766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78%</a:t>
            </a:r>
            <a:endParaRPr lang="en-US" sz="825" dirty="0"/>
          </a:p>
        </p:txBody>
      </p:sp>
      <p:sp>
        <p:nvSpPr>
          <p:cNvPr id="204" name="Shape 189"/>
          <p:cNvSpPr/>
          <p:nvPr/>
        </p:nvSpPr>
        <p:spPr>
          <a:xfrm>
            <a:off x="7105650" y="3895725"/>
            <a:ext cx="3048000" cy="796290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5" name="Text 190"/>
          <p:cNvSpPr/>
          <p:nvPr/>
        </p:nvSpPr>
        <p:spPr>
          <a:xfrm>
            <a:off x="7227570" y="3998595"/>
            <a:ext cx="28882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used</a:t>
            </a:r>
            <a:endParaRPr lang="en-US" sz="900" dirty="0"/>
          </a:p>
        </p:txBody>
      </p:sp>
      <p:sp>
        <p:nvSpPr>
          <p:cNvPr id="206" name="Text 191"/>
          <p:cNvSpPr/>
          <p:nvPr/>
        </p:nvSpPr>
        <p:spPr>
          <a:xfrm>
            <a:off x="7227570" y="4234815"/>
            <a:ext cx="2888285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1, 2, 6 ran autonomously per policy · 9s ago. steps 3, 4, 5 wait for your nod.</a:t>
            </a:r>
            <a:endParaRPr lang="en-US" sz="863" dirty="0"/>
          </a:p>
        </p:txBody>
      </p:sp>
      <p:sp>
        <p:nvSpPr>
          <p:cNvPr id="207" name="Shape 192"/>
          <p:cNvSpPr/>
          <p:nvPr/>
        </p:nvSpPr>
        <p:spPr>
          <a:xfrm>
            <a:off x="7227570" y="4541520"/>
            <a:ext cx="2804160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08" name="Shape 193"/>
          <p:cNvSpPr/>
          <p:nvPr/>
        </p:nvSpPr>
        <p:spPr>
          <a:xfrm>
            <a:off x="7227570" y="4541520"/>
            <a:ext cx="1402080" cy="4762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6667500"/>
          </a:xfrm>
          <a:prstGeom prst="rect">
            <a:avLst/>
          </a:prstGeom>
          <a:solidFill>
            <a:srgbClr val="000000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287000" cy="3848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33400" cy="38481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525780" y="0"/>
            <a:ext cx="9525" cy="38481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20015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" y="600075"/>
            <a:ext cx="171450" cy="1714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962025"/>
            <a:ext cx="171450" cy="1714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" y="12382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" y="1323975"/>
            <a:ext cx="171450" cy="17145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" y="1685925"/>
            <a:ext cx="171450" cy="17145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" y="2047875"/>
            <a:ext cx="171450" cy="171450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2409825"/>
            <a:ext cx="171450" cy="171450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" y="2771775"/>
            <a:ext cx="171450" cy="171450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" y="3133725"/>
            <a:ext cx="171450" cy="171450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" y="3495675"/>
            <a:ext cx="171450" cy="171450"/>
          </a:xfrm>
          <a:prstGeom prst="rect">
            <a:avLst/>
          </a:prstGeom>
        </p:spPr>
      </p:pic>
      <p:sp>
        <p:nvSpPr>
          <p:cNvPr id="18" name="Shape 7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8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9"/>
          <p:cNvSpPr/>
          <p:nvPr/>
        </p:nvSpPr>
        <p:spPr>
          <a:xfrm>
            <a:off x="685800" y="131445"/>
            <a:ext cx="852249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#4129</a:t>
            </a:r>
            <a:endParaRPr lang="en-US" sz="1050" dirty="0"/>
          </a:p>
        </p:txBody>
      </p:sp>
      <p:sp>
        <p:nvSpPr>
          <p:cNvPr id="21" name="Shape 10"/>
          <p:cNvSpPr/>
          <p:nvPr/>
        </p:nvSpPr>
        <p:spPr>
          <a:xfrm>
            <a:off x="1614249" y="74295"/>
            <a:ext cx="5876687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7120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1888570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7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1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0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0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1" y="107633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8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33909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Shape 22"/>
          <p:cNvSpPr/>
          <p:nvPr/>
        </p:nvSpPr>
        <p:spPr>
          <a:xfrm>
            <a:off x="666750" y="590550"/>
            <a:ext cx="9486900" cy="775335"/>
          </a:xfrm>
          <a:prstGeom prst="roundRect">
            <a:avLst>
              <a:gd name="adj" fmla="val 982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8" name="Text 23"/>
          <p:cNvSpPr/>
          <p:nvPr/>
        </p:nvSpPr>
        <p:spPr>
          <a:xfrm>
            <a:off x="788670" y="693420"/>
            <a:ext cx="952035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plan</a:t>
            </a:r>
            <a:endParaRPr lang="en-US" sz="900" dirty="0"/>
          </a:p>
        </p:txBody>
      </p:sp>
      <p:sp>
        <p:nvSpPr>
          <p:cNvPr id="39" name="Shape 24"/>
          <p:cNvSpPr/>
          <p:nvPr/>
        </p:nvSpPr>
        <p:spPr>
          <a:xfrm>
            <a:off x="788670" y="929640"/>
            <a:ext cx="8318659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40" name="Shape 25"/>
          <p:cNvSpPr/>
          <p:nvPr/>
        </p:nvSpPr>
        <p:spPr>
          <a:xfrm>
            <a:off x="788670" y="1024890"/>
            <a:ext cx="6470095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41" name="Shape 26"/>
          <p:cNvSpPr/>
          <p:nvPr/>
        </p:nvSpPr>
        <p:spPr>
          <a:xfrm>
            <a:off x="788670" y="1120140"/>
            <a:ext cx="4621530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42" name="Shape 27"/>
          <p:cNvSpPr/>
          <p:nvPr/>
        </p:nvSpPr>
        <p:spPr>
          <a:xfrm>
            <a:off x="788670" y="1215390"/>
            <a:ext cx="8318659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43" name="Shape 28"/>
          <p:cNvSpPr/>
          <p:nvPr/>
        </p:nvSpPr>
        <p:spPr>
          <a:xfrm>
            <a:off x="666750" y="1461135"/>
            <a:ext cx="9486900" cy="965835"/>
          </a:xfrm>
          <a:prstGeom prst="roundRect">
            <a:avLst>
              <a:gd name="adj" fmla="val 789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8670" y="1582103"/>
            <a:ext cx="123825" cy="123825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960120" y="1571625"/>
            <a:ext cx="5887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46" name="Shape 30"/>
          <p:cNvSpPr/>
          <p:nvPr/>
        </p:nvSpPr>
        <p:spPr>
          <a:xfrm>
            <a:off x="788670" y="1800225"/>
            <a:ext cx="8318659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47" name="Shape 31"/>
          <p:cNvSpPr/>
          <p:nvPr/>
        </p:nvSpPr>
        <p:spPr>
          <a:xfrm>
            <a:off x="788670" y="1895475"/>
            <a:ext cx="6470095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48" name="Shape 32"/>
          <p:cNvSpPr/>
          <p:nvPr/>
        </p:nvSpPr>
        <p:spPr>
          <a:xfrm>
            <a:off x="788670" y="1990725"/>
            <a:ext cx="4621530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49" name="Shape 33"/>
          <p:cNvSpPr/>
          <p:nvPr/>
        </p:nvSpPr>
        <p:spPr>
          <a:xfrm>
            <a:off x="788670" y="2085975"/>
            <a:ext cx="8318659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50" name="Shape 34"/>
          <p:cNvSpPr/>
          <p:nvPr/>
        </p:nvSpPr>
        <p:spPr>
          <a:xfrm>
            <a:off x="788670" y="2181225"/>
            <a:ext cx="8318659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51" name="Shape 35"/>
          <p:cNvSpPr/>
          <p:nvPr/>
        </p:nvSpPr>
        <p:spPr>
          <a:xfrm>
            <a:off x="788670" y="2276475"/>
            <a:ext cx="8318659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52" name="Shape 36"/>
          <p:cNvSpPr/>
          <p:nvPr/>
        </p:nvSpPr>
        <p:spPr>
          <a:xfrm>
            <a:off x="2190750" y="1663065"/>
            <a:ext cx="5905500" cy="3341370"/>
          </a:xfrm>
          <a:prstGeom prst="roundRect">
            <a:avLst>
              <a:gd name="adj" fmla="val 228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3" name="Text 37"/>
          <p:cNvSpPr/>
          <p:nvPr/>
        </p:nvSpPr>
        <p:spPr>
          <a:xfrm>
            <a:off x="2369820" y="1848803"/>
            <a:ext cx="995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ACTION</a:t>
            </a:r>
            <a:endParaRPr lang="en-US" sz="750" dirty="0"/>
          </a:p>
        </p:txBody>
      </p:sp>
      <p:sp>
        <p:nvSpPr>
          <p:cNvPr id="54" name="Text 38"/>
          <p:cNvSpPr/>
          <p:nvPr/>
        </p:nvSpPr>
        <p:spPr>
          <a:xfrm>
            <a:off x="7375327" y="1842135"/>
            <a:ext cx="61805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#4129</a:t>
            </a:r>
            <a:endParaRPr lang="en-US" sz="825" dirty="0"/>
          </a:p>
        </p:txBody>
      </p:sp>
      <p:sp>
        <p:nvSpPr>
          <p:cNvPr id="55" name="Text 39"/>
          <p:cNvSpPr/>
          <p:nvPr/>
        </p:nvSpPr>
        <p:spPr>
          <a:xfrm>
            <a:off x="2369820" y="2026920"/>
            <a:ext cx="57137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outbound 198.51.x at the kernel</a:t>
            </a:r>
            <a:endParaRPr lang="en-US" sz="1125" dirty="0"/>
          </a:p>
        </p:txBody>
      </p:sp>
      <p:sp>
        <p:nvSpPr>
          <p:cNvPr id="56" name="Text 40"/>
          <p:cNvSpPr/>
          <p:nvPr/>
        </p:nvSpPr>
        <p:spPr>
          <a:xfrm>
            <a:off x="2369820" y="2226945"/>
            <a:ext cx="5713781" cy="215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KubeArmor on pod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analytics-3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policy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kc-fin-egress.v3</a:t>
            </a:r>
            <a:endParaRPr lang="en-US" sz="975" dirty="0"/>
          </a:p>
        </p:txBody>
      </p:sp>
      <p:sp>
        <p:nvSpPr>
          <p:cNvPr id="57" name="Shape 41"/>
          <p:cNvSpPr/>
          <p:nvPr/>
        </p:nvSpPr>
        <p:spPr>
          <a:xfrm>
            <a:off x="2369820" y="2518410"/>
            <a:ext cx="5547360" cy="731520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8" name="Text 42"/>
          <p:cNvSpPr/>
          <p:nvPr/>
        </p:nvSpPr>
        <p:spPr>
          <a:xfrm>
            <a:off x="2472690" y="2621280"/>
            <a:ext cx="550186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HAPPEN</a:t>
            </a:r>
            <a:endParaRPr lang="en-US" sz="750" dirty="0"/>
          </a:p>
        </p:txBody>
      </p:sp>
      <p:sp>
        <p:nvSpPr>
          <p:cNvPr id="59" name="Text 43"/>
          <p:cNvSpPr/>
          <p:nvPr/>
        </p:nvSpPr>
        <p:spPr>
          <a:xfrm>
            <a:off x="2472690" y="2773680"/>
            <a:ext cx="550186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program rejects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connect()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198.51.0.0/16 from pod analytics-3. The pod stays up; only that destination is blocked.</a:t>
            </a:r>
            <a:endParaRPr lang="en-US" sz="1050" dirty="0"/>
          </a:p>
        </p:txBody>
      </p:sp>
      <p:sp>
        <p:nvSpPr>
          <p:cNvPr id="60" name="Shape 44"/>
          <p:cNvSpPr/>
          <p:nvPr/>
        </p:nvSpPr>
        <p:spPr>
          <a:xfrm>
            <a:off x="2369820" y="3345180"/>
            <a:ext cx="1798320" cy="539115"/>
          </a:xfrm>
          <a:prstGeom prst="roundRect">
            <a:avLst>
              <a:gd name="adj" fmla="val 1413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1" name="Text 45"/>
          <p:cNvSpPr/>
          <p:nvPr/>
        </p:nvSpPr>
        <p:spPr>
          <a:xfrm>
            <a:off x="2491740" y="3448050"/>
            <a:ext cx="163068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750" dirty="0"/>
          </a:p>
        </p:txBody>
      </p:sp>
      <p:sp>
        <p:nvSpPr>
          <p:cNvPr id="62" name="Text 46"/>
          <p:cNvSpPr/>
          <p:nvPr/>
        </p:nvSpPr>
        <p:spPr>
          <a:xfrm>
            <a:off x="2491740" y="3581400"/>
            <a:ext cx="163068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pod · 1 dest</a:t>
            </a:r>
            <a:endParaRPr lang="en-US" sz="975" dirty="0"/>
          </a:p>
        </p:txBody>
      </p:sp>
      <p:sp>
        <p:nvSpPr>
          <p:cNvPr id="63" name="Shape 47"/>
          <p:cNvSpPr/>
          <p:nvPr/>
        </p:nvSpPr>
        <p:spPr>
          <a:xfrm>
            <a:off x="4244340" y="3345180"/>
            <a:ext cx="1798320" cy="539115"/>
          </a:xfrm>
          <a:prstGeom prst="roundRect">
            <a:avLst>
              <a:gd name="adj" fmla="val 1413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4" name="Text 48"/>
          <p:cNvSpPr/>
          <p:nvPr/>
        </p:nvSpPr>
        <p:spPr>
          <a:xfrm>
            <a:off x="4366260" y="3448050"/>
            <a:ext cx="163068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</a:t>
            </a:r>
            <a:endParaRPr lang="en-US" sz="750" dirty="0"/>
          </a:p>
        </p:txBody>
      </p:sp>
      <p:sp>
        <p:nvSpPr>
          <p:cNvPr id="65" name="Shape 49"/>
          <p:cNvSpPr/>
          <p:nvPr/>
        </p:nvSpPr>
        <p:spPr>
          <a:xfrm>
            <a:off x="4366260" y="3581400"/>
            <a:ext cx="1205746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66" name="Shape 50"/>
          <p:cNvSpPr/>
          <p:nvPr/>
        </p:nvSpPr>
        <p:spPr>
          <a:xfrm>
            <a:off x="4440556" y="365283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67" name="Text 51"/>
          <p:cNvSpPr/>
          <p:nvPr/>
        </p:nvSpPr>
        <p:spPr>
          <a:xfrm>
            <a:off x="4535806" y="3608070"/>
            <a:ext cx="10381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· 1 click rollback</a:t>
            </a:r>
            <a:endParaRPr lang="en-US" sz="825" dirty="0"/>
          </a:p>
        </p:txBody>
      </p:sp>
      <p:sp>
        <p:nvSpPr>
          <p:cNvPr id="68" name="Shape 52"/>
          <p:cNvSpPr/>
          <p:nvPr/>
        </p:nvSpPr>
        <p:spPr>
          <a:xfrm>
            <a:off x="6118860" y="3345180"/>
            <a:ext cx="1798320" cy="539115"/>
          </a:xfrm>
          <a:prstGeom prst="roundRect">
            <a:avLst>
              <a:gd name="adj" fmla="val 1413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9" name="Text 53"/>
          <p:cNvSpPr/>
          <p:nvPr/>
        </p:nvSpPr>
        <p:spPr>
          <a:xfrm>
            <a:off x="6240781" y="3448050"/>
            <a:ext cx="163068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RADIUS AFTER</a:t>
            </a:r>
            <a:endParaRPr lang="en-US" sz="750" dirty="0"/>
          </a:p>
        </p:txBody>
      </p:sp>
      <p:sp>
        <p:nvSpPr>
          <p:cNvPr id="70" name="Shape 54"/>
          <p:cNvSpPr/>
          <p:nvPr/>
        </p:nvSpPr>
        <p:spPr>
          <a:xfrm>
            <a:off x="6240781" y="3581400"/>
            <a:ext cx="865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315075" y="365283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72" name="Text 56"/>
          <p:cNvSpPr/>
          <p:nvPr/>
        </p:nvSpPr>
        <p:spPr>
          <a:xfrm>
            <a:off x="6410325" y="3608070"/>
            <a:ext cx="698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by ~78%</a:t>
            </a:r>
            <a:endParaRPr lang="en-US" sz="825" dirty="0"/>
          </a:p>
        </p:txBody>
      </p:sp>
      <p:sp>
        <p:nvSpPr>
          <p:cNvPr id="73" name="Shape 57"/>
          <p:cNvSpPr/>
          <p:nvPr/>
        </p:nvSpPr>
        <p:spPr>
          <a:xfrm>
            <a:off x="2369820" y="3979545"/>
            <a:ext cx="5547360" cy="461010"/>
          </a:xfrm>
          <a:prstGeom prst="roundRect">
            <a:avLst>
              <a:gd name="adj" fmla="val 16529"/>
            </a:avLst>
          </a:prstGeom>
          <a:solidFill>
            <a:srgbClr val="FFB020">
              <a:alpha val="12000"/>
            </a:srgbClr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4" name="Text 58"/>
          <p:cNvSpPr/>
          <p:nvPr/>
        </p:nvSpPr>
        <p:spPr>
          <a:xfrm>
            <a:off x="2453640" y="4063365"/>
            <a:ext cx="554111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7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SECOND-ORDER</a:t>
            </a:r>
            <a:endParaRPr lang="en-US" sz="750" dirty="0"/>
          </a:p>
        </p:txBody>
      </p:sp>
      <p:sp>
        <p:nvSpPr>
          <p:cNvPr id="75" name="Text 59"/>
          <p:cNvSpPr/>
          <p:nvPr/>
        </p:nvSpPr>
        <p:spPr>
          <a:xfrm>
            <a:off x="2453640" y="4196715"/>
            <a:ext cx="554111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legitimate jobs may take +30s to retry. dry-run found 0 hard failures.</a:t>
            </a:r>
            <a:endParaRPr lang="en-US" sz="900" dirty="0"/>
          </a:p>
        </p:txBody>
      </p:sp>
      <p:sp>
        <p:nvSpPr>
          <p:cNvPr id="76" name="Text 60"/>
          <p:cNvSpPr/>
          <p:nvPr/>
        </p:nvSpPr>
        <p:spPr>
          <a:xfrm>
            <a:off x="2369820" y="4626293"/>
            <a:ext cx="225421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auto-revert in 60 min if not confirmed long-term</a:t>
            </a:r>
            <a:endParaRPr lang="en-US" sz="825" dirty="0"/>
          </a:p>
        </p:txBody>
      </p:sp>
      <p:sp>
        <p:nvSpPr>
          <p:cNvPr id="77" name="Shape 61"/>
          <p:cNvSpPr/>
          <p:nvPr/>
        </p:nvSpPr>
        <p:spPr>
          <a:xfrm>
            <a:off x="4669274" y="4573905"/>
            <a:ext cx="572095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8" name="Text 62"/>
          <p:cNvSpPr/>
          <p:nvPr/>
        </p:nvSpPr>
        <p:spPr>
          <a:xfrm>
            <a:off x="4772145" y="4619625"/>
            <a:ext cx="44255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endParaRPr lang="en-US" sz="900" dirty="0"/>
          </a:p>
        </p:txBody>
      </p:sp>
      <p:sp>
        <p:nvSpPr>
          <p:cNvPr id="79" name="Shape 63"/>
          <p:cNvSpPr/>
          <p:nvPr/>
        </p:nvSpPr>
        <p:spPr>
          <a:xfrm>
            <a:off x="5298520" y="4573905"/>
            <a:ext cx="938808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0" name="Text 64"/>
          <p:cNvSpPr/>
          <p:nvPr/>
        </p:nvSpPr>
        <p:spPr>
          <a:xfrm>
            <a:off x="5401390" y="4619625"/>
            <a:ext cx="809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again</a:t>
            </a:r>
            <a:endParaRPr lang="en-US" sz="900" dirty="0"/>
          </a:p>
        </p:txBody>
      </p:sp>
      <p:sp>
        <p:nvSpPr>
          <p:cNvPr id="81" name="Shape 65"/>
          <p:cNvSpPr/>
          <p:nvPr/>
        </p:nvSpPr>
        <p:spPr>
          <a:xfrm>
            <a:off x="6294477" y="4573905"/>
            <a:ext cx="1622703" cy="251460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82" name="Text 66"/>
          <p:cNvSpPr/>
          <p:nvPr/>
        </p:nvSpPr>
        <p:spPr>
          <a:xfrm>
            <a:off x="6397348" y="4619625"/>
            <a:ext cx="149316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· enforce at kernel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1" y="12382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56210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Out-of-band approval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247900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355891" y="144780"/>
            <a:ext cx="172807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responders where they live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4160162" y="74295"/>
            <a:ext cx="3330773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3033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434483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6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1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0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0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1" y="107633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8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590550"/>
            <a:ext cx="376953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in Slack · Teams · email</a:t>
            </a:r>
            <a:endParaRPr lang="en-US" sz="1350" dirty="0"/>
          </a:p>
        </p:txBody>
      </p:sp>
      <p:sp>
        <p:nvSpPr>
          <p:cNvPr id="38" name="Text 23"/>
          <p:cNvSpPr/>
          <p:nvPr/>
        </p:nvSpPr>
        <p:spPr>
          <a:xfrm>
            <a:off x="666750" y="796290"/>
            <a:ext cx="3769535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context to decide in-channel. full reasoning one click away.</a:t>
            </a:r>
            <a:endParaRPr lang="en-US" sz="975" dirty="0"/>
          </a:p>
        </p:txBody>
      </p:sp>
      <p:sp>
        <p:nvSpPr>
          <p:cNvPr id="39" name="Shape 24"/>
          <p:cNvSpPr/>
          <p:nvPr/>
        </p:nvSpPr>
        <p:spPr>
          <a:xfrm>
            <a:off x="8443080" y="680085"/>
            <a:ext cx="518279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40" name="Shape 25"/>
          <p:cNvSpPr/>
          <p:nvPr/>
        </p:nvSpPr>
        <p:spPr>
          <a:xfrm>
            <a:off x="8517375" y="751523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26"/>
          <p:cNvSpPr/>
          <p:nvPr/>
        </p:nvSpPr>
        <p:spPr>
          <a:xfrm>
            <a:off x="8612625" y="706755"/>
            <a:ext cx="35063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825" dirty="0"/>
          </a:p>
        </p:txBody>
      </p:sp>
      <p:sp>
        <p:nvSpPr>
          <p:cNvPr id="42" name="Shape 27"/>
          <p:cNvSpPr/>
          <p:nvPr/>
        </p:nvSpPr>
        <p:spPr>
          <a:xfrm>
            <a:off x="9018508" y="680085"/>
            <a:ext cx="56423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3" name="Shape 28"/>
          <p:cNvSpPr/>
          <p:nvPr/>
        </p:nvSpPr>
        <p:spPr>
          <a:xfrm>
            <a:off x="9092803" y="75152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4" name="Text 29"/>
          <p:cNvSpPr/>
          <p:nvPr/>
        </p:nvSpPr>
        <p:spPr>
          <a:xfrm>
            <a:off x="9188053" y="706755"/>
            <a:ext cx="39659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825" dirty="0"/>
          </a:p>
        </p:txBody>
      </p:sp>
      <p:sp>
        <p:nvSpPr>
          <p:cNvPr id="45" name="Shape 30"/>
          <p:cNvSpPr/>
          <p:nvPr/>
        </p:nvSpPr>
        <p:spPr>
          <a:xfrm>
            <a:off x="9639895" y="680085"/>
            <a:ext cx="51375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6" name="Shape 31"/>
          <p:cNvSpPr/>
          <p:nvPr/>
        </p:nvSpPr>
        <p:spPr>
          <a:xfrm>
            <a:off x="9714191" y="75152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7" name="Text 32"/>
          <p:cNvSpPr/>
          <p:nvPr/>
        </p:nvSpPr>
        <p:spPr>
          <a:xfrm>
            <a:off x="9809441" y="706755"/>
            <a:ext cx="34611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825" dirty="0"/>
          </a:p>
        </p:txBody>
      </p:sp>
      <p:sp>
        <p:nvSpPr>
          <p:cNvPr id="48" name="Shape 33"/>
          <p:cNvSpPr/>
          <p:nvPr/>
        </p:nvSpPr>
        <p:spPr>
          <a:xfrm>
            <a:off x="666750" y="1064895"/>
            <a:ext cx="4909423" cy="5469255"/>
          </a:xfrm>
          <a:prstGeom prst="roundRect">
            <a:avLst>
              <a:gd name="adj" fmla="val 155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9" name="Shape 34"/>
          <p:cNvSpPr/>
          <p:nvPr/>
        </p:nvSpPr>
        <p:spPr>
          <a:xfrm>
            <a:off x="674370" y="1072515"/>
            <a:ext cx="4894183" cy="325755"/>
          </a:xfrm>
          <a:prstGeom prst="rect">
            <a:avLst/>
          </a:prstGeom>
          <a:solidFill>
            <a:srgbClr val="3F0E40"/>
          </a:solidFill>
          <a:ln/>
        </p:spPr>
      </p:sp>
      <p:sp>
        <p:nvSpPr>
          <p:cNvPr id="50" name="Shape 35"/>
          <p:cNvSpPr/>
          <p:nvPr/>
        </p:nvSpPr>
        <p:spPr>
          <a:xfrm>
            <a:off x="788670" y="114966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51" name="Text 36"/>
          <p:cNvSpPr/>
          <p:nvPr/>
        </p:nvSpPr>
        <p:spPr>
          <a:xfrm>
            <a:off x="822008" y="1155382"/>
            <a:ext cx="18085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3F0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900" dirty="0"/>
          </a:p>
        </p:txBody>
      </p:sp>
      <p:sp>
        <p:nvSpPr>
          <p:cNvPr id="52" name="Text 37"/>
          <p:cNvSpPr/>
          <p:nvPr/>
        </p:nvSpPr>
        <p:spPr>
          <a:xfrm>
            <a:off x="1036320" y="1148715"/>
            <a:ext cx="108823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soc-approvals</a:t>
            </a:r>
            <a:endParaRPr lang="en-US" sz="975" dirty="0"/>
          </a:p>
        </p:txBody>
      </p:sp>
      <p:sp>
        <p:nvSpPr>
          <p:cNvPr id="53" name="Text 38"/>
          <p:cNvSpPr/>
          <p:nvPr/>
        </p:nvSpPr>
        <p:spPr>
          <a:xfrm>
            <a:off x="4890374" y="1162050"/>
            <a:ext cx="6400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members</a:t>
            </a:r>
            <a:endParaRPr lang="en-US" sz="825" dirty="0"/>
          </a:p>
        </p:txBody>
      </p:sp>
      <p:sp>
        <p:nvSpPr>
          <p:cNvPr id="54" name="Shape 39"/>
          <p:cNvSpPr/>
          <p:nvPr/>
        </p:nvSpPr>
        <p:spPr>
          <a:xfrm>
            <a:off x="807720" y="1531620"/>
            <a:ext cx="168831" cy="304800"/>
          </a:xfrm>
          <a:prstGeom prst="roundRect">
            <a:avLst>
              <a:gd name="adj" fmla="val 33850"/>
            </a:avLst>
          </a:prstGeom>
          <a:solidFill>
            <a:srgbClr val="1F1F1F"/>
          </a:solidFill>
          <a:ln/>
        </p:spPr>
      </p:sp>
      <p:sp>
        <p:nvSpPr>
          <p:cNvPr id="55" name="Text 40"/>
          <p:cNvSpPr/>
          <p:nvPr/>
        </p:nvSpPr>
        <p:spPr>
          <a:xfrm>
            <a:off x="807720" y="1597343"/>
            <a:ext cx="24503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FD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sp>
        <p:nvSpPr>
          <p:cNvPr id="56" name="Text 41"/>
          <p:cNvSpPr/>
          <p:nvPr/>
        </p:nvSpPr>
        <p:spPr>
          <a:xfrm>
            <a:off x="1033702" y="1531620"/>
            <a:ext cx="1194554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D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AccuKnox AI-SOC</a:t>
            </a:r>
            <a:endParaRPr lang="en-US" sz="975" dirty="0"/>
          </a:p>
        </p:txBody>
      </p:sp>
      <p:sp>
        <p:nvSpPr>
          <p:cNvPr id="57" name="Shape 42"/>
          <p:cNvSpPr/>
          <p:nvPr/>
        </p:nvSpPr>
        <p:spPr>
          <a:xfrm>
            <a:off x="2209205" y="1551622"/>
            <a:ext cx="285869" cy="133350"/>
          </a:xfrm>
          <a:prstGeom prst="roundRect">
            <a:avLst>
              <a:gd name="adj" fmla="val 21429"/>
            </a:avLst>
          </a:prstGeom>
          <a:solidFill>
            <a:srgbClr val="EEEEEE"/>
          </a:solidFill>
          <a:ln/>
        </p:spPr>
      </p:sp>
      <p:sp>
        <p:nvSpPr>
          <p:cNvPr id="58" name="Text 43"/>
          <p:cNvSpPr/>
          <p:nvPr/>
        </p:nvSpPr>
        <p:spPr>
          <a:xfrm>
            <a:off x="2256830" y="1551622"/>
            <a:ext cx="2668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1D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750" dirty="0"/>
          </a:p>
        </p:txBody>
      </p:sp>
      <p:sp>
        <p:nvSpPr>
          <p:cNvPr id="59" name="Text 44"/>
          <p:cNvSpPr/>
          <p:nvPr/>
        </p:nvSpPr>
        <p:spPr>
          <a:xfrm>
            <a:off x="2552223" y="1544955"/>
            <a:ext cx="46648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1:14 PM</a:t>
            </a:r>
            <a:endParaRPr lang="en-US" sz="825" dirty="0"/>
          </a:p>
        </p:txBody>
      </p:sp>
      <p:sp>
        <p:nvSpPr>
          <p:cNvPr id="60" name="Shape 45"/>
          <p:cNvSpPr/>
          <p:nvPr/>
        </p:nvSpPr>
        <p:spPr>
          <a:xfrm>
            <a:off x="1033702" y="1762125"/>
            <a:ext cx="4401503" cy="1558290"/>
          </a:xfrm>
          <a:prstGeom prst="roundRect">
            <a:avLst>
              <a:gd name="adj" fmla="val 2445"/>
            </a:avLst>
          </a:prstGeom>
          <a:solidFill>
            <a:srgbClr val="FFF7E0"/>
          </a:solidFill>
          <a:ln/>
        </p:spPr>
      </p:sp>
      <p:sp>
        <p:nvSpPr>
          <p:cNvPr id="61" name="Shape 46"/>
          <p:cNvSpPr/>
          <p:nvPr/>
        </p:nvSpPr>
        <p:spPr>
          <a:xfrm>
            <a:off x="1033702" y="1762125"/>
            <a:ext cx="38100" cy="155829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2" name="Text 47"/>
          <p:cNvSpPr/>
          <p:nvPr/>
        </p:nvSpPr>
        <p:spPr>
          <a:xfrm>
            <a:off x="1167052" y="1857375"/>
            <a:ext cx="429809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D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approval needed · case #4129</a:t>
            </a:r>
            <a:endParaRPr lang="en-US" sz="1200" dirty="0"/>
          </a:p>
        </p:txBody>
      </p:sp>
      <p:sp>
        <p:nvSpPr>
          <p:cNvPr id="63" name="Text 48"/>
          <p:cNvSpPr/>
          <p:nvPr/>
        </p:nvSpPr>
        <p:spPr>
          <a:xfrm>
            <a:off x="1167052" y="2108835"/>
            <a:ext cx="429809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→ MFA spam → S3 mass GET on</a:t>
            </a:r>
            <a:pPr algn="l" indent="0" marL="0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acme-finance-bkt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Agent recommends blocking egress to 198.51.x at the kernel on pod analytics-3.</a:t>
            </a:r>
            <a:endParaRPr lang="en-US" sz="975" dirty="0"/>
          </a:p>
        </p:txBody>
      </p:sp>
      <p:sp>
        <p:nvSpPr>
          <p:cNvPr id="64" name="Text 49"/>
          <p:cNvSpPr/>
          <p:nvPr/>
        </p:nvSpPr>
        <p:spPr>
          <a:xfrm>
            <a:off x="1167052" y="2531745"/>
            <a:ext cx="14163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</a:t>
            </a:r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863" dirty="0"/>
          </a:p>
        </p:txBody>
      </p:sp>
      <p:sp>
        <p:nvSpPr>
          <p:cNvPr id="65" name="Text 50"/>
          <p:cNvSpPr/>
          <p:nvPr/>
        </p:nvSpPr>
        <p:spPr>
          <a:xfrm>
            <a:off x="2583419" y="2531745"/>
            <a:ext cx="14163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</a:t>
            </a:r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pod · 1 dest</a:t>
            </a:r>
            <a:endParaRPr lang="en-US" sz="863" dirty="0"/>
          </a:p>
        </p:txBody>
      </p:sp>
      <p:sp>
        <p:nvSpPr>
          <p:cNvPr id="66" name="Text 51"/>
          <p:cNvSpPr/>
          <p:nvPr/>
        </p:nvSpPr>
        <p:spPr>
          <a:xfrm>
            <a:off x="3999786" y="2531745"/>
            <a:ext cx="14163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</a:t>
            </a:r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63" dirty="0"/>
          </a:p>
        </p:txBody>
      </p:sp>
      <p:sp>
        <p:nvSpPr>
          <p:cNvPr id="67" name="Shape 52"/>
          <p:cNvSpPr/>
          <p:nvPr/>
        </p:nvSpPr>
        <p:spPr>
          <a:xfrm>
            <a:off x="1167052" y="2948940"/>
            <a:ext cx="868442" cy="268605"/>
          </a:xfrm>
          <a:prstGeom prst="roundRect">
            <a:avLst>
              <a:gd name="adj" fmla="val 14184"/>
            </a:avLst>
          </a:prstGeom>
          <a:solidFill>
            <a:srgbClr val="1FD191"/>
          </a:solidFill>
          <a:ln/>
        </p:spPr>
      </p:sp>
      <p:sp>
        <p:nvSpPr>
          <p:cNvPr id="68" name="Text 53"/>
          <p:cNvSpPr/>
          <p:nvPr/>
        </p:nvSpPr>
        <p:spPr>
          <a:xfrm>
            <a:off x="1281352" y="2996565"/>
            <a:ext cx="716042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Approve</a:t>
            </a:r>
            <a:endParaRPr lang="en-US" sz="975" dirty="0"/>
          </a:p>
        </p:txBody>
      </p:sp>
      <p:sp>
        <p:nvSpPr>
          <p:cNvPr id="69" name="Shape 54"/>
          <p:cNvSpPr/>
          <p:nvPr/>
        </p:nvSpPr>
        <p:spPr>
          <a:xfrm>
            <a:off x="2092642" y="2941320"/>
            <a:ext cx="532924" cy="283845"/>
          </a:xfrm>
          <a:prstGeom prst="roundRect">
            <a:avLst>
              <a:gd name="adj" fmla="val 13423"/>
            </a:avLst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70" name="Text 55"/>
          <p:cNvSpPr/>
          <p:nvPr/>
        </p:nvSpPr>
        <p:spPr>
          <a:xfrm>
            <a:off x="2214562" y="2996565"/>
            <a:ext cx="365284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D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975" dirty="0"/>
          </a:p>
        </p:txBody>
      </p:sp>
      <p:sp>
        <p:nvSpPr>
          <p:cNvPr id="71" name="Shape 56"/>
          <p:cNvSpPr/>
          <p:nvPr/>
        </p:nvSpPr>
        <p:spPr>
          <a:xfrm>
            <a:off x="2682718" y="2941320"/>
            <a:ext cx="1263848" cy="283845"/>
          </a:xfrm>
          <a:prstGeom prst="roundRect">
            <a:avLst>
              <a:gd name="adj" fmla="val 13423"/>
            </a:avLst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72" name="Text 57"/>
          <p:cNvSpPr/>
          <p:nvPr/>
        </p:nvSpPr>
        <p:spPr>
          <a:xfrm>
            <a:off x="2804638" y="2996565"/>
            <a:ext cx="1096208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D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 console ↗</a:t>
            </a:r>
            <a:endParaRPr lang="en-US" sz="975" dirty="0"/>
          </a:p>
        </p:txBody>
      </p:sp>
      <p:sp>
        <p:nvSpPr>
          <p:cNvPr id="73" name="Text 58"/>
          <p:cNvSpPr/>
          <p:nvPr/>
        </p:nvSpPr>
        <p:spPr>
          <a:xfrm>
            <a:off x="4169213" y="3009900"/>
            <a:ext cx="124694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auto-escalate in 4 m 12 s</a:t>
            </a:r>
            <a:endParaRPr lang="en-US" sz="825" dirty="0"/>
          </a:p>
        </p:txBody>
      </p:sp>
      <p:sp>
        <p:nvSpPr>
          <p:cNvPr id="74" name="Shape 59"/>
          <p:cNvSpPr/>
          <p:nvPr/>
        </p:nvSpPr>
        <p:spPr>
          <a:xfrm>
            <a:off x="807720" y="345376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E2D9C2"/>
          </a:solidFill>
          <a:ln/>
        </p:spPr>
      </p:sp>
      <p:sp>
        <p:nvSpPr>
          <p:cNvPr id="75" name="Text 60"/>
          <p:cNvSpPr/>
          <p:nvPr/>
        </p:nvSpPr>
        <p:spPr>
          <a:xfrm>
            <a:off x="917258" y="3519488"/>
            <a:ext cx="161925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D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75" dirty="0"/>
          </a:p>
        </p:txBody>
      </p:sp>
      <p:sp>
        <p:nvSpPr>
          <p:cNvPr id="76" name="Text 61"/>
          <p:cNvSpPr/>
          <p:nvPr/>
        </p:nvSpPr>
        <p:spPr>
          <a:xfrm>
            <a:off x="1169670" y="3453765"/>
            <a:ext cx="322897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D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975" dirty="0"/>
          </a:p>
        </p:txBody>
      </p:sp>
      <p:sp>
        <p:nvSpPr>
          <p:cNvPr id="77" name="Text 62"/>
          <p:cNvSpPr/>
          <p:nvPr/>
        </p:nvSpPr>
        <p:spPr>
          <a:xfrm>
            <a:off x="1473517" y="3467100"/>
            <a:ext cx="46648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1:15 PM</a:t>
            </a:r>
            <a:endParaRPr lang="en-US" sz="825" dirty="0"/>
          </a:p>
        </p:txBody>
      </p:sp>
      <p:sp>
        <p:nvSpPr>
          <p:cNvPr id="78" name="Text 63"/>
          <p:cNvSpPr/>
          <p:nvPr/>
        </p:nvSpPr>
        <p:spPr>
          <a:xfrm>
            <a:off x="1169670" y="3627120"/>
            <a:ext cx="3597602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D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legit. approving — let's keep MFA push paused for 1h too.</a:t>
            </a:r>
            <a:endParaRPr lang="en-US" sz="975" dirty="0"/>
          </a:p>
        </p:txBody>
      </p:sp>
      <p:sp>
        <p:nvSpPr>
          <p:cNvPr id="79" name="Shape 64"/>
          <p:cNvSpPr/>
          <p:nvPr/>
        </p:nvSpPr>
        <p:spPr>
          <a:xfrm>
            <a:off x="5690474" y="1064895"/>
            <a:ext cx="4463177" cy="1360170"/>
          </a:xfrm>
          <a:prstGeom prst="roundRect">
            <a:avLst>
              <a:gd name="adj" fmla="val 560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0" name="Text 65"/>
          <p:cNvSpPr/>
          <p:nvPr/>
        </p:nvSpPr>
        <p:spPr>
          <a:xfrm>
            <a:off x="5812394" y="1167765"/>
            <a:ext cx="434591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· auto behavior</a:t>
            </a:r>
            <a:endParaRPr lang="en-US" sz="900" dirty="0"/>
          </a:p>
        </p:txBody>
      </p:sp>
      <p:sp>
        <p:nvSpPr>
          <p:cNvPr id="81" name="Text 66"/>
          <p:cNvSpPr/>
          <p:nvPr/>
        </p:nvSpPr>
        <p:spPr>
          <a:xfrm>
            <a:off x="5812394" y="1423988"/>
            <a:ext cx="45112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</a:t>
            </a:r>
            <a:endParaRPr lang="en-US" sz="900" dirty="0"/>
          </a:p>
        </p:txBody>
      </p:sp>
      <p:sp>
        <p:nvSpPr>
          <p:cNvPr id="82" name="Shape 67"/>
          <p:cNvSpPr/>
          <p:nvPr/>
        </p:nvSpPr>
        <p:spPr>
          <a:xfrm>
            <a:off x="9414630" y="1403985"/>
            <a:ext cx="617101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83" name="Shape 68"/>
          <p:cNvSpPr/>
          <p:nvPr/>
        </p:nvSpPr>
        <p:spPr>
          <a:xfrm>
            <a:off x="9488925" y="1475423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84" name="Text 69"/>
          <p:cNvSpPr/>
          <p:nvPr/>
        </p:nvSpPr>
        <p:spPr>
          <a:xfrm>
            <a:off x="9584175" y="1430655"/>
            <a:ext cx="44946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 12 s</a:t>
            </a:r>
            <a:endParaRPr lang="en-US" sz="825" dirty="0"/>
          </a:p>
        </p:txBody>
      </p:sp>
      <p:sp>
        <p:nvSpPr>
          <p:cNvPr id="85" name="Text 70"/>
          <p:cNvSpPr/>
          <p:nvPr/>
        </p:nvSpPr>
        <p:spPr>
          <a:xfrm>
            <a:off x="5812394" y="1681163"/>
            <a:ext cx="59090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</a:t>
            </a:r>
            <a:endParaRPr lang="en-US" sz="900" dirty="0"/>
          </a:p>
        </p:txBody>
      </p:sp>
      <p:sp>
        <p:nvSpPr>
          <p:cNvPr id="86" name="Shape 71"/>
          <p:cNvSpPr/>
          <p:nvPr/>
        </p:nvSpPr>
        <p:spPr>
          <a:xfrm>
            <a:off x="9153288" y="1661160"/>
            <a:ext cx="87844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7" name="Shape 72"/>
          <p:cNvSpPr/>
          <p:nvPr/>
        </p:nvSpPr>
        <p:spPr>
          <a:xfrm>
            <a:off x="9227583" y="173259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88" name="Text 73"/>
          <p:cNvSpPr/>
          <p:nvPr/>
        </p:nvSpPr>
        <p:spPr>
          <a:xfrm>
            <a:off x="9322833" y="1687830"/>
            <a:ext cx="71080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· soc-lead</a:t>
            </a:r>
            <a:endParaRPr lang="en-US" sz="825" dirty="0"/>
          </a:p>
        </p:txBody>
      </p:sp>
      <p:sp>
        <p:nvSpPr>
          <p:cNvPr id="89" name="Text 74"/>
          <p:cNvSpPr/>
          <p:nvPr/>
        </p:nvSpPr>
        <p:spPr>
          <a:xfrm>
            <a:off x="5812394" y="1938338"/>
            <a:ext cx="46374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900" dirty="0"/>
          </a:p>
        </p:txBody>
      </p:sp>
      <p:sp>
        <p:nvSpPr>
          <p:cNvPr id="90" name="Shape 75"/>
          <p:cNvSpPr/>
          <p:nvPr/>
        </p:nvSpPr>
        <p:spPr>
          <a:xfrm>
            <a:off x="8118516" y="1918335"/>
            <a:ext cx="1913215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91" name="Shape 76"/>
          <p:cNvSpPr/>
          <p:nvPr/>
        </p:nvSpPr>
        <p:spPr>
          <a:xfrm>
            <a:off x="8192809" y="198977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92" name="Text 77"/>
          <p:cNvSpPr/>
          <p:nvPr/>
        </p:nvSpPr>
        <p:spPr>
          <a:xfrm>
            <a:off x="8288059" y="1945005"/>
            <a:ext cx="174557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default · limited containment</a:t>
            </a:r>
            <a:endParaRPr lang="en-US" sz="825" dirty="0"/>
          </a:p>
        </p:txBody>
      </p:sp>
      <p:sp>
        <p:nvSpPr>
          <p:cNvPr id="93" name="Text 78"/>
          <p:cNvSpPr/>
          <p:nvPr/>
        </p:nvSpPr>
        <p:spPr>
          <a:xfrm>
            <a:off x="5812394" y="2175510"/>
            <a:ext cx="434591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 silent failure. timeout → safe default, never "ignore".</a:t>
            </a:r>
            <a:endParaRPr lang="en-US" sz="825" dirty="0"/>
          </a:p>
        </p:txBody>
      </p:sp>
      <p:sp>
        <p:nvSpPr>
          <p:cNvPr id="94" name="Shape 79"/>
          <p:cNvSpPr/>
          <p:nvPr/>
        </p:nvSpPr>
        <p:spPr>
          <a:xfrm>
            <a:off x="5690474" y="2501265"/>
            <a:ext cx="4463177" cy="840105"/>
          </a:xfrm>
          <a:prstGeom prst="roundRect">
            <a:avLst>
              <a:gd name="adj" fmla="val 907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95" name="Text 80"/>
          <p:cNvSpPr/>
          <p:nvPr/>
        </p:nvSpPr>
        <p:spPr>
          <a:xfrm>
            <a:off x="5812394" y="2604135"/>
            <a:ext cx="434591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got pushed</a:t>
            </a:r>
            <a:endParaRPr lang="en-US" sz="900" dirty="0"/>
          </a:p>
        </p:txBody>
      </p:sp>
      <p:sp>
        <p:nvSpPr>
          <p:cNvPr id="96" name="Text 81"/>
          <p:cNvSpPr/>
          <p:nvPr/>
        </p:nvSpPr>
        <p:spPr>
          <a:xfrm>
            <a:off x="5812394" y="2862263"/>
            <a:ext cx="70520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class</a:t>
            </a:r>
            <a:endParaRPr lang="en-US" sz="900" dirty="0"/>
          </a:p>
        </p:txBody>
      </p:sp>
      <p:sp>
        <p:nvSpPr>
          <p:cNvPr id="97" name="Shape 82"/>
          <p:cNvSpPr/>
          <p:nvPr/>
        </p:nvSpPr>
        <p:spPr>
          <a:xfrm>
            <a:off x="6441400" y="2840355"/>
            <a:ext cx="96714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8" name="Shape 83"/>
          <p:cNvSpPr/>
          <p:nvPr/>
        </p:nvSpPr>
        <p:spPr>
          <a:xfrm>
            <a:off x="6515695" y="291179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99" name="Text 84"/>
          <p:cNvSpPr/>
          <p:nvPr/>
        </p:nvSpPr>
        <p:spPr>
          <a:xfrm>
            <a:off x="6610945" y="2867025"/>
            <a:ext cx="79950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enforce</a:t>
            </a:r>
            <a:endParaRPr lang="en-US" sz="825" dirty="0"/>
          </a:p>
        </p:txBody>
      </p:sp>
      <p:sp>
        <p:nvSpPr>
          <p:cNvPr id="100" name="Text 85"/>
          <p:cNvSpPr/>
          <p:nvPr/>
        </p:nvSpPr>
        <p:spPr>
          <a:xfrm>
            <a:off x="7408545" y="2862263"/>
            <a:ext cx="235898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1-click sign-off per autonomy policy.</a:t>
            </a:r>
            <a:endParaRPr lang="en-US" sz="900" dirty="0"/>
          </a:p>
        </p:txBody>
      </p:sp>
      <p:sp>
        <p:nvSpPr>
          <p:cNvPr id="101" name="Text 86"/>
          <p:cNvSpPr/>
          <p:nvPr/>
        </p:nvSpPr>
        <p:spPr>
          <a:xfrm>
            <a:off x="5812394" y="3078480"/>
            <a:ext cx="434591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off-hours · primary on-call unavailable.</a:t>
            </a:r>
            <a:endParaRPr lang="en-US" sz="900" dirty="0"/>
          </a:p>
        </p:txBody>
      </p:sp>
      <p:sp>
        <p:nvSpPr>
          <p:cNvPr id="102" name="Shape 87"/>
          <p:cNvSpPr/>
          <p:nvPr/>
        </p:nvSpPr>
        <p:spPr>
          <a:xfrm>
            <a:off x="5690474" y="3417570"/>
            <a:ext cx="4463177" cy="826770"/>
          </a:xfrm>
          <a:prstGeom prst="roundRect">
            <a:avLst>
              <a:gd name="adj" fmla="val 921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3" name="Text 88"/>
          <p:cNvSpPr/>
          <p:nvPr/>
        </p:nvSpPr>
        <p:spPr>
          <a:xfrm>
            <a:off x="5812394" y="3520440"/>
            <a:ext cx="434591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900" dirty="0"/>
          </a:p>
        </p:txBody>
      </p:sp>
      <p:sp>
        <p:nvSpPr>
          <p:cNvPr id="104" name="Shape 89"/>
          <p:cNvSpPr/>
          <p:nvPr/>
        </p:nvSpPr>
        <p:spPr>
          <a:xfrm>
            <a:off x="5812394" y="3756660"/>
            <a:ext cx="2953464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105" name="Shape 90"/>
          <p:cNvSpPr/>
          <p:nvPr/>
        </p:nvSpPr>
        <p:spPr>
          <a:xfrm>
            <a:off x="5812394" y="3851910"/>
            <a:ext cx="2109668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106" name="Shape 91"/>
          <p:cNvSpPr/>
          <p:nvPr/>
        </p:nvSpPr>
        <p:spPr>
          <a:xfrm>
            <a:off x="5812394" y="3947160"/>
            <a:ext cx="1687711" cy="47625"/>
          </a:xfrm>
          <a:prstGeom prst="roundRect">
            <a:avLst>
              <a:gd name="adj" fmla="val 50000"/>
            </a:avLst>
          </a:prstGeom>
          <a:solidFill>
            <a:srgbClr val="E2E8F0">
              <a:alpha val="70000"/>
            </a:srgbClr>
          </a:solidFill>
          <a:ln/>
        </p:spPr>
      </p:sp>
      <p:sp>
        <p:nvSpPr>
          <p:cNvPr id="107" name="Text 92"/>
          <p:cNvSpPr/>
          <p:nvPr/>
        </p:nvSpPr>
        <p:spPr>
          <a:xfrm>
            <a:off x="5812394" y="3994785"/>
            <a:ext cx="434591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approval/deny in Slack is mirrored to the AccuKnox audit log.</a:t>
            </a:r>
            <a:endParaRPr lang="en-US" sz="8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91441" y="23241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257341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policy · kc-fin-egress.v3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3259217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3367206" y="144780"/>
            <a:ext cx="191262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#4129 · drafted by InvestAgent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5356027" y="74295"/>
            <a:ext cx="2134910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58897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630347" y="64770"/>
            <a:ext cx="183392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59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3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5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261556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→ policy → kernel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6542126" y="616268"/>
            <a:ext cx="33980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6616424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0" name="Text 25"/>
          <p:cNvSpPr/>
          <p:nvPr/>
        </p:nvSpPr>
        <p:spPr>
          <a:xfrm>
            <a:off x="6711674" y="642938"/>
            <a:ext cx="17216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6939083" y="616268"/>
            <a:ext cx="36254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7013377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3" name="Text 28"/>
          <p:cNvSpPr/>
          <p:nvPr/>
        </p:nvSpPr>
        <p:spPr>
          <a:xfrm>
            <a:off x="7108627" y="642938"/>
            <a:ext cx="19490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7358779" y="616268"/>
            <a:ext cx="813316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7433072" y="687705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31"/>
          <p:cNvSpPr/>
          <p:nvPr/>
        </p:nvSpPr>
        <p:spPr>
          <a:xfrm>
            <a:off x="7528322" y="642938"/>
            <a:ext cx="64567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(current)</a:t>
            </a:r>
            <a:endParaRPr lang="en-US" sz="825" dirty="0"/>
          </a:p>
        </p:txBody>
      </p:sp>
      <p:sp>
        <p:nvSpPr>
          <p:cNvPr id="47" name="Shape 32"/>
          <p:cNvSpPr/>
          <p:nvPr/>
        </p:nvSpPr>
        <p:spPr>
          <a:xfrm>
            <a:off x="8229242" y="590550"/>
            <a:ext cx="687348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8" name="Text 33"/>
          <p:cNvSpPr/>
          <p:nvPr/>
        </p:nvSpPr>
        <p:spPr>
          <a:xfrm>
            <a:off x="8332115" y="636270"/>
            <a:ext cx="55780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vs v2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8973741" y="590550"/>
            <a:ext cx="1179909" cy="251460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50" name="Text 35"/>
          <p:cNvSpPr/>
          <p:nvPr/>
        </p:nvSpPr>
        <p:spPr>
          <a:xfrm>
            <a:off x="9076613" y="636270"/>
            <a:ext cx="105036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to ENFORCE ↯</a:t>
            </a:r>
            <a:endParaRPr lang="en-US" sz="900" dirty="0"/>
          </a:p>
        </p:txBody>
      </p:sp>
      <p:sp>
        <p:nvSpPr>
          <p:cNvPr id="51" name="Shape 36"/>
          <p:cNvSpPr/>
          <p:nvPr/>
        </p:nvSpPr>
        <p:spPr>
          <a:xfrm>
            <a:off x="666750" y="937260"/>
            <a:ext cx="4800600" cy="62555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2" name="Text 37"/>
          <p:cNvSpPr/>
          <p:nvPr/>
        </p:nvSpPr>
        <p:spPr>
          <a:xfrm>
            <a:off x="731520" y="1009650"/>
            <a:ext cx="8041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· YAML</a:t>
            </a:r>
            <a:endParaRPr lang="en-US" sz="900" dirty="0"/>
          </a:p>
        </p:txBody>
      </p:sp>
      <p:sp>
        <p:nvSpPr>
          <p:cNvPr id="53" name="Text 38"/>
          <p:cNvSpPr/>
          <p:nvPr/>
        </p:nvSpPr>
        <p:spPr>
          <a:xfrm>
            <a:off x="4517471" y="1008698"/>
            <a:ext cx="96131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KubeArmor · eBPF</a:t>
            </a:r>
            <a:endParaRPr lang="en-US" sz="825" dirty="0"/>
          </a:p>
        </p:txBody>
      </p:sp>
      <p:sp>
        <p:nvSpPr>
          <p:cNvPr id="54" name="Shape 39"/>
          <p:cNvSpPr/>
          <p:nvPr/>
        </p:nvSpPr>
        <p:spPr>
          <a:xfrm>
            <a:off x="731520" y="1238250"/>
            <a:ext cx="4671060" cy="5889784"/>
          </a:xfrm>
          <a:prstGeom prst="roundRect">
            <a:avLst>
              <a:gd name="adj" fmla="val 1223"/>
            </a:avLst>
          </a:prstGeom>
          <a:solidFill>
            <a:srgbClr val="0F172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5" name="Text 40"/>
          <p:cNvSpPr/>
          <p:nvPr/>
        </p:nvSpPr>
        <p:spPr>
          <a:xfrm>
            <a:off x="853440" y="1341120"/>
            <a:ext cx="4567352" cy="5722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security.kubearmor.com/v1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KubeArmorPolicy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kc-fin-egress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payments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"4129"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authored-by: claude-fin-investigator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critical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matchLabels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analytics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prod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matchPaths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/usr/bin/curl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Block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/usr/bin/wget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Block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matchProtocols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tcp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toCIDRs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"198.51.0.0/16"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Block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udp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toCIDRs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"198.51.0.0/16"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Block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matchPaths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/etc/shadow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Block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true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Block</a:t>
            </a:r>
            <a:endParaRPr lang="en-US" sz="825" dirty="0"/>
          </a:p>
        </p:txBody>
      </p:sp>
      <p:sp>
        <p:nvSpPr>
          <p:cNvPr id="56" name="Shape 41"/>
          <p:cNvSpPr/>
          <p:nvPr/>
        </p:nvSpPr>
        <p:spPr>
          <a:xfrm>
            <a:off x="5581650" y="937260"/>
            <a:ext cx="4572000" cy="1594485"/>
          </a:xfrm>
          <a:prstGeom prst="roundRect">
            <a:avLst>
              <a:gd name="adj" fmla="val 477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03570" y="1058228"/>
            <a:ext cx="123825" cy="123825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5875020" y="1047750"/>
            <a:ext cx="5997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59" name="Text 43"/>
          <p:cNvSpPr/>
          <p:nvPr/>
        </p:nvSpPr>
        <p:spPr>
          <a:xfrm>
            <a:off x="5703570" y="1276350"/>
            <a:ext cx="4458005" cy="215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policy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following on pods labeled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app=analytics, env=prod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938" dirty="0"/>
          </a:p>
        </p:txBody>
      </p:sp>
      <p:sp>
        <p:nvSpPr>
          <p:cNvPr id="60" name="Shape 44"/>
          <p:cNvSpPr/>
          <p:nvPr/>
        </p:nvSpPr>
        <p:spPr>
          <a:xfrm>
            <a:off x="5703570" y="1510665"/>
            <a:ext cx="653772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61" name="Shape 45"/>
          <p:cNvSpPr/>
          <p:nvPr/>
        </p:nvSpPr>
        <p:spPr>
          <a:xfrm>
            <a:off x="5777866" y="1582103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62" name="Text 46"/>
          <p:cNvSpPr/>
          <p:nvPr/>
        </p:nvSpPr>
        <p:spPr>
          <a:xfrm>
            <a:off x="5873116" y="1537335"/>
            <a:ext cx="48613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825" dirty="0"/>
          </a:p>
        </p:txBody>
      </p:sp>
      <p:sp>
        <p:nvSpPr>
          <p:cNvPr id="63" name="Text 47"/>
          <p:cNvSpPr/>
          <p:nvPr/>
        </p:nvSpPr>
        <p:spPr>
          <a:xfrm>
            <a:off x="6395442" y="1527334"/>
            <a:ext cx="68496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exec of</a:t>
            </a:r>
            <a:endParaRPr lang="en-US" sz="938" dirty="0"/>
          </a:p>
        </p:txBody>
      </p:sp>
      <p:sp>
        <p:nvSpPr>
          <p:cNvPr id="64" name="Text 48"/>
          <p:cNvSpPr/>
          <p:nvPr/>
        </p:nvSpPr>
        <p:spPr>
          <a:xfrm>
            <a:off x="7042310" y="1537335"/>
            <a:ext cx="32777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endParaRPr lang="en-US" sz="825" dirty="0"/>
          </a:p>
        </p:txBody>
      </p:sp>
      <p:sp>
        <p:nvSpPr>
          <p:cNvPr id="65" name="Text 49"/>
          <p:cNvSpPr/>
          <p:nvPr/>
        </p:nvSpPr>
        <p:spPr>
          <a:xfrm>
            <a:off x="7331990" y="1527334"/>
            <a:ext cx="18204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938" dirty="0"/>
          </a:p>
        </p:txBody>
      </p:sp>
      <p:sp>
        <p:nvSpPr>
          <p:cNvPr id="66" name="Text 50"/>
          <p:cNvSpPr/>
          <p:nvPr/>
        </p:nvSpPr>
        <p:spPr>
          <a:xfrm>
            <a:off x="7475934" y="1537335"/>
            <a:ext cx="32777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wget</a:t>
            </a:r>
            <a:endParaRPr lang="en-US" sz="825" dirty="0"/>
          </a:p>
        </p:txBody>
      </p:sp>
      <p:sp>
        <p:nvSpPr>
          <p:cNvPr id="67" name="Shape 51"/>
          <p:cNvSpPr/>
          <p:nvPr/>
        </p:nvSpPr>
        <p:spPr>
          <a:xfrm>
            <a:off x="5703570" y="1767840"/>
            <a:ext cx="659606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68" name="Shape 52"/>
          <p:cNvSpPr/>
          <p:nvPr/>
        </p:nvSpPr>
        <p:spPr>
          <a:xfrm>
            <a:off x="5777866" y="1839278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69" name="Text 53"/>
          <p:cNvSpPr/>
          <p:nvPr/>
        </p:nvSpPr>
        <p:spPr>
          <a:xfrm>
            <a:off x="5873116" y="1794510"/>
            <a:ext cx="49196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825" dirty="0"/>
          </a:p>
        </p:txBody>
      </p:sp>
      <p:sp>
        <p:nvSpPr>
          <p:cNvPr id="70" name="Text 54"/>
          <p:cNvSpPr/>
          <p:nvPr/>
        </p:nvSpPr>
        <p:spPr>
          <a:xfrm>
            <a:off x="6401279" y="1784509"/>
            <a:ext cx="132016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TCP / UDP to</a:t>
            </a:r>
            <a:endParaRPr lang="en-US" sz="938" dirty="0"/>
          </a:p>
        </p:txBody>
      </p:sp>
      <p:sp>
        <p:nvSpPr>
          <p:cNvPr id="71" name="Text 55"/>
          <p:cNvSpPr/>
          <p:nvPr/>
        </p:nvSpPr>
        <p:spPr>
          <a:xfrm>
            <a:off x="7683340" y="1794510"/>
            <a:ext cx="8936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198.51.0.0/16</a:t>
            </a:r>
            <a:endParaRPr lang="en-US" sz="825" dirty="0"/>
          </a:p>
        </p:txBody>
      </p:sp>
      <p:sp>
        <p:nvSpPr>
          <p:cNvPr id="72" name="Shape 56"/>
          <p:cNvSpPr/>
          <p:nvPr/>
        </p:nvSpPr>
        <p:spPr>
          <a:xfrm>
            <a:off x="5703570" y="2025015"/>
            <a:ext cx="395526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73" name="Shape 57"/>
          <p:cNvSpPr/>
          <p:nvPr/>
        </p:nvSpPr>
        <p:spPr>
          <a:xfrm>
            <a:off x="5777866" y="2096453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74" name="Text 58"/>
          <p:cNvSpPr/>
          <p:nvPr/>
        </p:nvSpPr>
        <p:spPr>
          <a:xfrm>
            <a:off x="5873116" y="2051685"/>
            <a:ext cx="22788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825" dirty="0"/>
          </a:p>
        </p:txBody>
      </p:sp>
      <p:sp>
        <p:nvSpPr>
          <p:cNvPr id="75" name="Text 59"/>
          <p:cNvSpPr/>
          <p:nvPr/>
        </p:nvSpPr>
        <p:spPr>
          <a:xfrm>
            <a:off x="6137195" y="2041684"/>
            <a:ext cx="67175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read of</a:t>
            </a:r>
            <a:endParaRPr lang="en-US" sz="938" dirty="0"/>
          </a:p>
        </p:txBody>
      </p:sp>
      <p:sp>
        <p:nvSpPr>
          <p:cNvPr id="76" name="Text 60"/>
          <p:cNvSpPr/>
          <p:nvPr/>
        </p:nvSpPr>
        <p:spPr>
          <a:xfrm>
            <a:off x="6770847" y="2051685"/>
            <a:ext cx="76783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/etc/shadow</a:t>
            </a:r>
            <a:endParaRPr lang="en-US" sz="825" dirty="0"/>
          </a:p>
        </p:txBody>
      </p:sp>
      <p:sp>
        <p:nvSpPr>
          <p:cNvPr id="77" name="Text 61"/>
          <p:cNvSpPr/>
          <p:nvPr/>
        </p:nvSpPr>
        <p:spPr>
          <a:xfrm>
            <a:off x="5703570" y="2282190"/>
            <a:ext cx="445800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happen at the syscall, before user-space can see them. zero workload overhead.</a:t>
            </a:r>
            <a:endParaRPr lang="en-US" sz="825" dirty="0"/>
          </a:p>
        </p:txBody>
      </p:sp>
      <p:sp>
        <p:nvSpPr>
          <p:cNvPr id="78" name="Shape 62"/>
          <p:cNvSpPr/>
          <p:nvPr/>
        </p:nvSpPr>
        <p:spPr>
          <a:xfrm>
            <a:off x="5581650" y="2607945"/>
            <a:ext cx="457200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9" name="Text 63"/>
          <p:cNvSpPr/>
          <p:nvPr/>
        </p:nvSpPr>
        <p:spPr>
          <a:xfrm>
            <a:off x="5703570" y="2710815"/>
            <a:ext cx="445800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900" dirty="0"/>
          </a:p>
        </p:txBody>
      </p:sp>
      <p:sp>
        <p:nvSpPr>
          <p:cNvPr id="80" name="Text 64"/>
          <p:cNvSpPr/>
          <p:nvPr/>
        </p:nvSpPr>
        <p:spPr>
          <a:xfrm>
            <a:off x="5703570" y="2947035"/>
            <a:ext cx="66722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</a:t>
            </a:r>
            <a:endParaRPr lang="en-US" sz="900" dirty="0"/>
          </a:p>
        </p:txBody>
      </p:sp>
      <p:sp>
        <p:nvSpPr>
          <p:cNvPr id="81" name="Text 65"/>
          <p:cNvSpPr/>
          <p:nvPr/>
        </p:nvSpPr>
        <p:spPr>
          <a:xfrm>
            <a:off x="9528693" y="2953702"/>
            <a:ext cx="57923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</a:t>
            </a:r>
            <a:endParaRPr lang="en-US" sz="825" dirty="0"/>
          </a:p>
        </p:txBody>
      </p:sp>
      <p:sp>
        <p:nvSpPr>
          <p:cNvPr id="82" name="Text 66"/>
          <p:cNvSpPr/>
          <p:nvPr/>
        </p:nvSpPr>
        <p:spPr>
          <a:xfrm>
            <a:off x="5703570" y="3145155"/>
            <a:ext cx="47648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</a:t>
            </a:r>
            <a:endParaRPr lang="en-US" sz="900" dirty="0"/>
          </a:p>
        </p:txBody>
      </p:sp>
      <p:sp>
        <p:nvSpPr>
          <p:cNvPr id="83" name="Text 67"/>
          <p:cNvSpPr/>
          <p:nvPr/>
        </p:nvSpPr>
        <p:spPr>
          <a:xfrm>
            <a:off x="8585597" y="3151823"/>
            <a:ext cx="152233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app=analytics, env=prod</a:t>
            </a:r>
            <a:endParaRPr lang="en-US" sz="825" dirty="0"/>
          </a:p>
        </p:txBody>
      </p:sp>
      <p:sp>
        <p:nvSpPr>
          <p:cNvPr id="84" name="Text 68"/>
          <p:cNvSpPr/>
          <p:nvPr/>
        </p:nvSpPr>
        <p:spPr>
          <a:xfrm>
            <a:off x="5703570" y="3363277"/>
            <a:ext cx="106096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workloads matched</a:t>
            </a:r>
            <a:endParaRPr lang="en-US" sz="900" dirty="0"/>
          </a:p>
        </p:txBody>
      </p:sp>
      <p:sp>
        <p:nvSpPr>
          <p:cNvPr id="85" name="Shape 69"/>
          <p:cNvSpPr/>
          <p:nvPr/>
        </p:nvSpPr>
        <p:spPr>
          <a:xfrm>
            <a:off x="9443563" y="3343275"/>
            <a:ext cx="588169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6" name="Shape 70"/>
          <p:cNvSpPr/>
          <p:nvPr/>
        </p:nvSpPr>
        <p:spPr>
          <a:xfrm>
            <a:off x="9517856" y="341471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87" name="Text 71"/>
          <p:cNvSpPr/>
          <p:nvPr/>
        </p:nvSpPr>
        <p:spPr>
          <a:xfrm>
            <a:off x="9613106" y="3369945"/>
            <a:ext cx="42052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pods</a:t>
            </a:r>
            <a:endParaRPr lang="en-US" sz="825" dirty="0"/>
          </a:p>
        </p:txBody>
      </p:sp>
      <p:sp>
        <p:nvSpPr>
          <p:cNvPr id="88" name="Text 72"/>
          <p:cNvSpPr/>
          <p:nvPr/>
        </p:nvSpPr>
        <p:spPr>
          <a:xfrm>
            <a:off x="5703570" y="3601402"/>
            <a:ext cx="47005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</a:t>
            </a:r>
            <a:endParaRPr lang="en-US" sz="900" dirty="0"/>
          </a:p>
        </p:txBody>
      </p:sp>
      <p:sp>
        <p:nvSpPr>
          <p:cNvPr id="89" name="Shape 73"/>
          <p:cNvSpPr/>
          <p:nvPr/>
        </p:nvSpPr>
        <p:spPr>
          <a:xfrm>
            <a:off x="8685135" y="3581400"/>
            <a:ext cx="134659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0" name="Shape 74"/>
          <p:cNvSpPr/>
          <p:nvPr/>
        </p:nvSpPr>
        <p:spPr>
          <a:xfrm>
            <a:off x="8759428" y="365283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91" name="Text 75"/>
          <p:cNvSpPr/>
          <p:nvPr/>
        </p:nvSpPr>
        <p:spPr>
          <a:xfrm>
            <a:off x="8854678" y="3608070"/>
            <a:ext cx="117895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prod-eu-1 · prod-us-1</a:t>
            </a:r>
            <a:endParaRPr lang="en-US" sz="825" dirty="0"/>
          </a:p>
        </p:txBody>
      </p:sp>
      <p:sp>
        <p:nvSpPr>
          <p:cNvPr id="92" name="Shape 76"/>
          <p:cNvSpPr/>
          <p:nvPr/>
        </p:nvSpPr>
        <p:spPr>
          <a:xfrm>
            <a:off x="5581650" y="3960495"/>
            <a:ext cx="4572000" cy="872490"/>
          </a:xfrm>
          <a:prstGeom prst="roundRect">
            <a:avLst>
              <a:gd name="adj" fmla="val 8734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93" name="Text 77"/>
          <p:cNvSpPr/>
          <p:nvPr/>
        </p:nvSpPr>
        <p:spPr>
          <a:xfrm>
            <a:off x="5703570" y="4063365"/>
            <a:ext cx="445800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</a:t>
            </a:r>
            <a:endParaRPr lang="en-US" sz="900" dirty="0"/>
          </a:p>
        </p:txBody>
      </p:sp>
      <p:sp>
        <p:nvSpPr>
          <p:cNvPr id="94" name="Shape 78"/>
          <p:cNvSpPr/>
          <p:nvPr/>
        </p:nvSpPr>
        <p:spPr>
          <a:xfrm>
            <a:off x="5703570" y="4299585"/>
            <a:ext cx="944880" cy="430530"/>
          </a:xfrm>
          <a:prstGeom prst="roundRect">
            <a:avLst>
              <a:gd name="adj" fmla="val 44248"/>
            </a:avLst>
          </a:prstGeom>
          <a:solidFill>
            <a:srgbClr val="FFFF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95" name="Shape 79"/>
          <p:cNvSpPr/>
          <p:nvPr/>
        </p:nvSpPr>
        <p:spPr>
          <a:xfrm>
            <a:off x="6128386" y="4381500"/>
            <a:ext cx="361950" cy="2667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96" name="Text 80"/>
          <p:cNvSpPr/>
          <p:nvPr/>
        </p:nvSpPr>
        <p:spPr>
          <a:xfrm>
            <a:off x="6216848" y="4434840"/>
            <a:ext cx="26110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900" dirty="0"/>
          </a:p>
        </p:txBody>
      </p:sp>
      <p:sp>
        <p:nvSpPr>
          <p:cNvPr id="97" name="Text 81"/>
          <p:cNvSpPr/>
          <p:nvPr/>
        </p:nvSpPr>
        <p:spPr>
          <a:xfrm>
            <a:off x="6705600" y="4334827"/>
            <a:ext cx="2096929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</a:t>
            </a:r>
            <a:endParaRPr lang="en-US" sz="1200" dirty="0"/>
          </a:p>
        </p:txBody>
      </p:sp>
      <p:sp>
        <p:nvSpPr>
          <p:cNvPr id="98" name="Text 82"/>
          <p:cNvSpPr/>
          <p:nvPr/>
        </p:nvSpPr>
        <p:spPr>
          <a:xfrm>
            <a:off x="6705600" y="4548188"/>
            <a:ext cx="209692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at the syscall · dry-run also available</a:t>
            </a:r>
            <a:endParaRPr lang="en-US" sz="825" dirty="0"/>
          </a:p>
        </p:txBody>
      </p:sp>
      <p:sp>
        <p:nvSpPr>
          <p:cNvPr id="99" name="Shape 83"/>
          <p:cNvSpPr/>
          <p:nvPr/>
        </p:nvSpPr>
        <p:spPr>
          <a:xfrm>
            <a:off x="76200" y="6053137"/>
            <a:ext cx="1281708" cy="538163"/>
          </a:xfrm>
          <a:prstGeom prst="roundRect">
            <a:avLst>
              <a:gd name="adj" fmla="val 708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100" name="Text 84"/>
          <p:cNvSpPr/>
          <p:nvPr/>
        </p:nvSpPr>
        <p:spPr>
          <a:xfrm>
            <a:off x="160020" y="6117907"/>
            <a:ext cx="1190268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flipping this is the most important action in the product.</a:t>
            </a:r>
            <a:endParaRPr lang="en-US" sz="825" dirty="0"/>
          </a:p>
        </p:txBody>
      </p:sp>
      <p:sp>
        <p:nvSpPr>
          <p:cNvPr id="101" name="Shape 85"/>
          <p:cNvSpPr/>
          <p:nvPr/>
        </p:nvSpPr>
        <p:spPr>
          <a:xfrm>
            <a:off x="5581650" y="4909185"/>
            <a:ext cx="4572000" cy="1118235"/>
          </a:xfrm>
          <a:prstGeom prst="roundRect">
            <a:avLst>
              <a:gd name="adj" fmla="val 681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10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03570" y="5030152"/>
            <a:ext cx="123825" cy="123825"/>
          </a:xfrm>
          <a:prstGeom prst="rect">
            <a:avLst/>
          </a:prstGeom>
        </p:spPr>
      </p:pic>
      <p:sp>
        <p:nvSpPr>
          <p:cNvPr id="103" name="Text 86"/>
          <p:cNvSpPr/>
          <p:nvPr/>
        </p:nvSpPr>
        <p:spPr>
          <a:xfrm>
            <a:off x="5875020" y="5019675"/>
            <a:ext cx="4729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900" dirty="0"/>
          </a:p>
        </p:txBody>
      </p:sp>
      <p:sp>
        <p:nvSpPr>
          <p:cNvPr id="104" name="Text 87"/>
          <p:cNvSpPr/>
          <p:nvPr/>
        </p:nvSpPr>
        <p:spPr>
          <a:xfrm>
            <a:off x="5703570" y="5271611"/>
            <a:ext cx="685086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14d ago</a:t>
            </a:r>
            <a:endParaRPr lang="en-US" sz="863" dirty="0"/>
          </a:p>
        </p:txBody>
      </p:sp>
      <p:sp>
        <p:nvSpPr>
          <p:cNvPr id="105" name="Shape 88"/>
          <p:cNvSpPr/>
          <p:nvPr/>
        </p:nvSpPr>
        <p:spPr>
          <a:xfrm>
            <a:off x="9409151" y="5248275"/>
            <a:ext cx="622578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6" name="Shape 89"/>
          <p:cNvSpPr/>
          <p:nvPr/>
        </p:nvSpPr>
        <p:spPr>
          <a:xfrm>
            <a:off x="9483449" y="5319712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07" name="Text 90"/>
          <p:cNvSpPr/>
          <p:nvPr/>
        </p:nvSpPr>
        <p:spPr>
          <a:xfrm>
            <a:off x="9578699" y="5274945"/>
            <a:ext cx="4549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</a:t>
            </a:r>
            <a:endParaRPr lang="en-US" sz="825" dirty="0"/>
          </a:p>
        </p:txBody>
      </p:sp>
      <p:sp>
        <p:nvSpPr>
          <p:cNvPr id="108" name="Text 91"/>
          <p:cNvSpPr/>
          <p:nvPr/>
        </p:nvSpPr>
        <p:spPr>
          <a:xfrm>
            <a:off x="5703570" y="5509736"/>
            <a:ext cx="624126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6d ago</a:t>
            </a:r>
            <a:endParaRPr lang="en-US" sz="863" dirty="0"/>
          </a:p>
        </p:txBody>
      </p:sp>
      <p:sp>
        <p:nvSpPr>
          <p:cNvPr id="109" name="Shape 92"/>
          <p:cNvSpPr/>
          <p:nvPr/>
        </p:nvSpPr>
        <p:spPr>
          <a:xfrm>
            <a:off x="8566905" y="5486400"/>
            <a:ext cx="146482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0" name="Shape 93"/>
          <p:cNvSpPr/>
          <p:nvPr/>
        </p:nvSpPr>
        <p:spPr>
          <a:xfrm>
            <a:off x="8641198" y="555783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11" name="Text 94"/>
          <p:cNvSpPr/>
          <p:nvPr/>
        </p:nvSpPr>
        <p:spPr>
          <a:xfrm>
            <a:off x="8736448" y="5513070"/>
            <a:ext cx="129718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· narrowed CIDR</a:t>
            </a:r>
            <a:endParaRPr lang="en-US" sz="825" dirty="0"/>
          </a:p>
        </p:txBody>
      </p:sp>
      <p:sp>
        <p:nvSpPr>
          <p:cNvPr id="112" name="Text 95"/>
          <p:cNvSpPr/>
          <p:nvPr/>
        </p:nvSpPr>
        <p:spPr>
          <a:xfrm>
            <a:off x="5703570" y="5747861"/>
            <a:ext cx="490061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· now</a:t>
            </a:r>
            <a:endParaRPr lang="en-US" sz="863" dirty="0"/>
          </a:p>
        </p:txBody>
      </p:sp>
      <p:sp>
        <p:nvSpPr>
          <p:cNvPr id="113" name="Shape 96"/>
          <p:cNvSpPr/>
          <p:nvPr/>
        </p:nvSpPr>
        <p:spPr>
          <a:xfrm>
            <a:off x="8743355" y="5724525"/>
            <a:ext cx="1288375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14" name="Shape 97"/>
          <p:cNvSpPr/>
          <p:nvPr/>
        </p:nvSpPr>
        <p:spPr>
          <a:xfrm>
            <a:off x="8817652" y="579596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15" name="Text 98"/>
          <p:cNvSpPr/>
          <p:nvPr/>
        </p:nvSpPr>
        <p:spPr>
          <a:xfrm>
            <a:off x="8912902" y="5751195"/>
            <a:ext cx="112073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· case #4129</a:t>
            </a:r>
            <a:endParaRPr lang="en-US" sz="8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91441" y="23241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553051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block timeline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238854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346843" y="144780"/>
            <a:ext cx="166485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stopped before they ran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4087895" y="74295"/>
            <a:ext cx="3403044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0763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362213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59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3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5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237065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6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Blocked at the kernel · live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474269" y="616268"/>
            <a:ext cx="84605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7548563" y="68770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0" name="Text 25"/>
          <p:cNvSpPr/>
          <p:nvPr/>
        </p:nvSpPr>
        <p:spPr>
          <a:xfrm>
            <a:off x="7643813" y="642938"/>
            <a:ext cx="67841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· pulsing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8377475" y="590550"/>
            <a:ext cx="1148715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Text 27"/>
          <p:cNvSpPr/>
          <p:nvPr/>
        </p:nvSpPr>
        <p:spPr>
          <a:xfrm>
            <a:off x="8480347" y="636270"/>
            <a:ext cx="101917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workload</a:t>
            </a:r>
            <a:endParaRPr lang="en-US" sz="900" dirty="0"/>
          </a:p>
        </p:txBody>
      </p:sp>
      <p:sp>
        <p:nvSpPr>
          <p:cNvPr id="43" name="Shape 28"/>
          <p:cNvSpPr/>
          <p:nvPr/>
        </p:nvSpPr>
        <p:spPr>
          <a:xfrm>
            <a:off x="9583341" y="590550"/>
            <a:ext cx="570309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4" name="Text 29"/>
          <p:cNvSpPr/>
          <p:nvPr/>
        </p:nvSpPr>
        <p:spPr>
          <a:xfrm>
            <a:off x="9686213" y="636270"/>
            <a:ext cx="44076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900" dirty="0"/>
          </a:p>
        </p:txBody>
      </p:sp>
      <p:sp>
        <p:nvSpPr>
          <p:cNvPr id="45" name="Shape 30"/>
          <p:cNvSpPr/>
          <p:nvPr/>
        </p:nvSpPr>
        <p:spPr>
          <a:xfrm>
            <a:off x="666750" y="937260"/>
            <a:ext cx="6324600" cy="5596890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8673" y="1058228"/>
            <a:ext cx="123825" cy="123825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960123" y="1047750"/>
            <a:ext cx="10864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blocks · live</a:t>
            </a:r>
            <a:endParaRPr lang="en-US" sz="900" dirty="0"/>
          </a:p>
        </p:txBody>
      </p:sp>
      <p:sp>
        <p:nvSpPr>
          <p:cNvPr id="48" name="Text 32"/>
          <p:cNvSpPr/>
          <p:nvPr/>
        </p:nvSpPr>
        <p:spPr>
          <a:xfrm>
            <a:off x="6502361" y="1046798"/>
            <a:ext cx="4432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825" dirty="0"/>
          </a:p>
        </p:txBody>
      </p:sp>
      <p:sp>
        <p:nvSpPr>
          <p:cNvPr id="49" name="Shape 33"/>
          <p:cNvSpPr/>
          <p:nvPr/>
        </p:nvSpPr>
        <p:spPr>
          <a:xfrm>
            <a:off x="922023" y="1333500"/>
            <a:ext cx="22860" cy="48844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0" name="Shape 34"/>
          <p:cNvSpPr/>
          <p:nvPr/>
        </p:nvSpPr>
        <p:spPr>
          <a:xfrm>
            <a:off x="826773" y="1352550"/>
            <a:ext cx="240030" cy="24003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50800" dir="16200000">
              <a:srgbClr val="1FD191">
                <a:alpha val="32000"/>
              </a:srgbClr>
            </a:outerShdw>
          </a:effectLst>
        </p:spPr>
      </p:sp>
      <p:sp>
        <p:nvSpPr>
          <p:cNvPr id="51" name="Text 35"/>
          <p:cNvSpPr/>
          <p:nvPr/>
        </p:nvSpPr>
        <p:spPr>
          <a:xfrm>
            <a:off x="908684" y="1392555"/>
            <a:ext cx="1524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</a:t>
            </a:r>
            <a:endParaRPr lang="en-US" sz="900" dirty="0"/>
          </a:p>
        </p:txBody>
      </p:sp>
      <p:sp>
        <p:nvSpPr>
          <p:cNvPr id="52" name="Text 36"/>
          <p:cNvSpPr/>
          <p:nvPr/>
        </p:nvSpPr>
        <p:spPr>
          <a:xfrm>
            <a:off x="1181100" y="1352550"/>
            <a:ext cx="1376363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connect() blocked</a:t>
            </a:r>
            <a:endParaRPr lang="en-US" sz="1050" dirty="0"/>
          </a:p>
        </p:txBody>
      </p:sp>
      <p:sp>
        <p:nvSpPr>
          <p:cNvPr id="53" name="Text 37"/>
          <p:cNvSpPr/>
          <p:nvPr/>
        </p:nvSpPr>
        <p:spPr>
          <a:xfrm>
            <a:off x="6149462" y="1375886"/>
            <a:ext cx="79617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13:32:00.117</a:t>
            </a:r>
            <a:endParaRPr lang="en-US" sz="788" dirty="0"/>
          </a:p>
        </p:txBody>
      </p:sp>
      <p:sp>
        <p:nvSpPr>
          <p:cNvPr id="54" name="Shape 38"/>
          <p:cNvSpPr/>
          <p:nvPr/>
        </p:nvSpPr>
        <p:spPr>
          <a:xfrm>
            <a:off x="1181100" y="1558290"/>
            <a:ext cx="174914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5" name="Shape 39"/>
          <p:cNvSpPr/>
          <p:nvPr/>
        </p:nvSpPr>
        <p:spPr>
          <a:xfrm>
            <a:off x="1255398" y="162972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6" name="Text 40"/>
          <p:cNvSpPr/>
          <p:nvPr/>
        </p:nvSpPr>
        <p:spPr>
          <a:xfrm>
            <a:off x="1350648" y="1584960"/>
            <a:ext cx="60043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·</a:t>
            </a:r>
            <a:endParaRPr lang="en-US" sz="825" dirty="0"/>
          </a:p>
        </p:txBody>
      </p:sp>
      <p:sp>
        <p:nvSpPr>
          <p:cNvPr id="57" name="Text 41"/>
          <p:cNvSpPr/>
          <p:nvPr/>
        </p:nvSpPr>
        <p:spPr>
          <a:xfrm>
            <a:off x="1912976" y="1584960"/>
            <a:ext cx="101917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analytics-3</a:t>
            </a:r>
            <a:endParaRPr lang="en-US" sz="825" dirty="0"/>
          </a:p>
        </p:txBody>
      </p:sp>
      <p:sp>
        <p:nvSpPr>
          <p:cNvPr id="58" name="Shape 42"/>
          <p:cNvSpPr/>
          <p:nvPr/>
        </p:nvSpPr>
        <p:spPr>
          <a:xfrm>
            <a:off x="2987399" y="1558290"/>
            <a:ext cx="1648539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59" name="Shape 43"/>
          <p:cNvSpPr/>
          <p:nvPr/>
        </p:nvSpPr>
        <p:spPr>
          <a:xfrm>
            <a:off x="3061692" y="162972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60" name="Text 44"/>
          <p:cNvSpPr/>
          <p:nvPr/>
        </p:nvSpPr>
        <p:spPr>
          <a:xfrm>
            <a:off x="3156942" y="1584960"/>
            <a:ext cx="43695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·</a:t>
            </a:r>
            <a:endParaRPr lang="en-US" sz="825" dirty="0"/>
          </a:p>
        </p:txBody>
      </p:sp>
      <p:sp>
        <p:nvSpPr>
          <p:cNvPr id="61" name="Text 45"/>
          <p:cNvSpPr/>
          <p:nvPr/>
        </p:nvSpPr>
        <p:spPr>
          <a:xfrm>
            <a:off x="3555802" y="1584960"/>
            <a:ext cx="108204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kc-fin-egress.v3</a:t>
            </a:r>
            <a:endParaRPr lang="en-US" sz="825" dirty="0"/>
          </a:p>
        </p:txBody>
      </p:sp>
      <p:sp>
        <p:nvSpPr>
          <p:cNvPr id="62" name="Shape 46"/>
          <p:cNvSpPr/>
          <p:nvPr/>
        </p:nvSpPr>
        <p:spPr>
          <a:xfrm>
            <a:off x="4693086" y="1558290"/>
            <a:ext cx="893445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63" name="Shape 47"/>
          <p:cNvSpPr/>
          <p:nvPr/>
        </p:nvSpPr>
        <p:spPr>
          <a:xfrm>
            <a:off x="4767383" y="162972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64" name="Text 48"/>
          <p:cNvSpPr/>
          <p:nvPr/>
        </p:nvSpPr>
        <p:spPr>
          <a:xfrm>
            <a:off x="4862633" y="1584960"/>
            <a:ext cx="3681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</a:t>
            </a:r>
            <a:endParaRPr lang="en-US" sz="825" dirty="0"/>
          </a:p>
        </p:txBody>
      </p:sp>
      <p:sp>
        <p:nvSpPr>
          <p:cNvPr id="65" name="Text 49"/>
          <p:cNvSpPr/>
          <p:nvPr/>
        </p:nvSpPr>
        <p:spPr>
          <a:xfrm>
            <a:off x="5192674" y="1592580"/>
            <a:ext cx="39576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#4129</a:t>
            </a:r>
            <a:endParaRPr lang="en-US" sz="825" dirty="0"/>
          </a:p>
        </p:txBody>
      </p:sp>
      <p:sp>
        <p:nvSpPr>
          <p:cNvPr id="66" name="Text 50"/>
          <p:cNvSpPr/>
          <p:nvPr/>
        </p:nvSpPr>
        <p:spPr>
          <a:xfrm>
            <a:off x="5643683" y="1584960"/>
            <a:ext cx="89189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198.51.46.21:443</a:t>
            </a:r>
            <a:endParaRPr lang="en-US" sz="825" dirty="0"/>
          </a:p>
        </p:txBody>
      </p:sp>
      <p:sp>
        <p:nvSpPr>
          <p:cNvPr id="67" name="Shape 51"/>
          <p:cNvSpPr/>
          <p:nvPr/>
        </p:nvSpPr>
        <p:spPr>
          <a:xfrm>
            <a:off x="826773" y="1986915"/>
            <a:ext cx="240030" cy="24003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68" name="Text 52"/>
          <p:cNvSpPr/>
          <p:nvPr/>
        </p:nvSpPr>
        <p:spPr>
          <a:xfrm>
            <a:off x="908684" y="2026920"/>
            <a:ext cx="1524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</a:t>
            </a:r>
            <a:endParaRPr lang="en-US" sz="900" dirty="0"/>
          </a:p>
        </p:txBody>
      </p:sp>
      <p:sp>
        <p:nvSpPr>
          <p:cNvPr id="69" name="Text 53"/>
          <p:cNvSpPr/>
          <p:nvPr/>
        </p:nvSpPr>
        <p:spPr>
          <a:xfrm>
            <a:off x="1181100" y="1986915"/>
            <a:ext cx="135862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read /etc/shadow</a:t>
            </a:r>
            <a:endParaRPr lang="en-US" sz="1050" dirty="0"/>
          </a:p>
        </p:txBody>
      </p:sp>
      <p:sp>
        <p:nvSpPr>
          <p:cNvPr id="70" name="Text 54"/>
          <p:cNvSpPr/>
          <p:nvPr/>
        </p:nvSpPr>
        <p:spPr>
          <a:xfrm>
            <a:off x="6149462" y="2010251"/>
            <a:ext cx="79617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13:30:48.902</a:t>
            </a:r>
            <a:endParaRPr lang="en-US" sz="788" dirty="0"/>
          </a:p>
        </p:txBody>
      </p:sp>
      <p:sp>
        <p:nvSpPr>
          <p:cNvPr id="71" name="Shape 55"/>
          <p:cNvSpPr/>
          <p:nvPr/>
        </p:nvSpPr>
        <p:spPr>
          <a:xfrm>
            <a:off x="1181100" y="2192655"/>
            <a:ext cx="193774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2" name="Shape 56"/>
          <p:cNvSpPr/>
          <p:nvPr/>
        </p:nvSpPr>
        <p:spPr>
          <a:xfrm>
            <a:off x="1255398" y="226409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3" name="Text 57"/>
          <p:cNvSpPr/>
          <p:nvPr/>
        </p:nvSpPr>
        <p:spPr>
          <a:xfrm>
            <a:off x="1350648" y="2219325"/>
            <a:ext cx="60043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·</a:t>
            </a:r>
            <a:endParaRPr lang="en-US" sz="825" dirty="0"/>
          </a:p>
        </p:txBody>
      </p:sp>
      <p:sp>
        <p:nvSpPr>
          <p:cNvPr id="74" name="Text 58"/>
          <p:cNvSpPr/>
          <p:nvPr/>
        </p:nvSpPr>
        <p:spPr>
          <a:xfrm>
            <a:off x="1912976" y="2219325"/>
            <a:ext cx="12077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claude-fin-bot</a:t>
            </a:r>
            <a:endParaRPr lang="en-US" sz="825" dirty="0"/>
          </a:p>
        </p:txBody>
      </p:sp>
      <p:sp>
        <p:nvSpPr>
          <p:cNvPr id="75" name="Shape 59"/>
          <p:cNvSpPr/>
          <p:nvPr/>
        </p:nvSpPr>
        <p:spPr>
          <a:xfrm>
            <a:off x="3175992" y="2192655"/>
            <a:ext cx="1522809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76" name="Shape 60"/>
          <p:cNvSpPr/>
          <p:nvPr/>
        </p:nvSpPr>
        <p:spPr>
          <a:xfrm>
            <a:off x="3250290" y="226409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77" name="Text 61"/>
          <p:cNvSpPr/>
          <p:nvPr/>
        </p:nvSpPr>
        <p:spPr>
          <a:xfrm>
            <a:off x="3345540" y="2219325"/>
            <a:ext cx="43695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·</a:t>
            </a:r>
            <a:endParaRPr lang="en-US" sz="825" dirty="0"/>
          </a:p>
        </p:txBody>
      </p:sp>
      <p:sp>
        <p:nvSpPr>
          <p:cNvPr id="78" name="Text 62"/>
          <p:cNvSpPr/>
          <p:nvPr/>
        </p:nvSpPr>
        <p:spPr>
          <a:xfrm>
            <a:off x="3744399" y="2219325"/>
            <a:ext cx="95631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kc-agent-fs.v1</a:t>
            </a:r>
            <a:endParaRPr lang="en-US" sz="825" dirty="0"/>
          </a:p>
        </p:txBody>
      </p:sp>
      <p:sp>
        <p:nvSpPr>
          <p:cNvPr id="79" name="Shape 63"/>
          <p:cNvSpPr/>
          <p:nvPr/>
        </p:nvSpPr>
        <p:spPr>
          <a:xfrm>
            <a:off x="4755952" y="2192655"/>
            <a:ext cx="873919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80" name="Shape 64"/>
          <p:cNvSpPr/>
          <p:nvPr/>
        </p:nvSpPr>
        <p:spPr>
          <a:xfrm>
            <a:off x="4830249" y="226409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81" name="Text 65"/>
          <p:cNvSpPr/>
          <p:nvPr/>
        </p:nvSpPr>
        <p:spPr>
          <a:xfrm>
            <a:off x="4925499" y="2219325"/>
            <a:ext cx="3681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</a:t>
            </a:r>
            <a:endParaRPr lang="en-US" sz="825" dirty="0"/>
          </a:p>
        </p:txBody>
      </p:sp>
      <p:sp>
        <p:nvSpPr>
          <p:cNvPr id="82" name="Text 66"/>
          <p:cNvSpPr/>
          <p:nvPr/>
        </p:nvSpPr>
        <p:spPr>
          <a:xfrm>
            <a:off x="5255540" y="2226945"/>
            <a:ext cx="37623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#4118</a:t>
            </a:r>
            <a:endParaRPr lang="en-US" sz="825" dirty="0"/>
          </a:p>
        </p:txBody>
      </p:sp>
      <p:sp>
        <p:nvSpPr>
          <p:cNvPr id="83" name="Text 67"/>
          <p:cNvSpPr/>
          <p:nvPr/>
        </p:nvSpPr>
        <p:spPr>
          <a:xfrm>
            <a:off x="5687020" y="2219325"/>
            <a:ext cx="72282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open() denied</a:t>
            </a:r>
            <a:endParaRPr lang="en-US" sz="825" dirty="0"/>
          </a:p>
        </p:txBody>
      </p:sp>
      <p:sp>
        <p:nvSpPr>
          <p:cNvPr id="84" name="Shape 68"/>
          <p:cNvSpPr/>
          <p:nvPr/>
        </p:nvSpPr>
        <p:spPr>
          <a:xfrm>
            <a:off x="826773" y="2621280"/>
            <a:ext cx="240030" cy="24003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85" name="Text 69"/>
          <p:cNvSpPr/>
          <p:nvPr/>
        </p:nvSpPr>
        <p:spPr>
          <a:xfrm>
            <a:off x="908684" y="2661285"/>
            <a:ext cx="1524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</a:t>
            </a:r>
            <a:endParaRPr lang="en-US" sz="900" dirty="0"/>
          </a:p>
        </p:txBody>
      </p:sp>
      <p:sp>
        <p:nvSpPr>
          <p:cNvPr id="86" name="Text 70"/>
          <p:cNvSpPr/>
          <p:nvPr/>
        </p:nvSpPr>
        <p:spPr>
          <a:xfrm>
            <a:off x="1181100" y="2621280"/>
            <a:ext cx="152340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outbound DNS · DGA</a:t>
            </a:r>
            <a:endParaRPr lang="en-US" sz="1050" dirty="0"/>
          </a:p>
        </p:txBody>
      </p:sp>
      <p:sp>
        <p:nvSpPr>
          <p:cNvPr id="87" name="Text 71"/>
          <p:cNvSpPr/>
          <p:nvPr/>
        </p:nvSpPr>
        <p:spPr>
          <a:xfrm>
            <a:off x="6149462" y="2644616"/>
            <a:ext cx="79617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13:29:13.541</a:t>
            </a:r>
            <a:endParaRPr lang="en-US" sz="788" dirty="0"/>
          </a:p>
        </p:txBody>
      </p:sp>
      <p:sp>
        <p:nvSpPr>
          <p:cNvPr id="88" name="Shape 72"/>
          <p:cNvSpPr/>
          <p:nvPr/>
        </p:nvSpPr>
        <p:spPr>
          <a:xfrm>
            <a:off x="1181100" y="2827020"/>
            <a:ext cx="168628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9" name="Shape 73"/>
          <p:cNvSpPr/>
          <p:nvPr/>
        </p:nvSpPr>
        <p:spPr>
          <a:xfrm>
            <a:off x="1255398" y="289845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90" name="Text 74"/>
          <p:cNvSpPr/>
          <p:nvPr/>
        </p:nvSpPr>
        <p:spPr>
          <a:xfrm>
            <a:off x="1350648" y="2853690"/>
            <a:ext cx="60043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·</a:t>
            </a:r>
            <a:endParaRPr lang="en-US" sz="825" dirty="0"/>
          </a:p>
        </p:txBody>
      </p:sp>
      <p:sp>
        <p:nvSpPr>
          <p:cNvPr id="91" name="Text 75"/>
          <p:cNvSpPr/>
          <p:nvPr/>
        </p:nvSpPr>
        <p:spPr>
          <a:xfrm>
            <a:off x="1912976" y="2853690"/>
            <a:ext cx="95631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data-eng-2</a:t>
            </a:r>
            <a:endParaRPr lang="en-US" sz="825" dirty="0"/>
          </a:p>
        </p:txBody>
      </p:sp>
      <p:sp>
        <p:nvSpPr>
          <p:cNvPr id="92" name="Shape 76"/>
          <p:cNvSpPr/>
          <p:nvPr/>
        </p:nvSpPr>
        <p:spPr>
          <a:xfrm>
            <a:off x="2924533" y="2827020"/>
            <a:ext cx="1459944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93" name="Shape 77"/>
          <p:cNvSpPr/>
          <p:nvPr/>
        </p:nvSpPr>
        <p:spPr>
          <a:xfrm>
            <a:off x="2998826" y="289845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94" name="Text 78"/>
          <p:cNvSpPr/>
          <p:nvPr/>
        </p:nvSpPr>
        <p:spPr>
          <a:xfrm>
            <a:off x="3094076" y="2853690"/>
            <a:ext cx="43695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·</a:t>
            </a:r>
            <a:endParaRPr lang="en-US" sz="825" dirty="0"/>
          </a:p>
        </p:txBody>
      </p:sp>
      <p:sp>
        <p:nvSpPr>
          <p:cNvPr id="95" name="Text 79"/>
          <p:cNvSpPr/>
          <p:nvPr/>
        </p:nvSpPr>
        <p:spPr>
          <a:xfrm>
            <a:off x="3492936" y="2853690"/>
            <a:ext cx="89344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kc-dns-dga.v2</a:t>
            </a:r>
            <a:endParaRPr lang="en-US" sz="825" dirty="0"/>
          </a:p>
        </p:txBody>
      </p:sp>
      <p:sp>
        <p:nvSpPr>
          <p:cNvPr id="96" name="Shape 80"/>
          <p:cNvSpPr/>
          <p:nvPr/>
        </p:nvSpPr>
        <p:spPr>
          <a:xfrm>
            <a:off x="4441627" y="2827020"/>
            <a:ext cx="88392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97" name="Shape 81"/>
          <p:cNvSpPr/>
          <p:nvPr/>
        </p:nvSpPr>
        <p:spPr>
          <a:xfrm>
            <a:off x="4515924" y="289845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98" name="Text 82"/>
          <p:cNvSpPr/>
          <p:nvPr/>
        </p:nvSpPr>
        <p:spPr>
          <a:xfrm>
            <a:off x="4611174" y="2853690"/>
            <a:ext cx="3681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</a:t>
            </a:r>
            <a:endParaRPr lang="en-US" sz="825" dirty="0"/>
          </a:p>
        </p:txBody>
      </p:sp>
      <p:sp>
        <p:nvSpPr>
          <p:cNvPr id="99" name="Text 83"/>
          <p:cNvSpPr/>
          <p:nvPr/>
        </p:nvSpPr>
        <p:spPr>
          <a:xfrm>
            <a:off x="4941215" y="2861310"/>
            <a:ext cx="3862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#4101</a:t>
            </a:r>
            <a:endParaRPr lang="en-US" sz="825" dirty="0"/>
          </a:p>
        </p:txBody>
      </p:sp>
      <p:sp>
        <p:nvSpPr>
          <p:cNvPr id="100" name="Text 84"/>
          <p:cNvSpPr/>
          <p:nvPr/>
        </p:nvSpPr>
        <p:spPr>
          <a:xfrm>
            <a:off x="5382699" y="2853690"/>
            <a:ext cx="56530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*.xn--jk2…</a:t>
            </a:r>
            <a:endParaRPr lang="en-US" sz="825" dirty="0"/>
          </a:p>
        </p:txBody>
      </p:sp>
      <p:sp>
        <p:nvSpPr>
          <p:cNvPr id="101" name="Shape 85"/>
          <p:cNvSpPr/>
          <p:nvPr/>
        </p:nvSpPr>
        <p:spPr>
          <a:xfrm>
            <a:off x="826773" y="3255645"/>
            <a:ext cx="240030" cy="24003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02" name="Text 86"/>
          <p:cNvSpPr/>
          <p:nvPr/>
        </p:nvSpPr>
        <p:spPr>
          <a:xfrm>
            <a:off x="908684" y="3295650"/>
            <a:ext cx="1524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</a:t>
            </a:r>
            <a:endParaRPr lang="en-US" sz="900" dirty="0"/>
          </a:p>
        </p:txBody>
      </p:sp>
      <p:sp>
        <p:nvSpPr>
          <p:cNvPr id="103" name="Text 87"/>
          <p:cNvSpPr/>
          <p:nvPr/>
        </p:nvSpPr>
        <p:spPr>
          <a:xfrm>
            <a:off x="1181100" y="3255645"/>
            <a:ext cx="144839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ptrace from sidecar</a:t>
            </a:r>
            <a:endParaRPr lang="en-US" sz="1050" dirty="0"/>
          </a:p>
        </p:txBody>
      </p:sp>
      <p:sp>
        <p:nvSpPr>
          <p:cNvPr id="104" name="Text 88"/>
          <p:cNvSpPr/>
          <p:nvPr/>
        </p:nvSpPr>
        <p:spPr>
          <a:xfrm>
            <a:off x="6149462" y="3278981"/>
            <a:ext cx="79617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13:28:01.214</a:t>
            </a:r>
            <a:endParaRPr lang="en-US" sz="788" dirty="0"/>
          </a:p>
        </p:txBody>
      </p:sp>
      <p:sp>
        <p:nvSpPr>
          <p:cNvPr id="105" name="Shape 89"/>
          <p:cNvSpPr/>
          <p:nvPr/>
        </p:nvSpPr>
        <p:spPr>
          <a:xfrm>
            <a:off x="1181100" y="3461385"/>
            <a:ext cx="193774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6" name="Shape 90"/>
          <p:cNvSpPr/>
          <p:nvPr/>
        </p:nvSpPr>
        <p:spPr>
          <a:xfrm>
            <a:off x="1255398" y="353282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07" name="Text 91"/>
          <p:cNvSpPr/>
          <p:nvPr/>
        </p:nvSpPr>
        <p:spPr>
          <a:xfrm>
            <a:off x="1350648" y="3488055"/>
            <a:ext cx="60043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·</a:t>
            </a:r>
            <a:endParaRPr lang="en-US" sz="825" dirty="0"/>
          </a:p>
        </p:txBody>
      </p:sp>
      <p:sp>
        <p:nvSpPr>
          <p:cNvPr id="108" name="Text 92"/>
          <p:cNvSpPr/>
          <p:nvPr/>
        </p:nvSpPr>
        <p:spPr>
          <a:xfrm>
            <a:off x="1912976" y="3488055"/>
            <a:ext cx="12077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payments-9c4f1</a:t>
            </a:r>
            <a:endParaRPr lang="en-US" sz="825" dirty="0"/>
          </a:p>
        </p:txBody>
      </p:sp>
      <p:sp>
        <p:nvSpPr>
          <p:cNvPr id="109" name="Shape 93"/>
          <p:cNvSpPr/>
          <p:nvPr/>
        </p:nvSpPr>
        <p:spPr>
          <a:xfrm>
            <a:off x="3175992" y="3461385"/>
            <a:ext cx="1585674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10" name="Shape 94"/>
          <p:cNvSpPr/>
          <p:nvPr/>
        </p:nvSpPr>
        <p:spPr>
          <a:xfrm>
            <a:off x="3250290" y="353282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11" name="Text 95"/>
          <p:cNvSpPr/>
          <p:nvPr/>
        </p:nvSpPr>
        <p:spPr>
          <a:xfrm>
            <a:off x="3345540" y="3488055"/>
            <a:ext cx="43695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·</a:t>
            </a:r>
            <a:endParaRPr lang="en-US" sz="825" dirty="0"/>
          </a:p>
        </p:txBody>
      </p:sp>
      <p:sp>
        <p:nvSpPr>
          <p:cNvPr id="112" name="Text 96"/>
          <p:cNvSpPr/>
          <p:nvPr/>
        </p:nvSpPr>
        <p:spPr>
          <a:xfrm>
            <a:off x="3744399" y="3488055"/>
            <a:ext cx="101917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kc-no-ptrace.v4</a:t>
            </a:r>
            <a:endParaRPr lang="en-US" sz="825" dirty="0"/>
          </a:p>
        </p:txBody>
      </p:sp>
      <p:sp>
        <p:nvSpPr>
          <p:cNvPr id="113" name="Shape 97"/>
          <p:cNvSpPr/>
          <p:nvPr/>
        </p:nvSpPr>
        <p:spPr>
          <a:xfrm>
            <a:off x="4818817" y="3461385"/>
            <a:ext cx="893445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14" name="Shape 98"/>
          <p:cNvSpPr/>
          <p:nvPr/>
        </p:nvSpPr>
        <p:spPr>
          <a:xfrm>
            <a:off x="4893111" y="353282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15" name="Text 99"/>
          <p:cNvSpPr/>
          <p:nvPr/>
        </p:nvSpPr>
        <p:spPr>
          <a:xfrm>
            <a:off x="4988361" y="3488055"/>
            <a:ext cx="3681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</a:t>
            </a:r>
            <a:endParaRPr lang="en-US" sz="825" dirty="0"/>
          </a:p>
        </p:txBody>
      </p:sp>
      <p:sp>
        <p:nvSpPr>
          <p:cNvPr id="116" name="Text 100"/>
          <p:cNvSpPr/>
          <p:nvPr/>
        </p:nvSpPr>
        <p:spPr>
          <a:xfrm>
            <a:off x="5318406" y="3495675"/>
            <a:ext cx="39576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#4129</a:t>
            </a:r>
            <a:endParaRPr lang="en-US" sz="825" dirty="0"/>
          </a:p>
        </p:txBody>
      </p:sp>
      <p:sp>
        <p:nvSpPr>
          <p:cNvPr id="117" name="Text 101"/>
          <p:cNvSpPr/>
          <p:nvPr/>
        </p:nvSpPr>
        <p:spPr>
          <a:xfrm>
            <a:off x="5769411" y="3488055"/>
            <a:ext cx="71092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syscall ptrace</a:t>
            </a:r>
            <a:endParaRPr lang="en-US" sz="825" dirty="0"/>
          </a:p>
        </p:txBody>
      </p:sp>
      <p:sp>
        <p:nvSpPr>
          <p:cNvPr id="118" name="Shape 102"/>
          <p:cNvSpPr/>
          <p:nvPr/>
        </p:nvSpPr>
        <p:spPr>
          <a:xfrm>
            <a:off x="826773" y="3890010"/>
            <a:ext cx="240030" cy="24003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19" name="Text 103"/>
          <p:cNvSpPr/>
          <p:nvPr/>
        </p:nvSpPr>
        <p:spPr>
          <a:xfrm>
            <a:off x="908684" y="3930015"/>
            <a:ext cx="1524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</a:t>
            </a:r>
            <a:endParaRPr lang="en-US" sz="900" dirty="0"/>
          </a:p>
        </p:txBody>
      </p:sp>
      <p:sp>
        <p:nvSpPr>
          <p:cNvPr id="120" name="Text 104"/>
          <p:cNvSpPr/>
          <p:nvPr/>
        </p:nvSpPr>
        <p:spPr>
          <a:xfrm>
            <a:off x="1181100" y="3890010"/>
            <a:ext cx="1264563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exec /usr/bin/nc</a:t>
            </a:r>
            <a:endParaRPr lang="en-US" sz="1050" dirty="0"/>
          </a:p>
        </p:txBody>
      </p:sp>
      <p:sp>
        <p:nvSpPr>
          <p:cNvPr id="121" name="Text 105"/>
          <p:cNvSpPr/>
          <p:nvPr/>
        </p:nvSpPr>
        <p:spPr>
          <a:xfrm>
            <a:off x="6149462" y="3913346"/>
            <a:ext cx="79617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13:24:47.998</a:t>
            </a:r>
            <a:endParaRPr lang="en-US" sz="788" dirty="0"/>
          </a:p>
        </p:txBody>
      </p:sp>
      <p:sp>
        <p:nvSpPr>
          <p:cNvPr id="122" name="Shape 106"/>
          <p:cNvSpPr/>
          <p:nvPr/>
        </p:nvSpPr>
        <p:spPr>
          <a:xfrm>
            <a:off x="1181100" y="4095750"/>
            <a:ext cx="156055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3" name="Shape 107"/>
          <p:cNvSpPr/>
          <p:nvPr/>
        </p:nvSpPr>
        <p:spPr>
          <a:xfrm>
            <a:off x="1255398" y="416718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24" name="Text 108"/>
          <p:cNvSpPr/>
          <p:nvPr/>
        </p:nvSpPr>
        <p:spPr>
          <a:xfrm>
            <a:off x="1350648" y="4122420"/>
            <a:ext cx="60043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·</a:t>
            </a:r>
            <a:endParaRPr lang="en-US" sz="825" dirty="0"/>
          </a:p>
        </p:txBody>
      </p:sp>
      <p:sp>
        <p:nvSpPr>
          <p:cNvPr id="125" name="Text 109"/>
          <p:cNvSpPr/>
          <p:nvPr/>
        </p:nvSpPr>
        <p:spPr>
          <a:xfrm>
            <a:off x="1912976" y="4122420"/>
            <a:ext cx="8305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 finsrv-22</a:t>
            </a:r>
            <a:endParaRPr lang="en-US" sz="825" dirty="0"/>
          </a:p>
        </p:txBody>
      </p:sp>
      <p:sp>
        <p:nvSpPr>
          <p:cNvPr id="126" name="Shape 110"/>
          <p:cNvSpPr/>
          <p:nvPr/>
        </p:nvSpPr>
        <p:spPr>
          <a:xfrm>
            <a:off x="2798801" y="4095750"/>
            <a:ext cx="1585674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27" name="Shape 111"/>
          <p:cNvSpPr/>
          <p:nvPr/>
        </p:nvSpPr>
        <p:spPr>
          <a:xfrm>
            <a:off x="2873099" y="416718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8" name="Text 112"/>
          <p:cNvSpPr/>
          <p:nvPr/>
        </p:nvSpPr>
        <p:spPr>
          <a:xfrm>
            <a:off x="2968349" y="4122420"/>
            <a:ext cx="43695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·</a:t>
            </a:r>
            <a:endParaRPr lang="en-US" sz="825" dirty="0"/>
          </a:p>
        </p:txBody>
      </p:sp>
      <p:sp>
        <p:nvSpPr>
          <p:cNvPr id="129" name="Text 113"/>
          <p:cNvSpPr/>
          <p:nvPr/>
        </p:nvSpPr>
        <p:spPr>
          <a:xfrm>
            <a:off x="3367208" y="4122420"/>
            <a:ext cx="101917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kc-no-netcat.v1</a:t>
            </a:r>
            <a:endParaRPr lang="en-US" sz="825" dirty="0"/>
          </a:p>
        </p:txBody>
      </p:sp>
      <p:sp>
        <p:nvSpPr>
          <p:cNvPr id="130" name="Shape 114"/>
          <p:cNvSpPr/>
          <p:nvPr/>
        </p:nvSpPr>
        <p:spPr>
          <a:xfrm>
            <a:off x="4441627" y="4095750"/>
            <a:ext cx="870823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31" name="Shape 115"/>
          <p:cNvSpPr/>
          <p:nvPr/>
        </p:nvSpPr>
        <p:spPr>
          <a:xfrm>
            <a:off x="4515924" y="416718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32" name="Text 116"/>
          <p:cNvSpPr/>
          <p:nvPr/>
        </p:nvSpPr>
        <p:spPr>
          <a:xfrm>
            <a:off x="4611174" y="4122420"/>
            <a:ext cx="3681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</a:t>
            </a:r>
            <a:endParaRPr lang="en-US" sz="825" dirty="0"/>
          </a:p>
        </p:txBody>
      </p:sp>
      <p:sp>
        <p:nvSpPr>
          <p:cNvPr id="133" name="Text 117"/>
          <p:cNvSpPr/>
          <p:nvPr/>
        </p:nvSpPr>
        <p:spPr>
          <a:xfrm>
            <a:off x="4941215" y="4130040"/>
            <a:ext cx="3731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#4112</a:t>
            </a:r>
            <a:endParaRPr lang="en-US" sz="825" dirty="0"/>
          </a:p>
        </p:txBody>
      </p:sp>
      <p:sp>
        <p:nvSpPr>
          <p:cNvPr id="134" name="Text 118"/>
          <p:cNvSpPr/>
          <p:nvPr/>
        </p:nvSpPr>
        <p:spPr>
          <a:xfrm>
            <a:off x="5369602" y="4122420"/>
            <a:ext cx="75199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execve denied</a:t>
            </a:r>
            <a:endParaRPr lang="en-US" sz="825" dirty="0"/>
          </a:p>
        </p:txBody>
      </p:sp>
      <p:sp>
        <p:nvSpPr>
          <p:cNvPr id="135" name="Shape 119"/>
          <p:cNvSpPr/>
          <p:nvPr/>
        </p:nvSpPr>
        <p:spPr>
          <a:xfrm>
            <a:off x="826773" y="4524375"/>
            <a:ext cx="240030" cy="24003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36" name="Text 120"/>
          <p:cNvSpPr/>
          <p:nvPr/>
        </p:nvSpPr>
        <p:spPr>
          <a:xfrm>
            <a:off x="908684" y="4564380"/>
            <a:ext cx="1524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</a:t>
            </a:r>
            <a:endParaRPr lang="en-US" sz="900" dirty="0"/>
          </a:p>
        </p:txBody>
      </p:sp>
      <p:sp>
        <p:nvSpPr>
          <p:cNvPr id="137" name="Text 121"/>
          <p:cNvSpPr/>
          <p:nvPr/>
        </p:nvSpPr>
        <p:spPr>
          <a:xfrm>
            <a:off x="1181100" y="4524375"/>
            <a:ext cx="81855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chmod +s</a:t>
            </a:r>
            <a:endParaRPr lang="en-US" sz="1050" dirty="0"/>
          </a:p>
        </p:txBody>
      </p:sp>
      <p:sp>
        <p:nvSpPr>
          <p:cNvPr id="138" name="Text 122"/>
          <p:cNvSpPr/>
          <p:nvPr/>
        </p:nvSpPr>
        <p:spPr>
          <a:xfrm>
            <a:off x="6149462" y="4547711"/>
            <a:ext cx="79617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13:22:33.610</a:t>
            </a:r>
            <a:endParaRPr lang="en-US" sz="788" dirty="0"/>
          </a:p>
        </p:txBody>
      </p:sp>
      <p:sp>
        <p:nvSpPr>
          <p:cNvPr id="139" name="Shape 123"/>
          <p:cNvSpPr/>
          <p:nvPr/>
        </p:nvSpPr>
        <p:spPr>
          <a:xfrm>
            <a:off x="1181100" y="4730115"/>
            <a:ext cx="162341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0" name="Shape 124"/>
          <p:cNvSpPr/>
          <p:nvPr/>
        </p:nvSpPr>
        <p:spPr>
          <a:xfrm>
            <a:off x="1255398" y="4801552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41" name="Text 125"/>
          <p:cNvSpPr/>
          <p:nvPr/>
        </p:nvSpPr>
        <p:spPr>
          <a:xfrm>
            <a:off x="1350648" y="4756785"/>
            <a:ext cx="60043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·</a:t>
            </a:r>
            <a:endParaRPr lang="en-US" sz="825" dirty="0"/>
          </a:p>
        </p:txBody>
      </p:sp>
      <p:sp>
        <p:nvSpPr>
          <p:cNvPr id="142" name="Text 126"/>
          <p:cNvSpPr/>
          <p:nvPr/>
        </p:nvSpPr>
        <p:spPr>
          <a:xfrm>
            <a:off x="1912976" y="4756785"/>
            <a:ext cx="89344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jenkins-1</a:t>
            </a:r>
            <a:endParaRPr lang="en-US" sz="825" dirty="0"/>
          </a:p>
        </p:txBody>
      </p:sp>
      <p:sp>
        <p:nvSpPr>
          <p:cNvPr id="143" name="Shape 127"/>
          <p:cNvSpPr/>
          <p:nvPr/>
        </p:nvSpPr>
        <p:spPr>
          <a:xfrm>
            <a:off x="2861667" y="4730115"/>
            <a:ext cx="1459944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44" name="Shape 128"/>
          <p:cNvSpPr/>
          <p:nvPr/>
        </p:nvSpPr>
        <p:spPr>
          <a:xfrm>
            <a:off x="2935965" y="480155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45" name="Text 129"/>
          <p:cNvSpPr/>
          <p:nvPr/>
        </p:nvSpPr>
        <p:spPr>
          <a:xfrm>
            <a:off x="3031215" y="4756785"/>
            <a:ext cx="43695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·</a:t>
            </a:r>
            <a:endParaRPr lang="en-US" sz="825" dirty="0"/>
          </a:p>
        </p:txBody>
      </p:sp>
      <p:sp>
        <p:nvSpPr>
          <p:cNvPr id="146" name="Text 130"/>
          <p:cNvSpPr/>
          <p:nvPr/>
        </p:nvSpPr>
        <p:spPr>
          <a:xfrm>
            <a:off x="3430074" y="4756785"/>
            <a:ext cx="89344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kc-no-suid.v3</a:t>
            </a:r>
            <a:endParaRPr lang="en-US" sz="825" dirty="0"/>
          </a:p>
        </p:txBody>
      </p:sp>
      <p:sp>
        <p:nvSpPr>
          <p:cNvPr id="147" name="Shape 131"/>
          <p:cNvSpPr/>
          <p:nvPr/>
        </p:nvSpPr>
        <p:spPr>
          <a:xfrm>
            <a:off x="4378761" y="4730115"/>
            <a:ext cx="671036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48" name="Shape 132"/>
          <p:cNvSpPr/>
          <p:nvPr/>
        </p:nvSpPr>
        <p:spPr>
          <a:xfrm>
            <a:off x="4453058" y="4801552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49" name="Text 133"/>
          <p:cNvSpPr/>
          <p:nvPr/>
        </p:nvSpPr>
        <p:spPr>
          <a:xfrm>
            <a:off x="4548308" y="4756785"/>
            <a:ext cx="3681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</a:t>
            </a:r>
            <a:endParaRPr lang="en-US" sz="825" dirty="0"/>
          </a:p>
        </p:txBody>
      </p:sp>
      <p:sp>
        <p:nvSpPr>
          <p:cNvPr id="150" name="Text 134"/>
          <p:cNvSpPr/>
          <p:nvPr/>
        </p:nvSpPr>
        <p:spPr>
          <a:xfrm>
            <a:off x="4878349" y="4764405"/>
            <a:ext cx="17335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151" name="Text 135"/>
          <p:cNvSpPr/>
          <p:nvPr/>
        </p:nvSpPr>
        <p:spPr>
          <a:xfrm>
            <a:off x="5106949" y="4756785"/>
            <a:ext cx="57697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fchmodat()</a:t>
            </a:r>
            <a:endParaRPr lang="en-US" sz="825" dirty="0"/>
          </a:p>
        </p:txBody>
      </p:sp>
      <p:sp>
        <p:nvSpPr>
          <p:cNvPr id="152" name="Shape 136"/>
          <p:cNvSpPr/>
          <p:nvPr/>
        </p:nvSpPr>
        <p:spPr>
          <a:xfrm>
            <a:off x="826773" y="5158740"/>
            <a:ext cx="240030" cy="24003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53" name="Text 137"/>
          <p:cNvSpPr/>
          <p:nvPr/>
        </p:nvSpPr>
        <p:spPr>
          <a:xfrm>
            <a:off x="908684" y="5198745"/>
            <a:ext cx="1524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</a:t>
            </a:r>
            <a:endParaRPr lang="en-US" sz="900" dirty="0"/>
          </a:p>
        </p:txBody>
      </p:sp>
      <p:sp>
        <p:nvSpPr>
          <p:cNvPr id="154" name="Text 138"/>
          <p:cNvSpPr/>
          <p:nvPr/>
        </p:nvSpPr>
        <p:spPr>
          <a:xfrm>
            <a:off x="1181100" y="5158740"/>
            <a:ext cx="147994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socket() to TOR ASN</a:t>
            </a:r>
            <a:endParaRPr lang="en-US" sz="1050" dirty="0"/>
          </a:p>
        </p:txBody>
      </p:sp>
      <p:sp>
        <p:nvSpPr>
          <p:cNvPr id="155" name="Text 139"/>
          <p:cNvSpPr/>
          <p:nvPr/>
        </p:nvSpPr>
        <p:spPr>
          <a:xfrm>
            <a:off x="6149462" y="5182077"/>
            <a:ext cx="79617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13:21:09.114</a:t>
            </a:r>
            <a:endParaRPr lang="en-US" sz="788" dirty="0"/>
          </a:p>
        </p:txBody>
      </p:sp>
      <p:sp>
        <p:nvSpPr>
          <p:cNvPr id="156" name="Shape 140"/>
          <p:cNvSpPr/>
          <p:nvPr/>
        </p:nvSpPr>
        <p:spPr>
          <a:xfrm>
            <a:off x="1181100" y="5364480"/>
            <a:ext cx="200060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57" name="Shape 141"/>
          <p:cNvSpPr/>
          <p:nvPr/>
        </p:nvSpPr>
        <p:spPr>
          <a:xfrm>
            <a:off x="1255398" y="543591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58" name="Text 142"/>
          <p:cNvSpPr/>
          <p:nvPr/>
        </p:nvSpPr>
        <p:spPr>
          <a:xfrm>
            <a:off x="1350648" y="5391150"/>
            <a:ext cx="60043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·</a:t>
            </a:r>
            <a:endParaRPr lang="en-US" sz="825" dirty="0"/>
          </a:p>
        </p:txBody>
      </p:sp>
      <p:sp>
        <p:nvSpPr>
          <p:cNvPr id="159" name="Text 143"/>
          <p:cNvSpPr/>
          <p:nvPr/>
        </p:nvSpPr>
        <p:spPr>
          <a:xfrm>
            <a:off x="1912976" y="5391150"/>
            <a:ext cx="127063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claude-helpdesk</a:t>
            </a:r>
            <a:endParaRPr lang="en-US" sz="825" dirty="0"/>
          </a:p>
        </p:txBody>
      </p:sp>
      <p:sp>
        <p:nvSpPr>
          <p:cNvPr id="160" name="Shape 144"/>
          <p:cNvSpPr/>
          <p:nvPr/>
        </p:nvSpPr>
        <p:spPr>
          <a:xfrm>
            <a:off x="3238858" y="5364480"/>
            <a:ext cx="1397079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61" name="Shape 145"/>
          <p:cNvSpPr/>
          <p:nvPr/>
        </p:nvSpPr>
        <p:spPr>
          <a:xfrm>
            <a:off x="3313151" y="543591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62" name="Text 146"/>
          <p:cNvSpPr/>
          <p:nvPr/>
        </p:nvSpPr>
        <p:spPr>
          <a:xfrm>
            <a:off x="3408401" y="5391150"/>
            <a:ext cx="43695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·</a:t>
            </a:r>
            <a:endParaRPr lang="en-US" sz="825" dirty="0"/>
          </a:p>
        </p:txBody>
      </p:sp>
      <p:sp>
        <p:nvSpPr>
          <p:cNvPr id="163" name="Text 147"/>
          <p:cNvSpPr/>
          <p:nvPr/>
        </p:nvSpPr>
        <p:spPr>
          <a:xfrm>
            <a:off x="3807261" y="5391150"/>
            <a:ext cx="8305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kc-no-tor.v2</a:t>
            </a:r>
            <a:endParaRPr lang="en-US" sz="825" dirty="0"/>
          </a:p>
        </p:txBody>
      </p:sp>
      <p:sp>
        <p:nvSpPr>
          <p:cNvPr id="164" name="Shape 148"/>
          <p:cNvSpPr/>
          <p:nvPr/>
        </p:nvSpPr>
        <p:spPr>
          <a:xfrm>
            <a:off x="4693086" y="5364480"/>
            <a:ext cx="94238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65" name="Shape 149"/>
          <p:cNvSpPr/>
          <p:nvPr/>
        </p:nvSpPr>
        <p:spPr>
          <a:xfrm>
            <a:off x="4767383" y="543591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66" name="Text 150"/>
          <p:cNvSpPr/>
          <p:nvPr/>
        </p:nvSpPr>
        <p:spPr>
          <a:xfrm>
            <a:off x="4862633" y="5391150"/>
            <a:ext cx="3681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</a:t>
            </a:r>
            <a:endParaRPr lang="en-US" sz="825" dirty="0"/>
          </a:p>
        </p:txBody>
      </p:sp>
      <p:sp>
        <p:nvSpPr>
          <p:cNvPr id="167" name="Text 151"/>
          <p:cNvSpPr/>
          <p:nvPr/>
        </p:nvSpPr>
        <p:spPr>
          <a:xfrm>
            <a:off x="5192674" y="5398770"/>
            <a:ext cx="44469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#4090</a:t>
            </a:r>
            <a:endParaRPr lang="en-US" sz="825" dirty="0"/>
          </a:p>
        </p:txBody>
      </p:sp>
      <p:sp>
        <p:nvSpPr>
          <p:cNvPr id="168" name="Text 152"/>
          <p:cNvSpPr/>
          <p:nvPr/>
        </p:nvSpPr>
        <p:spPr>
          <a:xfrm>
            <a:off x="5692615" y="5391150"/>
            <a:ext cx="56566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AS199436</a:t>
            </a:r>
            <a:endParaRPr lang="en-US" sz="825" dirty="0"/>
          </a:p>
        </p:txBody>
      </p:sp>
      <p:sp>
        <p:nvSpPr>
          <p:cNvPr id="169" name="Shape 153"/>
          <p:cNvSpPr/>
          <p:nvPr/>
        </p:nvSpPr>
        <p:spPr>
          <a:xfrm>
            <a:off x="826773" y="5793105"/>
            <a:ext cx="240030" cy="24003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0" name="Text 154"/>
          <p:cNvSpPr/>
          <p:nvPr/>
        </p:nvSpPr>
        <p:spPr>
          <a:xfrm>
            <a:off x="908684" y="5833110"/>
            <a:ext cx="1524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</a:t>
            </a:r>
            <a:endParaRPr lang="en-US" sz="900" dirty="0"/>
          </a:p>
        </p:txBody>
      </p:sp>
      <p:sp>
        <p:nvSpPr>
          <p:cNvPr id="171" name="Text 155"/>
          <p:cNvSpPr/>
          <p:nvPr/>
        </p:nvSpPr>
        <p:spPr>
          <a:xfrm>
            <a:off x="1181100" y="5793105"/>
            <a:ext cx="153066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shell escape attempt</a:t>
            </a:r>
            <a:endParaRPr lang="en-US" sz="1050" dirty="0"/>
          </a:p>
        </p:txBody>
      </p:sp>
      <p:sp>
        <p:nvSpPr>
          <p:cNvPr id="172" name="Text 156"/>
          <p:cNvSpPr/>
          <p:nvPr/>
        </p:nvSpPr>
        <p:spPr>
          <a:xfrm>
            <a:off x="6149462" y="5816441"/>
            <a:ext cx="79617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13:19:55.700</a:t>
            </a:r>
            <a:endParaRPr lang="en-US" sz="788" dirty="0"/>
          </a:p>
        </p:txBody>
      </p:sp>
      <p:sp>
        <p:nvSpPr>
          <p:cNvPr id="173" name="Shape 157"/>
          <p:cNvSpPr/>
          <p:nvPr/>
        </p:nvSpPr>
        <p:spPr>
          <a:xfrm>
            <a:off x="1181100" y="5998845"/>
            <a:ext cx="187487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4" name="Shape 158"/>
          <p:cNvSpPr/>
          <p:nvPr/>
        </p:nvSpPr>
        <p:spPr>
          <a:xfrm>
            <a:off x="1255398" y="607028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75" name="Text 159"/>
          <p:cNvSpPr/>
          <p:nvPr/>
        </p:nvSpPr>
        <p:spPr>
          <a:xfrm>
            <a:off x="1350648" y="6025515"/>
            <a:ext cx="60043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·</a:t>
            </a:r>
            <a:endParaRPr lang="en-US" sz="825" dirty="0"/>
          </a:p>
        </p:txBody>
      </p:sp>
      <p:sp>
        <p:nvSpPr>
          <p:cNvPr id="176" name="Text 160"/>
          <p:cNvSpPr/>
          <p:nvPr/>
        </p:nvSpPr>
        <p:spPr>
          <a:xfrm>
            <a:off x="1912976" y="6025515"/>
            <a:ext cx="114490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llm-gateway</a:t>
            </a:r>
            <a:endParaRPr lang="en-US" sz="825" dirty="0"/>
          </a:p>
        </p:txBody>
      </p:sp>
      <p:sp>
        <p:nvSpPr>
          <p:cNvPr id="177" name="Shape 161"/>
          <p:cNvSpPr/>
          <p:nvPr/>
        </p:nvSpPr>
        <p:spPr>
          <a:xfrm>
            <a:off x="3113126" y="5998845"/>
            <a:ext cx="1585674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78" name="Shape 162"/>
          <p:cNvSpPr/>
          <p:nvPr/>
        </p:nvSpPr>
        <p:spPr>
          <a:xfrm>
            <a:off x="3187424" y="607028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79" name="Text 163"/>
          <p:cNvSpPr/>
          <p:nvPr/>
        </p:nvSpPr>
        <p:spPr>
          <a:xfrm>
            <a:off x="3282674" y="6025515"/>
            <a:ext cx="43695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·</a:t>
            </a:r>
            <a:endParaRPr lang="en-US" sz="825" dirty="0"/>
          </a:p>
        </p:txBody>
      </p:sp>
      <p:sp>
        <p:nvSpPr>
          <p:cNvPr id="180" name="Text 164"/>
          <p:cNvSpPr/>
          <p:nvPr/>
        </p:nvSpPr>
        <p:spPr>
          <a:xfrm>
            <a:off x="3681533" y="6025515"/>
            <a:ext cx="101917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ma-jailbreak.v1</a:t>
            </a:r>
            <a:endParaRPr lang="en-US" sz="825" dirty="0"/>
          </a:p>
        </p:txBody>
      </p:sp>
      <p:sp>
        <p:nvSpPr>
          <p:cNvPr id="181" name="Shape 165"/>
          <p:cNvSpPr/>
          <p:nvPr/>
        </p:nvSpPr>
        <p:spPr>
          <a:xfrm>
            <a:off x="4755952" y="5998845"/>
            <a:ext cx="918805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82" name="Shape 166"/>
          <p:cNvSpPr/>
          <p:nvPr/>
        </p:nvSpPr>
        <p:spPr>
          <a:xfrm>
            <a:off x="4830249" y="607028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83" name="Text 167"/>
          <p:cNvSpPr/>
          <p:nvPr/>
        </p:nvSpPr>
        <p:spPr>
          <a:xfrm>
            <a:off x="4925499" y="6025515"/>
            <a:ext cx="3681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</a:t>
            </a:r>
            <a:endParaRPr lang="en-US" sz="825" dirty="0"/>
          </a:p>
        </p:txBody>
      </p:sp>
      <p:sp>
        <p:nvSpPr>
          <p:cNvPr id="184" name="Text 168"/>
          <p:cNvSpPr/>
          <p:nvPr/>
        </p:nvSpPr>
        <p:spPr>
          <a:xfrm>
            <a:off x="5255540" y="6033135"/>
            <a:ext cx="42112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#4076</a:t>
            </a:r>
            <a:endParaRPr lang="en-US" sz="825" dirty="0"/>
          </a:p>
        </p:txBody>
      </p:sp>
      <p:sp>
        <p:nvSpPr>
          <p:cNvPr id="185" name="Text 169"/>
          <p:cNvSpPr/>
          <p:nvPr/>
        </p:nvSpPr>
        <p:spPr>
          <a:xfrm>
            <a:off x="5731906" y="6025515"/>
            <a:ext cx="64686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ModelArmor</a:t>
            </a:r>
            <a:endParaRPr lang="en-US" sz="825" dirty="0"/>
          </a:p>
        </p:txBody>
      </p:sp>
      <p:sp>
        <p:nvSpPr>
          <p:cNvPr id="186" name="Shape 170"/>
          <p:cNvSpPr/>
          <p:nvPr/>
        </p:nvSpPr>
        <p:spPr>
          <a:xfrm>
            <a:off x="7105650" y="937260"/>
            <a:ext cx="3048000" cy="1398270"/>
          </a:xfrm>
          <a:prstGeom prst="roundRect">
            <a:avLst>
              <a:gd name="adj" fmla="val 545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87" name="Text 171"/>
          <p:cNvSpPr/>
          <p:nvPr/>
        </p:nvSpPr>
        <p:spPr>
          <a:xfrm>
            <a:off x="7246623" y="1078230"/>
            <a:ext cx="284904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0B6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AT KERNEL · TODAY</a:t>
            </a:r>
            <a:endParaRPr lang="en-US" sz="750" dirty="0"/>
          </a:p>
        </p:txBody>
      </p:sp>
      <p:sp>
        <p:nvSpPr>
          <p:cNvPr id="188" name="Text 172"/>
          <p:cNvSpPr/>
          <p:nvPr/>
        </p:nvSpPr>
        <p:spPr>
          <a:xfrm>
            <a:off x="7246623" y="1211580"/>
            <a:ext cx="284904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B6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284</a:t>
            </a:r>
            <a:endParaRPr lang="en-US" sz="4200" dirty="0"/>
          </a:p>
        </p:txBody>
      </p:sp>
      <p:sp>
        <p:nvSpPr>
          <p:cNvPr id="189" name="Text 173"/>
          <p:cNvSpPr/>
          <p:nvPr/>
        </p:nvSpPr>
        <p:spPr>
          <a:xfrm>
            <a:off x="7246623" y="1744980"/>
            <a:ext cx="2849042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all-time · 41,902</a:t>
            </a:r>
            <a:endParaRPr lang="en-US" sz="975" dirty="0"/>
          </a:p>
        </p:txBody>
      </p:sp>
      <p:sp>
        <p:nvSpPr>
          <p:cNvPr id="190" name="Shape 174"/>
          <p:cNvSpPr/>
          <p:nvPr/>
        </p:nvSpPr>
        <p:spPr>
          <a:xfrm>
            <a:off x="7246623" y="1994535"/>
            <a:ext cx="96297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91" name="Shape 175"/>
          <p:cNvSpPr/>
          <p:nvPr/>
        </p:nvSpPr>
        <p:spPr>
          <a:xfrm>
            <a:off x="7320916" y="206597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92" name="Text 176"/>
          <p:cNvSpPr/>
          <p:nvPr/>
        </p:nvSpPr>
        <p:spPr>
          <a:xfrm>
            <a:off x="7416166" y="2021205"/>
            <a:ext cx="7953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 in last hour</a:t>
            </a:r>
            <a:endParaRPr lang="en-US" sz="825" dirty="0"/>
          </a:p>
        </p:txBody>
      </p:sp>
      <p:sp>
        <p:nvSpPr>
          <p:cNvPr id="193" name="Shape 177"/>
          <p:cNvSpPr/>
          <p:nvPr/>
        </p:nvSpPr>
        <p:spPr>
          <a:xfrm>
            <a:off x="7105650" y="2411730"/>
            <a:ext cx="3048000" cy="1594485"/>
          </a:xfrm>
          <a:prstGeom prst="roundRect">
            <a:avLst>
              <a:gd name="adj" fmla="val 477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19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27573" y="2532697"/>
            <a:ext cx="123825" cy="123825"/>
          </a:xfrm>
          <a:prstGeom prst="rect">
            <a:avLst/>
          </a:prstGeom>
        </p:spPr>
      </p:pic>
      <p:sp>
        <p:nvSpPr>
          <p:cNvPr id="195" name="Text 178"/>
          <p:cNvSpPr/>
          <p:nvPr/>
        </p:nvSpPr>
        <p:spPr>
          <a:xfrm>
            <a:off x="7399023" y="2522220"/>
            <a:ext cx="7334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policies</a:t>
            </a:r>
            <a:endParaRPr lang="en-US" sz="900" dirty="0"/>
          </a:p>
        </p:txBody>
      </p:sp>
      <p:sp>
        <p:nvSpPr>
          <p:cNvPr id="196" name="Text 179"/>
          <p:cNvSpPr/>
          <p:nvPr/>
        </p:nvSpPr>
        <p:spPr>
          <a:xfrm>
            <a:off x="7227573" y="2777490"/>
            <a:ext cx="108227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kc-fin-egress.v3</a:t>
            </a:r>
            <a:endParaRPr lang="en-US" sz="825" dirty="0"/>
          </a:p>
        </p:txBody>
      </p:sp>
      <p:sp>
        <p:nvSpPr>
          <p:cNvPr id="197" name="Shape 180"/>
          <p:cNvSpPr/>
          <p:nvPr/>
        </p:nvSpPr>
        <p:spPr>
          <a:xfrm>
            <a:off x="9655136" y="2750820"/>
            <a:ext cx="376595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98" name="Shape 181"/>
          <p:cNvSpPr/>
          <p:nvPr/>
        </p:nvSpPr>
        <p:spPr>
          <a:xfrm>
            <a:off x="9729429" y="282225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99" name="Text 182"/>
          <p:cNvSpPr/>
          <p:nvPr/>
        </p:nvSpPr>
        <p:spPr>
          <a:xfrm>
            <a:off x="9824679" y="2777490"/>
            <a:ext cx="2089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825" dirty="0"/>
          </a:p>
        </p:txBody>
      </p:sp>
      <p:sp>
        <p:nvSpPr>
          <p:cNvPr id="200" name="Text 183"/>
          <p:cNvSpPr/>
          <p:nvPr/>
        </p:nvSpPr>
        <p:spPr>
          <a:xfrm>
            <a:off x="7227573" y="3015615"/>
            <a:ext cx="95654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kc-agent-fs.v1</a:t>
            </a:r>
            <a:endParaRPr lang="en-US" sz="825" dirty="0"/>
          </a:p>
        </p:txBody>
      </p:sp>
      <p:sp>
        <p:nvSpPr>
          <p:cNvPr id="201" name="Shape 184"/>
          <p:cNvSpPr/>
          <p:nvPr/>
        </p:nvSpPr>
        <p:spPr>
          <a:xfrm>
            <a:off x="9685023" y="2988945"/>
            <a:ext cx="346710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02" name="Shape 185"/>
          <p:cNvSpPr/>
          <p:nvPr/>
        </p:nvSpPr>
        <p:spPr>
          <a:xfrm>
            <a:off x="9759316" y="306038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03" name="Text 186"/>
          <p:cNvSpPr/>
          <p:nvPr/>
        </p:nvSpPr>
        <p:spPr>
          <a:xfrm>
            <a:off x="9854566" y="3015615"/>
            <a:ext cx="1790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825" dirty="0"/>
          </a:p>
        </p:txBody>
      </p:sp>
      <p:sp>
        <p:nvSpPr>
          <p:cNvPr id="204" name="Text 187"/>
          <p:cNvSpPr/>
          <p:nvPr/>
        </p:nvSpPr>
        <p:spPr>
          <a:xfrm>
            <a:off x="7227573" y="3253740"/>
            <a:ext cx="83081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kc-no-tor.v2</a:t>
            </a:r>
            <a:endParaRPr lang="en-US" sz="825" dirty="0"/>
          </a:p>
        </p:txBody>
      </p:sp>
      <p:sp>
        <p:nvSpPr>
          <p:cNvPr id="205" name="Shape 188"/>
          <p:cNvSpPr/>
          <p:nvPr/>
        </p:nvSpPr>
        <p:spPr>
          <a:xfrm>
            <a:off x="9655136" y="3227070"/>
            <a:ext cx="376595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06" name="Shape 189"/>
          <p:cNvSpPr/>
          <p:nvPr/>
        </p:nvSpPr>
        <p:spPr>
          <a:xfrm>
            <a:off x="9729429" y="329850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07" name="Text 190"/>
          <p:cNvSpPr/>
          <p:nvPr/>
        </p:nvSpPr>
        <p:spPr>
          <a:xfrm>
            <a:off x="9824679" y="3253740"/>
            <a:ext cx="2089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825" dirty="0"/>
          </a:p>
        </p:txBody>
      </p:sp>
      <p:sp>
        <p:nvSpPr>
          <p:cNvPr id="208" name="Text 191"/>
          <p:cNvSpPr/>
          <p:nvPr/>
        </p:nvSpPr>
        <p:spPr>
          <a:xfrm>
            <a:off x="7227573" y="3491865"/>
            <a:ext cx="101941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kc-no-ptrace.v4</a:t>
            </a:r>
            <a:endParaRPr lang="en-US" sz="825" dirty="0"/>
          </a:p>
        </p:txBody>
      </p:sp>
      <p:sp>
        <p:nvSpPr>
          <p:cNvPr id="209" name="Shape 192"/>
          <p:cNvSpPr/>
          <p:nvPr/>
        </p:nvSpPr>
        <p:spPr>
          <a:xfrm>
            <a:off x="9661210" y="3465195"/>
            <a:ext cx="3705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10" name="Shape 193"/>
          <p:cNvSpPr/>
          <p:nvPr/>
        </p:nvSpPr>
        <p:spPr>
          <a:xfrm>
            <a:off x="9735503" y="353663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11" name="Text 194"/>
          <p:cNvSpPr/>
          <p:nvPr/>
        </p:nvSpPr>
        <p:spPr>
          <a:xfrm>
            <a:off x="9830753" y="3491865"/>
            <a:ext cx="2028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25" dirty="0"/>
          </a:p>
        </p:txBody>
      </p:sp>
      <p:sp>
        <p:nvSpPr>
          <p:cNvPr id="212" name="Text 195"/>
          <p:cNvSpPr/>
          <p:nvPr/>
        </p:nvSpPr>
        <p:spPr>
          <a:xfrm>
            <a:off x="7227573" y="3729990"/>
            <a:ext cx="101941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ma-jailbreak.v1</a:t>
            </a:r>
            <a:endParaRPr lang="en-US" sz="825" dirty="0"/>
          </a:p>
        </p:txBody>
      </p:sp>
      <p:sp>
        <p:nvSpPr>
          <p:cNvPr id="213" name="Shape 196"/>
          <p:cNvSpPr/>
          <p:nvPr/>
        </p:nvSpPr>
        <p:spPr>
          <a:xfrm>
            <a:off x="9662280" y="3703320"/>
            <a:ext cx="369451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14" name="Shape 197"/>
          <p:cNvSpPr/>
          <p:nvPr/>
        </p:nvSpPr>
        <p:spPr>
          <a:xfrm>
            <a:off x="9736573" y="377475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15" name="Text 198"/>
          <p:cNvSpPr/>
          <p:nvPr/>
        </p:nvSpPr>
        <p:spPr>
          <a:xfrm>
            <a:off x="9831823" y="3729990"/>
            <a:ext cx="20181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25" dirty="0"/>
          </a:p>
        </p:txBody>
      </p:sp>
      <p:sp>
        <p:nvSpPr>
          <p:cNvPr id="216" name="Shape 199"/>
          <p:cNvSpPr/>
          <p:nvPr/>
        </p:nvSpPr>
        <p:spPr>
          <a:xfrm>
            <a:off x="7105650" y="4082415"/>
            <a:ext cx="3048000" cy="902018"/>
          </a:xfrm>
          <a:prstGeom prst="roundRect">
            <a:avLst>
              <a:gd name="adj" fmla="val 844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17" name="Text 200"/>
          <p:cNvSpPr/>
          <p:nvPr/>
        </p:nvSpPr>
        <p:spPr>
          <a:xfrm>
            <a:off x="7227573" y="4185285"/>
            <a:ext cx="28882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proves</a:t>
            </a:r>
            <a:endParaRPr lang="en-US" sz="900" dirty="0"/>
          </a:p>
        </p:txBody>
      </p:sp>
      <p:sp>
        <p:nvSpPr>
          <p:cNvPr id="218" name="Text 201"/>
          <p:cNvSpPr/>
          <p:nvPr/>
        </p:nvSpPr>
        <p:spPr>
          <a:xfrm>
            <a:off x="7227573" y="4421505"/>
            <a:ext cx="2888285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AI-SOC's "response" is an API call. AccuKnox writes a policy and the kernel enforces it. nothing else in the category can render this.</a:t>
            </a:r>
            <a:endParaRPr lang="en-US" sz="863" dirty="0"/>
          </a:p>
        </p:txBody>
      </p:sp>
      <p:sp>
        <p:nvSpPr>
          <p:cNvPr id="219" name="Shape 202"/>
          <p:cNvSpPr/>
          <p:nvPr/>
        </p:nvSpPr>
        <p:spPr>
          <a:xfrm>
            <a:off x="76200" y="6053137"/>
            <a:ext cx="1829634" cy="538163"/>
          </a:xfrm>
          <a:prstGeom prst="roundRect">
            <a:avLst>
              <a:gd name="adj" fmla="val 708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220" name="Text 203"/>
          <p:cNvSpPr/>
          <p:nvPr/>
        </p:nvSpPr>
        <p:spPr>
          <a:xfrm>
            <a:off x="160020" y="6117907"/>
            <a:ext cx="1738194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THE signature screen. each block pulses enforce-green and the counter ticks.</a:t>
            </a:r>
            <a:endParaRPr lang="en-US" sz="8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91441" y="23241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2387203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simulation · kc-fin-egress.v3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3073003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3180992" y="144780"/>
            <a:ext cx="116252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vs last 7 days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4419721" y="74295"/>
            <a:ext cx="3071217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2589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694039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59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3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5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2051566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before you enforce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360207" y="616268"/>
            <a:ext cx="73199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7434500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0" name="Text 25"/>
          <p:cNvSpPr/>
          <p:nvPr/>
        </p:nvSpPr>
        <p:spPr>
          <a:xfrm>
            <a:off x="7529750" y="642938"/>
            <a:ext cx="5643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· 7d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8149354" y="590550"/>
            <a:ext cx="549354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Text 27"/>
          <p:cNvSpPr/>
          <p:nvPr/>
        </p:nvSpPr>
        <p:spPr>
          <a:xfrm>
            <a:off x="8252222" y="636270"/>
            <a:ext cx="41981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</a:t>
            </a:r>
            <a:endParaRPr lang="en-US" sz="900" dirty="0"/>
          </a:p>
        </p:txBody>
      </p:sp>
      <p:sp>
        <p:nvSpPr>
          <p:cNvPr id="43" name="Shape 28"/>
          <p:cNvSpPr/>
          <p:nvPr/>
        </p:nvSpPr>
        <p:spPr>
          <a:xfrm>
            <a:off x="8755856" y="590550"/>
            <a:ext cx="1397794" cy="251460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44" name="Text 29"/>
          <p:cNvSpPr/>
          <p:nvPr/>
        </p:nvSpPr>
        <p:spPr>
          <a:xfrm>
            <a:off x="8858729" y="636270"/>
            <a:ext cx="126825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to enforce →</a:t>
            </a:r>
            <a:endParaRPr lang="en-US" sz="900" dirty="0"/>
          </a:p>
        </p:txBody>
      </p:sp>
      <p:sp>
        <p:nvSpPr>
          <p:cNvPr id="45" name="Shape 30"/>
          <p:cNvSpPr/>
          <p:nvPr/>
        </p:nvSpPr>
        <p:spPr>
          <a:xfrm>
            <a:off x="666750" y="937260"/>
            <a:ext cx="4686300" cy="559689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6" name="Text 31"/>
          <p:cNvSpPr/>
          <p:nvPr/>
        </p:nvSpPr>
        <p:spPr>
          <a:xfrm>
            <a:off x="788673" y="1047750"/>
            <a:ext cx="9997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under test</a:t>
            </a:r>
            <a:endParaRPr lang="en-US" sz="900" dirty="0"/>
          </a:p>
        </p:txBody>
      </p:sp>
      <p:sp>
        <p:nvSpPr>
          <p:cNvPr id="47" name="Text 32"/>
          <p:cNvSpPr/>
          <p:nvPr/>
        </p:nvSpPr>
        <p:spPr>
          <a:xfrm>
            <a:off x="5120404" y="1046798"/>
            <a:ext cx="18692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825" dirty="0"/>
          </a:p>
        </p:txBody>
      </p:sp>
      <p:sp>
        <p:nvSpPr>
          <p:cNvPr id="48" name="Shape 33"/>
          <p:cNvSpPr/>
          <p:nvPr/>
        </p:nvSpPr>
        <p:spPr>
          <a:xfrm>
            <a:off x="788673" y="1276350"/>
            <a:ext cx="4442460" cy="1992154"/>
          </a:xfrm>
          <a:prstGeom prst="roundRect">
            <a:avLst>
              <a:gd name="adj" fmla="val 2869"/>
            </a:avLst>
          </a:prstGeom>
          <a:solidFill>
            <a:srgbClr val="0F172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9" name="Text 34"/>
          <p:cNvSpPr/>
          <p:nvPr/>
        </p:nvSpPr>
        <p:spPr>
          <a:xfrm>
            <a:off x="910593" y="1379220"/>
            <a:ext cx="4331894" cy="1824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KubeArmorPolicy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{ name: kc-fin-egress, version: 3 }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network: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tcp toCIDRs: ["198.51.0.0/16"] → Block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udp toCIDRs: ["198.51.0.0/16"] → Block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/usr/bin/curl  → Block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/usr/bin/wget  → Block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/etc/shadow    → Block (readOnly)</a:t>
            </a:r>
            <a:endParaRPr lang="en-US" sz="825" dirty="0"/>
          </a:p>
        </p:txBody>
      </p:sp>
      <p:sp>
        <p:nvSpPr>
          <p:cNvPr id="50" name="Text 35"/>
          <p:cNvSpPr/>
          <p:nvPr/>
        </p:nvSpPr>
        <p:spPr>
          <a:xfrm>
            <a:off x="788673" y="3344704"/>
            <a:ext cx="45757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SUMMARY</a:t>
            </a:r>
            <a:endParaRPr lang="en-US" sz="750" dirty="0"/>
          </a:p>
        </p:txBody>
      </p:sp>
      <p:sp>
        <p:nvSpPr>
          <p:cNvPr id="51" name="Shape 36"/>
          <p:cNvSpPr/>
          <p:nvPr/>
        </p:nvSpPr>
        <p:spPr>
          <a:xfrm>
            <a:off x="788673" y="3516154"/>
            <a:ext cx="145137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52" name="Shape 37"/>
          <p:cNvSpPr/>
          <p:nvPr/>
        </p:nvSpPr>
        <p:spPr>
          <a:xfrm>
            <a:off x="862966" y="3587591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3" name="Text 38"/>
          <p:cNvSpPr/>
          <p:nvPr/>
        </p:nvSpPr>
        <p:spPr>
          <a:xfrm>
            <a:off x="958216" y="3542824"/>
            <a:ext cx="128373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block · 218 events</a:t>
            </a:r>
            <a:endParaRPr lang="en-US" sz="825" dirty="0"/>
          </a:p>
        </p:txBody>
      </p:sp>
      <p:sp>
        <p:nvSpPr>
          <p:cNvPr id="54" name="Shape 39"/>
          <p:cNvSpPr/>
          <p:nvPr/>
        </p:nvSpPr>
        <p:spPr>
          <a:xfrm>
            <a:off x="2297195" y="3516154"/>
            <a:ext cx="975122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2371488" y="3587591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56" name="Text 41"/>
          <p:cNvSpPr/>
          <p:nvPr/>
        </p:nvSpPr>
        <p:spPr>
          <a:xfrm>
            <a:off x="2466738" y="3542824"/>
            <a:ext cx="80748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blocks · 2</a:t>
            </a:r>
            <a:endParaRPr lang="en-US" sz="825" dirty="0"/>
          </a:p>
        </p:txBody>
      </p:sp>
      <p:sp>
        <p:nvSpPr>
          <p:cNvPr id="57" name="Shape 42"/>
          <p:cNvSpPr/>
          <p:nvPr/>
        </p:nvSpPr>
        <p:spPr>
          <a:xfrm>
            <a:off x="3329467" y="3516154"/>
            <a:ext cx="165532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3403760" y="3587591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9" name="Text 44"/>
          <p:cNvSpPr/>
          <p:nvPr/>
        </p:nvSpPr>
        <p:spPr>
          <a:xfrm>
            <a:off x="3499010" y="3542824"/>
            <a:ext cx="148768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workloads · 3 pods</a:t>
            </a:r>
            <a:endParaRPr lang="en-US" sz="825" dirty="0"/>
          </a:p>
        </p:txBody>
      </p:sp>
      <p:sp>
        <p:nvSpPr>
          <p:cNvPr id="60" name="Shape 45"/>
          <p:cNvSpPr/>
          <p:nvPr/>
        </p:nvSpPr>
        <p:spPr>
          <a:xfrm>
            <a:off x="788673" y="3773329"/>
            <a:ext cx="117860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1" name="Shape 46"/>
          <p:cNvSpPr/>
          <p:nvPr/>
        </p:nvSpPr>
        <p:spPr>
          <a:xfrm>
            <a:off x="862966" y="3844766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2" name="Text 47"/>
          <p:cNvSpPr/>
          <p:nvPr/>
        </p:nvSpPr>
        <p:spPr>
          <a:xfrm>
            <a:off x="958216" y="3799999"/>
            <a:ext cx="101096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· prod-eu-1</a:t>
            </a:r>
            <a:endParaRPr lang="en-US" sz="825" dirty="0"/>
          </a:p>
        </p:txBody>
      </p:sp>
      <p:sp>
        <p:nvSpPr>
          <p:cNvPr id="63" name="Shape 48"/>
          <p:cNvSpPr/>
          <p:nvPr/>
        </p:nvSpPr>
        <p:spPr>
          <a:xfrm>
            <a:off x="5467350" y="937260"/>
            <a:ext cx="4686300" cy="1971675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4" name="Text 49"/>
          <p:cNvSpPr/>
          <p:nvPr/>
        </p:nvSpPr>
        <p:spPr>
          <a:xfrm>
            <a:off x="5589273" y="1047750"/>
            <a:ext cx="10172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block · 218</a:t>
            </a:r>
            <a:endParaRPr lang="en-US" sz="900" dirty="0"/>
          </a:p>
        </p:txBody>
      </p:sp>
      <p:sp>
        <p:nvSpPr>
          <p:cNvPr id="65" name="Text 50"/>
          <p:cNvSpPr/>
          <p:nvPr/>
        </p:nvSpPr>
        <p:spPr>
          <a:xfrm>
            <a:off x="9647160" y="1046798"/>
            <a:ext cx="46077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</a:t>
            </a:r>
            <a:endParaRPr lang="en-US" sz="825" dirty="0"/>
          </a:p>
        </p:txBody>
      </p:sp>
      <p:sp>
        <p:nvSpPr>
          <p:cNvPr id="66" name="Shape 51"/>
          <p:cNvSpPr/>
          <p:nvPr/>
        </p:nvSpPr>
        <p:spPr>
          <a:xfrm>
            <a:off x="5589273" y="1276350"/>
            <a:ext cx="842843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7" name="Shape 52"/>
          <p:cNvSpPr/>
          <p:nvPr/>
        </p:nvSpPr>
        <p:spPr>
          <a:xfrm>
            <a:off x="5589273" y="1514475"/>
            <a:ext cx="842843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53"/>
          <p:cNvSpPr/>
          <p:nvPr/>
        </p:nvSpPr>
        <p:spPr>
          <a:xfrm>
            <a:off x="5665473" y="1323975"/>
            <a:ext cx="76664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</a:t>
            </a:r>
            <a:endParaRPr lang="en-US" sz="825" dirty="0"/>
          </a:p>
        </p:txBody>
      </p:sp>
      <p:sp>
        <p:nvSpPr>
          <p:cNvPr id="69" name="Shape 54"/>
          <p:cNvSpPr/>
          <p:nvPr/>
        </p:nvSpPr>
        <p:spPr>
          <a:xfrm>
            <a:off x="6432114" y="1276350"/>
            <a:ext cx="1872377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0" name="Shape 55"/>
          <p:cNvSpPr/>
          <p:nvPr/>
        </p:nvSpPr>
        <p:spPr>
          <a:xfrm>
            <a:off x="6432114" y="1514475"/>
            <a:ext cx="1872377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1" name="Text 56"/>
          <p:cNvSpPr/>
          <p:nvPr/>
        </p:nvSpPr>
        <p:spPr>
          <a:xfrm>
            <a:off x="6508314" y="1323975"/>
            <a:ext cx="179617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825" dirty="0"/>
          </a:p>
        </p:txBody>
      </p:sp>
      <p:sp>
        <p:nvSpPr>
          <p:cNvPr id="72" name="Shape 57"/>
          <p:cNvSpPr/>
          <p:nvPr/>
        </p:nvSpPr>
        <p:spPr>
          <a:xfrm>
            <a:off x="8304493" y="1276350"/>
            <a:ext cx="743426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3" name="Shape 58"/>
          <p:cNvSpPr/>
          <p:nvPr/>
        </p:nvSpPr>
        <p:spPr>
          <a:xfrm>
            <a:off x="8304493" y="1514475"/>
            <a:ext cx="74342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59"/>
          <p:cNvSpPr/>
          <p:nvPr/>
        </p:nvSpPr>
        <p:spPr>
          <a:xfrm>
            <a:off x="8380693" y="1323975"/>
            <a:ext cx="6672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endParaRPr lang="en-US" sz="825" dirty="0"/>
          </a:p>
        </p:txBody>
      </p:sp>
      <p:sp>
        <p:nvSpPr>
          <p:cNvPr id="75" name="Shape 60"/>
          <p:cNvSpPr/>
          <p:nvPr/>
        </p:nvSpPr>
        <p:spPr>
          <a:xfrm>
            <a:off x="9047917" y="1276350"/>
            <a:ext cx="983813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6" name="Shape 61"/>
          <p:cNvSpPr/>
          <p:nvPr/>
        </p:nvSpPr>
        <p:spPr>
          <a:xfrm>
            <a:off x="9047917" y="1514475"/>
            <a:ext cx="983813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7" name="Text 62"/>
          <p:cNvSpPr/>
          <p:nvPr/>
        </p:nvSpPr>
        <p:spPr>
          <a:xfrm>
            <a:off x="9124117" y="1323975"/>
            <a:ext cx="9076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SEEN</a:t>
            </a:r>
            <a:endParaRPr lang="en-US" sz="825" dirty="0"/>
          </a:p>
        </p:txBody>
      </p:sp>
      <p:sp>
        <p:nvSpPr>
          <p:cNvPr id="78" name="Shape 63"/>
          <p:cNvSpPr/>
          <p:nvPr/>
        </p:nvSpPr>
        <p:spPr>
          <a:xfrm>
            <a:off x="5589273" y="1836420"/>
            <a:ext cx="84284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9" name="Shape 64"/>
          <p:cNvSpPr/>
          <p:nvPr/>
        </p:nvSpPr>
        <p:spPr>
          <a:xfrm>
            <a:off x="5665473" y="1583055"/>
            <a:ext cx="410528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80" name="Shape 65"/>
          <p:cNvSpPr/>
          <p:nvPr/>
        </p:nvSpPr>
        <p:spPr>
          <a:xfrm>
            <a:off x="5739766" y="1654493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1" name="Text 66"/>
          <p:cNvSpPr/>
          <p:nvPr/>
        </p:nvSpPr>
        <p:spPr>
          <a:xfrm>
            <a:off x="5835016" y="1609725"/>
            <a:ext cx="24288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endParaRPr lang="en-US" sz="825" dirty="0"/>
          </a:p>
        </p:txBody>
      </p:sp>
      <p:sp>
        <p:nvSpPr>
          <p:cNvPr id="82" name="Shape 67"/>
          <p:cNvSpPr/>
          <p:nvPr/>
        </p:nvSpPr>
        <p:spPr>
          <a:xfrm>
            <a:off x="6432114" y="1836420"/>
            <a:ext cx="187237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3" name="Text 68"/>
          <p:cNvSpPr/>
          <p:nvPr/>
        </p:nvSpPr>
        <p:spPr>
          <a:xfrm>
            <a:off x="6508314" y="1579245"/>
            <a:ext cx="17961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198.51.46.21</a:t>
            </a:r>
            <a:endParaRPr lang="en-US" sz="825" dirty="0"/>
          </a:p>
        </p:txBody>
      </p:sp>
      <p:sp>
        <p:nvSpPr>
          <p:cNvPr id="84" name="Shape 69"/>
          <p:cNvSpPr/>
          <p:nvPr/>
        </p:nvSpPr>
        <p:spPr>
          <a:xfrm>
            <a:off x="8304493" y="1836420"/>
            <a:ext cx="74342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5" name="Text 70"/>
          <p:cNvSpPr/>
          <p:nvPr/>
        </p:nvSpPr>
        <p:spPr>
          <a:xfrm>
            <a:off x="8380693" y="1579245"/>
            <a:ext cx="66722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900" dirty="0"/>
          </a:p>
        </p:txBody>
      </p:sp>
      <p:sp>
        <p:nvSpPr>
          <p:cNvPr id="86" name="Shape 71"/>
          <p:cNvSpPr/>
          <p:nvPr/>
        </p:nvSpPr>
        <p:spPr>
          <a:xfrm>
            <a:off x="9047917" y="1836420"/>
            <a:ext cx="98381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7" name="Text 72"/>
          <p:cNvSpPr/>
          <p:nvPr/>
        </p:nvSpPr>
        <p:spPr>
          <a:xfrm>
            <a:off x="9124117" y="1579245"/>
            <a:ext cx="90761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13:32</a:t>
            </a:r>
            <a:endParaRPr lang="en-US" sz="900" dirty="0"/>
          </a:p>
        </p:txBody>
      </p:sp>
      <p:sp>
        <p:nvSpPr>
          <p:cNvPr id="88" name="Shape 73"/>
          <p:cNvSpPr/>
          <p:nvPr/>
        </p:nvSpPr>
        <p:spPr>
          <a:xfrm>
            <a:off x="5589273" y="2158365"/>
            <a:ext cx="84284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9" name="Shape 74"/>
          <p:cNvSpPr/>
          <p:nvPr/>
        </p:nvSpPr>
        <p:spPr>
          <a:xfrm>
            <a:off x="5665473" y="1905000"/>
            <a:ext cx="410528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90" name="Shape 75"/>
          <p:cNvSpPr/>
          <p:nvPr/>
        </p:nvSpPr>
        <p:spPr>
          <a:xfrm>
            <a:off x="5739766" y="1976438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91" name="Text 76"/>
          <p:cNvSpPr/>
          <p:nvPr/>
        </p:nvSpPr>
        <p:spPr>
          <a:xfrm>
            <a:off x="5835016" y="1931670"/>
            <a:ext cx="24288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endParaRPr lang="en-US" sz="825" dirty="0"/>
          </a:p>
        </p:txBody>
      </p:sp>
      <p:sp>
        <p:nvSpPr>
          <p:cNvPr id="92" name="Shape 77"/>
          <p:cNvSpPr/>
          <p:nvPr/>
        </p:nvSpPr>
        <p:spPr>
          <a:xfrm>
            <a:off x="6432114" y="2158365"/>
            <a:ext cx="187237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3" name="Text 78"/>
          <p:cNvSpPr/>
          <p:nvPr/>
        </p:nvSpPr>
        <p:spPr>
          <a:xfrm>
            <a:off x="6508314" y="1901190"/>
            <a:ext cx="17961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198.51.88.4</a:t>
            </a:r>
            <a:endParaRPr lang="en-US" sz="825" dirty="0"/>
          </a:p>
        </p:txBody>
      </p:sp>
      <p:sp>
        <p:nvSpPr>
          <p:cNvPr id="94" name="Shape 79"/>
          <p:cNvSpPr/>
          <p:nvPr/>
        </p:nvSpPr>
        <p:spPr>
          <a:xfrm>
            <a:off x="8304493" y="2158365"/>
            <a:ext cx="74342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5" name="Text 80"/>
          <p:cNvSpPr/>
          <p:nvPr/>
        </p:nvSpPr>
        <p:spPr>
          <a:xfrm>
            <a:off x="8380693" y="1901190"/>
            <a:ext cx="66722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96" name="Shape 81"/>
          <p:cNvSpPr/>
          <p:nvPr/>
        </p:nvSpPr>
        <p:spPr>
          <a:xfrm>
            <a:off x="9047917" y="2158365"/>
            <a:ext cx="98381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7" name="Text 82"/>
          <p:cNvSpPr/>
          <p:nvPr/>
        </p:nvSpPr>
        <p:spPr>
          <a:xfrm>
            <a:off x="9124117" y="1901190"/>
            <a:ext cx="90761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11:21</a:t>
            </a:r>
            <a:endParaRPr lang="en-US" sz="900" dirty="0"/>
          </a:p>
        </p:txBody>
      </p:sp>
      <p:sp>
        <p:nvSpPr>
          <p:cNvPr id="98" name="Shape 83"/>
          <p:cNvSpPr/>
          <p:nvPr/>
        </p:nvSpPr>
        <p:spPr>
          <a:xfrm>
            <a:off x="5589273" y="2480310"/>
            <a:ext cx="84284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9" name="Shape 84"/>
          <p:cNvSpPr/>
          <p:nvPr/>
        </p:nvSpPr>
        <p:spPr>
          <a:xfrm>
            <a:off x="5665473" y="2226945"/>
            <a:ext cx="482322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00" name="Shape 85"/>
          <p:cNvSpPr/>
          <p:nvPr/>
        </p:nvSpPr>
        <p:spPr>
          <a:xfrm>
            <a:off x="5739766" y="2298383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01" name="Text 86"/>
          <p:cNvSpPr/>
          <p:nvPr/>
        </p:nvSpPr>
        <p:spPr>
          <a:xfrm>
            <a:off x="5835016" y="2253615"/>
            <a:ext cx="31468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</a:t>
            </a:r>
            <a:endParaRPr lang="en-US" sz="825" dirty="0"/>
          </a:p>
        </p:txBody>
      </p:sp>
      <p:sp>
        <p:nvSpPr>
          <p:cNvPr id="102" name="Shape 87"/>
          <p:cNvSpPr/>
          <p:nvPr/>
        </p:nvSpPr>
        <p:spPr>
          <a:xfrm>
            <a:off x="6432114" y="2480310"/>
            <a:ext cx="187237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3" name="Text 88"/>
          <p:cNvSpPr/>
          <p:nvPr/>
        </p:nvSpPr>
        <p:spPr>
          <a:xfrm>
            <a:off x="6508314" y="2223135"/>
            <a:ext cx="17961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http://198.51.x</a:t>
            </a:r>
            <a:endParaRPr lang="en-US" sz="825" dirty="0"/>
          </a:p>
        </p:txBody>
      </p:sp>
      <p:sp>
        <p:nvSpPr>
          <p:cNvPr id="104" name="Shape 89"/>
          <p:cNvSpPr/>
          <p:nvPr/>
        </p:nvSpPr>
        <p:spPr>
          <a:xfrm>
            <a:off x="8304493" y="2480310"/>
            <a:ext cx="74342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5" name="Text 90"/>
          <p:cNvSpPr/>
          <p:nvPr/>
        </p:nvSpPr>
        <p:spPr>
          <a:xfrm>
            <a:off x="8380693" y="2223135"/>
            <a:ext cx="66722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06" name="Shape 91"/>
          <p:cNvSpPr/>
          <p:nvPr/>
        </p:nvSpPr>
        <p:spPr>
          <a:xfrm>
            <a:off x="9047917" y="2480310"/>
            <a:ext cx="98381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7" name="Text 92"/>
          <p:cNvSpPr/>
          <p:nvPr/>
        </p:nvSpPr>
        <p:spPr>
          <a:xfrm>
            <a:off x="9124117" y="2223135"/>
            <a:ext cx="90761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09:18</a:t>
            </a:r>
            <a:endParaRPr lang="en-US" sz="900" dirty="0"/>
          </a:p>
        </p:txBody>
      </p:sp>
      <p:sp>
        <p:nvSpPr>
          <p:cNvPr id="108" name="Shape 93"/>
          <p:cNvSpPr/>
          <p:nvPr/>
        </p:nvSpPr>
        <p:spPr>
          <a:xfrm>
            <a:off x="5665473" y="2548890"/>
            <a:ext cx="395526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09" name="Shape 94"/>
          <p:cNvSpPr/>
          <p:nvPr/>
        </p:nvSpPr>
        <p:spPr>
          <a:xfrm>
            <a:off x="5739766" y="262032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10" name="Text 95"/>
          <p:cNvSpPr/>
          <p:nvPr/>
        </p:nvSpPr>
        <p:spPr>
          <a:xfrm>
            <a:off x="5835016" y="2575560"/>
            <a:ext cx="22788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825" dirty="0"/>
          </a:p>
        </p:txBody>
      </p:sp>
      <p:sp>
        <p:nvSpPr>
          <p:cNvPr id="111" name="Text 96"/>
          <p:cNvSpPr/>
          <p:nvPr/>
        </p:nvSpPr>
        <p:spPr>
          <a:xfrm>
            <a:off x="6508314" y="2545080"/>
            <a:ext cx="1796177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/etc/shadow</a:t>
            </a:r>
            <a:endParaRPr lang="en-US" sz="825" dirty="0"/>
          </a:p>
        </p:txBody>
      </p:sp>
      <p:sp>
        <p:nvSpPr>
          <p:cNvPr id="112" name="Text 97"/>
          <p:cNvSpPr/>
          <p:nvPr/>
        </p:nvSpPr>
        <p:spPr>
          <a:xfrm>
            <a:off x="8380693" y="2545080"/>
            <a:ext cx="667226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13" name="Text 98"/>
          <p:cNvSpPr/>
          <p:nvPr/>
        </p:nvSpPr>
        <p:spPr>
          <a:xfrm>
            <a:off x="9124117" y="2545080"/>
            <a:ext cx="907613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</a:t>
            </a:r>
            <a:endParaRPr lang="en-US" sz="900" dirty="0"/>
          </a:p>
        </p:txBody>
      </p:sp>
      <p:sp>
        <p:nvSpPr>
          <p:cNvPr id="114" name="Shape 99"/>
          <p:cNvSpPr/>
          <p:nvPr/>
        </p:nvSpPr>
        <p:spPr>
          <a:xfrm>
            <a:off x="5467350" y="2985135"/>
            <a:ext cx="4686300" cy="2173605"/>
          </a:xfrm>
          <a:prstGeom prst="roundRect">
            <a:avLst>
              <a:gd name="adj" fmla="val 3506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15" name="Text 100"/>
          <p:cNvSpPr/>
          <p:nvPr/>
        </p:nvSpPr>
        <p:spPr>
          <a:xfrm>
            <a:off x="5589273" y="3095625"/>
            <a:ext cx="8829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blocks · 2</a:t>
            </a:r>
            <a:endParaRPr lang="en-US" sz="900" dirty="0"/>
          </a:p>
        </p:txBody>
      </p:sp>
      <p:sp>
        <p:nvSpPr>
          <p:cNvPr id="116" name="Text 101"/>
          <p:cNvSpPr/>
          <p:nvPr/>
        </p:nvSpPr>
        <p:spPr>
          <a:xfrm>
            <a:off x="10002562" y="3094673"/>
            <a:ext cx="11430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825" dirty="0"/>
          </a:p>
        </p:txBody>
      </p:sp>
      <p:sp>
        <p:nvSpPr>
          <p:cNvPr id="117" name="Shape 102"/>
          <p:cNvSpPr/>
          <p:nvPr/>
        </p:nvSpPr>
        <p:spPr>
          <a:xfrm>
            <a:off x="5589273" y="3324225"/>
            <a:ext cx="4442460" cy="9144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8" name="Text 103"/>
          <p:cNvSpPr/>
          <p:nvPr/>
        </p:nvSpPr>
        <p:spPr>
          <a:xfrm>
            <a:off x="5673091" y="3424238"/>
            <a:ext cx="158841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etl · pulls metric.csv</a:t>
            </a:r>
            <a:endParaRPr lang="en-US" sz="900" dirty="0"/>
          </a:p>
        </p:txBody>
      </p:sp>
      <p:sp>
        <p:nvSpPr>
          <p:cNvPr id="119" name="Shape 104"/>
          <p:cNvSpPr/>
          <p:nvPr/>
        </p:nvSpPr>
        <p:spPr>
          <a:xfrm>
            <a:off x="9091138" y="3408045"/>
            <a:ext cx="856774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20" name="Shape 105"/>
          <p:cNvSpPr/>
          <p:nvPr/>
        </p:nvSpPr>
        <p:spPr>
          <a:xfrm>
            <a:off x="9165431" y="3479483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21" name="Text 106"/>
          <p:cNvSpPr/>
          <p:nvPr/>
        </p:nvSpPr>
        <p:spPr>
          <a:xfrm>
            <a:off x="9260681" y="3434715"/>
            <a:ext cx="68913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block</a:t>
            </a:r>
            <a:endParaRPr lang="en-US" sz="825" dirty="0"/>
          </a:p>
        </p:txBody>
      </p:sp>
      <p:sp>
        <p:nvSpPr>
          <p:cNvPr id="122" name="Text 107"/>
          <p:cNvSpPr/>
          <p:nvPr/>
        </p:nvSpPr>
        <p:spPr>
          <a:xfrm>
            <a:off x="5673091" y="3608070"/>
            <a:ext cx="440306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analytics-3 (matches process rule). recommend: allowlist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/usr/bin/curl 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--max-time 30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arg-rule.</a:t>
            </a:r>
            <a:endParaRPr lang="en-US" sz="825" dirty="0"/>
          </a:p>
        </p:txBody>
      </p:sp>
      <p:sp>
        <p:nvSpPr>
          <p:cNvPr id="123" name="Shape 108"/>
          <p:cNvSpPr/>
          <p:nvPr/>
        </p:nvSpPr>
        <p:spPr>
          <a:xfrm>
            <a:off x="5673091" y="3954780"/>
            <a:ext cx="644247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4" name="Text 109"/>
          <p:cNvSpPr/>
          <p:nvPr/>
        </p:nvSpPr>
        <p:spPr>
          <a:xfrm>
            <a:off x="5747384" y="3981450"/>
            <a:ext cx="57185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fix</a:t>
            </a:r>
            <a:endParaRPr lang="en-US" sz="825" dirty="0"/>
          </a:p>
        </p:txBody>
      </p:sp>
      <p:sp>
        <p:nvSpPr>
          <p:cNvPr id="125" name="Shape 110"/>
          <p:cNvSpPr/>
          <p:nvPr/>
        </p:nvSpPr>
        <p:spPr>
          <a:xfrm>
            <a:off x="6355440" y="3954780"/>
            <a:ext cx="472797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6" name="Text 111"/>
          <p:cNvSpPr/>
          <p:nvPr/>
        </p:nvSpPr>
        <p:spPr>
          <a:xfrm>
            <a:off x="6429733" y="3981450"/>
            <a:ext cx="40040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</a:t>
            </a:r>
            <a:endParaRPr lang="en-US" sz="825" dirty="0"/>
          </a:p>
        </p:txBody>
      </p:sp>
      <p:sp>
        <p:nvSpPr>
          <p:cNvPr id="127" name="Shape 112"/>
          <p:cNvSpPr/>
          <p:nvPr/>
        </p:nvSpPr>
        <p:spPr>
          <a:xfrm>
            <a:off x="5589273" y="4295775"/>
            <a:ext cx="4442460" cy="760095"/>
          </a:xfrm>
          <a:prstGeom prst="roundRect">
            <a:avLst>
              <a:gd name="adj" fmla="val 1002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8" name="Text 113"/>
          <p:cNvSpPr/>
          <p:nvPr/>
        </p:nvSpPr>
        <p:spPr>
          <a:xfrm>
            <a:off x="5673091" y="4395788"/>
            <a:ext cx="2126218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healthcheck · cloudfront cidr overlap</a:t>
            </a:r>
            <a:endParaRPr lang="en-US" sz="900" dirty="0"/>
          </a:p>
        </p:txBody>
      </p:sp>
      <p:sp>
        <p:nvSpPr>
          <p:cNvPr id="129" name="Shape 114"/>
          <p:cNvSpPr/>
          <p:nvPr/>
        </p:nvSpPr>
        <p:spPr>
          <a:xfrm>
            <a:off x="9091138" y="4379595"/>
            <a:ext cx="856774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30" name="Shape 115"/>
          <p:cNvSpPr/>
          <p:nvPr/>
        </p:nvSpPr>
        <p:spPr>
          <a:xfrm>
            <a:off x="9165431" y="4451033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31" name="Text 116"/>
          <p:cNvSpPr/>
          <p:nvPr/>
        </p:nvSpPr>
        <p:spPr>
          <a:xfrm>
            <a:off x="9260681" y="4406265"/>
            <a:ext cx="68913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block</a:t>
            </a:r>
            <a:endParaRPr lang="en-US" sz="825" dirty="0"/>
          </a:p>
        </p:txBody>
      </p:sp>
      <p:sp>
        <p:nvSpPr>
          <p:cNvPr id="132" name="Text 117"/>
          <p:cNvSpPr/>
          <p:nvPr/>
        </p:nvSpPr>
        <p:spPr>
          <a:xfrm>
            <a:off x="5673091" y="4579620"/>
            <a:ext cx="4403065" cy="19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CIDR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198.51.0.0/16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1 healthcheck path. narrow to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/24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25" dirty="0"/>
          </a:p>
        </p:txBody>
      </p:sp>
      <p:sp>
        <p:nvSpPr>
          <p:cNvPr id="133" name="Shape 118"/>
          <p:cNvSpPr/>
          <p:nvPr/>
        </p:nvSpPr>
        <p:spPr>
          <a:xfrm>
            <a:off x="5673091" y="4772025"/>
            <a:ext cx="769977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4" name="Text 119"/>
          <p:cNvSpPr/>
          <p:nvPr/>
        </p:nvSpPr>
        <p:spPr>
          <a:xfrm>
            <a:off x="5747384" y="4798695"/>
            <a:ext cx="69758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CIDR</a:t>
            </a:r>
            <a:endParaRPr lang="en-US" sz="825" dirty="0"/>
          </a:p>
        </p:txBody>
      </p:sp>
      <p:sp>
        <p:nvSpPr>
          <p:cNvPr id="135" name="Shape 120"/>
          <p:cNvSpPr/>
          <p:nvPr/>
        </p:nvSpPr>
        <p:spPr>
          <a:xfrm>
            <a:off x="6481167" y="4772025"/>
            <a:ext cx="472797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6" name="Text 121"/>
          <p:cNvSpPr/>
          <p:nvPr/>
        </p:nvSpPr>
        <p:spPr>
          <a:xfrm>
            <a:off x="6555465" y="4798695"/>
            <a:ext cx="40040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</a:t>
            </a:r>
            <a:endParaRPr lang="en-US" sz="825" dirty="0"/>
          </a:p>
        </p:txBody>
      </p:sp>
      <p:sp>
        <p:nvSpPr>
          <p:cNvPr id="137" name="Shape 122"/>
          <p:cNvSpPr/>
          <p:nvPr/>
        </p:nvSpPr>
        <p:spPr>
          <a:xfrm>
            <a:off x="5467350" y="5234940"/>
            <a:ext cx="2072640" cy="401955"/>
          </a:xfrm>
          <a:prstGeom prst="roundRect">
            <a:avLst>
              <a:gd name="adj" fmla="val 9479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138" name="Text 123"/>
          <p:cNvSpPr/>
          <p:nvPr/>
        </p:nvSpPr>
        <p:spPr>
          <a:xfrm>
            <a:off x="5551170" y="5299710"/>
            <a:ext cx="1981200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default. you see consequences before committing.</a:t>
            </a:r>
            <a:endParaRPr lang="en-US" sz="8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91441" y="23241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30111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Auto-containment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1986916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094905" y="144780"/>
            <a:ext cx="125813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with an undo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429237" y="74295"/>
            <a:ext cx="4061698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2110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703560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59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3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5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326489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acted · here's the receipt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6791920" y="616268"/>
            <a:ext cx="110763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6866218" y="68770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0" name="Text 25"/>
          <p:cNvSpPr/>
          <p:nvPr/>
        </p:nvSpPr>
        <p:spPr>
          <a:xfrm>
            <a:off x="6961468" y="642938"/>
            <a:ext cx="93999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· 14 actions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7956710" y="616268"/>
            <a:ext cx="91023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8031003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3" name="Text 28"/>
          <p:cNvSpPr/>
          <p:nvPr/>
        </p:nvSpPr>
        <p:spPr>
          <a:xfrm>
            <a:off x="8126253" y="642938"/>
            <a:ext cx="74259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· 92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8924092" y="590550"/>
            <a:ext cx="1229559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Text 30"/>
          <p:cNvSpPr/>
          <p:nvPr/>
        </p:nvSpPr>
        <p:spPr>
          <a:xfrm>
            <a:off x="9026961" y="636270"/>
            <a:ext cx="110001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settings</a:t>
            </a:r>
            <a:endParaRPr lang="en-US" sz="900" dirty="0"/>
          </a:p>
        </p:txBody>
      </p:sp>
      <p:sp>
        <p:nvSpPr>
          <p:cNvPr id="46" name="Shape 31"/>
          <p:cNvSpPr/>
          <p:nvPr/>
        </p:nvSpPr>
        <p:spPr>
          <a:xfrm>
            <a:off x="666750" y="937260"/>
            <a:ext cx="4705350" cy="2760345"/>
          </a:xfrm>
          <a:prstGeom prst="roundRect">
            <a:avLst>
              <a:gd name="adj" fmla="val 2761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7" name="Text 32"/>
          <p:cNvSpPr/>
          <p:nvPr/>
        </p:nvSpPr>
        <p:spPr>
          <a:xfrm>
            <a:off x="788673" y="1040130"/>
            <a:ext cx="2895398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analytics-3 · egress to 198.51.x blocked</a:t>
            </a:r>
            <a:endParaRPr lang="en-US" sz="1050" dirty="0"/>
          </a:p>
        </p:txBody>
      </p:sp>
      <p:sp>
        <p:nvSpPr>
          <p:cNvPr id="48" name="Text 33"/>
          <p:cNvSpPr/>
          <p:nvPr/>
        </p:nvSpPr>
        <p:spPr>
          <a:xfrm>
            <a:off x="788673" y="1226820"/>
            <a:ext cx="289539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·kernel egress to known-bad ASN</a:t>
            </a:r>
            <a:endParaRPr lang="en-US" sz="825" dirty="0"/>
          </a:p>
        </p:txBody>
      </p:sp>
      <p:sp>
        <p:nvSpPr>
          <p:cNvPr id="49" name="Shape 34"/>
          <p:cNvSpPr/>
          <p:nvPr/>
        </p:nvSpPr>
        <p:spPr>
          <a:xfrm>
            <a:off x="4697374" y="1106805"/>
            <a:ext cx="5528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50" name="Shape 35"/>
          <p:cNvSpPr/>
          <p:nvPr/>
        </p:nvSpPr>
        <p:spPr>
          <a:xfrm>
            <a:off x="4771667" y="117824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1" name="Text 36"/>
          <p:cNvSpPr/>
          <p:nvPr/>
        </p:nvSpPr>
        <p:spPr>
          <a:xfrm>
            <a:off x="4866917" y="1141095"/>
            <a:ext cx="38516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825" dirty="0"/>
          </a:p>
        </p:txBody>
      </p:sp>
      <p:sp>
        <p:nvSpPr>
          <p:cNvPr id="52" name="Shape 37"/>
          <p:cNvSpPr/>
          <p:nvPr/>
        </p:nvSpPr>
        <p:spPr>
          <a:xfrm>
            <a:off x="788673" y="1449705"/>
            <a:ext cx="4461510" cy="474345"/>
          </a:xfrm>
          <a:prstGeom prst="roundRect">
            <a:avLst>
              <a:gd name="adj" fmla="val 16064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3" name="Text 38"/>
          <p:cNvSpPr/>
          <p:nvPr/>
        </p:nvSpPr>
        <p:spPr>
          <a:xfrm>
            <a:off x="872491" y="1533525"/>
            <a:ext cx="44226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DID</a:t>
            </a:r>
            <a:endParaRPr lang="en-US" sz="750" dirty="0"/>
          </a:p>
        </p:txBody>
      </p:sp>
      <p:sp>
        <p:nvSpPr>
          <p:cNvPr id="54" name="Text 39"/>
          <p:cNvSpPr/>
          <p:nvPr/>
        </p:nvSpPr>
        <p:spPr>
          <a:xfrm>
            <a:off x="872491" y="1666875"/>
            <a:ext cx="4422686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activated kc-fin-egress.v3 in enforce mode for 1 h</a:t>
            </a:r>
            <a:endParaRPr lang="en-US" sz="975" dirty="0"/>
          </a:p>
        </p:txBody>
      </p:sp>
      <p:sp>
        <p:nvSpPr>
          <p:cNvPr id="55" name="Shape 40"/>
          <p:cNvSpPr/>
          <p:nvPr/>
        </p:nvSpPr>
        <p:spPr>
          <a:xfrm>
            <a:off x="788673" y="2000250"/>
            <a:ext cx="690920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56" name="Shape 41"/>
          <p:cNvSpPr/>
          <p:nvPr/>
        </p:nvSpPr>
        <p:spPr>
          <a:xfrm>
            <a:off x="862966" y="207168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7" name="Text 42"/>
          <p:cNvSpPr/>
          <p:nvPr/>
        </p:nvSpPr>
        <p:spPr>
          <a:xfrm>
            <a:off x="958216" y="2026920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58" name="Text 43"/>
          <p:cNvSpPr/>
          <p:nvPr/>
        </p:nvSpPr>
        <p:spPr>
          <a:xfrm>
            <a:off x="1281829" y="2034540"/>
            <a:ext cx="19966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825" dirty="0"/>
          </a:p>
        </p:txBody>
      </p:sp>
      <p:sp>
        <p:nvSpPr>
          <p:cNvPr id="59" name="Shape 44"/>
          <p:cNvSpPr/>
          <p:nvPr/>
        </p:nvSpPr>
        <p:spPr>
          <a:xfrm>
            <a:off x="1536739" y="2000250"/>
            <a:ext cx="636389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0" name="Shape 45"/>
          <p:cNvSpPr/>
          <p:nvPr/>
        </p:nvSpPr>
        <p:spPr>
          <a:xfrm>
            <a:off x="1611037" y="207168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1" name="Text 46"/>
          <p:cNvSpPr/>
          <p:nvPr/>
        </p:nvSpPr>
        <p:spPr>
          <a:xfrm>
            <a:off x="1706287" y="2034540"/>
            <a:ext cx="46874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 ago</a:t>
            </a:r>
            <a:endParaRPr lang="en-US" sz="825" dirty="0"/>
          </a:p>
        </p:txBody>
      </p:sp>
      <p:sp>
        <p:nvSpPr>
          <p:cNvPr id="62" name="Shape 47"/>
          <p:cNvSpPr/>
          <p:nvPr/>
        </p:nvSpPr>
        <p:spPr>
          <a:xfrm>
            <a:off x="3543537" y="2000250"/>
            <a:ext cx="500896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3" name="Text 48"/>
          <p:cNvSpPr/>
          <p:nvPr/>
        </p:nvSpPr>
        <p:spPr>
          <a:xfrm>
            <a:off x="3617835" y="2026920"/>
            <a:ext cx="4285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↗</a:t>
            </a:r>
            <a:endParaRPr lang="en-US" sz="825" dirty="0"/>
          </a:p>
        </p:txBody>
      </p:sp>
      <p:sp>
        <p:nvSpPr>
          <p:cNvPr id="64" name="Shape 49"/>
          <p:cNvSpPr/>
          <p:nvPr/>
        </p:nvSpPr>
        <p:spPr>
          <a:xfrm>
            <a:off x="4101587" y="2000250"/>
            <a:ext cx="555546" cy="200025"/>
          </a:xfrm>
          <a:prstGeom prst="roundRect">
            <a:avLst>
              <a:gd name="adj" fmla="val 23810"/>
            </a:avLst>
          </a:prstGeom>
          <a:solidFill>
            <a:srgbClr val="EF4444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65" name="Text 50"/>
          <p:cNvSpPr/>
          <p:nvPr/>
        </p:nvSpPr>
        <p:spPr>
          <a:xfrm>
            <a:off x="4175880" y="2026920"/>
            <a:ext cx="4831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</a:t>
            </a:r>
            <a:endParaRPr lang="en-US" sz="825" dirty="0"/>
          </a:p>
        </p:txBody>
      </p:sp>
      <p:sp>
        <p:nvSpPr>
          <p:cNvPr id="66" name="Shape 51"/>
          <p:cNvSpPr/>
          <p:nvPr/>
        </p:nvSpPr>
        <p:spPr>
          <a:xfrm>
            <a:off x="4714280" y="2000250"/>
            <a:ext cx="53590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7" name="Text 52"/>
          <p:cNvSpPr/>
          <p:nvPr/>
        </p:nvSpPr>
        <p:spPr>
          <a:xfrm>
            <a:off x="4788577" y="2026920"/>
            <a:ext cx="46351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825" dirty="0"/>
          </a:p>
        </p:txBody>
      </p:sp>
      <p:sp>
        <p:nvSpPr>
          <p:cNvPr id="68" name="Shape 53"/>
          <p:cNvSpPr/>
          <p:nvPr/>
        </p:nvSpPr>
        <p:spPr>
          <a:xfrm>
            <a:off x="788673" y="2257425"/>
            <a:ext cx="4461510" cy="95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9" name="Text 54"/>
          <p:cNvSpPr/>
          <p:nvPr/>
        </p:nvSpPr>
        <p:spPr>
          <a:xfrm>
            <a:off x="788673" y="2322195"/>
            <a:ext cx="45953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ACTED WITHOUT WAITING</a:t>
            </a:r>
            <a:endParaRPr lang="en-US" sz="750" dirty="0"/>
          </a:p>
        </p:txBody>
      </p:sp>
      <p:sp>
        <p:nvSpPr>
          <p:cNvPr id="70" name="Text 55"/>
          <p:cNvSpPr/>
          <p:nvPr/>
        </p:nvSpPr>
        <p:spPr>
          <a:xfrm>
            <a:off x="788673" y="2455545"/>
            <a:ext cx="45953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× confidence × crown-jewel path → above your threshold. reversible action class.</a:t>
            </a:r>
            <a:endParaRPr lang="en-US" sz="825" dirty="0"/>
          </a:p>
        </p:txBody>
      </p:sp>
      <p:sp>
        <p:nvSpPr>
          <p:cNvPr id="71" name="Shape 56"/>
          <p:cNvSpPr/>
          <p:nvPr/>
        </p:nvSpPr>
        <p:spPr>
          <a:xfrm>
            <a:off x="5448300" y="937260"/>
            <a:ext cx="4705350" cy="2760345"/>
          </a:xfrm>
          <a:prstGeom prst="roundRect">
            <a:avLst>
              <a:gd name="adj" fmla="val 2761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2" name="Text 57"/>
          <p:cNvSpPr/>
          <p:nvPr/>
        </p:nvSpPr>
        <p:spPr>
          <a:xfrm>
            <a:off x="5570223" y="1040130"/>
            <a:ext cx="220694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claude-fin-bot agent sandboxed</a:t>
            </a:r>
            <a:endParaRPr lang="en-US" sz="1050" dirty="0"/>
          </a:p>
        </p:txBody>
      </p:sp>
      <p:sp>
        <p:nvSpPr>
          <p:cNvPr id="73" name="Text 58"/>
          <p:cNvSpPr/>
          <p:nvPr/>
        </p:nvSpPr>
        <p:spPr>
          <a:xfrm>
            <a:off x="5570223" y="1226820"/>
            <a:ext cx="220694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·agent attempted /etc/shadow read</a:t>
            </a:r>
            <a:endParaRPr lang="en-US" sz="825" dirty="0"/>
          </a:p>
        </p:txBody>
      </p:sp>
      <p:sp>
        <p:nvSpPr>
          <p:cNvPr id="74" name="Shape 59"/>
          <p:cNvSpPr/>
          <p:nvPr/>
        </p:nvSpPr>
        <p:spPr>
          <a:xfrm>
            <a:off x="9478924" y="1106805"/>
            <a:ext cx="5528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75" name="Shape 60"/>
          <p:cNvSpPr/>
          <p:nvPr/>
        </p:nvSpPr>
        <p:spPr>
          <a:xfrm>
            <a:off x="9553217" y="117824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76" name="Text 61"/>
          <p:cNvSpPr/>
          <p:nvPr/>
        </p:nvSpPr>
        <p:spPr>
          <a:xfrm>
            <a:off x="9648467" y="1141095"/>
            <a:ext cx="38516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825" dirty="0"/>
          </a:p>
        </p:txBody>
      </p:sp>
      <p:sp>
        <p:nvSpPr>
          <p:cNvPr id="77" name="Shape 62"/>
          <p:cNvSpPr/>
          <p:nvPr/>
        </p:nvSpPr>
        <p:spPr>
          <a:xfrm>
            <a:off x="5570223" y="1449705"/>
            <a:ext cx="4461510" cy="474345"/>
          </a:xfrm>
          <a:prstGeom prst="roundRect">
            <a:avLst>
              <a:gd name="adj" fmla="val 16064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8" name="Text 63"/>
          <p:cNvSpPr/>
          <p:nvPr/>
        </p:nvSpPr>
        <p:spPr>
          <a:xfrm>
            <a:off x="5654041" y="1533525"/>
            <a:ext cx="44226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DID</a:t>
            </a:r>
            <a:endParaRPr lang="en-US" sz="750" dirty="0"/>
          </a:p>
        </p:txBody>
      </p:sp>
      <p:sp>
        <p:nvSpPr>
          <p:cNvPr id="79" name="Text 64"/>
          <p:cNvSpPr/>
          <p:nvPr/>
        </p:nvSpPr>
        <p:spPr>
          <a:xfrm>
            <a:off x="5654041" y="1666875"/>
            <a:ext cx="4422686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to read-only profile · network egress denied</a:t>
            </a:r>
            <a:endParaRPr lang="en-US" sz="975" dirty="0"/>
          </a:p>
        </p:txBody>
      </p:sp>
      <p:sp>
        <p:nvSpPr>
          <p:cNvPr id="80" name="Shape 65"/>
          <p:cNvSpPr/>
          <p:nvPr/>
        </p:nvSpPr>
        <p:spPr>
          <a:xfrm>
            <a:off x="5570223" y="2000250"/>
            <a:ext cx="69306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81" name="Shape 66"/>
          <p:cNvSpPr/>
          <p:nvPr/>
        </p:nvSpPr>
        <p:spPr>
          <a:xfrm>
            <a:off x="5644516" y="207168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82" name="Text 67"/>
          <p:cNvSpPr/>
          <p:nvPr/>
        </p:nvSpPr>
        <p:spPr>
          <a:xfrm>
            <a:off x="5739766" y="2026920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83" name="Text 68"/>
          <p:cNvSpPr/>
          <p:nvPr/>
        </p:nvSpPr>
        <p:spPr>
          <a:xfrm>
            <a:off x="6063379" y="2034540"/>
            <a:ext cx="20181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825" dirty="0"/>
          </a:p>
        </p:txBody>
      </p:sp>
      <p:sp>
        <p:nvSpPr>
          <p:cNvPr id="84" name="Shape 69"/>
          <p:cNvSpPr/>
          <p:nvPr/>
        </p:nvSpPr>
        <p:spPr>
          <a:xfrm>
            <a:off x="6320433" y="2000250"/>
            <a:ext cx="636389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5" name="Shape 70"/>
          <p:cNvSpPr/>
          <p:nvPr/>
        </p:nvSpPr>
        <p:spPr>
          <a:xfrm>
            <a:off x="6394731" y="207168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86" name="Text 71"/>
          <p:cNvSpPr/>
          <p:nvPr/>
        </p:nvSpPr>
        <p:spPr>
          <a:xfrm>
            <a:off x="6489981" y="2034540"/>
            <a:ext cx="46874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 ago</a:t>
            </a:r>
            <a:endParaRPr lang="en-US" sz="825" dirty="0"/>
          </a:p>
        </p:txBody>
      </p:sp>
      <p:sp>
        <p:nvSpPr>
          <p:cNvPr id="87" name="Shape 72"/>
          <p:cNvSpPr/>
          <p:nvPr/>
        </p:nvSpPr>
        <p:spPr>
          <a:xfrm>
            <a:off x="8325087" y="2000250"/>
            <a:ext cx="500896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8" name="Text 73"/>
          <p:cNvSpPr/>
          <p:nvPr/>
        </p:nvSpPr>
        <p:spPr>
          <a:xfrm>
            <a:off x="8399385" y="2026920"/>
            <a:ext cx="4285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↗</a:t>
            </a:r>
            <a:endParaRPr lang="en-US" sz="825" dirty="0"/>
          </a:p>
        </p:txBody>
      </p:sp>
      <p:sp>
        <p:nvSpPr>
          <p:cNvPr id="89" name="Shape 74"/>
          <p:cNvSpPr/>
          <p:nvPr/>
        </p:nvSpPr>
        <p:spPr>
          <a:xfrm>
            <a:off x="8883137" y="2000250"/>
            <a:ext cx="555546" cy="200025"/>
          </a:xfrm>
          <a:prstGeom prst="roundRect">
            <a:avLst>
              <a:gd name="adj" fmla="val 23810"/>
            </a:avLst>
          </a:prstGeom>
          <a:solidFill>
            <a:srgbClr val="EF4444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90" name="Text 75"/>
          <p:cNvSpPr/>
          <p:nvPr/>
        </p:nvSpPr>
        <p:spPr>
          <a:xfrm>
            <a:off x="8957430" y="2026920"/>
            <a:ext cx="4831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</a:t>
            </a:r>
            <a:endParaRPr lang="en-US" sz="825" dirty="0"/>
          </a:p>
        </p:txBody>
      </p:sp>
      <p:sp>
        <p:nvSpPr>
          <p:cNvPr id="91" name="Shape 76"/>
          <p:cNvSpPr/>
          <p:nvPr/>
        </p:nvSpPr>
        <p:spPr>
          <a:xfrm>
            <a:off x="9495830" y="2000250"/>
            <a:ext cx="53590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2" name="Text 77"/>
          <p:cNvSpPr/>
          <p:nvPr/>
        </p:nvSpPr>
        <p:spPr>
          <a:xfrm>
            <a:off x="9570127" y="2026920"/>
            <a:ext cx="46351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825" dirty="0"/>
          </a:p>
        </p:txBody>
      </p:sp>
      <p:sp>
        <p:nvSpPr>
          <p:cNvPr id="93" name="Shape 78"/>
          <p:cNvSpPr/>
          <p:nvPr/>
        </p:nvSpPr>
        <p:spPr>
          <a:xfrm>
            <a:off x="5570223" y="2257425"/>
            <a:ext cx="4461510" cy="95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4" name="Text 79"/>
          <p:cNvSpPr/>
          <p:nvPr/>
        </p:nvSpPr>
        <p:spPr>
          <a:xfrm>
            <a:off x="5570223" y="2322195"/>
            <a:ext cx="45953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ACTED WITHOUT WAITING</a:t>
            </a:r>
            <a:endParaRPr lang="en-US" sz="750" dirty="0"/>
          </a:p>
        </p:txBody>
      </p:sp>
      <p:sp>
        <p:nvSpPr>
          <p:cNvPr id="95" name="Text 80"/>
          <p:cNvSpPr/>
          <p:nvPr/>
        </p:nvSpPr>
        <p:spPr>
          <a:xfrm>
            <a:off x="5570223" y="2455545"/>
            <a:ext cx="45953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× confidence × crown-jewel path → above your threshold. reversible action class.</a:t>
            </a:r>
            <a:endParaRPr lang="en-US" sz="825" dirty="0"/>
          </a:p>
        </p:txBody>
      </p:sp>
      <p:sp>
        <p:nvSpPr>
          <p:cNvPr id="96" name="Shape 81"/>
          <p:cNvSpPr/>
          <p:nvPr/>
        </p:nvSpPr>
        <p:spPr>
          <a:xfrm>
            <a:off x="666750" y="3773805"/>
            <a:ext cx="4705350" cy="2760345"/>
          </a:xfrm>
          <a:prstGeom prst="roundRect">
            <a:avLst>
              <a:gd name="adj" fmla="val 2761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97" name="Text 82"/>
          <p:cNvSpPr/>
          <p:nvPr/>
        </p:nvSpPr>
        <p:spPr>
          <a:xfrm>
            <a:off x="788673" y="3876675"/>
            <a:ext cx="1977628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 session xZ91 revoked</a:t>
            </a:r>
            <a:endParaRPr lang="en-US" sz="1050" dirty="0"/>
          </a:p>
        </p:txBody>
      </p:sp>
      <p:sp>
        <p:nvSpPr>
          <p:cNvPr id="98" name="Text 83"/>
          <p:cNvSpPr/>
          <p:nvPr/>
        </p:nvSpPr>
        <p:spPr>
          <a:xfrm>
            <a:off x="788673" y="4063365"/>
            <a:ext cx="197762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·impossible travel + MFA spam</a:t>
            </a:r>
            <a:endParaRPr lang="en-US" sz="825" dirty="0"/>
          </a:p>
        </p:txBody>
      </p:sp>
      <p:sp>
        <p:nvSpPr>
          <p:cNvPr id="99" name="Shape 84"/>
          <p:cNvSpPr/>
          <p:nvPr/>
        </p:nvSpPr>
        <p:spPr>
          <a:xfrm>
            <a:off x="4697374" y="3943350"/>
            <a:ext cx="5528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00" name="Shape 85"/>
          <p:cNvSpPr/>
          <p:nvPr/>
        </p:nvSpPr>
        <p:spPr>
          <a:xfrm>
            <a:off x="4771667" y="401478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01" name="Text 86"/>
          <p:cNvSpPr/>
          <p:nvPr/>
        </p:nvSpPr>
        <p:spPr>
          <a:xfrm>
            <a:off x="4866917" y="3977640"/>
            <a:ext cx="38516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825" dirty="0"/>
          </a:p>
        </p:txBody>
      </p:sp>
      <p:sp>
        <p:nvSpPr>
          <p:cNvPr id="102" name="Shape 87"/>
          <p:cNvSpPr/>
          <p:nvPr/>
        </p:nvSpPr>
        <p:spPr>
          <a:xfrm>
            <a:off x="788673" y="4286250"/>
            <a:ext cx="4461510" cy="474345"/>
          </a:xfrm>
          <a:prstGeom prst="roundRect">
            <a:avLst>
              <a:gd name="adj" fmla="val 16064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3" name="Text 88"/>
          <p:cNvSpPr/>
          <p:nvPr/>
        </p:nvSpPr>
        <p:spPr>
          <a:xfrm>
            <a:off x="872491" y="4370070"/>
            <a:ext cx="44226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DID</a:t>
            </a:r>
            <a:endParaRPr lang="en-US" sz="750" dirty="0"/>
          </a:p>
        </p:txBody>
      </p:sp>
      <p:sp>
        <p:nvSpPr>
          <p:cNvPr id="104" name="Text 89"/>
          <p:cNvSpPr/>
          <p:nvPr/>
        </p:nvSpPr>
        <p:spPr>
          <a:xfrm>
            <a:off x="872491" y="4503420"/>
            <a:ext cx="4422686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revoked active sessions for carlos.t</a:t>
            </a:r>
            <a:endParaRPr lang="en-US" sz="975" dirty="0"/>
          </a:p>
        </p:txBody>
      </p:sp>
      <p:sp>
        <p:nvSpPr>
          <p:cNvPr id="105" name="Shape 90"/>
          <p:cNvSpPr/>
          <p:nvPr/>
        </p:nvSpPr>
        <p:spPr>
          <a:xfrm>
            <a:off x="788673" y="4836795"/>
            <a:ext cx="694849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06" name="Shape 91"/>
          <p:cNvSpPr/>
          <p:nvPr/>
        </p:nvSpPr>
        <p:spPr>
          <a:xfrm>
            <a:off x="862966" y="490823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07" name="Text 92"/>
          <p:cNvSpPr/>
          <p:nvPr/>
        </p:nvSpPr>
        <p:spPr>
          <a:xfrm>
            <a:off x="958216" y="4863465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108" name="Text 93"/>
          <p:cNvSpPr/>
          <p:nvPr/>
        </p:nvSpPr>
        <p:spPr>
          <a:xfrm>
            <a:off x="1281829" y="4871085"/>
            <a:ext cx="20359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825" dirty="0"/>
          </a:p>
        </p:txBody>
      </p:sp>
      <p:sp>
        <p:nvSpPr>
          <p:cNvPr id="109" name="Shape 94"/>
          <p:cNvSpPr/>
          <p:nvPr/>
        </p:nvSpPr>
        <p:spPr>
          <a:xfrm>
            <a:off x="1540669" y="4836795"/>
            <a:ext cx="65365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0" name="Shape 95"/>
          <p:cNvSpPr/>
          <p:nvPr/>
        </p:nvSpPr>
        <p:spPr>
          <a:xfrm>
            <a:off x="1614967" y="490823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11" name="Text 96"/>
          <p:cNvSpPr/>
          <p:nvPr/>
        </p:nvSpPr>
        <p:spPr>
          <a:xfrm>
            <a:off x="1710217" y="4871085"/>
            <a:ext cx="4860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 ago</a:t>
            </a:r>
            <a:endParaRPr lang="en-US" sz="825" dirty="0"/>
          </a:p>
        </p:txBody>
      </p:sp>
      <p:sp>
        <p:nvSpPr>
          <p:cNvPr id="112" name="Shape 97"/>
          <p:cNvSpPr/>
          <p:nvPr/>
        </p:nvSpPr>
        <p:spPr>
          <a:xfrm>
            <a:off x="3543537" y="4836795"/>
            <a:ext cx="500896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3" name="Text 98"/>
          <p:cNvSpPr/>
          <p:nvPr/>
        </p:nvSpPr>
        <p:spPr>
          <a:xfrm>
            <a:off x="3617835" y="4863465"/>
            <a:ext cx="4285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↗</a:t>
            </a:r>
            <a:endParaRPr lang="en-US" sz="825" dirty="0"/>
          </a:p>
        </p:txBody>
      </p:sp>
      <p:sp>
        <p:nvSpPr>
          <p:cNvPr id="114" name="Shape 99"/>
          <p:cNvSpPr/>
          <p:nvPr/>
        </p:nvSpPr>
        <p:spPr>
          <a:xfrm>
            <a:off x="4101587" y="4836795"/>
            <a:ext cx="555546" cy="200025"/>
          </a:xfrm>
          <a:prstGeom prst="roundRect">
            <a:avLst>
              <a:gd name="adj" fmla="val 23810"/>
            </a:avLst>
          </a:prstGeom>
          <a:solidFill>
            <a:srgbClr val="EF4444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115" name="Text 100"/>
          <p:cNvSpPr/>
          <p:nvPr/>
        </p:nvSpPr>
        <p:spPr>
          <a:xfrm>
            <a:off x="4175880" y="4863465"/>
            <a:ext cx="4831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</a:t>
            </a:r>
            <a:endParaRPr lang="en-US" sz="825" dirty="0"/>
          </a:p>
        </p:txBody>
      </p:sp>
      <p:sp>
        <p:nvSpPr>
          <p:cNvPr id="116" name="Shape 101"/>
          <p:cNvSpPr/>
          <p:nvPr/>
        </p:nvSpPr>
        <p:spPr>
          <a:xfrm>
            <a:off x="4714280" y="4836795"/>
            <a:ext cx="53590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7" name="Text 102"/>
          <p:cNvSpPr/>
          <p:nvPr/>
        </p:nvSpPr>
        <p:spPr>
          <a:xfrm>
            <a:off x="4788577" y="4863465"/>
            <a:ext cx="46351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825" dirty="0"/>
          </a:p>
        </p:txBody>
      </p:sp>
      <p:sp>
        <p:nvSpPr>
          <p:cNvPr id="118" name="Shape 103"/>
          <p:cNvSpPr/>
          <p:nvPr/>
        </p:nvSpPr>
        <p:spPr>
          <a:xfrm>
            <a:off x="788673" y="5093970"/>
            <a:ext cx="4461510" cy="95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9" name="Text 104"/>
          <p:cNvSpPr/>
          <p:nvPr/>
        </p:nvSpPr>
        <p:spPr>
          <a:xfrm>
            <a:off x="788673" y="5158740"/>
            <a:ext cx="45953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ACTED WITHOUT WAITING</a:t>
            </a:r>
            <a:endParaRPr lang="en-US" sz="750" dirty="0"/>
          </a:p>
        </p:txBody>
      </p:sp>
      <p:sp>
        <p:nvSpPr>
          <p:cNvPr id="120" name="Text 105"/>
          <p:cNvSpPr/>
          <p:nvPr/>
        </p:nvSpPr>
        <p:spPr>
          <a:xfrm>
            <a:off x="788673" y="5292090"/>
            <a:ext cx="45953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× confidence × crown-jewel path → above your threshold. reversible action class.</a:t>
            </a:r>
            <a:endParaRPr lang="en-US" sz="825" dirty="0"/>
          </a:p>
        </p:txBody>
      </p:sp>
      <p:sp>
        <p:nvSpPr>
          <p:cNvPr id="121" name="Shape 106"/>
          <p:cNvSpPr/>
          <p:nvPr/>
        </p:nvSpPr>
        <p:spPr>
          <a:xfrm>
            <a:off x="5448300" y="3773805"/>
            <a:ext cx="4705350" cy="2760345"/>
          </a:xfrm>
          <a:prstGeom prst="roundRect">
            <a:avLst>
              <a:gd name="adj" fmla="val 2761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22" name="Text 107"/>
          <p:cNvSpPr/>
          <p:nvPr/>
        </p:nvSpPr>
        <p:spPr>
          <a:xfrm>
            <a:off x="5570223" y="3876675"/>
            <a:ext cx="258258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 quarantine · 41 mails · 9 mailboxes</a:t>
            </a:r>
            <a:endParaRPr lang="en-US" sz="1050" dirty="0"/>
          </a:p>
        </p:txBody>
      </p:sp>
      <p:sp>
        <p:nvSpPr>
          <p:cNvPr id="123" name="Text 108"/>
          <p:cNvSpPr/>
          <p:nvPr/>
        </p:nvSpPr>
        <p:spPr>
          <a:xfrm>
            <a:off x="5570223" y="4063365"/>
            <a:ext cx="258258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·brand impersonation + IOC match</a:t>
            </a:r>
            <a:endParaRPr lang="en-US" sz="825" dirty="0"/>
          </a:p>
        </p:txBody>
      </p:sp>
      <p:sp>
        <p:nvSpPr>
          <p:cNvPr id="124" name="Shape 109"/>
          <p:cNvSpPr/>
          <p:nvPr/>
        </p:nvSpPr>
        <p:spPr>
          <a:xfrm>
            <a:off x="9478924" y="3943350"/>
            <a:ext cx="5528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25" name="Shape 110"/>
          <p:cNvSpPr/>
          <p:nvPr/>
        </p:nvSpPr>
        <p:spPr>
          <a:xfrm>
            <a:off x="9553217" y="401478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6" name="Text 111"/>
          <p:cNvSpPr/>
          <p:nvPr/>
        </p:nvSpPr>
        <p:spPr>
          <a:xfrm>
            <a:off x="9648467" y="3977640"/>
            <a:ext cx="38516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825" dirty="0"/>
          </a:p>
        </p:txBody>
      </p:sp>
      <p:sp>
        <p:nvSpPr>
          <p:cNvPr id="127" name="Shape 112"/>
          <p:cNvSpPr/>
          <p:nvPr/>
        </p:nvSpPr>
        <p:spPr>
          <a:xfrm>
            <a:off x="5570223" y="4286250"/>
            <a:ext cx="4461510" cy="474345"/>
          </a:xfrm>
          <a:prstGeom prst="roundRect">
            <a:avLst>
              <a:gd name="adj" fmla="val 16064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8" name="Text 113"/>
          <p:cNvSpPr/>
          <p:nvPr/>
        </p:nvSpPr>
        <p:spPr>
          <a:xfrm>
            <a:off x="5654041" y="4370070"/>
            <a:ext cx="44226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DID</a:t>
            </a:r>
            <a:endParaRPr lang="en-US" sz="750" dirty="0"/>
          </a:p>
        </p:txBody>
      </p:sp>
      <p:sp>
        <p:nvSpPr>
          <p:cNvPr id="129" name="Text 114"/>
          <p:cNvSpPr/>
          <p:nvPr/>
        </p:nvSpPr>
        <p:spPr>
          <a:xfrm>
            <a:off x="5654041" y="4503420"/>
            <a:ext cx="4422686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to journal · users notified</a:t>
            </a:r>
            <a:endParaRPr lang="en-US" sz="975" dirty="0"/>
          </a:p>
        </p:txBody>
      </p:sp>
      <p:sp>
        <p:nvSpPr>
          <p:cNvPr id="130" name="Shape 115"/>
          <p:cNvSpPr/>
          <p:nvPr/>
        </p:nvSpPr>
        <p:spPr>
          <a:xfrm>
            <a:off x="5570223" y="4836795"/>
            <a:ext cx="69306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31" name="Shape 116"/>
          <p:cNvSpPr/>
          <p:nvPr/>
        </p:nvSpPr>
        <p:spPr>
          <a:xfrm>
            <a:off x="5644516" y="490823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32" name="Text 117"/>
          <p:cNvSpPr/>
          <p:nvPr/>
        </p:nvSpPr>
        <p:spPr>
          <a:xfrm>
            <a:off x="5739766" y="4863465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133" name="Text 118"/>
          <p:cNvSpPr/>
          <p:nvPr/>
        </p:nvSpPr>
        <p:spPr>
          <a:xfrm>
            <a:off x="6063379" y="4871085"/>
            <a:ext cx="20181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825" dirty="0"/>
          </a:p>
        </p:txBody>
      </p:sp>
      <p:sp>
        <p:nvSpPr>
          <p:cNvPr id="134" name="Shape 119"/>
          <p:cNvSpPr/>
          <p:nvPr/>
        </p:nvSpPr>
        <p:spPr>
          <a:xfrm>
            <a:off x="6320433" y="4836795"/>
            <a:ext cx="67758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5" name="Shape 120"/>
          <p:cNvSpPr/>
          <p:nvPr/>
        </p:nvSpPr>
        <p:spPr>
          <a:xfrm>
            <a:off x="6394731" y="490823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36" name="Text 121"/>
          <p:cNvSpPr/>
          <p:nvPr/>
        </p:nvSpPr>
        <p:spPr>
          <a:xfrm>
            <a:off x="6489981" y="4871085"/>
            <a:ext cx="50994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 ago</a:t>
            </a:r>
            <a:endParaRPr lang="en-US" sz="825" dirty="0"/>
          </a:p>
        </p:txBody>
      </p:sp>
      <p:sp>
        <p:nvSpPr>
          <p:cNvPr id="137" name="Shape 122"/>
          <p:cNvSpPr/>
          <p:nvPr/>
        </p:nvSpPr>
        <p:spPr>
          <a:xfrm>
            <a:off x="8325087" y="4836795"/>
            <a:ext cx="500896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8" name="Text 123"/>
          <p:cNvSpPr/>
          <p:nvPr/>
        </p:nvSpPr>
        <p:spPr>
          <a:xfrm>
            <a:off x="8399385" y="4863465"/>
            <a:ext cx="4285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↗</a:t>
            </a:r>
            <a:endParaRPr lang="en-US" sz="825" dirty="0"/>
          </a:p>
        </p:txBody>
      </p:sp>
      <p:sp>
        <p:nvSpPr>
          <p:cNvPr id="139" name="Shape 124"/>
          <p:cNvSpPr/>
          <p:nvPr/>
        </p:nvSpPr>
        <p:spPr>
          <a:xfrm>
            <a:off x="8883137" y="4836795"/>
            <a:ext cx="555546" cy="200025"/>
          </a:xfrm>
          <a:prstGeom prst="roundRect">
            <a:avLst>
              <a:gd name="adj" fmla="val 23810"/>
            </a:avLst>
          </a:prstGeom>
          <a:solidFill>
            <a:srgbClr val="EF4444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140" name="Text 125"/>
          <p:cNvSpPr/>
          <p:nvPr/>
        </p:nvSpPr>
        <p:spPr>
          <a:xfrm>
            <a:off x="8957430" y="4863465"/>
            <a:ext cx="4831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</a:t>
            </a:r>
            <a:endParaRPr lang="en-US" sz="825" dirty="0"/>
          </a:p>
        </p:txBody>
      </p:sp>
      <p:sp>
        <p:nvSpPr>
          <p:cNvPr id="141" name="Shape 126"/>
          <p:cNvSpPr/>
          <p:nvPr/>
        </p:nvSpPr>
        <p:spPr>
          <a:xfrm>
            <a:off x="9495830" y="4836795"/>
            <a:ext cx="53590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2" name="Text 127"/>
          <p:cNvSpPr/>
          <p:nvPr/>
        </p:nvSpPr>
        <p:spPr>
          <a:xfrm>
            <a:off x="9570127" y="4863465"/>
            <a:ext cx="46351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825" dirty="0"/>
          </a:p>
        </p:txBody>
      </p:sp>
      <p:sp>
        <p:nvSpPr>
          <p:cNvPr id="143" name="Shape 128"/>
          <p:cNvSpPr/>
          <p:nvPr/>
        </p:nvSpPr>
        <p:spPr>
          <a:xfrm>
            <a:off x="5570223" y="5093970"/>
            <a:ext cx="4461510" cy="95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4" name="Text 129"/>
          <p:cNvSpPr/>
          <p:nvPr/>
        </p:nvSpPr>
        <p:spPr>
          <a:xfrm>
            <a:off x="5570223" y="5158740"/>
            <a:ext cx="45953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ACTED WITHOUT WAITING</a:t>
            </a:r>
            <a:endParaRPr lang="en-US" sz="750" dirty="0"/>
          </a:p>
        </p:txBody>
      </p:sp>
      <p:sp>
        <p:nvSpPr>
          <p:cNvPr id="145" name="Text 130"/>
          <p:cNvSpPr/>
          <p:nvPr/>
        </p:nvSpPr>
        <p:spPr>
          <a:xfrm>
            <a:off x="5570223" y="5292090"/>
            <a:ext cx="45953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× confidence × crown-jewel path → above your threshold. reversible action class.</a:t>
            </a:r>
            <a:endParaRPr lang="en-US" sz="825" dirty="0"/>
          </a:p>
        </p:txBody>
      </p:sp>
      <p:sp>
        <p:nvSpPr>
          <p:cNvPr id="146" name="Shape 131"/>
          <p:cNvSpPr/>
          <p:nvPr/>
        </p:nvSpPr>
        <p:spPr>
          <a:xfrm>
            <a:off x="8061959" y="5976937"/>
            <a:ext cx="2072640" cy="538163"/>
          </a:xfrm>
          <a:prstGeom prst="roundRect">
            <a:avLst>
              <a:gd name="adj" fmla="val 708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147" name="Text 132"/>
          <p:cNvSpPr/>
          <p:nvPr/>
        </p:nvSpPr>
        <p:spPr>
          <a:xfrm>
            <a:off x="8145779" y="6041707"/>
            <a:ext cx="1981200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autonomy. the platform acted, and shows its work + the undo.</a:t>
            </a:r>
            <a:endParaRPr lang="en-US" sz="8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91441" y="23241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2079308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&amp; enforcement audit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765106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873099" y="144780"/>
            <a:ext cx="160734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· compliance grade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4556643" y="74295"/>
            <a:ext cx="2934295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9511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830961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4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3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20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214395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· one record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6159819" y="616268"/>
            <a:ext cx="136302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6234113" y="68770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0" name="Text 25"/>
          <p:cNvSpPr/>
          <p:nvPr/>
        </p:nvSpPr>
        <p:spPr>
          <a:xfrm>
            <a:off x="6329363" y="642938"/>
            <a:ext cx="119538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tamper-proof · signed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7579993" y="590550"/>
            <a:ext cx="1506617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Text 27"/>
          <p:cNvSpPr/>
          <p:nvPr/>
        </p:nvSpPr>
        <p:spPr>
          <a:xfrm>
            <a:off x="7682871" y="636270"/>
            <a:ext cx="137707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· SOC2 evidence</a:t>
            </a:r>
            <a:endParaRPr lang="en-US" sz="900" dirty="0"/>
          </a:p>
        </p:txBody>
      </p:sp>
      <p:sp>
        <p:nvSpPr>
          <p:cNvPr id="43" name="Shape 28"/>
          <p:cNvSpPr/>
          <p:nvPr/>
        </p:nvSpPr>
        <p:spPr>
          <a:xfrm>
            <a:off x="9143767" y="590550"/>
            <a:ext cx="1009888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4" name="Text 29"/>
          <p:cNvSpPr/>
          <p:nvPr/>
        </p:nvSpPr>
        <p:spPr>
          <a:xfrm>
            <a:off x="9246636" y="636270"/>
            <a:ext cx="88034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· JSONL</a:t>
            </a:r>
            <a:endParaRPr lang="en-US" sz="900" dirty="0"/>
          </a:p>
        </p:txBody>
      </p:sp>
      <p:sp>
        <p:nvSpPr>
          <p:cNvPr id="45" name="Shape 30"/>
          <p:cNvSpPr/>
          <p:nvPr/>
        </p:nvSpPr>
        <p:spPr>
          <a:xfrm>
            <a:off x="666750" y="937260"/>
            <a:ext cx="667345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46" name="Shape 31"/>
          <p:cNvSpPr/>
          <p:nvPr/>
        </p:nvSpPr>
        <p:spPr>
          <a:xfrm>
            <a:off x="741048" y="1008698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32"/>
          <p:cNvSpPr/>
          <p:nvPr/>
        </p:nvSpPr>
        <p:spPr>
          <a:xfrm>
            <a:off x="836298" y="963930"/>
            <a:ext cx="49970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· 1,418</a:t>
            </a:r>
            <a:endParaRPr lang="en-US" sz="825" dirty="0"/>
          </a:p>
        </p:txBody>
      </p:sp>
      <p:sp>
        <p:nvSpPr>
          <p:cNvPr id="48" name="Shape 33"/>
          <p:cNvSpPr/>
          <p:nvPr/>
        </p:nvSpPr>
        <p:spPr>
          <a:xfrm>
            <a:off x="1391245" y="937260"/>
            <a:ext cx="62948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9" name="Shape 34"/>
          <p:cNvSpPr/>
          <p:nvPr/>
        </p:nvSpPr>
        <p:spPr>
          <a:xfrm>
            <a:off x="1465543" y="10086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0" name="Text 35"/>
          <p:cNvSpPr/>
          <p:nvPr/>
        </p:nvSpPr>
        <p:spPr>
          <a:xfrm>
            <a:off x="1560793" y="963930"/>
            <a:ext cx="46184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case</a:t>
            </a:r>
            <a:endParaRPr lang="en-US" sz="825" dirty="0"/>
          </a:p>
        </p:txBody>
      </p:sp>
      <p:sp>
        <p:nvSpPr>
          <p:cNvPr id="51" name="Shape 36"/>
          <p:cNvSpPr/>
          <p:nvPr/>
        </p:nvSpPr>
        <p:spPr>
          <a:xfrm>
            <a:off x="2077878" y="937260"/>
            <a:ext cx="74807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2" name="Shape 37"/>
          <p:cNvSpPr/>
          <p:nvPr/>
        </p:nvSpPr>
        <p:spPr>
          <a:xfrm>
            <a:off x="2152176" y="10086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3" name="Text 38"/>
          <p:cNvSpPr/>
          <p:nvPr/>
        </p:nvSpPr>
        <p:spPr>
          <a:xfrm>
            <a:off x="2247426" y="963930"/>
            <a:ext cx="58043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analyst</a:t>
            </a:r>
            <a:endParaRPr lang="en-US" sz="825" dirty="0"/>
          </a:p>
        </p:txBody>
      </p:sp>
      <p:sp>
        <p:nvSpPr>
          <p:cNvPr id="54" name="Shape 39"/>
          <p:cNvSpPr/>
          <p:nvPr/>
        </p:nvSpPr>
        <p:spPr>
          <a:xfrm>
            <a:off x="2883098" y="937260"/>
            <a:ext cx="684848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2957392" y="10086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6" name="Text 41"/>
          <p:cNvSpPr/>
          <p:nvPr/>
        </p:nvSpPr>
        <p:spPr>
          <a:xfrm>
            <a:off x="3052642" y="963930"/>
            <a:ext cx="51720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agent</a:t>
            </a:r>
            <a:endParaRPr lang="en-US" sz="825" dirty="0"/>
          </a:p>
        </p:txBody>
      </p:sp>
      <p:sp>
        <p:nvSpPr>
          <p:cNvPr id="57" name="Shape 42"/>
          <p:cNvSpPr/>
          <p:nvPr/>
        </p:nvSpPr>
        <p:spPr>
          <a:xfrm>
            <a:off x="3625100" y="937260"/>
            <a:ext cx="782479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3699393" y="10086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9" name="Text 44"/>
          <p:cNvSpPr/>
          <p:nvPr/>
        </p:nvSpPr>
        <p:spPr>
          <a:xfrm>
            <a:off x="3794643" y="963930"/>
            <a:ext cx="61483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only</a:t>
            </a:r>
            <a:endParaRPr lang="en-US" sz="825" dirty="0"/>
          </a:p>
        </p:txBody>
      </p:sp>
      <p:sp>
        <p:nvSpPr>
          <p:cNvPr id="60" name="Shape 45"/>
          <p:cNvSpPr/>
          <p:nvPr/>
        </p:nvSpPr>
        <p:spPr>
          <a:xfrm>
            <a:off x="4464723" y="937260"/>
            <a:ext cx="113276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1" name="Shape 46"/>
          <p:cNvSpPr/>
          <p:nvPr/>
        </p:nvSpPr>
        <p:spPr>
          <a:xfrm>
            <a:off x="4539025" y="10086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2" name="Text 47"/>
          <p:cNvSpPr/>
          <p:nvPr/>
        </p:nvSpPr>
        <p:spPr>
          <a:xfrm>
            <a:off x="4634275" y="963930"/>
            <a:ext cx="96512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 only</a:t>
            </a:r>
            <a:endParaRPr lang="en-US" sz="825" dirty="0"/>
          </a:p>
        </p:txBody>
      </p:sp>
      <p:sp>
        <p:nvSpPr>
          <p:cNvPr id="63" name="Shape 48"/>
          <p:cNvSpPr/>
          <p:nvPr/>
        </p:nvSpPr>
        <p:spPr>
          <a:xfrm>
            <a:off x="666750" y="1232535"/>
            <a:ext cx="9486900" cy="5053013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4" name="Shape 49"/>
          <p:cNvSpPr/>
          <p:nvPr/>
        </p:nvSpPr>
        <p:spPr>
          <a:xfrm>
            <a:off x="712473" y="1278255"/>
            <a:ext cx="855940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Shape 50"/>
          <p:cNvSpPr/>
          <p:nvPr/>
        </p:nvSpPr>
        <p:spPr>
          <a:xfrm>
            <a:off x="712473" y="1516380"/>
            <a:ext cx="85594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51"/>
          <p:cNvSpPr/>
          <p:nvPr/>
        </p:nvSpPr>
        <p:spPr>
          <a:xfrm>
            <a:off x="788673" y="1325880"/>
            <a:ext cx="7797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25" dirty="0"/>
          </a:p>
        </p:txBody>
      </p:sp>
      <p:sp>
        <p:nvSpPr>
          <p:cNvPr id="67" name="Shape 52"/>
          <p:cNvSpPr/>
          <p:nvPr/>
        </p:nvSpPr>
        <p:spPr>
          <a:xfrm>
            <a:off x="1568411" y="1278255"/>
            <a:ext cx="920234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8" name="Shape 53"/>
          <p:cNvSpPr/>
          <p:nvPr/>
        </p:nvSpPr>
        <p:spPr>
          <a:xfrm>
            <a:off x="1568411" y="1516380"/>
            <a:ext cx="920234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9" name="Text 54"/>
          <p:cNvSpPr/>
          <p:nvPr/>
        </p:nvSpPr>
        <p:spPr>
          <a:xfrm>
            <a:off x="1644611" y="1325880"/>
            <a:ext cx="84403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825" dirty="0"/>
          </a:p>
        </p:txBody>
      </p:sp>
      <p:sp>
        <p:nvSpPr>
          <p:cNvPr id="70" name="Shape 55"/>
          <p:cNvSpPr/>
          <p:nvPr/>
        </p:nvSpPr>
        <p:spPr>
          <a:xfrm>
            <a:off x="2488648" y="1278255"/>
            <a:ext cx="2128599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1" name="Shape 56"/>
          <p:cNvSpPr/>
          <p:nvPr/>
        </p:nvSpPr>
        <p:spPr>
          <a:xfrm>
            <a:off x="2488648" y="1516380"/>
            <a:ext cx="21285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57"/>
          <p:cNvSpPr/>
          <p:nvPr/>
        </p:nvSpPr>
        <p:spPr>
          <a:xfrm>
            <a:off x="2564848" y="1325880"/>
            <a:ext cx="20523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25" dirty="0"/>
          </a:p>
        </p:txBody>
      </p:sp>
      <p:sp>
        <p:nvSpPr>
          <p:cNvPr id="73" name="Shape 58"/>
          <p:cNvSpPr/>
          <p:nvPr/>
        </p:nvSpPr>
        <p:spPr>
          <a:xfrm>
            <a:off x="4617244" y="1278255"/>
            <a:ext cx="1677114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4" name="Shape 59"/>
          <p:cNvSpPr/>
          <p:nvPr/>
        </p:nvSpPr>
        <p:spPr>
          <a:xfrm>
            <a:off x="4617244" y="1516380"/>
            <a:ext cx="1677114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5" name="Text 60"/>
          <p:cNvSpPr/>
          <p:nvPr/>
        </p:nvSpPr>
        <p:spPr>
          <a:xfrm>
            <a:off x="4693444" y="1325880"/>
            <a:ext cx="16009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25" dirty="0"/>
          </a:p>
        </p:txBody>
      </p:sp>
      <p:sp>
        <p:nvSpPr>
          <p:cNvPr id="76" name="Shape 61"/>
          <p:cNvSpPr/>
          <p:nvPr/>
        </p:nvSpPr>
        <p:spPr>
          <a:xfrm>
            <a:off x="6294360" y="1278255"/>
            <a:ext cx="1261348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7" name="Shape 62"/>
          <p:cNvSpPr/>
          <p:nvPr/>
        </p:nvSpPr>
        <p:spPr>
          <a:xfrm>
            <a:off x="6294360" y="1516380"/>
            <a:ext cx="1261348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63"/>
          <p:cNvSpPr/>
          <p:nvPr/>
        </p:nvSpPr>
        <p:spPr>
          <a:xfrm>
            <a:off x="6370560" y="1325880"/>
            <a:ext cx="11851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</a:t>
            </a:r>
            <a:endParaRPr lang="en-US" sz="825" dirty="0"/>
          </a:p>
        </p:txBody>
      </p:sp>
      <p:sp>
        <p:nvSpPr>
          <p:cNvPr id="79" name="Shape 64"/>
          <p:cNvSpPr/>
          <p:nvPr/>
        </p:nvSpPr>
        <p:spPr>
          <a:xfrm>
            <a:off x="7555706" y="1278255"/>
            <a:ext cx="688658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0" name="Shape 65"/>
          <p:cNvSpPr/>
          <p:nvPr/>
        </p:nvSpPr>
        <p:spPr>
          <a:xfrm>
            <a:off x="7555706" y="1516380"/>
            <a:ext cx="688658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1" name="Text 66"/>
          <p:cNvSpPr/>
          <p:nvPr/>
        </p:nvSpPr>
        <p:spPr>
          <a:xfrm>
            <a:off x="7631906" y="1325880"/>
            <a:ext cx="6124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</a:t>
            </a:r>
            <a:endParaRPr lang="en-US" sz="825" dirty="0"/>
          </a:p>
        </p:txBody>
      </p:sp>
      <p:sp>
        <p:nvSpPr>
          <p:cNvPr id="82" name="Shape 67"/>
          <p:cNvSpPr/>
          <p:nvPr/>
        </p:nvSpPr>
        <p:spPr>
          <a:xfrm>
            <a:off x="8244362" y="1278255"/>
            <a:ext cx="609600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3" name="Shape 68"/>
          <p:cNvSpPr/>
          <p:nvPr/>
        </p:nvSpPr>
        <p:spPr>
          <a:xfrm>
            <a:off x="8244362" y="1516380"/>
            <a:ext cx="609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Text 69"/>
          <p:cNvSpPr/>
          <p:nvPr/>
        </p:nvSpPr>
        <p:spPr>
          <a:xfrm>
            <a:off x="8320562" y="1325880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825" dirty="0"/>
          </a:p>
        </p:txBody>
      </p:sp>
      <p:sp>
        <p:nvSpPr>
          <p:cNvPr id="85" name="Shape 70"/>
          <p:cNvSpPr/>
          <p:nvPr/>
        </p:nvSpPr>
        <p:spPr>
          <a:xfrm>
            <a:off x="8853962" y="1278255"/>
            <a:ext cx="1253966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6" name="Shape 71"/>
          <p:cNvSpPr/>
          <p:nvPr/>
        </p:nvSpPr>
        <p:spPr>
          <a:xfrm>
            <a:off x="8853962" y="1516380"/>
            <a:ext cx="125396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7" name="Text 72"/>
          <p:cNvSpPr/>
          <p:nvPr/>
        </p:nvSpPr>
        <p:spPr>
          <a:xfrm>
            <a:off x="8930162" y="1325880"/>
            <a:ext cx="11777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825" dirty="0"/>
          </a:p>
        </p:txBody>
      </p:sp>
      <p:sp>
        <p:nvSpPr>
          <p:cNvPr id="88" name="Shape 73"/>
          <p:cNvSpPr/>
          <p:nvPr/>
        </p:nvSpPr>
        <p:spPr>
          <a:xfrm>
            <a:off x="712473" y="1524000"/>
            <a:ext cx="855940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89" name="Shape 74"/>
          <p:cNvSpPr/>
          <p:nvPr/>
        </p:nvSpPr>
        <p:spPr>
          <a:xfrm>
            <a:off x="712473" y="1838325"/>
            <a:ext cx="85594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0" name="Text 75"/>
          <p:cNvSpPr/>
          <p:nvPr/>
        </p:nvSpPr>
        <p:spPr>
          <a:xfrm>
            <a:off x="788673" y="1581150"/>
            <a:ext cx="7797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13:32:00</a:t>
            </a:r>
            <a:endParaRPr lang="en-US" sz="825" dirty="0"/>
          </a:p>
        </p:txBody>
      </p:sp>
      <p:sp>
        <p:nvSpPr>
          <p:cNvPr id="91" name="Shape 76"/>
          <p:cNvSpPr/>
          <p:nvPr/>
        </p:nvSpPr>
        <p:spPr>
          <a:xfrm>
            <a:off x="1568411" y="1524000"/>
            <a:ext cx="920234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92" name="Shape 77"/>
          <p:cNvSpPr/>
          <p:nvPr/>
        </p:nvSpPr>
        <p:spPr>
          <a:xfrm>
            <a:off x="1568411" y="1838325"/>
            <a:ext cx="92023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3" name="Shape 78"/>
          <p:cNvSpPr/>
          <p:nvPr/>
        </p:nvSpPr>
        <p:spPr>
          <a:xfrm>
            <a:off x="1644611" y="1584960"/>
            <a:ext cx="55221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94" name="Shape 79"/>
          <p:cNvSpPr/>
          <p:nvPr/>
        </p:nvSpPr>
        <p:spPr>
          <a:xfrm>
            <a:off x="1718904" y="165639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95" name="Text 80"/>
          <p:cNvSpPr/>
          <p:nvPr/>
        </p:nvSpPr>
        <p:spPr>
          <a:xfrm>
            <a:off x="1814154" y="1619250"/>
            <a:ext cx="3845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825" dirty="0"/>
          </a:p>
        </p:txBody>
      </p:sp>
      <p:sp>
        <p:nvSpPr>
          <p:cNvPr id="96" name="Shape 81"/>
          <p:cNvSpPr/>
          <p:nvPr/>
        </p:nvSpPr>
        <p:spPr>
          <a:xfrm>
            <a:off x="2488648" y="1524000"/>
            <a:ext cx="2128599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97" name="Shape 82"/>
          <p:cNvSpPr/>
          <p:nvPr/>
        </p:nvSpPr>
        <p:spPr>
          <a:xfrm>
            <a:off x="2488648" y="1838325"/>
            <a:ext cx="2128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8" name="Text 83"/>
          <p:cNvSpPr/>
          <p:nvPr/>
        </p:nvSpPr>
        <p:spPr>
          <a:xfrm>
            <a:off x="2564848" y="1581150"/>
            <a:ext cx="2052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egress 198.51.0.0/16</a:t>
            </a:r>
            <a:endParaRPr lang="en-US" sz="900" dirty="0"/>
          </a:p>
        </p:txBody>
      </p:sp>
      <p:sp>
        <p:nvSpPr>
          <p:cNvPr id="99" name="Shape 84"/>
          <p:cNvSpPr/>
          <p:nvPr/>
        </p:nvSpPr>
        <p:spPr>
          <a:xfrm>
            <a:off x="4617244" y="1524000"/>
            <a:ext cx="1677114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00" name="Shape 85"/>
          <p:cNvSpPr/>
          <p:nvPr/>
        </p:nvSpPr>
        <p:spPr>
          <a:xfrm>
            <a:off x="4617244" y="1838325"/>
            <a:ext cx="1677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1" name="Text 86"/>
          <p:cNvSpPr/>
          <p:nvPr/>
        </p:nvSpPr>
        <p:spPr>
          <a:xfrm>
            <a:off x="4693444" y="1581150"/>
            <a:ext cx="1600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analytics-3</a:t>
            </a:r>
            <a:endParaRPr lang="en-US" sz="825" dirty="0"/>
          </a:p>
        </p:txBody>
      </p:sp>
      <p:sp>
        <p:nvSpPr>
          <p:cNvPr id="102" name="Shape 87"/>
          <p:cNvSpPr/>
          <p:nvPr/>
        </p:nvSpPr>
        <p:spPr>
          <a:xfrm>
            <a:off x="6294360" y="1524000"/>
            <a:ext cx="1261348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03" name="Shape 88"/>
          <p:cNvSpPr/>
          <p:nvPr/>
        </p:nvSpPr>
        <p:spPr>
          <a:xfrm>
            <a:off x="6294360" y="1838325"/>
            <a:ext cx="12613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4" name="Text 89"/>
          <p:cNvSpPr/>
          <p:nvPr/>
        </p:nvSpPr>
        <p:spPr>
          <a:xfrm>
            <a:off x="6370560" y="1581150"/>
            <a:ext cx="11851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ResponseAgent</a:t>
            </a:r>
            <a:endParaRPr lang="en-US" sz="900" dirty="0"/>
          </a:p>
        </p:txBody>
      </p:sp>
      <p:sp>
        <p:nvSpPr>
          <p:cNvPr id="105" name="Shape 90"/>
          <p:cNvSpPr/>
          <p:nvPr/>
        </p:nvSpPr>
        <p:spPr>
          <a:xfrm>
            <a:off x="7555706" y="1524000"/>
            <a:ext cx="688658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06" name="Shape 91"/>
          <p:cNvSpPr/>
          <p:nvPr/>
        </p:nvSpPr>
        <p:spPr>
          <a:xfrm>
            <a:off x="7555706" y="1838325"/>
            <a:ext cx="68865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7" name="Text 92"/>
          <p:cNvSpPr/>
          <p:nvPr/>
        </p:nvSpPr>
        <p:spPr>
          <a:xfrm>
            <a:off x="7631906" y="1581150"/>
            <a:ext cx="6124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900" dirty="0"/>
          </a:p>
        </p:txBody>
      </p:sp>
      <p:sp>
        <p:nvSpPr>
          <p:cNvPr id="108" name="Shape 93"/>
          <p:cNvSpPr/>
          <p:nvPr/>
        </p:nvSpPr>
        <p:spPr>
          <a:xfrm>
            <a:off x="8244362" y="1524000"/>
            <a:ext cx="609600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09" name="Shape 94"/>
          <p:cNvSpPr/>
          <p:nvPr/>
        </p:nvSpPr>
        <p:spPr>
          <a:xfrm>
            <a:off x="8244362" y="1838325"/>
            <a:ext cx="6096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0" name="Text 95"/>
          <p:cNvSpPr/>
          <p:nvPr/>
        </p:nvSpPr>
        <p:spPr>
          <a:xfrm>
            <a:off x="8320562" y="1581150"/>
            <a:ext cx="533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#4129</a:t>
            </a:r>
            <a:endParaRPr lang="en-US" sz="825" dirty="0"/>
          </a:p>
        </p:txBody>
      </p:sp>
      <p:sp>
        <p:nvSpPr>
          <p:cNvPr id="111" name="Shape 96"/>
          <p:cNvSpPr/>
          <p:nvPr/>
        </p:nvSpPr>
        <p:spPr>
          <a:xfrm>
            <a:off x="8853962" y="1524000"/>
            <a:ext cx="1253966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12" name="Shape 97"/>
          <p:cNvSpPr/>
          <p:nvPr/>
        </p:nvSpPr>
        <p:spPr>
          <a:xfrm>
            <a:off x="8853962" y="1838325"/>
            <a:ext cx="12539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3" name="Shape 98"/>
          <p:cNvSpPr/>
          <p:nvPr/>
        </p:nvSpPr>
        <p:spPr>
          <a:xfrm>
            <a:off x="8930162" y="1584960"/>
            <a:ext cx="80736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14" name="Shape 99"/>
          <p:cNvSpPr/>
          <p:nvPr/>
        </p:nvSpPr>
        <p:spPr>
          <a:xfrm>
            <a:off x="9004464" y="165639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15" name="Text 100"/>
          <p:cNvSpPr/>
          <p:nvPr/>
        </p:nvSpPr>
        <p:spPr>
          <a:xfrm>
            <a:off x="9099714" y="1619250"/>
            <a:ext cx="63971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enforced</a:t>
            </a:r>
            <a:endParaRPr lang="en-US" sz="825" dirty="0"/>
          </a:p>
        </p:txBody>
      </p:sp>
      <p:sp>
        <p:nvSpPr>
          <p:cNvPr id="116" name="Shape 101"/>
          <p:cNvSpPr/>
          <p:nvPr/>
        </p:nvSpPr>
        <p:spPr>
          <a:xfrm>
            <a:off x="712473" y="1845945"/>
            <a:ext cx="855940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17" name="Shape 102"/>
          <p:cNvSpPr/>
          <p:nvPr/>
        </p:nvSpPr>
        <p:spPr>
          <a:xfrm>
            <a:off x="712473" y="2160270"/>
            <a:ext cx="85594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8" name="Text 103"/>
          <p:cNvSpPr/>
          <p:nvPr/>
        </p:nvSpPr>
        <p:spPr>
          <a:xfrm>
            <a:off x="788673" y="1903095"/>
            <a:ext cx="7797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13:31:55</a:t>
            </a:r>
            <a:endParaRPr lang="en-US" sz="825" dirty="0"/>
          </a:p>
        </p:txBody>
      </p:sp>
      <p:sp>
        <p:nvSpPr>
          <p:cNvPr id="119" name="Shape 104"/>
          <p:cNvSpPr/>
          <p:nvPr/>
        </p:nvSpPr>
        <p:spPr>
          <a:xfrm>
            <a:off x="1568411" y="1845945"/>
            <a:ext cx="920234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20" name="Shape 105"/>
          <p:cNvSpPr/>
          <p:nvPr/>
        </p:nvSpPr>
        <p:spPr>
          <a:xfrm>
            <a:off x="1568411" y="2160270"/>
            <a:ext cx="92023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1" name="Shape 106"/>
          <p:cNvSpPr/>
          <p:nvPr/>
        </p:nvSpPr>
        <p:spPr>
          <a:xfrm>
            <a:off x="1644611" y="1906905"/>
            <a:ext cx="55221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22" name="Shape 107"/>
          <p:cNvSpPr/>
          <p:nvPr/>
        </p:nvSpPr>
        <p:spPr>
          <a:xfrm>
            <a:off x="1718904" y="197834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3" name="Text 108"/>
          <p:cNvSpPr/>
          <p:nvPr/>
        </p:nvSpPr>
        <p:spPr>
          <a:xfrm>
            <a:off x="1814154" y="1941195"/>
            <a:ext cx="3845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825" dirty="0"/>
          </a:p>
        </p:txBody>
      </p:sp>
      <p:sp>
        <p:nvSpPr>
          <p:cNvPr id="124" name="Shape 109"/>
          <p:cNvSpPr/>
          <p:nvPr/>
        </p:nvSpPr>
        <p:spPr>
          <a:xfrm>
            <a:off x="2488648" y="1845945"/>
            <a:ext cx="2128599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25" name="Shape 110"/>
          <p:cNvSpPr/>
          <p:nvPr/>
        </p:nvSpPr>
        <p:spPr>
          <a:xfrm>
            <a:off x="2488648" y="2160270"/>
            <a:ext cx="2128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6" name="Text 111"/>
          <p:cNvSpPr/>
          <p:nvPr/>
        </p:nvSpPr>
        <p:spPr>
          <a:xfrm>
            <a:off x="2564848" y="1903095"/>
            <a:ext cx="2052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/etc/shadow read</a:t>
            </a:r>
            <a:endParaRPr lang="en-US" sz="900" dirty="0"/>
          </a:p>
        </p:txBody>
      </p:sp>
      <p:sp>
        <p:nvSpPr>
          <p:cNvPr id="127" name="Shape 112"/>
          <p:cNvSpPr/>
          <p:nvPr/>
        </p:nvSpPr>
        <p:spPr>
          <a:xfrm>
            <a:off x="4617244" y="1845945"/>
            <a:ext cx="1677114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28" name="Shape 113"/>
          <p:cNvSpPr/>
          <p:nvPr/>
        </p:nvSpPr>
        <p:spPr>
          <a:xfrm>
            <a:off x="4617244" y="2160270"/>
            <a:ext cx="1677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9" name="Text 114"/>
          <p:cNvSpPr/>
          <p:nvPr/>
        </p:nvSpPr>
        <p:spPr>
          <a:xfrm>
            <a:off x="4693444" y="1903095"/>
            <a:ext cx="1600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claude-fin-bot</a:t>
            </a:r>
            <a:endParaRPr lang="en-US" sz="825" dirty="0"/>
          </a:p>
        </p:txBody>
      </p:sp>
      <p:sp>
        <p:nvSpPr>
          <p:cNvPr id="130" name="Shape 115"/>
          <p:cNvSpPr/>
          <p:nvPr/>
        </p:nvSpPr>
        <p:spPr>
          <a:xfrm>
            <a:off x="6294360" y="1845945"/>
            <a:ext cx="1261348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31" name="Shape 116"/>
          <p:cNvSpPr/>
          <p:nvPr/>
        </p:nvSpPr>
        <p:spPr>
          <a:xfrm>
            <a:off x="6294360" y="2160270"/>
            <a:ext cx="12613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2" name="Text 117"/>
          <p:cNvSpPr/>
          <p:nvPr/>
        </p:nvSpPr>
        <p:spPr>
          <a:xfrm>
            <a:off x="6370560" y="1903095"/>
            <a:ext cx="11851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ResponseAgent</a:t>
            </a:r>
            <a:endParaRPr lang="en-US" sz="900" dirty="0"/>
          </a:p>
        </p:txBody>
      </p:sp>
      <p:sp>
        <p:nvSpPr>
          <p:cNvPr id="133" name="Shape 118"/>
          <p:cNvSpPr/>
          <p:nvPr/>
        </p:nvSpPr>
        <p:spPr>
          <a:xfrm>
            <a:off x="7555706" y="1845945"/>
            <a:ext cx="688658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34" name="Shape 119"/>
          <p:cNvSpPr/>
          <p:nvPr/>
        </p:nvSpPr>
        <p:spPr>
          <a:xfrm>
            <a:off x="7555706" y="2160270"/>
            <a:ext cx="68865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5" name="Text 120"/>
          <p:cNvSpPr/>
          <p:nvPr/>
        </p:nvSpPr>
        <p:spPr>
          <a:xfrm>
            <a:off x="7631906" y="1903095"/>
            <a:ext cx="6124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900" dirty="0"/>
          </a:p>
        </p:txBody>
      </p:sp>
      <p:sp>
        <p:nvSpPr>
          <p:cNvPr id="136" name="Shape 121"/>
          <p:cNvSpPr/>
          <p:nvPr/>
        </p:nvSpPr>
        <p:spPr>
          <a:xfrm>
            <a:off x="8244362" y="1845945"/>
            <a:ext cx="609600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37" name="Shape 122"/>
          <p:cNvSpPr/>
          <p:nvPr/>
        </p:nvSpPr>
        <p:spPr>
          <a:xfrm>
            <a:off x="8244362" y="2160270"/>
            <a:ext cx="6096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8" name="Text 123"/>
          <p:cNvSpPr/>
          <p:nvPr/>
        </p:nvSpPr>
        <p:spPr>
          <a:xfrm>
            <a:off x="8320562" y="1903095"/>
            <a:ext cx="533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#4118</a:t>
            </a:r>
            <a:endParaRPr lang="en-US" sz="825" dirty="0"/>
          </a:p>
        </p:txBody>
      </p:sp>
      <p:sp>
        <p:nvSpPr>
          <p:cNvPr id="139" name="Shape 124"/>
          <p:cNvSpPr/>
          <p:nvPr/>
        </p:nvSpPr>
        <p:spPr>
          <a:xfrm>
            <a:off x="8853962" y="1845945"/>
            <a:ext cx="1253966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40" name="Shape 125"/>
          <p:cNvSpPr/>
          <p:nvPr/>
        </p:nvSpPr>
        <p:spPr>
          <a:xfrm>
            <a:off x="8853962" y="2160270"/>
            <a:ext cx="12539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1" name="Shape 126"/>
          <p:cNvSpPr/>
          <p:nvPr/>
        </p:nvSpPr>
        <p:spPr>
          <a:xfrm>
            <a:off x="8930162" y="1906905"/>
            <a:ext cx="80736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42" name="Shape 127"/>
          <p:cNvSpPr/>
          <p:nvPr/>
        </p:nvSpPr>
        <p:spPr>
          <a:xfrm>
            <a:off x="9004464" y="197834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43" name="Text 128"/>
          <p:cNvSpPr/>
          <p:nvPr/>
        </p:nvSpPr>
        <p:spPr>
          <a:xfrm>
            <a:off x="9099714" y="1941195"/>
            <a:ext cx="63971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enforced</a:t>
            </a:r>
            <a:endParaRPr lang="en-US" sz="825" dirty="0"/>
          </a:p>
        </p:txBody>
      </p:sp>
      <p:sp>
        <p:nvSpPr>
          <p:cNvPr id="144" name="Shape 129"/>
          <p:cNvSpPr/>
          <p:nvPr/>
        </p:nvSpPr>
        <p:spPr>
          <a:xfrm>
            <a:off x="712473" y="2482215"/>
            <a:ext cx="85594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5" name="Text 130"/>
          <p:cNvSpPr/>
          <p:nvPr/>
        </p:nvSpPr>
        <p:spPr>
          <a:xfrm>
            <a:off x="788673" y="2225040"/>
            <a:ext cx="7797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13:30:01</a:t>
            </a:r>
            <a:endParaRPr lang="en-US" sz="825" dirty="0"/>
          </a:p>
        </p:txBody>
      </p:sp>
      <p:sp>
        <p:nvSpPr>
          <p:cNvPr id="146" name="Shape 131"/>
          <p:cNvSpPr/>
          <p:nvPr/>
        </p:nvSpPr>
        <p:spPr>
          <a:xfrm>
            <a:off x="1568411" y="2482215"/>
            <a:ext cx="92023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7" name="Shape 132"/>
          <p:cNvSpPr/>
          <p:nvPr/>
        </p:nvSpPr>
        <p:spPr>
          <a:xfrm>
            <a:off x="1644611" y="2228850"/>
            <a:ext cx="473035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148" name="Shape 133"/>
          <p:cNvSpPr/>
          <p:nvPr/>
        </p:nvSpPr>
        <p:spPr>
          <a:xfrm>
            <a:off x="1718904" y="2300288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9" name="Text 134"/>
          <p:cNvSpPr/>
          <p:nvPr/>
        </p:nvSpPr>
        <p:spPr>
          <a:xfrm>
            <a:off x="1814154" y="2263140"/>
            <a:ext cx="30539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825" dirty="0"/>
          </a:p>
        </p:txBody>
      </p:sp>
      <p:sp>
        <p:nvSpPr>
          <p:cNvPr id="150" name="Shape 135"/>
          <p:cNvSpPr/>
          <p:nvPr/>
        </p:nvSpPr>
        <p:spPr>
          <a:xfrm>
            <a:off x="2488648" y="2482215"/>
            <a:ext cx="2128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1" name="Text 136"/>
          <p:cNvSpPr/>
          <p:nvPr/>
        </p:nvSpPr>
        <p:spPr>
          <a:xfrm>
            <a:off x="2564848" y="2225040"/>
            <a:ext cx="2052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okta sessions ×3</a:t>
            </a:r>
            <a:endParaRPr lang="en-US" sz="900" dirty="0"/>
          </a:p>
        </p:txBody>
      </p:sp>
      <p:sp>
        <p:nvSpPr>
          <p:cNvPr id="152" name="Shape 137"/>
          <p:cNvSpPr/>
          <p:nvPr/>
        </p:nvSpPr>
        <p:spPr>
          <a:xfrm>
            <a:off x="4617244" y="2482215"/>
            <a:ext cx="1677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3" name="Text 138"/>
          <p:cNvSpPr/>
          <p:nvPr/>
        </p:nvSpPr>
        <p:spPr>
          <a:xfrm>
            <a:off x="4693444" y="2225040"/>
            <a:ext cx="1600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carlos.t</a:t>
            </a:r>
            <a:endParaRPr lang="en-US" sz="825" dirty="0"/>
          </a:p>
        </p:txBody>
      </p:sp>
      <p:sp>
        <p:nvSpPr>
          <p:cNvPr id="154" name="Shape 139"/>
          <p:cNvSpPr/>
          <p:nvPr/>
        </p:nvSpPr>
        <p:spPr>
          <a:xfrm>
            <a:off x="6294360" y="2482215"/>
            <a:ext cx="12613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5" name="Text 140"/>
          <p:cNvSpPr/>
          <p:nvPr/>
        </p:nvSpPr>
        <p:spPr>
          <a:xfrm>
            <a:off x="6370560" y="2225040"/>
            <a:ext cx="11851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alex.m</a:t>
            </a:r>
            <a:endParaRPr lang="en-US" sz="900" dirty="0"/>
          </a:p>
        </p:txBody>
      </p:sp>
      <p:sp>
        <p:nvSpPr>
          <p:cNvPr id="156" name="Shape 141"/>
          <p:cNvSpPr/>
          <p:nvPr/>
        </p:nvSpPr>
        <p:spPr>
          <a:xfrm>
            <a:off x="7555706" y="2482215"/>
            <a:ext cx="68865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7" name="Text 142"/>
          <p:cNvSpPr/>
          <p:nvPr/>
        </p:nvSpPr>
        <p:spPr>
          <a:xfrm>
            <a:off x="7631906" y="2225040"/>
            <a:ext cx="6124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900" dirty="0"/>
          </a:p>
        </p:txBody>
      </p:sp>
      <p:sp>
        <p:nvSpPr>
          <p:cNvPr id="158" name="Shape 143"/>
          <p:cNvSpPr/>
          <p:nvPr/>
        </p:nvSpPr>
        <p:spPr>
          <a:xfrm>
            <a:off x="8244362" y="2482215"/>
            <a:ext cx="6096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9" name="Text 144"/>
          <p:cNvSpPr/>
          <p:nvPr/>
        </p:nvSpPr>
        <p:spPr>
          <a:xfrm>
            <a:off x="8320562" y="2225040"/>
            <a:ext cx="533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#4129</a:t>
            </a:r>
            <a:endParaRPr lang="en-US" sz="825" dirty="0"/>
          </a:p>
        </p:txBody>
      </p:sp>
      <p:sp>
        <p:nvSpPr>
          <p:cNvPr id="160" name="Shape 145"/>
          <p:cNvSpPr/>
          <p:nvPr/>
        </p:nvSpPr>
        <p:spPr>
          <a:xfrm>
            <a:off x="8853962" y="2482215"/>
            <a:ext cx="12539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1" name="Shape 146"/>
          <p:cNvSpPr/>
          <p:nvPr/>
        </p:nvSpPr>
        <p:spPr>
          <a:xfrm>
            <a:off x="8930162" y="2228850"/>
            <a:ext cx="60424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62" name="Shape 147"/>
          <p:cNvSpPr/>
          <p:nvPr/>
        </p:nvSpPr>
        <p:spPr>
          <a:xfrm>
            <a:off x="9004464" y="230028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63" name="Text 148"/>
          <p:cNvSpPr/>
          <p:nvPr/>
        </p:nvSpPr>
        <p:spPr>
          <a:xfrm>
            <a:off x="9099714" y="2263140"/>
            <a:ext cx="43659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825" dirty="0"/>
          </a:p>
        </p:txBody>
      </p:sp>
      <p:sp>
        <p:nvSpPr>
          <p:cNvPr id="164" name="Shape 149"/>
          <p:cNvSpPr/>
          <p:nvPr/>
        </p:nvSpPr>
        <p:spPr>
          <a:xfrm>
            <a:off x="712473" y="2804160"/>
            <a:ext cx="85594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5" name="Text 150"/>
          <p:cNvSpPr/>
          <p:nvPr/>
        </p:nvSpPr>
        <p:spPr>
          <a:xfrm>
            <a:off x="788673" y="2546985"/>
            <a:ext cx="7797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13:29:45</a:t>
            </a:r>
            <a:endParaRPr lang="en-US" sz="825" dirty="0"/>
          </a:p>
        </p:txBody>
      </p:sp>
      <p:sp>
        <p:nvSpPr>
          <p:cNvPr id="166" name="Shape 151"/>
          <p:cNvSpPr/>
          <p:nvPr/>
        </p:nvSpPr>
        <p:spPr>
          <a:xfrm>
            <a:off x="1568411" y="2804160"/>
            <a:ext cx="92023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7" name="Shape 152"/>
          <p:cNvSpPr/>
          <p:nvPr/>
        </p:nvSpPr>
        <p:spPr>
          <a:xfrm>
            <a:off x="1644611" y="2550795"/>
            <a:ext cx="473035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168" name="Shape 153"/>
          <p:cNvSpPr/>
          <p:nvPr/>
        </p:nvSpPr>
        <p:spPr>
          <a:xfrm>
            <a:off x="1718904" y="2622233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9" name="Text 154"/>
          <p:cNvSpPr/>
          <p:nvPr/>
        </p:nvSpPr>
        <p:spPr>
          <a:xfrm>
            <a:off x="1814154" y="2585085"/>
            <a:ext cx="30539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825" dirty="0"/>
          </a:p>
        </p:txBody>
      </p:sp>
      <p:sp>
        <p:nvSpPr>
          <p:cNvPr id="170" name="Shape 155"/>
          <p:cNvSpPr/>
          <p:nvPr/>
        </p:nvSpPr>
        <p:spPr>
          <a:xfrm>
            <a:off x="2488648" y="2804160"/>
            <a:ext cx="2128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1" name="Text 156"/>
          <p:cNvSpPr/>
          <p:nvPr/>
        </p:nvSpPr>
        <p:spPr>
          <a:xfrm>
            <a:off x="2564848" y="2546985"/>
            <a:ext cx="2052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 quarantine ×41</a:t>
            </a:r>
            <a:endParaRPr lang="en-US" sz="900" dirty="0"/>
          </a:p>
        </p:txBody>
      </p:sp>
      <p:sp>
        <p:nvSpPr>
          <p:cNvPr id="172" name="Shape 157"/>
          <p:cNvSpPr/>
          <p:nvPr/>
        </p:nvSpPr>
        <p:spPr>
          <a:xfrm>
            <a:off x="4617244" y="2804160"/>
            <a:ext cx="1677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3" name="Text 158"/>
          <p:cNvSpPr/>
          <p:nvPr/>
        </p:nvSpPr>
        <p:spPr>
          <a:xfrm>
            <a:off x="4693444" y="2546985"/>
            <a:ext cx="1600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users</a:t>
            </a:r>
            <a:endParaRPr lang="en-US" sz="825" dirty="0"/>
          </a:p>
        </p:txBody>
      </p:sp>
      <p:sp>
        <p:nvSpPr>
          <p:cNvPr id="174" name="Shape 159"/>
          <p:cNvSpPr/>
          <p:nvPr/>
        </p:nvSpPr>
        <p:spPr>
          <a:xfrm>
            <a:off x="6294360" y="2804160"/>
            <a:ext cx="12613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5" name="Text 160"/>
          <p:cNvSpPr/>
          <p:nvPr/>
        </p:nvSpPr>
        <p:spPr>
          <a:xfrm>
            <a:off x="6370560" y="2546985"/>
            <a:ext cx="11851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ResponseAgent</a:t>
            </a:r>
            <a:endParaRPr lang="en-US" sz="900" dirty="0"/>
          </a:p>
        </p:txBody>
      </p:sp>
      <p:sp>
        <p:nvSpPr>
          <p:cNvPr id="176" name="Shape 161"/>
          <p:cNvSpPr/>
          <p:nvPr/>
        </p:nvSpPr>
        <p:spPr>
          <a:xfrm>
            <a:off x="7555706" y="2804160"/>
            <a:ext cx="68865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7" name="Text 162"/>
          <p:cNvSpPr/>
          <p:nvPr/>
        </p:nvSpPr>
        <p:spPr>
          <a:xfrm>
            <a:off x="7631906" y="2546985"/>
            <a:ext cx="6124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900" dirty="0"/>
          </a:p>
        </p:txBody>
      </p:sp>
      <p:sp>
        <p:nvSpPr>
          <p:cNvPr id="178" name="Shape 163"/>
          <p:cNvSpPr/>
          <p:nvPr/>
        </p:nvSpPr>
        <p:spPr>
          <a:xfrm>
            <a:off x="8244362" y="2804160"/>
            <a:ext cx="6096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9" name="Text 164"/>
          <p:cNvSpPr/>
          <p:nvPr/>
        </p:nvSpPr>
        <p:spPr>
          <a:xfrm>
            <a:off x="8320562" y="2546985"/>
            <a:ext cx="533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#4129</a:t>
            </a:r>
            <a:endParaRPr lang="en-US" sz="825" dirty="0"/>
          </a:p>
        </p:txBody>
      </p:sp>
      <p:sp>
        <p:nvSpPr>
          <p:cNvPr id="180" name="Shape 165"/>
          <p:cNvSpPr/>
          <p:nvPr/>
        </p:nvSpPr>
        <p:spPr>
          <a:xfrm>
            <a:off x="8853962" y="2804160"/>
            <a:ext cx="12539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1" name="Shape 166"/>
          <p:cNvSpPr/>
          <p:nvPr/>
        </p:nvSpPr>
        <p:spPr>
          <a:xfrm>
            <a:off x="8930162" y="2550795"/>
            <a:ext cx="60424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82" name="Shape 167"/>
          <p:cNvSpPr/>
          <p:nvPr/>
        </p:nvSpPr>
        <p:spPr>
          <a:xfrm>
            <a:off x="9004464" y="262223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83" name="Text 168"/>
          <p:cNvSpPr/>
          <p:nvPr/>
        </p:nvSpPr>
        <p:spPr>
          <a:xfrm>
            <a:off x="9099714" y="2585085"/>
            <a:ext cx="43659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825" dirty="0"/>
          </a:p>
        </p:txBody>
      </p:sp>
      <p:sp>
        <p:nvSpPr>
          <p:cNvPr id="184" name="Shape 169"/>
          <p:cNvSpPr/>
          <p:nvPr/>
        </p:nvSpPr>
        <p:spPr>
          <a:xfrm>
            <a:off x="712473" y="2811780"/>
            <a:ext cx="855940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85" name="Shape 170"/>
          <p:cNvSpPr/>
          <p:nvPr/>
        </p:nvSpPr>
        <p:spPr>
          <a:xfrm>
            <a:off x="712473" y="3126105"/>
            <a:ext cx="85594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6" name="Text 171"/>
          <p:cNvSpPr/>
          <p:nvPr/>
        </p:nvSpPr>
        <p:spPr>
          <a:xfrm>
            <a:off x="788673" y="2868930"/>
            <a:ext cx="7797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13:24:13</a:t>
            </a:r>
            <a:endParaRPr lang="en-US" sz="825" dirty="0"/>
          </a:p>
        </p:txBody>
      </p:sp>
      <p:sp>
        <p:nvSpPr>
          <p:cNvPr id="187" name="Shape 172"/>
          <p:cNvSpPr/>
          <p:nvPr/>
        </p:nvSpPr>
        <p:spPr>
          <a:xfrm>
            <a:off x="1568411" y="2811780"/>
            <a:ext cx="920234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88" name="Shape 173"/>
          <p:cNvSpPr/>
          <p:nvPr/>
        </p:nvSpPr>
        <p:spPr>
          <a:xfrm>
            <a:off x="1568411" y="3126105"/>
            <a:ext cx="92023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9" name="Shape 174"/>
          <p:cNvSpPr/>
          <p:nvPr/>
        </p:nvSpPr>
        <p:spPr>
          <a:xfrm>
            <a:off x="1644611" y="2872740"/>
            <a:ext cx="55221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90" name="Shape 175"/>
          <p:cNvSpPr/>
          <p:nvPr/>
        </p:nvSpPr>
        <p:spPr>
          <a:xfrm>
            <a:off x="1718904" y="294417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91" name="Text 176"/>
          <p:cNvSpPr/>
          <p:nvPr/>
        </p:nvSpPr>
        <p:spPr>
          <a:xfrm>
            <a:off x="1814154" y="2907030"/>
            <a:ext cx="3845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825" dirty="0"/>
          </a:p>
        </p:txBody>
      </p:sp>
      <p:sp>
        <p:nvSpPr>
          <p:cNvPr id="192" name="Shape 177"/>
          <p:cNvSpPr/>
          <p:nvPr/>
        </p:nvSpPr>
        <p:spPr>
          <a:xfrm>
            <a:off x="2488648" y="2811780"/>
            <a:ext cx="2128599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93" name="Shape 178"/>
          <p:cNvSpPr/>
          <p:nvPr/>
        </p:nvSpPr>
        <p:spPr>
          <a:xfrm>
            <a:off x="2488648" y="3126105"/>
            <a:ext cx="2128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4" name="Text 179"/>
          <p:cNvSpPr/>
          <p:nvPr/>
        </p:nvSpPr>
        <p:spPr>
          <a:xfrm>
            <a:off x="2564848" y="2868930"/>
            <a:ext cx="2052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· ro fs</a:t>
            </a:r>
            <a:endParaRPr lang="en-US" sz="900" dirty="0"/>
          </a:p>
        </p:txBody>
      </p:sp>
      <p:sp>
        <p:nvSpPr>
          <p:cNvPr id="195" name="Shape 180"/>
          <p:cNvSpPr/>
          <p:nvPr/>
        </p:nvSpPr>
        <p:spPr>
          <a:xfrm>
            <a:off x="4617244" y="2811780"/>
            <a:ext cx="1677114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96" name="Shape 181"/>
          <p:cNvSpPr/>
          <p:nvPr/>
        </p:nvSpPr>
        <p:spPr>
          <a:xfrm>
            <a:off x="4617244" y="3126105"/>
            <a:ext cx="1677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7" name="Text 182"/>
          <p:cNvSpPr/>
          <p:nvPr/>
        </p:nvSpPr>
        <p:spPr>
          <a:xfrm>
            <a:off x="4693444" y="2868930"/>
            <a:ext cx="1600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claude-fin-bot</a:t>
            </a:r>
            <a:endParaRPr lang="en-US" sz="825" dirty="0"/>
          </a:p>
        </p:txBody>
      </p:sp>
      <p:sp>
        <p:nvSpPr>
          <p:cNvPr id="198" name="Shape 183"/>
          <p:cNvSpPr/>
          <p:nvPr/>
        </p:nvSpPr>
        <p:spPr>
          <a:xfrm>
            <a:off x="6294360" y="2811780"/>
            <a:ext cx="1261348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99" name="Shape 184"/>
          <p:cNvSpPr/>
          <p:nvPr/>
        </p:nvSpPr>
        <p:spPr>
          <a:xfrm>
            <a:off x="6294360" y="3126105"/>
            <a:ext cx="12613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0" name="Text 185"/>
          <p:cNvSpPr/>
          <p:nvPr/>
        </p:nvSpPr>
        <p:spPr>
          <a:xfrm>
            <a:off x="6370560" y="2868930"/>
            <a:ext cx="11851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ResponseAgent</a:t>
            </a:r>
            <a:endParaRPr lang="en-US" sz="900" dirty="0"/>
          </a:p>
        </p:txBody>
      </p:sp>
      <p:sp>
        <p:nvSpPr>
          <p:cNvPr id="201" name="Shape 186"/>
          <p:cNvSpPr/>
          <p:nvPr/>
        </p:nvSpPr>
        <p:spPr>
          <a:xfrm>
            <a:off x="7555706" y="2811780"/>
            <a:ext cx="688658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202" name="Shape 187"/>
          <p:cNvSpPr/>
          <p:nvPr/>
        </p:nvSpPr>
        <p:spPr>
          <a:xfrm>
            <a:off x="7555706" y="3126105"/>
            <a:ext cx="68865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3" name="Text 188"/>
          <p:cNvSpPr/>
          <p:nvPr/>
        </p:nvSpPr>
        <p:spPr>
          <a:xfrm>
            <a:off x="7631906" y="2868930"/>
            <a:ext cx="6124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900" dirty="0"/>
          </a:p>
        </p:txBody>
      </p:sp>
      <p:sp>
        <p:nvSpPr>
          <p:cNvPr id="204" name="Shape 189"/>
          <p:cNvSpPr/>
          <p:nvPr/>
        </p:nvSpPr>
        <p:spPr>
          <a:xfrm>
            <a:off x="8244362" y="2811780"/>
            <a:ext cx="609600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205" name="Shape 190"/>
          <p:cNvSpPr/>
          <p:nvPr/>
        </p:nvSpPr>
        <p:spPr>
          <a:xfrm>
            <a:off x="8244362" y="3126105"/>
            <a:ext cx="6096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6" name="Text 191"/>
          <p:cNvSpPr/>
          <p:nvPr/>
        </p:nvSpPr>
        <p:spPr>
          <a:xfrm>
            <a:off x="8320562" y="2868930"/>
            <a:ext cx="533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#4118</a:t>
            </a:r>
            <a:endParaRPr lang="en-US" sz="825" dirty="0"/>
          </a:p>
        </p:txBody>
      </p:sp>
      <p:sp>
        <p:nvSpPr>
          <p:cNvPr id="207" name="Shape 192"/>
          <p:cNvSpPr/>
          <p:nvPr/>
        </p:nvSpPr>
        <p:spPr>
          <a:xfrm>
            <a:off x="8853962" y="2811780"/>
            <a:ext cx="1253966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208" name="Shape 193"/>
          <p:cNvSpPr/>
          <p:nvPr/>
        </p:nvSpPr>
        <p:spPr>
          <a:xfrm>
            <a:off x="8853962" y="3126105"/>
            <a:ext cx="12539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9" name="Shape 194"/>
          <p:cNvSpPr/>
          <p:nvPr/>
        </p:nvSpPr>
        <p:spPr>
          <a:xfrm>
            <a:off x="8930162" y="2872740"/>
            <a:ext cx="80736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10" name="Shape 195"/>
          <p:cNvSpPr/>
          <p:nvPr/>
        </p:nvSpPr>
        <p:spPr>
          <a:xfrm>
            <a:off x="9004464" y="294417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11" name="Text 196"/>
          <p:cNvSpPr/>
          <p:nvPr/>
        </p:nvSpPr>
        <p:spPr>
          <a:xfrm>
            <a:off x="9099714" y="2907030"/>
            <a:ext cx="63971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enforced</a:t>
            </a:r>
            <a:endParaRPr lang="en-US" sz="825" dirty="0"/>
          </a:p>
        </p:txBody>
      </p:sp>
      <p:sp>
        <p:nvSpPr>
          <p:cNvPr id="212" name="Shape 197"/>
          <p:cNvSpPr/>
          <p:nvPr/>
        </p:nvSpPr>
        <p:spPr>
          <a:xfrm>
            <a:off x="712473" y="3448050"/>
            <a:ext cx="85594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3" name="Text 198"/>
          <p:cNvSpPr/>
          <p:nvPr/>
        </p:nvSpPr>
        <p:spPr>
          <a:xfrm>
            <a:off x="788673" y="3190875"/>
            <a:ext cx="7797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12:58:02</a:t>
            </a:r>
            <a:endParaRPr lang="en-US" sz="825" dirty="0"/>
          </a:p>
        </p:txBody>
      </p:sp>
      <p:sp>
        <p:nvSpPr>
          <p:cNvPr id="214" name="Shape 199"/>
          <p:cNvSpPr/>
          <p:nvPr/>
        </p:nvSpPr>
        <p:spPr>
          <a:xfrm>
            <a:off x="1568411" y="3448050"/>
            <a:ext cx="92023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5" name="Shape 200"/>
          <p:cNvSpPr/>
          <p:nvPr/>
        </p:nvSpPr>
        <p:spPr>
          <a:xfrm>
            <a:off x="1644611" y="3194685"/>
            <a:ext cx="473035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216" name="Shape 201"/>
          <p:cNvSpPr/>
          <p:nvPr/>
        </p:nvSpPr>
        <p:spPr>
          <a:xfrm>
            <a:off x="1718904" y="3266123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7" name="Text 202"/>
          <p:cNvSpPr/>
          <p:nvPr/>
        </p:nvSpPr>
        <p:spPr>
          <a:xfrm>
            <a:off x="1814154" y="3228975"/>
            <a:ext cx="30539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825" dirty="0"/>
          </a:p>
        </p:txBody>
      </p:sp>
      <p:sp>
        <p:nvSpPr>
          <p:cNvPr id="218" name="Shape 203"/>
          <p:cNvSpPr/>
          <p:nvPr/>
        </p:nvSpPr>
        <p:spPr>
          <a:xfrm>
            <a:off x="2488648" y="3448050"/>
            <a:ext cx="2128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9" name="Text 204"/>
          <p:cNvSpPr/>
          <p:nvPr/>
        </p:nvSpPr>
        <p:spPr>
          <a:xfrm>
            <a:off x="2564848" y="3190875"/>
            <a:ext cx="2052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user</a:t>
            </a:r>
            <a:endParaRPr lang="en-US" sz="900" dirty="0"/>
          </a:p>
        </p:txBody>
      </p:sp>
      <p:sp>
        <p:nvSpPr>
          <p:cNvPr id="220" name="Shape 205"/>
          <p:cNvSpPr/>
          <p:nvPr/>
        </p:nvSpPr>
        <p:spPr>
          <a:xfrm>
            <a:off x="4617244" y="3448050"/>
            <a:ext cx="1677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1" name="Text 206"/>
          <p:cNvSpPr/>
          <p:nvPr/>
        </p:nvSpPr>
        <p:spPr>
          <a:xfrm>
            <a:off x="4693444" y="3190875"/>
            <a:ext cx="1600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marco.l</a:t>
            </a:r>
            <a:endParaRPr lang="en-US" sz="825" dirty="0"/>
          </a:p>
        </p:txBody>
      </p:sp>
      <p:sp>
        <p:nvSpPr>
          <p:cNvPr id="222" name="Shape 207"/>
          <p:cNvSpPr/>
          <p:nvPr/>
        </p:nvSpPr>
        <p:spPr>
          <a:xfrm>
            <a:off x="6294360" y="3448050"/>
            <a:ext cx="12613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3" name="Text 208"/>
          <p:cNvSpPr/>
          <p:nvPr/>
        </p:nvSpPr>
        <p:spPr>
          <a:xfrm>
            <a:off x="6370560" y="3190875"/>
            <a:ext cx="11851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priya.r</a:t>
            </a:r>
            <a:endParaRPr lang="en-US" sz="900" dirty="0"/>
          </a:p>
        </p:txBody>
      </p:sp>
      <p:sp>
        <p:nvSpPr>
          <p:cNvPr id="224" name="Shape 209"/>
          <p:cNvSpPr/>
          <p:nvPr/>
        </p:nvSpPr>
        <p:spPr>
          <a:xfrm>
            <a:off x="7555706" y="3448050"/>
            <a:ext cx="68865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5" name="Text 210"/>
          <p:cNvSpPr/>
          <p:nvPr/>
        </p:nvSpPr>
        <p:spPr>
          <a:xfrm>
            <a:off x="7631906" y="3190875"/>
            <a:ext cx="6124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900" dirty="0"/>
          </a:p>
        </p:txBody>
      </p:sp>
      <p:sp>
        <p:nvSpPr>
          <p:cNvPr id="226" name="Shape 211"/>
          <p:cNvSpPr/>
          <p:nvPr/>
        </p:nvSpPr>
        <p:spPr>
          <a:xfrm>
            <a:off x="8244362" y="3448050"/>
            <a:ext cx="6096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7" name="Text 212"/>
          <p:cNvSpPr/>
          <p:nvPr/>
        </p:nvSpPr>
        <p:spPr>
          <a:xfrm>
            <a:off x="8320562" y="3190875"/>
            <a:ext cx="533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#4090</a:t>
            </a:r>
            <a:endParaRPr lang="en-US" sz="825" dirty="0"/>
          </a:p>
        </p:txBody>
      </p:sp>
      <p:sp>
        <p:nvSpPr>
          <p:cNvPr id="228" name="Shape 213"/>
          <p:cNvSpPr/>
          <p:nvPr/>
        </p:nvSpPr>
        <p:spPr>
          <a:xfrm>
            <a:off x="8853962" y="3448050"/>
            <a:ext cx="12539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9" name="Shape 214"/>
          <p:cNvSpPr/>
          <p:nvPr/>
        </p:nvSpPr>
        <p:spPr>
          <a:xfrm>
            <a:off x="8930162" y="3194685"/>
            <a:ext cx="60424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30" name="Shape 215"/>
          <p:cNvSpPr/>
          <p:nvPr/>
        </p:nvSpPr>
        <p:spPr>
          <a:xfrm>
            <a:off x="9004464" y="326612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31" name="Text 216"/>
          <p:cNvSpPr/>
          <p:nvPr/>
        </p:nvSpPr>
        <p:spPr>
          <a:xfrm>
            <a:off x="9099714" y="3228975"/>
            <a:ext cx="43659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825" dirty="0"/>
          </a:p>
        </p:txBody>
      </p:sp>
      <p:sp>
        <p:nvSpPr>
          <p:cNvPr id="232" name="Shape 217"/>
          <p:cNvSpPr/>
          <p:nvPr/>
        </p:nvSpPr>
        <p:spPr>
          <a:xfrm>
            <a:off x="712473" y="3769995"/>
            <a:ext cx="85594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3" name="Text 218"/>
          <p:cNvSpPr/>
          <p:nvPr/>
        </p:nvSpPr>
        <p:spPr>
          <a:xfrm>
            <a:off x="788673" y="3512820"/>
            <a:ext cx="7797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12:50:11</a:t>
            </a:r>
            <a:endParaRPr lang="en-US" sz="825" dirty="0"/>
          </a:p>
        </p:txBody>
      </p:sp>
      <p:sp>
        <p:nvSpPr>
          <p:cNvPr id="234" name="Shape 219"/>
          <p:cNvSpPr/>
          <p:nvPr/>
        </p:nvSpPr>
        <p:spPr>
          <a:xfrm>
            <a:off x="1568411" y="3769995"/>
            <a:ext cx="92023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5" name="Shape 220"/>
          <p:cNvSpPr/>
          <p:nvPr/>
        </p:nvSpPr>
        <p:spPr>
          <a:xfrm>
            <a:off x="1644611" y="3516630"/>
            <a:ext cx="473035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236" name="Shape 221"/>
          <p:cNvSpPr/>
          <p:nvPr/>
        </p:nvSpPr>
        <p:spPr>
          <a:xfrm>
            <a:off x="1718904" y="3588068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7" name="Text 222"/>
          <p:cNvSpPr/>
          <p:nvPr/>
        </p:nvSpPr>
        <p:spPr>
          <a:xfrm>
            <a:off x="1814154" y="3550920"/>
            <a:ext cx="30539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825" dirty="0"/>
          </a:p>
        </p:txBody>
      </p:sp>
      <p:sp>
        <p:nvSpPr>
          <p:cNvPr id="238" name="Shape 223"/>
          <p:cNvSpPr/>
          <p:nvPr/>
        </p:nvSpPr>
        <p:spPr>
          <a:xfrm>
            <a:off x="2488648" y="3769995"/>
            <a:ext cx="2128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9" name="Text 224"/>
          <p:cNvSpPr/>
          <p:nvPr/>
        </p:nvSpPr>
        <p:spPr>
          <a:xfrm>
            <a:off x="2564848" y="3512820"/>
            <a:ext cx="2052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approval push</a:t>
            </a:r>
            <a:endParaRPr lang="en-US" sz="900" dirty="0"/>
          </a:p>
        </p:txBody>
      </p:sp>
      <p:sp>
        <p:nvSpPr>
          <p:cNvPr id="240" name="Shape 225"/>
          <p:cNvSpPr/>
          <p:nvPr/>
        </p:nvSpPr>
        <p:spPr>
          <a:xfrm>
            <a:off x="4617244" y="3769995"/>
            <a:ext cx="1677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1" name="Text 226"/>
          <p:cNvSpPr/>
          <p:nvPr/>
        </p:nvSpPr>
        <p:spPr>
          <a:xfrm>
            <a:off x="4693444" y="3512820"/>
            <a:ext cx="1600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soc-approvals</a:t>
            </a:r>
            <a:endParaRPr lang="en-US" sz="825" dirty="0"/>
          </a:p>
        </p:txBody>
      </p:sp>
      <p:sp>
        <p:nvSpPr>
          <p:cNvPr id="242" name="Shape 227"/>
          <p:cNvSpPr/>
          <p:nvPr/>
        </p:nvSpPr>
        <p:spPr>
          <a:xfrm>
            <a:off x="6294360" y="3769995"/>
            <a:ext cx="12613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3" name="Text 228"/>
          <p:cNvSpPr/>
          <p:nvPr/>
        </p:nvSpPr>
        <p:spPr>
          <a:xfrm>
            <a:off x="6370560" y="3512820"/>
            <a:ext cx="11851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ResponseAgent</a:t>
            </a:r>
            <a:endParaRPr lang="en-US" sz="900" dirty="0"/>
          </a:p>
        </p:txBody>
      </p:sp>
      <p:sp>
        <p:nvSpPr>
          <p:cNvPr id="244" name="Shape 229"/>
          <p:cNvSpPr/>
          <p:nvPr/>
        </p:nvSpPr>
        <p:spPr>
          <a:xfrm>
            <a:off x="7555706" y="3769995"/>
            <a:ext cx="68865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5" name="Text 230"/>
          <p:cNvSpPr/>
          <p:nvPr/>
        </p:nvSpPr>
        <p:spPr>
          <a:xfrm>
            <a:off x="7631906" y="3512820"/>
            <a:ext cx="6124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900" dirty="0"/>
          </a:p>
        </p:txBody>
      </p:sp>
      <p:sp>
        <p:nvSpPr>
          <p:cNvPr id="246" name="Shape 231"/>
          <p:cNvSpPr/>
          <p:nvPr/>
        </p:nvSpPr>
        <p:spPr>
          <a:xfrm>
            <a:off x="8244362" y="3769995"/>
            <a:ext cx="6096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7" name="Text 232"/>
          <p:cNvSpPr/>
          <p:nvPr/>
        </p:nvSpPr>
        <p:spPr>
          <a:xfrm>
            <a:off x="8320562" y="3512820"/>
            <a:ext cx="533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#4101</a:t>
            </a:r>
            <a:endParaRPr lang="en-US" sz="825" dirty="0"/>
          </a:p>
        </p:txBody>
      </p:sp>
      <p:sp>
        <p:nvSpPr>
          <p:cNvPr id="248" name="Shape 233"/>
          <p:cNvSpPr/>
          <p:nvPr/>
        </p:nvSpPr>
        <p:spPr>
          <a:xfrm>
            <a:off x="8853962" y="3769995"/>
            <a:ext cx="12539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9" name="Shape 234"/>
          <p:cNvSpPr/>
          <p:nvPr/>
        </p:nvSpPr>
        <p:spPr>
          <a:xfrm>
            <a:off x="8930162" y="3516630"/>
            <a:ext cx="560665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50" name="Shape 235"/>
          <p:cNvSpPr/>
          <p:nvPr/>
        </p:nvSpPr>
        <p:spPr>
          <a:xfrm>
            <a:off x="9004464" y="358806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51" name="Text 236"/>
          <p:cNvSpPr/>
          <p:nvPr/>
        </p:nvSpPr>
        <p:spPr>
          <a:xfrm>
            <a:off x="9099714" y="3550920"/>
            <a:ext cx="39301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sent</a:t>
            </a:r>
            <a:endParaRPr lang="en-US" sz="825" dirty="0"/>
          </a:p>
        </p:txBody>
      </p:sp>
      <p:sp>
        <p:nvSpPr>
          <p:cNvPr id="252" name="Shape 237"/>
          <p:cNvSpPr/>
          <p:nvPr/>
        </p:nvSpPr>
        <p:spPr>
          <a:xfrm>
            <a:off x="712473" y="3777615"/>
            <a:ext cx="855940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253" name="Shape 238"/>
          <p:cNvSpPr/>
          <p:nvPr/>
        </p:nvSpPr>
        <p:spPr>
          <a:xfrm>
            <a:off x="712473" y="4091940"/>
            <a:ext cx="85594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4" name="Text 239"/>
          <p:cNvSpPr/>
          <p:nvPr/>
        </p:nvSpPr>
        <p:spPr>
          <a:xfrm>
            <a:off x="788673" y="3834765"/>
            <a:ext cx="7797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12:47:33</a:t>
            </a:r>
            <a:endParaRPr lang="en-US" sz="825" dirty="0"/>
          </a:p>
        </p:txBody>
      </p:sp>
      <p:sp>
        <p:nvSpPr>
          <p:cNvPr id="255" name="Shape 240"/>
          <p:cNvSpPr/>
          <p:nvPr/>
        </p:nvSpPr>
        <p:spPr>
          <a:xfrm>
            <a:off x="1568411" y="3777615"/>
            <a:ext cx="920234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256" name="Shape 241"/>
          <p:cNvSpPr/>
          <p:nvPr/>
        </p:nvSpPr>
        <p:spPr>
          <a:xfrm>
            <a:off x="1568411" y="4091940"/>
            <a:ext cx="92023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7" name="Shape 242"/>
          <p:cNvSpPr/>
          <p:nvPr/>
        </p:nvSpPr>
        <p:spPr>
          <a:xfrm>
            <a:off x="1644611" y="3838575"/>
            <a:ext cx="55221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58" name="Shape 243"/>
          <p:cNvSpPr/>
          <p:nvPr/>
        </p:nvSpPr>
        <p:spPr>
          <a:xfrm>
            <a:off x="1718904" y="391001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59" name="Text 244"/>
          <p:cNvSpPr/>
          <p:nvPr/>
        </p:nvSpPr>
        <p:spPr>
          <a:xfrm>
            <a:off x="1814154" y="3872865"/>
            <a:ext cx="3845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825" dirty="0"/>
          </a:p>
        </p:txBody>
      </p:sp>
      <p:sp>
        <p:nvSpPr>
          <p:cNvPr id="260" name="Shape 245"/>
          <p:cNvSpPr/>
          <p:nvPr/>
        </p:nvSpPr>
        <p:spPr>
          <a:xfrm>
            <a:off x="2488648" y="3777615"/>
            <a:ext cx="2128599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261" name="Shape 246"/>
          <p:cNvSpPr/>
          <p:nvPr/>
        </p:nvSpPr>
        <p:spPr>
          <a:xfrm>
            <a:off x="2488648" y="4091940"/>
            <a:ext cx="2128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2" name="Text 247"/>
          <p:cNvSpPr/>
          <p:nvPr/>
        </p:nvSpPr>
        <p:spPr>
          <a:xfrm>
            <a:off x="2564848" y="3834765"/>
            <a:ext cx="2052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ptrace · sidecar</a:t>
            </a:r>
            <a:endParaRPr lang="en-US" sz="900" dirty="0"/>
          </a:p>
        </p:txBody>
      </p:sp>
      <p:sp>
        <p:nvSpPr>
          <p:cNvPr id="263" name="Shape 248"/>
          <p:cNvSpPr/>
          <p:nvPr/>
        </p:nvSpPr>
        <p:spPr>
          <a:xfrm>
            <a:off x="4617244" y="3777615"/>
            <a:ext cx="1677114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264" name="Shape 249"/>
          <p:cNvSpPr/>
          <p:nvPr/>
        </p:nvSpPr>
        <p:spPr>
          <a:xfrm>
            <a:off x="4617244" y="4091940"/>
            <a:ext cx="1677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5" name="Text 250"/>
          <p:cNvSpPr/>
          <p:nvPr/>
        </p:nvSpPr>
        <p:spPr>
          <a:xfrm>
            <a:off x="4693444" y="3834765"/>
            <a:ext cx="1600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payments-9c4f1</a:t>
            </a:r>
            <a:endParaRPr lang="en-US" sz="825" dirty="0"/>
          </a:p>
        </p:txBody>
      </p:sp>
      <p:sp>
        <p:nvSpPr>
          <p:cNvPr id="266" name="Shape 251"/>
          <p:cNvSpPr/>
          <p:nvPr/>
        </p:nvSpPr>
        <p:spPr>
          <a:xfrm>
            <a:off x="6294360" y="3777615"/>
            <a:ext cx="1261348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267" name="Shape 252"/>
          <p:cNvSpPr/>
          <p:nvPr/>
        </p:nvSpPr>
        <p:spPr>
          <a:xfrm>
            <a:off x="6294360" y="4091940"/>
            <a:ext cx="12613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8" name="Text 253"/>
          <p:cNvSpPr/>
          <p:nvPr/>
        </p:nvSpPr>
        <p:spPr>
          <a:xfrm>
            <a:off x="6370560" y="3834765"/>
            <a:ext cx="11851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ResponseAgent</a:t>
            </a:r>
            <a:endParaRPr lang="en-US" sz="900" dirty="0"/>
          </a:p>
        </p:txBody>
      </p:sp>
      <p:sp>
        <p:nvSpPr>
          <p:cNvPr id="269" name="Shape 254"/>
          <p:cNvSpPr/>
          <p:nvPr/>
        </p:nvSpPr>
        <p:spPr>
          <a:xfrm>
            <a:off x="7555706" y="3777615"/>
            <a:ext cx="688658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270" name="Shape 255"/>
          <p:cNvSpPr/>
          <p:nvPr/>
        </p:nvSpPr>
        <p:spPr>
          <a:xfrm>
            <a:off x="7555706" y="4091940"/>
            <a:ext cx="68865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1" name="Text 256"/>
          <p:cNvSpPr/>
          <p:nvPr/>
        </p:nvSpPr>
        <p:spPr>
          <a:xfrm>
            <a:off x="7631906" y="3834765"/>
            <a:ext cx="6124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900" dirty="0"/>
          </a:p>
        </p:txBody>
      </p:sp>
      <p:sp>
        <p:nvSpPr>
          <p:cNvPr id="272" name="Shape 257"/>
          <p:cNvSpPr/>
          <p:nvPr/>
        </p:nvSpPr>
        <p:spPr>
          <a:xfrm>
            <a:off x="8244362" y="3777615"/>
            <a:ext cx="609600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273" name="Shape 258"/>
          <p:cNvSpPr/>
          <p:nvPr/>
        </p:nvSpPr>
        <p:spPr>
          <a:xfrm>
            <a:off x="8244362" y="4091940"/>
            <a:ext cx="6096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4" name="Text 259"/>
          <p:cNvSpPr/>
          <p:nvPr/>
        </p:nvSpPr>
        <p:spPr>
          <a:xfrm>
            <a:off x="8320562" y="3834765"/>
            <a:ext cx="533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#4129</a:t>
            </a:r>
            <a:endParaRPr lang="en-US" sz="825" dirty="0"/>
          </a:p>
        </p:txBody>
      </p:sp>
      <p:sp>
        <p:nvSpPr>
          <p:cNvPr id="275" name="Shape 260"/>
          <p:cNvSpPr/>
          <p:nvPr/>
        </p:nvSpPr>
        <p:spPr>
          <a:xfrm>
            <a:off x="8853962" y="3777615"/>
            <a:ext cx="1253966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276" name="Shape 261"/>
          <p:cNvSpPr/>
          <p:nvPr/>
        </p:nvSpPr>
        <p:spPr>
          <a:xfrm>
            <a:off x="8853962" y="4091940"/>
            <a:ext cx="12539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7" name="Shape 262"/>
          <p:cNvSpPr/>
          <p:nvPr/>
        </p:nvSpPr>
        <p:spPr>
          <a:xfrm>
            <a:off x="8930162" y="3838575"/>
            <a:ext cx="80736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78" name="Shape 263"/>
          <p:cNvSpPr/>
          <p:nvPr/>
        </p:nvSpPr>
        <p:spPr>
          <a:xfrm>
            <a:off x="9004464" y="391001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79" name="Text 264"/>
          <p:cNvSpPr/>
          <p:nvPr/>
        </p:nvSpPr>
        <p:spPr>
          <a:xfrm>
            <a:off x="9099714" y="3872865"/>
            <a:ext cx="63971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enforced</a:t>
            </a:r>
            <a:endParaRPr lang="en-US" sz="825" dirty="0"/>
          </a:p>
        </p:txBody>
      </p:sp>
      <p:sp>
        <p:nvSpPr>
          <p:cNvPr id="280" name="Shape 265"/>
          <p:cNvSpPr/>
          <p:nvPr/>
        </p:nvSpPr>
        <p:spPr>
          <a:xfrm>
            <a:off x="712473" y="4413885"/>
            <a:ext cx="85594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1" name="Text 266"/>
          <p:cNvSpPr/>
          <p:nvPr/>
        </p:nvSpPr>
        <p:spPr>
          <a:xfrm>
            <a:off x="788673" y="4156710"/>
            <a:ext cx="7797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12:21:08</a:t>
            </a:r>
            <a:endParaRPr lang="en-US" sz="825" dirty="0"/>
          </a:p>
        </p:txBody>
      </p:sp>
      <p:sp>
        <p:nvSpPr>
          <p:cNvPr id="282" name="Shape 267"/>
          <p:cNvSpPr/>
          <p:nvPr/>
        </p:nvSpPr>
        <p:spPr>
          <a:xfrm>
            <a:off x="1568411" y="4413885"/>
            <a:ext cx="92023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3" name="Shape 268"/>
          <p:cNvSpPr/>
          <p:nvPr/>
        </p:nvSpPr>
        <p:spPr>
          <a:xfrm>
            <a:off x="1644611" y="4160520"/>
            <a:ext cx="473035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284" name="Shape 269"/>
          <p:cNvSpPr/>
          <p:nvPr/>
        </p:nvSpPr>
        <p:spPr>
          <a:xfrm>
            <a:off x="1718904" y="4231958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5" name="Text 270"/>
          <p:cNvSpPr/>
          <p:nvPr/>
        </p:nvSpPr>
        <p:spPr>
          <a:xfrm>
            <a:off x="1814154" y="4194810"/>
            <a:ext cx="30539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825" dirty="0"/>
          </a:p>
        </p:txBody>
      </p:sp>
      <p:sp>
        <p:nvSpPr>
          <p:cNvPr id="286" name="Shape 271"/>
          <p:cNvSpPr/>
          <p:nvPr/>
        </p:nvSpPr>
        <p:spPr>
          <a:xfrm>
            <a:off x="2488648" y="4413885"/>
            <a:ext cx="212859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7" name="Text 272"/>
          <p:cNvSpPr/>
          <p:nvPr/>
        </p:nvSpPr>
        <p:spPr>
          <a:xfrm>
            <a:off x="2564848" y="4156710"/>
            <a:ext cx="2052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case</a:t>
            </a:r>
            <a:endParaRPr lang="en-US" sz="900" dirty="0"/>
          </a:p>
        </p:txBody>
      </p:sp>
      <p:sp>
        <p:nvSpPr>
          <p:cNvPr id="288" name="Shape 273"/>
          <p:cNvSpPr/>
          <p:nvPr/>
        </p:nvSpPr>
        <p:spPr>
          <a:xfrm>
            <a:off x="4617244" y="4413885"/>
            <a:ext cx="1677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9" name="Text 274"/>
          <p:cNvSpPr/>
          <p:nvPr/>
        </p:nvSpPr>
        <p:spPr>
          <a:xfrm>
            <a:off x="4693444" y="4156710"/>
            <a:ext cx="1600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#4076</a:t>
            </a:r>
            <a:endParaRPr lang="en-US" sz="825" dirty="0"/>
          </a:p>
        </p:txBody>
      </p:sp>
      <p:sp>
        <p:nvSpPr>
          <p:cNvPr id="290" name="Shape 275"/>
          <p:cNvSpPr/>
          <p:nvPr/>
        </p:nvSpPr>
        <p:spPr>
          <a:xfrm>
            <a:off x="6294360" y="4413885"/>
            <a:ext cx="126134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1" name="Text 276"/>
          <p:cNvSpPr/>
          <p:nvPr/>
        </p:nvSpPr>
        <p:spPr>
          <a:xfrm>
            <a:off x="6370560" y="4156710"/>
            <a:ext cx="11851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alex.m</a:t>
            </a:r>
            <a:endParaRPr lang="en-US" sz="900" dirty="0"/>
          </a:p>
        </p:txBody>
      </p:sp>
      <p:sp>
        <p:nvSpPr>
          <p:cNvPr id="292" name="Shape 277"/>
          <p:cNvSpPr/>
          <p:nvPr/>
        </p:nvSpPr>
        <p:spPr>
          <a:xfrm>
            <a:off x="7555706" y="4413885"/>
            <a:ext cx="68865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3" name="Text 278"/>
          <p:cNvSpPr/>
          <p:nvPr/>
        </p:nvSpPr>
        <p:spPr>
          <a:xfrm>
            <a:off x="7631906" y="4156710"/>
            <a:ext cx="6124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900" dirty="0"/>
          </a:p>
        </p:txBody>
      </p:sp>
      <p:sp>
        <p:nvSpPr>
          <p:cNvPr id="294" name="Shape 279"/>
          <p:cNvSpPr/>
          <p:nvPr/>
        </p:nvSpPr>
        <p:spPr>
          <a:xfrm>
            <a:off x="8244362" y="4413885"/>
            <a:ext cx="6096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5" name="Text 280"/>
          <p:cNvSpPr/>
          <p:nvPr/>
        </p:nvSpPr>
        <p:spPr>
          <a:xfrm>
            <a:off x="8320562" y="4156710"/>
            <a:ext cx="533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#4076</a:t>
            </a:r>
            <a:endParaRPr lang="en-US" sz="825" dirty="0"/>
          </a:p>
        </p:txBody>
      </p:sp>
      <p:sp>
        <p:nvSpPr>
          <p:cNvPr id="296" name="Shape 281"/>
          <p:cNvSpPr/>
          <p:nvPr/>
        </p:nvSpPr>
        <p:spPr>
          <a:xfrm>
            <a:off x="8853962" y="4413885"/>
            <a:ext cx="12539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7" name="Shape 282"/>
          <p:cNvSpPr/>
          <p:nvPr/>
        </p:nvSpPr>
        <p:spPr>
          <a:xfrm>
            <a:off x="8930162" y="4160520"/>
            <a:ext cx="68496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98" name="Shape 283"/>
          <p:cNvSpPr/>
          <p:nvPr/>
        </p:nvSpPr>
        <p:spPr>
          <a:xfrm>
            <a:off x="9004464" y="423195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99" name="Text 284"/>
          <p:cNvSpPr/>
          <p:nvPr/>
        </p:nvSpPr>
        <p:spPr>
          <a:xfrm>
            <a:off x="9099714" y="4194810"/>
            <a:ext cx="51732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closed</a:t>
            </a:r>
            <a:endParaRPr lang="en-US" sz="825" dirty="0"/>
          </a:p>
        </p:txBody>
      </p:sp>
      <p:sp>
        <p:nvSpPr>
          <p:cNvPr id="300" name="Shape 285"/>
          <p:cNvSpPr/>
          <p:nvPr/>
        </p:nvSpPr>
        <p:spPr>
          <a:xfrm>
            <a:off x="712473" y="4421505"/>
            <a:ext cx="855940" cy="31813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301" name="Text 286"/>
          <p:cNvSpPr/>
          <p:nvPr/>
        </p:nvSpPr>
        <p:spPr>
          <a:xfrm>
            <a:off x="788673" y="4478655"/>
            <a:ext cx="779740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12:14:50</a:t>
            </a:r>
            <a:endParaRPr lang="en-US" sz="825" dirty="0"/>
          </a:p>
        </p:txBody>
      </p:sp>
      <p:sp>
        <p:nvSpPr>
          <p:cNvPr id="302" name="Shape 287"/>
          <p:cNvSpPr/>
          <p:nvPr/>
        </p:nvSpPr>
        <p:spPr>
          <a:xfrm>
            <a:off x="1568411" y="4421505"/>
            <a:ext cx="920234" cy="31813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303" name="Shape 288"/>
          <p:cNvSpPr/>
          <p:nvPr/>
        </p:nvSpPr>
        <p:spPr>
          <a:xfrm>
            <a:off x="1644611" y="4482465"/>
            <a:ext cx="55221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04" name="Shape 289"/>
          <p:cNvSpPr/>
          <p:nvPr/>
        </p:nvSpPr>
        <p:spPr>
          <a:xfrm>
            <a:off x="1718904" y="455390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05" name="Text 290"/>
          <p:cNvSpPr/>
          <p:nvPr/>
        </p:nvSpPr>
        <p:spPr>
          <a:xfrm>
            <a:off x="1814154" y="4516755"/>
            <a:ext cx="3845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825" dirty="0"/>
          </a:p>
        </p:txBody>
      </p:sp>
      <p:sp>
        <p:nvSpPr>
          <p:cNvPr id="306" name="Shape 291"/>
          <p:cNvSpPr/>
          <p:nvPr/>
        </p:nvSpPr>
        <p:spPr>
          <a:xfrm>
            <a:off x="2488648" y="4421505"/>
            <a:ext cx="2128599" cy="31813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307" name="Text 292"/>
          <p:cNvSpPr/>
          <p:nvPr/>
        </p:nvSpPr>
        <p:spPr>
          <a:xfrm>
            <a:off x="2564848" y="4478655"/>
            <a:ext cx="2052399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CIDR · policy edit</a:t>
            </a:r>
            <a:endParaRPr lang="en-US" sz="900" dirty="0"/>
          </a:p>
        </p:txBody>
      </p:sp>
      <p:sp>
        <p:nvSpPr>
          <p:cNvPr id="308" name="Shape 293"/>
          <p:cNvSpPr/>
          <p:nvPr/>
        </p:nvSpPr>
        <p:spPr>
          <a:xfrm>
            <a:off x="4617244" y="4421505"/>
            <a:ext cx="1677114" cy="31813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309" name="Text 294"/>
          <p:cNvSpPr/>
          <p:nvPr/>
        </p:nvSpPr>
        <p:spPr>
          <a:xfrm>
            <a:off x="4693444" y="4478655"/>
            <a:ext cx="1600914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kc-fin-egress</a:t>
            </a:r>
            <a:endParaRPr lang="en-US" sz="825" dirty="0"/>
          </a:p>
        </p:txBody>
      </p:sp>
      <p:sp>
        <p:nvSpPr>
          <p:cNvPr id="310" name="Shape 295"/>
          <p:cNvSpPr/>
          <p:nvPr/>
        </p:nvSpPr>
        <p:spPr>
          <a:xfrm>
            <a:off x="6294360" y="4421505"/>
            <a:ext cx="1261348" cy="31813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311" name="Text 296"/>
          <p:cNvSpPr/>
          <p:nvPr/>
        </p:nvSpPr>
        <p:spPr>
          <a:xfrm>
            <a:off x="6370560" y="4478655"/>
            <a:ext cx="1185148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alex.m</a:t>
            </a:r>
            <a:endParaRPr lang="en-US" sz="900" dirty="0"/>
          </a:p>
        </p:txBody>
      </p:sp>
      <p:sp>
        <p:nvSpPr>
          <p:cNvPr id="312" name="Shape 297"/>
          <p:cNvSpPr/>
          <p:nvPr/>
        </p:nvSpPr>
        <p:spPr>
          <a:xfrm>
            <a:off x="7555706" y="4421505"/>
            <a:ext cx="688658" cy="31813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313" name="Text 298"/>
          <p:cNvSpPr/>
          <p:nvPr/>
        </p:nvSpPr>
        <p:spPr>
          <a:xfrm>
            <a:off x="7631906" y="4478655"/>
            <a:ext cx="612458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900" dirty="0"/>
          </a:p>
        </p:txBody>
      </p:sp>
      <p:sp>
        <p:nvSpPr>
          <p:cNvPr id="314" name="Shape 299"/>
          <p:cNvSpPr/>
          <p:nvPr/>
        </p:nvSpPr>
        <p:spPr>
          <a:xfrm>
            <a:off x="8244362" y="4421505"/>
            <a:ext cx="609600" cy="31813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315" name="Text 300"/>
          <p:cNvSpPr/>
          <p:nvPr/>
        </p:nvSpPr>
        <p:spPr>
          <a:xfrm>
            <a:off x="8320562" y="4478655"/>
            <a:ext cx="533400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#4129</a:t>
            </a:r>
            <a:endParaRPr lang="en-US" sz="825" dirty="0"/>
          </a:p>
        </p:txBody>
      </p:sp>
      <p:sp>
        <p:nvSpPr>
          <p:cNvPr id="316" name="Shape 301"/>
          <p:cNvSpPr/>
          <p:nvPr/>
        </p:nvSpPr>
        <p:spPr>
          <a:xfrm>
            <a:off x="8853962" y="4421505"/>
            <a:ext cx="1253966" cy="31813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317" name="Shape 302"/>
          <p:cNvSpPr/>
          <p:nvPr/>
        </p:nvSpPr>
        <p:spPr>
          <a:xfrm>
            <a:off x="8930162" y="4482465"/>
            <a:ext cx="80736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18" name="Shape 303"/>
          <p:cNvSpPr/>
          <p:nvPr/>
        </p:nvSpPr>
        <p:spPr>
          <a:xfrm>
            <a:off x="9004464" y="455390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19" name="Text 304"/>
          <p:cNvSpPr/>
          <p:nvPr/>
        </p:nvSpPr>
        <p:spPr>
          <a:xfrm>
            <a:off x="9099714" y="4516755"/>
            <a:ext cx="63971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enforced</a:t>
            </a:r>
            <a:endParaRPr lang="en-US" sz="825" dirty="0"/>
          </a:p>
        </p:txBody>
      </p:sp>
      <p:sp>
        <p:nvSpPr>
          <p:cNvPr id="320" name="Text 305"/>
          <p:cNvSpPr/>
          <p:nvPr/>
        </p:nvSpPr>
        <p:spPr>
          <a:xfrm>
            <a:off x="666750" y="6380798"/>
            <a:ext cx="977150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paper trail beats a traditional SOC's, not the other way around. export-ready for any auditor.</a:t>
            </a:r>
            <a:endParaRPr lang="en-US" sz="863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5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" y="1685925"/>
            <a:ext cx="171450" cy="17145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91440" y="19621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355492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editor · mfa_spam_then_unfamiliar_signin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4213384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4321373" y="144780"/>
            <a:ext cx="130242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detection-as-code · v0.3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5699998" y="74295"/>
            <a:ext cx="1790938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2868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974318" y="64770"/>
            <a:ext cx="148994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6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0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1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1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2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6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174414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Detection-as-code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6549033" y="616268"/>
            <a:ext cx="44624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6623328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0" name="Text 25"/>
          <p:cNvSpPr/>
          <p:nvPr/>
        </p:nvSpPr>
        <p:spPr>
          <a:xfrm>
            <a:off x="6718578" y="642938"/>
            <a:ext cx="2786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7052429" y="616268"/>
            <a:ext cx="47160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7126724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3" name="Text 28"/>
          <p:cNvSpPr/>
          <p:nvPr/>
        </p:nvSpPr>
        <p:spPr>
          <a:xfrm>
            <a:off x="7221974" y="642938"/>
            <a:ext cx="30396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7581186" y="616268"/>
            <a:ext cx="472678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7655481" y="687705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31"/>
          <p:cNvSpPr/>
          <p:nvPr/>
        </p:nvSpPr>
        <p:spPr>
          <a:xfrm>
            <a:off x="7750731" y="642938"/>
            <a:ext cx="3050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</a:t>
            </a:r>
            <a:endParaRPr lang="en-US" sz="825" dirty="0"/>
          </a:p>
        </p:txBody>
      </p:sp>
      <p:sp>
        <p:nvSpPr>
          <p:cNvPr id="47" name="Shape 32"/>
          <p:cNvSpPr/>
          <p:nvPr/>
        </p:nvSpPr>
        <p:spPr>
          <a:xfrm>
            <a:off x="8111014" y="590550"/>
            <a:ext cx="399098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8" name="Text 33"/>
          <p:cNvSpPr/>
          <p:nvPr/>
        </p:nvSpPr>
        <p:spPr>
          <a:xfrm>
            <a:off x="8213884" y="636270"/>
            <a:ext cx="26955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8567261" y="590550"/>
            <a:ext cx="936427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0" name="Text 35"/>
          <p:cNvSpPr/>
          <p:nvPr/>
        </p:nvSpPr>
        <p:spPr>
          <a:xfrm>
            <a:off x="8670131" y="636270"/>
            <a:ext cx="80688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Sigma</a:t>
            </a:r>
            <a:endParaRPr lang="en-US" sz="900" dirty="0"/>
          </a:p>
        </p:txBody>
      </p:sp>
      <p:sp>
        <p:nvSpPr>
          <p:cNvPr id="51" name="Shape 36"/>
          <p:cNvSpPr/>
          <p:nvPr/>
        </p:nvSpPr>
        <p:spPr>
          <a:xfrm>
            <a:off x="9560839" y="590550"/>
            <a:ext cx="592812" cy="25146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52" name="Text 37"/>
          <p:cNvSpPr/>
          <p:nvPr/>
        </p:nvSpPr>
        <p:spPr>
          <a:xfrm>
            <a:off x="9663708" y="636270"/>
            <a:ext cx="4632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900" dirty="0"/>
          </a:p>
        </p:txBody>
      </p:sp>
      <p:sp>
        <p:nvSpPr>
          <p:cNvPr id="53" name="Shape 38"/>
          <p:cNvSpPr/>
          <p:nvPr/>
        </p:nvSpPr>
        <p:spPr>
          <a:xfrm>
            <a:off x="666750" y="937260"/>
            <a:ext cx="4909423" cy="5596890"/>
          </a:xfrm>
          <a:prstGeom prst="roundRect">
            <a:avLst>
              <a:gd name="adj" fmla="val 155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4" name="Text 39"/>
          <p:cNvSpPr/>
          <p:nvPr/>
        </p:nvSpPr>
        <p:spPr>
          <a:xfrm>
            <a:off x="731520" y="1009650"/>
            <a:ext cx="2826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900" dirty="0"/>
          </a:p>
        </p:txBody>
      </p:sp>
      <p:sp>
        <p:nvSpPr>
          <p:cNvPr id="55" name="Text 40"/>
          <p:cNvSpPr/>
          <p:nvPr/>
        </p:nvSpPr>
        <p:spPr>
          <a:xfrm>
            <a:off x="5233750" y="1008698"/>
            <a:ext cx="35385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825" dirty="0"/>
          </a:p>
        </p:txBody>
      </p:sp>
      <p:sp>
        <p:nvSpPr>
          <p:cNvPr id="56" name="Shape 41"/>
          <p:cNvSpPr/>
          <p:nvPr/>
        </p:nvSpPr>
        <p:spPr>
          <a:xfrm>
            <a:off x="731520" y="1238250"/>
            <a:ext cx="4779883" cy="3778568"/>
          </a:xfrm>
          <a:prstGeom prst="roundRect">
            <a:avLst>
              <a:gd name="adj" fmla="val 1512"/>
            </a:avLst>
          </a:prstGeom>
          <a:solidFill>
            <a:srgbClr val="0F172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7" name="Text 42"/>
          <p:cNvSpPr/>
          <p:nvPr/>
        </p:nvSpPr>
        <p:spPr>
          <a:xfrm>
            <a:off x="853440" y="1341120"/>
            <a:ext cx="4679440" cy="3610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&gt;# detection: mfa_spam_then_unfamiliar_signin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&gt;# author: hunt → promoted from query builder · case #4129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&gt;#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high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okta.mfa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action ==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"denied"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count(window=10m) &gt; 10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okta.auth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result ==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"success"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asn IS NEW for user(within=30d)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"MFA spam → unfamiliar ASN sign-in"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high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mitre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"T1621"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"T1078"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identity.profile(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geoip.asn(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$asn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true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confidence_threshold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0.85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suggest_response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revoke_sessions(okta, user=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notify_user(channel=slack, key= </a:t>
            </a:r>
            <a:endParaRPr lang="en-US" sz="8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25" dirty="0"/>
          </a:p>
        </p:txBody>
      </p:sp>
      <p:sp>
        <p:nvSpPr>
          <p:cNvPr id="58" name="Shape 43"/>
          <p:cNvSpPr/>
          <p:nvPr/>
        </p:nvSpPr>
        <p:spPr>
          <a:xfrm>
            <a:off x="5690473" y="937260"/>
            <a:ext cx="4463177" cy="1316355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9" name="Text 44"/>
          <p:cNvSpPr/>
          <p:nvPr/>
        </p:nvSpPr>
        <p:spPr>
          <a:xfrm>
            <a:off x="5812393" y="1047750"/>
            <a:ext cx="1122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against history</a:t>
            </a:r>
            <a:endParaRPr lang="en-US" sz="900" dirty="0"/>
          </a:p>
        </p:txBody>
      </p:sp>
      <p:sp>
        <p:nvSpPr>
          <p:cNvPr id="60" name="Text 45"/>
          <p:cNvSpPr/>
          <p:nvPr/>
        </p:nvSpPr>
        <p:spPr>
          <a:xfrm>
            <a:off x="9664660" y="1046798"/>
            <a:ext cx="4432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30d</a:t>
            </a:r>
            <a:endParaRPr lang="en-US" sz="825" dirty="0"/>
          </a:p>
        </p:txBody>
      </p:sp>
      <p:sp>
        <p:nvSpPr>
          <p:cNvPr id="61" name="Text 46"/>
          <p:cNvSpPr/>
          <p:nvPr/>
        </p:nvSpPr>
        <p:spPr>
          <a:xfrm>
            <a:off x="5812393" y="1296353"/>
            <a:ext cx="112466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have matched</a:t>
            </a:r>
            <a:endParaRPr lang="en-US" sz="900" dirty="0"/>
          </a:p>
        </p:txBody>
      </p:sp>
      <p:sp>
        <p:nvSpPr>
          <p:cNvPr id="62" name="Shape 47"/>
          <p:cNvSpPr/>
          <p:nvPr/>
        </p:nvSpPr>
        <p:spPr>
          <a:xfrm>
            <a:off x="9409748" y="1276350"/>
            <a:ext cx="62198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63" name="Shape 48"/>
          <p:cNvSpPr/>
          <p:nvPr/>
        </p:nvSpPr>
        <p:spPr>
          <a:xfrm>
            <a:off x="9484043" y="134778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64" name="Text 49"/>
          <p:cNvSpPr/>
          <p:nvPr/>
        </p:nvSpPr>
        <p:spPr>
          <a:xfrm>
            <a:off x="9579293" y="1303020"/>
            <a:ext cx="45434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cases</a:t>
            </a:r>
            <a:endParaRPr lang="en-US" sz="825" dirty="0"/>
          </a:p>
        </p:txBody>
      </p:sp>
      <p:sp>
        <p:nvSpPr>
          <p:cNvPr id="65" name="Text 50"/>
          <p:cNvSpPr/>
          <p:nvPr/>
        </p:nvSpPr>
        <p:spPr>
          <a:xfrm>
            <a:off x="5812393" y="1534478"/>
            <a:ext cx="110549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with existing</a:t>
            </a:r>
            <a:endParaRPr lang="en-US" sz="900" dirty="0"/>
          </a:p>
        </p:txBody>
      </p:sp>
      <p:sp>
        <p:nvSpPr>
          <p:cNvPr id="66" name="Shape 51"/>
          <p:cNvSpPr/>
          <p:nvPr/>
        </p:nvSpPr>
        <p:spPr>
          <a:xfrm>
            <a:off x="9239488" y="1514475"/>
            <a:ext cx="79224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7" name="Shape 52"/>
          <p:cNvSpPr/>
          <p:nvPr/>
        </p:nvSpPr>
        <p:spPr>
          <a:xfrm>
            <a:off x="9313784" y="158591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8" name="Text 53"/>
          <p:cNvSpPr/>
          <p:nvPr/>
        </p:nvSpPr>
        <p:spPr>
          <a:xfrm>
            <a:off x="9409034" y="1541145"/>
            <a:ext cx="62460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(dedupe)</a:t>
            </a:r>
            <a:endParaRPr lang="en-US" sz="825" dirty="0"/>
          </a:p>
        </p:txBody>
      </p:sp>
      <p:sp>
        <p:nvSpPr>
          <p:cNvPr id="69" name="Text 54"/>
          <p:cNvSpPr/>
          <p:nvPr/>
        </p:nvSpPr>
        <p:spPr>
          <a:xfrm>
            <a:off x="5812393" y="1772602"/>
            <a:ext cx="96571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 rate</a:t>
            </a:r>
            <a:endParaRPr lang="en-US" sz="900" dirty="0"/>
          </a:p>
        </p:txBody>
      </p:sp>
      <p:sp>
        <p:nvSpPr>
          <p:cNvPr id="70" name="Shape 55"/>
          <p:cNvSpPr/>
          <p:nvPr/>
        </p:nvSpPr>
        <p:spPr>
          <a:xfrm>
            <a:off x="9549885" y="1752600"/>
            <a:ext cx="481846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71" name="Shape 56"/>
          <p:cNvSpPr/>
          <p:nvPr/>
        </p:nvSpPr>
        <p:spPr>
          <a:xfrm>
            <a:off x="9624179" y="182403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72" name="Text 57"/>
          <p:cNvSpPr/>
          <p:nvPr/>
        </p:nvSpPr>
        <p:spPr>
          <a:xfrm>
            <a:off x="9719429" y="1779270"/>
            <a:ext cx="3142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825" dirty="0"/>
          </a:p>
        </p:txBody>
      </p:sp>
      <p:sp>
        <p:nvSpPr>
          <p:cNvPr id="73" name="Text 58"/>
          <p:cNvSpPr/>
          <p:nvPr/>
        </p:nvSpPr>
        <p:spPr>
          <a:xfrm>
            <a:off x="5812393" y="1990725"/>
            <a:ext cx="73080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budget</a:t>
            </a:r>
            <a:endParaRPr lang="en-US" sz="900" dirty="0"/>
          </a:p>
        </p:txBody>
      </p:sp>
      <p:sp>
        <p:nvSpPr>
          <p:cNvPr id="74" name="Shape 59"/>
          <p:cNvSpPr/>
          <p:nvPr/>
        </p:nvSpPr>
        <p:spPr>
          <a:xfrm>
            <a:off x="5690473" y="2329815"/>
            <a:ext cx="4463177" cy="1681639"/>
          </a:xfrm>
          <a:prstGeom prst="roundRect">
            <a:avLst>
              <a:gd name="adj" fmla="val 453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5" name="Text 60"/>
          <p:cNvSpPr/>
          <p:nvPr/>
        </p:nvSpPr>
        <p:spPr>
          <a:xfrm>
            <a:off x="5812393" y="2440306"/>
            <a:ext cx="10420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tuning</a:t>
            </a:r>
            <a:endParaRPr lang="en-US" sz="900" dirty="0"/>
          </a:p>
        </p:txBody>
      </p:sp>
      <p:sp>
        <p:nvSpPr>
          <p:cNvPr id="76" name="Text 61"/>
          <p:cNvSpPr/>
          <p:nvPr/>
        </p:nvSpPr>
        <p:spPr>
          <a:xfrm>
            <a:off x="9362123" y="2439352"/>
            <a:ext cx="74580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telemetry</a:t>
            </a:r>
            <a:endParaRPr lang="en-US" sz="825" dirty="0"/>
          </a:p>
        </p:txBody>
      </p:sp>
      <p:sp>
        <p:nvSpPr>
          <p:cNvPr id="77" name="Shape 62"/>
          <p:cNvSpPr/>
          <p:nvPr/>
        </p:nvSpPr>
        <p:spPr>
          <a:xfrm>
            <a:off x="5812393" y="2668906"/>
            <a:ext cx="4219337" cy="1239679"/>
          </a:xfrm>
          <a:prstGeom prst="roundRect">
            <a:avLst>
              <a:gd name="adj" fmla="val 614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8" name="Text 63"/>
          <p:cNvSpPr/>
          <p:nvPr/>
        </p:nvSpPr>
        <p:spPr>
          <a:xfrm>
            <a:off x="5896213" y="2752725"/>
            <a:ext cx="41732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SUGGESTS</a:t>
            </a:r>
            <a:endParaRPr lang="en-US" sz="750" dirty="0"/>
          </a:p>
        </p:txBody>
      </p:sp>
      <p:sp>
        <p:nvSpPr>
          <p:cNvPr id="79" name="Shape 64"/>
          <p:cNvSpPr/>
          <p:nvPr/>
        </p:nvSpPr>
        <p:spPr>
          <a:xfrm>
            <a:off x="5896213" y="2924175"/>
            <a:ext cx="4051697" cy="515779"/>
          </a:xfrm>
          <a:prstGeom prst="roundRect">
            <a:avLst>
              <a:gd name="adj" fmla="val 11080"/>
            </a:avLst>
          </a:prstGeom>
          <a:solidFill>
            <a:srgbClr val="0F172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0" name="Text 65"/>
          <p:cNvSpPr/>
          <p:nvPr/>
        </p:nvSpPr>
        <p:spPr>
          <a:xfrm>
            <a:off x="6018133" y="3027045"/>
            <a:ext cx="3929408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where: action == "denied" AND count(window=10m) &gt; 10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where: action == "denied" AND count(window=10m) &gt; 12</a:t>
            </a:r>
            <a:endParaRPr lang="en-US" sz="788" dirty="0"/>
          </a:p>
        </p:txBody>
      </p:sp>
      <p:sp>
        <p:nvSpPr>
          <p:cNvPr id="81" name="Text 66"/>
          <p:cNvSpPr/>
          <p:nvPr/>
        </p:nvSpPr>
        <p:spPr>
          <a:xfrm>
            <a:off x="5896213" y="3439954"/>
            <a:ext cx="417324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tightens noise from 4.1% → 2.1% · drops 0 known TP.</a:t>
            </a:r>
            <a:endParaRPr lang="en-US" sz="825" dirty="0"/>
          </a:p>
        </p:txBody>
      </p:sp>
      <p:sp>
        <p:nvSpPr>
          <p:cNvPr id="82" name="Shape 67"/>
          <p:cNvSpPr/>
          <p:nvPr/>
        </p:nvSpPr>
        <p:spPr>
          <a:xfrm>
            <a:off x="5896213" y="3624739"/>
            <a:ext cx="510064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3" name="Text 68"/>
          <p:cNvSpPr/>
          <p:nvPr/>
        </p:nvSpPr>
        <p:spPr>
          <a:xfrm>
            <a:off x="5970508" y="3651409"/>
            <a:ext cx="43767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825" dirty="0"/>
          </a:p>
        </p:txBody>
      </p:sp>
      <p:sp>
        <p:nvSpPr>
          <p:cNvPr id="84" name="Shape 69"/>
          <p:cNvSpPr/>
          <p:nvPr/>
        </p:nvSpPr>
        <p:spPr>
          <a:xfrm>
            <a:off x="6444377" y="3624739"/>
            <a:ext cx="443508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5" name="Text 70"/>
          <p:cNvSpPr/>
          <p:nvPr/>
        </p:nvSpPr>
        <p:spPr>
          <a:xfrm>
            <a:off x="6518672" y="3651409"/>
            <a:ext cx="37111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825" dirty="0"/>
          </a:p>
        </p:txBody>
      </p:sp>
      <p:sp>
        <p:nvSpPr>
          <p:cNvPr id="86" name="Shape 71"/>
          <p:cNvSpPr/>
          <p:nvPr/>
        </p:nvSpPr>
        <p:spPr>
          <a:xfrm>
            <a:off x="5690473" y="4087654"/>
            <a:ext cx="4463177" cy="2253615"/>
          </a:xfrm>
          <a:prstGeom prst="roundRect">
            <a:avLst>
              <a:gd name="adj" fmla="val 338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7" name="Text 72"/>
          <p:cNvSpPr/>
          <p:nvPr/>
        </p:nvSpPr>
        <p:spPr>
          <a:xfrm>
            <a:off x="5812393" y="4190524"/>
            <a:ext cx="434591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preview</a:t>
            </a:r>
            <a:endParaRPr lang="en-US" sz="900" dirty="0"/>
          </a:p>
        </p:txBody>
      </p:sp>
      <p:sp>
        <p:nvSpPr>
          <p:cNvPr id="88" name="Shape 73"/>
          <p:cNvSpPr/>
          <p:nvPr/>
        </p:nvSpPr>
        <p:spPr>
          <a:xfrm>
            <a:off x="5812393" y="4426744"/>
            <a:ext cx="1451967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9" name="Shape 74"/>
          <p:cNvSpPr/>
          <p:nvPr/>
        </p:nvSpPr>
        <p:spPr>
          <a:xfrm>
            <a:off x="5812393" y="4664869"/>
            <a:ext cx="1451967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75"/>
          <p:cNvSpPr/>
          <p:nvPr/>
        </p:nvSpPr>
        <p:spPr>
          <a:xfrm>
            <a:off x="5888593" y="4474369"/>
            <a:ext cx="137576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825" dirty="0"/>
          </a:p>
        </p:txBody>
      </p:sp>
      <p:sp>
        <p:nvSpPr>
          <p:cNvPr id="91" name="Shape 76"/>
          <p:cNvSpPr/>
          <p:nvPr/>
        </p:nvSpPr>
        <p:spPr>
          <a:xfrm>
            <a:off x="7264361" y="4426744"/>
            <a:ext cx="1167884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2" name="Shape 77"/>
          <p:cNvSpPr/>
          <p:nvPr/>
        </p:nvSpPr>
        <p:spPr>
          <a:xfrm>
            <a:off x="7264361" y="4664869"/>
            <a:ext cx="1167884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3" name="Text 78"/>
          <p:cNvSpPr/>
          <p:nvPr/>
        </p:nvSpPr>
        <p:spPr>
          <a:xfrm>
            <a:off x="7340561" y="4474369"/>
            <a:ext cx="10916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825" dirty="0"/>
          </a:p>
        </p:txBody>
      </p:sp>
      <p:sp>
        <p:nvSpPr>
          <p:cNvPr id="94" name="Shape 79"/>
          <p:cNvSpPr/>
          <p:nvPr/>
        </p:nvSpPr>
        <p:spPr>
          <a:xfrm>
            <a:off x="8432245" y="4426744"/>
            <a:ext cx="1599486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5" name="Shape 80"/>
          <p:cNvSpPr/>
          <p:nvPr/>
        </p:nvSpPr>
        <p:spPr>
          <a:xfrm>
            <a:off x="8432245" y="4664869"/>
            <a:ext cx="159948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6" name="Text 81"/>
          <p:cNvSpPr/>
          <p:nvPr/>
        </p:nvSpPr>
        <p:spPr>
          <a:xfrm>
            <a:off x="8508445" y="4474369"/>
            <a:ext cx="152328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825" dirty="0"/>
          </a:p>
        </p:txBody>
      </p:sp>
      <p:sp>
        <p:nvSpPr>
          <p:cNvPr id="97" name="Shape 82"/>
          <p:cNvSpPr/>
          <p:nvPr/>
        </p:nvSpPr>
        <p:spPr>
          <a:xfrm>
            <a:off x="5812393" y="4672489"/>
            <a:ext cx="1451967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98" name="Shape 83"/>
          <p:cNvSpPr/>
          <p:nvPr/>
        </p:nvSpPr>
        <p:spPr>
          <a:xfrm>
            <a:off x="5812393" y="4986814"/>
            <a:ext cx="14519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9" name="Text 84"/>
          <p:cNvSpPr/>
          <p:nvPr/>
        </p:nvSpPr>
        <p:spPr>
          <a:xfrm>
            <a:off x="5888593" y="4729639"/>
            <a:ext cx="13757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#4129</a:t>
            </a:r>
            <a:endParaRPr lang="en-US" sz="825" dirty="0"/>
          </a:p>
        </p:txBody>
      </p:sp>
      <p:sp>
        <p:nvSpPr>
          <p:cNvPr id="100" name="Shape 85"/>
          <p:cNvSpPr/>
          <p:nvPr/>
        </p:nvSpPr>
        <p:spPr>
          <a:xfrm>
            <a:off x="7264361" y="4672489"/>
            <a:ext cx="116788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1" name="Shape 86"/>
          <p:cNvSpPr/>
          <p:nvPr/>
        </p:nvSpPr>
        <p:spPr>
          <a:xfrm>
            <a:off x="7264361" y="4986814"/>
            <a:ext cx="116788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2" name="Text 87"/>
          <p:cNvSpPr/>
          <p:nvPr/>
        </p:nvSpPr>
        <p:spPr>
          <a:xfrm>
            <a:off x="7340561" y="4729639"/>
            <a:ext cx="10916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carlos.t</a:t>
            </a:r>
            <a:endParaRPr lang="en-US" sz="900" dirty="0"/>
          </a:p>
        </p:txBody>
      </p:sp>
      <p:sp>
        <p:nvSpPr>
          <p:cNvPr id="103" name="Shape 88"/>
          <p:cNvSpPr/>
          <p:nvPr/>
        </p:nvSpPr>
        <p:spPr>
          <a:xfrm>
            <a:off x="8432245" y="4672489"/>
            <a:ext cx="1599486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4" name="Shape 89"/>
          <p:cNvSpPr/>
          <p:nvPr/>
        </p:nvSpPr>
        <p:spPr>
          <a:xfrm>
            <a:off x="8432245" y="4986814"/>
            <a:ext cx="159948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5" name="Shape 90"/>
          <p:cNvSpPr/>
          <p:nvPr/>
        </p:nvSpPr>
        <p:spPr>
          <a:xfrm>
            <a:off x="8508445" y="4733449"/>
            <a:ext cx="530662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06" name="Shape 91"/>
          <p:cNvSpPr/>
          <p:nvPr/>
        </p:nvSpPr>
        <p:spPr>
          <a:xfrm>
            <a:off x="8582739" y="4804887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07" name="Text 92"/>
          <p:cNvSpPr/>
          <p:nvPr/>
        </p:nvSpPr>
        <p:spPr>
          <a:xfrm>
            <a:off x="8677989" y="4760119"/>
            <a:ext cx="36302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+</a:t>
            </a:r>
            <a:endParaRPr lang="en-US" sz="825" dirty="0"/>
          </a:p>
        </p:txBody>
      </p:sp>
      <p:sp>
        <p:nvSpPr>
          <p:cNvPr id="108" name="Shape 93"/>
          <p:cNvSpPr/>
          <p:nvPr/>
        </p:nvSpPr>
        <p:spPr>
          <a:xfrm>
            <a:off x="5812393" y="4994434"/>
            <a:ext cx="1451967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9" name="Shape 94"/>
          <p:cNvSpPr/>
          <p:nvPr/>
        </p:nvSpPr>
        <p:spPr>
          <a:xfrm>
            <a:off x="5812393" y="5308759"/>
            <a:ext cx="14519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0" name="Text 95"/>
          <p:cNvSpPr/>
          <p:nvPr/>
        </p:nvSpPr>
        <p:spPr>
          <a:xfrm>
            <a:off x="5888593" y="5051584"/>
            <a:ext cx="13757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#3911</a:t>
            </a:r>
            <a:endParaRPr lang="en-US" sz="825" dirty="0"/>
          </a:p>
        </p:txBody>
      </p:sp>
      <p:sp>
        <p:nvSpPr>
          <p:cNvPr id="111" name="Shape 96"/>
          <p:cNvSpPr/>
          <p:nvPr/>
        </p:nvSpPr>
        <p:spPr>
          <a:xfrm>
            <a:off x="7264361" y="4994434"/>
            <a:ext cx="116788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2" name="Shape 97"/>
          <p:cNvSpPr/>
          <p:nvPr/>
        </p:nvSpPr>
        <p:spPr>
          <a:xfrm>
            <a:off x="7264361" y="5308759"/>
            <a:ext cx="116788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3" name="Text 98"/>
          <p:cNvSpPr/>
          <p:nvPr/>
        </p:nvSpPr>
        <p:spPr>
          <a:xfrm>
            <a:off x="7340561" y="5051584"/>
            <a:ext cx="10916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priya.r</a:t>
            </a:r>
            <a:endParaRPr lang="en-US" sz="900" dirty="0"/>
          </a:p>
        </p:txBody>
      </p:sp>
      <p:sp>
        <p:nvSpPr>
          <p:cNvPr id="114" name="Shape 99"/>
          <p:cNvSpPr/>
          <p:nvPr/>
        </p:nvSpPr>
        <p:spPr>
          <a:xfrm>
            <a:off x="8432245" y="4994434"/>
            <a:ext cx="1599486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5" name="Shape 100"/>
          <p:cNvSpPr/>
          <p:nvPr/>
        </p:nvSpPr>
        <p:spPr>
          <a:xfrm>
            <a:off x="8432245" y="5308759"/>
            <a:ext cx="159948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6" name="Shape 101"/>
          <p:cNvSpPr/>
          <p:nvPr/>
        </p:nvSpPr>
        <p:spPr>
          <a:xfrm>
            <a:off x="8508445" y="5055394"/>
            <a:ext cx="530662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17" name="Shape 102"/>
          <p:cNvSpPr/>
          <p:nvPr/>
        </p:nvSpPr>
        <p:spPr>
          <a:xfrm>
            <a:off x="8582739" y="5126831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18" name="Text 103"/>
          <p:cNvSpPr/>
          <p:nvPr/>
        </p:nvSpPr>
        <p:spPr>
          <a:xfrm>
            <a:off x="8677989" y="5082064"/>
            <a:ext cx="36302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+</a:t>
            </a:r>
            <a:endParaRPr lang="en-US" sz="825" dirty="0"/>
          </a:p>
        </p:txBody>
      </p:sp>
      <p:sp>
        <p:nvSpPr>
          <p:cNvPr id="119" name="Shape 104"/>
          <p:cNvSpPr/>
          <p:nvPr/>
        </p:nvSpPr>
        <p:spPr>
          <a:xfrm>
            <a:off x="5812393" y="5630704"/>
            <a:ext cx="14519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0" name="Text 105"/>
          <p:cNvSpPr/>
          <p:nvPr/>
        </p:nvSpPr>
        <p:spPr>
          <a:xfrm>
            <a:off x="5888593" y="5373529"/>
            <a:ext cx="13757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#3722</a:t>
            </a:r>
            <a:endParaRPr lang="en-US" sz="825" dirty="0"/>
          </a:p>
        </p:txBody>
      </p:sp>
      <p:sp>
        <p:nvSpPr>
          <p:cNvPr id="121" name="Shape 106"/>
          <p:cNvSpPr/>
          <p:nvPr/>
        </p:nvSpPr>
        <p:spPr>
          <a:xfrm>
            <a:off x="7264361" y="5630704"/>
            <a:ext cx="116788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2" name="Text 107"/>
          <p:cNvSpPr/>
          <p:nvPr/>
        </p:nvSpPr>
        <p:spPr>
          <a:xfrm>
            <a:off x="7340561" y="5373529"/>
            <a:ext cx="10916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marco.l</a:t>
            </a:r>
            <a:endParaRPr lang="en-US" sz="900" dirty="0"/>
          </a:p>
        </p:txBody>
      </p:sp>
      <p:sp>
        <p:nvSpPr>
          <p:cNvPr id="123" name="Shape 108"/>
          <p:cNvSpPr/>
          <p:nvPr/>
        </p:nvSpPr>
        <p:spPr>
          <a:xfrm>
            <a:off x="8432245" y="5630704"/>
            <a:ext cx="159948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4" name="Shape 109"/>
          <p:cNvSpPr/>
          <p:nvPr/>
        </p:nvSpPr>
        <p:spPr>
          <a:xfrm>
            <a:off x="8508445" y="5377339"/>
            <a:ext cx="56959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5" name="Shape 110"/>
          <p:cNvSpPr/>
          <p:nvPr/>
        </p:nvSpPr>
        <p:spPr>
          <a:xfrm>
            <a:off x="8582739" y="5448777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26" name="Text 111"/>
          <p:cNvSpPr/>
          <p:nvPr/>
        </p:nvSpPr>
        <p:spPr>
          <a:xfrm>
            <a:off x="8677989" y="5404009"/>
            <a:ext cx="4019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+</a:t>
            </a:r>
            <a:endParaRPr lang="en-US" sz="825" dirty="0"/>
          </a:p>
        </p:txBody>
      </p:sp>
      <p:sp>
        <p:nvSpPr>
          <p:cNvPr id="127" name="Shape 112"/>
          <p:cNvSpPr/>
          <p:nvPr/>
        </p:nvSpPr>
        <p:spPr>
          <a:xfrm>
            <a:off x="5812393" y="5638324"/>
            <a:ext cx="1451967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8" name="Shape 113"/>
          <p:cNvSpPr/>
          <p:nvPr/>
        </p:nvSpPr>
        <p:spPr>
          <a:xfrm>
            <a:off x="5812393" y="5952649"/>
            <a:ext cx="145196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9" name="Text 114"/>
          <p:cNvSpPr/>
          <p:nvPr/>
        </p:nvSpPr>
        <p:spPr>
          <a:xfrm>
            <a:off x="5888593" y="5695474"/>
            <a:ext cx="13757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#3501</a:t>
            </a:r>
            <a:endParaRPr lang="en-US" sz="825" dirty="0"/>
          </a:p>
        </p:txBody>
      </p:sp>
      <p:sp>
        <p:nvSpPr>
          <p:cNvPr id="130" name="Shape 115"/>
          <p:cNvSpPr/>
          <p:nvPr/>
        </p:nvSpPr>
        <p:spPr>
          <a:xfrm>
            <a:off x="7264361" y="5638324"/>
            <a:ext cx="116788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31" name="Shape 116"/>
          <p:cNvSpPr/>
          <p:nvPr/>
        </p:nvSpPr>
        <p:spPr>
          <a:xfrm>
            <a:off x="7264361" y="5952649"/>
            <a:ext cx="116788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2" name="Text 117"/>
          <p:cNvSpPr/>
          <p:nvPr/>
        </p:nvSpPr>
        <p:spPr>
          <a:xfrm>
            <a:off x="7340561" y="5695474"/>
            <a:ext cx="10916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diane.k</a:t>
            </a:r>
            <a:endParaRPr lang="en-US" sz="900" dirty="0"/>
          </a:p>
        </p:txBody>
      </p:sp>
      <p:sp>
        <p:nvSpPr>
          <p:cNvPr id="133" name="Shape 118"/>
          <p:cNvSpPr/>
          <p:nvPr/>
        </p:nvSpPr>
        <p:spPr>
          <a:xfrm>
            <a:off x="8432245" y="5638324"/>
            <a:ext cx="1599486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34" name="Shape 119"/>
          <p:cNvSpPr/>
          <p:nvPr/>
        </p:nvSpPr>
        <p:spPr>
          <a:xfrm>
            <a:off x="8432245" y="5952649"/>
            <a:ext cx="159948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5" name="Shape 120"/>
          <p:cNvSpPr/>
          <p:nvPr/>
        </p:nvSpPr>
        <p:spPr>
          <a:xfrm>
            <a:off x="8508445" y="5699284"/>
            <a:ext cx="530662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36" name="Shape 121"/>
          <p:cNvSpPr/>
          <p:nvPr/>
        </p:nvSpPr>
        <p:spPr>
          <a:xfrm>
            <a:off x="8582739" y="5770721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37" name="Text 122"/>
          <p:cNvSpPr/>
          <p:nvPr/>
        </p:nvSpPr>
        <p:spPr>
          <a:xfrm>
            <a:off x="8677989" y="5725954"/>
            <a:ext cx="36302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+</a:t>
            </a:r>
            <a:endParaRPr lang="en-US" sz="825" dirty="0"/>
          </a:p>
        </p:txBody>
      </p:sp>
      <p:sp>
        <p:nvSpPr>
          <p:cNvPr id="138" name="Text 123"/>
          <p:cNvSpPr/>
          <p:nvPr/>
        </p:nvSpPr>
        <p:spPr>
          <a:xfrm>
            <a:off x="5888593" y="6017419"/>
            <a:ext cx="1375767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+ 4 more</a:t>
            </a:r>
            <a:endParaRPr lang="en-US" sz="825" dirty="0"/>
          </a:p>
        </p:txBody>
      </p:sp>
      <p:sp>
        <p:nvSpPr>
          <p:cNvPr id="139" name="Text 124"/>
          <p:cNvSpPr/>
          <p:nvPr/>
        </p:nvSpPr>
        <p:spPr>
          <a:xfrm>
            <a:off x="7340561" y="6017419"/>
            <a:ext cx="1091684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140" name="Text 125"/>
          <p:cNvSpPr/>
          <p:nvPr/>
        </p:nvSpPr>
        <p:spPr>
          <a:xfrm>
            <a:off x="8508445" y="6017419"/>
            <a:ext cx="1523286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5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" y="1685925"/>
            <a:ext cx="171450" cy="17145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91440" y="19621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670328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 coverage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356128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464118" y="144780"/>
            <a:ext cx="149316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coverage by tactic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4033481" y="74295"/>
            <a:ext cx="3457456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36351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307801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7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1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0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0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1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8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402338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you're strong · where the blind spots are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5474255" y="616268"/>
            <a:ext cx="854869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5548551" y="68770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0" name="Text 25"/>
          <p:cNvSpPr/>
          <p:nvPr/>
        </p:nvSpPr>
        <p:spPr>
          <a:xfrm>
            <a:off x="5643801" y="642938"/>
            <a:ext cx="68722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· 41%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6386274" y="616268"/>
            <a:ext cx="863560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6460570" y="687705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43" name="Text 28"/>
          <p:cNvSpPr/>
          <p:nvPr/>
        </p:nvSpPr>
        <p:spPr>
          <a:xfrm>
            <a:off x="6555820" y="642938"/>
            <a:ext cx="69592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· 32%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7306985" y="616268"/>
            <a:ext cx="1144191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7381280" y="687705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46" name="Text 31"/>
          <p:cNvSpPr/>
          <p:nvPr/>
        </p:nvSpPr>
        <p:spPr>
          <a:xfrm>
            <a:off x="7476530" y="642938"/>
            <a:ext cx="97655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/ none · 27%</a:t>
            </a:r>
            <a:endParaRPr lang="en-US" sz="825" dirty="0"/>
          </a:p>
        </p:txBody>
      </p:sp>
      <p:sp>
        <p:nvSpPr>
          <p:cNvPr id="47" name="Shape 32"/>
          <p:cNvSpPr/>
          <p:nvPr/>
        </p:nvSpPr>
        <p:spPr>
          <a:xfrm>
            <a:off x="8508325" y="590550"/>
            <a:ext cx="1645325" cy="25146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8" name="Text 33"/>
          <p:cNvSpPr/>
          <p:nvPr/>
        </p:nvSpPr>
        <p:spPr>
          <a:xfrm>
            <a:off x="8611195" y="636270"/>
            <a:ext cx="15157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agent to close top gap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666750" y="937260"/>
            <a:ext cx="9486900" cy="414528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0" name="Text 35"/>
          <p:cNvSpPr/>
          <p:nvPr/>
        </p:nvSpPr>
        <p:spPr>
          <a:xfrm>
            <a:off x="750570" y="1040130"/>
            <a:ext cx="695801" cy="23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13" b="1" spc="4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</a:t>
            </a:r>
            <a:endParaRPr lang="en-US" sz="713" dirty="0"/>
          </a:p>
        </p:txBody>
      </p:sp>
      <p:sp>
        <p:nvSpPr>
          <p:cNvPr id="51" name="Text 36"/>
          <p:cNvSpPr/>
          <p:nvPr/>
        </p:nvSpPr>
        <p:spPr>
          <a:xfrm>
            <a:off x="1408271" y="1040130"/>
            <a:ext cx="695801" cy="23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13" b="1" spc="4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DEV</a:t>
            </a:r>
            <a:endParaRPr lang="en-US" sz="713" dirty="0"/>
          </a:p>
        </p:txBody>
      </p:sp>
      <p:sp>
        <p:nvSpPr>
          <p:cNvPr id="52" name="Text 37"/>
          <p:cNvSpPr/>
          <p:nvPr/>
        </p:nvSpPr>
        <p:spPr>
          <a:xfrm>
            <a:off x="2065973" y="1040130"/>
            <a:ext cx="695801" cy="23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13" b="1" spc="4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ACCESS</a:t>
            </a:r>
            <a:endParaRPr lang="en-US" sz="713" dirty="0"/>
          </a:p>
        </p:txBody>
      </p:sp>
      <p:sp>
        <p:nvSpPr>
          <p:cNvPr id="53" name="Text 38"/>
          <p:cNvSpPr/>
          <p:nvPr/>
        </p:nvSpPr>
        <p:spPr>
          <a:xfrm>
            <a:off x="2723674" y="1040130"/>
            <a:ext cx="695801" cy="23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13" b="1" spc="4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713" dirty="0"/>
          </a:p>
        </p:txBody>
      </p:sp>
      <p:sp>
        <p:nvSpPr>
          <p:cNvPr id="54" name="Text 39"/>
          <p:cNvSpPr/>
          <p:nvPr/>
        </p:nvSpPr>
        <p:spPr>
          <a:xfrm>
            <a:off x="3381375" y="1040130"/>
            <a:ext cx="743545" cy="23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13" b="1" spc="4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713" dirty="0"/>
          </a:p>
        </p:txBody>
      </p:sp>
      <p:sp>
        <p:nvSpPr>
          <p:cNvPr id="55" name="Text 40"/>
          <p:cNvSpPr/>
          <p:nvPr/>
        </p:nvSpPr>
        <p:spPr>
          <a:xfrm>
            <a:off x="4086820" y="1040130"/>
            <a:ext cx="695801" cy="23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13" b="1" spc="4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PRIV. ESC</a:t>
            </a:r>
            <a:endParaRPr lang="en-US" sz="713" dirty="0"/>
          </a:p>
        </p:txBody>
      </p:sp>
      <p:sp>
        <p:nvSpPr>
          <p:cNvPr id="56" name="Text 41"/>
          <p:cNvSpPr/>
          <p:nvPr/>
        </p:nvSpPr>
        <p:spPr>
          <a:xfrm>
            <a:off x="4744522" y="1040130"/>
            <a:ext cx="695801" cy="23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13" b="1" spc="4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EVASION</a:t>
            </a:r>
            <a:endParaRPr lang="en-US" sz="713" dirty="0"/>
          </a:p>
        </p:txBody>
      </p:sp>
      <p:sp>
        <p:nvSpPr>
          <p:cNvPr id="57" name="Text 42"/>
          <p:cNvSpPr/>
          <p:nvPr/>
        </p:nvSpPr>
        <p:spPr>
          <a:xfrm>
            <a:off x="5402223" y="1040130"/>
            <a:ext cx="695801" cy="23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13" b="1" spc="4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CRED. ACCESS</a:t>
            </a:r>
            <a:endParaRPr lang="en-US" sz="713" dirty="0"/>
          </a:p>
        </p:txBody>
      </p:sp>
      <p:sp>
        <p:nvSpPr>
          <p:cNvPr id="58" name="Text 43"/>
          <p:cNvSpPr/>
          <p:nvPr/>
        </p:nvSpPr>
        <p:spPr>
          <a:xfrm>
            <a:off x="6059924" y="1040130"/>
            <a:ext cx="695801" cy="23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13" b="1" spc="4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713" dirty="0"/>
          </a:p>
        </p:txBody>
      </p:sp>
      <p:sp>
        <p:nvSpPr>
          <p:cNvPr id="59" name="Text 44"/>
          <p:cNvSpPr/>
          <p:nvPr/>
        </p:nvSpPr>
        <p:spPr>
          <a:xfrm>
            <a:off x="6717626" y="1040130"/>
            <a:ext cx="695801" cy="23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13" b="1" spc="4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</a:t>
            </a:r>
            <a:endParaRPr lang="en-US" sz="713" dirty="0"/>
          </a:p>
        </p:txBody>
      </p:sp>
      <p:sp>
        <p:nvSpPr>
          <p:cNvPr id="60" name="Text 45"/>
          <p:cNvSpPr/>
          <p:nvPr/>
        </p:nvSpPr>
        <p:spPr>
          <a:xfrm>
            <a:off x="7375327" y="1040130"/>
            <a:ext cx="721400" cy="23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13" b="1" spc="4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713" dirty="0"/>
          </a:p>
        </p:txBody>
      </p:sp>
      <p:sp>
        <p:nvSpPr>
          <p:cNvPr id="61" name="Text 46"/>
          <p:cNvSpPr/>
          <p:nvPr/>
        </p:nvSpPr>
        <p:spPr>
          <a:xfrm>
            <a:off x="8058627" y="1040130"/>
            <a:ext cx="695801" cy="23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13" b="1" spc="4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713" dirty="0"/>
          </a:p>
        </p:txBody>
      </p:sp>
      <p:sp>
        <p:nvSpPr>
          <p:cNvPr id="62" name="Text 47"/>
          <p:cNvSpPr/>
          <p:nvPr/>
        </p:nvSpPr>
        <p:spPr>
          <a:xfrm>
            <a:off x="8716328" y="1040130"/>
            <a:ext cx="695801" cy="23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13" b="1" spc="4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EXFIL</a:t>
            </a:r>
            <a:endParaRPr lang="en-US" sz="713" dirty="0"/>
          </a:p>
        </p:txBody>
      </p:sp>
      <p:sp>
        <p:nvSpPr>
          <p:cNvPr id="63" name="Text 48"/>
          <p:cNvSpPr/>
          <p:nvPr/>
        </p:nvSpPr>
        <p:spPr>
          <a:xfrm>
            <a:off x="9374030" y="1040130"/>
            <a:ext cx="695801" cy="23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13" b="1" spc="4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13" dirty="0"/>
          </a:p>
        </p:txBody>
      </p:sp>
      <p:sp>
        <p:nvSpPr>
          <p:cNvPr id="64" name="Shape 49"/>
          <p:cNvSpPr/>
          <p:nvPr/>
        </p:nvSpPr>
        <p:spPr>
          <a:xfrm>
            <a:off x="788670" y="127730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5" name="Shape 50"/>
          <p:cNvSpPr/>
          <p:nvPr/>
        </p:nvSpPr>
        <p:spPr>
          <a:xfrm>
            <a:off x="1446371" y="127730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6" name="Shape 51"/>
          <p:cNvSpPr/>
          <p:nvPr/>
        </p:nvSpPr>
        <p:spPr>
          <a:xfrm>
            <a:off x="2104073" y="127730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7" name="Shape 52"/>
          <p:cNvSpPr/>
          <p:nvPr/>
        </p:nvSpPr>
        <p:spPr>
          <a:xfrm>
            <a:off x="2761774" y="127730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8" name="Shape 53"/>
          <p:cNvSpPr/>
          <p:nvPr/>
        </p:nvSpPr>
        <p:spPr>
          <a:xfrm>
            <a:off x="3419475" y="1277303"/>
            <a:ext cx="667345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9" name="Shape 54"/>
          <p:cNvSpPr/>
          <p:nvPr/>
        </p:nvSpPr>
        <p:spPr>
          <a:xfrm>
            <a:off x="4124920" y="127730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0" name="Shape 55"/>
          <p:cNvSpPr/>
          <p:nvPr/>
        </p:nvSpPr>
        <p:spPr>
          <a:xfrm>
            <a:off x="4782622" y="127730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1" name="Shape 56"/>
          <p:cNvSpPr/>
          <p:nvPr/>
        </p:nvSpPr>
        <p:spPr>
          <a:xfrm>
            <a:off x="5440323" y="127730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2" name="Shape 57"/>
          <p:cNvSpPr/>
          <p:nvPr/>
        </p:nvSpPr>
        <p:spPr>
          <a:xfrm>
            <a:off x="6098024" y="127730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3" name="Shape 58"/>
          <p:cNvSpPr/>
          <p:nvPr/>
        </p:nvSpPr>
        <p:spPr>
          <a:xfrm>
            <a:off x="6755726" y="127730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4" name="Shape 59"/>
          <p:cNvSpPr/>
          <p:nvPr/>
        </p:nvSpPr>
        <p:spPr>
          <a:xfrm>
            <a:off x="7413427" y="1277303"/>
            <a:ext cx="645200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5" name="Shape 60"/>
          <p:cNvSpPr/>
          <p:nvPr/>
        </p:nvSpPr>
        <p:spPr>
          <a:xfrm>
            <a:off x="8096727" y="127730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8754428" y="127730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7" name="Shape 62"/>
          <p:cNvSpPr/>
          <p:nvPr/>
        </p:nvSpPr>
        <p:spPr>
          <a:xfrm>
            <a:off x="9412130" y="127730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8" name="Shape 63"/>
          <p:cNvSpPr/>
          <p:nvPr/>
        </p:nvSpPr>
        <p:spPr>
          <a:xfrm>
            <a:off x="788670" y="161639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9" name="Shape 64"/>
          <p:cNvSpPr/>
          <p:nvPr/>
        </p:nvSpPr>
        <p:spPr>
          <a:xfrm>
            <a:off x="1446371" y="161639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0" name="Shape 65"/>
          <p:cNvSpPr/>
          <p:nvPr/>
        </p:nvSpPr>
        <p:spPr>
          <a:xfrm>
            <a:off x="2104073" y="161639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1" name="Shape 66"/>
          <p:cNvSpPr/>
          <p:nvPr/>
        </p:nvSpPr>
        <p:spPr>
          <a:xfrm>
            <a:off x="2761774" y="161639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2" name="Shape 67"/>
          <p:cNvSpPr/>
          <p:nvPr/>
        </p:nvSpPr>
        <p:spPr>
          <a:xfrm>
            <a:off x="3419475" y="1616393"/>
            <a:ext cx="667345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3" name="Shape 68"/>
          <p:cNvSpPr/>
          <p:nvPr/>
        </p:nvSpPr>
        <p:spPr>
          <a:xfrm>
            <a:off x="4124920" y="161639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4" name="Shape 69"/>
          <p:cNvSpPr/>
          <p:nvPr/>
        </p:nvSpPr>
        <p:spPr>
          <a:xfrm>
            <a:off x="4782622" y="161639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5" name="Shape 70"/>
          <p:cNvSpPr/>
          <p:nvPr/>
        </p:nvSpPr>
        <p:spPr>
          <a:xfrm>
            <a:off x="5440323" y="161639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6" name="Shape 71"/>
          <p:cNvSpPr/>
          <p:nvPr/>
        </p:nvSpPr>
        <p:spPr>
          <a:xfrm>
            <a:off x="6098024" y="161639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7" name="Shape 72"/>
          <p:cNvSpPr/>
          <p:nvPr/>
        </p:nvSpPr>
        <p:spPr>
          <a:xfrm>
            <a:off x="6755726" y="161639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8" name="Shape 73"/>
          <p:cNvSpPr/>
          <p:nvPr/>
        </p:nvSpPr>
        <p:spPr>
          <a:xfrm>
            <a:off x="7413427" y="1616393"/>
            <a:ext cx="645200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9" name="Shape 74"/>
          <p:cNvSpPr/>
          <p:nvPr/>
        </p:nvSpPr>
        <p:spPr>
          <a:xfrm>
            <a:off x="8096727" y="161639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0" name="Shape 75"/>
          <p:cNvSpPr/>
          <p:nvPr/>
        </p:nvSpPr>
        <p:spPr>
          <a:xfrm>
            <a:off x="8754428" y="161639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1" name="Shape 76"/>
          <p:cNvSpPr/>
          <p:nvPr/>
        </p:nvSpPr>
        <p:spPr>
          <a:xfrm>
            <a:off x="9412130" y="161639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2" name="Shape 77"/>
          <p:cNvSpPr/>
          <p:nvPr/>
        </p:nvSpPr>
        <p:spPr>
          <a:xfrm>
            <a:off x="788670" y="195548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3" name="Shape 78"/>
          <p:cNvSpPr/>
          <p:nvPr/>
        </p:nvSpPr>
        <p:spPr>
          <a:xfrm>
            <a:off x="1446371" y="195548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4" name="Shape 79"/>
          <p:cNvSpPr/>
          <p:nvPr/>
        </p:nvSpPr>
        <p:spPr>
          <a:xfrm>
            <a:off x="2104073" y="195548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5" name="Shape 80"/>
          <p:cNvSpPr/>
          <p:nvPr/>
        </p:nvSpPr>
        <p:spPr>
          <a:xfrm>
            <a:off x="2761774" y="195548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6" name="Shape 81"/>
          <p:cNvSpPr/>
          <p:nvPr/>
        </p:nvSpPr>
        <p:spPr>
          <a:xfrm>
            <a:off x="3419475" y="1955483"/>
            <a:ext cx="667345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7" name="Shape 82"/>
          <p:cNvSpPr/>
          <p:nvPr/>
        </p:nvSpPr>
        <p:spPr>
          <a:xfrm>
            <a:off x="4124920" y="195548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8" name="Shape 83"/>
          <p:cNvSpPr/>
          <p:nvPr/>
        </p:nvSpPr>
        <p:spPr>
          <a:xfrm>
            <a:off x="4782622" y="195548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9" name="Shape 84"/>
          <p:cNvSpPr/>
          <p:nvPr/>
        </p:nvSpPr>
        <p:spPr>
          <a:xfrm>
            <a:off x="5440323" y="195548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0" name="Shape 85"/>
          <p:cNvSpPr/>
          <p:nvPr/>
        </p:nvSpPr>
        <p:spPr>
          <a:xfrm>
            <a:off x="6098024" y="195548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1" name="Shape 86"/>
          <p:cNvSpPr/>
          <p:nvPr/>
        </p:nvSpPr>
        <p:spPr>
          <a:xfrm>
            <a:off x="6755726" y="195548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2" name="Shape 87"/>
          <p:cNvSpPr/>
          <p:nvPr/>
        </p:nvSpPr>
        <p:spPr>
          <a:xfrm>
            <a:off x="7413427" y="1955483"/>
            <a:ext cx="645200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3" name="Shape 88"/>
          <p:cNvSpPr/>
          <p:nvPr/>
        </p:nvSpPr>
        <p:spPr>
          <a:xfrm>
            <a:off x="8096727" y="195548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4" name="Shape 89"/>
          <p:cNvSpPr/>
          <p:nvPr/>
        </p:nvSpPr>
        <p:spPr>
          <a:xfrm>
            <a:off x="8754428" y="195548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5" name="Shape 90"/>
          <p:cNvSpPr/>
          <p:nvPr/>
        </p:nvSpPr>
        <p:spPr>
          <a:xfrm>
            <a:off x="9412130" y="195548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6" name="Shape 91"/>
          <p:cNvSpPr/>
          <p:nvPr/>
        </p:nvSpPr>
        <p:spPr>
          <a:xfrm>
            <a:off x="788670" y="229457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7" name="Shape 92"/>
          <p:cNvSpPr/>
          <p:nvPr/>
        </p:nvSpPr>
        <p:spPr>
          <a:xfrm>
            <a:off x="1446371" y="229457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8" name="Shape 93"/>
          <p:cNvSpPr/>
          <p:nvPr/>
        </p:nvSpPr>
        <p:spPr>
          <a:xfrm>
            <a:off x="2104073" y="229457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9" name="Shape 94"/>
          <p:cNvSpPr/>
          <p:nvPr/>
        </p:nvSpPr>
        <p:spPr>
          <a:xfrm>
            <a:off x="2761774" y="229457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0" name="Shape 95"/>
          <p:cNvSpPr/>
          <p:nvPr/>
        </p:nvSpPr>
        <p:spPr>
          <a:xfrm>
            <a:off x="3419475" y="2294573"/>
            <a:ext cx="667345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1" name="Shape 96"/>
          <p:cNvSpPr/>
          <p:nvPr/>
        </p:nvSpPr>
        <p:spPr>
          <a:xfrm>
            <a:off x="4124920" y="229457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2" name="Shape 97"/>
          <p:cNvSpPr/>
          <p:nvPr/>
        </p:nvSpPr>
        <p:spPr>
          <a:xfrm>
            <a:off x="4782622" y="229457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3" name="Shape 98"/>
          <p:cNvSpPr/>
          <p:nvPr/>
        </p:nvSpPr>
        <p:spPr>
          <a:xfrm>
            <a:off x="5440323" y="229457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4" name="Shape 99"/>
          <p:cNvSpPr/>
          <p:nvPr/>
        </p:nvSpPr>
        <p:spPr>
          <a:xfrm>
            <a:off x="6098024" y="229457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5" name="Shape 100"/>
          <p:cNvSpPr/>
          <p:nvPr/>
        </p:nvSpPr>
        <p:spPr>
          <a:xfrm>
            <a:off x="6755726" y="229457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6" name="Shape 101"/>
          <p:cNvSpPr/>
          <p:nvPr/>
        </p:nvSpPr>
        <p:spPr>
          <a:xfrm>
            <a:off x="7413427" y="2294573"/>
            <a:ext cx="645200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7" name="Shape 102"/>
          <p:cNvSpPr/>
          <p:nvPr/>
        </p:nvSpPr>
        <p:spPr>
          <a:xfrm>
            <a:off x="8096727" y="229457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8" name="Shape 103"/>
          <p:cNvSpPr/>
          <p:nvPr/>
        </p:nvSpPr>
        <p:spPr>
          <a:xfrm>
            <a:off x="8754428" y="229457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9" name="Shape 104"/>
          <p:cNvSpPr/>
          <p:nvPr/>
        </p:nvSpPr>
        <p:spPr>
          <a:xfrm>
            <a:off x="9412130" y="229457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0" name="Shape 105"/>
          <p:cNvSpPr/>
          <p:nvPr/>
        </p:nvSpPr>
        <p:spPr>
          <a:xfrm>
            <a:off x="788670" y="263366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1" name="Shape 106"/>
          <p:cNvSpPr/>
          <p:nvPr/>
        </p:nvSpPr>
        <p:spPr>
          <a:xfrm>
            <a:off x="1446371" y="263366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2" name="Shape 107"/>
          <p:cNvSpPr/>
          <p:nvPr/>
        </p:nvSpPr>
        <p:spPr>
          <a:xfrm>
            <a:off x="2104073" y="263366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3" name="Shape 108"/>
          <p:cNvSpPr/>
          <p:nvPr/>
        </p:nvSpPr>
        <p:spPr>
          <a:xfrm>
            <a:off x="2761774" y="263366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4" name="Shape 109"/>
          <p:cNvSpPr/>
          <p:nvPr/>
        </p:nvSpPr>
        <p:spPr>
          <a:xfrm>
            <a:off x="3419475" y="2633663"/>
            <a:ext cx="667345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5" name="Shape 110"/>
          <p:cNvSpPr/>
          <p:nvPr/>
        </p:nvSpPr>
        <p:spPr>
          <a:xfrm>
            <a:off x="4124920" y="263366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6" name="Shape 111"/>
          <p:cNvSpPr/>
          <p:nvPr/>
        </p:nvSpPr>
        <p:spPr>
          <a:xfrm>
            <a:off x="4782622" y="263366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7" name="Shape 112"/>
          <p:cNvSpPr/>
          <p:nvPr/>
        </p:nvSpPr>
        <p:spPr>
          <a:xfrm>
            <a:off x="5440323" y="263366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8" name="Shape 113"/>
          <p:cNvSpPr/>
          <p:nvPr/>
        </p:nvSpPr>
        <p:spPr>
          <a:xfrm>
            <a:off x="6098024" y="263366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9" name="Shape 114"/>
          <p:cNvSpPr/>
          <p:nvPr/>
        </p:nvSpPr>
        <p:spPr>
          <a:xfrm>
            <a:off x="6755726" y="263366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0" name="Shape 115"/>
          <p:cNvSpPr/>
          <p:nvPr/>
        </p:nvSpPr>
        <p:spPr>
          <a:xfrm>
            <a:off x="7413427" y="2633663"/>
            <a:ext cx="645200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1" name="Shape 116"/>
          <p:cNvSpPr/>
          <p:nvPr/>
        </p:nvSpPr>
        <p:spPr>
          <a:xfrm>
            <a:off x="8096727" y="263366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2" name="Shape 117"/>
          <p:cNvSpPr/>
          <p:nvPr/>
        </p:nvSpPr>
        <p:spPr>
          <a:xfrm>
            <a:off x="8754428" y="263366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3" name="Shape 118"/>
          <p:cNvSpPr/>
          <p:nvPr/>
        </p:nvSpPr>
        <p:spPr>
          <a:xfrm>
            <a:off x="9412130" y="263366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4" name="Shape 119"/>
          <p:cNvSpPr/>
          <p:nvPr/>
        </p:nvSpPr>
        <p:spPr>
          <a:xfrm>
            <a:off x="788670" y="2972752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5" name="Shape 120"/>
          <p:cNvSpPr/>
          <p:nvPr/>
        </p:nvSpPr>
        <p:spPr>
          <a:xfrm>
            <a:off x="1446371" y="2972752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6" name="Shape 121"/>
          <p:cNvSpPr/>
          <p:nvPr/>
        </p:nvSpPr>
        <p:spPr>
          <a:xfrm>
            <a:off x="2104073" y="2972752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7" name="Shape 122"/>
          <p:cNvSpPr/>
          <p:nvPr/>
        </p:nvSpPr>
        <p:spPr>
          <a:xfrm>
            <a:off x="2761774" y="2972752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8" name="Shape 123"/>
          <p:cNvSpPr/>
          <p:nvPr/>
        </p:nvSpPr>
        <p:spPr>
          <a:xfrm>
            <a:off x="3419475" y="2972752"/>
            <a:ext cx="667345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9" name="Shape 124"/>
          <p:cNvSpPr/>
          <p:nvPr/>
        </p:nvSpPr>
        <p:spPr>
          <a:xfrm>
            <a:off x="4124920" y="2972752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0" name="Shape 125"/>
          <p:cNvSpPr/>
          <p:nvPr/>
        </p:nvSpPr>
        <p:spPr>
          <a:xfrm>
            <a:off x="4782622" y="2972752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1" name="Shape 126"/>
          <p:cNvSpPr/>
          <p:nvPr/>
        </p:nvSpPr>
        <p:spPr>
          <a:xfrm>
            <a:off x="5440323" y="2972752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2" name="Shape 127"/>
          <p:cNvSpPr/>
          <p:nvPr/>
        </p:nvSpPr>
        <p:spPr>
          <a:xfrm>
            <a:off x="6098024" y="2972752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3" name="Shape 128"/>
          <p:cNvSpPr/>
          <p:nvPr/>
        </p:nvSpPr>
        <p:spPr>
          <a:xfrm>
            <a:off x="6755726" y="2972752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4" name="Shape 129"/>
          <p:cNvSpPr/>
          <p:nvPr/>
        </p:nvSpPr>
        <p:spPr>
          <a:xfrm>
            <a:off x="7413427" y="2972752"/>
            <a:ext cx="645200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5" name="Shape 130"/>
          <p:cNvSpPr/>
          <p:nvPr/>
        </p:nvSpPr>
        <p:spPr>
          <a:xfrm>
            <a:off x="8096727" y="2972752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6" name="Shape 131"/>
          <p:cNvSpPr/>
          <p:nvPr/>
        </p:nvSpPr>
        <p:spPr>
          <a:xfrm>
            <a:off x="8754428" y="2972752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7" name="Shape 132"/>
          <p:cNvSpPr/>
          <p:nvPr/>
        </p:nvSpPr>
        <p:spPr>
          <a:xfrm>
            <a:off x="9412130" y="2972752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8" name="Shape 133"/>
          <p:cNvSpPr/>
          <p:nvPr/>
        </p:nvSpPr>
        <p:spPr>
          <a:xfrm>
            <a:off x="788670" y="331184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9" name="Shape 134"/>
          <p:cNvSpPr/>
          <p:nvPr/>
        </p:nvSpPr>
        <p:spPr>
          <a:xfrm>
            <a:off x="1446371" y="331184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" name="Shape 135"/>
          <p:cNvSpPr/>
          <p:nvPr/>
        </p:nvSpPr>
        <p:spPr>
          <a:xfrm>
            <a:off x="2104073" y="331184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" name="Shape 136"/>
          <p:cNvSpPr/>
          <p:nvPr/>
        </p:nvSpPr>
        <p:spPr>
          <a:xfrm>
            <a:off x="2761774" y="331184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2" name="Shape 137"/>
          <p:cNvSpPr/>
          <p:nvPr/>
        </p:nvSpPr>
        <p:spPr>
          <a:xfrm>
            <a:off x="3419475" y="3311843"/>
            <a:ext cx="667345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3" name="Shape 138"/>
          <p:cNvSpPr/>
          <p:nvPr/>
        </p:nvSpPr>
        <p:spPr>
          <a:xfrm>
            <a:off x="4124920" y="331184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4" name="Shape 139"/>
          <p:cNvSpPr/>
          <p:nvPr/>
        </p:nvSpPr>
        <p:spPr>
          <a:xfrm>
            <a:off x="4782622" y="331184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5" name="Shape 140"/>
          <p:cNvSpPr/>
          <p:nvPr/>
        </p:nvSpPr>
        <p:spPr>
          <a:xfrm>
            <a:off x="5440323" y="331184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6" name="Shape 141"/>
          <p:cNvSpPr/>
          <p:nvPr/>
        </p:nvSpPr>
        <p:spPr>
          <a:xfrm>
            <a:off x="6098024" y="331184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1F5F9"/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7" name="Shape 142"/>
          <p:cNvSpPr/>
          <p:nvPr/>
        </p:nvSpPr>
        <p:spPr>
          <a:xfrm>
            <a:off x="6755726" y="331184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10B981">
              <a:alpha val="5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8" name="Shape 143"/>
          <p:cNvSpPr/>
          <p:nvPr/>
        </p:nvSpPr>
        <p:spPr>
          <a:xfrm>
            <a:off x="7413427" y="3311843"/>
            <a:ext cx="645200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9" name="Shape 144"/>
          <p:cNvSpPr/>
          <p:nvPr/>
        </p:nvSpPr>
        <p:spPr>
          <a:xfrm>
            <a:off x="8096727" y="331184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F59E0B">
              <a:alpha val="50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0" name="Shape 145"/>
          <p:cNvSpPr/>
          <p:nvPr/>
        </p:nvSpPr>
        <p:spPr>
          <a:xfrm>
            <a:off x="8754428" y="331184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1" name="Shape 146"/>
          <p:cNvSpPr/>
          <p:nvPr/>
        </p:nvSpPr>
        <p:spPr>
          <a:xfrm>
            <a:off x="9412130" y="3311843"/>
            <a:ext cx="619601" cy="300990"/>
          </a:xfrm>
          <a:prstGeom prst="roundRect">
            <a:avLst>
              <a:gd name="adj" fmla="val 9494"/>
            </a:avLst>
          </a:prstGeom>
          <a:solidFill>
            <a:srgbClr val="EF4444">
              <a:alpha val="45000"/>
            </a:srgbClr>
          </a:solidFill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2" name="Text 147"/>
          <p:cNvSpPr/>
          <p:nvPr/>
        </p:nvSpPr>
        <p:spPr>
          <a:xfrm>
            <a:off x="788670" y="3708083"/>
            <a:ext cx="4549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·</a:t>
            </a:r>
            <a:endParaRPr lang="en-US" sz="825" dirty="0"/>
          </a:p>
        </p:txBody>
      </p:sp>
      <p:sp>
        <p:nvSpPr>
          <p:cNvPr id="163" name="Shape 148"/>
          <p:cNvSpPr/>
          <p:nvPr/>
        </p:nvSpPr>
        <p:spPr>
          <a:xfrm>
            <a:off x="1224558" y="3724275"/>
            <a:ext cx="133350" cy="114300"/>
          </a:xfrm>
          <a:prstGeom prst="rect">
            <a:avLst/>
          </a:prstGeom>
          <a:solidFill>
            <a:srgbClr val="10B981">
              <a:alpha val="55000"/>
            </a:srgbClr>
          </a:solidFill>
          <a:ln/>
        </p:spPr>
      </p:sp>
      <p:sp>
        <p:nvSpPr>
          <p:cNvPr id="164" name="Text 149"/>
          <p:cNvSpPr/>
          <p:nvPr/>
        </p:nvSpPr>
        <p:spPr>
          <a:xfrm>
            <a:off x="1396008" y="3708083"/>
            <a:ext cx="36742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825" dirty="0"/>
          </a:p>
        </p:txBody>
      </p:sp>
      <p:sp>
        <p:nvSpPr>
          <p:cNvPr id="165" name="Shape 150"/>
          <p:cNvSpPr/>
          <p:nvPr/>
        </p:nvSpPr>
        <p:spPr>
          <a:xfrm>
            <a:off x="1744385" y="3724275"/>
            <a:ext cx="133350" cy="114300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166" name="Text 151"/>
          <p:cNvSpPr/>
          <p:nvPr/>
        </p:nvSpPr>
        <p:spPr>
          <a:xfrm>
            <a:off x="1915835" y="3708083"/>
            <a:ext cx="36159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25" dirty="0"/>
          </a:p>
        </p:txBody>
      </p:sp>
      <p:sp>
        <p:nvSpPr>
          <p:cNvPr id="167" name="Shape 152"/>
          <p:cNvSpPr/>
          <p:nvPr/>
        </p:nvSpPr>
        <p:spPr>
          <a:xfrm>
            <a:off x="2258377" y="3724275"/>
            <a:ext cx="133350" cy="114300"/>
          </a:xfrm>
          <a:prstGeom prst="rect">
            <a:avLst/>
          </a:prstGeom>
          <a:solidFill>
            <a:srgbClr val="EF4444">
              <a:alpha val="45000"/>
            </a:srgbClr>
          </a:solidFill>
          <a:ln/>
        </p:spPr>
      </p:sp>
      <p:sp>
        <p:nvSpPr>
          <p:cNvPr id="168" name="Text 153"/>
          <p:cNvSpPr/>
          <p:nvPr/>
        </p:nvSpPr>
        <p:spPr>
          <a:xfrm>
            <a:off x="2429827" y="3708083"/>
            <a:ext cx="32087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825" dirty="0"/>
          </a:p>
        </p:txBody>
      </p:sp>
      <p:sp>
        <p:nvSpPr>
          <p:cNvPr id="169" name="Shape 154"/>
          <p:cNvSpPr/>
          <p:nvPr/>
        </p:nvSpPr>
        <p:spPr>
          <a:xfrm>
            <a:off x="2731651" y="3724275"/>
            <a:ext cx="133350" cy="1143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0" name="Text 155"/>
          <p:cNvSpPr/>
          <p:nvPr/>
        </p:nvSpPr>
        <p:spPr>
          <a:xfrm>
            <a:off x="2903101" y="3708083"/>
            <a:ext cx="30932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825" dirty="0"/>
          </a:p>
        </p:txBody>
      </p:sp>
      <p:sp>
        <p:nvSpPr>
          <p:cNvPr id="171" name="Shape 156"/>
          <p:cNvSpPr/>
          <p:nvPr/>
        </p:nvSpPr>
        <p:spPr>
          <a:xfrm>
            <a:off x="666750" y="5177790"/>
            <a:ext cx="4705350" cy="135636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72" name="Text 157"/>
          <p:cNvSpPr/>
          <p:nvPr/>
        </p:nvSpPr>
        <p:spPr>
          <a:xfrm>
            <a:off x="788670" y="5280660"/>
            <a:ext cx="459535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gaps · biggest blast radius if exploited</a:t>
            </a:r>
            <a:endParaRPr lang="en-US" sz="900" dirty="0"/>
          </a:p>
        </p:txBody>
      </p:sp>
      <p:sp>
        <p:nvSpPr>
          <p:cNvPr id="173" name="Shape 158"/>
          <p:cNvSpPr/>
          <p:nvPr/>
        </p:nvSpPr>
        <p:spPr>
          <a:xfrm>
            <a:off x="788670" y="5516881"/>
            <a:ext cx="443270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74" name="Shape 159"/>
          <p:cNvSpPr/>
          <p:nvPr/>
        </p:nvSpPr>
        <p:spPr>
          <a:xfrm>
            <a:off x="862965" y="5588318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75" name="Text 160"/>
          <p:cNvSpPr/>
          <p:nvPr/>
        </p:nvSpPr>
        <p:spPr>
          <a:xfrm>
            <a:off x="958215" y="5543550"/>
            <a:ext cx="27563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25" dirty="0"/>
          </a:p>
        </p:txBody>
      </p:sp>
      <p:sp>
        <p:nvSpPr>
          <p:cNvPr id="176" name="Text 161"/>
          <p:cNvSpPr/>
          <p:nvPr/>
        </p:nvSpPr>
        <p:spPr>
          <a:xfrm>
            <a:off x="1289090" y="5536883"/>
            <a:ext cx="230409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Evasion · T1562 (Impair Defenses)</a:t>
            </a:r>
            <a:endParaRPr lang="en-US" sz="900" dirty="0"/>
          </a:p>
        </p:txBody>
      </p:sp>
      <p:sp>
        <p:nvSpPr>
          <p:cNvPr id="177" name="Shape 162"/>
          <p:cNvSpPr/>
          <p:nvPr/>
        </p:nvSpPr>
        <p:spPr>
          <a:xfrm>
            <a:off x="788670" y="5774056"/>
            <a:ext cx="443270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78" name="Shape 163"/>
          <p:cNvSpPr/>
          <p:nvPr/>
        </p:nvSpPr>
        <p:spPr>
          <a:xfrm>
            <a:off x="862965" y="5845493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79" name="Text 164"/>
          <p:cNvSpPr/>
          <p:nvPr/>
        </p:nvSpPr>
        <p:spPr>
          <a:xfrm>
            <a:off x="958215" y="5800725"/>
            <a:ext cx="27563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25" dirty="0"/>
          </a:p>
        </p:txBody>
      </p:sp>
      <p:sp>
        <p:nvSpPr>
          <p:cNvPr id="180" name="Text 165"/>
          <p:cNvSpPr/>
          <p:nvPr/>
        </p:nvSpPr>
        <p:spPr>
          <a:xfrm>
            <a:off x="1289090" y="5794058"/>
            <a:ext cx="220253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· T1213.003 (code repositories)</a:t>
            </a:r>
            <a:endParaRPr lang="en-US" sz="900" dirty="0"/>
          </a:p>
        </p:txBody>
      </p:sp>
      <p:sp>
        <p:nvSpPr>
          <p:cNvPr id="181" name="Shape 166"/>
          <p:cNvSpPr/>
          <p:nvPr/>
        </p:nvSpPr>
        <p:spPr>
          <a:xfrm>
            <a:off x="788670" y="6031231"/>
            <a:ext cx="511612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82" name="Shape 167"/>
          <p:cNvSpPr/>
          <p:nvPr/>
        </p:nvSpPr>
        <p:spPr>
          <a:xfrm>
            <a:off x="862965" y="610266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83" name="Text 168"/>
          <p:cNvSpPr/>
          <p:nvPr/>
        </p:nvSpPr>
        <p:spPr>
          <a:xfrm>
            <a:off x="958215" y="6057900"/>
            <a:ext cx="34397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825" dirty="0"/>
          </a:p>
        </p:txBody>
      </p:sp>
      <p:sp>
        <p:nvSpPr>
          <p:cNvPr id="184" name="Text 169"/>
          <p:cNvSpPr/>
          <p:nvPr/>
        </p:nvSpPr>
        <p:spPr>
          <a:xfrm>
            <a:off x="1357432" y="6051233"/>
            <a:ext cx="202430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· T1087 (account discovery)</a:t>
            </a:r>
            <a:endParaRPr lang="en-US" sz="900" dirty="0"/>
          </a:p>
        </p:txBody>
      </p:sp>
      <p:sp>
        <p:nvSpPr>
          <p:cNvPr id="185" name="Shape 170"/>
          <p:cNvSpPr/>
          <p:nvPr/>
        </p:nvSpPr>
        <p:spPr>
          <a:xfrm>
            <a:off x="788670" y="6231256"/>
            <a:ext cx="1159788" cy="200025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86" name="Text 171"/>
          <p:cNvSpPr/>
          <p:nvPr/>
        </p:nvSpPr>
        <p:spPr>
          <a:xfrm>
            <a:off x="862965" y="6257925"/>
            <a:ext cx="108739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3 detections →</a:t>
            </a:r>
            <a:endParaRPr lang="en-US" sz="825" dirty="0"/>
          </a:p>
        </p:txBody>
      </p:sp>
      <p:sp>
        <p:nvSpPr>
          <p:cNvPr id="187" name="Shape 172"/>
          <p:cNvSpPr/>
          <p:nvPr/>
        </p:nvSpPr>
        <p:spPr>
          <a:xfrm>
            <a:off x="5448300" y="5177790"/>
            <a:ext cx="4705350" cy="135636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88" name="Text 173"/>
          <p:cNvSpPr/>
          <p:nvPr/>
        </p:nvSpPr>
        <p:spPr>
          <a:xfrm>
            <a:off x="5570220" y="5280660"/>
            <a:ext cx="459535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· Initial Access · T1566</a:t>
            </a:r>
            <a:endParaRPr lang="en-US" sz="900" dirty="0"/>
          </a:p>
        </p:txBody>
      </p:sp>
      <p:sp>
        <p:nvSpPr>
          <p:cNvPr id="189" name="Shape 174"/>
          <p:cNvSpPr/>
          <p:nvPr/>
        </p:nvSpPr>
        <p:spPr>
          <a:xfrm>
            <a:off x="5570220" y="5516881"/>
            <a:ext cx="1220034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90" name="Shape 175"/>
          <p:cNvSpPr/>
          <p:nvPr/>
        </p:nvSpPr>
        <p:spPr>
          <a:xfrm>
            <a:off x="5644515" y="558831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91" name="Text 176"/>
          <p:cNvSpPr/>
          <p:nvPr/>
        </p:nvSpPr>
        <p:spPr>
          <a:xfrm>
            <a:off x="5739765" y="5543550"/>
            <a:ext cx="105239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active detections</a:t>
            </a:r>
            <a:endParaRPr lang="en-US" sz="825" dirty="0"/>
          </a:p>
        </p:txBody>
      </p:sp>
      <p:sp>
        <p:nvSpPr>
          <p:cNvPr id="192" name="Shape 177"/>
          <p:cNvSpPr/>
          <p:nvPr/>
        </p:nvSpPr>
        <p:spPr>
          <a:xfrm>
            <a:off x="6847404" y="5516881"/>
            <a:ext cx="1203960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93" name="Shape 178"/>
          <p:cNvSpPr/>
          <p:nvPr/>
        </p:nvSpPr>
        <p:spPr>
          <a:xfrm>
            <a:off x="6921698" y="558831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94" name="Text 179"/>
          <p:cNvSpPr/>
          <p:nvPr/>
        </p:nvSpPr>
        <p:spPr>
          <a:xfrm>
            <a:off x="7016948" y="5543550"/>
            <a:ext cx="103632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enforced policies</a:t>
            </a:r>
            <a:endParaRPr lang="en-US" sz="825" dirty="0"/>
          </a:p>
        </p:txBody>
      </p:sp>
      <p:sp>
        <p:nvSpPr>
          <p:cNvPr id="195" name="Shape 180"/>
          <p:cNvSpPr/>
          <p:nvPr/>
        </p:nvSpPr>
        <p:spPr>
          <a:xfrm>
            <a:off x="8108513" y="5516881"/>
            <a:ext cx="98917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6" name="Shape 181"/>
          <p:cNvSpPr/>
          <p:nvPr/>
        </p:nvSpPr>
        <p:spPr>
          <a:xfrm>
            <a:off x="8182809" y="558831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97" name="Text 182"/>
          <p:cNvSpPr/>
          <p:nvPr/>
        </p:nvSpPr>
        <p:spPr>
          <a:xfrm>
            <a:off x="8278060" y="5543550"/>
            <a:ext cx="82153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fired · 13:14</a:t>
            </a:r>
            <a:endParaRPr lang="en-US" sz="825" dirty="0"/>
          </a:p>
        </p:txBody>
      </p:sp>
      <p:sp>
        <p:nvSpPr>
          <p:cNvPr id="198" name="Text 183"/>
          <p:cNvSpPr/>
          <p:nvPr/>
        </p:nvSpPr>
        <p:spPr>
          <a:xfrm>
            <a:off x="5570220" y="5774056"/>
            <a:ext cx="4595355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cell on the matrix to see detections covering it, gaps, and one-click "draft a detection".</a:t>
            </a:r>
            <a:endParaRPr lang="en-US" sz="863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91441" y="19621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34743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hunt console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033232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141220" y="144780"/>
            <a:ext cx="18170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hypothesis-driven · agent-assisted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4034433" y="74295"/>
            <a:ext cx="3456504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37303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308753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6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1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0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0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1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8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228707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 by goal · not by query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5386269" y="616268"/>
            <a:ext cx="145625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5460564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0" name="Text 25"/>
          <p:cNvSpPr/>
          <p:nvPr/>
        </p:nvSpPr>
        <p:spPr>
          <a:xfrm>
            <a:off x="5555814" y="642938"/>
            <a:ext cx="128861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· phish-fatigue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6899672" y="616268"/>
            <a:ext cx="116752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6973967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3" name="Text 28"/>
          <p:cNvSpPr/>
          <p:nvPr/>
        </p:nvSpPr>
        <p:spPr>
          <a:xfrm>
            <a:off x="7069217" y="642938"/>
            <a:ext cx="99988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· DGA C2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8124348" y="616268"/>
            <a:ext cx="1271588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8198644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6" name="Text 31"/>
          <p:cNvSpPr/>
          <p:nvPr/>
        </p:nvSpPr>
        <p:spPr>
          <a:xfrm>
            <a:off x="8293894" y="642938"/>
            <a:ext cx="110394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· IDP abuse</a:t>
            </a:r>
            <a:endParaRPr lang="en-US" sz="825" dirty="0"/>
          </a:p>
        </p:txBody>
      </p:sp>
      <p:sp>
        <p:nvSpPr>
          <p:cNvPr id="47" name="Shape 32"/>
          <p:cNvSpPr/>
          <p:nvPr/>
        </p:nvSpPr>
        <p:spPr>
          <a:xfrm>
            <a:off x="9453086" y="590550"/>
            <a:ext cx="700564" cy="25146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8" name="Text 33"/>
          <p:cNvSpPr/>
          <p:nvPr/>
        </p:nvSpPr>
        <p:spPr>
          <a:xfrm>
            <a:off x="9555956" y="636270"/>
            <a:ext cx="57102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hunt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666750" y="937260"/>
            <a:ext cx="9486900" cy="140208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8670" y="1058228"/>
            <a:ext cx="123825" cy="123825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960120" y="1047750"/>
            <a:ext cx="34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00" dirty="0"/>
          </a:p>
        </p:txBody>
      </p:sp>
      <p:sp>
        <p:nvSpPr>
          <p:cNvPr id="52" name="Shape 36"/>
          <p:cNvSpPr/>
          <p:nvPr/>
        </p:nvSpPr>
        <p:spPr>
          <a:xfrm>
            <a:off x="788670" y="1276350"/>
            <a:ext cx="9243060" cy="632460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3" name="Text 37"/>
          <p:cNvSpPr/>
          <p:nvPr/>
        </p:nvSpPr>
        <p:spPr>
          <a:xfrm>
            <a:off x="891541" y="1386840"/>
            <a:ext cx="906219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"find users where an attacker may have persisted via OAuth grants after a recovered phish. window = 30 days. include AI-agent identities."</a:t>
            </a:r>
            <a:endParaRPr lang="en-US" sz="1200" dirty="0"/>
          </a:p>
        </p:txBody>
      </p:sp>
      <p:sp>
        <p:nvSpPr>
          <p:cNvPr id="54" name="Shape 38"/>
          <p:cNvSpPr/>
          <p:nvPr/>
        </p:nvSpPr>
        <p:spPr>
          <a:xfrm>
            <a:off x="2165986" y="1600200"/>
            <a:ext cx="93464" cy="190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5" name="Text 39"/>
          <p:cNvSpPr/>
          <p:nvPr/>
        </p:nvSpPr>
        <p:spPr>
          <a:xfrm>
            <a:off x="2185036" y="1600200"/>
            <a:ext cx="13156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200" dirty="0"/>
          </a:p>
        </p:txBody>
      </p:sp>
      <p:sp>
        <p:nvSpPr>
          <p:cNvPr id="56" name="Shape 40"/>
          <p:cNvSpPr/>
          <p:nvPr/>
        </p:nvSpPr>
        <p:spPr>
          <a:xfrm>
            <a:off x="788670" y="2010727"/>
            <a:ext cx="86106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57" name="Shape 41"/>
          <p:cNvSpPr/>
          <p:nvPr/>
        </p:nvSpPr>
        <p:spPr>
          <a:xfrm>
            <a:off x="862966" y="2082165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8" name="Text 42"/>
          <p:cNvSpPr/>
          <p:nvPr/>
        </p:nvSpPr>
        <p:spPr>
          <a:xfrm>
            <a:off x="958216" y="2037398"/>
            <a:ext cx="69342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· 30 d</a:t>
            </a:r>
            <a:endParaRPr lang="en-US" sz="825" dirty="0"/>
          </a:p>
        </p:txBody>
      </p:sp>
      <p:sp>
        <p:nvSpPr>
          <p:cNvPr id="59" name="Shape 43"/>
          <p:cNvSpPr/>
          <p:nvPr/>
        </p:nvSpPr>
        <p:spPr>
          <a:xfrm>
            <a:off x="1706880" y="2010727"/>
            <a:ext cx="1811536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60" name="Shape 44"/>
          <p:cNvSpPr/>
          <p:nvPr/>
        </p:nvSpPr>
        <p:spPr>
          <a:xfrm>
            <a:off x="1781175" y="2082165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61" name="Text 45"/>
          <p:cNvSpPr/>
          <p:nvPr/>
        </p:nvSpPr>
        <p:spPr>
          <a:xfrm>
            <a:off x="1876425" y="2037398"/>
            <a:ext cx="164389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· Okta + O365 + GitHub</a:t>
            </a:r>
            <a:endParaRPr lang="en-US" sz="825" dirty="0"/>
          </a:p>
        </p:txBody>
      </p:sp>
      <p:sp>
        <p:nvSpPr>
          <p:cNvPr id="62" name="Shape 46"/>
          <p:cNvSpPr/>
          <p:nvPr/>
        </p:nvSpPr>
        <p:spPr>
          <a:xfrm>
            <a:off x="3575565" y="2010727"/>
            <a:ext cx="1150025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63" name="Shape 47"/>
          <p:cNvSpPr/>
          <p:nvPr/>
        </p:nvSpPr>
        <p:spPr>
          <a:xfrm>
            <a:off x="3649861" y="2082165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64" name="Text 48"/>
          <p:cNvSpPr/>
          <p:nvPr/>
        </p:nvSpPr>
        <p:spPr>
          <a:xfrm>
            <a:off x="3745111" y="2037398"/>
            <a:ext cx="98238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AI agents</a:t>
            </a:r>
            <a:endParaRPr lang="en-US" sz="825" dirty="0"/>
          </a:p>
        </p:txBody>
      </p:sp>
      <p:sp>
        <p:nvSpPr>
          <p:cNvPr id="65" name="Shape 49"/>
          <p:cNvSpPr/>
          <p:nvPr/>
        </p:nvSpPr>
        <p:spPr>
          <a:xfrm>
            <a:off x="8293894" y="1985010"/>
            <a:ext cx="642342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6" name="Text 50"/>
          <p:cNvSpPr/>
          <p:nvPr/>
        </p:nvSpPr>
        <p:spPr>
          <a:xfrm>
            <a:off x="8396764" y="2030731"/>
            <a:ext cx="51280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hunt</a:t>
            </a:r>
            <a:endParaRPr lang="en-US" sz="900" dirty="0"/>
          </a:p>
        </p:txBody>
      </p:sp>
      <p:sp>
        <p:nvSpPr>
          <p:cNvPr id="67" name="Shape 51"/>
          <p:cNvSpPr/>
          <p:nvPr/>
        </p:nvSpPr>
        <p:spPr>
          <a:xfrm>
            <a:off x="8993386" y="1985010"/>
            <a:ext cx="1038344" cy="251460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68" name="Text 52"/>
          <p:cNvSpPr/>
          <p:nvPr/>
        </p:nvSpPr>
        <p:spPr>
          <a:xfrm>
            <a:off x="9096256" y="2030731"/>
            <a:ext cx="90880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· schedule</a:t>
            </a:r>
            <a:endParaRPr lang="en-US" sz="900" dirty="0"/>
          </a:p>
        </p:txBody>
      </p:sp>
      <p:sp>
        <p:nvSpPr>
          <p:cNvPr id="69" name="Shape 53"/>
          <p:cNvSpPr/>
          <p:nvPr/>
        </p:nvSpPr>
        <p:spPr>
          <a:xfrm>
            <a:off x="666750" y="2434590"/>
            <a:ext cx="6705600" cy="4099560"/>
          </a:xfrm>
          <a:prstGeom prst="roundRect">
            <a:avLst>
              <a:gd name="adj" fmla="val 185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0" name="Text 54"/>
          <p:cNvSpPr/>
          <p:nvPr/>
        </p:nvSpPr>
        <p:spPr>
          <a:xfrm>
            <a:off x="788670" y="2545081"/>
            <a:ext cx="1235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· 6 candidates</a:t>
            </a:r>
            <a:endParaRPr lang="en-US" sz="900" dirty="0"/>
          </a:p>
        </p:txBody>
      </p:sp>
      <p:sp>
        <p:nvSpPr>
          <p:cNvPr id="71" name="Text 55"/>
          <p:cNvSpPr/>
          <p:nvPr/>
        </p:nvSpPr>
        <p:spPr>
          <a:xfrm>
            <a:off x="6964919" y="2544127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high</a:t>
            </a:r>
            <a:endParaRPr lang="en-US" sz="825" dirty="0"/>
          </a:p>
        </p:txBody>
      </p:sp>
      <p:sp>
        <p:nvSpPr>
          <p:cNvPr id="72" name="Shape 56"/>
          <p:cNvSpPr/>
          <p:nvPr/>
        </p:nvSpPr>
        <p:spPr>
          <a:xfrm>
            <a:off x="788670" y="2773681"/>
            <a:ext cx="562094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3" name="Shape 57"/>
          <p:cNvSpPr/>
          <p:nvPr/>
        </p:nvSpPr>
        <p:spPr>
          <a:xfrm>
            <a:off x="788670" y="3011806"/>
            <a:ext cx="562094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58"/>
          <p:cNvSpPr/>
          <p:nvPr/>
        </p:nvSpPr>
        <p:spPr>
          <a:xfrm>
            <a:off x="864870" y="2821306"/>
            <a:ext cx="48589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</a:t>
            </a:r>
            <a:endParaRPr lang="en-US" sz="825" dirty="0"/>
          </a:p>
        </p:txBody>
      </p:sp>
      <p:sp>
        <p:nvSpPr>
          <p:cNvPr id="75" name="Shape 59"/>
          <p:cNvSpPr/>
          <p:nvPr/>
        </p:nvSpPr>
        <p:spPr>
          <a:xfrm>
            <a:off x="1350764" y="2773681"/>
            <a:ext cx="1152168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6" name="Shape 60"/>
          <p:cNvSpPr/>
          <p:nvPr/>
        </p:nvSpPr>
        <p:spPr>
          <a:xfrm>
            <a:off x="1350764" y="3011806"/>
            <a:ext cx="1152168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7" name="Text 61"/>
          <p:cNvSpPr/>
          <p:nvPr/>
        </p:nvSpPr>
        <p:spPr>
          <a:xfrm>
            <a:off x="1426964" y="2821306"/>
            <a:ext cx="10759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AGENT</a:t>
            </a:r>
            <a:endParaRPr lang="en-US" sz="825" dirty="0"/>
          </a:p>
        </p:txBody>
      </p:sp>
      <p:sp>
        <p:nvSpPr>
          <p:cNvPr id="78" name="Shape 62"/>
          <p:cNvSpPr/>
          <p:nvPr/>
        </p:nvSpPr>
        <p:spPr>
          <a:xfrm>
            <a:off x="2502933" y="2773681"/>
            <a:ext cx="2705100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9" name="Shape 63"/>
          <p:cNvSpPr/>
          <p:nvPr/>
        </p:nvSpPr>
        <p:spPr>
          <a:xfrm>
            <a:off x="2502933" y="3011806"/>
            <a:ext cx="27051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64"/>
          <p:cNvSpPr/>
          <p:nvPr/>
        </p:nvSpPr>
        <p:spPr>
          <a:xfrm>
            <a:off x="2579133" y="2821306"/>
            <a:ext cx="26338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825" dirty="0"/>
          </a:p>
        </p:txBody>
      </p:sp>
      <p:sp>
        <p:nvSpPr>
          <p:cNvPr id="81" name="Shape 65"/>
          <p:cNvSpPr/>
          <p:nvPr/>
        </p:nvSpPr>
        <p:spPr>
          <a:xfrm>
            <a:off x="5208033" y="2773681"/>
            <a:ext cx="1456492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2" name="Shape 66"/>
          <p:cNvSpPr/>
          <p:nvPr/>
        </p:nvSpPr>
        <p:spPr>
          <a:xfrm>
            <a:off x="5208033" y="3011806"/>
            <a:ext cx="1456492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3" name="Text 67"/>
          <p:cNvSpPr/>
          <p:nvPr/>
        </p:nvSpPr>
        <p:spPr>
          <a:xfrm>
            <a:off x="5284233" y="2821306"/>
            <a:ext cx="138029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825" dirty="0"/>
          </a:p>
        </p:txBody>
      </p:sp>
      <p:sp>
        <p:nvSpPr>
          <p:cNvPr id="84" name="Shape 68"/>
          <p:cNvSpPr/>
          <p:nvPr/>
        </p:nvSpPr>
        <p:spPr>
          <a:xfrm>
            <a:off x="6664523" y="2773681"/>
            <a:ext cx="585907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5" name="Shape 69"/>
          <p:cNvSpPr/>
          <p:nvPr/>
        </p:nvSpPr>
        <p:spPr>
          <a:xfrm>
            <a:off x="6664523" y="3011806"/>
            <a:ext cx="585907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70"/>
          <p:cNvSpPr/>
          <p:nvPr/>
        </p:nvSpPr>
        <p:spPr>
          <a:xfrm>
            <a:off x="6740723" y="2821306"/>
            <a:ext cx="50970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</a:t>
            </a:r>
            <a:endParaRPr lang="en-US" sz="825" dirty="0"/>
          </a:p>
        </p:txBody>
      </p:sp>
      <p:sp>
        <p:nvSpPr>
          <p:cNvPr id="87" name="Shape 71"/>
          <p:cNvSpPr/>
          <p:nvPr/>
        </p:nvSpPr>
        <p:spPr>
          <a:xfrm>
            <a:off x="788670" y="3019425"/>
            <a:ext cx="562094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88" name="Shape 72"/>
          <p:cNvSpPr/>
          <p:nvPr/>
        </p:nvSpPr>
        <p:spPr>
          <a:xfrm>
            <a:off x="788670" y="3453765"/>
            <a:ext cx="56209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9" name="Shape 73"/>
          <p:cNvSpPr/>
          <p:nvPr/>
        </p:nvSpPr>
        <p:spPr>
          <a:xfrm>
            <a:off x="864870" y="3140393"/>
            <a:ext cx="329446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90" name="Shape 74"/>
          <p:cNvSpPr/>
          <p:nvPr/>
        </p:nvSpPr>
        <p:spPr>
          <a:xfrm>
            <a:off x="939166" y="3211831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91" name="Text 75"/>
          <p:cNvSpPr/>
          <p:nvPr/>
        </p:nvSpPr>
        <p:spPr>
          <a:xfrm>
            <a:off x="1034416" y="3167063"/>
            <a:ext cx="1618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</a:t>
            </a:r>
            <a:endParaRPr lang="en-US" sz="825" dirty="0"/>
          </a:p>
        </p:txBody>
      </p:sp>
      <p:sp>
        <p:nvSpPr>
          <p:cNvPr id="92" name="Shape 76"/>
          <p:cNvSpPr/>
          <p:nvPr/>
        </p:nvSpPr>
        <p:spPr>
          <a:xfrm>
            <a:off x="1350764" y="3019425"/>
            <a:ext cx="1152168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93" name="Shape 77"/>
          <p:cNvSpPr/>
          <p:nvPr/>
        </p:nvSpPr>
        <p:spPr>
          <a:xfrm>
            <a:off x="1350764" y="3453765"/>
            <a:ext cx="115216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4" name="Text 78"/>
          <p:cNvSpPr/>
          <p:nvPr/>
        </p:nvSpPr>
        <p:spPr>
          <a:xfrm>
            <a:off x="1426964" y="3076575"/>
            <a:ext cx="107596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carlos.t</a:t>
            </a:r>
            <a:endParaRPr lang="en-US" sz="900" dirty="0"/>
          </a:p>
        </p:txBody>
      </p:sp>
      <p:sp>
        <p:nvSpPr>
          <p:cNvPr id="95" name="Shape 79"/>
          <p:cNvSpPr/>
          <p:nvPr/>
        </p:nvSpPr>
        <p:spPr>
          <a:xfrm>
            <a:off x="2502933" y="3019425"/>
            <a:ext cx="2705100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96" name="Shape 80"/>
          <p:cNvSpPr/>
          <p:nvPr/>
        </p:nvSpPr>
        <p:spPr>
          <a:xfrm>
            <a:off x="2502933" y="3453765"/>
            <a:ext cx="27051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7" name="Text 81"/>
          <p:cNvSpPr/>
          <p:nvPr/>
        </p:nvSpPr>
        <p:spPr>
          <a:xfrm>
            <a:off x="2579133" y="3076575"/>
            <a:ext cx="26338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grant · "Calendly+" · scope offline_access</a:t>
            </a:r>
            <a:endParaRPr lang="en-US" sz="900" dirty="0"/>
          </a:p>
        </p:txBody>
      </p:sp>
      <p:sp>
        <p:nvSpPr>
          <p:cNvPr id="98" name="Shape 82"/>
          <p:cNvSpPr/>
          <p:nvPr/>
        </p:nvSpPr>
        <p:spPr>
          <a:xfrm>
            <a:off x="5208033" y="3019425"/>
            <a:ext cx="1456492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99" name="Shape 83"/>
          <p:cNvSpPr/>
          <p:nvPr/>
        </p:nvSpPr>
        <p:spPr>
          <a:xfrm>
            <a:off x="5208033" y="3453765"/>
            <a:ext cx="145649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0" name="Text 84"/>
          <p:cNvSpPr/>
          <p:nvPr/>
        </p:nvSpPr>
        <p:spPr>
          <a:xfrm>
            <a:off x="5284233" y="3076575"/>
            <a:ext cx="138029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o365.ev_91, okta.ev_22</a:t>
            </a:r>
            <a:endParaRPr lang="en-US" sz="825" dirty="0"/>
          </a:p>
        </p:txBody>
      </p:sp>
      <p:sp>
        <p:nvSpPr>
          <p:cNvPr id="101" name="Shape 85"/>
          <p:cNvSpPr/>
          <p:nvPr/>
        </p:nvSpPr>
        <p:spPr>
          <a:xfrm>
            <a:off x="6664523" y="3019425"/>
            <a:ext cx="585907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2" name="Shape 86"/>
          <p:cNvSpPr/>
          <p:nvPr/>
        </p:nvSpPr>
        <p:spPr>
          <a:xfrm>
            <a:off x="6664523" y="3453765"/>
            <a:ext cx="58590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3" name="Text 87"/>
          <p:cNvSpPr/>
          <p:nvPr/>
        </p:nvSpPr>
        <p:spPr>
          <a:xfrm>
            <a:off x="6740723" y="3076575"/>
            <a:ext cx="50970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d ago</a:t>
            </a:r>
            <a:endParaRPr lang="en-US" sz="900" dirty="0"/>
          </a:p>
        </p:txBody>
      </p:sp>
      <p:sp>
        <p:nvSpPr>
          <p:cNvPr id="104" name="Shape 88"/>
          <p:cNvSpPr/>
          <p:nvPr/>
        </p:nvSpPr>
        <p:spPr>
          <a:xfrm>
            <a:off x="788670" y="3461385"/>
            <a:ext cx="562094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5" name="Shape 89"/>
          <p:cNvSpPr/>
          <p:nvPr/>
        </p:nvSpPr>
        <p:spPr>
          <a:xfrm>
            <a:off x="788670" y="3895725"/>
            <a:ext cx="56209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6" name="Shape 90"/>
          <p:cNvSpPr/>
          <p:nvPr/>
        </p:nvSpPr>
        <p:spPr>
          <a:xfrm>
            <a:off x="864870" y="3582352"/>
            <a:ext cx="329446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07" name="Shape 91"/>
          <p:cNvSpPr/>
          <p:nvPr/>
        </p:nvSpPr>
        <p:spPr>
          <a:xfrm>
            <a:off x="939166" y="3653790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08" name="Text 92"/>
          <p:cNvSpPr/>
          <p:nvPr/>
        </p:nvSpPr>
        <p:spPr>
          <a:xfrm>
            <a:off x="1034416" y="3609023"/>
            <a:ext cx="1618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</a:t>
            </a:r>
            <a:endParaRPr lang="en-US" sz="825" dirty="0"/>
          </a:p>
        </p:txBody>
      </p:sp>
      <p:sp>
        <p:nvSpPr>
          <p:cNvPr id="109" name="Shape 93"/>
          <p:cNvSpPr/>
          <p:nvPr/>
        </p:nvSpPr>
        <p:spPr>
          <a:xfrm>
            <a:off x="1350764" y="3461385"/>
            <a:ext cx="1152168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0" name="Shape 94"/>
          <p:cNvSpPr/>
          <p:nvPr/>
        </p:nvSpPr>
        <p:spPr>
          <a:xfrm>
            <a:off x="1350764" y="3895725"/>
            <a:ext cx="115216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1" name="Text 95"/>
          <p:cNvSpPr/>
          <p:nvPr/>
        </p:nvSpPr>
        <p:spPr>
          <a:xfrm>
            <a:off x="1426964" y="3518535"/>
            <a:ext cx="107596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· claude-fin-bot</a:t>
            </a:r>
            <a:endParaRPr lang="en-US" sz="900" dirty="0"/>
          </a:p>
        </p:txBody>
      </p:sp>
      <p:sp>
        <p:nvSpPr>
          <p:cNvPr id="112" name="Shape 96"/>
          <p:cNvSpPr/>
          <p:nvPr/>
        </p:nvSpPr>
        <p:spPr>
          <a:xfrm>
            <a:off x="2502933" y="3461385"/>
            <a:ext cx="2705100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3" name="Shape 97"/>
          <p:cNvSpPr/>
          <p:nvPr/>
        </p:nvSpPr>
        <p:spPr>
          <a:xfrm>
            <a:off x="2502933" y="3895725"/>
            <a:ext cx="27051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4" name="Text 98"/>
          <p:cNvSpPr/>
          <p:nvPr/>
        </p:nvSpPr>
        <p:spPr>
          <a:xfrm>
            <a:off x="2579133" y="3518535"/>
            <a:ext cx="26338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token to snowflake.fin · created post-incident</a:t>
            </a:r>
            <a:endParaRPr lang="en-US" sz="900" dirty="0"/>
          </a:p>
        </p:txBody>
      </p:sp>
      <p:sp>
        <p:nvSpPr>
          <p:cNvPr id="115" name="Shape 99"/>
          <p:cNvSpPr/>
          <p:nvPr/>
        </p:nvSpPr>
        <p:spPr>
          <a:xfrm>
            <a:off x="5208033" y="3461385"/>
            <a:ext cx="1456492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6" name="Shape 100"/>
          <p:cNvSpPr/>
          <p:nvPr/>
        </p:nvSpPr>
        <p:spPr>
          <a:xfrm>
            <a:off x="5208033" y="3895725"/>
            <a:ext cx="145649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7" name="Text 101"/>
          <p:cNvSpPr/>
          <p:nvPr/>
        </p:nvSpPr>
        <p:spPr>
          <a:xfrm>
            <a:off x="5284233" y="3518535"/>
            <a:ext cx="138029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snow.ev_4</a:t>
            </a:r>
            <a:endParaRPr lang="en-US" sz="825" dirty="0"/>
          </a:p>
        </p:txBody>
      </p:sp>
      <p:sp>
        <p:nvSpPr>
          <p:cNvPr id="118" name="Shape 102"/>
          <p:cNvSpPr/>
          <p:nvPr/>
        </p:nvSpPr>
        <p:spPr>
          <a:xfrm>
            <a:off x="6664523" y="3461385"/>
            <a:ext cx="585907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9" name="Shape 103"/>
          <p:cNvSpPr/>
          <p:nvPr/>
        </p:nvSpPr>
        <p:spPr>
          <a:xfrm>
            <a:off x="6664523" y="3895725"/>
            <a:ext cx="58590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0" name="Text 104"/>
          <p:cNvSpPr/>
          <p:nvPr/>
        </p:nvSpPr>
        <p:spPr>
          <a:xfrm>
            <a:off x="6740723" y="3518535"/>
            <a:ext cx="50970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 ago</a:t>
            </a:r>
            <a:endParaRPr lang="en-US" sz="900" dirty="0"/>
          </a:p>
        </p:txBody>
      </p:sp>
      <p:sp>
        <p:nvSpPr>
          <p:cNvPr id="121" name="Shape 105"/>
          <p:cNvSpPr/>
          <p:nvPr/>
        </p:nvSpPr>
        <p:spPr>
          <a:xfrm>
            <a:off x="788670" y="3903345"/>
            <a:ext cx="562094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22" name="Shape 106"/>
          <p:cNvSpPr/>
          <p:nvPr/>
        </p:nvSpPr>
        <p:spPr>
          <a:xfrm>
            <a:off x="788670" y="4217670"/>
            <a:ext cx="56209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3" name="Shape 107"/>
          <p:cNvSpPr/>
          <p:nvPr/>
        </p:nvSpPr>
        <p:spPr>
          <a:xfrm>
            <a:off x="864870" y="3964306"/>
            <a:ext cx="409694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24" name="Shape 108"/>
          <p:cNvSpPr/>
          <p:nvPr/>
        </p:nvSpPr>
        <p:spPr>
          <a:xfrm>
            <a:off x="939166" y="4035743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25" name="Text 109"/>
          <p:cNvSpPr/>
          <p:nvPr/>
        </p:nvSpPr>
        <p:spPr>
          <a:xfrm>
            <a:off x="1034416" y="3990975"/>
            <a:ext cx="24205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</a:t>
            </a:r>
            <a:endParaRPr lang="en-US" sz="825" dirty="0"/>
          </a:p>
        </p:txBody>
      </p:sp>
      <p:sp>
        <p:nvSpPr>
          <p:cNvPr id="126" name="Shape 110"/>
          <p:cNvSpPr/>
          <p:nvPr/>
        </p:nvSpPr>
        <p:spPr>
          <a:xfrm>
            <a:off x="1350764" y="3903345"/>
            <a:ext cx="1152168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27" name="Shape 111"/>
          <p:cNvSpPr/>
          <p:nvPr/>
        </p:nvSpPr>
        <p:spPr>
          <a:xfrm>
            <a:off x="1350764" y="4217670"/>
            <a:ext cx="115216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8" name="Text 112"/>
          <p:cNvSpPr/>
          <p:nvPr/>
        </p:nvSpPr>
        <p:spPr>
          <a:xfrm>
            <a:off x="1426964" y="3960495"/>
            <a:ext cx="10759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marco.l</a:t>
            </a:r>
            <a:endParaRPr lang="en-US" sz="900" dirty="0"/>
          </a:p>
        </p:txBody>
      </p:sp>
      <p:sp>
        <p:nvSpPr>
          <p:cNvPr id="129" name="Shape 113"/>
          <p:cNvSpPr/>
          <p:nvPr/>
        </p:nvSpPr>
        <p:spPr>
          <a:xfrm>
            <a:off x="2502933" y="3903345"/>
            <a:ext cx="2705100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30" name="Shape 114"/>
          <p:cNvSpPr/>
          <p:nvPr/>
        </p:nvSpPr>
        <p:spPr>
          <a:xfrm>
            <a:off x="2502933" y="4217670"/>
            <a:ext cx="27051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1" name="Text 115"/>
          <p:cNvSpPr/>
          <p:nvPr/>
        </p:nvSpPr>
        <p:spPr>
          <a:xfrm>
            <a:off x="2579133" y="3960495"/>
            <a:ext cx="26338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PAT created from new ASN</a:t>
            </a:r>
            <a:endParaRPr lang="en-US" sz="900" dirty="0"/>
          </a:p>
        </p:txBody>
      </p:sp>
      <p:sp>
        <p:nvSpPr>
          <p:cNvPr id="132" name="Shape 116"/>
          <p:cNvSpPr/>
          <p:nvPr/>
        </p:nvSpPr>
        <p:spPr>
          <a:xfrm>
            <a:off x="5208033" y="3903345"/>
            <a:ext cx="1456492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33" name="Shape 117"/>
          <p:cNvSpPr/>
          <p:nvPr/>
        </p:nvSpPr>
        <p:spPr>
          <a:xfrm>
            <a:off x="5208033" y="4217670"/>
            <a:ext cx="145649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4" name="Text 118"/>
          <p:cNvSpPr/>
          <p:nvPr/>
        </p:nvSpPr>
        <p:spPr>
          <a:xfrm>
            <a:off x="5284233" y="3960495"/>
            <a:ext cx="13802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gh.ev_18</a:t>
            </a:r>
            <a:endParaRPr lang="en-US" sz="825" dirty="0"/>
          </a:p>
        </p:txBody>
      </p:sp>
      <p:sp>
        <p:nvSpPr>
          <p:cNvPr id="135" name="Shape 119"/>
          <p:cNvSpPr/>
          <p:nvPr/>
        </p:nvSpPr>
        <p:spPr>
          <a:xfrm>
            <a:off x="6664523" y="3903345"/>
            <a:ext cx="585907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36" name="Shape 120"/>
          <p:cNvSpPr/>
          <p:nvPr/>
        </p:nvSpPr>
        <p:spPr>
          <a:xfrm>
            <a:off x="6664523" y="4217670"/>
            <a:ext cx="58590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7" name="Text 121"/>
          <p:cNvSpPr/>
          <p:nvPr/>
        </p:nvSpPr>
        <p:spPr>
          <a:xfrm>
            <a:off x="6740723" y="3960495"/>
            <a:ext cx="5097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 ago</a:t>
            </a:r>
            <a:endParaRPr lang="en-US" sz="900" dirty="0"/>
          </a:p>
        </p:txBody>
      </p:sp>
      <p:sp>
        <p:nvSpPr>
          <p:cNvPr id="138" name="Shape 122"/>
          <p:cNvSpPr/>
          <p:nvPr/>
        </p:nvSpPr>
        <p:spPr>
          <a:xfrm>
            <a:off x="788670" y="4659630"/>
            <a:ext cx="56209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9" name="Shape 123"/>
          <p:cNvSpPr/>
          <p:nvPr/>
        </p:nvSpPr>
        <p:spPr>
          <a:xfrm>
            <a:off x="864870" y="4346258"/>
            <a:ext cx="33730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0" name="Shape 124"/>
          <p:cNvSpPr/>
          <p:nvPr/>
        </p:nvSpPr>
        <p:spPr>
          <a:xfrm>
            <a:off x="939166" y="441769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41" name="Text 125"/>
          <p:cNvSpPr/>
          <p:nvPr/>
        </p:nvSpPr>
        <p:spPr>
          <a:xfrm>
            <a:off x="1034416" y="4372927"/>
            <a:ext cx="16966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</a:t>
            </a:r>
            <a:endParaRPr lang="en-US" sz="825" dirty="0"/>
          </a:p>
        </p:txBody>
      </p:sp>
      <p:sp>
        <p:nvSpPr>
          <p:cNvPr id="142" name="Shape 126"/>
          <p:cNvSpPr/>
          <p:nvPr/>
        </p:nvSpPr>
        <p:spPr>
          <a:xfrm>
            <a:off x="1350764" y="4659630"/>
            <a:ext cx="115216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3" name="Text 127"/>
          <p:cNvSpPr/>
          <p:nvPr/>
        </p:nvSpPr>
        <p:spPr>
          <a:xfrm>
            <a:off x="1426964" y="4282440"/>
            <a:ext cx="107596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diane.k</a:t>
            </a:r>
            <a:endParaRPr lang="en-US" sz="900" dirty="0"/>
          </a:p>
        </p:txBody>
      </p:sp>
      <p:sp>
        <p:nvSpPr>
          <p:cNvPr id="144" name="Shape 128"/>
          <p:cNvSpPr/>
          <p:nvPr/>
        </p:nvSpPr>
        <p:spPr>
          <a:xfrm>
            <a:off x="2502933" y="4659630"/>
            <a:ext cx="27051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5" name="Text 129"/>
          <p:cNvSpPr/>
          <p:nvPr/>
        </p:nvSpPr>
        <p:spPr>
          <a:xfrm>
            <a:off x="2579133" y="4282440"/>
            <a:ext cx="26338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OAuth grants from outlook addins</a:t>
            </a:r>
            <a:endParaRPr lang="en-US" sz="900" dirty="0"/>
          </a:p>
        </p:txBody>
      </p:sp>
      <p:sp>
        <p:nvSpPr>
          <p:cNvPr id="146" name="Shape 130"/>
          <p:cNvSpPr/>
          <p:nvPr/>
        </p:nvSpPr>
        <p:spPr>
          <a:xfrm>
            <a:off x="5208033" y="4659630"/>
            <a:ext cx="145649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7" name="Text 131"/>
          <p:cNvSpPr/>
          <p:nvPr/>
        </p:nvSpPr>
        <p:spPr>
          <a:xfrm>
            <a:off x="5284233" y="4282440"/>
            <a:ext cx="138029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o365.ev_71</a:t>
            </a:r>
            <a:endParaRPr lang="en-US" sz="825" dirty="0"/>
          </a:p>
        </p:txBody>
      </p:sp>
      <p:sp>
        <p:nvSpPr>
          <p:cNvPr id="148" name="Shape 132"/>
          <p:cNvSpPr/>
          <p:nvPr/>
        </p:nvSpPr>
        <p:spPr>
          <a:xfrm>
            <a:off x="6664523" y="4659630"/>
            <a:ext cx="58590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9" name="Text 133"/>
          <p:cNvSpPr/>
          <p:nvPr/>
        </p:nvSpPr>
        <p:spPr>
          <a:xfrm>
            <a:off x="6740723" y="4282440"/>
            <a:ext cx="50970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d ago</a:t>
            </a:r>
            <a:endParaRPr lang="en-US" sz="900" dirty="0"/>
          </a:p>
        </p:txBody>
      </p:sp>
      <p:sp>
        <p:nvSpPr>
          <p:cNvPr id="150" name="Shape 134"/>
          <p:cNvSpPr/>
          <p:nvPr/>
        </p:nvSpPr>
        <p:spPr>
          <a:xfrm>
            <a:off x="788670" y="5101590"/>
            <a:ext cx="56209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1" name="Shape 135"/>
          <p:cNvSpPr/>
          <p:nvPr/>
        </p:nvSpPr>
        <p:spPr>
          <a:xfrm>
            <a:off x="864870" y="4788218"/>
            <a:ext cx="33730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52" name="Shape 136"/>
          <p:cNvSpPr/>
          <p:nvPr/>
        </p:nvSpPr>
        <p:spPr>
          <a:xfrm>
            <a:off x="939166" y="4859656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53" name="Text 137"/>
          <p:cNvSpPr/>
          <p:nvPr/>
        </p:nvSpPr>
        <p:spPr>
          <a:xfrm>
            <a:off x="1034416" y="4814888"/>
            <a:ext cx="16966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</a:t>
            </a:r>
            <a:endParaRPr lang="en-US" sz="825" dirty="0"/>
          </a:p>
        </p:txBody>
      </p:sp>
      <p:sp>
        <p:nvSpPr>
          <p:cNvPr id="154" name="Shape 138"/>
          <p:cNvSpPr/>
          <p:nvPr/>
        </p:nvSpPr>
        <p:spPr>
          <a:xfrm>
            <a:off x="1350764" y="5101590"/>
            <a:ext cx="115216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5" name="Text 139"/>
          <p:cNvSpPr/>
          <p:nvPr/>
        </p:nvSpPr>
        <p:spPr>
          <a:xfrm>
            <a:off x="1426964" y="4724400"/>
            <a:ext cx="107596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amit.s</a:t>
            </a:r>
            <a:endParaRPr lang="en-US" sz="900" dirty="0"/>
          </a:p>
        </p:txBody>
      </p:sp>
      <p:sp>
        <p:nvSpPr>
          <p:cNvPr id="156" name="Shape 140"/>
          <p:cNvSpPr/>
          <p:nvPr/>
        </p:nvSpPr>
        <p:spPr>
          <a:xfrm>
            <a:off x="2502933" y="5101590"/>
            <a:ext cx="27051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7" name="Text 141"/>
          <p:cNvSpPr/>
          <p:nvPr/>
        </p:nvSpPr>
        <p:spPr>
          <a:xfrm>
            <a:off x="2579133" y="4724400"/>
            <a:ext cx="26338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OAuth grant · scope read.basic.all</a:t>
            </a:r>
            <a:endParaRPr lang="en-US" sz="900" dirty="0"/>
          </a:p>
        </p:txBody>
      </p:sp>
      <p:sp>
        <p:nvSpPr>
          <p:cNvPr id="158" name="Shape 142"/>
          <p:cNvSpPr/>
          <p:nvPr/>
        </p:nvSpPr>
        <p:spPr>
          <a:xfrm>
            <a:off x="5208033" y="5101590"/>
            <a:ext cx="145649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9" name="Text 143"/>
          <p:cNvSpPr/>
          <p:nvPr/>
        </p:nvSpPr>
        <p:spPr>
          <a:xfrm>
            <a:off x="5284233" y="4724400"/>
            <a:ext cx="138029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o365.ev_82</a:t>
            </a:r>
            <a:endParaRPr lang="en-US" sz="825" dirty="0"/>
          </a:p>
        </p:txBody>
      </p:sp>
      <p:sp>
        <p:nvSpPr>
          <p:cNvPr id="160" name="Shape 144"/>
          <p:cNvSpPr/>
          <p:nvPr/>
        </p:nvSpPr>
        <p:spPr>
          <a:xfrm>
            <a:off x="6664523" y="5101590"/>
            <a:ext cx="58590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1" name="Text 145"/>
          <p:cNvSpPr/>
          <p:nvPr/>
        </p:nvSpPr>
        <p:spPr>
          <a:xfrm>
            <a:off x="6740723" y="4724400"/>
            <a:ext cx="50970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 ago</a:t>
            </a:r>
            <a:endParaRPr lang="en-US" sz="900" dirty="0"/>
          </a:p>
        </p:txBody>
      </p:sp>
      <p:sp>
        <p:nvSpPr>
          <p:cNvPr id="162" name="Shape 146"/>
          <p:cNvSpPr/>
          <p:nvPr/>
        </p:nvSpPr>
        <p:spPr>
          <a:xfrm>
            <a:off x="864870" y="5230177"/>
            <a:ext cx="33730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3" name="Shape 147"/>
          <p:cNvSpPr/>
          <p:nvPr/>
        </p:nvSpPr>
        <p:spPr>
          <a:xfrm>
            <a:off x="939166" y="530161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64" name="Text 148"/>
          <p:cNvSpPr/>
          <p:nvPr/>
        </p:nvSpPr>
        <p:spPr>
          <a:xfrm>
            <a:off x="1034416" y="5256848"/>
            <a:ext cx="16966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</a:t>
            </a:r>
            <a:endParaRPr lang="en-US" sz="825" dirty="0"/>
          </a:p>
        </p:txBody>
      </p:sp>
      <p:sp>
        <p:nvSpPr>
          <p:cNvPr id="165" name="Text 149"/>
          <p:cNvSpPr/>
          <p:nvPr/>
        </p:nvSpPr>
        <p:spPr>
          <a:xfrm>
            <a:off x="1426964" y="5166360"/>
            <a:ext cx="10759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lin.h</a:t>
            </a:r>
            <a:endParaRPr lang="en-US" sz="900" dirty="0"/>
          </a:p>
        </p:txBody>
      </p:sp>
      <p:sp>
        <p:nvSpPr>
          <p:cNvPr id="166" name="Text 150"/>
          <p:cNvSpPr/>
          <p:nvPr/>
        </p:nvSpPr>
        <p:spPr>
          <a:xfrm>
            <a:off x="2579133" y="5166360"/>
            <a:ext cx="263385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SSH key · matches re-issue</a:t>
            </a:r>
            <a:endParaRPr lang="en-US" sz="900" dirty="0"/>
          </a:p>
        </p:txBody>
      </p:sp>
      <p:sp>
        <p:nvSpPr>
          <p:cNvPr id="167" name="Text 151"/>
          <p:cNvSpPr/>
          <p:nvPr/>
        </p:nvSpPr>
        <p:spPr>
          <a:xfrm>
            <a:off x="5284233" y="5166360"/>
            <a:ext cx="138029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gh.ev_19</a:t>
            </a:r>
            <a:endParaRPr lang="en-US" sz="825" dirty="0"/>
          </a:p>
        </p:txBody>
      </p:sp>
      <p:sp>
        <p:nvSpPr>
          <p:cNvPr id="168" name="Text 152"/>
          <p:cNvSpPr/>
          <p:nvPr/>
        </p:nvSpPr>
        <p:spPr>
          <a:xfrm>
            <a:off x="6740723" y="5166360"/>
            <a:ext cx="5097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d ago</a:t>
            </a:r>
            <a:endParaRPr lang="en-US" sz="900" dirty="0"/>
          </a:p>
        </p:txBody>
      </p:sp>
      <p:sp>
        <p:nvSpPr>
          <p:cNvPr id="169" name="Shape 153"/>
          <p:cNvSpPr/>
          <p:nvPr/>
        </p:nvSpPr>
        <p:spPr>
          <a:xfrm>
            <a:off x="788670" y="5642610"/>
            <a:ext cx="1389221" cy="25146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70" name="Text 154"/>
          <p:cNvSpPr/>
          <p:nvPr/>
        </p:nvSpPr>
        <p:spPr>
          <a:xfrm>
            <a:off x="891541" y="5688331"/>
            <a:ext cx="125968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to detection</a:t>
            </a:r>
            <a:endParaRPr lang="en-US" sz="900" dirty="0"/>
          </a:p>
        </p:txBody>
      </p:sp>
      <p:sp>
        <p:nvSpPr>
          <p:cNvPr id="171" name="Shape 155"/>
          <p:cNvSpPr/>
          <p:nvPr/>
        </p:nvSpPr>
        <p:spPr>
          <a:xfrm>
            <a:off x="2235043" y="5642610"/>
            <a:ext cx="1922859" cy="251460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72" name="Text 156"/>
          <p:cNvSpPr/>
          <p:nvPr/>
        </p:nvSpPr>
        <p:spPr>
          <a:xfrm>
            <a:off x="2337911" y="5688331"/>
            <a:ext cx="179331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to enforcement policy</a:t>
            </a:r>
            <a:endParaRPr lang="en-US" sz="900" dirty="0"/>
          </a:p>
        </p:txBody>
      </p:sp>
      <p:sp>
        <p:nvSpPr>
          <p:cNvPr id="173" name="Shape 157"/>
          <p:cNvSpPr/>
          <p:nvPr/>
        </p:nvSpPr>
        <p:spPr>
          <a:xfrm>
            <a:off x="4215052" y="5642610"/>
            <a:ext cx="1122164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4" name="Text 158"/>
          <p:cNvSpPr/>
          <p:nvPr/>
        </p:nvSpPr>
        <p:spPr>
          <a:xfrm>
            <a:off x="4317920" y="5688331"/>
            <a:ext cx="99262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as cases · 2</a:t>
            </a:r>
            <a:endParaRPr lang="en-US" sz="900" dirty="0"/>
          </a:p>
        </p:txBody>
      </p:sp>
      <p:sp>
        <p:nvSpPr>
          <p:cNvPr id="175" name="Shape 159"/>
          <p:cNvSpPr/>
          <p:nvPr/>
        </p:nvSpPr>
        <p:spPr>
          <a:xfrm>
            <a:off x="7486650" y="2434590"/>
            <a:ext cx="2667000" cy="4099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76" name="Text 160"/>
          <p:cNvSpPr/>
          <p:nvPr/>
        </p:nvSpPr>
        <p:spPr>
          <a:xfrm>
            <a:off x="7608570" y="2537460"/>
            <a:ext cx="249936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 strategy</a:t>
            </a:r>
            <a:endParaRPr lang="en-US" sz="900" dirty="0"/>
          </a:p>
        </p:txBody>
      </p:sp>
      <p:sp>
        <p:nvSpPr>
          <p:cNvPr id="177" name="Text 161"/>
          <p:cNvSpPr/>
          <p:nvPr/>
        </p:nvSpPr>
        <p:spPr>
          <a:xfrm>
            <a:off x="7608570" y="2773681"/>
            <a:ext cx="2499360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join phish events to OAuth grants by user.</a:t>
            </a:r>
            <a:endParaRPr lang="en-US" sz="863" dirty="0"/>
          </a:p>
        </p:txBody>
      </p:sp>
      <p:sp>
        <p:nvSpPr>
          <p:cNvPr id="178" name="Text 162"/>
          <p:cNvSpPr/>
          <p:nvPr/>
        </p:nvSpPr>
        <p:spPr>
          <a:xfrm>
            <a:off x="7608570" y="2965133"/>
            <a:ext cx="2499360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filter grants where scope ∈ offline / read.all.</a:t>
            </a:r>
            <a:endParaRPr lang="en-US" sz="863" dirty="0"/>
          </a:p>
        </p:txBody>
      </p:sp>
      <p:sp>
        <p:nvSpPr>
          <p:cNvPr id="179" name="Text 163"/>
          <p:cNvSpPr/>
          <p:nvPr/>
        </p:nvSpPr>
        <p:spPr>
          <a:xfrm>
            <a:off x="7608570" y="3156585"/>
            <a:ext cx="2499360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cross-check token activity post-incident.</a:t>
            </a:r>
            <a:endParaRPr lang="en-US" sz="863" dirty="0"/>
          </a:p>
        </p:txBody>
      </p:sp>
      <p:sp>
        <p:nvSpPr>
          <p:cNvPr id="180" name="Text 164"/>
          <p:cNvSpPr/>
          <p:nvPr/>
        </p:nvSpPr>
        <p:spPr>
          <a:xfrm>
            <a:off x="7608570" y="3348038"/>
            <a:ext cx="2499360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attach blast-radius from CNAPP graph.</a:t>
            </a:r>
            <a:endParaRPr lang="en-US" sz="863" dirty="0"/>
          </a:p>
        </p:txBody>
      </p:sp>
      <p:sp>
        <p:nvSpPr>
          <p:cNvPr id="181" name="Shape 165"/>
          <p:cNvSpPr/>
          <p:nvPr/>
        </p:nvSpPr>
        <p:spPr>
          <a:xfrm>
            <a:off x="7608570" y="3596640"/>
            <a:ext cx="2423160" cy="95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2" name="Text 166"/>
          <p:cNvSpPr/>
          <p:nvPr/>
        </p:nvSpPr>
        <p:spPr>
          <a:xfrm>
            <a:off x="7608570" y="3680460"/>
            <a:ext cx="24993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750" dirty="0"/>
          </a:p>
        </p:txBody>
      </p:sp>
      <p:sp>
        <p:nvSpPr>
          <p:cNvPr id="183" name="Text 167"/>
          <p:cNvSpPr/>
          <p:nvPr/>
        </p:nvSpPr>
        <p:spPr>
          <a:xfrm>
            <a:off x="7608570" y="3813810"/>
            <a:ext cx="249936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 s · 412M events scanned · 6 sources</a:t>
            </a:r>
            <a:endParaRPr lang="en-US" sz="825" dirty="0"/>
          </a:p>
        </p:txBody>
      </p:sp>
      <p:sp>
        <p:nvSpPr>
          <p:cNvPr id="184" name="Shape 168"/>
          <p:cNvSpPr/>
          <p:nvPr/>
        </p:nvSpPr>
        <p:spPr>
          <a:xfrm>
            <a:off x="76200" y="6053138"/>
            <a:ext cx="2072640" cy="538163"/>
          </a:xfrm>
          <a:prstGeom prst="roundRect">
            <a:avLst>
              <a:gd name="adj" fmla="val 708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185" name="Text 169"/>
          <p:cNvSpPr/>
          <p:nvPr/>
        </p:nvSpPr>
        <p:spPr>
          <a:xfrm>
            <a:off x="160020" y="6117908"/>
            <a:ext cx="1981200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hunt that finds something offers to become a detection — closing the loop.</a:t>
            </a:r>
            <a:endParaRPr lang="en-US" sz="8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91441" y="19621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51888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&amp; memory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204682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312670" y="144780"/>
            <a:ext cx="148054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brain, made inspectable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869413" y="74295"/>
            <a:ext cx="3621524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2283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143733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59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5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257151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platform has learned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543205" y="616268"/>
            <a:ext cx="1123831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7617502" y="68770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0" name="Text 25"/>
          <p:cNvSpPr/>
          <p:nvPr/>
        </p:nvSpPr>
        <p:spPr>
          <a:xfrm>
            <a:off x="7712752" y="642938"/>
            <a:ext cx="95619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memories · 41,218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8724188" y="590550"/>
            <a:ext cx="802005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Text 27"/>
          <p:cNvSpPr/>
          <p:nvPr/>
        </p:nvSpPr>
        <p:spPr>
          <a:xfrm>
            <a:off x="8827057" y="636270"/>
            <a:ext cx="67246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view</a:t>
            </a:r>
            <a:endParaRPr lang="en-US" sz="900" dirty="0"/>
          </a:p>
        </p:txBody>
      </p:sp>
      <p:sp>
        <p:nvSpPr>
          <p:cNvPr id="43" name="Shape 28"/>
          <p:cNvSpPr/>
          <p:nvPr/>
        </p:nvSpPr>
        <p:spPr>
          <a:xfrm>
            <a:off x="9583341" y="590550"/>
            <a:ext cx="570309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4" name="Text 29"/>
          <p:cNvSpPr/>
          <p:nvPr/>
        </p:nvSpPr>
        <p:spPr>
          <a:xfrm>
            <a:off x="9686213" y="636270"/>
            <a:ext cx="44076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900" dirty="0"/>
          </a:p>
        </p:txBody>
      </p:sp>
      <p:sp>
        <p:nvSpPr>
          <p:cNvPr id="45" name="Shape 30"/>
          <p:cNvSpPr/>
          <p:nvPr/>
        </p:nvSpPr>
        <p:spPr>
          <a:xfrm>
            <a:off x="666750" y="937260"/>
            <a:ext cx="9486900" cy="47244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6" name="Text 31"/>
          <p:cNvSpPr/>
          <p:nvPr/>
        </p:nvSpPr>
        <p:spPr>
          <a:xfrm>
            <a:off x="788670" y="1040130"/>
            <a:ext cx="42242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⌕ search memory · "what do we believe about MFA spam from MOW?"</a:t>
            </a:r>
            <a:endParaRPr lang="en-US" sz="975" dirty="0"/>
          </a:p>
        </p:txBody>
      </p:sp>
      <p:sp>
        <p:nvSpPr>
          <p:cNvPr id="47" name="Shape 32"/>
          <p:cNvSpPr/>
          <p:nvPr/>
        </p:nvSpPr>
        <p:spPr>
          <a:xfrm>
            <a:off x="4947047" y="1073468"/>
            <a:ext cx="730210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48" name="Shape 33"/>
          <p:cNvSpPr/>
          <p:nvPr/>
        </p:nvSpPr>
        <p:spPr>
          <a:xfrm>
            <a:off x="5021342" y="1144905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Text 34"/>
          <p:cNvSpPr/>
          <p:nvPr/>
        </p:nvSpPr>
        <p:spPr>
          <a:xfrm>
            <a:off x="5116592" y="1100138"/>
            <a:ext cx="5625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· 41,218</a:t>
            </a:r>
            <a:endParaRPr lang="en-US" sz="825" dirty="0"/>
          </a:p>
        </p:txBody>
      </p:sp>
      <p:sp>
        <p:nvSpPr>
          <p:cNvPr id="50" name="Shape 35"/>
          <p:cNvSpPr/>
          <p:nvPr/>
        </p:nvSpPr>
        <p:spPr>
          <a:xfrm>
            <a:off x="5734408" y="1073468"/>
            <a:ext cx="72044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1" name="Shape 36"/>
          <p:cNvSpPr/>
          <p:nvPr/>
        </p:nvSpPr>
        <p:spPr>
          <a:xfrm>
            <a:off x="5808704" y="11449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2" name="Text 37"/>
          <p:cNvSpPr/>
          <p:nvPr/>
        </p:nvSpPr>
        <p:spPr>
          <a:xfrm>
            <a:off x="5903954" y="1100138"/>
            <a:ext cx="55280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</a:t>
            </a:r>
            <a:endParaRPr lang="en-US" sz="825" dirty="0"/>
          </a:p>
        </p:txBody>
      </p:sp>
      <p:sp>
        <p:nvSpPr>
          <p:cNvPr id="53" name="Shape 38"/>
          <p:cNvSpPr/>
          <p:nvPr/>
        </p:nvSpPr>
        <p:spPr>
          <a:xfrm>
            <a:off x="6512007" y="1073468"/>
            <a:ext cx="110478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4" name="Shape 39"/>
          <p:cNvSpPr/>
          <p:nvPr/>
        </p:nvSpPr>
        <p:spPr>
          <a:xfrm>
            <a:off x="6586300" y="11449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5" name="Text 40"/>
          <p:cNvSpPr/>
          <p:nvPr/>
        </p:nvSpPr>
        <p:spPr>
          <a:xfrm>
            <a:off x="6681550" y="1100138"/>
            <a:ext cx="9371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decisions</a:t>
            </a:r>
            <a:endParaRPr lang="en-US" sz="825" dirty="0"/>
          </a:p>
        </p:txBody>
      </p:sp>
      <p:sp>
        <p:nvSpPr>
          <p:cNvPr id="56" name="Shape 41"/>
          <p:cNvSpPr/>
          <p:nvPr/>
        </p:nvSpPr>
        <p:spPr>
          <a:xfrm>
            <a:off x="7673936" y="1073468"/>
            <a:ext cx="79486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7748229" y="11449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8" name="Text 43"/>
          <p:cNvSpPr/>
          <p:nvPr/>
        </p:nvSpPr>
        <p:spPr>
          <a:xfrm>
            <a:off x="7843479" y="1100138"/>
            <a:ext cx="62722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detections</a:t>
            </a:r>
            <a:endParaRPr lang="en-US" sz="825" dirty="0"/>
          </a:p>
        </p:txBody>
      </p:sp>
      <p:sp>
        <p:nvSpPr>
          <p:cNvPr id="59" name="Shape 44"/>
          <p:cNvSpPr/>
          <p:nvPr/>
        </p:nvSpPr>
        <p:spPr>
          <a:xfrm>
            <a:off x="8525949" y="1073468"/>
            <a:ext cx="63805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0" name="Shape 45"/>
          <p:cNvSpPr/>
          <p:nvPr/>
        </p:nvSpPr>
        <p:spPr>
          <a:xfrm>
            <a:off x="8600242" y="11449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1" name="Text 46"/>
          <p:cNvSpPr/>
          <p:nvPr/>
        </p:nvSpPr>
        <p:spPr>
          <a:xfrm>
            <a:off x="8695492" y="1100138"/>
            <a:ext cx="47041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825" dirty="0"/>
          </a:p>
        </p:txBody>
      </p:sp>
      <p:sp>
        <p:nvSpPr>
          <p:cNvPr id="62" name="Shape 47"/>
          <p:cNvSpPr/>
          <p:nvPr/>
        </p:nvSpPr>
        <p:spPr>
          <a:xfrm>
            <a:off x="9221153" y="1073468"/>
            <a:ext cx="81057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3" name="Shape 48"/>
          <p:cNvSpPr/>
          <p:nvPr/>
        </p:nvSpPr>
        <p:spPr>
          <a:xfrm>
            <a:off x="9295447" y="11449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4" name="Text 49"/>
          <p:cNvSpPr/>
          <p:nvPr/>
        </p:nvSpPr>
        <p:spPr>
          <a:xfrm>
            <a:off x="9390697" y="1100138"/>
            <a:ext cx="6429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facts</a:t>
            </a:r>
            <a:endParaRPr lang="en-US" sz="825" dirty="0"/>
          </a:p>
        </p:txBody>
      </p:sp>
      <p:sp>
        <p:nvSpPr>
          <p:cNvPr id="65" name="Shape 50"/>
          <p:cNvSpPr/>
          <p:nvPr/>
        </p:nvSpPr>
        <p:spPr>
          <a:xfrm>
            <a:off x="666750" y="1504950"/>
            <a:ext cx="9486900" cy="502920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6" name="Text 51"/>
          <p:cNvSpPr/>
          <p:nvPr/>
        </p:nvSpPr>
        <p:spPr>
          <a:xfrm>
            <a:off x="788670" y="1607820"/>
            <a:ext cx="952035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memories · most relevant first</a:t>
            </a:r>
            <a:endParaRPr lang="en-US" sz="900" dirty="0"/>
          </a:p>
        </p:txBody>
      </p:sp>
      <p:sp>
        <p:nvSpPr>
          <p:cNvPr id="67" name="Shape 52"/>
          <p:cNvSpPr/>
          <p:nvPr/>
        </p:nvSpPr>
        <p:spPr>
          <a:xfrm>
            <a:off x="788670" y="1844040"/>
            <a:ext cx="924306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68" name="Shape 53"/>
          <p:cNvSpPr/>
          <p:nvPr/>
        </p:nvSpPr>
        <p:spPr>
          <a:xfrm>
            <a:off x="891541" y="1908810"/>
            <a:ext cx="663059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69" name="Shape 54"/>
          <p:cNvSpPr/>
          <p:nvPr/>
        </p:nvSpPr>
        <p:spPr>
          <a:xfrm>
            <a:off x="965836" y="198024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70" name="Text 55"/>
          <p:cNvSpPr/>
          <p:nvPr/>
        </p:nvSpPr>
        <p:spPr>
          <a:xfrm>
            <a:off x="1061086" y="1943100"/>
            <a:ext cx="49541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825" dirty="0"/>
          </a:p>
        </p:txBody>
      </p:sp>
      <p:sp>
        <p:nvSpPr>
          <p:cNvPr id="71" name="Text 56"/>
          <p:cNvSpPr/>
          <p:nvPr/>
        </p:nvSpPr>
        <p:spPr>
          <a:xfrm>
            <a:off x="1611750" y="1922145"/>
            <a:ext cx="4145655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marked MFA spam from MOW + new ASN as TP — last quarter ×2</a:t>
            </a:r>
            <a:endParaRPr lang="en-US" sz="975" dirty="0"/>
          </a:p>
        </p:txBody>
      </p:sp>
      <p:sp>
        <p:nvSpPr>
          <p:cNvPr id="72" name="Shape 57"/>
          <p:cNvSpPr/>
          <p:nvPr/>
        </p:nvSpPr>
        <p:spPr>
          <a:xfrm>
            <a:off x="7152084" y="1908810"/>
            <a:ext cx="7002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73" name="Shape 58"/>
          <p:cNvSpPr/>
          <p:nvPr/>
        </p:nvSpPr>
        <p:spPr>
          <a:xfrm>
            <a:off x="7226382" y="198024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74" name="Text 59"/>
          <p:cNvSpPr/>
          <p:nvPr/>
        </p:nvSpPr>
        <p:spPr>
          <a:xfrm>
            <a:off x="7321632" y="1935481"/>
            <a:ext cx="53256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pinned</a:t>
            </a:r>
            <a:endParaRPr lang="en-US" sz="825" dirty="0"/>
          </a:p>
        </p:txBody>
      </p:sp>
      <p:sp>
        <p:nvSpPr>
          <p:cNvPr id="75" name="Shape 60"/>
          <p:cNvSpPr/>
          <p:nvPr/>
        </p:nvSpPr>
        <p:spPr>
          <a:xfrm>
            <a:off x="7890393" y="1908810"/>
            <a:ext cx="69306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7964686" y="198024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7" name="Text 62"/>
          <p:cNvSpPr/>
          <p:nvPr/>
        </p:nvSpPr>
        <p:spPr>
          <a:xfrm>
            <a:off x="8059936" y="1935481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78" name="Text 63"/>
          <p:cNvSpPr/>
          <p:nvPr/>
        </p:nvSpPr>
        <p:spPr>
          <a:xfrm>
            <a:off x="8383549" y="1943100"/>
            <a:ext cx="20181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825" dirty="0"/>
          </a:p>
        </p:txBody>
      </p:sp>
      <p:sp>
        <p:nvSpPr>
          <p:cNvPr id="79" name="Shape 64"/>
          <p:cNvSpPr/>
          <p:nvPr/>
        </p:nvSpPr>
        <p:spPr>
          <a:xfrm>
            <a:off x="8621553" y="1908810"/>
            <a:ext cx="919758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0" name="Shape 65"/>
          <p:cNvSpPr/>
          <p:nvPr/>
        </p:nvSpPr>
        <p:spPr>
          <a:xfrm>
            <a:off x="8695851" y="198024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81" name="Text 66"/>
          <p:cNvSpPr/>
          <p:nvPr/>
        </p:nvSpPr>
        <p:spPr>
          <a:xfrm>
            <a:off x="8791101" y="1935481"/>
            <a:ext cx="4425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 ·</a:t>
            </a:r>
            <a:endParaRPr lang="en-US" sz="825" dirty="0"/>
          </a:p>
        </p:txBody>
      </p:sp>
      <p:sp>
        <p:nvSpPr>
          <p:cNvPr id="82" name="Text 67"/>
          <p:cNvSpPr/>
          <p:nvPr/>
        </p:nvSpPr>
        <p:spPr>
          <a:xfrm>
            <a:off x="9195555" y="1943100"/>
            <a:ext cx="20490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825" dirty="0"/>
          </a:p>
        </p:txBody>
      </p:sp>
      <p:sp>
        <p:nvSpPr>
          <p:cNvPr id="83" name="Text 68"/>
          <p:cNvSpPr/>
          <p:nvPr/>
        </p:nvSpPr>
        <p:spPr>
          <a:xfrm>
            <a:off x="9362363" y="1935481"/>
            <a:ext cx="1808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25" dirty="0"/>
          </a:p>
        </p:txBody>
      </p:sp>
      <p:sp>
        <p:nvSpPr>
          <p:cNvPr id="84" name="Shape 69"/>
          <p:cNvSpPr/>
          <p:nvPr/>
        </p:nvSpPr>
        <p:spPr>
          <a:xfrm>
            <a:off x="9579411" y="1908810"/>
            <a:ext cx="349448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5" name="Text 70"/>
          <p:cNvSpPr/>
          <p:nvPr/>
        </p:nvSpPr>
        <p:spPr>
          <a:xfrm>
            <a:off x="9653708" y="1935481"/>
            <a:ext cx="27705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825" dirty="0"/>
          </a:p>
        </p:txBody>
      </p:sp>
      <p:sp>
        <p:nvSpPr>
          <p:cNvPr id="86" name="Text 71"/>
          <p:cNvSpPr/>
          <p:nvPr/>
        </p:nvSpPr>
        <p:spPr>
          <a:xfrm>
            <a:off x="891541" y="2127885"/>
            <a:ext cx="930843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·cases #3501, #3911</a:t>
            </a:r>
            <a:endParaRPr lang="en-US" sz="825" dirty="0"/>
          </a:p>
        </p:txBody>
      </p:sp>
      <p:sp>
        <p:nvSpPr>
          <p:cNvPr id="87" name="Shape 72"/>
          <p:cNvSpPr/>
          <p:nvPr/>
        </p:nvSpPr>
        <p:spPr>
          <a:xfrm>
            <a:off x="788670" y="2396490"/>
            <a:ext cx="924306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88" name="Shape 73"/>
          <p:cNvSpPr/>
          <p:nvPr/>
        </p:nvSpPr>
        <p:spPr>
          <a:xfrm>
            <a:off x="891541" y="2461260"/>
            <a:ext cx="666869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9" name="Shape 74"/>
          <p:cNvSpPr/>
          <p:nvPr/>
        </p:nvSpPr>
        <p:spPr>
          <a:xfrm>
            <a:off x="965836" y="25326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90" name="Text 75"/>
          <p:cNvSpPr/>
          <p:nvPr/>
        </p:nvSpPr>
        <p:spPr>
          <a:xfrm>
            <a:off x="1061086" y="2495550"/>
            <a:ext cx="49922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825" dirty="0"/>
          </a:p>
        </p:txBody>
      </p:sp>
      <p:sp>
        <p:nvSpPr>
          <p:cNvPr id="91" name="Text 76"/>
          <p:cNvSpPr/>
          <p:nvPr/>
        </p:nvSpPr>
        <p:spPr>
          <a:xfrm>
            <a:off x="1615560" y="2474595"/>
            <a:ext cx="3193767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carlos.t baseline · S3 GET ~12/day, never post-19:00</a:t>
            </a:r>
            <a:endParaRPr lang="en-US" sz="975" dirty="0"/>
          </a:p>
        </p:txBody>
      </p:sp>
      <p:sp>
        <p:nvSpPr>
          <p:cNvPr id="92" name="Shape 77"/>
          <p:cNvSpPr/>
          <p:nvPr/>
        </p:nvSpPr>
        <p:spPr>
          <a:xfrm>
            <a:off x="7897416" y="2461260"/>
            <a:ext cx="68770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3" name="Shape 78"/>
          <p:cNvSpPr/>
          <p:nvPr/>
        </p:nvSpPr>
        <p:spPr>
          <a:xfrm>
            <a:off x="7971713" y="25326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94" name="Text 79"/>
          <p:cNvSpPr/>
          <p:nvPr/>
        </p:nvSpPr>
        <p:spPr>
          <a:xfrm>
            <a:off x="8066963" y="2487931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95" name="Text 80"/>
          <p:cNvSpPr/>
          <p:nvPr/>
        </p:nvSpPr>
        <p:spPr>
          <a:xfrm>
            <a:off x="8390572" y="2495550"/>
            <a:ext cx="19645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825" dirty="0"/>
          </a:p>
        </p:txBody>
      </p:sp>
      <p:sp>
        <p:nvSpPr>
          <p:cNvPr id="96" name="Shape 81"/>
          <p:cNvSpPr/>
          <p:nvPr/>
        </p:nvSpPr>
        <p:spPr>
          <a:xfrm>
            <a:off x="8623222" y="2461260"/>
            <a:ext cx="91809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7" name="Shape 82"/>
          <p:cNvSpPr/>
          <p:nvPr/>
        </p:nvSpPr>
        <p:spPr>
          <a:xfrm>
            <a:off x="8697516" y="25326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98" name="Text 83"/>
          <p:cNvSpPr/>
          <p:nvPr/>
        </p:nvSpPr>
        <p:spPr>
          <a:xfrm>
            <a:off x="8792766" y="2487931"/>
            <a:ext cx="4425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 ·</a:t>
            </a:r>
            <a:endParaRPr lang="en-US" sz="825" dirty="0"/>
          </a:p>
        </p:txBody>
      </p:sp>
      <p:sp>
        <p:nvSpPr>
          <p:cNvPr id="99" name="Text 84"/>
          <p:cNvSpPr/>
          <p:nvPr/>
        </p:nvSpPr>
        <p:spPr>
          <a:xfrm>
            <a:off x="9197220" y="2495550"/>
            <a:ext cx="20324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825" dirty="0"/>
          </a:p>
        </p:txBody>
      </p:sp>
      <p:sp>
        <p:nvSpPr>
          <p:cNvPr id="100" name="Text 85"/>
          <p:cNvSpPr/>
          <p:nvPr/>
        </p:nvSpPr>
        <p:spPr>
          <a:xfrm>
            <a:off x="9362363" y="2487931"/>
            <a:ext cx="1808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25" dirty="0"/>
          </a:p>
        </p:txBody>
      </p:sp>
      <p:sp>
        <p:nvSpPr>
          <p:cNvPr id="101" name="Shape 86"/>
          <p:cNvSpPr/>
          <p:nvPr/>
        </p:nvSpPr>
        <p:spPr>
          <a:xfrm>
            <a:off x="9579411" y="2461260"/>
            <a:ext cx="349448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2" name="Text 87"/>
          <p:cNvSpPr/>
          <p:nvPr/>
        </p:nvSpPr>
        <p:spPr>
          <a:xfrm>
            <a:off x="9653708" y="2487931"/>
            <a:ext cx="27705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825" dirty="0"/>
          </a:p>
        </p:txBody>
      </p:sp>
      <p:sp>
        <p:nvSpPr>
          <p:cNvPr id="103" name="Text 88"/>
          <p:cNvSpPr/>
          <p:nvPr/>
        </p:nvSpPr>
        <p:spPr>
          <a:xfrm>
            <a:off x="891541" y="2680335"/>
            <a:ext cx="930843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·behavior model · 90d</a:t>
            </a:r>
            <a:endParaRPr lang="en-US" sz="825" dirty="0"/>
          </a:p>
        </p:txBody>
      </p:sp>
      <p:sp>
        <p:nvSpPr>
          <p:cNvPr id="104" name="Shape 89"/>
          <p:cNvSpPr/>
          <p:nvPr/>
        </p:nvSpPr>
        <p:spPr>
          <a:xfrm>
            <a:off x="788670" y="2948940"/>
            <a:ext cx="924306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05" name="Shape 90"/>
          <p:cNvSpPr/>
          <p:nvPr/>
        </p:nvSpPr>
        <p:spPr>
          <a:xfrm>
            <a:off x="891541" y="3013710"/>
            <a:ext cx="741402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06" name="Shape 91"/>
          <p:cNvSpPr/>
          <p:nvPr/>
        </p:nvSpPr>
        <p:spPr>
          <a:xfrm>
            <a:off x="965836" y="308514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7" name="Text 92"/>
          <p:cNvSpPr/>
          <p:nvPr/>
        </p:nvSpPr>
        <p:spPr>
          <a:xfrm>
            <a:off x="1061086" y="3048000"/>
            <a:ext cx="5737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825" dirty="0"/>
          </a:p>
        </p:txBody>
      </p:sp>
      <p:sp>
        <p:nvSpPr>
          <p:cNvPr id="108" name="Text 93"/>
          <p:cNvSpPr/>
          <p:nvPr/>
        </p:nvSpPr>
        <p:spPr>
          <a:xfrm>
            <a:off x="1690092" y="3027045"/>
            <a:ext cx="3316892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mfa_spam_then_unfamiliar_signin · drafted v0.3</a:t>
            </a:r>
            <a:endParaRPr lang="en-US" sz="975" dirty="0"/>
          </a:p>
        </p:txBody>
      </p:sp>
      <p:sp>
        <p:nvSpPr>
          <p:cNvPr id="109" name="Shape 94"/>
          <p:cNvSpPr/>
          <p:nvPr/>
        </p:nvSpPr>
        <p:spPr>
          <a:xfrm>
            <a:off x="7870985" y="3013710"/>
            <a:ext cx="69937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0" name="Shape 95"/>
          <p:cNvSpPr/>
          <p:nvPr/>
        </p:nvSpPr>
        <p:spPr>
          <a:xfrm>
            <a:off x="7945278" y="308514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11" name="Text 96"/>
          <p:cNvSpPr/>
          <p:nvPr/>
        </p:nvSpPr>
        <p:spPr>
          <a:xfrm>
            <a:off x="8040528" y="3040381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112" name="Text 97"/>
          <p:cNvSpPr/>
          <p:nvPr/>
        </p:nvSpPr>
        <p:spPr>
          <a:xfrm>
            <a:off x="8364141" y="3048000"/>
            <a:ext cx="20812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825" dirty="0"/>
          </a:p>
        </p:txBody>
      </p:sp>
      <p:sp>
        <p:nvSpPr>
          <p:cNvPr id="113" name="Shape 98"/>
          <p:cNvSpPr/>
          <p:nvPr/>
        </p:nvSpPr>
        <p:spPr>
          <a:xfrm>
            <a:off x="8608456" y="3013710"/>
            <a:ext cx="93285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4" name="Shape 99"/>
          <p:cNvSpPr/>
          <p:nvPr/>
        </p:nvSpPr>
        <p:spPr>
          <a:xfrm>
            <a:off x="8682754" y="308514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15" name="Text 100"/>
          <p:cNvSpPr/>
          <p:nvPr/>
        </p:nvSpPr>
        <p:spPr>
          <a:xfrm>
            <a:off x="8778004" y="3040381"/>
            <a:ext cx="4425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 ·</a:t>
            </a:r>
            <a:endParaRPr lang="en-US" sz="825" dirty="0"/>
          </a:p>
        </p:txBody>
      </p:sp>
      <p:sp>
        <p:nvSpPr>
          <p:cNvPr id="116" name="Text 101"/>
          <p:cNvSpPr/>
          <p:nvPr/>
        </p:nvSpPr>
        <p:spPr>
          <a:xfrm>
            <a:off x="9182458" y="3048000"/>
            <a:ext cx="21800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825" dirty="0"/>
          </a:p>
        </p:txBody>
      </p:sp>
      <p:sp>
        <p:nvSpPr>
          <p:cNvPr id="117" name="Text 102"/>
          <p:cNvSpPr/>
          <p:nvPr/>
        </p:nvSpPr>
        <p:spPr>
          <a:xfrm>
            <a:off x="9362363" y="3040381"/>
            <a:ext cx="1808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25" dirty="0"/>
          </a:p>
        </p:txBody>
      </p:sp>
      <p:sp>
        <p:nvSpPr>
          <p:cNvPr id="118" name="Shape 103"/>
          <p:cNvSpPr/>
          <p:nvPr/>
        </p:nvSpPr>
        <p:spPr>
          <a:xfrm>
            <a:off x="9579411" y="3013710"/>
            <a:ext cx="349448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9" name="Text 104"/>
          <p:cNvSpPr/>
          <p:nvPr/>
        </p:nvSpPr>
        <p:spPr>
          <a:xfrm>
            <a:off x="9653708" y="3040381"/>
            <a:ext cx="27705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825" dirty="0"/>
          </a:p>
        </p:txBody>
      </p:sp>
      <p:sp>
        <p:nvSpPr>
          <p:cNvPr id="120" name="Text 105"/>
          <p:cNvSpPr/>
          <p:nvPr/>
        </p:nvSpPr>
        <p:spPr>
          <a:xfrm>
            <a:off x="891541" y="3232785"/>
            <a:ext cx="930843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·hunt → editor</a:t>
            </a:r>
            <a:endParaRPr lang="en-US" sz="825" dirty="0"/>
          </a:p>
        </p:txBody>
      </p:sp>
      <p:sp>
        <p:nvSpPr>
          <p:cNvPr id="121" name="Shape 106"/>
          <p:cNvSpPr/>
          <p:nvPr/>
        </p:nvSpPr>
        <p:spPr>
          <a:xfrm>
            <a:off x="788670" y="3501390"/>
            <a:ext cx="924306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22" name="Shape 107"/>
          <p:cNvSpPr/>
          <p:nvPr/>
        </p:nvSpPr>
        <p:spPr>
          <a:xfrm>
            <a:off x="891541" y="3566160"/>
            <a:ext cx="55328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23" name="Shape 108"/>
          <p:cNvSpPr/>
          <p:nvPr/>
        </p:nvSpPr>
        <p:spPr>
          <a:xfrm>
            <a:off x="965836" y="363759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4" name="Text 109"/>
          <p:cNvSpPr/>
          <p:nvPr/>
        </p:nvSpPr>
        <p:spPr>
          <a:xfrm>
            <a:off x="1061086" y="3600450"/>
            <a:ext cx="38564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825" dirty="0"/>
          </a:p>
        </p:txBody>
      </p:sp>
      <p:sp>
        <p:nvSpPr>
          <p:cNvPr id="125" name="Text 110"/>
          <p:cNvSpPr/>
          <p:nvPr/>
        </p:nvSpPr>
        <p:spPr>
          <a:xfrm>
            <a:off x="1501973" y="3579495"/>
            <a:ext cx="376463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kc-fin-egress.v3 enforces 198.51.0.0/16 block on analytics-3</a:t>
            </a:r>
            <a:endParaRPr lang="en-US" sz="975" dirty="0"/>
          </a:p>
        </p:txBody>
      </p:sp>
      <p:sp>
        <p:nvSpPr>
          <p:cNvPr id="126" name="Shape 111"/>
          <p:cNvSpPr/>
          <p:nvPr/>
        </p:nvSpPr>
        <p:spPr>
          <a:xfrm>
            <a:off x="7088981" y="3566160"/>
            <a:ext cx="7002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27" name="Shape 112"/>
          <p:cNvSpPr/>
          <p:nvPr/>
        </p:nvSpPr>
        <p:spPr>
          <a:xfrm>
            <a:off x="7163279" y="363759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8" name="Text 113"/>
          <p:cNvSpPr/>
          <p:nvPr/>
        </p:nvSpPr>
        <p:spPr>
          <a:xfrm>
            <a:off x="7258529" y="3592831"/>
            <a:ext cx="53256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pinned</a:t>
            </a:r>
            <a:endParaRPr lang="en-US" sz="825" dirty="0"/>
          </a:p>
        </p:txBody>
      </p:sp>
      <p:sp>
        <p:nvSpPr>
          <p:cNvPr id="129" name="Shape 114"/>
          <p:cNvSpPr/>
          <p:nvPr/>
        </p:nvSpPr>
        <p:spPr>
          <a:xfrm>
            <a:off x="7827290" y="3566160"/>
            <a:ext cx="69306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0" name="Shape 115"/>
          <p:cNvSpPr/>
          <p:nvPr/>
        </p:nvSpPr>
        <p:spPr>
          <a:xfrm>
            <a:off x="7901583" y="36375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31" name="Text 116"/>
          <p:cNvSpPr/>
          <p:nvPr/>
        </p:nvSpPr>
        <p:spPr>
          <a:xfrm>
            <a:off x="7996833" y="3592831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132" name="Text 117"/>
          <p:cNvSpPr/>
          <p:nvPr/>
        </p:nvSpPr>
        <p:spPr>
          <a:xfrm>
            <a:off x="8320446" y="3600450"/>
            <a:ext cx="20181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825" dirty="0"/>
          </a:p>
        </p:txBody>
      </p:sp>
      <p:sp>
        <p:nvSpPr>
          <p:cNvPr id="133" name="Shape 118"/>
          <p:cNvSpPr/>
          <p:nvPr/>
        </p:nvSpPr>
        <p:spPr>
          <a:xfrm>
            <a:off x="8558450" y="3566160"/>
            <a:ext cx="98286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4" name="Shape 119"/>
          <p:cNvSpPr/>
          <p:nvPr/>
        </p:nvSpPr>
        <p:spPr>
          <a:xfrm>
            <a:off x="8632747" y="36375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35" name="Text 120"/>
          <p:cNvSpPr/>
          <p:nvPr/>
        </p:nvSpPr>
        <p:spPr>
          <a:xfrm>
            <a:off x="8727997" y="3592831"/>
            <a:ext cx="4425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 ·</a:t>
            </a:r>
            <a:endParaRPr lang="en-US" sz="825" dirty="0"/>
          </a:p>
        </p:txBody>
      </p:sp>
      <p:sp>
        <p:nvSpPr>
          <p:cNvPr id="136" name="Text 121"/>
          <p:cNvSpPr/>
          <p:nvPr/>
        </p:nvSpPr>
        <p:spPr>
          <a:xfrm>
            <a:off x="9132452" y="3600450"/>
            <a:ext cx="2680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825" dirty="0"/>
          </a:p>
        </p:txBody>
      </p:sp>
      <p:sp>
        <p:nvSpPr>
          <p:cNvPr id="137" name="Text 122"/>
          <p:cNvSpPr/>
          <p:nvPr/>
        </p:nvSpPr>
        <p:spPr>
          <a:xfrm>
            <a:off x="9362363" y="3592831"/>
            <a:ext cx="1808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25" dirty="0"/>
          </a:p>
        </p:txBody>
      </p:sp>
      <p:sp>
        <p:nvSpPr>
          <p:cNvPr id="138" name="Shape 123"/>
          <p:cNvSpPr/>
          <p:nvPr/>
        </p:nvSpPr>
        <p:spPr>
          <a:xfrm>
            <a:off x="9579411" y="3566160"/>
            <a:ext cx="349448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9" name="Text 124"/>
          <p:cNvSpPr/>
          <p:nvPr/>
        </p:nvSpPr>
        <p:spPr>
          <a:xfrm>
            <a:off x="9653708" y="3592831"/>
            <a:ext cx="27705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825" dirty="0"/>
          </a:p>
        </p:txBody>
      </p:sp>
      <p:sp>
        <p:nvSpPr>
          <p:cNvPr id="140" name="Text 125"/>
          <p:cNvSpPr/>
          <p:nvPr/>
        </p:nvSpPr>
        <p:spPr>
          <a:xfrm>
            <a:off x="891541" y="3785235"/>
            <a:ext cx="930843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·case #4129</a:t>
            </a:r>
            <a:endParaRPr lang="en-US" sz="825" dirty="0"/>
          </a:p>
        </p:txBody>
      </p:sp>
      <p:sp>
        <p:nvSpPr>
          <p:cNvPr id="141" name="Shape 126"/>
          <p:cNvSpPr/>
          <p:nvPr/>
        </p:nvSpPr>
        <p:spPr>
          <a:xfrm>
            <a:off x="788670" y="4053840"/>
            <a:ext cx="924306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42" name="Shape 127"/>
          <p:cNvSpPr/>
          <p:nvPr/>
        </p:nvSpPr>
        <p:spPr>
          <a:xfrm>
            <a:off x="891541" y="4118610"/>
            <a:ext cx="53471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3" name="Shape 128"/>
          <p:cNvSpPr/>
          <p:nvPr/>
        </p:nvSpPr>
        <p:spPr>
          <a:xfrm>
            <a:off x="965836" y="419004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44" name="Text 129"/>
          <p:cNvSpPr/>
          <p:nvPr/>
        </p:nvSpPr>
        <p:spPr>
          <a:xfrm>
            <a:off x="1061086" y="4152900"/>
            <a:ext cx="36706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825" dirty="0"/>
          </a:p>
        </p:txBody>
      </p:sp>
      <p:sp>
        <p:nvSpPr>
          <p:cNvPr id="145" name="Text 130"/>
          <p:cNvSpPr/>
          <p:nvPr/>
        </p:nvSpPr>
        <p:spPr>
          <a:xfrm>
            <a:off x="1483400" y="4131945"/>
            <a:ext cx="344296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acme-finance-bkt is on a crown-jewel path (tax-id, PCI)</a:t>
            </a:r>
            <a:endParaRPr lang="en-US" sz="975" dirty="0"/>
          </a:p>
        </p:txBody>
      </p:sp>
      <p:sp>
        <p:nvSpPr>
          <p:cNvPr id="146" name="Shape 131"/>
          <p:cNvSpPr/>
          <p:nvPr/>
        </p:nvSpPr>
        <p:spPr>
          <a:xfrm>
            <a:off x="7893486" y="4118610"/>
            <a:ext cx="69306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7" name="Shape 132"/>
          <p:cNvSpPr/>
          <p:nvPr/>
        </p:nvSpPr>
        <p:spPr>
          <a:xfrm>
            <a:off x="7967783" y="419004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48" name="Text 133"/>
          <p:cNvSpPr/>
          <p:nvPr/>
        </p:nvSpPr>
        <p:spPr>
          <a:xfrm>
            <a:off x="8063033" y="4145281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149" name="Text 134"/>
          <p:cNvSpPr/>
          <p:nvPr/>
        </p:nvSpPr>
        <p:spPr>
          <a:xfrm>
            <a:off x="8386646" y="4152900"/>
            <a:ext cx="20181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825" dirty="0"/>
          </a:p>
        </p:txBody>
      </p:sp>
      <p:sp>
        <p:nvSpPr>
          <p:cNvPr id="150" name="Shape 135"/>
          <p:cNvSpPr/>
          <p:nvPr/>
        </p:nvSpPr>
        <p:spPr>
          <a:xfrm>
            <a:off x="8624650" y="4118610"/>
            <a:ext cx="91666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51" name="Shape 136"/>
          <p:cNvSpPr/>
          <p:nvPr/>
        </p:nvSpPr>
        <p:spPr>
          <a:xfrm>
            <a:off x="8698943" y="419004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52" name="Text 137"/>
          <p:cNvSpPr/>
          <p:nvPr/>
        </p:nvSpPr>
        <p:spPr>
          <a:xfrm>
            <a:off x="8794193" y="4145281"/>
            <a:ext cx="4425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 ·</a:t>
            </a:r>
            <a:endParaRPr lang="en-US" sz="825" dirty="0"/>
          </a:p>
        </p:txBody>
      </p:sp>
      <p:sp>
        <p:nvSpPr>
          <p:cNvPr id="153" name="Text 138"/>
          <p:cNvSpPr/>
          <p:nvPr/>
        </p:nvSpPr>
        <p:spPr>
          <a:xfrm>
            <a:off x="9198652" y="4152900"/>
            <a:ext cx="20181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825" dirty="0"/>
          </a:p>
        </p:txBody>
      </p:sp>
      <p:sp>
        <p:nvSpPr>
          <p:cNvPr id="154" name="Text 139"/>
          <p:cNvSpPr/>
          <p:nvPr/>
        </p:nvSpPr>
        <p:spPr>
          <a:xfrm>
            <a:off x="9362363" y="4145281"/>
            <a:ext cx="1808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25" dirty="0"/>
          </a:p>
        </p:txBody>
      </p:sp>
      <p:sp>
        <p:nvSpPr>
          <p:cNvPr id="155" name="Shape 140"/>
          <p:cNvSpPr/>
          <p:nvPr/>
        </p:nvSpPr>
        <p:spPr>
          <a:xfrm>
            <a:off x="9579411" y="4118610"/>
            <a:ext cx="349448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56" name="Text 141"/>
          <p:cNvSpPr/>
          <p:nvPr/>
        </p:nvSpPr>
        <p:spPr>
          <a:xfrm>
            <a:off x="9653708" y="4145281"/>
            <a:ext cx="27705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825" dirty="0"/>
          </a:p>
        </p:txBody>
      </p:sp>
      <p:sp>
        <p:nvSpPr>
          <p:cNvPr id="157" name="Text 142"/>
          <p:cNvSpPr/>
          <p:nvPr/>
        </p:nvSpPr>
        <p:spPr>
          <a:xfrm>
            <a:off x="891541" y="4337685"/>
            <a:ext cx="930843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·CNAPP graph</a:t>
            </a:r>
            <a:endParaRPr lang="en-US" sz="825" dirty="0"/>
          </a:p>
        </p:txBody>
      </p:sp>
      <p:sp>
        <p:nvSpPr>
          <p:cNvPr id="158" name="Shape 143"/>
          <p:cNvSpPr/>
          <p:nvPr/>
        </p:nvSpPr>
        <p:spPr>
          <a:xfrm>
            <a:off x="788670" y="4606290"/>
            <a:ext cx="924306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59" name="Shape 144"/>
          <p:cNvSpPr/>
          <p:nvPr/>
        </p:nvSpPr>
        <p:spPr>
          <a:xfrm>
            <a:off x="891541" y="4671060"/>
            <a:ext cx="663059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60" name="Shape 145"/>
          <p:cNvSpPr/>
          <p:nvPr/>
        </p:nvSpPr>
        <p:spPr>
          <a:xfrm>
            <a:off x="965836" y="474249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61" name="Text 146"/>
          <p:cNvSpPr/>
          <p:nvPr/>
        </p:nvSpPr>
        <p:spPr>
          <a:xfrm>
            <a:off x="1061086" y="4705350"/>
            <a:ext cx="49541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825" dirty="0"/>
          </a:p>
        </p:txBody>
      </p:sp>
      <p:sp>
        <p:nvSpPr>
          <p:cNvPr id="162" name="Text 147"/>
          <p:cNvSpPr/>
          <p:nvPr/>
        </p:nvSpPr>
        <p:spPr>
          <a:xfrm>
            <a:off x="1611750" y="4684395"/>
            <a:ext cx="3641628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diane.k legit early-morning GitHub clones from DE — false +</a:t>
            </a:r>
            <a:endParaRPr lang="en-US" sz="975" dirty="0"/>
          </a:p>
        </p:txBody>
      </p:sp>
      <p:sp>
        <p:nvSpPr>
          <p:cNvPr id="163" name="Shape 148"/>
          <p:cNvSpPr/>
          <p:nvPr/>
        </p:nvSpPr>
        <p:spPr>
          <a:xfrm>
            <a:off x="7895155" y="4671060"/>
            <a:ext cx="687348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4" name="Shape 149"/>
          <p:cNvSpPr/>
          <p:nvPr/>
        </p:nvSpPr>
        <p:spPr>
          <a:xfrm>
            <a:off x="7969448" y="47424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65" name="Text 150"/>
          <p:cNvSpPr/>
          <p:nvPr/>
        </p:nvSpPr>
        <p:spPr>
          <a:xfrm>
            <a:off x="8064698" y="4697731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166" name="Text 151"/>
          <p:cNvSpPr/>
          <p:nvPr/>
        </p:nvSpPr>
        <p:spPr>
          <a:xfrm>
            <a:off x="8388311" y="4705350"/>
            <a:ext cx="19609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825" dirty="0"/>
          </a:p>
        </p:txBody>
      </p:sp>
      <p:sp>
        <p:nvSpPr>
          <p:cNvPr id="167" name="Shape 152"/>
          <p:cNvSpPr/>
          <p:nvPr/>
        </p:nvSpPr>
        <p:spPr>
          <a:xfrm>
            <a:off x="8620604" y="4671060"/>
            <a:ext cx="920710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68" name="Shape 153"/>
          <p:cNvSpPr/>
          <p:nvPr/>
        </p:nvSpPr>
        <p:spPr>
          <a:xfrm>
            <a:off x="8694897" y="474249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69" name="Text 154"/>
          <p:cNvSpPr/>
          <p:nvPr/>
        </p:nvSpPr>
        <p:spPr>
          <a:xfrm>
            <a:off x="8790147" y="4697731"/>
            <a:ext cx="4425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 ·</a:t>
            </a:r>
            <a:endParaRPr lang="en-US" sz="825" dirty="0"/>
          </a:p>
        </p:txBody>
      </p:sp>
      <p:sp>
        <p:nvSpPr>
          <p:cNvPr id="170" name="Text 155"/>
          <p:cNvSpPr/>
          <p:nvPr/>
        </p:nvSpPr>
        <p:spPr>
          <a:xfrm>
            <a:off x="9194602" y="4705350"/>
            <a:ext cx="20586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25" dirty="0"/>
          </a:p>
        </p:txBody>
      </p:sp>
      <p:sp>
        <p:nvSpPr>
          <p:cNvPr id="171" name="Text 156"/>
          <p:cNvSpPr/>
          <p:nvPr/>
        </p:nvSpPr>
        <p:spPr>
          <a:xfrm>
            <a:off x="9362363" y="4697731"/>
            <a:ext cx="1808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25" dirty="0"/>
          </a:p>
        </p:txBody>
      </p:sp>
      <p:sp>
        <p:nvSpPr>
          <p:cNvPr id="172" name="Shape 157"/>
          <p:cNvSpPr/>
          <p:nvPr/>
        </p:nvSpPr>
        <p:spPr>
          <a:xfrm>
            <a:off x="9579411" y="4671060"/>
            <a:ext cx="349448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3" name="Text 158"/>
          <p:cNvSpPr/>
          <p:nvPr/>
        </p:nvSpPr>
        <p:spPr>
          <a:xfrm>
            <a:off x="9653708" y="4697731"/>
            <a:ext cx="27705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825" dirty="0"/>
          </a:p>
        </p:txBody>
      </p:sp>
      <p:sp>
        <p:nvSpPr>
          <p:cNvPr id="174" name="Text 159"/>
          <p:cNvSpPr/>
          <p:nvPr/>
        </p:nvSpPr>
        <p:spPr>
          <a:xfrm>
            <a:off x="891541" y="4890135"/>
            <a:ext cx="930843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·case #2811</a:t>
            </a:r>
            <a:endParaRPr lang="en-US" sz="825" dirty="0"/>
          </a:p>
        </p:txBody>
      </p:sp>
      <p:sp>
        <p:nvSpPr>
          <p:cNvPr id="175" name="Shape 160"/>
          <p:cNvSpPr/>
          <p:nvPr/>
        </p:nvSpPr>
        <p:spPr>
          <a:xfrm>
            <a:off x="788670" y="5158740"/>
            <a:ext cx="924306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76" name="Shape 161"/>
          <p:cNvSpPr/>
          <p:nvPr/>
        </p:nvSpPr>
        <p:spPr>
          <a:xfrm>
            <a:off x="891541" y="5223510"/>
            <a:ext cx="663059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77" name="Shape 162"/>
          <p:cNvSpPr/>
          <p:nvPr/>
        </p:nvSpPr>
        <p:spPr>
          <a:xfrm>
            <a:off x="965836" y="5294948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78" name="Text 163"/>
          <p:cNvSpPr/>
          <p:nvPr/>
        </p:nvSpPr>
        <p:spPr>
          <a:xfrm>
            <a:off x="1061086" y="5257800"/>
            <a:ext cx="49541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825" dirty="0"/>
          </a:p>
        </p:txBody>
      </p:sp>
      <p:sp>
        <p:nvSpPr>
          <p:cNvPr id="179" name="Text 164"/>
          <p:cNvSpPr/>
          <p:nvPr/>
        </p:nvSpPr>
        <p:spPr>
          <a:xfrm>
            <a:off x="1611750" y="5236845"/>
            <a:ext cx="345412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brand-impersonation rule v2 missed Calendly+ template</a:t>
            </a:r>
            <a:endParaRPr lang="en-US" sz="975" dirty="0"/>
          </a:p>
        </p:txBody>
      </p:sp>
      <p:sp>
        <p:nvSpPr>
          <p:cNvPr id="180" name="Shape 165"/>
          <p:cNvSpPr/>
          <p:nvPr/>
        </p:nvSpPr>
        <p:spPr>
          <a:xfrm>
            <a:off x="7913131" y="5223510"/>
            <a:ext cx="67032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1" name="Shape 166"/>
          <p:cNvSpPr/>
          <p:nvPr/>
        </p:nvSpPr>
        <p:spPr>
          <a:xfrm>
            <a:off x="7987429" y="529494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82" name="Text 167"/>
          <p:cNvSpPr/>
          <p:nvPr/>
        </p:nvSpPr>
        <p:spPr>
          <a:xfrm>
            <a:off x="8082679" y="5250181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183" name="Text 168"/>
          <p:cNvSpPr/>
          <p:nvPr/>
        </p:nvSpPr>
        <p:spPr>
          <a:xfrm>
            <a:off x="8406292" y="5257800"/>
            <a:ext cx="17906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825" dirty="0"/>
          </a:p>
        </p:txBody>
      </p:sp>
      <p:sp>
        <p:nvSpPr>
          <p:cNvPr id="184" name="Shape 169"/>
          <p:cNvSpPr/>
          <p:nvPr/>
        </p:nvSpPr>
        <p:spPr>
          <a:xfrm>
            <a:off x="8621553" y="5223510"/>
            <a:ext cx="919758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85" name="Shape 170"/>
          <p:cNvSpPr/>
          <p:nvPr/>
        </p:nvSpPr>
        <p:spPr>
          <a:xfrm>
            <a:off x="8695851" y="5294948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86" name="Text 171"/>
          <p:cNvSpPr/>
          <p:nvPr/>
        </p:nvSpPr>
        <p:spPr>
          <a:xfrm>
            <a:off x="8791101" y="5250181"/>
            <a:ext cx="4425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 ·</a:t>
            </a:r>
            <a:endParaRPr lang="en-US" sz="825" dirty="0"/>
          </a:p>
        </p:txBody>
      </p:sp>
      <p:sp>
        <p:nvSpPr>
          <p:cNvPr id="187" name="Text 172"/>
          <p:cNvSpPr/>
          <p:nvPr/>
        </p:nvSpPr>
        <p:spPr>
          <a:xfrm>
            <a:off x="9195555" y="5257800"/>
            <a:ext cx="20490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25" dirty="0"/>
          </a:p>
        </p:txBody>
      </p:sp>
      <p:sp>
        <p:nvSpPr>
          <p:cNvPr id="188" name="Text 173"/>
          <p:cNvSpPr/>
          <p:nvPr/>
        </p:nvSpPr>
        <p:spPr>
          <a:xfrm>
            <a:off x="9362363" y="5250181"/>
            <a:ext cx="1808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25" dirty="0"/>
          </a:p>
        </p:txBody>
      </p:sp>
      <p:sp>
        <p:nvSpPr>
          <p:cNvPr id="189" name="Shape 174"/>
          <p:cNvSpPr/>
          <p:nvPr/>
        </p:nvSpPr>
        <p:spPr>
          <a:xfrm>
            <a:off x="9579411" y="5223510"/>
            <a:ext cx="349448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0" name="Text 175"/>
          <p:cNvSpPr/>
          <p:nvPr/>
        </p:nvSpPr>
        <p:spPr>
          <a:xfrm>
            <a:off x="9653708" y="5250181"/>
            <a:ext cx="27705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825" dirty="0"/>
          </a:p>
        </p:txBody>
      </p:sp>
      <p:sp>
        <p:nvSpPr>
          <p:cNvPr id="191" name="Text 176"/>
          <p:cNvSpPr/>
          <p:nvPr/>
        </p:nvSpPr>
        <p:spPr>
          <a:xfrm>
            <a:off x="891541" y="5442585"/>
            <a:ext cx="930843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·hunt · S31</a:t>
            </a:r>
            <a:endParaRPr lang="en-US" sz="825" dirty="0"/>
          </a:p>
        </p:txBody>
      </p:sp>
      <p:sp>
        <p:nvSpPr>
          <p:cNvPr id="192" name="Shape 177"/>
          <p:cNvSpPr/>
          <p:nvPr/>
        </p:nvSpPr>
        <p:spPr>
          <a:xfrm>
            <a:off x="788670" y="5711190"/>
            <a:ext cx="924306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93" name="Shape 178"/>
          <p:cNvSpPr/>
          <p:nvPr/>
        </p:nvSpPr>
        <p:spPr>
          <a:xfrm>
            <a:off x="891541" y="5775960"/>
            <a:ext cx="666869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4" name="Shape 179"/>
          <p:cNvSpPr/>
          <p:nvPr/>
        </p:nvSpPr>
        <p:spPr>
          <a:xfrm>
            <a:off x="965836" y="58473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95" name="Text 180"/>
          <p:cNvSpPr/>
          <p:nvPr/>
        </p:nvSpPr>
        <p:spPr>
          <a:xfrm>
            <a:off x="1061086" y="5810250"/>
            <a:ext cx="49922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825" dirty="0"/>
          </a:p>
        </p:txBody>
      </p:sp>
      <p:sp>
        <p:nvSpPr>
          <p:cNvPr id="196" name="Text 181"/>
          <p:cNvSpPr/>
          <p:nvPr/>
        </p:nvSpPr>
        <p:spPr>
          <a:xfrm>
            <a:off x="1615560" y="5789295"/>
            <a:ext cx="3774318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prod-eu-1 healthcheck egress to 198.51.x · 1 healthcheck path</a:t>
            </a:r>
            <a:endParaRPr lang="en-US" sz="975" dirty="0"/>
          </a:p>
        </p:txBody>
      </p:sp>
      <p:sp>
        <p:nvSpPr>
          <p:cNvPr id="197" name="Shape 182"/>
          <p:cNvSpPr/>
          <p:nvPr/>
        </p:nvSpPr>
        <p:spPr>
          <a:xfrm>
            <a:off x="7883128" y="5775960"/>
            <a:ext cx="69937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8" name="Shape 183"/>
          <p:cNvSpPr/>
          <p:nvPr/>
        </p:nvSpPr>
        <p:spPr>
          <a:xfrm>
            <a:off x="7957426" y="58473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99" name="Text 184"/>
          <p:cNvSpPr/>
          <p:nvPr/>
        </p:nvSpPr>
        <p:spPr>
          <a:xfrm>
            <a:off x="8052676" y="5802631"/>
            <a:ext cx="36171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·</a:t>
            </a:r>
            <a:endParaRPr lang="en-US" sz="825" dirty="0"/>
          </a:p>
        </p:txBody>
      </p:sp>
      <p:sp>
        <p:nvSpPr>
          <p:cNvPr id="200" name="Text 185"/>
          <p:cNvSpPr/>
          <p:nvPr/>
        </p:nvSpPr>
        <p:spPr>
          <a:xfrm>
            <a:off x="8376284" y="5810250"/>
            <a:ext cx="20812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825" dirty="0"/>
          </a:p>
        </p:txBody>
      </p:sp>
      <p:sp>
        <p:nvSpPr>
          <p:cNvPr id="201" name="Shape 186"/>
          <p:cNvSpPr/>
          <p:nvPr/>
        </p:nvSpPr>
        <p:spPr>
          <a:xfrm>
            <a:off x="8620604" y="5775960"/>
            <a:ext cx="92071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2" name="Shape 187"/>
          <p:cNvSpPr/>
          <p:nvPr/>
        </p:nvSpPr>
        <p:spPr>
          <a:xfrm>
            <a:off x="8694897" y="58473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03" name="Text 188"/>
          <p:cNvSpPr/>
          <p:nvPr/>
        </p:nvSpPr>
        <p:spPr>
          <a:xfrm>
            <a:off x="8790147" y="5802631"/>
            <a:ext cx="4425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 ·</a:t>
            </a:r>
            <a:endParaRPr lang="en-US" sz="825" dirty="0"/>
          </a:p>
        </p:txBody>
      </p:sp>
      <p:sp>
        <p:nvSpPr>
          <p:cNvPr id="204" name="Text 189"/>
          <p:cNvSpPr/>
          <p:nvPr/>
        </p:nvSpPr>
        <p:spPr>
          <a:xfrm>
            <a:off x="9194602" y="5810250"/>
            <a:ext cx="20586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825" dirty="0"/>
          </a:p>
        </p:txBody>
      </p:sp>
      <p:sp>
        <p:nvSpPr>
          <p:cNvPr id="205" name="Text 190"/>
          <p:cNvSpPr/>
          <p:nvPr/>
        </p:nvSpPr>
        <p:spPr>
          <a:xfrm>
            <a:off x="9362363" y="5802631"/>
            <a:ext cx="1808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25" dirty="0"/>
          </a:p>
        </p:txBody>
      </p:sp>
      <p:sp>
        <p:nvSpPr>
          <p:cNvPr id="206" name="Shape 191"/>
          <p:cNvSpPr/>
          <p:nvPr/>
        </p:nvSpPr>
        <p:spPr>
          <a:xfrm>
            <a:off x="9579411" y="5775960"/>
            <a:ext cx="349448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7" name="Text 192"/>
          <p:cNvSpPr/>
          <p:nvPr/>
        </p:nvSpPr>
        <p:spPr>
          <a:xfrm>
            <a:off x="9653708" y="5802631"/>
            <a:ext cx="27705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825" dirty="0"/>
          </a:p>
        </p:txBody>
      </p:sp>
      <p:sp>
        <p:nvSpPr>
          <p:cNvPr id="208" name="Text 193"/>
          <p:cNvSpPr/>
          <p:nvPr/>
        </p:nvSpPr>
        <p:spPr>
          <a:xfrm>
            <a:off x="891541" y="5995035"/>
            <a:ext cx="930843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·runtime · 30d</a:t>
            </a:r>
            <a:endParaRPr lang="en-US" sz="825" dirty="0"/>
          </a:p>
        </p:txBody>
      </p:sp>
      <p:sp>
        <p:nvSpPr>
          <p:cNvPr id="209" name="Shape 194"/>
          <p:cNvSpPr/>
          <p:nvPr/>
        </p:nvSpPr>
        <p:spPr>
          <a:xfrm>
            <a:off x="8077558" y="6113145"/>
            <a:ext cx="2057043" cy="401955"/>
          </a:xfrm>
          <a:prstGeom prst="roundRect">
            <a:avLst>
              <a:gd name="adj" fmla="val 9479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210" name="Text 195"/>
          <p:cNvSpPr/>
          <p:nvPr/>
        </p:nvSpPr>
        <p:spPr>
          <a:xfrm>
            <a:off x="8161378" y="6177915"/>
            <a:ext cx="196560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memories carry confidence + decay. knowledge stays when analysts leave.</a:t>
            </a:r>
            <a:endParaRPr lang="en-US" sz="8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8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91441" y="19621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5"/>
            <a:ext cx="1906548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learning · review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592349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700338" y="144780"/>
            <a:ext cx="174105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what hardens into a rule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4517589" y="74295"/>
            <a:ext cx="2973348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0458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791908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5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5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59" y="131445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5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10"/>
            <a:ext cx="225182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SOC just learned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476888" y="616268"/>
            <a:ext cx="141482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7551181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0" name="Text 25"/>
          <p:cNvSpPr/>
          <p:nvPr/>
        </p:nvSpPr>
        <p:spPr>
          <a:xfrm>
            <a:off x="7646431" y="642938"/>
            <a:ext cx="12471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· 18 proposals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8948858" y="590550"/>
            <a:ext cx="1204793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Text 27"/>
          <p:cNvSpPr/>
          <p:nvPr/>
        </p:nvSpPr>
        <p:spPr>
          <a:xfrm>
            <a:off x="9051727" y="636270"/>
            <a:ext cx="107525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all low-risk</a:t>
            </a:r>
            <a:endParaRPr lang="en-US" sz="900" dirty="0"/>
          </a:p>
        </p:txBody>
      </p:sp>
      <p:sp>
        <p:nvSpPr>
          <p:cNvPr id="43" name="Shape 28"/>
          <p:cNvSpPr/>
          <p:nvPr/>
        </p:nvSpPr>
        <p:spPr>
          <a:xfrm>
            <a:off x="666750" y="937260"/>
            <a:ext cx="9486900" cy="2063829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4" name="Shape 29"/>
          <p:cNvSpPr/>
          <p:nvPr/>
        </p:nvSpPr>
        <p:spPr>
          <a:xfrm>
            <a:off x="788673" y="1065848"/>
            <a:ext cx="976312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862966" y="1137285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46" name="Text 31"/>
          <p:cNvSpPr/>
          <p:nvPr/>
        </p:nvSpPr>
        <p:spPr>
          <a:xfrm>
            <a:off x="958216" y="1092518"/>
            <a:ext cx="80867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 → rule</a:t>
            </a:r>
            <a:endParaRPr lang="en-US" sz="825" dirty="0"/>
          </a:p>
        </p:txBody>
      </p:sp>
      <p:sp>
        <p:nvSpPr>
          <p:cNvPr id="47" name="Text 32"/>
          <p:cNvSpPr/>
          <p:nvPr/>
        </p:nvSpPr>
        <p:spPr>
          <a:xfrm>
            <a:off x="1822135" y="1072515"/>
            <a:ext cx="4262403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Alex's override on case #3501 teaches the MFA-spam-MOW rule</a:t>
            </a:r>
            <a:endParaRPr lang="en-US" sz="1050" dirty="0"/>
          </a:p>
        </p:txBody>
      </p:sp>
      <p:sp>
        <p:nvSpPr>
          <p:cNvPr id="48" name="Shape 33"/>
          <p:cNvSpPr/>
          <p:nvPr/>
        </p:nvSpPr>
        <p:spPr>
          <a:xfrm>
            <a:off x="8314613" y="1040130"/>
            <a:ext cx="424815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9" name="Text 34"/>
          <p:cNvSpPr/>
          <p:nvPr/>
        </p:nvSpPr>
        <p:spPr>
          <a:xfrm>
            <a:off x="8417482" y="1085850"/>
            <a:ext cx="29527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900" dirty="0"/>
          </a:p>
        </p:txBody>
      </p:sp>
      <p:sp>
        <p:nvSpPr>
          <p:cNvPr id="50" name="Shape 35"/>
          <p:cNvSpPr/>
          <p:nvPr/>
        </p:nvSpPr>
        <p:spPr>
          <a:xfrm>
            <a:off x="8777525" y="1040130"/>
            <a:ext cx="616029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1" name="Text 36"/>
          <p:cNvSpPr/>
          <p:nvPr/>
        </p:nvSpPr>
        <p:spPr>
          <a:xfrm>
            <a:off x="8880397" y="1085850"/>
            <a:ext cx="48648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dismiss</a:t>
            </a:r>
            <a:endParaRPr lang="en-US" sz="900" dirty="0"/>
          </a:p>
        </p:txBody>
      </p:sp>
      <p:sp>
        <p:nvSpPr>
          <p:cNvPr id="52" name="Shape 37"/>
          <p:cNvSpPr/>
          <p:nvPr/>
        </p:nvSpPr>
        <p:spPr>
          <a:xfrm>
            <a:off x="9431657" y="1040130"/>
            <a:ext cx="600075" cy="251460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53" name="Text 38"/>
          <p:cNvSpPr/>
          <p:nvPr/>
        </p:nvSpPr>
        <p:spPr>
          <a:xfrm>
            <a:off x="9534525" y="1085850"/>
            <a:ext cx="47053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900" dirty="0"/>
          </a:p>
        </p:txBody>
      </p:sp>
      <p:sp>
        <p:nvSpPr>
          <p:cNvPr id="54" name="Shape 39"/>
          <p:cNvSpPr/>
          <p:nvPr/>
        </p:nvSpPr>
        <p:spPr>
          <a:xfrm>
            <a:off x="788673" y="1367790"/>
            <a:ext cx="4583430" cy="1319927"/>
          </a:xfrm>
          <a:prstGeom prst="roundRect">
            <a:avLst>
              <a:gd name="adj" fmla="val 5773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5" name="Text 40"/>
          <p:cNvSpPr/>
          <p:nvPr/>
        </p:nvSpPr>
        <p:spPr>
          <a:xfrm>
            <a:off x="910591" y="1470660"/>
            <a:ext cx="446977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750" dirty="0"/>
          </a:p>
        </p:txBody>
      </p:sp>
      <p:sp>
        <p:nvSpPr>
          <p:cNvPr id="56" name="Shape 41"/>
          <p:cNvSpPr/>
          <p:nvPr/>
        </p:nvSpPr>
        <p:spPr>
          <a:xfrm>
            <a:off x="910591" y="1604010"/>
            <a:ext cx="4339590" cy="515779"/>
          </a:xfrm>
          <a:prstGeom prst="roundRect">
            <a:avLst>
              <a:gd name="adj" fmla="val 11080"/>
            </a:avLst>
          </a:prstGeom>
          <a:solidFill>
            <a:srgbClr val="0F172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7" name="Text 42"/>
          <p:cNvSpPr/>
          <p:nvPr/>
        </p:nvSpPr>
        <p:spPr>
          <a:xfrm>
            <a:off x="1032511" y="1706880"/>
            <a:ext cx="4225938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when: count(mfa.denied, 10m) &gt; 10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verdict: anomaly</a:t>
            </a:r>
            <a:endParaRPr lang="en-US" sz="788" dirty="0"/>
          </a:p>
        </p:txBody>
      </p:sp>
      <p:sp>
        <p:nvSpPr>
          <p:cNvPr id="58" name="Shape 43"/>
          <p:cNvSpPr/>
          <p:nvPr/>
        </p:nvSpPr>
        <p:spPr>
          <a:xfrm>
            <a:off x="5448300" y="1367790"/>
            <a:ext cx="4583430" cy="1319927"/>
          </a:xfrm>
          <a:prstGeom prst="roundRect">
            <a:avLst>
              <a:gd name="adj" fmla="val 5773"/>
            </a:avLst>
          </a:prstGeom>
          <a:solidFill>
            <a:srgbClr val="F8FAFC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59" name="Text 44"/>
          <p:cNvSpPr/>
          <p:nvPr/>
        </p:nvSpPr>
        <p:spPr>
          <a:xfrm>
            <a:off x="5570223" y="1470660"/>
            <a:ext cx="446977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· PROPOSED</a:t>
            </a:r>
            <a:endParaRPr lang="en-US" sz="750" dirty="0"/>
          </a:p>
        </p:txBody>
      </p:sp>
      <p:sp>
        <p:nvSpPr>
          <p:cNvPr id="60" name="Shape 45"/>
          <p:cNvSpPr/>
          <p:nvPr/>
        </p:nvSpPr>
        <p:spPr>
          <a:xfrm>
            <a:off x="5570223" y="1604010"/>
            <a:ext cx="4339590" cy="980837"/>
          </a:xfrm>
          <a:prstGeom prst="roundRect">
            <a:avLst>
              <a:gd name="adj" fmla="val 5827"/>
            </a:avLst>
          </a:prstGeom>
          <a:solidFill>
            <a:srgbClr val="0F172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1" name="Text 46"/>
          <p:cNvSpPr/>
          <p:nvPr/>
        </p:nvSpPr>
        <p:spPr>
          <a:xfrm>
            <a:off x="5692143" y="1706880"/>
            <a:ext cx="4225938" cy="813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when: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count(mfa.denied, 10m) &gt; 10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new_asn(user, 30d)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verdict: true_positive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confidence: 0.92</a:t>
            </a:r>
            <a:endParaRPr lang="en-US" sz="788" dirty="0"/>
          </a:p>
        </p:txBody>
      </p:sp>
      <p:sp>
        <p:nvSpPr>
          <p:cNvPr id="62" name="Text 47"/>
          <p:cNvSpPr/>
          <p:nvPr/>
        </p:nvSpPr>
        <p:spPr>
          <a:xfrm>
            <a:off x="788673" y="2744867"/>
            <a:ext cx="952035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· case #3501 (alex), case #3911 (alex). decay schedule: 6 months unless re-confirmed.</a:t>
            </a:r>
            <a:endParaRPr lang="en-US" sz="863" dirty="0"/>
          </a:p>
        </p:txBody>
      </p:sp>
      <p:sp>
        <p:nvSpPr>
          <p:cNvPr id="63" name="Shape 48"/>
          <p:cNvSpPr/>
          <p:nvPr/>
        </p:nvSpPr>
        <p:spPr>
          <a:xfrm>
            <a:off x="666750" y="3077290"/>
            <a:ext cx="9486900" cy="71437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4" name="Shape 49"/>
          <p:cNvSpPr/>
          <p:nvPr/>
        </p:nvSpPr>
        <p:spPr>
          <a:xfrm>
            <a:off x="788673" y="3205878"/>
            <a:ext cx="1602105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65" name="Shape 50"/>
          <p:cNvSpPr/>
          <p:nvPr/>
        </p:nvSpPr>
        <p:spPr>
          <a:xfrm>
            <a:off x="862966" y="3277315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66" name="Text 51"/>
          <p:cNvSpPr/>
          <p:nvPr/>
        </p:nvSpPr>
        <p:spPr>
          <a:xfrm>
            <a:off x="958216" y="3232547"/>
            <a:ext cx="143446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→ new detection</a:t>
            </a:r>
            <a:endParaRPr lang="en-US" sz="825" dirty="0"/>
          </a:p>
        </p:txBody>
      </p:sp>
      <p:sp>
        <p:nvSpPr>
          <p:cNvPr id="67" name="Text 52"/>
          <p:cNvSpPr/>
          <p:nvPr/>
        </p:nvSpPr>
        <p:spPr>
          <a:xfrm>
            <a:off x="2447925" y="3212545"/>
            <a:ext cx="412100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Calendly+ OAuth grant pattern (hunt S31) → draft detection</a:t>
            </a:r>
            <a:endParaRPr lang="en-US" sz="1050" dirty="0"/>
          </a:p>
        </p:txBody>
      </p:sp>
      <p:sp>
        <p:nvSpPr>
          <p:cNvPr id="68" name="Shape 53"/>
          <p:cNvSpPr/>
          <p:nvPr/>
        </p:nvSpPr>
        <p:spPr>
          <a:xfrm>
            <a:off x="8314613" y="3180159"/>
            <a:ext cx="424815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9" name="Text 54"/>
          <p:cNvSpPr/>
          <p:nvPr/>
        </p:nvSpPr>
        <p:spPr>
          <a:xfrm>
            <a:off x="8417482" y="3225880"/>
            <a:ext cx="29527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900" dirty="0"/>
          </a:p>
        </p:txBody>
      </p:sp>
      <p:sp>
        <p:nvSpPr>
          <p:cNvPr id="70" name="Shape 55"/>
          <p:cNvSpPr/>
          <p:nvPr/>
        </p:nvSpPr>
        <p:spPr>
          <a:xfrm>
            <a:off x="8777525" y="3180159"/>
            <a:ext cx="616029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1" name="Text 56"/>
          <p:cNvSpPr/>
          <p:nvPr/>
        </p:nvSpPr>
        <p:spPr>
          <a:xfrm>
            <a:off x="8880397" y="3225880"/>
            <a:ext cx="48648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dismiss</a:t>
            </a:r>
            <a:endParaRPr lang="en-US" sz="900" dirty="0"/>
          </a:p>
        </p:txBody>
      </p:sp>
      <p:sp>
        <p:nvSpPr>
          <p:cNvPr id="72" name="Shape 57"/>
          <p:cNvSpPr/>
          <p:nvPr/>
        </p:nvSpPr>
        <p:spPr>
          <a:xfrm>
            <a:off x="9431657" y="3180159"/>
            <a:ext cx="600075" cy="251460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73" name="Text 58"/>
          <p:cNvSpPr/>
          <p:nvPr/>
        </p:nvSpPr>
        <p:spPr>
          <a:xfrm>
            <a:off x="9534525" y="3225880"/>
            <a:ext cx="47053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900" dirty="0"/>
          </a:p>
        </p:txBody>
      </p:sp>
      <p:sp>
        <p:nvSpPr>
          <p:cNvPr id="74" name="Shape 59"/>
          <p:cNvSpPr/>
          <p:nvPr/>
        </p:nvSpPr>
        <p:spPr>
          <a:xfrm>
            <a:off x="788673" y="3488770"/>
            <a:ext cx="1237178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75" name="Shape 60"/>
          <p:cNvSpPr/>
          <p:nvPr/>
        </p:nvSpPr>
        <p:spPr>
          <a:xfrm>
            <a:off x="862966" y="3560207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76" name="Text 61"/>
          <p:cNvSpPr/>
          <p:nvPr/>
        </p:nvSpPr>
        <p:spPr>
          <a:xfrm>
            <a:off x="958216" y="3515440"/>
            <a:ext cx="10695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historical matches</a:t>
            </a:r>
            <a:endParaRPr lang="en-US" sz="825" dirty="0"/>
          </a:p>
        </p:txBody>
      </p:sp>
      <p:sp>
        <p:nvSpPr>
          <p:cNvPr id="77" name="Shape 62"/>
          <p:cNvSpPr/>
          <p:nvPr/>
        </p:nvSpPr>
        <p:spPr>
          <a:xfrm>
            <a:off x="2082998" y="3488770"/>
            <a:ext cx="1096089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78" name="Shape 63"/>
          <p:cNvSpPr/>
          <p:nvPr/>
        </p:nvSpPr>
        <p:spPr>
          <a:xfrm>
            <a:off x="2157296" y="3560207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79" name="Text 64"/>
          <p:cNvSpPr/>
          <p:nvPr/>
        </p:nvSpPr>
        <p:spPr>
          <a:xfrm>
            <a:off x="2252546" y="3515440"/>
            <a:ext cx="92844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 rate sim · 1.8%</a:t>
            </a:r>
            <a:endParaRPr lang="en-US" sz="825" dirty="0"/>
          </a:p>
        </p:txBody>
      </p:sp>
      <p:sp>
        <p:nvSpPr>
          <p:cNvPr id="80" name="Shape 65"/>
          <p:cNvSpPr/>
          <p:nvPr/>
        </p:nvSpPr>
        <p:spPr>
          <a:xfrm>
            <a:off x="3236240" y="3488770"/>
            <a:ext cx="1452324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81" name="Shape 66"/>
          <p:cNvSpPr/>
          <p:nvPr/>
        </p:nvSpPr>
        <p:spPr>
          <a:xfrm>
            <a:off x="3310533" y="356020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82" name="Text 67"/>
          <p:cNvSpPr/>
          <p:nvPr/>
        </p:nvSpPr>
        <p:spPr>
          <a:xfrm>
            <a:off x="3405783" y="3515440"/>
            <a:ext cx="128468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MITRE T1556.007</a:t>
            </a:r>
            <a:endParaRPr lang="en-US" sz="825" dirty="0"/>
          </a:p>
        </p:txBody>
      </p:sp>
      <p:sp>
        <p:nvSpPr>
          <p:cNvPr id="83" name="Shape 68"/>
          <p:cNvSpPr/>
          <p:nvPr/>
        </p:nvSpPr>
        <p:spPr>
          <a:xfrm>
            <a:off x="666750" y="3867865"/>
            <a:ext cx="9486900" cy="667702"/>
          </a:xfrm>
          <a:prstGeom prst="roundRect">
            <a:avLst>
              <a:gd name="adj" fmla="val 11412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4" name="Shape 69"/>
          <p:cNvSpPr/>
          <p:nvPr/>
        </p:nvSpPr>
        <p:spPr>
          <a:xfrm>
            <a:off x="788673" y="3996453"/>
            <a:ext cx="1402080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85" name="Shape 70"/>
          <p:cNvSpPr/>
          <p:nvPr/>
        </p:nvSpPr>
        <p:spPr>
          <a:xfrm>
            <a:off x="862966" y="4067890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86" name="Text 71"/>
          <p:cNvSpPr/>
          <p:nvPr/>
        </p:nvSpPr>
        <p:spPr>
          <a:xfrm>
            <a:off x="958216" y="4023122"/>
            <a:ext cx="123444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→ enforcement</a:t>
            </a:r>
            <a:endParaRPr lang="en-US" sz="825" dirty="0"/>
          </a:p>
        </p:txBody>
      </p:sp>
      <p:sp>
        <p:nvSpPr>
          <p:cNvPr id="87" name="Text 72"/>
          <p:cNvSpPr/>
          <p:nvPr/>
        </p:nvSpPr>
        <p:spPr>
          <a:xfrm>
            <a:off x="2247900" y="4003120"/>
            <a:ext cx="552590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malicious DGA pattern on agent pods → kernel egress policy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kc-dns-dga.v3</a:t>
            </a:r>
            <a:endParaRPr lang="en-US" sz="1050" dirty="0"/>
          </a:p>
        </p:txBody>
      </p:sp>
      <p:sp>
        <p:nvSpPr>
          <p:cNvPr id="88" name="Shape 73"/>
          <p:cNvSpPr/>
          <p:nvPr/>
        </p:nvSpPr>
        <p:spPr>
          <a:xfrm>
            <a:off x="7805975" y="3970734"/>
            <a:ext cx="424815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9" name="Text 74"/>
          <p:cNvSpPr/>
          <p:nvPr/>
        </p:nvSpPr>
        <p:spPr>
          <a:xfrm>
            <a:off x="7908847" y="4016455"/>
            <a:ext cx="29527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900" dirty="0"/>
          </a:p>
        </p:txBody>
      </p:sp>
      <p:sp>
        <p:nvSpPr>
          <p:cNvPr id="90" name="Shape 75"/>
          <p:cNvSpPr/>
          <p:nvPr/>
        </p:nvSpPr>
        <p:spPr>
          <a:xfrm>
            <a:off x="8268891" y="3970734"/>
            <a:ext cx="616029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1" name="Text 76"/>
          <p:cNvSpPr/>
          <p:nvPr/>
        </p:nvSpPr>
        <p:spPr>
          <a:xfrm>
            <a:off x="8371763" y="4016455"/>
            <a:ext cx="48648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dismiss</a:t>
            </a:r>
            <a:endParaRPr lang="en-US" sz="900" dirty="0"/>
          </a:p>
        </p:txBody>
      </p:sp>
      <p:sp>
        <p:nvSpPr>
          <p:cNvPr id="92" name="Shape 77"/>
          <p:cNvSpPr/>
          <p:nvPr/>
        </p:nvSpPr>
        <p:spPr>
          <a:xfrm>
            <a:off x="8923023" y="3970734"/>
            <a:ext cx="1108710" cy="251460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93" name="Text 78"/>
          <p:cNvSpPr/>
          <p:nvPr/>
        </p:nvSpPr>
        <p:spPr>
          <a:xfrm>
            <a:off x="9025891" y="4016455"/>
            <a:ext cx="97917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· enforce</a:t>
            </a:r>
            <a:endParaRPr lang="en-US" sz="900" dirty="0"/>
          </a:p>
        </p:txBody>
      </p:sp>
      <p:sp>
        <p:nvSpPr>
          <p:cNvPr id="94" name="Text 79"/>
          <p:cNvSpPr/>
          <p:nvPr/>
        </p:nvSpPr>
        <p:spPr>
          <a:xfrm>
            <a:off x="788673" y="4279345"/>
            <a:ext cx="952035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promotes the pattern from "detection" all the way to "kernel block." this is the loop the brief asks for.</a:t>
            </a:r>
            <a:endParaRPr lang="en-US" sz="863" dirty="0"/>
          </a:p>
        </p:txBody>
      </p:sp>
      <p:sp>
        <p:nvSpPr>
          <p:cNvPr id="95" name="Shape 80"/>
          <p:cNvSpPr/>
          <p:nvPr/>
        </p:nvSpPr>
        <p:spPr>
          <a:xfrm>
            <a:off x="8061959" y="5840731"/>
            <a:ext cx="2072640" cy="674370"/>
          </a:xfrm>
          <a:prstGeom prst="roundRect">
            <a:avLst>
              <a:gd name="adj" fmla="val 565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96" name="Text 81"/>
          <p:cNvSpPr/>
          <p:nvPr/>
        </p:nvSpPr>
        <p:spPr>
          <a:xfrm>
            <a:off x="8145779" y="5905501"/>
            <a:ext cx="1981200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approves what hardens into a rule. controllable autonomy applied to learning itself.</a:t>
            </a:r>
            <a:endParaRPr lang="en-US" sz="8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5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7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" y="2047875"/>
            <a:ext cx="171450" cy="1714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2409825"/>
            <a:ext cx="171450" cy="17145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91440" y="26860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" y="3133724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" y="3495674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4"/>
            <a:ext cx="80105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fleet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1486853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1594842" y="144780"/>
            <a:ext cx="191226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— but the team is software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583305" y="74294"/>
            <a:ext cx="3907631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6175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857625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6" y="108584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4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0" y="131444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1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1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2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6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09"/>
            <a:ext cx="161139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AI-SOC team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703463" y="616267"/>
            <a:ext cx="62829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7777758" y="68770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0" name="Text 25"/>
          <p:cNvSpPr/>
          <p:nvPr/>
        </p:nvSpPr>
        <p:spPr>
          <a:xfrm>
            <a:off x="7873008" y="642938"/>
            <a:ext cx="46065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active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8388906" y="616267"/>
            <a:ext cx="68115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8463201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3" name="Text 28"/>
          <p:cNvSpPr/>
          <p:nvPr/>
        </p:nvSpPr>
        <p:spPr>
          <a:xfrm>
            <a:off x="8558451" y="642938"/>
            <a:ext cx="51351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paused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9127212" y="590550"/>
            <a:ext cx="1026438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Text 30"/>
          <p:cNvSpPr/>
          <p:nvPr/>
        </p:nvSpPr>
        <p:spPr>
          <a:xfrm>
            <a:off x="9230082" y="636269"/>
            <a:ext cx="89689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deploy agent</a:t>
            </a:r>
            <a:endParaRPr lang="en-US" sz="900" dirty="0"/>
          </a:p>
        </p:txBody>
      </p:sp>
      <p:sp>
        <p:nvSpPr>
          <p:cNvPr id="46" name="Shape 31"/>
          <p:cNvSpPr/>
          <p:nvPr/>
        </p:nvSpPr>
        <p:spPr>
          <a:xfrm>
            <a:off x="666750" y="937259"/>
            <a:ext cx="3111460" cy="1863685"/>
          </a:xfrm>
          <a:prstGeom prst="roundRect">
            <a:avLst>
              <a:gd name="adj" fmla="val 4089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7" name="Shape 32"/>
          <p:cNvSpPr/>
          <p:nvPr/>
        </p:nvSpPr>
        <p:spPr>
          <a:xfrm>
            <a:off x="769620" y="1146809"/>
            <a:ext cx="240744" cy="266700"/>
          </a:xfrm>
          <a:prstGeom prst="roundRect">
            <a:avLst>
              <a:gd name="adj" fmla="val 27695"/>
            </a:avLst>
          </a:prstGeom>
          <a:solidFill>
            <a:srgbClr val="0F172A"/>
          </a:solidFill>
          <a:ln/>
        </p:spPr>
      </p:sp>
      <p:sp>
        <p:nvSpPr>
          <p:cNvPr id="48" name="Text 33"/>
          <p:cNvSpPr/>
          <p:nvPr/>
        </p:nvSpPr>
        <p:spPr>
          <a:xfrm>
            <a:off x="769620" y="1146809"/>
            <a:ext cx="3169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75" dirty="0"/>
          </a:p>
        </p:txBody>
      </p:sp>
      <p:sp>
        <p:nvSpPr>
          <p:cNvPr id="49" name="Text 34"/>
          <p:cNvSpPr/>
          <p:nvPr/>
        </p:nvSpPr>
        <p:spPr>
          <a:xfrm>
            <a:off x="1067514" y="1040130"/>
            <a:ext cx="1693069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ClawArmor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50" dirty="0"/>
          </a:p>
        </p:txBody>
      </p:sp>
      <p:sp>
        <p:nvSpPr>
          <p:cNvPr id="50" name="Text 35"/>
          <p:cNvSpPr/>
          <p:nvPr/>
        </p:nvSpPr>
        <p:spPr>
          <a:xfrm>
            <a:off x="1067514" y="1226819"/>
            <a:ext cx="169306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shipped · runtime detect + enforce</a:t>
            </a:r>
            <a:endParaRPr lang="en-US" sz="825" dirty="0"/>
          </a:p>
        </p:txBody>
      </p:sp>
      <p:sp>
        <p:nvSpPr>
          <p:cNvPr id="51" name="Shape 36"/>
          <p:cNvSpPr/>
          <p:nvPr/>
        </p:nvSpPr>
        <p:spPr>
          <a:xfrm>
            <a:off x="2741533" y="1180147"/>
            <a:ext cx="9338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52" name="Shape 37"/>
          <p:cNvSpPr/>
          <p:nvPr/>
        </p:nvSpPr>
        <p:spPr>
          <a:xfrm>
            <a:off x="2815828" y="1251584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3" name="Text 38"/>
          <p:cNvSpPr/>
          <p:nvPr/>
        </p:nvSpPr>
        <p:spPr>
          <a:xfrm>
            <a:off x="2911078" y="1206817"/>
            <a:ext cx="76616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sandboxed</a:t>
            </a:r>
            <a:endParaRPr lang="en-US" sz="825" dirty="0"/>
          </a:p>
        </p:txBody>
      </p:sp>
      <p:sp>
        <p:nvSpPr>
          <p:cNvPr id="54" name="Text 39"/>
          <p:cNvSpPr/>
          <p:nvPr/>
        </p:nvSpPr>
        <p:spPr>
          <a:xfrm>
            <a:off x="769620" y="1596390"/>
            <a:ext cx="410885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63" dirty="0"/>
          </a:p>
        </p:txBody>
      </p:sp>
      <p:sp>
        <p:nvSpPr>
          <p:cNvPr id="55" name="Text 40"/>
          <p:cNvSpPr/>
          <p:nvPr/>
        </p:nvSpPr>
        <p:spPr>
          <a:xfrm>
            <a:off x="2293620" y="1596390"/>
            <a:ext cx="1457920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triaging 14 alerts · prod-eu-1</a:t>
            </a:r>
            <a:endParaRPr lang="en-US" sz="863" dirty="0"/>
          </a:p>
        </p:txBody>
      </p:sp>
      <p:sp>
        <p:nvSpPr>
          <p:cNvPr id="56" name="Text 41"/>
          <p:cNvSpPr/>
          <p:nvPr/>
        </p:nvSpPr>
        <p:spPr>
          <a:xfrm>
            <a:off x="769620" y="1811178"/>
            <a:ext cx="55709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863" dirty="0"/>
          </a:p>
        </p:txBody>
      </p:sp>
      <p:sp>
        <p:nvSpPr>
          <p:cNvPr id="57" name="Shape 42"/>
          <p:cNvSpPr/>
          <p:nvPr/>
        </p:nvSpPr>
        <p:spPr>
          <a:xfrm>
            <a:off x="3201948" y="1787842"/>
            <a:ext cx="47339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3276243" y="1859280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9" name="Text 44"/>
          <p:cNvSpPr/>
          <p:nvPr/>
        </p:nvSpPr>
        <p:spPr>
          <a:xfrm>
            <a:off x="3371493" y="1822132"/>
            <a:ext cx="30575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25" dirty="0"/>
          </a:p>
        </p:txBody>
      </p:sp>
      <p:sp>
        <p:nvSpPr>
          <p:cNvPr id="60" name="Text 45"/>
          <p:cNvSpPr/>
          <p:nvPr/>
        </p:nvSpPr>
        <p:spPr>
          <a:xfrm>
            <a:off x="769620" y="2025967"/>
            <a:ext cx="56923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action</a:t>
            </a:r>
            <a:endParaRPr lang="en-US" sz="863" dirty="0"/>
          </a:p>
        </p:txBody>
      </p:sp>
      <p:sp>
        <p:nvSpPr>
          <p:cNvPr id="61" name="Text 46"/>
          <p:cNvSpPr/>
          <p:nvPr/>
        </p:nvSpPr>
        <p:spPr>
          <a:xfrm>
            <a:off x="2417802" y="2029301"/>
            <a:ext cx="13337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13:32 · block egress</a:t>
            </a:r>
            <a:endParaRPr lang="en-US" sz="825" dirty="0"/>
          </a:p>
        </p:txBody>
      </p:sp>
      <p:sp>
        <p:nvSpPr>
          <p:cNvPr id="62" name="Shape 47"/>
          <p:cNvSpPr/>
          <p:nvPr/>
        </p:nvSpPr>
        <p:spPr>
          <a:xfrm>
            <a:off x="769620" y="2255519"/>
            <a:ext cx="83308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3" name="Text 48"/>
          <p:cNvSpPr/>
          <p:nvPr/>
        </p:nvSpPr>
        <p:spPr>
          <a:xfrm>
            <a:off x="843915" y="2282190"/>
            <a:ext cx="7606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sandbox</a:t>
            </a:r>
            <a:endParaRPr lang="en-US" sz="825" dirty="0"/>
          </a:p>
        </p:txBody>
      </p:sp>
      <p:sp>
        <p:nvSpPr>
          <p:cNvPr id="64" name="Shape 49"/>
          <p:cNvSpPr/>
          <p:nvPr/>
        </p:nvSpPr>
        <p:spPr>
          <a:xfrm>
            <a:off x="1640800" y="2255519"/>
            <a:ext cx="90547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5" name="Text 50"/>
          <p:cNvSpPr/>
          <p:nvPr/>
        </p:nvSpPr>
        <p:spPr>
          <a:xfrm>
            <a:off x="1715095" y="2282190"/>
            <a:ext cx="8330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autonomy</a:t>
            </a:r>
            <a:endParaRPr lang="en-US" sz="825" dirty="0"/>
          </a:p>
        </p:txBody>
      </p:sp>
      <p:sp>
        <p:nvSpPr>
          <p:cNvPr id="66" name="Shape 51"/>
          <p:cNvSpPr/>
          <p:nvPr/>
        </p:nvSpPr>
        <p:spPr>
          <a:xfrm>
            <a:off x="3854410" y="937259"/>
            <a:ext cx="3111460" cy="1863685"/>
          </a:xfrm>
          <a:prstGeom prst="roundRect">
            <a:avLst>
              <a:gd name="adj" fmla="val 4089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7" name="Shape 52"/>
          <p:cNvSpPr/>
          <p:nvPr/>
        </p:nvSpPr>
        <p:spPr>
          <a:xfrm>
            <a:off x="3957280" y="1073467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</p:spPr>
      </p:sp>
      <p:sp>
        <p:nvSpPr>
          <p:cNvPr id="68" name="Text 53"/>
          <p:cNvSpPr/>
          <p:nvPr/>
        </p:nvSpPr>
        <p:spPr>
          <a:xfrm>
            <a:off x="3957280" y="1073467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75" dirty="0"/>
          </a:p>
        </p:txBody>
      </p:sp>
      <p:sp>
        <p:nvSpPr>
          <p:cNvPr id="69" name="Text 54"/>
          <p:cNvSpPr/>
          <p:nvPr/>
        </p:nvSpPr>
        <p:spPr>
          <a:xfrm>
            <a:off x="4281130" y="1040130"/>
            <a:ext cx="160198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TriageAgent</a:t>
            </a:r>
            <a:endParaRPr lang="en-US" sz="1050" dirty="0"/>
          </a:p>
        </p:txBody>
      </p:sp>
      <p:sp>
        <p:nvSpPr>
          <p:cNvPr id="70" name="Text 55"/>
          <p:cNvSpPr/>
          <p:nvPr/>
        </p:nvSpPr>
        <p:spPr>
          <a:xfrm>
            <a:off x="4281130" y="1226819"/>
            <a:ext cx="160198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auto-triages every alert to verdict</a:t>
            </a:r>
            <a:endParaRPr lang="en-US" sz="825" dirty="0"/>
          </a:p>
        </p:txBody>
      </p:sp>
      <p:sp>
        <p:nvSpPr>
          <p:cNvPr id="71" name="Shape 56"/>
          <p:cNvSpPr/>
          <p:nvPr/>
        </p:nvSpPr>
        <p:spPr>
          <a:xfrm>
            <a:off x="5929193" y="1106805"/>
            <a:ext cx="9338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72" name="Shape 57"/>
          <p:cNvSpPr/>
          <p:nvPr/>
        </p:nvSpPr>
        <p:spPr>
          <a:xfrm>
            <a:off x="6003489" y="117824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73" name="Text 58"/>
          <p:cNvSpPr/>
          <p:nvPr/>
        </p:nvSpPr>
        <p:spPr>
          <a:xfrm>
            <a:off x="6098739" y="1133475"/>
            <a:ext cx="76616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sandboxed</a:t>
            </a:r>
            <a:endParaRPr lang="en-US" sz="825" dirty="0"/>
          </a:p>
        </p:txBody>
      </p:sp>
      <p:sp>
        <p:nvSpPr>
          <p:cNvPr id="74" name="Text 59"/>
          <p:cNvSpPr/>
          <p:nvPr/>
        </p:nvSpPr>
        <p:spPr>
          <a:xfrm>
            <a:off x="3957280" y="1449705"/>
            <a:ext cx="410885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63" dirty="0"/>
          </a:p>
        </p:txBody>
      </p:sp>
      <p:sp>
        <p:nvSpPr>
          <p:cNvPr id="75" name="Text 60"/>
          <p:cNvSpPr/>
          <p:nvPr/>
        </p:nvSpPr>
        <p:spPr>
          <a:xfrm>
            <a:off x="5262086" y="1449705"/>
            <a:ext cx="167711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802 false positives last 1h</a:t>
            </a:r>
            <a:endParaRPr lang="en-US" sz="863" dirty="0"/>
          </a:p>
        </p:txBody>
      </p:sp>
      <p:sp>
        <p:nvSpPr>
          <p:cNvPr id="76" name="Text 61"/>
          <p:cNvSpPr/>
          <p:nvPr/>
        </p:nvSpPr>
        <p:spPr>
          <a:xfrm>
            <a:off x="3957280" y="1664494"/>
            <a:ext cx="55709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863" dirty="0"/>
          </a:p>
        </p:txBody>
      </p:sp>
      <p:sp>
        <p:nvSpPr>
          <p:cNvPr id="77" name="Shape 62"/>
          <p:cNvSpPr/>
          <p:nvPr/>
        </p:nvSpPr>
        <p:spPr>
          <a:xfrm>
            <a:off x="6389608" y="1641157"/>
            <a:ext cx="47339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78" name="Shape 63"/>
          <p:cNvSpPr/>
          <p:nvPr/>
        </p:nvSpPr>
        <p:spPr>
          <a:xfrm>
            <a:off x="6463903" y="1712594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79" name="Text 64"/>
          <p:cNvSpPr/>
          <p:nvPr/>
        </p:nvSpPr>
        <p:spPr>
          <a:xfrm>
            <a:off x="6559153" y="1675447"/>
            <a:ext cx="305753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25" dirty="0"/>
          </a:p>
        </p:txBody>
      </p:sp>
      <p:sp>
        <p:nvSpPr>
          <p:cNvPr id="80" name="Text 65"/>
          <p:cNvSpPr/>
          <p:nvPr/>
        </p:nvSpPr>
        <p:spPr>
          <a:xfrm>
            <a:off x="3957280" y="1879282"/>
            <a:ext cx="56923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action</a:t>
            </a:r>
            <a:endParaRPr lang="en-US" sz="863" dirty="0"/>
          </a:p>
        </p:txBody>
      </p:sp>
      <p:sp>
        <p:nvSpPr>
          <p:cNvPr id="81" name="Text 66"/>
          <p:cNvSpPr/>
          <p:nvPr/>
        </p:nvSpPr>
        <p:spPr>
          <a:xfrm>
            <a:off x="5668328" y="1882615"/>
            <a:ext cx="127087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13:31 · close #3209</a:t>
            </a:r>
            <a:endParaRPr lang="en-US" sz="825" dirty="0"/>
          </a:p>
        </p:txBody>
      </p:sp>
      <p:sp>
        <p:nvSpPr>
          <p:cNvPr id="82" name="Shape 67"/>
          <p:cNvSpPr/>
          <p:nvPr/>
        </p:nvSpPr>
        <p:spPr>
          <a:xfrm>
            <a:off x="3957280" y="2108834"/>
            <a:ext cx="83308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3" name="Text 68"/>
          <p:cNvSpPr/>
          <p:nvPr/>
        </p:nvSpPr>
        <p:spPr>
          <a:xfrm>
            <a:off x="4031575" y="2135505"/>
            <a:ext cx="7606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sandbox</a:t>
            </a:r>
            <a:endParaRPr lang="en-US" sz="825" dirty="0"/>
          </a:p>
        </p:txBody>
      </p:sp>
      <p:sp>
        <p:nvSpPr>
          <p:cNvPr id="84" name="Shape 69"/>
          <p:cNvSpPr/>
          <p:nvPr/>
        </p:nvSpPr>
        <p:spPr>
          <a:xfrm>
            <a:off x="4828461" y="2108834"/>
            <a:ext cx="90547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5" name="Text 70"/>
          <p:cNvSpPr/>
          <p:nvPr/>
        </p:nvSpPr>
        <p:spPr>
          <a:xfrm>
            <a:off x="4902756" y="2135505"/>
            <a:ext cx="8330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autonomy</a:t>
            </a:r>
            <a:endParaRPr lang="en-US" sz="825" dirty="0"/>
          </a:p>
        </p:txBody>
      </p:sp>
      <p:sp>
        <p:nvSpPr>
          <p:cNvPr id="86" name="Shape 71"/>
          <p:cNvSpPr/>
          <p:nvPr/>
        </p:nvSpPr>
        <p:spPr>
          <a:xfrm>
            <a:off x="7042071" y="937259"/>
            <a:ext cx="3111580" cy="1863685"/>
          </a:xfrm>
          <a:prstGeom prst="roundRect">
            <a:avLst>
              <a:gd name="adj" fmla="val 4089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7" name="Shape 72"/>
          <p:cNvSpPr/>
          <p:nvPr/>
        </p:nvSpPr>
        <p:spPr>
          <a:xfrm>
            <a:off x="7144941" y="1073467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</p:spPr>
      </p:sp>
      <p:sp>
        <p:nvSpPr>
          <p:cNvPr id="88" name="Text 73"/>
          <p:cNvSpPr/>
          <p:nvPr/>
        </p:nvSpPr>
        <p:spPr>
          <a:xfrm>
            <a:off x="7144941" y="1073467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975" dirty="0"/>
          </a:p>
        </p:txBody>
      </p:sp>
      <p:sp>
        <p:nvSpPr>
          <p:cNvPr id="89" name="Text 74"/>
          <p:cNvSpPr/>
          <p:nvPr/>
        </p:nvSpPr>
        <p:spPr>
          <a:xfrm>
            <a:off x="7468791" y="1040130"/>
            <a:ext cx="1584603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InvestAgent</a:t>
            </a:r>
            <a:endParaRPr lang="en-US" sz="1050" dirty="0"/>
          </a:p>
        </p:txBody>
      </p:sp>
      <p:sp>
        <p:nvSpPr>
          <p:cNvPr id="90" name="Text 75"/>
          <p:cNvSpPr/>
          <p:nvPr/>
        </p:nvSpPr>
        <p:spPr>
          <a:xfrm>
            <a:off x="7468791" y="1226819"/>
            <a:ext cx="158460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stitches attack chains · evidence</a:t>
            </a:r>
            <a:endParaRPr lang="en-US" sz="825" dirty="0"/>
          </a:p>
        </p:txBody>
      </p:sp>
      <p:sp>
        <p:nvSpPr>
          <p:cNvPr id="91" name="Shape 76"/>
          <p:cNvSpPr/>
          <p:nvPr/>
        </p:nvSpPr>
        <p:spPr>
          <a:xfrm>
            <a:off x="9116973" y="1106805"/>
            <a:ext cx="9338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92" name="Shape 77"/>
          <p:cNvSpPr/>
          <p:nvPr/>
        </p:nvSpPr>
        <p:spPr>
          <a:xfrm>
            <a:off x="9191268" y="117824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93" name="Text 78"/>
          <p:cNvSpPr/>
          <p:nvPr/>
        </p:nvSpPr>
        <p:spPr>
          <a:xfrm>
            <a:off x="9286518" y="1133475"/>
            <a:ext cx="76616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sandboxed</a:t>
            </a:r>
            <a:endParaRPr lang="en-US" sz="825" dirty="0"/>
          </a:p>
        </p:txBody>
      </p:sp>
      <p:sp>
        <p:nvSpPr>
          <p:cNvPr id="94" name="Text 79"/>
          <p:cNvSpPr/>
          <p:nvPr/>
        </p:nvSpPr>
        <p:spPr>
          <a:xfrm>
            <a:off x="7144941" y="1449705"/>
            <a:ext cx="410885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63" dirty="0"/>
          </a:p>
        </p:txBody>
      </p:sp>
      <p:sp>
        <p:nvSpPr>
          <p:cNvPr id="95" name="Text 80"/>
          <p:cNvSpPr/>
          <p:nvPr/>
        </p:nvSpPr>
        <p:spPr>
          <a:xfrm>
            <a:off x="8504754" y="1449705"/>
            <a:ext cx="162222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case #4129 · 6 sources</a:t>
            </a:r>
            <a:endParaRPr lang="en-US" sz="863" dirty="0"/>
          </a:p>
        </p:txBody>
      </p:sp>
      <p:sp>
        <p:nvSpPr>
          <p:cNvPr id="96" name="Text 81"/>
          <p:cNvSpPr/>
          <p:nvPr/>
        </p:nvSpPr>
        <p:spPr>
          <a:xfrm>
            <a:off x="7144941" y="1664494"/>
            <a:ext cx="55709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863" dirty="0"/>
          </a:p>
        </p:txBody>
      </p:sp>
      <p:sp>
        <p:nvSpPr>
          <p:cNvPr id="97" name="Shape 82"/>
          <p:cNvSpPr/>
          <p:nvPr/>
        </p:nvSpPr>
        <p:spPr>
          <a:xfrm>
            <a:off x="9467016" y="1641157"/>
            <a:ext cx="58376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98" name="Shape 83"/>
          <p:cNvSpPr/>
          <p:nvPr/>
        </p:nvSpPr>
        <p:spPr>
          <a:xfrm>
            <a:off x="9541312" y="1712594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99" name="Text 84"/>
          <p:cNvSpPr/>
          <p:nvPr/>
        </p:nvSpPr>
        <p:spPr>
          <a:xfrm>
            <a:off x="9636562" y="1675447"/>
            <a:ext cx="416123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825" dirty="0"/>
          </a:p>
        </p:txBody>
      </p:sp>
      <p:sp>
        <p:nvSpPr>
          <p:cNvPr id="100" name="Text 85"/>
          <p:cNvSpPr/>
          <p:nvPr/>
        </p:nvSpPr>
        <p:spPr>
          <a:xfrm>
            <a:off x="7144941" y="1879282"/>
            <a:ext cx="56923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action</a:t>
            </a:r>
            <a:endParaRPr lang="en-US" sz="863" dirty="0"/>
          </a:p>
        </p:txBody>
      </p:sp>
      <p:sp>
        <p:nvSpPr>
          <p:cNvPr id="101" name="Text 86"/>
          <p:cNvSpPr/>
          <p:nvPr/>
        </p:nvSpPr>
        <p:spPr>
          <a:xfrm>
            <a:off x="8478798" y="1882615"/>
            <a:ext cx="164818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13:30 · pivot to identity</a:t>
            </a:r>
            <a:endParaRPr lang="en-US" sz="825" dirty="0"/>
          </a:p>
        </p:txBody>
      </p:sp>
      <p:sp>
        <p:nvSpPr>
          <p:cNvPr id="102" name="Shape 87"/>
          <p:cNvSpPr/>
          <p:nvPr/>
        </p:nvSpPr>
        <p:spPr>
          <a:xfrm>
            <a:off x="7144941" y="2108834"/>
            <a:ext cx="83308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3" name="Text 88"/>
          <p:cNvSpPr/>
          <p:nvPr/>
        </p:nvSpPr>
        <p:spPr>
          <a:xfrm>
            <a:off x="7219236" y="2135505"/>
            <a:ext cx="7606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sandbox</a:t>
            </a:r>
            <a:endParaRPr lang="en-US" sz="825" dirty="0"/>
          </a:p>
        </p:txBody>
      </p:sp>
      <p:sp>
        <p:nvSpPr>
          <p:cNvPr id="104" name="Shape 89"/>
          <p:cNvSpPr/>
          <p:nvPr/>
        </p:nvSpPr>
        <p:spPr>
          <a:xfrm>
            <a:off x="8016121" y="2108834"/>
            <a:ext cx="90547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5" name="Text 90"/>
          <p:cNvSpPr/>
          <p:nvPr/>
        </p:nvSpPr>
        <p:spPr>
          <a:xfrm>
            <a:off x="8090416" y="2135505"/>
            <a:ext cx="8330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autonomy</a:t>
            </a:r>
            <a:endParaRPr lang="en-US" sz="825" dirty="0"/>
          </a:p>
        </p:txBody>
      </p:sp>
      <p:sp>
        <p:nvSpPr>
          <p:cNvPr id="106" name="Shape 91"/>
          <p:cNvSpPr/>
          <p:nvPr/>
        </p:nvSpPr>
        <p:spPr>
          <a:xfrm>
            <a:off x="666750" y="2877145"/>
            <a:ext cx="3111460" cy="1717000"/>
          </a:xfrm>
          <a:prstGeom prst="roundRect">
            <a:avLst>
              <a:gd name="adj" fmla="val 4438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7" name="Shape 92"/>
          <p:cNvSpPr/>
          <p:nvPr/>
        </p:nvSpPr>
        <p:spPr>
          <a:xfrm>
            <a:off x="769620" y="3013352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</p:spPr>
      </p:sp>
      <p:sp>
        <p:nvSpPr>
          <p:cNvPr id="108" name="Text 93"/>
          <p:cNvSpPr/>
          <p:nvPr/>
        </p:nvSpPr>
        <p:spPr>
          <a:xfrm>
            <a:off x="769620" y="3013352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975" dirty="0"/>
          </a:p>
        </p:txBody>
      </p:sp>
      <p:sp>
        <p:nvSpPr>
          <p:cNvPr id="109" name="Text 94"/>
          <p:cNvSpPr/>
          <p:nvPr/>
        </p:nvSpPr>
        <p:spPr>
          <a:xfrm>
            <a:off x="1093470" y="2980015"/>
            <a:ext cx="144887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HuntAgent</a:t>
            </a:r>
            <a:endParaRPr lang="en-US" sz="1050" dirty="0"/>
          </a:p>
        </p:txBody>
      </p:sp>
      <p:sp>
        <p:nvSpPr>
          <p:cNvPr id="110" name="Text 95"/>
          <p:cNvSpPr/>
          <p:nvPr/>
        </p:nvSpPr>
        <p:spPr>
          <a:xfrm>
            <a:off x="1093470" y="3166706"/>
            <a:ext cx="144887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hypothesis-driven hunts on TI</a:t>
            </a:r>
            <a:endParaRPr lang="en-US" sz="825" dirty="0"/>
          </a:p>
        </p:txBody>
      </p:sp>
      <p:sp>
        <p:nvSpPr>
          <p:cNvPr id="111" name="Shape 96"/>
          <p:cNvSpPr/>
          <p:nvPr/>
        </p:nvSpPr>
        <p:spPr>
          <a:xfrm>
            <a:off x="2741533" y="3046690"/>
            <a:ext cx="9338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12" name="Shape 97"/>
          <p:cNvSpPr/>
          <p:nvPr/>
        </p:nvSpPr>
        <p:spPr>
          <a:xfrm>
            <a:off x="2815828" y="311812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13" name="Text 98"/>
          <p:cNvSpPr/>
          <p:nvPr/>
        </p:nvSpPr>
        <p:spPr>
          <a:xfrm>
            <a:off x="2911078" y="3073360"/>
            <a:ext cx="76616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sandboxed</a:t>
            </a:r>
            <a:endParaRPr lang="en-US" sz="825" dirty="0"/>
          </a:p>
        </p:txBody>
      </p:sp>
      <p:sp>
        <p:nvSpPr>
          <p:cNvPr id="114" name="Text 99"/>
          <p:cNvSpPr/>
          <p:nvPr/>
        </p:nvSpPr>
        <p:spPr>
          <a:xfrm>
            <a:off x="769620" y="3389590"/>
            <a:ext cx="410885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63" dirty="0"/>
          </a:p>
        </p:txBody>
      </p:sp>
      <p:sp>
        <p:nvSpPr>
          <p:cNvPr id="115" name="Text 100"/>
          <p:cNvSpPr/>
          <p:nvPr/>
        </p:nvSpPr>
        <p:spPr>
          <a:xfrm>
            <a:off x="1830943" y="3389590"/>
            <a:ext cx="192059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UNC4841 hunt · 412M events</a:t>
            </a:r>
            <a:endParaRPr lang="en-US" sz="863" dirty="0"/>
          </a:p>
        </p:txBody>
      </p:sp>
      <p:sp>
        <p:nvSpPr>
          <p:cNvPr id="116" name="Text 101"/>
          <p:cNvSpPr/>
          <p:nvPr/>
        </p:nvSpPr>
        <p:spPr>
          <a:xfrm>
            <a:off x="769620" y="3604379"/>
            <a:ext cx="55709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863" dirty="0"/>
          </a:p>
        </p:txBody>
      </p:sp>
      <p:sp>
        <p:nvSpPr>
          <p:cNvPr id="117" name="Shape 102"/>
          <p:cNvSpPr/>
          <p:nvPr/>
        </p:nvSpPr>
        <p:spPr>
          <a:xfrm>
            <a:off x="3091577" y="3581043"/>
            <a:ext cx="58376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18" name="Shape 103"/>
          <p:cNvSpPr/>
          <p:nvPr/>
        </p:nvSpPr>
        <p:spPr>
          <a:xfrm>
            <a:off x="3165872" y="3652481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19" name="Text 104"/>
          <p:cNvSpPr/>
          <p:nvPr/>
        </p:nvSpPr>
        <p:spPr>
          <a:xfrm>
            <a:off x="3261122" y="3615332"/>
            <a:ext cx="416123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825" dirty="0"/>
          </a:p>
        </p:txBody>
      </p:sp>
      <p:sp>
        <p:nvSpPr>
          <p:cNvPr id="120" name="Text 105"/>
          <p:cNvSpPr/>
          <p:nvPr/>
        </p:nvSpPr>
        <p:spPr>
          <a:xfrm>
            <a:off x="769620" y="3819168"/>
            <a:ext cx="56923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action</a:t>
            </a:r>
            <a:endParaRPr lang="en-US" sz="863" dirty="0"/>
          </a:p>
        </p:txBody>
      </p:sp>
      <p:sp>
        <p:nvSpPr>
          <p:cNvPr id="121" name="Text 106"/>
          <p:cNvSpPr/>
          <p:nvPr/>
        </p:nvSpPr>
        <p:spPr>
          <a:xfrm>
            <a:off x="2417802" y="3822500"/>
            <a:ext cx="13337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13:28 · 6 candidates</a:t>
            </a:r>
            <a:endParaRPr lang="en-US" sz="825" dirty="0"/>
          </a:p>
        </p:txBody>
      </p:sp>
      <p:sp>
        <p:nvSpPr>
          <p:cNvPr id="122" name="Shape 107"/>
          <p:cNvSpPr/>
          <p:nvPr/>
        </p:nvSpPr>
        <p:spPr>
          <a:xfrm>
            <a:off x="769620" y="4048719"/>
            <a:ext cx="83308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3" name="Text 108"/>
          <p:cNvSpPr/>
          <p:nvPr/>
        </p:nvSpPr>
        <p:spPr>
          <a:xfrm>
            <a:off x="843915" y="4075390"/>
            <a:ext cx="7606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sandbox</a:t>
            </a:r>
            <a:endParaRPr lang="en-US" sz="825" dirty="0"/>
          </a:p>
        </p:txBody>
      </p:sp>
      <p:sp>
        <p:nvSpPr>
          <p:cNvPr id="124" name="Shape 109"/>
          <p:cNvSpPr/>
          <p:nvPr/>
        </p:nvSpPr>
        <p:spPr>
          <a:xfrm>
            <a:off x="1640800" y="4048719"/>
            <a:ext cx="90547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5" name="Text 110"/>
          <p:cNvSpPr/>
          <p:nvPr/>
        </p:nvSpPr>
        <p:spPr>
          <a:xfrm>
            <a:off x="1715095" y="4075390"/>
            <a:ext cx="8330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autonomy</a:t>
            </a:r>
            <a:endParaRPr lang="en-US" sz="825" dirty="0"/>
          </a:p>
        </p:txBody>
      </p:sp>
      <p:sp>
        <p:nvSpPr>
          <p:cNvPr id="126" name="Shape 111"/>
          <p:cNvSpPr/>
          <p:nvPr/>
        </p:nvSpPr>
        <p:spPr>
          <a:xfrm>
            <a:off x="3854410" y="2877145"/>
            <a:ext cx="3111460" cy="1717000"/>
          </a:xfrm>
          <a:prstGeom prst="roundRect">
            <a:avLst>
              <a:gd name="adj" fmla="val 4438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27" name="Shape 112"/>
          <p:cNvSpPr/>
          <p:nvPr/>
        </p:nvSpPr>
        <p:spPr>
          <a:xfrm>
            <a:off x="3957280" y="3013352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</p:spPr>
      </p:sp>
      <p:sp>
        <p:nvSpPr>
          <p:cNvPr id="128" name="Text 113"/>
          <p:cNvSpPr/>
          <p:nvPr/>
        </p:nvSpPr>
        <p:spPr>
          <a:xfrm>
            <a:off x="3957280" y="3013352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975" dirty="0"/>
          </a:p>
        </p:txBody>
      </p:sp>
      <p:sp>
        <p:nvSpPr>
          <p:cNvPr id="129" name="Text 114"/>
          <p:cNvSpPr/>
          <p:nvPr/>
        </p:nvSpPr>
        <p:spPr>
          <a:xfrm>
            <a:off x="4281130" y="2980015"/>
            <a:ext cx="1549598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ResponseAgent</a:t>
            </a:r>
            <a:endParaRPr lang="en-US" sz="1050" dirty="0"/>
          </a:p>
        </p:txBody>
      </p:sp>
      <p:sp>
        <p:nvSpPr>
          <p:cNvPr id="130" name="Text 115"/>
          <p:cNvSpPr/>
          <p:nvPr/>
        </p:nvSpPr>
        <p:spPr>
          <a:xfrm>
            <a:off x="4281130" y="3166706"/>
            <a:ext cx="154959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plans · runs orchestration</a:t>
            </a:r>
            <a:endParaRPr lang="en-US" sz="825" dirty="0"/>
          </a:p>
        </p:txBody>
      </p:sp>
      <p:sp>
        <p:nvSpPr>
          <p:cNvPr id="131" name="Shape 116"/>
          <p:cNvSpPr/>
          <p:nvPr/>
        </p:nvSpPr>
        <p:spPr>
          <a:xfrm>
            <a:off x="5929193" y="3046690"/>
            <a:ext cx="9338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32" name="Shape 117"/>
          <p:cNvSpPr/>
          <p:nvPr/>
        </p:nvSpPr>
        <p:spPr>
          <a:xfrm>
            <a:off x="6003489" y="311812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33" name="Text 118"/>
          <p:cNvSpPr/>
          <p:nvPr/>
        </p:nvSpPr>
        <p:spPr>
          <a:xfrm>
            <a:off x="6098739" y="3073360"/>
            <a:ext cx="76616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sandboxed</a:t>
            </a:r>
            <a:endParaRPr lang="en-US" sz="825" dirty="0"/>
          </a:p>
        </p:txBody>
      </p:sp>
      <p:sp>
        <p:nvSpPr>
          <p:cNvPr id="134" name="Text 119"/>
          <p:cNvSpPr/>
          <p:nvPr/>
        </p:nvSpPr>
        <p:spPr>
          <a:xfrm>
            <a:off x="3957280" y="3389590"/>
            <a:ext cx="410885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63" dirty="0"/>
          </a:p>
        </p:txBody>
      </p:sp>
      <p:sp>
        <p:nvSpPr>
          <p:cNvPr id="135" name="Text 120"/>
          <p:cNvSpPr/>
          <p:nvPr/>
        </p:nvSpPr>
        <p:spPr>
          <a:xfrm>
            <a:off x="5377577" y="3389590"/>
            <a:ext cx="156162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2 approvals on #4129</a:t>
            </a:r>
            <a:endParaRPr lang="en-US" sz="863" dirty="0"/>
          </a:p>
        </p:txBody>
      </p:sp>
      <p:sp>
        <p:nvSpPr>
          <p:cNvPr id="136" name="Text 121"/>
          <p:cNvSpPr/>
          <p:nvPr/>
        </p:nvSpPr>
        <p:spPr>
          <a:xfrm>
            <a:off x="3957280" y="3604379"/>
            <a:ext cx="55709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863" dirty="0"/>
          </a:p>
        </p:txBody>
      </p:sp>
      <p:sp>
        <p:nvSpPr>
          <p:cNvPr id="137" name="Shape 122"/>
          <p:cNvSpPr/>
          <p:nvPr/>
        </p:nvSpPr>
        <p:spPr>
          <a:xfrm>
            <a:off x="6279237" y="3581043"/>
            <a:ext cx="58376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38" name="Shape 123"/>
          <p:cNvSpPr/>
          <p:nvPr/>
        </p:nvSpPr>
        <p:spPr>
          <a:xfrm>
            <a:off x="6353533" y="3652481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39" name="Text 124"/>
          <p:cNvSpPr/>
          <p:nvPr/>
        </p:nvSpPr>
        <p:spPr>
          <a:xfrm>
            <a:off x="6448783" y="3615332"/>
            <a:ext cx="416123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825" dirty="0"/>
          </a:p>
        </p:txBody>
      </p:sp>
      <p:sp>
        <p:nvSpPr>
          <p:cNvPr id="140" name="Text 125"/>
          <p:cNvSpPr/>
          <p:nvPr/>
        </p:nvSpPr>
        <p:spPr>
          <a:xfrm>
            <a:off x="3957280" y="3819168"/>
            <a:ext cx="56923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action</a:t>
            </a:r>
            <a:endParaRPr lang="en-US" sz="863" dirty="0"/>
          </a:p>
        </p:txBody>
      </p:sp>
      <p:sp>
        <p:nvSpPr>
          <p:cNvPr id="141" name="Text 126"/>
          <p:cNvSpPr/>
          <p:nvPr/>
        </p:nvSpPr>
        <p:spPr>
          <a:xfrm>
            <a:off x="5731193" y="3822500"/>
            <a:ext cx="120800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13:27 · draft plan</a:t>
            </a:r>
            <a:endParaRPr lang="en-US" sz="825" dirty="0"/>
          </a:p>
        </p:txBody>
      </p:sp>
      <p:sp>
        <p:nvSpPr>
          <p:cNvPr id="142" name="Shape 127"/>
          <p:cNvSpPr/>
          <p:nvPr/>
        </p:nvSpPr>
        <p:spPr>
          <a:xfrm>
            <a:off x="3957280" y="4048719"/>
            <a:ext cx="83308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3" name="Text 128"/>
          <p:cNvSpPr/>
          <p:nvPr/>
        </p:nvSpPr>
        <p:spPr>
          <a:xfrm>
            <a:off x="4031575" y="4075390"/>
            <a:ext cx="7606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sandbox</a:t>
            </a:r>
            <a:endParaRPr lang="en-US" sz="825" dirty="0"/>
          </a:p>
        </p:txBody>
      </p:sp>
      <p:sp>
        <p:nvSpPr>
          <p:cNvPr id="144" name="Shape 129"/>
          <p:cNvSpPr/>
          <p:nvPr/>
        </p:nvSpPr>
        <p:spPr>
          <a:xfrm>
            <a:off x="4828461" y="4048719"/>
            <a:ext cx="90547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5" name="Text 130"/>
          <p:cNvSpPr/>
          <p:nvPr/>
        </p:nvSpPr>
        <p:spPr>
          <a:xfrm>
            <a:off x="4902756" y="4075390"/>
            <a:ext cx="8330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autonomy</a:t>
            </a:r>
            <a:endParaRPr lang="en-US" sz="825" dirty="0"/>
          </a:p>
        </p:txBody>
      </p:sp>
      <p:sp>
        <p:nvSpPr>
          <p:cNvPr id="146" name="Shape 131"/>
          <p:cNvSpPr/>
          <p:nvPr/>
        </p:nvSpPr>
        <p:spPr>
          <a:xfrm>
            <a:off x="7042071" y="2877145"/>
            <a:ext cx="3111580" cy="1717000"/>
          </a:xfrm>
          <a:prstGeom prst="roundRect">
            <a:avLst>
              <a:gd name="adj" fmla="val 4438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47" name="Shape 132"/>
          <p:cNvSpPr/>
          <p:nvPr/>
        </p:nvSpPr>
        <p:spPr>
          <a:xfrm>
            <a:off x="7144941" y="3013352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</p:spPr>
      </p:sp>
      <p:sp>
        <p:nvSpPr>
          <p:cNvPr id="148" name="Text 133"/>
          <p:cNvSpPr/>
          <p:nvPr/>
        </p:nvSpPr>
        <p:spPr>
          <a:xfrm>
            <a:off x="7144941" y="3013352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75" dirty="0"/>
          </a:p>
        </p:txBody>
      </p:sp>
      <p:sp>
        <p:nvSpPr>
          <p:cNvPr id="149" name="Text 134"/>
          <p:cNvSpPr/>
          <p:nvPr/>
        </p:nvSpPr>
        <p:spPr>
          <a:xfrm>
            <a:off x="7468791" y="2980015"/>
            <a:ext cx="1398389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DetectAgent</a:t>
            </a:r>
            <a:endParaRPr lang="en-US" sz="1050" dirty="0"/>
          </a:p>
        </p:txBody>
      </p:sp>
      <p:sp>
        <p:nvSpPr>
          <p:cNvPr id="150" name="Text 135"/>
          <p:cNvSpPr/>
          <p:nvPr/>
        </p:nvSpPr>
        <p:spPr>
          <a:xfrm>
            <a:off x="7468791" y="3166706"/>
            <a:ext cx="139838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proposes &amp; tunes detections</a:t>
            </a:r>
            <a:endParaRPr lang="en-US" sz="825" dirty="0"/>
          </a:p>
        </p:txBody>
      </p:sp>
      <p:sp>
        <p:nvSpPr>
          <p:cNvPr id="151" name="Shape 136"/>
          <p:cNvSpPr/>
          <p:nvPr/>
        </p:nvSpPr>
        <p:spPr>
          <a:xfrm>
            <a:off x="9116973" y="3046690"/>
            <a:ext cx="9338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52" name="Shape 137"/>
          <p:cNvSpPr/>
          <p:nvPr/>
        </p:nvSpPr>
        <p:spPr>
          <a:xfrm>
            <a:off x="9191268" y="311812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53" name="Text 138"/>
          <p:cNvSpPr/>
          <p:nvPr/>
        </p:nvSpPr>
        <p:spPr>
          <a:xfrm>
            <a:off x="9286518" y="3073360"/>
            <a:ext cx="76616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sandboxed</a:t>
            </a:r>
            <a:endParaRPr lang="en-US" sz="825" dirty="0"/>
          </a:p>
        </p:txBody>
      </p:sp>
      <p:sp>
        <p:nvSpPr>
          <p:cNvPr id="154" name="Text 139"/>
          <p:cNvSpPr/>
          <p:nvPr/>
        </p:nvSpPr>
        <p:spPr>
          <a:xfrm>
            <a:off x="7144941" y="3389590"/>
            <a:ext cx="410885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63" dirty="0"/>
          </a:p>
        </p:txBody>
      </p:sp>
      <p:sp>
        <p:nvSpPr>
          <p:cNvPr id="155" name="Text 140"/>
          <p:cNvSpPr/>
          <p:nvPr/>
        </p:nvSpPr>
        <p:spPr>
          <a:xfrm>
            <a:off x="8646557" y="3389590"/>
            <a:ext cx="148042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3 rule diffs last 24h</a:t>
            </a:r>
            <a:endParaRPr lang="en-US" sz="863" dirty="0"/>
          </a:p>
        </p:txBody>
      </p:sp>
      <p:sp>
        <p:nvSpPr>
          <p:cNvPr id="156" name="Text 141"/>
          <p:cNvSpPr/>
          <p:nvPr/>
        </p:nvSpPr>
        <p:spPr>
          <a:xfrm>
            <a:off x="7144941" y="3604379"/>
            <a:ext cx="55709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863" dirty="0"/>
          </a:p>
        </p:txBody>
      </p:sp>
      <p:sp>
        <p:nvSpPr>
          <p:cNvPr id="157" name="Shape 142"/>
          <p:cNvSpPr/>
          <p:nvPr/>
        </p:nvSpPr>
        <p:spPr>
          <a:xfrm>
            <a:off x="9475351" y="3581043"/>
            <a:ext cx="575429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58" name="Shape 143"/>
          <p:cNvSpPr/>
          <p:nvPr/>
        </p:nvSpPr>
        <p:spPr>
          <a:xfrm>
            <a:off x="9549646" y="3652481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59" name="Text 144"/>
          <p:cNvSpPr/>
          <p:nvPr/>
        </p:nvSpPr>
        <p:spPr>
          <a:xfrm>
            <a:off x="9644896" y="3615332"/>
            <a:ext cx="407789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25" dirty="0"/>
          </a:p>
        </p:txBody>
      </p:sp>
      <p:sp>
        <p:nvSpPr>
          <p:cNvPr id="160" name="Text 145"/>
          <p:cNvSpPr/>
          <p:nvPr/>
        </p:nvSpPr>
        <p:spPr>
          <a:xfrm>
            <a:off x="7144941" y="3819168"/>
            <a:ext cx="56923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action</a:t>
            </a:r>
            <a:endParaRPr lang="en-US" sz="863" dirty="0"/>
          </a:p>
        </p:txBody>
      </p:sp>
      <p:sp>
        <p:nvSpPr>
          <p:cNvPr id="161" name="Text 146"/>
          <p:cNvSpPr/>
          <p:nvPr/>
        </p:nvSpPr>
        <p:spPr>
          <a:xfrm>
            <a:off x="8730377" y="3822500"/>
            <a:ext cx="139660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11:14 · tune mfa rule</a:t>
            </a:r>
            <a:endParaRPr lang="en-US" sz="825" dirty="0"/>
          </a:p>
        </p:txBody>
      </p:sp>
      <p:sp>
        <p:nvSpPr>
          <p:cNvPr id="162" name="Shape 147"/>
          <p:cNvSpPr/>
          <p:nvPr/>
        </p:nvSpPr>
        <p:spPr>
          <a:xfrm>
            <a:off x="7144941" y="4048719"/>
            <a:ext cx="83308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3" name="Text 148"/>
          <p:cNvSpPr/>
          <p:nvPr/>
        </p:nvSpPr>
        <p:spPr>
          <a:xfrm>
            <a:off x="7219236" y="4075390"/>
            <a:ext cx="7606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sandbox</a:t>
            </a:r>
            <a:endParaRPr lang="en-US" sz="825" dirty="0"/>
          </a:p>
        </p:txBody>
      </p:sp>
      <p:sp>
        <p:nvSpPr>
          <p:cNvPr id="164" name="Shape 149"/>
          <p:cNvSpPr/>
          <p:nvPr/>
        </p:nvSpPr>
        <p:spPr>
          <a:xfrm>
            <a:off x="8016121" y="4048719"/>
            <a:ext cx="90547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5" name="Text 150"/>
          <p:cNvSpPr/>
          <p:nvPr/>
        </p:nvSpPr>
        <p:spPr>
          <a:xfrm>
            <a:off x="8090416" y="4075390"/>
            <a:ext cx="8330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autonomy</a:t>
            </a:r>
            <a:endParaRPr lang="en-US" sz="825" dirty="0"/>
          </a:p>
        </p:txBody>
      </p:sp>
      <p:sp>
        <p:nvSpPr>
          <p:cNvPr id="166" name="Shape 151"/>
          <p:cNvSpPr/>
          <p:nvPr/>
        </p:nvSpPr>
        <p:spPr>
          <a:xfrm>
            <a:off x="666750" y="4670346"/>
            <a:ext cx="3111460" cy="1863804"/>
          </a:xfrm>
          <a:prstGeom prst="roundRect">
            <a:avLst>
              <a:gd name="adj" fmla="val 4088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67" name="Shape 152"/>
          <p:cNvSpPr/>
          <p:nvPr/>
        </p:nvSpPr>
        <p:spPr>
          <a:xfrm>
            <a:off x="769620" y="4879896"/>
            <a:ext cx="249198" cy="266700"/>
          </a:xfrm>
          <a:prstGeom prst="roundRect">
            <a:avLst>
              <a:gd name="adj" fmla="val 26756"/>
            </a:avLst>
          </a:prstGeom>
          <a:solidFill>
            <a:srgbClr val="0F172A"/>
          </a:solidFill>
          <a:ln/>
        </p:spPr>
      </p:sp>
      <p:sp>
        <p:nvSpPr>
          <p:cNvPr id="168" name="Text 153"/>
          <p:cNvSpPr/>
          <p:nvPr/>
        </p:nvSpPr>
        <p:spPr>
          <a:xfrm>
            <a:off x="769620" y="4879896"/>
            <a:ext cx="325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975" dirty="0"/>
          </a:p>
        </p:txBody>
      </p:sp>
      <p:sp>
        <p:nvSpPr>
          <p:cNvPr id="169" name="Text 154"/>
          <p:cNvSpPr/>
          <p:nvPr/>
        </p:nvSpPr>
        <p:spPr>
          <a:xfrm>
            <a:off x="1075968" y="4773214"/>
            <a:ext cx="168461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ReportAgent</a:t>
            </a:r>
            <a:endParaRPr lang="en-US" sz="1050" dirty="0"/>
          </a:p>
        </p:txBody>
      </p:sp>
      <p:sp>
        <p:nvSpPr>
          <p:cNvPr id="170" name="Text 155"/>
          <p:cNvSpPr/>
          <p:nvPr/>
        </p:nvSpPr>
        <p:spPr>
          <a:xfrm>
            <a:off x="1075968" y="4959905"/>
            <a:ext cx="168461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analyst reports + evidence</a:t>
            </a:r>
            <a:endParaRPr lang="en-US" sz="825" dirty="0"/>
          </a:p>
        </p:txBody>
      </p:sp>
      <p:sp>
        <p:nvSpPr>
          <p:cNvPr id="171" name="Shape 156"/>
          <p:cNvSpPr/>
          <p:nvPr/>
        </p:nvSpPr>
        <p:spPr>
          <a:xfrm>
            <a:off x="2741533" y="4913234"/>
            <a:ext cx="9338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72" name="Shape 157"/>
          <p:cNvSpPr/>
          <p:nvPr/>
        </p:nvSpPr>
        <p:spPr>
          <a:xfrm>
            <a:off x="2815828" y="4984671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73" name="Text 158"/>
          <p:cNvSpPr/>
          <p:nvPr/>
        </p:nvSpPr>
        <p:spPr>
          <a:xfrm>
            <a:off x="2911078" y="4939902"/>
            <a:ext cx="76616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sandboxed</a:t>
            </a:r>
            <a:endParaRPr lang="en-US" sz="825" dirty="0"/>
          </a:p>
        </p:txBody>
      </p:sp>
      <p:sp>
        <p:nvSpPr>
          <p:cNvPr id="174" name="Text 159"/>
          <p:cNvSpPr/>
          <p:nvPr/>
        </p:nvSpPr>
        <p:spPr>
          <a:xfrm>
            <a:off x="769620" y="5329476"/>
            <a:ext cx="410885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63" dirty="0"/>
          </a:p>
        </p:txBody>
      </p:sp>
      <p:sp>
        <p:nvSpPr>
          <p:cNvPr id="175" name="Text 160"/>
          <p:cNvSpPr/>
          <p:nvPr/>
        </p:nvSpPr>
        <p:spPr>
          <a:xfrm>
            <a:off x="2415183" y="5329476"/>
            <a:ext cx="133635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12 reports today</a:t>
            </a:r>
            <a:endParaRPr lang="en-US" sz="863" dirty="0"/>
          </a:p>
        </p:txBody>
      </p:sp>
      <p:sp>
        <p:nvSpPr>
          <p:cNvPr id="176" name="Text 161"/>
          <p:cNvSpPr/>
          <p:nvPr/>
        </p:nvSpPr>
        <p:spPr>
          <a:xfrm>
            <a:off x="769620" y="5544265"/>
            <a:ext cx="55709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863" dirty="0"/>
          </a:p>
        </p:txBody>
      </p:sp>
      <p:sp>
        <p:nvSpPr>
          <p:cNvPr id="177" name="Shape 162"/>
          <p:cNvSpPr/>
          <p:nvPr/>
        </p:nvSpPr>
        <p:spPr>
          <a:xfrm>
            <a:off x="3201948" y="5520927"/>
            <a:ext cx="47339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78" name="Shape 163"/>
          <p:cNvSpPr/>
          <p:nvPr/>
        </p:nvSpPr>
        <p:spPr>
          <a:xfrm>
            <a:off x="3276243" y="5592364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79" name="Text 164"/>
          <p:cNvSpPr/>
          <p:nvPr/>
        </p:nvSpPr>
        <p:spPr>
          <a:xfrm>
            <a:off x="3371493" y="5555218"/>
            <a:ext cx="305753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25" dirty="0"/>
          </a:p>
        </p:txBody>
      </p:sp>
      <p:sp>
        <p:nvSpPr>
          <p:cNvPr id="180" name="Text 165"/>
          <p:cNvSpPr/>
          <p:nvPr/>
        </p:nvSpPr>
        <p:spPr>
          <a:xfrm>
            <a:off x="769620" y="5759052"/>
            <a:ext cx="56923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action</a:t>
            </a:r>
            <a:endParaRPr lang="en-US" sz="863" dirty="0"/>
          </a:p>
        </p:txBody>
      </p:sp>
      <p:sp>
        <p:nvSpPr>
          <p:cNvPr id="181" name="Text 166"/>
          <p:cNvSpPr/>
          <p:nvPr/>
        </p:nvSpPr>
        <p:spPr>
          <a:xfrm>
            <a:off x="2543532" y="5762387"/>
            <a:ext cx="120800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13:09 · case #4118</a:t>
            </a:r>
            <a:endParaRPr lang="en-US" sz="825" dirty="0"/>
          </a:p>
        </p:txBody>
      </p:sp>
      <p:sp>
        <p:nvSpPr>
          <p:cNvPr id="182" name="Shape 167"/>
          <p:cNvSpPr/>
          <p:nvPr/>
        </p:nvSpPr>
        <p:spPr>
          <a:xfrm>
            <a:off x="769620" y="5988605"/>
            <a:ext cx="83308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3" name="Text 168"/>
          <p:cNvSpPr/>
          <p:nvPr/>
        </p:nvSpPr>
        <p:spPr>
          <a:xfrm>
            <a:off x="843915" y="6015276"/>
            <a:ext cx="7606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sandbox</a:t>
            </a:r>
            <a:endParaRPr lang="en-US" sz="825" dirty="0"/>
          </a:p>
        </p:txBody>
      </p:sp>
      <p:sp>
        <p:nvSpPr>
          <p:cNvPr id="184" name="Shape 169"/>
          <p:cNvSpPr/>
          <p:nvPr/>
        </p:nvSpPr>
        <p:spPr>
          <a:xfrm>
            <a:off x="1640800" y="5988605"/>
            <a:ext cx="90547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5" name="Text 170"/>
          <p:cNvSpPr/>
          <p:nvPr/>
        </p:nvSpPr>
        <p:spPr>
          <a:xfrm>
            <a:off x="1715095" y="6015276"/>
            <a:ext cx="8330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autonomy</a:t>
            </a:r>
            <a:endParaRPr lang="en-US" sz="825" dirty="0"/>
          </a:p>
        </p:txBody>
      </p:sp>
      <p:sp>
        <p:nvSpPr>
          <p:cNvPr id="186" name="Shape 171"/>
          <p:cNvSpPr/>
          <p:nvPr/>
        </p:nvSpPr>
        <p:spPr>
          <a:xfrm>
            <a:off x="3854410" y="4670346"/>
            <a:ext cx="3111460" cy="1863804"/>
          </a:xfrm>
          <a:prstGeom prst="roundRect">
            <a:avLst>
              <a:gd name="adj" fmla="val 4088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87" name="Shape 172"/>
          <p:cNvSpPr/>
          <p:nvPr/>
        </p:nvSpPr>
        <p:spPr>
          <a:xfrm>
            <a:off x="3957280" y="4879896"/>
            <a:ext cx="221694" cy="266700"/>
          </a:xfrm>
          <a:prstGeom prst="roundRect">
            <a:avLst>
              <a:gd name="adj" fmla="val 30075"/>
            </a:avLst>
          </a:prstGeom>
          <a:solidFill>
            <a:srgbClr val="0F172A"/>
          </a:solidFill>
          <a:ln/>
        </p:spPr>
      </p:sp>
      <p:sp>
        <p:nvSpPr>
          <p:cNvPr id="188" name="Text 173"/>
          <p:cNvSpPr/>
          <p:nvPr/>
        </p:nvSpPr>
        <p:spPr>
          <a:xfrm>
            <a:off x="3957280" y="4879896"/>
            <a:ext cx="2978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75" dirty="0"/>
          </a:p>
        </p:txBody>
      </p:sp>
      <p:sp>
        <p:nvSpPr>
          <p:cNvPr id="189" name="Text 174"/>
          <p:cNvSpPr/>
          <p:nvPr/>
        </p:nvSpPr>
        <p:spPr>
          <a:xfrm>
            <a:off x="4236125" y="4773214"/>
            <a:ext cx="1712119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ModelArmor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50" dirty="0"/>
          </a:p>
        </p:txBody>
      </p:sp>
      <p:sp>
        <p:nvSpPr>
          <p:cNvPr id="190" name="Text 175"/>
          <p:cNvSpPr/>
          <p:nvPr/>
        </p:nvSpPr>
        <p:spPr>
          <a:xfrm>
            <a:off x="4236125" y="4959905"/>
            <a:ext cx="171211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defense for agents themselves</a:t>
            </a:r>
            <a:endParaRPr lang="en-US" sz="825" dirty="0"/>
          </a:p>
        </p:txBody>
      </p:sp>
      <p:sp>
        <p:nvSpPr>
          <p:cNvPr id="191" name="Shape 176"/>
          <p:cNvSpPr/>
          <p:nvPr/>
        </p:nvSpPr>
        <p:spPr>
          <a:xfrm>
            <a:off x="5929193" y="4913234"/>
            <a:ext cx="9338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92" name="Shape 177"/>
          <p:cNvSpPr/>
          <p:nvPr/>
        </p:nvSpPr>
        <p:spPr>
          <a:xfrm>
            <a:off x="6003489" y="4984671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93" name="Text 178"/>
          <p:cNvSpPr/>
          <p:nvPr/>
        </p:nvSpPr>
        <p:spPr>
          <a:xfrm>
            <a:off x="6098739" y="4939902"/>
            <a:ext cx="76616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sandboxed</a:t>
            </a:r>
            <a:endParaRPr lang="en-US" sz="825" dirty="0"/>
          </a:p>
        </p:txBody>
      </p:sp>
      <p:sp>
        <p:nvSpPr>
          <p:cNvPr id="194" name="Text 179"/>
          <p:cNvSpPr/>
          <p:nvPr/>
        </p:nvSpPr>
        <p:spPr>
          <a:xfrm>
            <a:off x="3957280" y="5329476"/>
            <a:ext cx="410885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63" dirty="0"/>
          </a:p>
        </p:txBody>
      </p:sp>
      <p:sp>
        <p:nvSpPr>
          <p:cNvPr id="195" name="Text 180"/>
          <p:cNvSpPr/>
          <p:nvPr/>
        </p:nvSpPr>
        <p:spPr>
          <a:xfrm>
            <a:off x="5505688" y="5329476"/>
            <a:ext cx="143351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2 jailbreak attempts</a:t>
            </a:r>
            <a:endParaRPr lang="en-US" sz="863" dirty="0"/>
          </a:p>
        </p:txBody>
      </p:sp>
      <p:sp>
        <p:nvSpPr>
          <p:cNvPr id="196" name="Text 181"/>
          <p:cNvSpPr/>
          <p:nvPr/>
        </p:nvSpPr>
        <p:spPr>
          <a:xfrm>
            <a:off x="3957280" y="5544265"/>
            <a:ext cx="55709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863" dirty="0"/>
          </a:p>
        </p:txBody>
      </p:sp>
      <p:sp>
        <p:nvSpPr>
          <p:cNvPr id="197" name="Shape 182"/>
          <p:cNvSpPr/>
          <p:nvPr/>
        </p:nvSpPr>
        <p:spPr>
          <a:xfrm>
            <a:off x="6389608" y="5520927"/>
            <a:ext cx="47339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98" name="Shape 183"/>
          <p:cNvSpPr/>
          <p:nvPr/>
        </p:nvSpPr>
        <p:spPr>
          <a:xfrm>
            <a:off x="6463903" y="5592364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99" name="Text 184"/>
          <p:cNvSpPr/>
          <p:nvPr/>
        </p:nvSpPr>
        <p:spPr>
          <a:xfrm>
            <a:off x="6559153" y="5555218"/>
            <a:ext cx="305753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25" dirty="0"/>
          </a:p>
        </p:txBody>
      </p:sp>
      <p:sp>
        <p:nvSpPr>
          <p:cNvPr id="200" name="Text 185"/>
          <p:cNvSpPr/>
          <p:nvPr/>
        </p:nvSpPr>
        <p:spPr>
          <a:xfrm>
            <a:off x="3957280" y="5759052"/>
            <a:ext cx="56923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action</a:t>
            </a:r>
            <a:endParaRPr lang="en-US" sz="863" dirty="0"/>
          </a:p>
        </p:txBody>
      </p:sp>
      <p:sp>
        <p:nvSpPr>
          <p:cNvPr id="201" name="Text 186"/>
          <p:cNvSpPr/>
          <p:nvPr/>
        </p:nvSpPr>
        <p:spPr>
          <a:xfrm>
            <a:off x="5668328" y="5762387"/>
            <a:ext cx="127087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13:19 · llm-gateway</a:t>
            </a:r>
            <a:endParaRPr lang="en-US" sz="825" dirty="0"/>
          </a:p>
        </p:txBody>
      </p:sp>
      <p:sp>
        <p:nvSpPr>
          <p:cNvPr id="202" name="Shape 187"/>
          <p:cNvSpPr/>
          <p:nvPr/>
        </p:nvSpPr>
        <p:spPr>
          <a:xfrm>
            <a:off x="3957280" y="5988605"/>
            <a:ext cx="83308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3" name="Text 188"/>
          <p:cNvSpPr/>
          <p:nvPr/>
        </p:nvSpPr>
        <p:spPr>
          <a:xfrm>
            <a:off x="4031575" y="6015276"/>
            <a:ext cx="7606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sandbox</a:t>
            </a:r>
            <a:endParaRPr lang="en-US" sz="825" dirty="0"/>
          </a:p>
        </p:txBody>
      </p:sp>
      <p:sp>
        <p:nvSpPr>
          <p:cNvPr id="204" name="Shape 189"/>
          <p:cNvSpPr/>
          <p:nvPr/>
        </p:nvSpPr>
        <p:spPr>
          <a:xfrm>
            <a:off x="4828461" y="5988605"/>
            <a:ext cx="90547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5" name="Text 190"/>
          <p:cNvSpPr/>
          <p:nvPr/>
        </p:nvSpPr>
        <p:spPr>
          <a:xfrm>
            <a:off x="4902756" y="6015276"/>
            <a:ext cx="8330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autonomy</a:t>
            </a:r>
            <a:endParaRPr lang="en-US" sz="825" dirty="0"/>
          </a:p>
        </p:txBody>
      </p:sp>
      <p:sp>
        <p:nvSpPr>
          <p:cNvPr id="206" name="Shape 191"/>
          <p:cNvSpPr/>
          <p:nvPr/>
        </p:nvSpPr>
        <p:spPr>
          <a:xfrm>
            <a:off x="7042071" y="4670346"/>
            <a:ext cx="3111580" cy="1863804"/>
          </a:xfrm>
          <a:prstGeom prst="roundRect">
            <a:avLst>
              <a:gd name="adj" fmla="val 4088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7" name="Shape 192"/>
          <p:cNvSpPr/>
          <p:nvPr/>
        </p:nvSpPr>
        <p:spPr>
          <a:xfrm>
            <a:off x="7144941" y="4806552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</p:spPr>
      </p:sp>
      <p:sp>
        <p:nvSpPr>
          <p:cNvPr id="208" name="Text 193"/>
          <p:cNvSpPr/>
          <p:nvPr/>
        </p:nvSpPr>
        <p:spPr>
          <a:xfrm>
            <a:off x="7144941" y="4806552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975" dirty="0"/>
          </a:p>
        </p:txBody>
      </p:sp>
      <p:sp>
        <p:nvSpPr>
          <p:cNvPr id="209" name="Text 194"/>
          <p:cNvSpPr/>
          <p:nvPr/>
        </p:nvSpPr>
        <p:spPr>
          <a:xfrm>
            <a:off x="7468791" y="4773214"/>
            <a:ext cx="153209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experimental-bot-3</a:t>
            </a:r>
            <a:endParaRPr lang="en-US" sz="1050" dirty="0"/>
          </a:p>
        </p:txBody>
      </p:sp>
      <p:sp>
        <p:nvSpPr>
          <p:cNvPr id="210" name="Text 195"/>
          <p:cNvSpPr/>
          <p:nvPr/>
        </p:nvSpPr>
        <p:spPr>
          <a:xfrm>
            <a:off x="7468791" y="4959905"/>
            <a:ext cx="153209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user-built · resolution clustering</a:t>
            </a:r>
            <a:endParaRPr lang="en-US" sz="825" dirty="0"/>
          </a:p>
        </p:txBody>
      </p:sp>
      <p:sp>
        <p:nvSpPr>
          <p:cNvPr id="211" name="Shape 196"/>
          <p:cNvSpPr/>
          <p:nvPr/>
        </p:nvSpPr>
        <p:spPr>
          <a:xfrm>
            <a:off x="9154716" y="4839889"/>
            <a:ext cx="896064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212" name="Shape 197"/>
          <p:cNvSpPr/>
          <p:nvPr/>
        </p:nvSpPr>
        <p:spPr>
          <a:xfrm>
            <a:off x="9229011" y="4911327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213" name="Text 198"/>
          <p:cNvSpPr/>
          <p:nvPr/>
        </p:nvSpPr>
        <p:spPr>
          <a:xfrm>
            <a:off x="9324261" y="4866560"/>
            <a:ext cx="72842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policy drift</a:t>
            </a:r>
            <a:endParaRPr lang="en-US" sz="825" dirty="0"/>
          </a:p>
        </p:txBody>
      </p:sp>
      <p:sp>
        <p:nvSpPr>
          <p:cNvPr id="214" name="Text 199"/>
          <p:cNvSpPr/>
          <p:nvPr/>
        </p:nvSpPr>
        <p:spPr>
          <a:xfrm>
            <a:off x="7144941" y="5182789"/>
            <a:ext cx="410885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63" dirty="0"/>
          </a:p>
        </p:txBody>
      </p:sp>
      <p:sp>
        <p:nvSpPr>
          <p:cNvPr id="215" name="Text 200"/>
          <p:cNvSpPr/>
          <p:nvPr/>
        </p:nvSpPr>
        <p:spPr>
          <a:xfrm>
            <a:off x="8693229" y="5182789"/>
            <a:ext cx="1433751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paused — sandbox warning</a:t>
            </a:r>
            <a:endParaRPr lang="en-US" sz="863" dirty="0"/>
          </a:p>
        </p:txBody>
      </p:sp>
      <p:sp>
        <p:nvSpPr>
          <p:cNvPr id="216" name="Text 201"/>
          <p:cNvSpPr/>
          <p:nvPr/>
        </p:nvSpPr>
        <p:spPr>
          <a:xfrm>
            <a:off x="7144941" y="5397579"/>
            <a:ext cx="557093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863" dirty="0"/>
          </a:p>
        </p:txBody>
      </p:sp>
      <p:sp>
        <p:nvSpPr>
          <p:cNvPr id="217" name="Shape 202"/>
          <p:cNvSpPr/>
          <p:nvPr/>
        </p:nvSpPr>
        <p:spPr>
          <a:xfrm>
            <a:off x="9475351" y="5374243"/>
            <a:ext cx="575429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8" name="Shape 203"/>
          <p:cNvSpPr/>
          <p:nvPr/>
        </p:nvSpPr>
        <p:spPr>
          <a:xfrm>
            <a:off x="9549646" y="5445680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19" name="Text 204"/>
          <p:cNvSpPr/>
          <p:nvPr/>
        </p:nvSpPr>
        <p:spPr>
          <a:xfrm>
            <a:off x="9644896" y="5408534"/>
            <a:ext cx="407789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25" dirty="0"/>
          </a:p>
        </p:txBody>
      </p:sp>
      <p:sp>
        <p:nvSpPr>
          <p:cNvPr id="220" name="Text 205"/>
          <p:cNvSpPr/>
          <p:nvPr/>
        </p:nvSpPr>
        <p:spPr>
          <a:xfrm>
            <a:off x="7144941" y="5612368"/>
            <a:ext cx="56923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action</a:t>
            </a:r>
            <a:endParaRPr lang="en-US" sz="863" dirty="0"/>
          </a:p>
        </p:txBody>
      </p:sp>
      <p:sp>
        <p:nvSpPr>
          <p:cNvPr id="221" name="Text 206"/>
          <p:cNvSpPr/>
          <p:nvPr/>
        </p:nvSpPr>
        <p:spPr>
          <a:xfrm>
            <a:off x="8290203" y="5615703"/>
            <a:ext cx="183677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yesterday · cluster 18 cases</a:t>
            </a:r>
            <a:endParaRPr lang="en-US" sz="825" dirty="0"/>
          </a:p>
        </p:txBody>
      </p:sp>
      <p:sp>
        <p:nvSpPr>
          <p:cNvPr id="222" name="Shape 207"/>
          <p:cNvSpPr/>
          <p:nvPr/>
        </p:nvSpPr>
        <p:spPr>
          <a:xfrm>
            <a:off x="7144941" y="5841921"/>
            <a:ext cx="83308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3" name="Text 208"/>
          <p:cNvSpPr/>
          <p:nvPr/>
        </p:nvSpPr>
        <p:spPr>
          <a:xfrm>
            <a:off x="7219236" y="5868589"/>
            <a:ext cx="7606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sandbox</a:t>
            </a:r>
            <a:endParaRPr lang="en-US" sz="825" dirty="0"/>
          </a:p>
        </p:txBody>
      </p:sp>
      <p:sp>
        <p:nvSpPr>
          <p:cNvPr id="224" name="Shape 209"/>
          <p:cNvSpPr/>
          <p:nvPr/>
        </p:nvSpPr>
        <p:spPr>
          <a:xfrm>
            <a:off x="8016121" y="5841921"/>
            <a:ext cx="90547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5" name="Text 210"/>
          <p:cNvSpPr/>
          <p:nvPr/>
        </p:nvSpPr>
        <p:spPr>
          <a:xfrm>
            <a:off x="8090416" y="5868589"/>
            <a:ext cx="8330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autonomy</a:t>
            </a:r>
            <a:endParaRPr lang="en-US" sz="825" dirty="0"/>
          </a:p>
        </p:txBody>
      </p:sp>
      <p:sp>
        <p:nvSpPr>
          <p:cNvPr id="226" name="Shape 211"/>
          <p:cNvSpPr/>
          <p:nvPr/>
        </p:nvSpPr>
        <p:spPr>
          <a:xfrm>
            <a:off x="8061960" y="5976936"/>
            <a:ext cx="2072640" cy="538163"/>
          </a:xfrm>
          <a:prstGeom prst="roundRect">
            <a:avLst>
              <a:gd name="adj" fmla="val 708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227" name="Text 212"/>
          <p:cNvSpPr/>
          <p:nvPr/>
        </p:nvSpPr>
        <p:spPr>
          <a:xfrm>
            <a:off x="8145780" y="6041706"/>
            <a:ext cx="1981200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is software · each agent is contained at the kernel · sandbox health = enforce-green shield.</a:t>
            </a:r>
            <a:endParaRPr lang="en-US" sz="8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5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7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" y="2047875"/>
            <a:ext cx="171450" cy="1714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2409825"/>
            <a:ext cx="171450" cy="17145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91440" y="26860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" y="3133724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" y="3495674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4"/>
            <a:ext cx="1892498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sandbox · ClawArmor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578298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686288" y="144780"/>
            <a:ext cx="151233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agent is contained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4274820" y="74294"/>
            <a:ext cx="3216116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7690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549140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7" y="108584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4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1" y="131444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0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0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1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8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09"/>
            <a:ext cx="332927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the analysts that are software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6832759" y="616267"/>
            <a:ext cx="1239560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6907054" y="68770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0" name="Text 25"/>
          <p:cNvSpPr/>
          <p:nvPr/>
        </p:nvSpPr>
        <p:spPr>
          <a:xfrm>
            <a:off x="7002304" y="642938"/>
            <a:ext cx="107192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sandbox · healthy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8129469" y="616267"/>
            <a:ext cx="112704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8203764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3" name="Text 28"/>
          <p:cNvSpPr/>
          <p:nvPr/>
        </p:nvSpPr>
        <p:spPr>
          <a:xfrm>
            <a:off x="8299014" y="642938"/>
            <a:ext cx="9594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version · v4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9313664" y="590550"/>
            <a:ext cx="839986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Text 30"/>
          <p:cNvSpPr/>
          <p:nvPr/>
        </p:nvSpPr>
        <p:spPr>
          <a:xfrm>
            <a:off x="9416535" y="636269"/>
            <a:ext cx="71044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agent</a:t>
            </a:r>
            <a:endParaRPr lang="en-US" sz="900" dirty="0"/>
          </a:p>
        </p:txBody>
      </p:sp>
      <p:sp>
        <p:nvSpPr>
          <p:cNvPr id="46" name="Shape 31"/>
          <p:cNvSpPr/>
          <p:nvPr/>
        </p:nvSpPr>
        <p:spPr>
          <a:xfrm>
            <a:off x="666750" y="937259"/>
            <a:ext cx="4686300" cy="559689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8670" y="1058227"/>
            <a:ext cx="123825" cy="123825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960120" y="1047750"/>
            <a:ext cx="11608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policy</a:t>
            </a:r>
            <a:endParaRPr lang="en-US" sz="900" dirty="0"/>
          </a:p>
        </p:txBody>
      </p:sp>
      <p:sp>
        <p:nvSpPr>
          <p:cNvPr id="49" name="Text 33"/>
          <p:cNvSpPr/>
          <p:nvPr/>
        </p:nvSpPr>
        <p:spPr>
          <a:xfrm>
            <a:off x="3996690" y="1046797"/>
            <a:ext cx="131064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ma-clawarmor-sandbox.v4</a:t>
            </a:r>
            <a:endParaRPr lang="en-US" sz="825" dirty="0"/>
          </a:p>
        </p:txBody>
      </p:sp>
      <p:sp>
        <p:nvSpPr>
          <p:cNvPr id="50" name="Shape 34"/>
          <p:cNvSpPr/>
          <p:nvPr/>
        </p:nvSpPr>
        <p:spPr>
          <a:xfrm>
            <a:off x="788670" y="1276350"/>
            <a:ext cx="4442460" cy="3539490"/>
          </a:xfrm>
          <a:prstGeom prst="roundRect">
            <a:avLst>
              <a:gd name="adj" fmla="val 1615"/>
            </a:avLst>
          </a:prstGeom>
          <a:solidFill>
            <a:srgbClr val="0F172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1" name="Text 35"/>
          <p:cNvSpPr/>
          <p:nvPr/>
        </p:nvSpPr>
        <p:spPr>
          <a:xfrm>
            <a:off x="910590" y="1379220"/>
            <a:ext cx="4331894" cy="3371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security.kubearmor.com/v1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KubeArmorPolicy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ma-clawarmor-sandbox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agent: ClawArmor, runtime: ai-soc }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matchLabels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app: ai-soc, agent: clawarmor }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matchPaths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/usr/bin/python3  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&gt;# allowed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Allow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/bin/sh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Audit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/usr/bin/curl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Block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&gt;# exfil exit blocked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matchDirectories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/workspace/        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&gt;# writable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Allow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/etc/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Block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&gt;# cannot read /etc/shadow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true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matchProtocols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tcp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toCIDRs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"10.0.0.0/8"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&gt;# internal services only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Allow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tcp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toCIDRs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"0.0.0.0/0"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Block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78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CBD5E1"/>
                </a:solidFill>
                <a:highlight>
                  <a:srgbClr val="0F17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Block</a:t>
            </a:r>
            <a:endParaRPr lang="en-US" sz="788" dirty="0"/>
          </a:p>
        </p:txBody>
      </p:sp>
      <p:sp>
        <p:nvSpPr>
          <p:cNvPr id="52" name="Text 36"/>
          <p:cNvSpPr/>
          <p:nvPr/>
        </p:nvSpPr>
        <p:spPr>
          <a:xfrm>
            <a:off x="788670" y="4892040"/>
            <a:ext cx="45757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SCOPE</a:t>
            </a:r>
            <a:endParaRPr lang="en-US" sz="750" dirty="0"/>
          </a:p>
        </p:txBody>
      </p:sp>
      <p:sp>
        <p:nvSpPr>
          <p:cNvPr id="53" name="Shape 37"/>
          <p:cNvSpPr/>
          <p:nvPr/>
        </p:nvSpPr>
        <p:spPr>
          <a:xfrm>
            <a:off x="788670" y="5063490"/>
            <a:ext cx="1226701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54" name="Shape 38"/>
          <p:cNvSpPr/>
          <p:nvPr/>
        </p:nvSpPr>
        <p:spPr>
          <a:xfrm>
            <a:off x="862965" y="513492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5" name="Text 39"/>
          <p:cNvSpPr/>
          <p:nvPr/>
        </p:nvSpPr>
        <p:spPr>
          <a:xfrm>
            <a:off x="958215" y="5090160"/>
            <a:ext cx="105906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· /workspace/*</a:t>
            </a:r>
            <a:endParaRPr lang="en-US" sz="825" dirty="0"/>
          </a:p>
        </p:txBody>
      </p:sp>
      <p:sp>
        <p:nvSpPr>
          <p:cNvPr id="56" name="Shape 40"/>
          <p:cNvSpPr/>
          <p:nvPr/>
        </p:nvSpPr>
        <p:spPr>
          <a:xfrm>
            <a:off x="2053471" y="5063490"/>
            <a:ext cx="103667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57" name="Shape 41"/>
          <p:cNvSpPr/>
          <p:nvPr/>
        </p:nvSpPr>
        <p:spPr>
          <a:xfrm>
            <a:off x="2127767" y="513492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8" name="Text 42"/>
          <p:cNvSpPr/>
          <p:nvPr/>
        </p:nvSpPr>
        <p:spPr>
          <a:xfrm>
            <a:off x="2223017" y="5090160"/>
            <a:ext cx="86903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· 10.0.0.0/8</a:t>
            </a:r>
            <a:endParaRPr lang="en-US" sz="825" dirty="0"/>
          </a:p>
        </p:txBody>
      </p:sp>
      <p:sp>
        <p:nvSpPr>
          <p:cNvPr id="59" name="Shape 43"/>
          <p:cNvSpPr/>
          <p:nvPr/>
        </p:nvSpPr>
        <p:spPr>
          <a:xfrm>
            <a:off x="3128249" y="5063490"/>
            <a:ext cx="97428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60" name="Shape 44"/>
          <p:cNvSpPr/>
          <p:nvPr/>
        </p:nvSpPr>
        <p:spPr>
          <a:xfrm>
            <a:off x="3202543" y="513492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61" name="Text 45"/>
          <p:cNvSpPr/>
          <p:nvPr/>
        </p:nvSpPr>
        <p:spPr>
          <a:xfrm>
            <a:off x="3297793" y="5090160"/>
            <a:ext cx="80664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 · python3</a:t>
            </a:r>
            <a:endParaRPr lang="en-US" sz="825" dirty="0"/>
          </a:p>
        </p:txBody>
      </p:sp>
      <p:sp>
        <p:nvSpPr>
          <p:cNvPr id="62" name="Text 46"/>
          <p:cNvSpPr/>
          <p:nvPr/>
        </p:nvSpPr>
        <p:spPr>
          <a:xfrm>
            <a:off x="788670" y="5358765"/>
            <a:ext cx="45757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 SCOPE</a:t>
            </a:r>
            <a:endParaRPr lang="en-US" sz="750" dirty="0"/>
          </a:p>
        </p:txBody>
      </p:sp>
      <p:sp>
        <p:nvSpPr>
          <p:cNvPr id="63" name="Shape 47"/>
          <p:cNvSpPr/>
          <p:nvPr/>
        </p:nvSpPr>
        <p:spPr>
          <a:xfrm>
            <a:off x="788670" y="5530215"/>
            <a:ext cx="833557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64" name="Shape 48"/>
          <p:cNvSpPr/>
          <p:nvPr/>
        </p:nvSpPr>
        <p:spPr>
          <a:xfrm>
            <a:off x="862965" y="5601652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65" name="Text 49"/>
          <p:cNvSpPr/>
          <p:nvPr/>
        </p:nvSpPr>
        <p:spPr>
          <a:xfrm>
            <a:off x="958215" y="5556885"/>
            <a:ext cx="66591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· /etc/*</a:t>
            </a:r>
            <a:endParaRPr lang="en-US" sz="825" dirty="0"/>
          </a:p>
        </p:txBody>
      </p:sp>
      <p:sp>
        <p:nvSpPr>
          <p:cNvPr id="66" name="Shape 50"/>
          <p:cNvSpPr/>
          <p:nvPr/>
        </p:nvSpPr>
        <p:spPr>
          <a:xfrm>
            <a:off x="1660327" y="5530215"/>
            <a:ext cx="1006554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67" name="Shape 51"/>
          <p:cNvSpPr/>
          <p:nvPr/>
        </p:nvSpPr>
        <p:spPr>
          <a:xfrm>
            <a:off x="1734622" y="5601652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68" name="Text 52"/>
          <p:cNvSpPr/>
          <p:nvPr/>
        </p:nvSpPr>
        <p:spPr>
          <a:xfrm>
            <a:off x="1829872" y="5556885"/>
            <a:ext cx="83891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· 0.0.0.0/0</a:t>
            </a:r>
            <a:endParaRPr lang="en-US" sz="825" dirty="0"/>
          </a:p>
        </p:txBody>
      </p:sp>
      <p:sp>
        <p:nvSpPr>
          <p:cNvPr id="69" name="Shape 53"/>
          <p:cNvSpPr/>
          <p:nvPr/>
        </p:nvSpPr>
        <p:spPr>
          <a:xfrm>
            <a:off x="2704981" y="5530215"/>
            <a:ext cx="1220510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70" name="Shape 54"/>
          <p:cNvSpPr/>
          <p:nvPr/>
        </p:nvSpPr>
        <p:spPr>
          <a:xfrm>
            <a:off x="2779276" y="5601652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71" name="Text 55"/>
          <p:cNvSpPr/>
          <p:nvPr/>
        </p:nvSpPr>
        <p:spPr>
          <a:xfrm>
            <a:off x="2874526" y="5556885"/>
            <a:ext cx="10528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 · curl, wget, nc</a:t>
            </a:r>
            <a:endParaRPr lang="en-US" sz="825" dirty="0"/>
          </a:p>
        </p:txBody>
      </p:sp>
      <p:sp>
        <p:nvSpPr>
          <p:cNvPr id="72" name="Shape 56"/>
          <p:cNvSpPr/>
          <p:nvPr/>
        </p:nvSpPr>
        <p:spPr>
          <a:xfrm>
            <a:off x="5467350" y="937259"/>
            <a:ext cx="4686300" cy="2407920"/>
          </a:xfrm>
          <a:prstGeom prst="roundRect">
            <a:avLst>
              <a:gd name="adj" fmla="val 3165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7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89270" y="1058227"/>
            <a:ext cx="123825" cy="123825"/>
          </a:xfrm>
          <a:prstGeom prst="rect">
            <a:avLst/>
          </a:prstGeom>
        </p:spPr>
      </p:pic>
      <p:sp>
        <p:nvSpPr>
          <p:cNvPr id="74" name="Text 57"/>
          <p:cNvSpPr/>
          <p:nvPr/>
        </p:nvSpPr>
        <p:spPr>
          <a:xfrm>
            <a:off x="5760720" y="1047750"/>
            <a:ext cx="11626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 · blocked</a:t>
            </a:r>
            <a:endParaRPr lang="en-US" sz="900" dirty="0"/>
          </a:p>
        </p:txBody>
      </p:sp>
      <p:sp>
        <p:nvSpPr>
          <p:cNvPr id="75" name="Shape 58"/>
          <p:cNvSpPr/>
          <p:nvPr/>
        </p:nvSpPr>
        <p:spPr>
          <a:xfrm>
            <a:off x="5703570" y="1333500"/>
            <a:ext cx="22860" cy="18516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6" name="Shape 59"/>
          <p:cNvSpPr/>
          <p:nvPr/>
        </p:nvSpPr>
        <p:spPr>
          <a:xfrm>
            <a:off x="5627370" y="1333500"/>
            <a:ext cx="201930" cy="20193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77" name="Text 60"/>
          <p:cNvSpPr/>
          <p:nvPr/>
        </p:nvSpPr>
        <p:spPr>
          <a:xfrm>
            <a:off x="5694045" y="1361122"/>
            <a:ext cx="1447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0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</a:t>
            </a:r>
            <a:endParaRPr lang="en-US" sz="825" dirty="0"/>
          </a:p>
        </p:txBody>
      </p:sp>
      <p:sp>
        <p:nvSpPr>
          <p:cNvPr id="78" name="Text 61"/>
          <p:cNvSpPr/>
          <p:nvPr/>
        </p:nvSpPr>
        <p:spPr>
          <a:xfrm>
            <a:off x="5943600" y="1333500"/>
            <a:ext cx="1326475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socket() to 198.51.x</a:t>
            </a:r>
            <a:endParaRPr lang="en-US" sz="975" dirty="0"/>
          </a:p>
        </p:txBody>
      </p:sp>
      <p:sp>
        <p:nvSpPr>
          <p:cNvPr id="79" name="Text 62"/>
          <p:cNvSpPr/>
          <p:nvPr/>
        </p:nvSpPr>
        <p:spPr>
          <a:xfrm>
            <a:off x="9551670" y="1350169"/>
            <a:ext cx="556260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13:19:55</a:t>
            </a:r>
            <a:endParaRPr lang="en-US" sz="788" dirty="0"/>
          </a:p>
        </p:txBody>
      </p:sp>
      <p:sp>
        <p:nvSpPr>
          <p:cNvPr id="80" name="Text 63"/>
          <p:cNvSpPr/>
          <p:nvPr/>
        </p:nvSpPr>
        <p:spPr>
          <a:xfrm>
            <a:off x="5943600" y="1506855"/>
            <a:ext cx="421077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tried external egress</a:t>
            </a:r>
            <a:endParaRPr lang="en-US" sz="825" dirty="0"/>
          </a:p>
        </p:txBody>
      </p:sp>
      <p:sp>
        <p:nvSpPr>
          <p:cNvPr id="81" name="Shape 64"/>
          <p:cNvSpPr/>
          <p:nvPr/>
        </p:nvSpPr>
        <p:spPr>
          <a:xfrm>
            <a:off x="5627370" y="1844040"/>
            <a:ext cx="201930" cy="20193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82" name="Text 65"/>
          <p:cNvSpPr/>
          <p:nvPr/>
        </p:nvSpPr>
        <p:spPr>
          <a:xfrm>
            <a:off x="5694045" y="1871663"/>
            <a:ext cx="1447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0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</a:t>
            </a:r>
            <a:endParaRPr lang="en-US" sz="825" dirty="0"/>
          </a:p>
        </p:txBody>
      </p:sp>
      <p:sp>
        <p:nvSpPr>
          <p:cNvPr id="83" name="Text 66"/>
          <p:cNvSpPr/>
          <p:nvPr/>
        </p:nvSpPr>
        <p:spPr>
          <a:xfrm>
            <a:off x="5943600" y="1844040"/>
            <a:ext cx="1265396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read /etc/shadow</a:t>
            </a:r>
            <a:endParaRPr lang="en-US" sz="975" dirty="0"/>
          </a:p>
        </p:txBody>
      </p:sp>
      <p:sp>
        <p:nvSpPr>
          <p:cNvPr id="84" name="Text 67"/>
          <p:cNvSpPr/>
          <p:nvPr/>
        </p:nvSpPr>
        <p:spPr>
          <a:xfrm>
            <a:off x="9551670" y="1860709"/>
            <a:ext cx="556260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12:42:11</a:t>
            </a:r>
            <a:endParaRPr lang="en-US" sz="788" dirty="0"/>
          </a:p>
        </p:txBody>
      </p:sp>
      <p:sp>
        <p:nvSpPr>
          <p:cNvPr id="85" name="Text 68"/>
          <p:cNvSpPr/>
          <p:nvPr/>
        </p:nvSpPr>
        <p:spPr>
          <a:xfrm>
            <a:off x="5943600" y="2017394"/>
            <a:ext cx="421077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· LLM tried to read host fs</a:t>
            </a:r>
            <a:endParaRPr lang="en-US" sz="825" dirty="0"/>
          </a:p>
        </p:txBody>
      </p:sp>
      <p:sp>
        <p:nvSpPr>
          <p:cNvPr id="86" name="Shape 69"/>
          <p:cNvSpPr/>
          <p:nvPr/>
        </p:nvSpPr>
        <p:spPr>
          <a:xfrm>
            <a:off x="5627370" y="2354580"/>
            <a:ext cx="201930" cy="20193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87" name="Text 70"/>
          <p:cNvSpPr/>
          <p:nvPr/>
        </p:nvSpPr>
        <p:spPr>
          <a:xfrm>
            <a:off x="5694045" y="2382202"/>
            <a:ext cx="1447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0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</a:t>
            </a:r>
            <a:endParaRPr lang="en-US" sz="825" dirty="0"/>
          </a:p>
        </p:txBody>
      </p:sp>
      <p:sp>
        <p:nvSpPr>
          <p:cNvPr id="88" name="Text 71"/>
          <p:cNvSpPr/>
          <p:nvPr/>
        </p:nvSpPr>
        <p:spPr>
          <a:xfrm>
            <a:off x="5943600" y="2354580"/>
            <a:ext cx="1253252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exec /usr/bin/curl</a:t>
            </a:r>
            <a:endParaRPr lang="en-US" sz="975" dirty="0"/>
          </a:p>
        </p:txBody>
      </p:sp>
      <p:sp>
        <p:nvSpPr>
          <p:cNvPr id="89" name="Text 72"/>
          <p:cNvSpPr/>
          <p:nvPr/>
        </p:nvSpPr>
        <p:spPr>
          <a:xfrm>
            <a:off x="9551670" y="2371248"/>
            <a:ext cx="556260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09:11:02</a:t>
            </a:r>
            <a:endParaRPr lang="en-US" sz="788" dirty="0"/>
          </a:p>
        </p:txBody>
      </p:sp>
      <p:sp>
        <p:nvSpPr>
          <p:cNvPr id="90" name="Text 73"/>
          <p:cNvSpPr/>
          <p:nvPr/>
        </p:nvSpPr>
        <p:spPr>
          <a:xfrm>
            <a:off x="5943600" y="2527934"/>
            <a:ext cx="421077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tool-misuse · agent shell escaped intent</a:t>
            </a:r>
            <a:endParaRPr lang="en-US" sz="825" dirty="0"/>
          </a:p>
        </p:txBody>
      </p:sp>
      <p:sp>
        <p:nvSpPr>
          <p:cNvPr id="91" name="Shape 74"/>
          <p:cNvSpPr/>
          <p:nvPr/>
        </p:nvSpPr>
        <p:spPr>
          <a:xfrm>
            <a:off x="5627370" y="2865119"/>
            <a:ext cx="201930" cy="20193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92" name="Text 75"/>
          <p:cNvSpPr/>
          <p:nvPr/>
        </p:nvSpPr>
        <p:spPr>
          <a:xfrm>
            <a:off x="5694045" y="2892742"/>
            <a:ext cx="1447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0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</a:t>
            </a:r>
            <a:endParaRPr lang="en-US" sz="825" dirty="0"/>
          </a:p>
        </p:txBody>
      </p:sp>
      <p:sp>
        <p:nvSpPr>
          <p:cNvPr id="93" name="Text 76"/>
          <p:cNvSpPr/>
          <p:nvPr/>
        </p:nvSpPr>
        <p:spPr>
          <a:xfrm>
            <a:off x="5943600" y="2865119"/>
            <a:ext cx="763905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chmod +s</a:t>
            </a:r>
            <a:endParaRPr lang="en-US" sz="975" dirty="0"/>
          </a:p>
        </p:txBody>
      </p:sp>
      <p:sp>
        <p:nvSpPr>
          <p:cNvPr id="94" name="Text 77"/>
          <p:cNvSpPr/>
          <p:nvPr/>
        </p:nvSpPr>
        <p:spPr>
          <a:xfrm>
            <a:off x="9131738" y="2881788"/>
            <a:ext cx="976193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yesterday 23:30</a:t>
            </a:r>
            <a:endParaRPr lang="en-US" sz="788" dirty="0"/>
          </a:p>
        </p:txBody>
      </p:sp>
      <p:sp>
        <p:nvSpPr>
          <p:cNvPr id="95" name="Text 78"/>
          <p:cNvSpPr/>
          <p:nvPr/>
        </p:nvSpPr>
        <p:spPr>
          <a:xfrm>
            <a:off x="5943600" y="3038474"/>
            <a:ext cx="421077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would-be priv-esc, blocked at chmodat()</a:t>
            </a:r>
            <a:endParaRPr lang="en-US" sz="825" dirty="0"/>
          </a:p>
        </p:txBody>
      </p:sp>
      <p:sp>
        <p:nvSpPr>
          <p:cNvPr id="96" name="Shape 79"/>
          <p:cNvSpPr/>
          <p:nvPr/>
        </p:nvSpPr>
        <p:spPr>
          <a:xfrm>
            <a:off x="5467350" y="3421381"/>
            <a:ext cx="4686300" cy="1118235"/>
          </a:xfrm>
          <a:prstGeom prst="roundRect">
            <a:avLst>
              <a:gd name="adj" fmla="val 681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pic>
        <p:nvPicPr>
          <p:cNvPr id="9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89270" y="3542348"/>
            <a:ext cx="123825" cy="123825"/>
          </a:xfrm>
          <a:prstGeom prst="rect">
            <a:avLst/>
          </a:prstGeom>
        </p:spPr>
      </p:pic>
      <p:sp>
        <p:nvSpPr>
          <p:cNvPr id="98" name="Text 80"/>
          <p:cNvSpPr/>
          <p:nvPr/>
        </p:nvSpPr>
        <p:spPr>
          <a:xfrm>
            <a:off x="5760720" y="3531869"/>
            <a:ext cx="93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health</a:t>
            </a:r>
            <a:endParaRPr lang="en-US" sz="900" dirty="0"/>
          </a:p>
        </p:txBody>
      </p:sp>
      <p:sp>
        <p:nvSpPr>
          <p:cNvPr id="99" name="Shape 81"/>
          <p:cNvSpPr/>
          <p:nvPr/>
        </p:nvSpPr>
        <p:spPr>
          <a:xfrm>
            <a:off x="5589270" y="3809048"/>
            <a:ext cx="579120" cy="5791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0B981"/>
            </a:solidFill>
            <a:prstDash val="solid"/>
          </a:ln>
        </p:spPr>
      </p:sp>
      <p:sp>
        <p:nvSpPr>
          <p:cNvPr id="100" name="Text 82"/>
          <p:cNvSpPr/>
          <p:nvPr/>
        </p:nvSpPr>
        <p:spPr>
          <a:xfrm>
            <a:off x="5774174" y="3991927"/>
            <a:ext cx="28539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</a:t>
            </a:r>
            <a:endParaRPr lang="en-US" sz="1200" dirty="0"/>
          </a:p>
        </p:txBody>
      </p:sp>
      <p:sp>
        <p:nvSpPr>
          <p:cNvPr id="101" name="Text 83"/>
          <p:cNvSpPr/>
          <p:nvPr/>
        </p:nvSpPr>
        <p:spPr>
          <a:xfrm>
            <a:off x="6282690" y="3780473"/>
            <a:ext cx="97833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compliance</a:t>
            </a:r>
            <a:endParaRPr lang="en-US" sz="900" dirty="0"/>
          </a:p>
        </p:txBody>
      </p:sp>
      <p:sp>
        <p:nvSpPr>
          <p:cNvPr id="102" name="Shape 84"/>
          <p:cNvSpPr/>
          <p:nvPr/>
        </p:nvSpPr>
        <p:spPr>
          <a:xfrm>
            <a:off x="7270433" y="3760469"/>
            <a:ext cx="54018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03" name="Shape 85"/>
          <p:cNvSpPr/>
          <p:nvPr/>
        </p:nvSpPr>
        <p:spPr>
          <a:xfrm>
            <a:off x="7344727" y="383190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04" name="Text 86"/>
          <p:cNvSpPr/>
          <p:nvPr/>
        </p:nvSpPr>
        <p:spPr>
          <a:xfrm>
            <a:off x="7439977" y="3787140"/>
            <a:ext cx="37254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25" dirty="0"/>
          </a:p>
        </p:txBody>
      </p:sp>
      <p:sp>
        <p:nvSpPr>
          <p:cNvPr id="105" name="Text 87"/>
          <p:cNvSpPr/>
          <p:nvPr/>
        </p:nvSpPr>
        <p:spPr>
          <a:xfrm>
            <a:off x="6282690" y="4018598"/>
            <a:ext cx="87022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SPIFFE identity</a:t>
            </a:r>
            <a:endParaRPr lang="en-US" sz="900" dirty="0"/>
          </a:p>
        </p:txBody>
      </p:sp>
      <p:sp>
        <p:nvSpPr>
          <p:cNvPr id="106" name="Shape 88"/>
          <p:cNvSpPr/>
          <p:nvPr/>
        </p:nvSpPr>
        <p:spPr>
          <a:xfrm>
            <a:off x="7133868" y="3998594"/>
            <a:ext cx="676751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07" name="Shape 89"/>
          <p:cNvSpPr/>
          <p:nvPr/>
        </p:nvSpPr>
        <p:spPr>
          <a:xfrm>
            <a:off x="7208164" y="407003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08" name="Text 90"/>
          <p:cNvSpPr/>
          <p:nvPr/>
        </p:nvSpPr>
        <p:spPr>
          <a:xfrm>
            <a:off x="7303414" y="4025265"/>
            <a:ext cx="50911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attested</a:t>
            </a:r>
            <a:endParaRPr lang="en-US" sz="825" dirty="0"/>
          </a:p>
        </p:txBody>
      </p:sp>
      <p:sp>
        <p:nvSpPr>
          <p:cNvPr id="109" name="Text 91"/>
          <p:cNvSpPr/>
          <p:nvPr/>
        </p:nvSpPr>
        <p:spPr>
          <a:xfrm>
            <a:off x="6282690" y="4256723"/>
            <a:ext cx="51470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auth</a:t>
            </a:r>
            <a:endParaRPr lang="en-US" sz="900" dirty="0"/>
          </a:p>
        </p:txBody>
      </p:sp>
      <p:sp>
        <p:nvSpPr>
          <p:cNvPr id="110" name="Shape 92"/>
          <p:cNvSpPr/>
          <p:nvPr/>
        </p:nvSpPr>
        <p:spPr>
          <a:xfrm>
            <a:off x="7087195" y="4236719"/>
            <a:ext cx="723424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11" name="Shape 93"/>
          <p:cNvSpPr/>
          <p:nvPr/>
        </p:nvSpPr>
        <p:spPr>
          <a:xfrm>
            <a:off x="7161491" y="430815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12" name="Text 94"/>
          <p:cNvSpPr/>
          <p:nvPr/>
        </p:nvSpPr>
        <p:spPr>
          <a:xfrm>
            <a:off x="7256741" y="4263390"/>
            <a:ext cx="55578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</a:t>
            </a:r>
            <a:endParaRPr lang="en-US" sz="825" dirty="0"/>
          </a:p>
        </p:txBody>
      </p:sp>
      <p:sp>
        <p:nvSpPr>
          <p:cNvPr id="113" name="Shape 95"/>
          <p:cNvSpPr/>
          <p:nvPr/>
        </p:nvSpPr>
        <p:spPr>
          <a:xfrm>
            <a:off x="76200" y="5780723"/>
            <a:ext cx="2072640" cy="810577"/>
          </a:xfrm>
          <a:prstGeom prst="roundRect">
            <a:avLst>
              <a:gd name="adj" fmla="val 470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114" name="Text 96"/>
          <p:cNvSpPr/>
          <p:nvPr/>
        </p:nvSpPr>
        <p:spPr>
          <a:xfrm>
            <a:off x="160020" y="5845493"/>
            <a:ext cx="1981200" cy="719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this is the Harvey lesson in product form. we secure SOC agents at the kernel, the same way we secure your workloads.</a:t>
            </a:r>
            <a:endParaRPr lang="en-US" sz="8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7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91441" y="26860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4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4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4"/>
            <a:ext cx="193083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AI-BOM · agent supply chain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616638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724627" y="144780"/>
            <a:ext cx="195679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transparency for the AI itself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4757619" y="74294"/>
            <a:ext cx="2733318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0489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031939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6" y="108584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4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1" y="131444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0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0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1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8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09"/>
            <a:ext cx="460295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verify every model, tool, and dependency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6328172" y="616267"/>
            <a:ext cx="793671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6402467" y="68770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0" name="Text 25"/>
          <p:cNvSpPr/>
          <p:nvPr/>
        </p:nvSpPr>
        <p:spPr>
          <a:xfrm>
            <a:off x="6497717" y="642938"/>
            <a:ext cx="62603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· 19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7178992" y="616267"/>
            <a:ext cx="752594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7253288" y="687705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43" name="Text 28"/>
          <p:cNvSpPr/>
          <p:nvPr/>
        </p:nvSpPr>
        <p:spPr>
          <a:xfrm>
            <a:off x="7348538" y="642938"/>
            <a:ext cx="58495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· 1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7988738" y="616267"/>
            <a:ext cx="851416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8063031" y="687705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46" name="Text 31"/>
          <p:cNvSpPr/>
          <p:nvPr/>
        </p:nvSpPr>
        <p:spPr>
          <a:xfrm>
            <a:off x="8158281" y="642938"/>
            <a:ext cx="68377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unverified · 1</a:t>
            </a:r>
            <a:endParaRPr lang="en-US" sz="825" dirty="0"/>
          </a:p>
        </p:txBody>
      </p:sp>
      <p:sp>
        <p:nvSpPr>
          <p:cNvPr id="47" name="Shape 32"/>
          <p:cNvSpPr/>
          <p:nvPr/>
        </p:nvSpPr>
        <p:spPr>
          <a:xfrm>
            <a:off x="8897303" y="590550"/>
            <a:ext cx="1256348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8" name="Text 33"/>
          <p:cNvSpPr/>
          <p:nvPr/>
        </p:nvSpPr>
        <p:spPr>
          <a:xfrm>
            <a:off x="9000174" y="636269"/>
            <a:ext cx="112680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· CycloneDX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666750" y="937259"/>
            <a:ext cx="526018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50" name="Shape 35"/>
          <p:cNvSpPr/>
          <p:nvPr/>
        </p:nvSpPr>
        <p:spPr>
          <a:xfrm>
            <a:off x="741045" y="1008697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36"/>
          <p:cNvSpPr/>
          <p:nvPr/>
        </p:nvSpPr>
        <p:spPr>
          <a:xfrm>
            <a:off x="836295" y="963930"/>
            <a:ext cx="35837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· 21</a:t>
            </a:r>
            <a:endParaRPr lang="en-US" sz="825" dirty="0"/>
          </a:p>
        </p:txBody>
      </p:sp>
      <p:sp>
        <p:nvSpPr>
          <p:cNvPr id="52" name="Shape 37"/>
          <p:cNvSpPr/>
          <p:nvPr/>
        </p:nvSpPr>
        <p:spPr>
          <a:xfrm>
            <a:off x="1249919" y="937259"/>
            <a:ext cx="70068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3" name="Shape 38"/>
          <p:cNvSpPr/>
          <p:nvPr/>
        </p:nvSpPr>
        <p:spPr>
          <a:xfrm>
            <a:off x="1324215" y="100869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4" name="Text 39"/>
          <p:cNvSpPr/>
          <p:nvPr/>
        </p:nvSpPr>
        <p:spPr>
          <a:xfrm>
            <a:off x="1419465" y="963930"/>
            <a:ext cx="53304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· 3</a:t>
            </a:r>
            <a:endParaRPr lang="en-US" sz="825" dirty="0"/>
          </a:p>
        </p:txBody>
      </p:sp>
      <p:sp>
        <p:nvSpPr>
          <p:cNvPr id="55" name="Shape 40"/>
          <p:cNvSpPr/>
          <p:nvPr/>
        </p:nvSpPr>
        <p:spPr>
          <a:xfrm>
            <a:off x="2007752" y="937259"/>
            <a:ext cx="581978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6" name="Shape 41"/>
          <p:cNvSpPr/>
          <p:nvPr/>
        </p:nvSpPr>
        <p:spPr>
          <a:xfrm>
            <a:off x="2082047" y="100869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7" name="Text 42"/>
          <p:cNvSpPr/>
          <p:nvPr/>
        </p:nvSpPr>
        <p:spPr>
          <a:xfrm>
            <a:off x="2177297" y="963930"/>
            <a:ext cx="41433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· 4</a:t>
            </a:r>
            <a:endParaRPr lang="en-US" sz="825" dirty="0"/>
          </a:p>
        </p:txBody>
      </p:sp>
      <p:sp>
        <p:nvSpPr>
          <p:cNvPr id="58" name="Shape 43"/>
          <p:cNvSpPr/>
          <p:nvPr/>
        </p:nvSpPr>
        <p:spPr>
          <a:xfrm>
            <a:off x="2646878" y="937259"/>
            <a:ext cx="513159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9" name="Shape 44"/>
          <p:cNvSpPr/>
          <p:nvPr/>
        </p:nvSpPr>
        <p:spPr>
          <a:xfrm>
            <a:off x="2721173" y="100869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0" name="Text 45"/>
          <p:cNvSpPr/>
          <p:nvPr/>
        </p:nvSpPr>
        <p:spPr>
          <a:xfrm>
            <a:off x="2816423" y="963930"/>
            <a:ext cx="34551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 · 11</a:t>
            </a:r>
            <a:endParaRPr lang="en-US" sz="825" dirty="0"/>
          </a:p>
        </p:txBody>
      </p:sp>
      <p:sp>
        <p:nvSpPr>
          <p:cNvPr id="61" name="Shape 46"/>
          <p:cNvSpPr/>
          <p:nvPr/>
        </p:nvSpPr>
        <p:spPr>
          <a:xfrm>
            <a:off x="3217187" y="937259"/>
            <a:ext cx="60757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2" name="Shape 47"/>
          <p:cNvSpPr/>
          <p:nvPr/>
        </p:nvSpPr>
        <p:spPr>
          <a:xfrm>
            <a:off x="3291483" y="100869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3" name="Text 48"/>
          <p:cNvSpPr/>
          <p:nvPr/>
        </p:nvSpPr>
        <p:spPr>
          <a:xfrm>
            <a:off x="3386733" y="963930"/>
            <a:ext cx="43993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· 3</a:t>
            </a:r>
            <a:endParaRPr lang="en-US" sz="825" dirty="0"/>
          </a:p>
        </p:txBody>
      </p:sp>
      <p:sp>
        <p:nvSpPr>
          <p:cNvPr id="64" name="Shape 49"/>
          <p:cNvSpPr/>
          <p:nvPr/>
        </p:nvSpPr>
        <p:spPr>
          <a:xfrm>
            <a:off x="666750" y="1232534"/>
            <a:ext cx="9486900" cy="4078605"/>
          </a:xfrm>
          <a:prstGeom prst="roundRect">
            <a:avLst>
              <a:gd name="adj" fmla="val 186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5" name="Shape 50"/>
          <p:cNvSpPr/>
          <p:nvPr/>
        </p:nvSpPr>
        <p:spPr>
          <a:xfrm>
            <a:off x="788670" y="1335405"/>
            <a:ext cx="798076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6" name="Shape 51"/>
          <p:cNvSpPr/>
          <p:nvPr/>
        </p:nvSpPr>
        <p:spPr>
          <a:xfrm>
            <a:off x="788670" y="1573530"/>
            <a:ext cx="79807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Text 52"/>
          <p:cNvSpPr/>
          <p:nvPr/>
        </p:nvSpPr>
        <p:spPr>
          <a:xfrm>
            <a:off x="864870" y="1383030"/>
            <a:ext cx="72187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</a:t>
            </a:r>
            <a:endParaRPr lang="en-US" sz="825" dirty="0"/>
          </a:p>
        </p:txBody>
      </p:sp>
      <p:sp>
        <p:nvSpPr>
          <p:cNvPr id="68" name="Shape 53"/>
          <p:cNvSpPr/>
          <p:nvPr/>
        </p:nvSpPr>
        <p:spPr>
          <a:xfrm>
            <a:off x="1586747" y="1335405"/>
            <a:ext cx="2051566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9" name="Shape 54"/>
          <p:cNvSpPr/>
          <p:nvPr/>
        </p:nvSpPr>
        <p:spPr>
          <a:xfrm>
            <a:off x="1586747" y="1573530"/>
            <a:ext cx="205156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55"/>
          <p:cNvSpPr/>
          <p:nvPr/>
        </p:nvSpPr>
        <p:spPr>
          <a:xfrm>
            <a:off x="1662947" y="1383030"/>
            <a:ext cx="19753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825" dirty="0"/>
          </a:p>
        </p:txBody>
      </p:sp>
      <p:sp>
        <p:nvSpPr>
          <p:cNvPr id="71" name="Shape 56"/>
          <p:cNvSpPr/>
          <p:nvPr/>
        </p:nvSpPr>
        <p:spPr>
          <a:xfrm>
            <a:off x="3638313" y="1335405"/>
            <a:ext cx="1067514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2" name="Shape 57"/>
          <p:cNvSpPr/>
          <p:nvPr/>
        </p:nvSpPr>
        <p:spPr>
          <a:xfrm>
            <a:off x="3638313" y="1573530"/>
            <a:ext cx="1067514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3" name="Text 58"/>
          <p:cNvSpPr/>
          <p:nvPr/>
        </p:nvSpPr>
        <p:spPr>
          <a:xfrm>
            <a:off x="3714513" y="1383030"/>
            <a:ext cx="9913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DATE</a:t>
            </a:r>
            <a:endParaRPr lang="en-US" sz="825" dirty="0"/>
          </a:p>
        </p:txBody>
      </p:sp>
      <p:sp>
        <p:nvSpPr>
          <p:cNvPr id="74" name="Shape 59"/>
          <p:cNvSpPr/>
          <p:nvPr/>
        </p:nvSpPr>
        <p:spPr>
          <a:xfrm>
            <a:off x="4705827" y="1335405"/>
            <a:ext cx="991672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5" name="Shape 60"/>
          <p:cNvSpPr/>
          <p:nvPr/>
        </p:nvSpPr>
        <p:spPr>
          <a:xfrm>
            <a:off x="4705827" y="1573530"/>
            <a:ext cx="991672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61"/>
          <p:cNvSpPr/>
          <p:nvPr/>
        </p:nvSpPr>
        <p:spPr>
          <a:xfrm>
            <a:off x="4782027" y="1383030"/>
            <a:ext cx="91547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25" dirty="0"/>
          </a:p>
        </p:txBody>
      </p:sp>
      <p:sp>
        <p:nvSpPr>
          <p:cNvPr id="77" name="Shape 62"/>
          <p:cNvSpPr/>
          <p:nvPr/>
        </p:nvSpPr>
        <p:spPr>
          <a:xfrm>
            <a:off x="5697499" y="1335405"/>
            <a:ext cx="3424119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8" name="Shape 63"/>
          <p:cNvSpPr/>
          <p:nvPr/>
        </p:nvSpPr>
        <p:spPr>
          <a:xfrm>
            <a:off x="5697499" y="1573530"/>
            <a:ext cx="342411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9" name="Text 64"/>
          <p:cNvSpPr/>
          <p:nvPr/>
        </p:nvSpPr>
        <p:spPr>
          <a:xfrm>
            <a:off x="5773699" y="1383030"/>
            <a:ext cx="337444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825" dirty="0"/>
          </a:p>
        </p:txBody>
      </p:sp>
      <p:sp>
        <p:nvSpPr>
          <p:cNvPr id="80" name="Shape 65"/>
          <p:cNvSpPr/>
          <p:nvPr/>
        </p:nvSpPr>
        <p:spPr>
          <a:xfrm>
            <a:off x="9121618" y="1335405"/>
            <a:ext cx="910114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1" name="Shape 66"/>
          <p:cNvSpPr/>
          <p:nvPr/>
        </p:nvSpPr>
        <p:spPr>
          <a:xfrm>
            <a:off x="9121618" y="1573530"/>
            <a:ext cx="910114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Shape 67"/>
          <p:cNvSpPr/>
          <p:nvPr/>
        </p:nvSpPr>
        <p:spPr>
          <a:xfrm>
            <a:off x="788670" y="1895475"/>
            <a:ext cx="79807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3" name="Shape 68"/>
          <p:cNvSpPr/>
          <p:nvPr/>
        </p:nvSpPr>
        <p:spPr>
          <a:xfrm>
            <a:off x="864870" y="1642109"/>
            <a:ext cx="567333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84" name="Shape 69"/>
          <p:cNvSpPr/>
          <p:nvPr/>
        </p:nvSpPr>
        <p:spPr>
          <a:xfrm>
            <a:off x="939166" y="1713547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5" name="Text 70"/>
          <p:cNvSpPr/>
          <p:nvPr/>
        </p:nvSpPr>
        <p:spPr>
          <a:xfrm>
            <a:off x="1034416" y="1676400"/>
            <a:ext cx="39969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25" dirty="0"/>
          </a:p>
        </p:txBody>
      </p:sp>
      <p:sp>
        <p:nvSpPr>
          <p:cNvPr id="86" name="Shape 71"/>
          <p:cNvSpPr/>
          <p:nvPr/>
        </p:nvSpPr>
        <p:spPr>
          <a:xfrm>
            <a:off x="1586747" y="1895475"/>
            <a:ext cx="20515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7" name="Text 72"/>
          <p:cNvSpPr/>
          <p:nvPr/>
        </p:nvSpPr>
        <p:spPr>
          <a:xfrm>
            <a:off x="1662947" y="1638300"/>
            <a:ext cx="19753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claude-3.5-sonnet@anthropic</a:t>
            </a:r>
            <a:endParaRPr lang="en-US" sz="825" dirty="0"/>
          </a:p>
        </p:txBody>
      </p:sp>
      <p:sp>
        <p:nvSpPr>
          <p:cNvPr id="88" name="Shape 73"/>
          <p:cNvSpPr/>
          <p:nvPr/>
        </p:nvSpPr>
        <p:spPr>
          <a:xfrm>
            <a:off x="3638313" y="1895475"/>
            <a:ext cx="10675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9" name="Text 74"/>
          <p:cNvSpPr/>
          <p:nvPr/>
        </p:nvSpPr>
        <p:spPr>
          <a:xfrm>
            <a:off x="3714513" y="1638300"/>
            <a:ext cx="9913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2025-12</a:t>
            </a:r>
            <a:endParaRPr lang="en-US" sz="900" dirty="0"/>
          </a:p>
        </p:txBody>
      </p:sp>
      <p:sp>
        <p:nvSpPr>
          <p:cNvPr id="90" name="Shape 75"/>
          <p:cNvSpPr/>
          <p:nvPr/>
        </p:nvSpPr>
        <p:spPr>
          <a:xfrm>
            <a:off x="4705827" y="1895475"/>
            <a:ext cx="99167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1" name="Shape 76"/>
          <p:cNvSpPr/>
          <p:nvPr/>
        </p:nvSpPr>
        <p:spPr>
          <a:xfrm>
            <a:off x="4782027" y="1642109"/>
            <a:ext cx="62138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92" name="Shape 77"/>
          <p:cNvSpPr/>
          <p:nvPr/>
        </p:nvSpPr>
        <p:spPr>
          <a:xfrm>
            <a:off x="4856322" y="171354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93" name="Text 78"/>
          <p:cNvSpPr/>
          <p:nvPr/>
        </p:nvSpPr>
        <p:spPr>
          <a:xfrm>
            <a:off x="4951572" y="1676400"/>
            <a:ext cx="45374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25" dirty="0"/>
          </a:p>
        </p:txBody>
      </p:sp>
      <p:sp>
        <p:nvSpPr>
          <p:cNvPr id="94" name="Shape 79"/>
          <p:cNvSpPr/>
          <p:nvPr/>
        </p:nvSpPr>
        <p:spPr>
          <a:xfrm>
            <a:off x="5697499" y="1895475"/>
            <a:ext cx="34241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5" name="Shape 80"/>
          <p:cNvSpPr/>
          <p:nvPr/>
        </p:nvSpPr>
        <p:spPr>
          <a:xfrm>
            <a:off x="9121618" y="1895475"/>
            <a:ext cx="910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6" name="Text 81"/>
          <p:cNvSpPr/>
          <p:nvPr/>
        </p:nvSpPr>
        <p:spPr>
          <a:xfrm>
            <a:off x="9197818" y="1638300"/>
            <a:ext cx="833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97" name="Shape 82"/>
          <p:cNvSpPr/>
          <p:nvPr/>
        </p:nvSpPr>
        <p:spPr>
          <a:xfrm>
            <a:off x="788670" y="2217419"/>
            <a:ext cx="79807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8" name="Shape 83"/>
          <p:cNvSpPr/>
          <p:nvPr/>
        </p:nvSpPr>
        <p:spPr>
          <a:xfrm>
            <a:off x="864870" y="1964055"/>
            <a:ext cx="567333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99" name="Shape 84"/>
          <p:cNvSpPr/>
          <p:nvPr/>
        </p:nvSpPr>
        <p:spPr>
          <a:xfrm>
            <a:off x="939166" y="2035492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0" name="Text 85"/>
          <p:cNvSpPr/>
          <p:nvPr/>
        </p:nvSpPr>
        <p:spPr>
          <a:xfrm>
            <a:off x="1034416" y="1998344"/>
            <a:ext cx="39969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25" dirty="0"/>
          </a:p>
        </p:txBody>
      </p:sp>
      <p:sp>
        <p:nvSpPr>
          <p:cNvPr id="101" name="Shape 86"/>
          <p:cNvSpPr/>
          <p:nvPr/>
        </p:nvSpPr>
        <p:spPr>
          <a:xfrm>
            <a:off x="1586747" y="2217419"/>
            <a:ext cx="20515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2" name="Text 87"/>
          <p:cNvSpPr/>
          <p:nvPr/>
        </p:nvSpPr>
        <p:spPr>
          <a:xfrm>
            <a:off x="1662947" y="1960244"/>
            <a:ext cx="19753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gpt-4.1@openai</a:t>
            </a:r>
            <a:endParaRPr lang="en-US" sz="825" dirty="0"/>
          </a:p>
        </p:txBody>
      </p:sp>
      <p:sp>
        <p:nvSpPr>
          <p:cNvPr id="103" name="Shape 88"/>
          <p:cNvSpPr/>
          <p:nvPr/>
        </p:nvSpPr>
        <p:spPr>
          <a:xfrm>
            <a:off x="3638313" y="2217419"/>
            <a:ext cx="10675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4" name="Text 89"/>
          <p:cNvSpPr/>
          <p:nvPr/>
        </p:nvSpPr>
        <p:spPr>
          <a:xfrm>
            <a:off x="3714513" y="1960244"/>
            <a:ext cx="9913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2026-02</a:t>
            </a:r>
            <a:endParaRPr lang="en-US" sz="900" dirty="0"/>
          </a:p>
        </p:txBody>
      </p:sp>
      <p:sp>
        <p:nvSpPr>
          <p:cNvPr id="105" name="Shape 90"/>
          <p:cNvSpPr/>
          <p:nvPr/>
        </p:nvSpPr>
        <p:spPr>
          <a:xfrm>
            <a:off x="4705827" y="2217419"/>
            <a:ext cx="99167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6" name="Shape 91"/>
          <p:cNvSpPr/>
          <p:nvPr/>
        </p:nvSpPr>
        <p:spPr>
          <a:xfrm>
            <a:off x="4782027" y="1964055"/>
            <a:ext cx="62138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07" name="Shape 92"/>
          <p:cNvSpPr/>
          <p:nvPr/>
        </p:nvSpPr>
        <p:spPr>
          <a:xfrm>
            <a:off x="4856322" y="203549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08" name="Text 93"/>
          <p:cNvSpPr/>
          <p:nvPr/>
        </p:nvSpPr>
        <p:spPr>
          <a:xfrm>
            <a:off x="4951572" y="1998344"/>
            <a:ext cx="45374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25" dirty="0"/>
          </a:p>
        </p:txBody>
      </p:sp>
      <p:sp>
        <p:nvSpPr>
          <p:cNvPr id="109" name="Shape 94"/>
          <p:cNvSpPr/>
          <p:nvPr/>
        </p:nvSpPr>
        <p:spPr>
          <a:xfrm>
            <a:off x="5697499" y="2217419"/>
            <a:ext cx="34241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0" name="Shape 95"/>
          <p:cNvSpPr/>
          <p:nvPr/>
        </p:nvSpPr>
        <p:spPr>
          <a:xfrm>
            <a:off x="9121618" y="2217419"/>
            <a:ext cx="910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1" name="Text 96"/>
          <p:cNvSpPr/>
          <p:nvPr/>
        </p:nvSpPr>
        <p:spPr>
          <a:xfrm>
            <a:off x="9197818" y="1960244"/>
            <a:ext cx="833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112" name="Shape 97"/>
          <p:cNvSpPr/>
          <p:nvPr/>
        </p:nvSpPr>
        <p:spPr>
          <a:xfrm>
            <a:off x="788670" y="2539365"/>
            <a:ext cx="79807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3" name="Shape 98"/>
          <p:cNvSpPr/>
          <p:nvPr/>
        </p:nvSpPr>
        <p:spPr>
          <a:xfrm>
            <a:off x="864870" y="2286000"/>
            <a:ext cx="567333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114" name="Shape 99"/>
          <p:cNvSpPr/>
          <p:nvPr/>
        </p:nvSpPr>
        <p:spPr>
          <a:xfrm>
            <a:off x="939166" y="2357438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5" name="Text 100"/>
          <p:cNvSpPr/>
          <p:nvPr/>
        </p:nvSpPr>
        <p:spPr>
          <a:xfrm>
            <a:off x="1034416" y="2320290"/>
            <a:ext cx="39969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25" dirty="0"/>
          </a:p>
        </p:txBody>
      </p:sp>
      <p:sp>
        <p:nvSpPr>
          <p:cNvPr id="116" name="Shape 101"/>
          <p:cNvSpPr/>
          <p:nvPr/>
        </p:nvSpPr>
        <p:spPr>
          <a:xfrm>
            <a:off x="1586747" y="2539365"/>
            <a:ext cx="20515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7" name="Text 102"/>
          <p:cNvSpPr/>
          <p:nvPr/>
        </p:nvSpPr>
        <p:spPr>
          <a:xfrm>
            <a:off x="1662947" y="2282190"/>
            <a:ext cx="19753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mistral-codestral@local</a:t>
            </a:r>
            <a:endParaRPr lang="en-US" sz="825" dirty="0"/>
          </a:p>
        </p:txBody>
      </p:sp>
      <p:sp>
        <p:nvSpPr>
          <p:cNvPr id="118" name="Shape 103"/>
          <p:cNvSpPr/>
          <p:nvPr/>
        </p:nvSpPr>
        <p:spPr>
          <a:xfrm>
            <a:off x="3638313" y="2539365"/>
            <a:ext cx="10675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9" name="Text 104"/>
          <p:cNvSpPr/>
          <p:nvPr/>
        </p:nvSpPr>
        <p:spPr>
          <a:xfrm>
            <a:off x="3714513" y="2282190"/>
            <a:ext cx="9913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</a:t>
            </a:r>
            <a:endParaRPr lang="en-US" sz="900" dirty="0"/>
          </a:p>
        </p:txBody>
      </p:sp>
      <p:sp>
        <p:nvSpPr>
          <p:cNvPr id="120" name="Shape 105"/>
          <p:cNvSpPr/>
          <p:nvPr/>
        </p:nvSpPr>
        <p:spPr>
          <a:xfrm>
            <a:off x="4705827" y="2539365"/>
            <a:ext cx="99167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1" name="Shape 106"/>
          <p:cNvSpPr/>
          <p:nvPr/>
        </p:nvSpPr>
        <p:spPr>
          <a:xfrm>
            <a:off x="4782027" y="2286000"/>
            <a:ext cx="62138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22" name="Shape 107"/>
          <p:cNvSpPr/>
          <p:nvPr/>
        </p:nvSpPr>
        <p:spPr>
          <a:xfrm>
            <a:off x="4856322" y="235743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3" name="Text 108"/>
          <p:cNvSpPr/>
          <p:nvPr/>
        </p:nvSpPr>
        <p:spPr>
          <a:xfrm>
            <a:off x="4951572" y="2320290"/>
            <a:ext cx="45374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25" dirty="0"/>
          </a:p>
        </p:txBody>
      </p:sp>
      <p:sp>
        <p:nvSpPr>
          <p:cNvPr id="124" name="Shape 109"/>
          <p:cNvSpPr/>
          <p:nvPr/>
        </p:nvSpPr>
        <p:spPr>
          <a:xfrm>
            <a:off x="5697499" y="2539365"/>
            <a:ext cx="34241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5" name="Shape 110"/>
          <p:cNvSpPr/>
          <p:nvPr/>
        </p:nvSpPr>
        <p:spPr>
          <a:xfrm>
            <a:off x="9121618" y="2539365"/>
            <a:ext cx="910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6" name="Text 111"/>
          <p:cNvSpPr/>
          <p:nvPr/>
        </p:nvSpPr>
        <p:spPr>
          <a:xfrm>
            <a:off x="9197818" y="2282190"/>
            <a:ext cx="833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127" name="Shape 112"/>
          <p:cNvSpPr/>
          <p:nvPr/>
        </p:nvSpPr>
        <p:spPr>
          <a:xfrm>
            <a:off x="788670" y="2546984"/>
            <a:ext cx="798076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28" name="Shape 113"/>
          <p:cNvSpPr/>
          <p:nvPr/>
        </p:nvSpPr>
        <p:spPr>
          <a:xfrm>
            <a:off x="788670" y="2861309"/>
            <a:ext cx="79807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9" name="Shape 114"/>
          <p:cNvSpPr/>
          <p:nvPr/>
        </p:nvSpPr>
        <p:spPr>
          <a:xfrm>
            <a:off x="864870" y="2607944"/>
            <a:ext cx="445651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30" name="Shape 115"/>
          <p:cNvSpPr/>
          <p:nvPr/>
        </p:nvSpPr>
        <p:spPr>
          <a:xfrm>
            <a:off x="939166" y="2679382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31" name="Text 116"/>
          <p:cNvSpPr/>
          <p:nvPr/>
        </p:nvSpPr>
        <p:spPr>
          <a:xfrm>
            <a:off x="1034416" y="2642234"/>
            <a:ext cx="278011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825" dirty="0"/>
          </a:p>
        </p:txBody>
      </p:sp>
      <p:sp>
        <p:nvSpPr>
          <p:cNvPr id="132" name="Shape 117"/>
          <p:cNvSpPr/>
          <p:nvPr/>
        </p:nvSpPr>
        <p:spPr>
          <a:xfrm>
            <a:off x="1586747" y="2546984"/>
            <a:ext cx="2051566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33" name="Shape 118"/>
          <p:cNvSpPr/>
          <p:nvPr/>
        </p:nvSpPr>
        <p:spPr>
          <a:xfrm>
            <a:off x="1586747" y="2861309"/>
            <a:ext cx="20515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4" name="Text 119"/>
          <p:cNvSpPr/>
          <p:nvPr/>
        </p:nvSpPr>
        <p:spPr>
          <a:xfrm>
            <a:off x="1662947" y="2604134"/>
            <a:ext cx="19753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litellm-proxy@0.41.3</a:t>
            </a:r>
            <a:endParaRPr lang="en-US" sz="825" dirty="0"/>
          </a:p>
        </p:txBody>
      </p:sp>
      <p:sp>
        <p:nvSpPr>
          <p:cNvPr id="135" name="Shape 120"/>
          <p:cNvSpPr/>
          <p:nvPr/>
        </p:nvSpPr>
        <p:spPr>
          <a:xfrm>
            <a:off x="3638313" y="2546984"/>
            <a:ext cx="1067514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36" name="Shape 121"/>
          <p:cNvSpPr/>
          <p:nvPr/>
        </p:nvSpPr>
        <p:spPr>
          <a:xfrm>
            <a:off x="3638313" y="2861309"/>
            <a:ext cx="10675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7" name="Text 122"/>
          <p:cNvSpPr/>
          <p:nvPr/>
        </p:nvSpPr>
        <p:spPr>
          <a:xfrm>
            <a:off x="3714513" y="2604134"/>
            <a:ext cx="9913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</a:t>
            </a:r>
            <a:endParaRPr lang="en-US" sz="900" dirty="0"/>
          </a:p>
        </p:txBody>
      </p:sp>
      <p:sp>
        <p:nvSpPr>
          <p:cNvPr id="138" name="Shape 123"/>
          <p:cNvSpPr/>
          <p:nvPr/>
        </p:nvSpPr>
        <p:spPr>
          <a:xfrm>
            <a:off x="4705827" y="2546984"/>
            <a:ext cx="991672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39" name="Shape 124"/>
          <p:cNvSpPr/>
          <p:nvPr/>
        </p:nvSpPr>
        <p:spPr>
          <a:xfrm>
            <a:off x="4705827" y="2861309"/>
            <a:ext cx="99167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0" name="Shape 125"/>
          <p:cNvSpPr/>
          <p:nvPr/>
        </p:nvSpPr>
        <p:spPr>
          <a:xfrm>
            <a:off x="4782027" y="2607944"/>
            <a:ext cx="643057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41" name="Shape 126"/>
          <p:cNvSpPr/>
          <p:nvPr/>
        </p:nvSpPr>
        <p:spPr>
          <a:xfrm>
            <a:off x="4856322" y="2679382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42" name="Text 127"/>
          <p:cNvSpPr/>
          <p:nvPr/>
        </p:nvSpPr>
        <p:spPr>
          <a:xfrm>
            <a:off x="4951572" y="2642234"/>
            <a:ext cx="475415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</a:t>
            </a:r>
            <a:endParaRPr lang="en-US" sz="825" dirty="0"/>
          </a:p>
        </p:txBody>
      </p:sp>
      <p:sp>
        <p:nvSpPr>
          <p:cNvPr id="143" name="Shape 128"/>
          <p:cNvSpPr/>
          <p:nvPr/>
        </p:nvSpPr>
        <p:spPr>
          <a:xfrm>
            <a:off x="5697499" y="2546984"/>
            <a:ext cx="3424119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44" name="Shape 129"/>
          <p:cNvSpPr/>
          <p:nvPr/>
        </p:nvSpPr>
        <p:spPr>
          <a:xfrm>
            <a:off x="5697499" y="2861309"/>
            <a:ext cx="34241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5" name="Text 130"/>
          <p:cNvSpPr/>
          <p:nvPr/>
        </p:nvSpPr>
        <p:spPr>
          <a:xfrm>
            <a:off x="5773699" y="2604134"/>
            <a:ext cx="337444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CVE-2026-01142 advisory · update available</a:t>
            </a:r>
            <a:endParaRPr lang="en-US" sz="900" dirty="0"/>
          </a:p>
        </p:txBody>
      </p:sp>
      <p:sp>
        <p:nvSpPr>
          <p:cNvPr id="146" name="Shape 131"/>
          <p:cNvSpPr/>
          <p:nvPr/>
        </p:nvSpPr>
        <p:spPr>
          <a:xfrm>
            <a:off x="9121618" y="2546984"/>
            <a:ext cx="910114" cy="321945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47" name="Shape 132"/>
          <p:cNvSpPr/>
          <p:nvPr/>
        </p:nvSpPr>
        <p:spPr>
          <a:xfrm>
            <a:off x="9121618" y="2861309"/>
            <a:ext cx="910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8" name="Shape 133"/>
          <p:cNvSpPr/>
          <p:nvPr/>
        </p:nvSpPr>
        <p:spPr>
          <a:xfrm>
            <a:off x="9197818" y="2607944"/>
            <a:ext cx="66806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9" name="Text 134"/>
          <p:cNvSpPr/>
          <p:nvPr/>
        </p:nvSpPr>
        <p:spPr>
          <a:xfrm>
            <a:off x="9272111" y="2634615"/>
            <a:ext cx="5956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remediate</a:t>
            </a:r>
            <a:endParaRPr lang="en-US" sz="825" dirty="0"/>
          </a:p>
        </p:txBody>
      </p:sp>
      <p:sp>
        <p:nvSpPr>
          <p:cNvPr id="150" name="Shape 135"/>
          <p:cNvSpPr/>
          <p:nvPr/>
        </p:nvSpPr>
        <p:spPr>
          <a:xfrm>
            <a:off x="788670" y="3183255"/>
            <a:ext cx="79807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1" name="Shape 136"/>
          <p:cNvSpPr/>
          <p:nvPr/>
        </p:nvSpPr>
        <p:spPr>
          <a:xfrm>
            <a:off x="864870" y="2929890"/>
            <a:ext cx="445651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52" name="Shape 137"/>
          <p:cNvSpPr/>
          <p:nvPr/>
        </p:nvSpPr>
        <p:spPr>
          <a:xfrm>
            <a:off x="939166" y="3001327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53" name="Text 138"/>
          <p:cNvSpPr/>
          <p:nvPr/>
        </p:nvSpPr>
        <p:spPr>
          <a:xfrm>
            <a:off x="1034416" y="2964180"/>
            <a:ext cx="27801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825" dirty="0"/>
          </a:p>
        </p:txBody>
      </p:sp>
      <p:sp>
        <p:nvSpPr>
          <p:cNvPr id="154" name="Shape 139"/>
          <p:cNvSpPr/>
          <p:nvPr/>
        </p:nvSpPr>
        <p:spPr>
          <a:xfrm>
            <a:off x="1586747" y="3183255"/>
            <a:ext cx="20515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5" name="Text 140"/>
          <p:cNvSpPr/>
          <p:nvPr/>
        </p:nvSpPr>
        <p:spPr>
          <a:xfrm>
            <a:off x="1662947" y="2926080"/>
            <a:ext cx="19753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knoxclaw-runtime@1.8.0</a:t>
            </a:r>
            <a:endParaRPr lang="en-US" sz="825" dirty="0"/>
          </a:p>
        </p:txBody>
      </p:sp>
      <p:sp>
        <p:nvSpPr>
          <p:cNvPr id="156" name="Shape 141"/>
          <p:cNvSpPr/>
          <p:nvPr/>
        </p:nvSpPr>
        <p:spPr>
          <a:xfrm>
            <a:off x="3638313" y="3183255"/>
            <a:ext cx="10675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7" name="Text 142"/>
          <p:cNvSpPr/>
          <p:nvPr/>
        </p:nvSpPr>
        <p:spPr>
          <a:xfrm>
            <a:off x="3714513" y="2926080"/>
            <a:ext cx="9913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2026-06</a:t>
            </a:r>
            <a:endParaRPr lang="en-US" sz="900" dirty="0"/>
          </a:p>
        </p:txBody>
      </p:sp>
      <p:sp>
        <p:nvSpPr>
          <p:cNvPr id="158" name="Shape 143"/>
          <p:cNvSpPr/>
          <p:nvPr/>
        </p:nvSpPr>
        <p:spPr>
          <a:xfrm>
            <a:off x="4705827" y="3183255"/>
            <a:ext cx="99167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9" name="Shape 144"/>
          <p:cNvSpPr/>
          <p:nvPr/>
        </p:nvSpPr>
        <p:spPr>
          <a:xfrm>
            <a:off x="4782027" y="2929890"/>
            <a:ext cx="62138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60" name="Shape 145"/>
          <p:cNvSpPr/>
          <p:nvPr/>
        </p:nvSpPr>
        <p:spPr>
          <a:xfrm>
            <a:off x="4856322" y="300132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61" name="Text 146"/>
          <p:cNvSpPr/>
          <p:nvPr/>
        </p:nvSpPr>
        <p:spPr>
          <a:xfrm>
            <a:off x="4951572" y="2964180"/>
            <a:ext cx="45374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25" dirty="0"/>
          </a:p>
        </p:txBody>
      </p:sp>
      <p:sp>
        <p:nvSpPr>
          <p:cNvPr id="162" name="Shape 147"/>
          <p:cNvSpPr/>
          <p:nvPr/>
        </p:nvSpPr>
        <p:spPr>
          <a:xfrm>
            <a:off x="5697499" y="3183255"/>
            <a:ext cx="34241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3" name="Shape 148"/>
          <p:cNvSpPr/>
          <p:nvPr/>
        </p:nvSpPr>
        <p:spPr>
          <a:xfrm>
            <a:off x="9121618" y="3183255"/>
            <a:ext cx="910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4" name="Text 149"/>
          <p:cNvSpPr/>
          <p:nvPr/>
        </p:nvSpPr>
        <p:spPr>
          <a:xfrm>
            <a:off x="9197818" y="2926080"/>
            <a:ext cx="833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165" name="Shape 150"/>
          <p:cNvSpPr/>
          <p:nvPr/>
        </p:nvSpPr>
        <p:spPr>
          <a:xfrm>
            <a:off x="788670" y="3505199"/>
            <a:ext cx="79807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6" name="Shape 151"/>
          <p:cNvSpPr/>
          <p:nvPr/>
        </p:nvSpPr>
        <p:spPr>
          <a:xfrm>
            <a:off x="864870" y="3251835"/>
            <a:ext cx="445651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67" name="Shape 152"/>
          <p:cNvSpPr/>
          <p:nvPr/>
        </p:nvSpPr>
        <p:spPr>
          <a:xfrm>
            <a:off x="939166" y="332327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68" name="Text 153"/>
          <p:cNvSpPr/>
          <p:nvPr/>
        </p:nvSpPr>
        <p:spPr>
          <a:xfrm>
            <a:off x="1034416" y="3286124"/>
            <a:ext cx="278011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825" dirty="0"/>
          </a:p>
        </p:txBody>
      </p:sp>
      <p:sp>
        <p:nvSpPr>
          <p:cNvPr id="169" name="Shape 154"/>
          <p:cNvSpPr/>
          <p:nvPr/>
        </p:nvSpPr>
        <p:spPr>
          <a:xfrm>
            <a:off x="1586747" y="3505199"/>
            <a:ext cx="20515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0" name="Text 155"/>
          <p:cNvSpPr/>
          <p:nvPr/>
        </p:nvSpPr>
        <p:spPr>
          <a:xfrm>
            <a:off x="1662947" y="3248024"/>
            <a:ext cx="19753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vllm@0.5.1</a:t>
            </a:r>
            <a:endParaRPr lang="en-US" sz="825" dirty="0"/>
          </a:p>
        </p:txBody>
      </p:sp>
      <p:sp>
        <p:nvSpPr>
          <p:cNvPr id="171" name="Shape 156"/>
          <p:cNvSpPr/>
          <p:nvPr/>
        </p:nvSpPr>
        <p:spPr>
          <a:xfrm>
            <a:off x="3638313" y="3505199"/>
            <a:ext cx="10675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2" name="Text 157"/>
          <p:cNvSpPr/>
          <p:nvPr/>
        </p:nvSpPr>
        <p:spPr>
          <a:xfrm>
            <a:off x="3714513" y="3248024"/>
            <a:ext cx="9913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</a:t>
            </a:r>
            <a:endParaRPr lang="en-US" sz="900" dirty="0"/>
          </a:p>
        </p:txBody>
      </p:sp>
      <p:sp>
        <p:nvSpPr>
          <p:cNvPr id="173" name="Shape 158"/>
          <p:cNvSpPr/>
          <p:nvPr/>
        </p:nvSpPr>
        <p:spPr>
          <a:xfrm>
            <a:off x="4705827" y="3505199"/>
            <a:ext cx="99167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4" name="Shape 159"/>
          <p:cNvSpPr/>
          <p:nvPr/>
        </p:nvSpPr>
        <p:spPr>
          <a:xfrm>
            <a:off x="4782027" y="3251835"/>
            <a:ext cx="62138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75" name="Shape 160"/>
          <p:cNvSpPr/>
          <p:nvPr/>
        </p:nvSpPr>
        <p:spPr>
          <a:xfrm>
            <a:off x="4856322" y="332327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76" name="Text 161"/>
          <p:cNvSpPr/>
          <p:nvPr/>
        </p:nvSpPr>
        <p:spPr>
          <a:xfrm>
            <a:off x="4951572" y="3286124"/>
            <a:ext cx="453747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25" dirty="0"/>
          </a:p>
        </p:txBody>
      </p:sp>
      <p:sp>
        <p:nvSpPr>
          <p:cNvPr id="177" name="Shape 162"/>
          <p:cNvSpPr/>
          <p:nvPr/>
        </p:nvSpPr>
        <p:spPr>
          <a:xfrm>
            <a:off x="5697499" y="3505199"/>
            <a:ext cx="34241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8" name="Shape 163"/>
          <p:cNvSpPr/>
          <p:nvPr/>
        </p:nvSpPr>
        <p:spPr>
          <a:xfrm>
            <a:off x="9121618" y="3505199"/>
            <a:ext cx="910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9" name="Text 164"/>
          <p:cNvSpPr/>
          <p:nvPr/>
        </p:nvSpPr>
        <p:spPr>
          <a:xfrm>
            <a:off x="9197818" y="3248024"/>
            <a:ext cx="833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180" name="Shape 165"/>
          <p:cNvSpPr/>
          <p:nvPr/>
        </p:nvSpPr>
        <p:spPr>
          <a:xfrm>
            <a:off x="788670" y="3827144"/>
            <a:ext cx="79807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1" name="Shape 166"/>
          <p:cNvSpPr/>
          <p:nvPr/>
        </p:nvSpPr>
        <p:spPr>
          <a:xfrm>
            <a:off x="864870" y="3573781"/>
            <a:ext cx="445651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82" name="Shape 167"/>
          <p:cNvSpPr/>
          <p:nvPr/>
        </p:nvSpPr>
        <p:spPr>
          <a:xfrm>
            <a:off x="939166" y="3645218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83" name="Text 168"/>
          <p:cNvSpPr/>
          <p:nvPr/>
        </p:nvSpPr>
        <p:spPr>
          <a:xfrm>
            <a:off x="1034416" y="3608069"/>
            <a:ext cx="278011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825" dirty="0"/>
          </a:p>
        </p:txBody>
      </p:sp>
      <p:sp>
        <p:nvSpPr>
          <p:cNvPr id="184" name="Shape 169"/>
          <p:cNvSpPr/>
          <p:nvPr/>
        </p:nvSpPr>
        <p:spPr>
          <a:xfrm>
            <a:off x="1586747" y="3827144"/>
            <a:ext cx="20515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5" name="Text 170"/>
          <p:cNvSpPr/>
          <p:nvPr/>
        </p:nvSpPr>
        <p:spPr>
          <a:xfrm>
            <a:off x="1662947" y="3569969"/>
            <a:ext cx="19753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ollama@0.4.4</a:t>
            </a:r>
            <a:endParaRPr lang="en-US" sz="825" dirty="0"/>
          </a:p>
        </p:txBody>
      </p:sp>
      <p:sp>
        <p:nvSpPr>
          <p:cNvPr id="186" name="Shape 171"/>
          <p:cNvSpPr/>
          <p:nvPr/>
        </p:nvSpPr>
        <p:spPr>
          <a:xfrm>
            <a:off x="3638313" y="3827144"/>
            <a:ext cx="10675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7" name="Text 172"/>
          <p:cNvSpPr/>
          <p:nvPr/>
        </p:nvSpPr>
        <p:spPr>
          <a:xfrm>
            <a:off x="3714513" y="3569969"/>
            <a:ext cx="9913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</a:t>
            </a:r>
            <a:endParaRPr lang="en-US" sz="900" dirty="0"/>
          </a:p>
        </p:txBody>
      </p:sp>
      <p:sp>
        <p:nvSpPr>
          <p:cNvPr id="188" name="Shape 173"/>
          <p:cNvSpPr/>
          <p:nvPr/>
        </p:nvSpPr>
        <p:spPr>
          <a:xfrm>
            <a:off x="4705827" y="3827144"/>
            <a:ext cx="99167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9" name="Shape 174"/>
          <p:cNvSpPr/>
          <p:nvPr/>
        </p:nvSpPr>
        <p:spPr>
          <a:xfrm>
            <a:off x="4782027" y="3573781"/>
            <a:ext cx="62138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90" name="Shape 175"/>
          <p:cNvSpPr/>
          <p:nvPr/>
        </p:nvSpPr>
        <p:spPr>
          <a:xfrm>
            <a:off x="4856322" y="364521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91" name="Text 176"/>
          <p:cNvSpPr/>
          <p:nvPr/>
        </p:nvSpPr>
        <p:spPr>
          <a:xfrm>
            <a:off x="4951572" y="3608069"/>
            <a:ext cx="453747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25" dirty="0"/>
          </a:p>
        </p:txBody>
      </p:sp>
      <p:sp>
        <p:nvSpPr>
          <p:cNvPr id="192" name="Shape 177"/>
          <p:cNvSpPr/>
          <p:nvPr/>
        </p:nvSpPr>
        <p:spPr>
          <a:xfrm>
            <a:off x="5697499" y="3827144"/>
            <a:ext cx="34241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3" name="Shape 178"/>
          <p:cNvSpPr/>
          <p:nvPr/>
        </p:nvSpPr>
        <p:spPr>
          <a:xfrm>
            <a:off x="9121618" y="3827144"/>
            <a:ext cx="910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4" name="Text 179"/>
          <p:cNvSpPr/>
          <p:nvPr/>
        </p:nvSpPr>
        <p:spPr>
          <a:xfrm>
            <a:off x="9197818" y="3569969"/>
            <a:ext cx="833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195" name="Shape 180"/>
          <p:cNvSpPr/>
          <p:nvPr/>
        </p:nvSpPr>
        <p:spPr>
          <a:xfrm>
            <a:off x="788670" y="4149090"/>
            <a:ext cx="79807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6" name="Shape 181"/>
          <p:cNvSpPr/>
          <p:nvPr/>
        </p:nvSpPr>
        <p:spPr>
          <a:xfrm>
            <a:off x="864870" y="3895724"/>
            <a:ext cx="36361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7" name="Shape 182"/>
          <p:cNvSpPr/>
          <p:nvPr/>
        </p:nvSpPr>
        <p:spPr>
          <a:xfrm>
            <a:off x="939166" y="3967161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98" name="Text 183"/>
          <p:cNvSpPr/>
          <p:nvPr/>
        </p:nvSpPr>
        <p:spPr>
          <a:xfrm>
            <a:off x="1034416" y="3930015"/>
            <a:ext cx="195976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</a:t>
            </a:r>
            <a:endParaRPr lang="en-US" sz="825" dirty="0"/>
          </a:p>
        </p:txBody>
      </p:sp>
      <p:sp>
        <p:nvSpPr>
          <p:cNvPr id="199" name="Shape 184"/>
          <p:cNvSpPr/>
          <p:nvPr/>
        </p:nvSpPr>
        <p:spPr>
          <a:xfrm>
            <a:off x="1586747" y="4149090"/>
            <a:ext cx="20515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0" name="Text 185"/>
          <p:cNvSpPr/>
          <p:nvPr/>
        </p:nvSpPr>
        <p:spPr>
          <a:xfrm>
            <a:off x="1662947" y="3891915"/>
            <a:ext cx="19753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langgraph@0.2.6</a:t>
            </a:r>
            <a:endParaRPr lang="en-US" sz="825" dirty="0"/>
          </a:p>
        </p:txBody>
      </p:sp>
      <p:sp>
        <p:nvSpPr>
          <p:cNvPr id="201" name="Shape 186"/>
          <p:cNvSpPr/>
          <p:nvPr/>
        </p:nvSpPr>
        <p:spPr>
          <a:xfrm>
            <a:off x="3638313" y="4149090"/>
            <a:ext cx="10675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2" name="Text 187"/>
          <p:cNvSpPr/>
          <p:nvPr/>
        </p:nvSpPr>
        <p:spPr>
          <a:xfrm>
            <a:off x="3714513" y="3891915"/>
            <a:ext cx="9913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2026-02</a:t>
            </a:r>
            <a:endParaRPr lang="en-US" sz="900" dirty="0"/>
          </a:p>
        </p:txBody>
      </p:sp>
      <p:sp>
        <p:nvSpPr>
          <p:cNvPr id="203" name="Shape 188"/>
          <p:cNvSpPr/>
          <p:nvPr/>
        </p:nvSpPr>
        <p:spPr>
          <a:xfrm>
            <a:off x="4705827" y="4149090"/>
            <a:ext cx="99167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4" name="Shape 189"/>
          <p:cNvSpPr/>
          <p:nvPr/>
        </p:nvSpPr>
        <p:spPr>
          <a:xfrm>
            <a:off x="4782027" y="3895724"/>
            <a:ext cx="62138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05" name="Shape 190"/>
          <p:cNvSpPr/>
          <p:nvPr/>
        </p:nvSpPr>
        <p:spPr>
          <a:xfrm>
            <a:off x="4856322" y="3967161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06" name="Text 191"/>
          <p:cNvSpPr/>
          <p:nvPr/>
        </p:nvSpPr>
        <p:spPr>
          <a:xfrm>
            <a:off x="4951572" y="3930015"/>
            <a:ext cx="453747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25" dirty="0"/>
          </a:p>
        </p:txBody>
      </p:sp>
      <p:sp>
        <p:nvSpPr>
          <p:cNvPr id="207" name="Shape 192"/>
          <p:cNvSpPr/>
          <p:nvPr/>
        </p:nvSpPr>
        <p:spPr>
          <a:xfrm>
            <a:off x="5697499" y="4149090"/>
            <a:ext cx="34241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8" name="Shape 193"/>
          <p:cNvSpPr/>
          <p:nvPr/>
        </p:nvSpPr>
        <p:spPr>
          <a:xfrm>
            <a:off x="9121618" y="4149090"/>
            <a:ext cx="910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9" name="Text 194"/>
          <p:cNvSpPr/>
          <p:nvPr/>
        </p:nvSpPr>
        <p:spPr>
          <a:xfrm>
            <a:off x="9197818" y="3891915"/>
            <a:ext cx="833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210" name="Shape 195"/>
          <p:cNvSpPr/>
          <p:nvPr/>
        </p:nvSpPr>
        <p:spPr>
          <a:xfrm>
            <a:off x="788670" y="4471035"/>
            <a:ext cx="79807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1" name="Shape 196"/>
          <p:cNvSpPr/>
          <p:nvPr/>
        </p:nvSpPr>
        <p:spPr>
          <a:xfrm>
            <a:off x="864870" y="4217669"/>
            <a:ext cx="36361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2" name="Shape 197"/>
          <p:cNvSpPr/>
          <p:nvPr/>
        </p:nvSpPr>
        <p:spPr>
          <a:xfrm>
            <a:off x="939166" y="428910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13" name="Text 198"/>
          <p:cNvSpPr/>
          <p:nvPr/>
        </p:nvSpPr>
        <p:spPr>
          <a:xfrm>
            <a:off x="1034416" y="4251960"/>
            <a:ext cx="195976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</a:t>
            </a:r>
            <a:endParaRPr lang="en-US" sz="825" dirty="0"/>
          </a:p>
        </p:txBody>
      </p:sp>
      <p:sp>
        <p:nvSpPr>
          <p:cNvPr id="214" name="Shape 199"/>
          <p:cNvSpPr/>
          <p:nvPr/>
        </p:nvSpPr>
        <p:spPr>
          <a:xfrm>
            <a:off x="1586747" y="4471035"/>
            <a:ext cx="20515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5" name="Text 200"/>
          <p:cNvSpPr/>
          <p:nvPr/>
        </p:nvSpPr>
        <p:spPr>
          <a:xfrm>
            <a:off x="1662947" y="4213860"/>
            <a:ext cx="19753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transformers@4.46.0</a:t>
            </a:r>
            <a:endParaRPr lang="en-US" sz="825" dirty="0"/>
          </a:p>
        </p:txBody>
      </p:sp>
      <p:sp>
        <p:nvSpPr>
          <p:cNvPr id="216" name="Shape 201"/>
          <p:cNvSpPr/>
          <p:nvPr/>
        </p:nvSpPr>
        <p:spPr>
          <a:xfrm>
            <a:off x="3638313" y="4471035"/>
            <a:ext cx="10675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7" name="Text 202"/>
          <p:cNvSpPr/>
          <p:nvPr/>
        </p:nvSpPr>
        <p:spPr>
          <a:xfrm>
            <a:off x="3714513" y="4213860"/>
            <a:ext cx="9913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</a:t>
            </a:r>
            <a:endParaRPr lang="en-US" sz="900" dirty="0"/>
          </a:p>
        </p:txBody>
      </p:sp>
      <p:sp>
        <p:nvSpPr>
          <p:cNvPr id="218" name="Shape 203"/>
          <p:cNvSpPr/>
          <p:nvPr/>
        </p:nvSpPr>
        <p:spPr>
          <a:xfrm>
            <a:off x="4705827" y="4471035"/>
            <a:ext cx="99167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9" name="Shape 204"/>
          <p:cNvSpPr/>
          <p:nvPr/>
        </p:nvSpPr>
        <p:spPr>
          <a:xfrm>
            <a:off x="4782027" y="4217669"/>
            <a:ext cx="62138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20" name="Shape 205"/>
          <p:cNvSpPr/>
          <p:nvPr/>
        </p:nvSpPr>
        <p:spPr>
          <a:xfrm>
            <a:off x="4856322" y="428910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21" name="Text 206"/>
          <p:cNvSpPr/>
          <p:nvPr/>
        </p:nvSpPr>
        <p:spPr>
          <a:xfrm>
            <a:off x="4951572" y="4251960"/>
            <a:ext cx="453747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25" dirty="0"/>
          </a:p>
        </p:txBody>
      </p:sp>
      <p:sp>
        <p:nvSpPr>
          <p:cNvPr id="222" name="Shape 207"/>
          <p:cNvSpPr/>
          <p:nvPr/>
        </p:nvSpPr>
        <p:spPr>
          <a:xfrm>
            <a:off x="5697499" y="4471035"/>
            <a:ext cx="34241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3" name="Shape 208"/>
          <p:cNvSpPr/>
          <p:nvPr/>
        </p:nvSpPr>
        <p:spPr>
          <a:xfrm>
            <a:off x="9121618" y="4471035"/>
            <a:ext cx="910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4" name="Text 209"/>
          <p:cNvSpPr/>
          <p:nvPr/>
        </p:nvSpPr>
        <p:spPr>
          <a:xfrm>
            <a:off x="9197818" y="4213860"/>
            <a:ext cx="833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225" name="Shape 210"/>
          <p:cNvSpPr/>
          <p:nvPr/>
        </p:nvSpPr>
        <p:spPr>
          <a:xfrm>
            <a:off x="788670" y="4792981"/>
            <a:ext cx="79807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6" name="Shape 211"/>
          <p:cNvSpPr/>
          <p:nvPr/>
        </p:nvSpPr>
        <p:spPr>
          <a:xfrm>
            <a:off x="864870" y="4539615"/>
            <a:ext cx="36361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7" name="Shape 212"/>
          <p:cNvSpPr/>
          <p:nvPr/>
        </p:nvSpPr>
        <p:spPr>
          <a:xfrm>
            <a:off x="939166" y="4611052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28" name="Text 213"/>
          <p:cNvSpPr/>
          <p:nvPr/>
        </p:nvSpPr>
        <p:spPr>
          <a:xfrm>
            <a:off x="1034416" y="4573906"/>
            <a:ext cx="195976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</a:t>
            </a:r>
            <a:endParaRPr lang="en-US" sz="825" dirty="0"/>
          </a:p>
        </p:txBody>
      </p:sp>
      <p:sp>
        <p:nvSpPr>
          <p:cNvPr id="229" name="Shape 214"/>
          <p:cNvSpPr/>
          <p:nvPr/>
        </p:nvSpPr>
        <p:spPr>
          <a:xfrm>
            <a:off x="1586747" y="4792981"/>
            <a:ext cx="20515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0" name="Text 215"/>
          <p:cNvSpPr/>
          <p:nvPr/>
        </p:nvSpPr>
        <p:spPr>
          <a:xfrm>
            <a:off x="1662947" y="4535806"/>
            <a:ext cx="19753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openfga-sdk-py@0.6.0</a:t>
            </a:r>
            <a:endParaRPr lang="en-US" sz="825" dirty="0"/>
          </a:p>
        </p:txBody>
      </p:sp>
      <p:sp>
        <p:nvSpPr>
          <p:cNvPr id="231" name="Shape 216"/>
          <p:cNvSpPr/>
          <p:nvPr/>
        </p:nvSpPr>
        <p:spPr>
          <a:xfrm>
            <a:off x="3638313" y="4792981"/>
            <a:ext cx="10675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2" name="Text 217"/>
          <p:cNvSpPr/>
          <p:nvPr/>
        </p:nvSpPr>
        <p:spPr>
          <a:xfrm>
            <a:off x="3714513" y="4535806"/>
            <a:ext cx="9913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</a:t>
            </a:r>
            <a:endParaRPr lang="en-US" sz="900" dirty="0"/>
          </a:p>
        </p:txBody>
      </p:sp>
      <p:sp>
        <p:nvSpPr>
          <p:cNvPr id="233" name="Shape 218"/>
          <p:cNvSpPr/>
          <p:nvPr/>
        </p:nvSpPr>
        <p:spPr>
          <a:xfrm>
            <a:off x="4705827" y="4792981"/>
            <a:ext cx="99167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4" name="Shape 219"/>
          <p:cNvSpPr/>
          <p:nvPr/>
        </p:nvSpPr>
        <p:spPr>
          <a:xfrm>
            <a:off x="4782027" y="4539615"/>
            <a:ext cx="62138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35" name="Shape 220"/>
          <p:cNvSpPr/>
          <p:nvPr/>
        </p:nvSpPr>
        <p:spPr>
          <a:xfrm>
            <a:off x="4856322" y="461105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36" name="Text 221"/>
          <p:cNvSpPr/>
          <p:nvPr/>
        </p:nvSpPr>
        <p:spPr>
          <a:xfrm>
            <a:off x="4951572" y="4573906"/>
            <a:ext cx="453747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25" dirty="0"/>
          </a:p>
        </p:txBody>
      </p:sp>
      <p:sp>
        <p:nvSpPr>
          <p:cNvPr id="237" name="Shape 222"/>
          <p:cNvSpPr/>
          <p:nvPr/>
        </p:nvSpPr>
        <p:spPr>
          <a:xfrm>
            <a:off x="5697499" y="4792981"/>
            <a:ext cx="34241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8" name="Shape 223"/>
          <p:cNvSpPr/>
          <p:nvPr/>
        </p:nvSpPr>
        <p:spPr>
          <a:xfrm>
            <a:off x="9121618" y="4792981"/>
            <a:ext cx="910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9" name="Text 224"/>
          <p:cNvSpPr/>
          <p:nvPr/>
        </p:nvSpPr>
        <p:spPr>
          <a:xfrm>
            <a:off x="9197818" y="4535806"/>
            <a:ext cx="833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240" name="Shape 225"/>
          <p:cNvSpPr/>
          <p:nvPr/>
        </p:nvSpPr>
        <p:spPr>
          <a:xfrm>
            <a:off x="788670" y="4800599"/>
            <a:ext cx="798076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41" name="Shape 226"/>
          <p:cNvSpPr/>
          <p:nvPr/>
        </p:nvSpPr>
        <p:spPr>
          <a:xfrm>
            <a:off x="788670" y="5114924"/>
            <a:ext cx="79807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2" name="Shape 227"/>
          <p:cNvSpPr/>
          <p:nvPr/>
        </p:nvSpPr>
        <p:spPr>
          <a:xfrm>
            <a:off x="864870" y="4861560"/>
            <a:ext cx="36361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3" name="Shape 228"/>
          <p:cNvSpPr/>
          <p:nvPr/>
        </p:nvSpPr>
        <p:spPr>
          <a:xfrm>
            <a:off x="939166" y="493299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44" name="Text 229"/>
          <p:cNvSpPr/>
          <p:nvPr/>
        </p:nvSpPr>
        <p:spPr>
          <a:xfrm>
            <a:off x="1034416" y="4895849"/>
            <a:ext cx="195976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</a:t>
            </a:r>
            <a:endParaRPr lang="en-US" sz="825" dirty="0"/>
          </a:p>
        </p:txBody>
      </p:sp>
      <p:sp>
        <p:nvSpPr>
          <p:cNvPr id="245" name="Shape 230"/>
          <p:cNvSpPr/>
          <p:nvPr/>
        </p:nvSpPr>
        <p:spPr>
          <a:xfrm>
            <a:off x="1586747" y="4800599"/>
            <a:ext cx="2051566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46" name="Shape 231"/>
          <p:cNvSpPr/>
          <p:nvPr/>
        </p:nvSpPr>
        <p:spPr>
          <a:xfrm>
            <a:off x="1586747" y="5114924"/>
            <a:ext cx="20515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7" name="Text 232"/>
          <p:cNvSpPr/>
          <p:nvPr/>
        </p:nvSpPr>
        <p:spPr>
          <a:xfrm>
            <a:off x="1662947" y="4857749"/>
            <a:ext cx="19753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exp-helper-utils@0.1.2</a:t>
            </a:r>
            <a:endParaRPr lang="en-US" sz="825" dirty="0"/>
          </a:p>
        </p:txBody>
      </p:sp>
      <p:sp>
        <p:nvSpPr>
          <p:cNvPr id="248" name="Shape 233"/>
          <p:cNvSpPr/>
          <p:nvPr/>
        </p:nvSpPr>
        <p:spPr>
          <a:xfrm>
            <a:off x="3638313" y="4800599"/>
            <a:ext cx="106751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49" name="Shape 234"/>
          <p:cNvSpPr/>
          <p:nvPr/>
        </p:nvSpPr>
        <p:spPr>
          <a:xfrm>
            <a:off x="3638313" y="5114924"/>
            <a:ext cx="10675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0" name="Text 235"/>
          <p:cNvSpPr/>
          <p:nvPr/>
        </p:nvSpPr>
        <p:spPr>
          <a:xfrm>
            <a:off x="3714513" y="4857749"/>
            <a:ext cx="9913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51" name="Shape 236"/>
          <p:cNvSpPr/>
          <p:nvPr/>
        </p:nvSpPr>
        <p:spPr>
          <a:xfrm>
            <a:off x="4705827" y="4800599"/>
            <a:ext cx="991672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52" name="Shape 237"/>
          <p:cNvSpPr/>
          <p:nvPr/>
        </p:nvSpPr>
        <p:spPr>
          <a:xfrm>
            <a:off x="4705827" y="5114924"/>
            <a:ext cx="99167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3" name="Shape 238"/>
          <p:cNvSpPr/>
          <p:nvPr/>
        </p:nvSpPr>
        <p:spPr>
          <a:xfrm>
            <a:off x="4782027" y="4861560"/>
            <a:ext cx="741878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254" name="Shape 239"/>
          <p:cNvSpPr/>
          <p:nvPr/>
        </p:nvSpPr>
        <p:spPr>
          <a:xfrm>
            <a:off x="4856322" y="4932998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55" name="Text 240"/>
          <p:cNvSpPr/>
          <p:nvPr/>
        </p:nvSpPr>
        <p:spPr>
          <a:xfrm>
            <a:off x="4951572" y="4895849"/>
            <a:ext cx="574237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unverified</a:t>
            </a:r>
            <a:endParaRPr lang="en-US" sz="825" dirty="0"/>
          </a:p>
        </p:txBody>
      </p:sp>
      <p:sp>
        <p:nvSpPr>
          <p:cNvPr id="256" name="Shape 241"/>
          <p:cNvSpPr/>
          <p:nvPr/>
        </p:nvSpPr>
        <p:spPr>
          <a:xfrm>
            <a:off x="5697499" y="4800599"/>
            <a:ext cx="3424119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57" name="Shape 242"/>
          <p:cNvSpPr/>
          <p:nvPr/>
        </p:nvSpPr>
        <p:spPr>
          <a:xfrm>
            <a:off x="5697499" y="5114924"/>
            <a:ext cx="34241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8" name="Text 243"/>
          <p:cNvSpPr/>
          <p:nvPr/>
        </p:nvSpPr>
        <p:spPr>
          <a:xfrm>
            <a:off x="5773699" y="4857749"/>
            <a:ext cx="337444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signature, no provenance · used by experimental-bot-3</a:t>
            </a:r>
            <a:endParaRPr lang="en-US" sz="900" dirty="0"/>
          </a:p>
        </p:txBody>
      </p:sp>
      <p:sp>
        <p:nvSpPr>
          <p:cNvPr id="259" name="Shape 244"/>
          <p:cNvSpPr/>
          <p:nvPr/>
        </p:nvSpPr>
        <p:spPr>
          <a:xfrm>
            <a:off x="9121618" y="4800599"/>
            <a:ext cx="910114" cy="32194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60" name="Shape 245"/>
          <p:cNvSpPr/>
          <p:nvPr/>
        </p:nvSpPr>
        <p:spPr>
          <a:xfrm>
            <a:off x="9121618" y="5114924"/>
            <a:ext cx="910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1" name="Shape 246"/>
          <p:cNvSpPr/>
          <p:nvPr/>
        </p:nvSpPr>
        <p:spPr>
          <a:xfrm>
            <a:off x="9197818" y="4861560"/>
            <a:ext cx="66806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2" name="Text 247"/>
          <p:cNvSpPr/>
          <p:nvPr/>
        </p:nvSpPr>
        <p:spPr>
          <a:xfrm>
            <a:off x="9272111" y="4888231"/>
            <a:ext cx="5956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remediate</a:t>
            </a:r>
            <a:endParaRPr lang="en-US" sz="825" dirty="0"/>
          </a:p>
        </p:txBody>
      </p:sp>
      <p:sp>
        <p:nvSpPr>
          <p:cNvPr id="263" name="Shape 248"/>
          <p:cNvSpPr/>
          <p:nvPr/>
        </p:nvSpPr>
        <p:spPr>
          <a:xfrm>
            <a:off x="788670" y="5436869"/>
            <a:ext cx="79807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4" name="Shape 249"/>
          <p:cNvSpPr/>
          <p:nvPr/>
        </p:nvSpPr>
        <p:spPr>
          <a:xfrm>
            <a:off x="864870" y="5183506"/>
            <a:ext cx="47410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5" name="Shape 250"/>
          <p:cNvSpPr/>
          <p:nvPr/>
        </p:nvSpPr>
        <p:spPr>
          <a:xfrm>
            <a:off x="939166" y="525494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66" name="Text 251"/>
          <p:cNvSpPr/>
          <p:nvPr/>
        </p:nvSpPr>
        <p:spPr>
          <a:xfrm>
            <a:off x="1034416" y="5217794"/>
            <a:ext cx="306467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25" dirty="0"/>
          </a:p>
        </p:txBody>
      </p:sp>
      <p:sp>
        <p:nvSpPr>
          <p:cNvPr id="267" name="Shape 252"/>
          <p:cNvSpPr/>
          <p:nvPr/>
        </p:nvSpPr>
        <p:spPr>
          <a:xfrm>
            <a:off x="1586747" y="5436869"/>
            <a:ext cx="2051566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8" name="Text 253"/>
          <p:cNvSpPr/>
          <p:nvPr/>
        </p:nvSpPr>
        <p:spPr>
          <a:xfrm>
            <a:off x="1662947" y="5179694"/>
            <a:ext cx="19753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MITRE ATT&amp;CK v15.1</a:t>
            </a:r>
            <a:endParaRPr lang="en-US" sz="825" dirty="0"/>
          </a:p>
        </p:txBody>
      </p:sp>
      <p:sp>
        <p:nvSpPr>
          <p:cNvPr id="269" name="Shape 254"/>
          <p:cNvSpPr/>
          <p:nvPr/>
        </p:nvSpPr>
        <p:spPr>
          <a:xfrm>
            <a:off x="3638313" y="5436869"/>
            <a:ext cx="10675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0" name="Text 255"/>
          <p:cNvSpPr/>
          <p:nvPr/>
        </p:nvSpPr>
        <p:spPr>
          <a:xfrm>
            <a:off x="3714513" y="5179694"/>
            <a:ext cx="9913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</a:t>
            </a:r>
            <a:endParaRPr lang="en-US" sz="900" dirty="0"/>
          </a:p>
        </p:txBody>
      </p:sp>
      <p:sp>
        <p:nvSpPr>
          <p:cNvPr id="271" name="Shape 256"/>
          <p:cNvSpPr/>
          <p:nvPr/>
        </p:nvSpPr>
        <p:spPr>
          <a:xfrm>
            <a:off x="4705827" y="5436869"/>
            <a:ext cx="991672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2" name="Shape 257"/>
          <p:cNvSpPr/>
          <p:nvPr/>
        </p:nvSpPr>
        <p:spPr>
          <a:xfrm>
            <a:off x="4782027" y="5183506"/>
            <a:ext cx="62138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73" name="Shape 258"/>
          <p:cNvSpPr/>
          <p:nvPr/>
        </p:nvSpPr>
        <p:spPr>
          <a:xfrm>
            <a:off x="4856322" y="525494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74" name="Text 259"/>
          <p:cNvSpPr/>
          <p:nvPr/>
        </p:nvSpPr>
        <p:spPr>
          <a:xfrm>
            <a:off x="4951572" y="5217794"/>
            <a:ext cx="453747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25" dirty="0"/>
          </a:p>
        </p:txBody>
      </p:sp>
      <p:sp>
        <p:nvSpPr>
          <p:cNvPr id="275" name="Shape 260"/>
          <p:cNvSpPr/>
          <p:nvPr/>
        </p:nvSpPr>
        <p:spPr>
          <a:xfrm>
            <a:off x="5697499" y="5436869"/>
            <a:ext cx="342411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6" name="Shape 261"/>
          <p:cNvSpPr/>
          <p:nvPr/>
        </p:nvSpPr>
        <p:spPr>
          <a:xfrm>
            <a:off x="9121618" y="5436869"/>
            <a:ext cx="9101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7" name="Text 262"/>
          <p:cNvSpPr/>
          <p:nvPr/>
        </p:nvSpPr>
        <p:spPr>
          <a:xfrm>
            <a:off x="9197818" y="5179694"/>
            <a:ext cx="833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278" name="Shape 263"/>
          <p:cNvSpPr/>
          <p:nvPr/>
        </p:nvSpPr>
        <p:spPr>
          <a:xfrm>
            <a:off x="864870" y="5505449"/>
            <a:ext cx="47410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9" name="Shape 264"/>
          <p:cNvSpPr/>
          <p:nvPr/>
        </p:nvSpPr>
        <p:spPr>
          <a:xfrm>
            <a:off x="939166" y="5576886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80" name="Text 265"/>
          <p:cNvSpPr/>
          <p:nvPr/>
        </p:nvSpPr>
        <p:spPr>
          <a:xfrm>
            <a:off x="1034416" y="5539740"/>
            <a:ext cx="306467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25" dirty="0"/>
          </a:p>
        </p:txBody>
      </p:sp>
      <p:sp>
        <p:nvSpPr>
          <p:cNvPr id="281" name="Text 266"/>
          <p:cNvSpPr/>
          <p:nvPr/>
        </p:nvSpPr>
        <p:spPr>
          <a:xfrm>
            <a:off x="1662947" y="5501640"/>
            <a:ext cx="1975366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AML.T0024 ATLAS taxonomy</a:t>
            </a:r>
            <a:endParaRPr lang="en-US" sz="825" dirty="0"/>
          </a:p>
        </p:txBody>
      </p:sp>
      <p:sp>
        <p:nvSpPr>
          <p:cNvPr id="282" name="Text 267"/>
          <p:cNvSpPr/>
          <p:nvPr/>
        </p:nvSpPr>
        <p:spPr>
          <a:xfrm>
            <a:off x="3714513" y="5501640"/>
            <a:ext cx="991314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</a:t>
            </a:r>
            <a:endParaRPr lang="en-US" sz="900" dirty="0"/>
          </a:p>
        </p:txBody>
      </p:sp>
      <p:sp>
        <p:nvSpPr>
          <p:cNvPr id="283" name="Shape 268"/>
          <p:cNvSpPr/>
          <p:nvPr/>
        </p:nvSpPr>
        <p:spPr>
          <a:xfrm>
            <a:off x="4782027" y="5505449"/>
            <a:ext cx="62138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84" name="Shape 269"/>
          <p:cNvSpPr/>
          <p:nvPr/>
        </p:nvSpPr>
        <p:spPr>
          <a:xfrm>
            <a:off x="4856322" y="5576886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85" name="Text 270"/>
          <p:cNvSpPr/>
          <p:nvPr/>
        </p:nvSpPr>
        <p:spPr>
          <a:xfrm>
            <a:off x="4951572" y="5539740"/>
            <a:ext cx="453747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25" dirty="0"/>
          </a:p>
        </p:txBody>
      </p:sp>
      <p:sp>
        <p:nvSpPr>
          <p:cNvPr id="286" name="Text 271"/>
          <p:cNvSpPr/>
          <p:nvPr/>
        </p:nvSpPr>
        <p:spPr>
          <a:xfrm>
            <a:off x="9197818" y="5501640"/>
            <a:ext cx="833914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287" name="Shape 272"/>
          <p:cNvSpPr/>
          <p:nvPr/>
        </p:nvSpPr>
        <p:spPr>
          <a:xfrm>
            <a:off x="666750" y="5406390"/>
            <a:ext cx="3111460" cy="1127760"/>
          </a:xfrm>
          <a:prstGeom prst="roundRect">
            <a:avLst>
              <a:gd name="adj" fmla="val 6757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88" name="Text 273"/>
          <p:cNvSpPr/>
          <p:nvPr/>
        </p:nvSpPr>
        <p:spPr>
          <a:xfrm>
            <a:off x="788670" y="5509260"/>
            <a:ext cx="295364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· litellm-proxy@0.41.3</a:t>
            </a:r>
            <a:endParaRPr lang="en-US" sz="900" dirty="0"/>
          </a:p>
        </p:txBody>
      </p:sp>
      <p:sp>
        <p:nvSpPr>
          <p:cNvPr id="289" name="Text 274"/>
          <p:cNvSpPr/>
          <p:nvPr/>
        </p:nvSpPr>
        <p:spPr>
          <a:xfrm>
            <a:off x="788670" y="5745481"/>
            <a:ext cx="29536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CVE-2026-01142 · server-side request forgery in proxy router.</a:t>
            </a:r>
            <a:endParaRPr lang="en-US" sz="900" dirty="0"/>
          </a:p>
        </p:txBody>
      </p:sp>
      <p:sp>
        <p:nvSpPr>
          <p:cNvPr id="290" name="Text 275"/>
          <p:cNvSpPr/>
          <p:nvPr/>
        </p:nvSpPr>
        <p:spPr>
          <a:xfrm>
            <a:off x="788670" y="6084569"/>
            <a:ext cx="295364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in 0.41.5 · staged in test cluster.</a:t>
            </a:r>
            <a:endParaRPr lang="en-US" sz="825" dirty="0"/>
          </a:p>
        </p:txBody>
      </p:sp>
      <p:sp>
        <p:nvSpPr>
          <p:cNvPr id="291" name="Shape 276"/>
          <p:cNvSpPr/>
          <p:nvPr/>
        </p:nvSpPr>
        <p:spPr>
          <a:xfrm>
            <a:off x="788670" y="6231256"/>
            <a:ext cx="81284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2" name="Text 277"/>
          <p:cNvSpPr/>
          <p:nvPr/>
        </p:nvSpPr>
        <p:spPr>
          <a:xfrm>
            <a:off x="862966" y="6257924"/>
            <a:ext cx="7404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now</a:t>
            </a:r>
            <a:endParaRPr lang="en-US" sz="825" dirty="0"/>
          </a:p>
        </p:txBody>
      </p:sp>
      <p:sp>
        <p:nvSpPr>
          <p:cNvPr id="293" name="Shape 278"/>
          <p:cNvSpPr/>
          <p:nvPr/>
        </p:nvSpPr>
        <p:spPr>
          <a:xfrm>
            <a:off x="3854411" y="5406390"/>
            <a:ext cx="3111460" cy="1127760"/>
          </a:xfrm>
          <a:prstGeom prst="roundRect">
            <a:avLst>
              <a:gd name="adj" fmla="val 6757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94" name="Text 279"/>
          <p:cNvSpPr/>
          <p:nvPr/>
        </p:nvSpPr>
        <p:spPr>
          <a:xfrm>
            <a:off x="3976332" y="5509260"/>
            <a:ext cx="295364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unverified · exp-helper-utils</a:t>
            </a:r>
            <a:endParaRPr lang="en-US" sz="900" dirty="0"/>
          </a:p>
        </p:txBody>
      </p:sp>
      <p:sp>
        <p:nvSpPr>
          <p:cNvPr id="295" name="Text 280"/>
          <p:cNvSpPr/>
          <p:nvPr/>
        </p:nvSpPr>
        <p:spPr>
          <a:xfrm>
            <a:off x="3976332" y="5745481"/>
            <a:ext cx="29536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signature · no provenance · brought in by experimental-bot-3.</a:t>
            </a:r>
            <a:endParaRPr lang="en-US" sz="900" dirty="0"/>
          </a:p>
        </p:txBody>
      </p:sp>
      <p:sp>
        <p:nvSpPr>
          <p:cNvPr id="296" name="Text 281"/>
          <p:cNvSpPr/>
          <p:nvPr/>
        </p:nvSpPr>
        <p:spPr>
          <a:xfrm>
            <a:off x="3976332" y="6084569"/>
            <a:ext cx="295364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blocks promotion to prod until signed.</a:t>
            </a:r>
            <a:endParaRPr lang="en-US" sz="825" dirty="0"/>
          </a:p>
        </p:txBody>
      </p:sp>
      <p:sp>
        <p:nvSpPr>
          <p:cNvPr id="297" name="Shape 282"/>
          <p:cNvSpPr/>
          <p:nvPr/>
        </p:nvSpPr>
        <p:spPr>
          <a:xfrm>
            <a:off x="3976332" y="6231256"/>
            <a:ext cx="688896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8" name="Text 283"/>
          <p:cNvSpPr/>
          <p:nvPr/>
        </p:nvSpPr>
        <p:spPr>
          <a:xfrm>
            <a:off x="4050625" y="6257924"/>
            <a:ext cx="6165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</a:t>
            </a:r>
            <a:endParaRPr lang="en-US" sz="825" dirty="0"/>
          </a:p>
        </p:txBody>
      </p:sp>
      <p:sp>
        <p:nvSpPr>
          <p:cNvPr id="299" name="Shape 284"/>
          <p:cNvSpPr/>
          <p:nvPr/>
        </p:nvSpPr>
        <p:spPr>
          <a:xfrm>
            <a:off x="7042070" y="5406390"/>
            <a:ext cx="3111580" cy="112776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00" name="Text 285"/>
          <p:cNvSpPr/>
          <p:nvPr/>
        </p:nvSpPr>
        <p:spPr>
          <a:xfrm>
            <a:off x="7163991" y="5509260"/>
            <a:ext cx="29537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graph</a:t>
            </a:r>
            <a:endParaRPr lang="en-US" sz="900" dirty="0"/>
          </a:p>
        </p:txBody>
      </p:sp>
      <p:sp>
        <p:nvSpPr>
          <p:cNvPr id="301" name="Text 286"/>
          <p:cNvSpPr/>
          <p:nvPr/>
        </p:nvSpPr>
        <p:spPr>
          <a:xfrm>
            <a:off x="7163991" y="5745481"/>
            <a:ext cx="2953772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built it · who signed it · where it runs · which agent uses it. traced via SLSA + sigstore.</a:t>
            </a:r>
            <a:endParaRPr lang="en-US" sz="863" dirty="0"/>
          </a:p>
        </p:txBody>
      </p:sp>
      <p:sp>
        <p:nvSpPr>
          <p:cNvPr id="302" name="Shape 287"/>
          <p:cNvSpPr/>
          <p:nvPr/>
        </p:nvSpPr>
        <p:spPr>
          <a:xfrm>
            <a:off x="7163991" y="6205536"/>
            <a:ext cx="727353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3" name="Text 288"/>
          <p:cNvSpPr/>
          <p:nvPr/>
        </p:nvSpPr>
        <p:spPr>
          <a:xfrm>
            <a:off x="7238286" y="6232207"/>
            <a:ext cx="65496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graph</a:t>
            </a:r>
            <a:endParaRPr lang="en-US" sz="8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7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91441" y="26860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4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4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4"/>
            <a:ext cx="287688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red-teaming · AI Red Teaming results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3555088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3663076" y="144780"/>
            <a:ext cx="177903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adversarial assurance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5518310" y="74294"/>
            <a:ext cx="1972628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1180" y="167640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792630" y="64769"/>
            <a:ext cx="167163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8" y="108584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40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60" y="108584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4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59" y="131444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2" y="167640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2" y="100965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3" y="107632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40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5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09"/>
            <a:ext cx="411830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agents that defend are themselves attacked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113984" y="616267"/>
            <a:ext cx="72044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7188282" y="68770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0" name="Text 25"/>
          <p:cNvSpPr/>
          <p:nvPr/>
        </p:nvSpPr>
        <p:spPr>
          <a:xfrm>
            <a:off x="7283532" y="642938"/>
            <a:ext cx="55280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· 412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7891583" y="616267"/>
            <a:ext cx="526375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7965877" y="687705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43" name="Text 28"/>
          <p:cNvSpPr/>
          <p:nvPr/>
        </p:nvSpPr>
        <p:spPr>
          <a:xfrm>
            <a:off x="8061127" y="642938"/>
            <a:ext cx="35873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· 3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8475106" y="590550"/>
            <a:ext cx="988933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Text 30"/>
          <p:cNvSpPr/>
          <p:nvPr/>
        </p:nvSpPr>
        <p:spPr>
          <a:xfrm>
            <a:off x="8577979" y="636269"/>
            <a:ext cx="85939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daily</a:t>
            </a:r>
            <a:endParaRPr lang="en-US" sz="900" dirty="0"/>
          </a:p>
        </p:txBody>
      </p:sp>
      <p:sp>
        <p:nvSpPr>
          <p:cNvPr id="46" name="Shape 31"/>
          <p:cNvSpPr/>
          <p:nvPr/>
        </p:nvSpPr>
        <p:spPr>
          <a:xfrm>
            <a:off x="9521191" y="590550"/>
            <a:ext cx="632460" cy="25146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7" name="Text 32"/>
          <p:cNvSpPr/>
          <p:nvPr/>
        </p:nvSpPr>
        <p:spPr>
          <a:xfrm>
            <a:off x="9624059" y="636269"/>
            <a:ext cx="50292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now</a:t>
            </a:r>
            <a:endParaRPr lang="en-US" sz="900" dirty="0"/>
          </a:p>
        </p:txBody>
      </p:sp>
      <p:sp>
        <p:nvSpPr>
          <p:cNvPr id="48" name="Shape 33"/>
          <p:cNvSpPr/>
          <p:nvPr/>
        </p:nvSpPr>
        <p:spPr>
          <a:xfrm>
            <a:off x="666750" y="937259"/>
            <a:ext cx="4705350" cy="873443"/>
          </a:xfrm>
          <a:prstGeom prst="roundRect">
            <a:avLst>
              <a:gd name="adj" fmla="val 8724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9" name="Text 34"/>
          <p:cNvSpPr/>
          <p:nvPr/>
        </p:nvSpPr>
        <p:spPr>
          <a:xfrm>
            <a:off x="769620" y="1046797"/>
            <a:ext cx="114681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1050" dirty="0"/>
          </a:p>
        </p:txBody>
      </p:sp>
      <p:sp>
        <p:nvSpPr>
          <p:cNvPr id="50" name="Shape 35"/>
          <p:cNvSpPr/>
          <p:nvPr/>
        </p:nvSpPr>
        <p:spPr>
          <a:xfrm>
            <a:off x="4795242" y="1040130"/>
            <a:ext cx="473988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51" name="Shape 36"/>
          <p:cNvSpPr/>
          <p:nvPr/>
        </p:nvSpPr>
        <p:spPr>
          <a:xfrm>
            <a:off x="4869538" y="1111567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2" name="Text 37"/>
          <p:cNvSpPr/>
          <p:nvPr/>
        </p:nvSpPr>
        <p:spPr>
          <a:xfrm>
            <a:off x="4964788" y="1074419"/>
            <a:ext cx="30634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fail</a:t>
            </a:r>
            <a:endParaRPr lang="en-US" sz="825" dirty="0"/>
          </a:p>
        </p:txBody>
      </p:sp>
      <p:sp>
        <p:nvSpPr>
          <p:cNvPr id="53" name="Shape 38"/>
          <p:cNvSpPr/>
          <p:nvPr/>
        </p:nvSpPr>
        <p:spPr>
          <a:xfrm>
            <a:off x="769620" y="1297305"/>
            <a:ext cx="70270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54" name="Shape 39"/>
          <p:cNvSpPr/>
          <p:nvPr/>
        </p:nvSpPr>
        <p:spPr>
          <a:xfrm>
            <a:off x="843916" y="136874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5" name="Text 40"/>
          <p:cNvSpPr/>
          <p:nvPr/>
        </p:nvSpPr>
        <p:spPr>
          <a:xfrm>
            <a:off x="939166" y="1323975"/>
            <a:ext cx="36504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·</a:t>
            </a:r>
            <a:endParaRPr lang="en-US" sz="825" dirty="0"/>
          </a:p>
        </p:txBody>
      </p:sp>
      <p:sp>
        <p:nvSpPr>
          <p:cNvPr id="56" name="Text 41"/>
          <p:cNvSpPr/>
          <p:nvPr/>
        </p:nvSpPr>
        <p:spPr>
          <a:xfrm>
            <a:off x="1266111" y="1331594"/>
            <a:ext cx="20812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825" dirty="0"/>
          </a:p>
        </p:txBody>
      </p:sp>
      <p:sp>
        <p:nvSpPr>
          <p:cNvPr id="57" name="Shape 42"/>
          <p:cNvSpPr/>
          <p:nvPr/>
        </p:nvSpPr>
        <p:spPr>
          <a:xfrm>
            <a:off x="1529476" y="1297305"/>
            <a:ext cx="945713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1603772" y="1368742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9" name="Text 44"/>
          <p:cNvSpPr/>
          <p:nvPr/>
        </p:nvSpPr>
        <p:spPr>
          <a:xfrm>
            <a:off x="1699022" y="1323975"/>
            <a:ext cx="5244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·</a:t>
            </a:r>
            <a:endParaRPr lang="en-US" sz="825" dirty="0"/>
          </a:p>
        </p:txBody>
      </p:sp>
      <p:sp>
        <p:nvSpPr>
          <p:cNvPr id="60" name="Text 45"/>
          <p:cNvSpPr/>
          <p:nvPr/>
        </p:nvSpPr>
        <p:spPr>
          <a:xfrm>
            <a:off x="2185392" y="1331594"/>
            <a:ext cx="29170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25" dirty="0"/>
          </a:p>
        </p:txBody>
      </p:sp>
      <p:sp>
        <p:nvSpPr>
          <p:cNvPr id="61" name="Shape 46"/>
          <p:cNvSpPr/>
          <p:nvPr/>
        </p:nvSpPr>
        <p:spPr>
          <a:xfrm>
            <a:off x="2532341" y="1297305"/>
            <a:ext cx="104739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2" name="Shape 47"/>
          <p:cNvSpPr/>
          <p:nvPr/>
        </p:nvSpPr>
        <p:spPr>
          <a:xfrm>
            <a:off x="2606636" y="1368742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3" name="Text 48"/>
          <p:cNvSpPr/>
          <p:nvPr/>
        </p:nvSpPr>
        <p:spPr>
          <a:xfrm>
            <a:off x="2701886" y="1323975"/>
            <a:ext cx="48398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run ·</a:t>
            </a:r>
            <a:endParaRPr lang="en-US" sz="825" dirty="0"/>
          </a:p>
        </p:txBody>
      </p:sp>
      <p:sp>
        <p:nvSpPr>
          <p:cNvPr id="64" name="Text 49"/>
          <p:cNvSpPr/>
          <p:nvPr/>
        </p:nvSpPr>
        <p:spPr>
          <a:xfrm>
            <a:off x="3147775" y="1331594"/>
            <a:ext cx="43386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 ago</a:t>
            </a:r>
            <a:endParaRPr lang="en-US" sz="825" dirty="0"/>
          </a:p>
        </p:txBody>
      </p:sp>
      <p:sp>
        <p:nvSpPr>
          <p:cNvPr id="65" name="Shape 50"/>
          <p:cNvSpPr/>
          <p:nvPr/>
        </p:nvSpPr>
        <p:spPr>
          <a:xfrm>
            <a:off x="3636883" y="1297305"/>
            <a:ext cx="1311950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6" name="Shape 51"/>
          <p:cNvSpPr/>
          <p:nvPr/>
        </p:nvSpPr>
        <p:spPr>
          <a:xfrm>
            <a:off x="3711178" y="1368742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7" name="Text 52"/>
          <p:cNvSpPr/>
          <p:nvPr/>
        </p:nvSpPr>
        <p:spPr>
          <a:xfrm>
            <a:off x="3806428" y="1331594"/>
            <a:ext cx="114430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from 5 fail last week</a:t>
            </a:r>
            <a:endParaRPr lang="en-US" sz="825" dirty="0"/>
          </a:p>
        </p:txBody>
      </p:sp>
      <p:sp>
        <p:nvSpPr>
          <p:cNvPr id="68" name="Text 53"/>
          <p:cNvSpPr/>
          <p:nvPr/>
        </p:nvSpPr>
        <p:spPr>
          <a:xfrm>
            <a:off x="769620" y="1554480"/>
            <a:ext cx="463459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indirect injections via tool result content blocked at runtime by ModelArmor.</a:t>
            </a:r>
            <a:endParaRPr lang="en-US" sz="863" dirty="0"/>
          </a:p>
        </p:txBody>
      </p:sp>
      <p:sp>
        <p:nvSpPr>
          <p:cNvPr id="69" name="Shape 54"/>
          <p:cNvSpPr/>
          <p:nvPr/>
        </p:nvSpPr>
        <p:spPr>
          <a:xfrm>
            <a:off x="5448300" y="937259"/>
            <a:ext cx="4705350" cy="873443"/>
          </a:xfrm>
          <a:prstGeom prst="roundRect">
            <a:avLst>
              <a:gd name="adj" fmla="val 8724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70" name="Text 55"/>
          <p:cNvSpPr/>
          <p:nvPr/>
        </p:nvSpPr>
        <p:spPr>
          <a:xfrm>
            <a:off x="5551170" y="1046797"/>
            <a:ext cx="62269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</a:t>
            </a:r>
            <a:endParaRPr lang="en-US" sz="1050" dirty="0"/>
          </a:p>
        </p:txBody>
      </p:sp>
      <p:sp>
        <p:nvSpPr>
          <p:cNvPr id="71" name="Shape 56"/>
          <p:cNvSpPr/>
          <p:nvPr/>
        </p:nvSpPr>
        <p:spPr>
          <a:xfrm>
            <a:off x="9563695" y="1040130"/>
            <a:ext cx="487085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72" name="Shape 57"/>
          <p:cNvSpPr/>
          <p:nvPr/>
        </p:nvSpPr>
        <p:spPr>
          <a:xfrm>
            <a:off x="9637993" y="111156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73" name="Text 58"/>
          <p:cNvSpPr/>
          <p:nvPr/>
        </p:nvSpPr>
        <p:spPr>
          <a:xfrm>
            <a:off x="9733243" y="1074419"/>
            <a:ext cx="31944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fail</a:t>
            </a:r>
            <a:endParaRPr lang="en-US" sz="825" dirty="0"/>
          </a:p>
        </p:txBody>
      </p:sp>
      <p:sp>
        <p:nvSpPr>
          <p:cNvPr id="74" name="Shape 59"/>
          <p:cNvSpPr/>
          <p:nvPr/>
        </p:nvSpPr>
        <p:spPr>
          <a:xfrm>
            <a:off x="5551170" y="1297305"/>
            <a:ext cx="74949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75" name="Shape 60"/>
          <p:cNvSpPr/>
          <p:nvPr/>
        </p:nvSpPr>
        <p:spPr>
          <a:xfrm>
            <a:off x="5625466" y="136874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76" name="Text 61"/>
          <p:cNvSpPr/>
          <p:nvPr/>
        </p:nvSpPr>
        <p:spPr>
          <a:xfrm>
            <a:off x="5720716" y="1323975"/>
            <a:ext cx="36504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·</a:t>
            </a:r>
            <a:endParaRPr lang="en-US" sz="825" dirty="0"/>
          </a:p>
        </p:txBody>
      </p:sp>
      <p:sp>
        <p:nvSpPr>
          <p:cNvPr id="77" name="Text 62"/>
          <p:cNvSpPr/>
          <p:nvPr/>
        </p:nvSpPr>
        <p:spPr>
          <a:xfrm>
            <a:off x="6047661" y="1331594"/>
            <a:ext cx="2549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825" dirty="0"/>
          </a:p>
        </p:txBody>
      </p:sp>
      <p:sp>
        <p:nvSpPr>
          <p:cNvPr id="78" name="Shape 63"/>
          <p:cNvSpPr/>
          <p:nvPr/>
        </p:nvSpPr>
        <p:spPr>
          <a:xfrm>
            <a:off x="6357821" y="1297305"/>
            <a:ext cx="945713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79" name="Shape 64"/>
          <p:cNvSpPr/>
          <p:nvPr/>
        </p:nvSpPr>
        <p:spPr>
          <a:xfrm>
            <a:off x="6432114" y="1368742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0" name="Text 65"/>
          <p:cNvSpPr/>
          <p:nvPr/>
        </p:nvSpPr>
        <p:spPr>
          <a:xfrm>
            <a:off x="6527364" y="1323975"/>
            <a:ext cx="5244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·</a:t>
            </a:r>
            <a:endParaRPr lang="en-US" sz="825" dirty="0"/>
          </a:p>
        </p:txBody>
      </p:sp>
      <p:sp>
        <p:nvSpPr>
          <p:cNvPr id="81" name="Text 66"/>
          <p:cNvSpPr/>
          <p:nvPr/>
        </p:nvSpPr>
        <p:spPr>
          <a:xfrm>
            <a:off x="7013735" y="1331594"/>
            <a:ext cx="29170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25" dirty="0"/>
          </a:p>
        </p:txBody>
      </p:sp>
      <p:sp>
        <p:nvSpPr>
          <p:cNvPr id="82" name="Shape 67"/>
          <p:cNvSpPr/>
          <p:nvPr/>
        </p:nvSpPr>
        <p:spPr>
          <a:xfrm>
            <a:off x="7360681" y="1297305"/>
            <a:ext cx="104739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3" name="Shape 68"/>
          <p:cNvSpPr/>
          <p:nvPr/>
        </p:nvSpPr>
        <p:spPr>
          <a:xfrm>
            <a:off x="7434979" y="1368742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84" name="Text 69"/>
          <p:cNvSpPr/>
          <p:nvPr/>
        </p:nvSpPr>
        <p:spPr>
          <a:xfrm>
            <a:off x="7530229" y="1323975"/>
            <a:ext cx="48398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run ·</a:t>
            </a:r>
            <a:endParaRPr lang="en-US" sz="825" dirty="0"/>
          </a:p>
        </p:txBody>
      </p:sp>
      <p:sp>
        <p:nvSpPr>
          <p:cNvPr id="85" name="Text 70"/>
          <p:cNvSpPr/>
          <p:nvPr/>
        </p:nvSpPr>
        <p:spPr>
          <a:xfrm>
            <a:off x="7976118" y="1331594"/>
            <a:ext cx="43386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 ago</a:t>
            </a:r>
            <a:endParaRPr lang="en-US" sz="825" dirty="0"/>
          </a:p>
        </p:txBody>
      </p:sp>
      <p:sp>
        <p:nvSpPr>
          <p:cNvPr id="86" name="Shape 71"/>
          <p:cNvSpPr/>
          <p:nvPr/>
        </p:nvSpPr>
        <p:spPr>
          <a:xfrm>
            <a:off x="8465227" y="1297305"/>
            <a:ext cx="128742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7" name="Shape 72"/>
          <p:cNvSpPr/>
          <p:nvPr/>
        </p:nvSpPr>
        <p:spPr>
          <a:xfrm>
            <a:off x="8539521" y="1368742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88" name="Text 73"/>
          <p:cNvSpPr/>
          <p:nvPr/>
        </p:nvSpPr>
        <p:spPr>
          <a:xfrm>
            <a:off x="8634771" y="1331594"/>
            <a:ext cx="111978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from 1 fail last week</a:t>
            </a:r>
            <a:endParaRPr lang="en-US" sz="825" dirty="0"/>
          </a:p>
        </p:txBody>
      </p:sp>
      <p:sp>
        <p:nvSpPr>
          <p:cNvPr id="89" name="Text 74"/>
          <p:cNvSpPr/>
          <p:nvPr/>
        </p:nvSpPr>
        <p:spPr>
          <a:xfrm>
            <a:off x="5551170" y="1554480"/>
            <a:ext cx="463459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102 sample attacks refused or hard-stopped at sandbox.</a:t>
            </a:r>
            <a:endParaRPr lang="en-US" sz="863" dirty="0"/>
          </a:p>
        </p:txBody>
      </p:sp>
      <p:sp>
        <p:nvSpPr>
          <p:cNvPr id="90" name="Shape 75"/>
          <p:cNvSpPr/>
          <p:nvPr/>
        </p:nvSpPr>
        <p:spPr>
          <a:xfrm>
            <a:off x="666750" y="1886902"/>
            <a:ext cx="4705350" cy="873443"/>
          </a:xfrm>
          <a:prstGeom prst="roundRect">
            <a:avLst>
              <a:gd name="adj" fmla="val 8724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91" name="Text 76"/>
          <p:cNvSpPr/>
          <p:nvPr/>
        </p:nvSpPr>
        <p:spPr>
          <a:xfrm>
            <a:off x="769620" y="1996440"/>
            <a:ext cx="109073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exfiltration</a:t>
            </a:r>
            <a:endParaRPr lang="en-US" sz="1050" dirty="0"/>
          </a:p>
        </p:txBody>
      </p:sp>
      <p:sp>
        <p:nvSpPr>
          <p:cNvPr id="92" name="Shape 77"/>
          <p:cNvSpPr/>
          <p:nvPr/>
        </p:nvSpPr>
        <p:spPr>
          <a:xfrm>
            <a:off x="4817983" y="1989772"/>
            <a:ext cx="451247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93" name="Shape 78"/>
          <p:cNvSpPr/>
          <p:nvPr/>
        </p:nvSpPr>
        <p:spPr>
          <a:xfrm>
            <a:off x="4892278" y="2061209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94" name="Text 79"/>
          <p:cNvSpPr/>
          <p:nvPr/>
        </p:nvSpPr>
        <p:spPr>
          <a:xfrm>
            <a:off x="4987528" y="2024062"/>
            <a:ext cx="28360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fail</a:t>
            </a:r>
            <a:endParaRPr lang="en-US" sz="825" dirty="0"/>
          </a:p>
        </p:txBody>
      </p:sp>
      <p:sp>
        <p:nvSpPr>
          <p:cNvPr id="95" name="Shape 80"/>
          <p:cNvSpPr/>
          <p:nvPr/>
        </p:nvSpPr>
        <p:spPr>
          <a:xfrm>
            <a:off x="769620" y="2246947"/>
            <a:ext cx="700445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96" name="Shape 81"/>
          <p:cNvSpPr/>
          <p:nvPr/>
        </p:nvSpPr>
        <p:spPr>
          <a:xfrm>
            <a:off x="843916" y="2318384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97" name="Text 82"/>
          <p:cNvSpPr/>
          <p:nvPr/>
        </p:nvSpPr>
        <p:spPr>
          <a:xfrm>
            <a:off x="939166" y="2273617"/>
            <a:ext cx="36504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·</a:t>
            </a:r>
            <a:endParaRPr lang="en-US" sz="825" dirty="0"/>
          </a:p>
        </p:txBody>
      </p:sp>
      <p:sp>
        <p:nvSpPr>
          <p:cNvPr id="98" name="Text 83"/>
          <p:cNvSpPr/>
          <p:nvPr/>
        </p:nvSpPr>
        <p:spPr>
          <a:xfrm>
            <a:off x="1266111" y="2281238"/>
            <a:ext cx="2058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825" dirty="0"/>
          </a:p>
        </p:txBody>
      </p:sp>
      <p:sp>
        <p:nvSpPr>
          <p:cNvPr id="99" name="Shape 84"/>
          <p:cNvSpPr/>
          <p:nvPr/>
        </p:nvSpPr>
        <p:spPr>
          <a:xfrm>
            <a:off x="1527216" y="2246947"/>
            <a:ext cx="945713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00" name="Shape 85"/>
          <p:cNvSpPr/>
          <p:nvPr/>
        </p:nvSpPr>
        <p:spPr>
          <a:xfrm>
            <a:off x="1601509" y="2318384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01" name="Text 86"/>
          <p:cNvSpPr/>
          <p:nvPr/>
        </p:nvSpPr>
        <p:spPr>
          <a:xfrm>
            <a:off x="1696759" y="2273617"/>
            <a:ext cx="5244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·</a:t>
            </a:r>
            <a:endParaRPr lang="en-US" sz="825" dirty="0"/>
          </a:p>
        </p:txBody>
      </p:sp>
      <p:sp>
        <p:nvSpPr>
          <p:cNvPr id="102" name="Text 87"/>
          <p:cNvSpPr/>
          <p:nvPr/>
        </p:nvSpPr>
        <p:spPr>
          <a:xfrm>
            <a:off x="2183130" y="2281238"/>
            <a:ext cx="29170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25" dirty="0"/>
          </a:p>
        </p:txBody>
      </p:sp>
      <p:sp>
        <p:nvSpPr>
          <p:cNvPr id="103" name="Shape 88"/>
          <p:cNvSpPr/>
          <p:nvPr/>
        </p:nvSpPr>
        <p:spPr>
          <a:xfrm>
            <a:off x="2530078" y="2246947"/>
            <a:ext cx="104739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4" name="Shape 89"/>
          <p:cNvSpPr/>
          <p:nvPr/>
        </p:nvSpPr>
        <p:spPr>
          <a:xfrm>
            <a:off x="2604374" y="2318384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05" name="Text 90"/>
          <p:cNvSpPr/>
          <p:nvPr/>
        </p:nvSpPr>
        <p:spPr>
          <a:xfrm>
            <a:off x="2699624" y="2273617"/>
            <a:ext cx="48398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run ·</a:t>
            </a:r>
            <a:endParaRPr lang="en-US" sz="825" dirty="0"/>
          </a:p>
        </p:txBody>
      </p:sp>
      <p:sp>
        <p:nvSpPr>
          <p:cNvPr id="106" name="Text 91"/>
          <p:cNvSpPr/>
          <p:nvPr/>
        </p:nvSpPr>
        <p:spPr>
          <a:xfrm>
            <a:off x="3145513" y="2281238"/>
            <a:ext cx="43386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 ago</a:t>
            </a:r>
            <a:endParaRPr lang="en-US" sz="825" dirty="0"/>
          </a:p>
        </p:txBody>
      </p:sp>
      <p:sp>
        <p:nvSpPr>
          <p:cNvPr id="107" name="Shape 92"/>
          <p:cNvSpPr/>
          <p:nvPr/>
        </p:nvSpPr>
        <p:spPr>
          <a:xfrm>
            <a:off x="3634622" y="2246947"/>
            <a:ext cx="122479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8" name="Shape 93"/>
          <p:cNvSpPr/>
          <p:nvPr/>
        </p:nvSpPr>
        <p:spPr>
          <a:xfrm>
            <a:off x="3708915" y="2318384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09" name="Text 94"/>
          <p:cNvSpPr/>
          <p:nvPr/>
        </p:nvSpPr>
        <p:spPr>
          <a:xfrm>
            <a:off x="3804165" y="2281238"/>
            <a:ext cx="105715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first fail in 8 weeks</a:t>
            </a:r>
            <a:endParaRPr lang="en-US" sz="825" dirty="0"/>
          </a:p>
        </p:txBody>
      </p:sp>
      <p:sp>
        <p:nvSpPr>
          <p:cNvPr id="110" name="Text 95"/>
          <p:cNvSpPr/>
          <p:nvPr/>
        </p:nvSpPr>
        <p:spPr>
          <a:xfrm>
            <a:off x="769620" y="2504122"/>
            <a:ext cx="463459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exfil attempt — egress blocked at kernel · contained, not external. ticket open.</a:t>
            </a:r>
            <a:endParaRPr lang="en-US" sz="863" dirty="0"/>
          </a:p>
        </p:txBody>
      </p:sp>
      <p:sp>
        <p:nvSpPr>
          <p:cNvPr id="111" name="Shape 96"/>
          <p:cNvSpPr/>
          <p:nvPr/>
        </p:nvSpPr>
        <p:spPr>
          <a:xfrm>
            <a:off x="5448300" y="1886902"/>
            <a:ext cx="4705350" cy="873443"/>
          </a:xfrm>
          <a:prstGeom prst="roundRect">
            <a:avLst>
              <a:gd name="adj" fmla="val 8724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12" name="Text 97"/>
          <p:cNvSpPr/>
          <p:nvPr/>
        </p:nvSpPr>
        <p:spPr>
          <a:xfrm>
            <a:off x="5551170" y="1996440"/>
            <a:ext cx="81069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misuse</a:t>
            </a:r>
            <a:endParaRPr lang="en-US" sz="1050" dirty="0"/>
          </a:p>
        </p:txBody>
      </p:sp>
      <p:sp>
        <p:nvSpPr>
          <p:cNvPr id="113" name="Shape 98"/>
          <p:cNvSpPr/>
          <p:nvPr/>
        </p:nvSpPr>
        <p:spPr>
          <a:xfrm>
            <a:off x="9563695" y="1989772"/>
            <a:ext cx="487085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14" name="Shape 99"/>
          <p:cNvSpPr/>
          <p:nvPr/>
        </p:nvSpPr>
        <p:spPr>
          <a:xfrm>
            <a:off x="9637993" y="2061209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15" name="Text 100"/>
          <p:cNvSpPr/>
          <p:nvPr/>
        </p:nvSpPr>
        <p:spPr>
          <a:xfrm>
            <a:off x="9733243" y="2024062"/>
            <a:ext cx="31944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fail</a:t>
            </a:r>
            <a:endParaRPr lang="en-US" sz="825" dirty="0"/>
          </a:p>
        </p:txBody>
      </p:sp>
      <p:sp>
        <p:nvSpPr>
          <p:cNvPr id="116" name="Shape 101"/>
          <p:cNvSpPr/>
          <p:nvPr/>
        </p:nvSpPr>
        <p:spPr>
          <a:xfrm>
            <a:off x="5551170" y="2246947"/>
            <a:ext cx="66829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17" name="Shape 102"/>
          <p:cNvSpPr/>
          <p:nvPr/>
        </p:nvSpPr>
        <p:spPr>
          <a:xfrm>
            <a:off x="5625466" y="2318384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18" name="Text 103"/>
          <p:cNvSpPr/>
          <p:nvPr/>
        </p:nvSpPr>
        <p:spPr>
          <a:xfrm>
            <a:off x="5720716" y="2273617"/>
            <a:ext cx="36504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·</a:t>
            </a:r>
            <a:endParaRPr lang="en-US" sz="825" dirty="0"/>
          </a:p>
        </p:txBody>
      </p:sp>
      <p:sp>
        <p:nvSpPr>
          <p:cNvPr id="119" name="Text 104"/>
          <p:cNvSpPr/>
          <p:nvPr/>
        </p:nvSpPr>
        <p:spPr>
          <a:xfrm>
            <a:off x="6047661" y="2281238"/>
            <a:ext cx="17371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825" dirty="0"/>
          </a:p>
        </p:txBody>
      </p:sp>
      <p:sp>
        <p:nvSpPr>
          <p:cNvPr id="120" name="Shape 105"/>
          <p:cNvSpPr/>
          <p:nvPr/>
        </p:nvSpPr>
        <p:spPr>
          <a:xfrm>
            <a:off x="6276617" y="2246947"/>
            <a:ext cx="960358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21" name="Shape 106"/>
          <p:cNvSpPr/>
          <p:nvPr/>
        </p:nvSpPr>
        <p:spPr>
          <a:xfrm>
            <a:off x="6350915" y="2318384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22" name="Text 107"/>
          <p:cNvSpPr/>
          <p:nvPr/>
        </p:nvSpPr>
        <p:spPr>
          <a:xfrm>
            <a:off x="6446165" y="2273617"/>
            <a:ext cx="5244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·</a:t>
            </a:r>
            <a:endParaRPr lang="en-US" sz="825" dirty="0"/>
          </a:p>
        </p:txBody>
      </p:sp>
      <p:sp>
        <p:nvSpPr>
          <p:cNvPr id="123" name="Text 108"/>
          <p:cNvSpPr/>
          <p:nvPr/>
        </p:nvSpPr>
        <p:spPr>
          <a:xfrm>
            <a:off x="6932535" y="2281238"/>
            <a:ext cx="30634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25" dirty="0"/>
          </a:p>
        </p:txBody>
      </p:sp>
      <p:sp>
        <p:nvSpPr>
          <p:cNvPr id="124" name="Shape 109"/>
          <p:cNvSpPr/>
          <p:nvPr/>
        </p:nvSpPr>
        <p:spPr>
          <a:xfrm>
            <a:off x="7294127" y="2246947"/>
            <a:ext cx="104739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5" name="Shape 110"/>
          <p:cNvSpPr/>
          <p:nvPr/>
        </p:nvSpPr>
        <p:spPr>
          <a:xfrm>
            <a:off x="7368420" y="2318384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26" name="Text 111"/>
          <p:cNvSpPr/>
          <p:nvPr/>
        </p:nvSpPr>
        <p:spPr>
          <a:xfrm>
            <a:off x="7463670" y="2273617"/>
            <a:ext cx="48398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run ·</a:t>
            </a:r>
            <a:endParaRPr lang="en-US" sz="825" dirty="0"/>
          </a:p>
        </p:txBody>
      </p:sp>
      <p:sp>
        <p:nvSpPr>
          <p:cNvPr id="127" name="Text 112"/>
          <p:cNvSpPr/>
          <p:nvPr/>
        </p:nvSpPr>
        <p:spPr>
          <a:xfrm>
            <a:off x="7909559" y="2281238"/>
            <a:ext cx="43386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 ago</a:t>
            </a:r>
            <a:endParaRPr lang="en-US" sz="825" dirty="0"/>
          </a:p>
        </p:txBody>
      </p:sp>
      <p:sp>
        <p:nvSpPr>
          <p:cNvPr id="128" name="Shape 113"/>
          <p:cNvSpPr/>
          <p:nvPr/>
        </p:nvSpPr>
        <p:spPr>
          <a:xfrm>
            <a:off x="8398669" y="2246947"/>
            <a:ext cx="34099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9" name="Shape 114"/>
          <p:cNvSpPr/>
          <p:nvPr/>
        </p:nvSpPr>
        <p:spPr>
          <a:xfrm>
            <a:off x="8472967" y="2318384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30" name="Text 115"/>
          <p:cNvSpPr/>
          <p:nvPr/>
        </p:nvSpPr>
        <p:spPr>
          <a:xfrm>
            <a:off x="8568217" y="2281238"/>
            <a:ext cx="17335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131" name="Text 116"/>
          <p:cNvSpPr/>
          <p:nvPr/>
        </p:nvSpPr>
        <p:spPr>
          <a:xfrm>
            <a:off x="5551170" y="2504122"/>
            <a:ext cx="463459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stayed inside their allowlisted tool surface.</a:t>
            </a:r>
            <a:endParaRPr lang="en-US" sz="863" dirty="0"/>
          </a:p>
        </p:txBody>
      </p:sp>
      <p:sp>
        <p:nvSpPr>
          <p:cNvPr id="132" name="Shape 117"/>
          <p:cNvSpPr/>
          <p:nvPr/>
        </p:nvSpPr>
        <p:spPr>
          <a:xfrm>
            <a:off x="666750" y="2836544"/>
            <a:ext cx="4705350" cy="873443"/>
          </a:xfrm>
          <a:prstGeom prst="roundRect">
            <a:avLst>
              <a:gd name="adj" fmla="val 8724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33" name="Text 118"/>
          <p:cNvSpPr/>
          <p:nvPr/>
        </p:nvSpPr>
        <p:spPr>
          <a:xfrm>
            <a:off x="769620" y="2946082"/>
            <a:ext cx="115371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poisoning</a:t>
            </a:r>
            <a:endParaRPr lang="en-US" sz="1050" dirty="0"/>
          </a:p>
        </p:txBody>
      </p:sp>
      <p:sp>
        <p:nvSpPr>
          <p:cNvPr id="134" name="Shape 119"/>
          <p:cNvSpPr/>
          <p:nvPr/>
        </p:nvSpPr>
        <p:spPr>
          <a:xfrm>
            <a:off x="4782145" y="2939415"/>
            <a:ext cx="487085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35" name="Shape 120"/>
          <p:cNvSpPr/>
          <p:nvPr/>
        </p:nvSpPr>
        <p:spPr>
          <a:xfrm>
            <a:off x="4856441" y="301085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36" name="Text 121"/>
          <p:cNvSpPr/>
          <p:nvPr/>
        </p:nvSpPr>
        <p:spPr>
          <a:xfrm>
            <a:off x="4951691" y="2973705"/>
            <a:ext cx="31944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fail</a:t>
            </a:r>
            <a:endParaRPr lang="en-US" sz="825" dirty="0"/>
          </a:p>
        </p:txBody>
      </p:sp>
      <p:sp>
        <p:nvSpPr>
          <p:cNvPr id="137" name="Shape 122"/>
          <p:cNvSpPr/>
          <p:nvPr/>
        </p:nvSpPr>
        <p:spPr>
          <a:xfrm>
            <a:off x="769620" y="3196590"/>
            <a:ext cx="69746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38" name="Shape 123"/>
          <p:cNvSpPr/>
          <p:nvPr/>
        </p:nvSpPr>
        <p:spPr>
          <a:xfrm>
            <a:off x="843916" y="326802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39" name="Text 124"/>
          <p:cNvSpPr/>
          <p:nvPr/>
        </p:nvSpPr>
        <p:spPr>
          <a:xfrm>
            <a:off x="939166" y="3223260"/>
            <a:ext cx="36504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·</a:t>
            </a:r>
            <a:endParaRPr lang="en-US" sz="825" dirty="0"/>
          </a:p>
        </p:txBody>
      </p:sp>
      <p:sp>
        <p:nvSpPr>
          <p:cNvPr id="140" name="Text 125"/>
          <p:cNvSpPr/>
          <p:nvPr/>
        </p:nvSpPr>
        <p:spPr>
          <a:xfrm>
            <a:off x="1266111" y="3230881"/>
            <a:ext cx="202883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25" dirty="0"/>
          </a:p>
        </p:txBody>
      </p:sp>
      <p:sp>
        <p:nvSpPr>
          <p:cNvPr id="141" name="Shape 126"/>
          <p:cNvSpPr/>
          <p:nvPr/>
        </p:nvSpPr>
        <p:spPr>
          <a:xfrm>
            <a:off x="1524240" y="3196590"/>
            <a:ext cx="960358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42" name="Shape 127"/>
          <p:cNvSpPr/>
          <p:nvPr/>
        </p:nvSpPr>
        <p:spPr>
          <a:xfrm>
            <a:off x="1598533" y="3268027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43" name="Text 128"/>
          <p:cNvSpPr/>
          <p:nvPr/>
        </p:nvSpPr>
        <p:spPr>
          <a:xfrm>
            <a:off x="1693783" y="3223260"/>
            <a:ext cx="5244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·</a:t>
            </a:r>
            <a:endParaRPr lang="en-US" sz="825" dirty="0"/>
          </a:p>
        </p:txBody>
      </p:sp>
      <p:sp>
        <p:nvSpPr>
          <p:cNvPr id="144" name="Text 129"/>
          <p:cNvSpPr/>
          <p:nvPr/>
        </p:nvSpPr>
        <p:spPr>
          <a:xfrm>
            <a:off x="2180153" y="3230881"/>
            <a:ext cx="306349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25" dirty="0"/>
          </a:p>
        </p:txBody>
      </p:sp>
      <p:sp>
        <p:nvSpPr>
          <p:cNvPr id="145" name="Shape 130"/>
          <p:cNvSpPr/>
          <p:nvPr/>
        </p:nvSpPr>
        <p:spPr>
          <a:xfrm>
            <a:off x="2541747" y="3196590"/>
            <a:ext cx="114490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6" name="Shape 131"/>
          <p:cNvSpPr/>
          <p:nvPr/>
        </p:nvSpPr>
        <p:spPr>
          <a:xfrm>
            <a:off x="2616043" y="326802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47" name="Text 132"/>
          <p:cNvSpPr/>
          <p:nvPr/>
        </p:nvSpPr>
        <p:spPr>
          <a:xfrm>
            <a:off x="2711293" y="3223260"/>
            <a:ext cx="48398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run ·</a:t>
            </a:r>
            <a:endParaRPr lang="en-US" sz="825" dirty="0"/>
          </a:p>
        </p:txBody>
      </p:sp>
      <p:sp>
        <p:nvSpPr>
          <p:cNvPr id="148" name="Text 133"/>
          <p:cNvSpPr/>
          <p:nvPr/>
        </p:nvSpPr>
        <p:spPr>
          <a:xfrm>
            <a:off x="3157182" y="3230881"/>
            <a:ext cx="531375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night</a:t>
            </a:r>
            <a:endParaRPr lang="en-US" sz="825" dirty="0"/>
          </a:p>
        </p:txBody>
      </p:sp>
      <p:sp>
        <p:nvSpPr>
          <p:cNvPr id="149" name="Shape 134"/>
          <p:cNvSpPr/>
          <p:nvPr/>
        </p:nvSpPr>
        <p:spPr>
          <a:xfrm>
            <a:off x="3743802" y="3196590"/>
            <a:ext cx="34099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50" name="Shape 135"/>
          <p:cNvSpPr/>
          <p:nvPr/>
        </p:nvSpPr>
        <p:spPr>
          <a:xfrm>
            <a:off x="3818097" y="326802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51" name="Text 136"/>
          <p:cNvSpPr/>
          <p:nvPr/>
        </p:nvSpPr>
        <p:spPr>
          <a:xfrm>
            <a:off x="3913347" y="3230881"/>
            <a:ext cx="173355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152" name="Text 137"/>
          <p:cNvSpPr/>
          <p:nvPr/>
        </p:nvSpPr>
        <p:spPr>
          <a:xfrm>
            <a:off x="769620" y="3453765"/>
            <a:ext cx="463459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AI-BOM check + signature verification gated all model updates.</a:t>
            </a:r>
            <a:endParaRPr lang="en-US" sz="863" dirty="0"/>
          </a:p>
        </p:txBody>
      </p:sp>
      <p:sp>
        <p:nvSpPr>
          <p:cNvPr id="153" name="Shape 138"/>
          <p:cNvSpPr/>
          <p:nvPr/>
        </p:nvSpPr>
        <p:spPr>
          <a:xfrm>
            <a:off x="5448300" y="2836544"/>
            <a:ext cx="4705350" cy="873443"/>
          </a:xfrm>
          <a:prstGeom prst="roundRect">
            <a:avLst>
              <a:gd name="adj" fmla="val 8724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54" name="Text 139"/>
          <p:cNvSpPr/>
          <p:nvPr/>
        </p:nvSpPr>
        <p:spPr>
          <a:xfrm>
            <a:off x="5551170" y="2946082"/>
            <a:ext cx="137100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leakage / PII</a:t>
            </a:r>
            <a:endParaRPr lang="en-US" sz="1050" dirty="0"/>
          </a:p>
        </p:txBody>
      </p:sp>
      <p:sp>
        <p:nvSpPr>
          <p:cNvPr id="155" name="Shape 140"/>
          <p:cNvSpPr/>
          <p:nvPr/>
        </p:nvSpPr>
        <p:spPr>
          <a:xfrm>
            <a:off x="9563695" y="2939415"/>
            <a:ext cx="487085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56" name="Shape 141"/>
          <p:cNvSpPr/>
          <p:nvPr/>
        </p:nvSpPr>
        <p:spPr>
          <a:xfrm>
            <a:off x="9637993" y="301085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57" name="Text 142"/>
          <p:cNvSpPr/>
          <p:nvPr/>
        </p:nvSpPr>
        <p:spPr>
          <a:xfrm>
            <a:off x="9733243" y="2973705"/>
            <a:ext cx="31944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fail</a:t>
            </a:r>
            <a:endParaRPr lang="en-US" sz="825" dirty="0"/>
          </a:p>
        </p:txBody>
      </p:sp>
      <p:sp>
        <p:nvSpPr>
          <p:cNvPr id="158" name="Shape 143"/>
          <p:cNvSpPr/>
          <p:nvPr/>
        </p:nvSpPr>
        <p:spPr>
          <a:xfrm>
            <a:off x="5551170" y="3196590"/>
            <a:ext cx="699968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59" name="Shape 144"/>
          <p:cNvSpPr/>
          <p:nvPr/>
        </p:nvSpPr>
        <p:spPr>
          <a:xfrm>
            <a:off x="5625466" y="3268027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60" name="Text 145"/>
          <p:cNvSpPr/>
          <p:nvPr/>
        </p:nvSpPr>
        <p:spPr>
          <a:xfrm>
            <a:off x="5720716" y="3223260"/>
            <a:ext cx="36504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·</a:t>
            </a:r>
            <a:endParaRPr lang="en-US" sz="825" dirty="0"/>
          </a:p>
        </p:txBody>
      </p:sp>
      <p:sp>
        <p:nvSpPr>
          <p:cNvPr id="161" name="Text 146"/>
          <p:cNvSpPr/>
          <p:nvPr/>
        </p:nvSpPr>
        <p:spPr>
          <a:xfrm>
            <a:off x="6047661" y="3230881"/>
            <a:ext cx="205383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825" dirty="0"/>
          </a:p>
        </p:txBody>
      </p:sp>
      <p:sp>
        <p:nvSpPr>
          <p:cNvPr id="162" name="Shape 147"/>
          <p:cNvSpPr/>
          <p:nvPr/>
        </p:nvSpPr>
        <p:spPr>
          <a:xfrm>
            <a:off x="6308289" y="3196590"/>
            <a:ext cx="945713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63" name="Shape 148"/>
          <p:cNvSpPr/>
          <p:nvPr/>
        </p:nvSpPr>
        <p:spPr>
          <a:xfrm>
            <a:off x="6382583" y="3268027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64" name="Text 149"/>
          <p:cNvSpPr/>
          <p:nvPr/>
        </p:nvSpPr>
        <p:spPr>
          <a:xfrm>
            <a:off x="6477833" y="3223260"/>
            <a:ext cx="5244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·</a:t>
            </a:r>
            <a:endParaRPr lang="en-US" sz="825" dirty="0"/>
          </a:p>
        </p:txBody>
      </p:sp>
      <p:sp>
        <p:nvSpPr>
          <p:cNvPr id="165" name="Text 150"/>
          <p:cNvSpPr/>
          <p:nvPr/>
        </p:nvSpPr>
        <p:spPr>
          <a:xfrm>
            <a:off x="6964203" y="3230881"/>
            <a:ext cx="291703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25" dirty="0"/>
          </a:p>
        </p:txBody>
      </p:sp>
      <p:sp>
        <p:nvSpPr>
          <p:cNvPr id="166" name="Shape 151"/>
          <p:cNvSpPr/>
          <p:nvPr/>
        </p:nvSpPr>
        <p:spPr>
          <a:xfrm>
            <a:off x="7311154" y="3196590"/>
            <a:ext cx="104739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7" name="Shape 152"/>
          <p:cNvSpPr/>
          <p:nvPr/>
        </p:nvSpPr>
        <p:spPr>
          <a:xfrm>
            <a:off x="7385447" y="326802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68" name="Text 153"/>
          <p:cNvSpPr/>
          <p:nvPr/>
        </p:nvSpPr>
        <p:spPr>
          <a:xfrm>
            <a:off x="7480697" y="3223260"/>
            <a:ext cx="48398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run ·</a:t>
            </a:r>
            <a:endParaRPr lang="en-US" sz="825" dirty="0"/>
          </a:p>
        </p:txBody>
      </p:sp>
      <p:sp>
        <p:nvSpPr>
          <p:cNvPr id="169" name="Text 154"/>
          <p:cNvSpPr/>
          <p:nvPr/>
        </p:nvSpPr>
        <p:spPr>
          <a:xfrm>
            <a:off x="7926586" y="3230881"/>
            <a:ext cx="433867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 ago</a:t>
            </a:r>
            <a:endParaRPr lang="en-US" sz="825" dirty="0"/>
          </a:p>
        </p:txBody>
      </p:sp>
      <p:sp>
        <p:nvSpPr>
          <p:cNvPr id="170" name="Shape 155"/>
          <p:cNvSpPr/>
          <p:nvPr/>
        </p:nvSpPr>
        <p:spPr>
          <a:xfrm>
            <a:off x="8415696" y="3196590"/>
            <a:ext cx="34099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1" name="Shape 156"/>
          <p:cNvSpPr/>
          <p:nvPr/>
        </p:nvSpPr>
        <p:spPr>
          <a:xfrm>
            <a:off x="8489989" y="326802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72" name="Text 157"/>
          <p:cNvSpPr/>
          <p:nvPr/>
        </p:nvSpPr>
        <p:spPr>
          <a:xfrm>
            <a:off x="8585239" y="3230881"/>
            <a:ext cx="173357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173" name="Text 158"/>
          <p:cNvSpPr/>
          <p:nvPr/>
        </p:nvSpPr>
        <p:spPr>
          <a:xfrm>
            <a:off x="5551170" y="3453765"/>
            <a:ext cx="463459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firewall masked all in-flight PII before model ingress.</a:t>
            </a:r>
            <a:endParaRPr lang="en-US" sz="863" dirty="0"/>
          </a:p>
        </p:txBody>
      </p:sp>
      <p:sp>
        <p:nvSpPr>
          <p:cNvPr id="174" name="Shape 159"/>
          <p:cNvSpPr/>
          <p:nvPr/>
        </p:nvSpPr>
        <p:spPr>
          <a:xfrm>
            <a:off x="666750" y="3805236"/>
            <a:ext cx="9486900" cy="1357313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75" name="Text 160"/>
          <p:cNvSpPr/>
          <p:nvPr/>
        </p:nvSpPr>
        <p:spPr>
          <a:xfrm>
            <a:off x="788670" y="3908107"/>
            <a:ext cx="952035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· pass rate over 12 weeks</a:t>
            </a:r>
            <a:endParaRPr lang="en-US" sz="900" dirty="0"/>
          </a:p>
        </p:txBody>
      </p:sp>
      <p:pic>
        <p:nvPicPr>
          <p:cNvPr id="17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8670" y="4144327"/>
            <a:ext cx="9243060" cy="762000"/>
          </a:xfrm>
          <a:prstGeom prst="rect">
            <a:avLst/>
          </a:prstGeom>
        </p:spPr>
      </p:pic>
      <p:sp>
        <p:nvSpPr>
          <p:cNvPr id="177" name="Text 161"/>
          <p:cNvSpPr/>
          <p:nvPr/>
        </p:nvSpPr>
        <p:spPr>
          <a:xfrm>
            <a:off x="788670" y="4906327"/>
            <a:ext cx="952035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coverage expanding · pass rate trending up · 99.3% this week (vs 96.8% 12w ago).</a:t>
            </a:r>
            <a:endParaRPr lang="en-US" sz="863" dirty="0"/>
          </a:p>
        </p:txBody>
      </p:sp>
      <p:sp>
        <p:nvSpPr>
          <p:cNvPr id="178" name="Shape 162"/>
          <p:cNvSpPr/>
          <p:nvPr/>
        </p:nvSpPr>
        <p:spPr>
          <a:xfrm>
            <a:off x="8523089" y="6113144"/>
            <a:ext cx="1611511" cy="401955"/>
          </a:xfrm>
          <a:prstGeom prst="roundRect">
            <a:avLst>
              <a:gd name="adj" fmla="val 9479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179" name="Text 163"/>
          <p:cNvSpPr/>
          <p:nvPr/>
        </p:nvSpPr>
        <p:spPr>
          <a:xfrm>
            <a:off x="8606909" y="6177914"/>
            <a:ext cx="1520071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schedule. results visible. survives the security review.</a:t>
            </a:r>
            <a:endParaRPr lang="en-US" sz="8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5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7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" y="2047875"/>
            <a:ext cx="171450" cy="1714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2409825"/>
            <a:ext cx="171450" cy="171450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" y="2771775"/>
            <a:ext cx="171450" cy="17145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91440" y="30480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3"/>
            <a:ext cx="137826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· case #4129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064068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172057" y="144780"/>
            <a:ext cx="16393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· analyst grade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3887629" y="74293"/>
            <a:ext cx="3603308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0499" y="167639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161949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6" y="108584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39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4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39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0" y="131443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1" y="167639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1" y="100964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2" y="107631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39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6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09"/>
            <a:ext cx="172747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report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705725" y="590550"/>
            <a:ext cx="808077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Text 24"/>
          <p:cNvSpPr/>
          <p:nvPr/>
        </p:nvSpPr>
        <p:spPr>
          <a:xfrm>
            <a:off x="7808595" y="636268"/>
            <a:ext cx="67853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 Jira</a:t>
            </a:r>
            <a:endParaRPr lang="en-US" sz="900" dirty="0"/>
          </a:p>
        </p:txBody>
      </p:sp>
      <p:sp>
        <p:nvSpPr>
          <p:cNvPr id="40" name="Shape 25"/>
          <p:cNvSpPr/>
          <p:nvPr/>
        </p:nvSpPr>
        <p:spPr>
          <a:xfrm>
            <a:off x="8570952" y="590550"/>
            <a:ext cx="710446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1" name="Text 26"/>
          <p:cNvSpPr/>
          <p:nvPr/>
        </p:nvSpPr>
        <p:spPr>
          <a:xfrm>
            <a:off x="8673822" y="636268"/>
            <a:ext cx="58090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link</a:t>
            </a:r>
            <a:endParaRPr lang="en-US" sz="900" dirty="0"/>
          </a:p>
        </p:txBody>
      </p:sp>
      <p:sp>
        <p:nvSpPr>
          <p:cNvPr id="42" name="Shape 27"/>
          <p:cNvSpPr/>
          <p:nvPr/>
        </p:nvSpPr>
        <p:spPr>
          <a:xfrm>
            <a:off x="9338549" y="590550"/>
            <a:ext cx="815102" cy="25146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3" name="Text 28"/>
          <p:cNvSpPr/>
          <p:nvPr/>
        </p:nvSpPr>
        <p:spPr>
          <a:xfrm>
            <a:off x="9441418" y="636268"/>
            <a:ext cx="68556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PDF</a:t>
            </a:r>
            <a:endParaRPr lang="en-US" sz="900" dirty="0"/>
          </a:p>
        </p:txBody>
      </p:sp>
      <p:sp>
        <p:nvSpPr>
          <p:cNvPr id="44" name="Shape 29"/>
          <p:cNvSpPr/>
          <p:nvPr/>
        </p:nvSpPr>
        <p:spPr>
          <a:xfrm>
            <a:off x="666750" y="937259"/>
            <a:ext cx="9486900" cy="5596892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5240">
            <a:solidFill>
              <a:srgbClr val="0F172A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5" name="Text 30"/>
          <p:cNvSpPr/>
          <p:nvPr/>
        </p:nvSpPr>
        <p:spPr>
          <a:xfrm>
            <a:off x="834390" y="1104900"/>
            <a:ext cx="461497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#4129 · CRITICAL · CLOSED</a:t>
            </a:r>
            <a:endParaRPr lang="en-US" sz="750" dirty="0"/>
          </a:p>
        </p:txBody>
      </p:sp>
      <p:sp>
        <p:nvSpPr>
          <p:cNvPr id="46" name="Text 31"/>
          <p:cNvSpPr/>
          <p:nvPr/>
        </p:nvSpPr>
        <p:spPr>
          <a:xfrm>
            <a:off x="834390" y="1257300"/>
            <a:ext cx="46149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→ MFA fatigue → S3 mass GET</a:t>
            </a:r>
            <a:endParaRPr lang="en-US" sz="1125" dirty="0"/>
          </a:p>
        </p:txBody>
      </p:sp>
      <p:sp>
        <p:nvSpPr>
          <p:cNvPr id="47" name="Text 32"/>
          <p:cNvSpPr/>
          <p:nvPr/>
        </p:nvSpPr>
        <p:spPr>
          <a:xfrm>
            <a:off x="834390" y="1457325"/>
            <a:ext cx="461497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 13:14 · contained 13:32 · closed 14:08 · 18m MTTR</a:t>
            </a:r>
            <a:endParaRPr lang="en-US" sz="863" dirty="0"/>
          </a:p>
        </p:txBody>
      </p:sp>
      <p:sp>
        <p:nvSpPr>
          <p:cNvPr id="48" name="Text 33"/>
          <p:cNvSpPr/>
          <p:nvPr/>
        </p:nvSpPr>
        <p:spPr>
          <a:xfrm>
            <a:off x="834390" y="1686876"/>
            <a:ext cx="461497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750" dirty="0"/>
          </a:p>
        </p:txBody>
      </p:sp>
      <p:sp>
        <p:nvSpPr>
          <p:cNvPr id="49" name="Text 34"/>
          <p:cNvSpPr/>
          <p:nvPr/>
        </p:nvSpPr>
        <p:spPr>
          <a:xfrm>
            <a:off x="834390" y="1820226"/>
            <a:ext cx="4614977" cy="159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06/06/2026 at 13:14 UTC,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carlos.t@acme.com 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clicked a brand-impersonation DocuSign mail (msg_8c3f…21a). Between 13:21 and 13:24 the user received 14 MFA pushes; the 14th was approved. A new Okta session opened from 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AS200000 (MOW) 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impossible-travel from prior NY login. The session was pivoted to AWS and used to enumerate, then GetObject ×1,402 on 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acme-finance-bkt 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1.2 GB of finance records. At 13:32:00.117 UTC the AccuKnox runtime sensor on pod 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analytics-3 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 outbound connection to 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198.51.0.0/16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kernel under policy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kc-fin-egress.v3 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preventing data exfiltration to the attacker C2.</a:t>
            </a:r>
            <a:endParaRPr lang="en-US" sz="975" dirty="0"/>
          </a:p>
        </p:txBody>
      </p:sp>
      <p:sp>
        <p:nvSpPr>
          <p:cNvPr id="50" name="Text 35"/>
          <p:cNvSpPr/>
          <p:nvPr/>
        </p:nvSpPr>
        <p:spPr>
          <a:xfrm>
            <a:off x="834390" y="3456622"/>
            <a:ext cx="461497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CHAIN</a:t>
            </a:r>
            <a:endParaRPr lang="en-US" sz="750" dirty="0"/>
          </a:p>
        </p:txBody>
      </p:sp>
      <p:sp>
        <p:nvSpPr>
          <p:cNvPr id="51" name="Text 36"/>
          <p:cNvSpPr/>
          <p:nvPr/>
        </p:nvSpPr>
        <p:spPr>
          <a:xfrm>
            <a:off x="1147048" y="3666172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13:14</a:t>
            </a:r>
            <a:endParaRPr lang="en-US" sz="675" dirty="0"/>
          </a:p>
        </p:txBody>
      </p:sp>
      <p:sp>
        <p:nvSpPr>
          <p:cNvPr id="52" name="Shape 37"/>
          <p:cNvSpPr/>
          <p:nvPr/>
        </p:nvSpPr>
        <p:spPr>
          <a:xfrm>
            <a:off x="1193840" y="3824288"/>
            <a:ext cx="163830" cy="163830"/>
          </a:xfrm>
          <a:prstGeom prst="ellipse">
            <a:avLst/>
          </a:prstGeom>
          <a:solidFill>
            <a:srgbClr val="EF4444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53" name="Text 38"/>
          <p:cNvSpPr/>
          <p:nvPr/>
        </p:nvSpPr>
        <p:spPr>
          <a:xfrm>
            <a:off x="976670" y="4026217"/>
            <a:ext cx="5980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 · click</a:t>
            </a:r>
            <a:endParaRPr lang="en-US" sz="750" dirty="0"/>
          </a:p>
        </p:txBody>
      </p:sp>
      <p:sp>
        <p:nvSpPr>
          <p:cNvPr id="54" name="Text 39"/>
          <p:cNvSpPr/>
          <p:nvPr/>
        </p:nvSpPr>
        <p:spPr>
          <a:xfrm>
            <a:off x="1147048" y="4197667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T1566</a:t>
            </a:r>
            <a:endParaRPr lang="en-US" sz="675" dirty="0"/>
          </a:p>
        </p:txBody>
      </p:sp>
      <p:sp>
        <p:nvSpPr>
          <p:cNvPr id="55" name="Text 40"/>
          <p:cNvSpPr/>
          <p:nvPr/>
        </p:nvSpPr>
        <p:spPr>
          <a:xfrm>
            <a:off x="2029897" y="3666172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13:21</a:t>
            </a:r>
            <a:endParaRPr lang="en-US" sz="675" dirty="0"/>
          </a:p>
        </p:txBody>
      </p:sp>
      <p:sp>
        <p:nvSpPr>
          <p:cNvPr id="56" name="Shape 41"/>
          <p:cNvSpPr/>
          <p:nvPr/>
        </p:nvSpPr>
        <p:spPr>
          <a:xfrm>
            <a:off x="2076569" y="3824288"/>
            <a:ext cx="163830" cy="163830"/>
          </a:xfrm>
          <a:prstGeom prst="ellipse">
            <a:avLst/>
          </a:prstGeom>
          <a:solidFill>
            <a:srgbClr val="EF4444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57" name="Text 42"/>
          <p:cNvSpPr/>
          <p:nvPr/>
        </p:nvSpPr>
        <p:spPr>
          <a:xfrm>
            <a:off x="1887022" y="4026217"/>
            <a:ext cx="54304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spam</a:t>
            </a:r>
            <a:endParaRPr lang="en-US" sz="750" dirty="0"/>
          </a:p>
        </p:txBody>
      </p:sp>
      <p:sp>
        <p:nvSpPr>
          <p:cNvPr id="58" name="Text 43"/>
          <p:cNvSpPr/>
          <p:nvPr/>
        </p:nvSpPr>
        <p:spPr>
          <a:xfrm>
            <a:off x="2029897" y="4197667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T1621</a:t>
            </a:r>
            <a:endParaRPr lang="en-US" sz="675" dirty="0"/>
          </a:p>
        </p:txBody>
      </p:sp>
      <p:sp>
        <p:nvSpPr>
          <p:cNvPr id="59" name="Text 44"/>
          <p:cNvSpPr/>
          <p:nvPr/>
        </p:nvSpPr>
        <p:spPr>
          <a:xfrm>
            <a:off x="2912626" y="3666172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13:24</a:t>
            </a:r>
            <a:endParaRPr lang="en-US" sz="675" dirty="0"/>
          </a:p>
        </p:txBody>
      </p:sp>
      <p:sp>
        <p:nvSpPr>
          <p:cNvPr id="60" name="Shape 45"/>
          <p:cNvSpPr/>
          <p:nvPr/>
        </p:nvSpPr>
        <p:spPr>
          <a:xfrm>
            <a:off x="2959418" y="3824288"/>
            <a:ext cx="163830" cy="163830"/>
          </a:xfrm>
          <a:prstGeom prst="ellipse">
            <a:avLst/>
          </a:prstGeom>
          <a:solidFill>
            <a:srgbClr val="EF4444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61" name="Text 46"/>
          <p:cNvSpPr/>
          <p:nvPr/>
        </p:nvSpPr>
        <p:spPr>
          <a:xfrm>
            <a:off x="2707005" y="4026217"/>
            <a:ext cx="66853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MOW</a:t>
            </a:r>
            <a:endParaRPr lang="en-US" sz="750" dirty="0"/>
          </a:p>
        </p:txBody>
      </p:sp>
      <p:sp>
        <p:nvSpPr>
          <p:cNvPr id="62" name="Text 47"/>
          <p:cNvSpPr/>
          <p:nvPr/>
        </p:nvSpPr>
        <p:spPr>
          <a:xfrm>
            <a:off x="2912626" y="4197667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T1078</a:t>
            </a:r>
            <a:endParaRPr lang="en-US" sz="675" dirty="0"/>
          </a:p>
        </p:txBody>
      </p:sp>
      <p:sp>
        <p:nvSpPr>
          <p:cNvPr id="63" name="Text 48"/>
          <p:cNvSpPr/>
          <p:nvPr/>
        </p:nvSpPr>
        <p:spPr>
          <a:xfrm>
            <a:off x="3795474" y="3666172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13:31</a:t>
            </a:r>
            <a:endParaRPr lang="en-US" sz="675" dirty="0"/>
          </a:p>
        </p:txBody>
      </p:sp>
      <p:sp>
        <p:nvSpPr>
          <p:cNvPr id="64" name="Shape 49"/>
          <p:cNvSpPr/>
          <p:nvPr/>
        </p:nvSpPr>
        <p:spPr>
          <a:xfrm>
            <a:off x="3842147" y="3824288"/>
            <a:ext cx="163830" cy="163830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65" name="Text 50"/>
          <p:cNvSpPr/>
          <p:nvPr/>
        </p:nvSpPr>
        <p:spPr>
          <a:xfrm>
            <a:off x="3662362" y="4026217"/>
            <a:ext cx="52339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×1,402</a:t>
            </a:r>
            <a:endParaRPr lang="en-US" sz="750" dirty="0"/>
          </a:p>
        </p:txBody>
      </p:sp>
      <p:sp>
        <p:nvSpPr>
          <p:cNvPr id="66" name="Text 51"/>
          <p:cNvSpPr/>
          <p:nvPr/>
        </p:nvSpPr>
        <p:spPr>
          <a:xfrm>
            <a:off x="3795474" y="4197667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T1530</a:t>
            </a:r>
            <a:endParaRPr lang="en-US" sz="675" dirty="0"/>
          </a:p>
        </p:txBody>
      </p:sp>
      <p:sp>
        <p:nvSpPr>
          <p:cNvPr id="67" name="Text 52"/>
          <p:cNvSpPr/>
          <p:nvPr/>
        </p:nvSpPr>
        <p:spPr>
          <a:xfrm>
            <a:off x="4744879" y="3666172"/>
            <a:ext cx="33349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13:32</a:t>
            </a:r>
            <a:endParaRPr lang="en-US" sz="675" dirty="0"/>
          </a:p>
        </p:txBody>
      </p:sp>
      <p:sp>
        <p:nvSpPr>
          <p:cNvPr id="68" name="Shape 53"/>
          <p:cNvSpPr/>
          <p:nvPr/>
        </p:nvSpPr>
        <p:spPr>
          <a:xfrm>
            <a:off x="4772620" y="3824288"/>
            <a:ext cx="201930" cy="20193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50800" dir="16200000">
              <a:srgbClr val="10B981">
                <a:alpha val="25000"/>
              </a:srgbClr>
            </a:outerShdw>
          </a:effectLst>
        </p:spPr>
      </p:sp>
      <p:sp>
        <p:nvSpPr>
          <p:cNvPr id="69" name="Text 54"/>
          <p:cNvSpPr/>
          <p:nvPr/>
        </p:nvSpPr>
        <p:spPr>
          <a:xfrm>
            <a:off x="4606528" y="4064317"/>
            <a:ext cx="5341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↯ blocked</a:t>
            </a:r>
            <a:endParaRPr lang="en-US" sz="750" dirty="0"/>
          </a:p>
        </p:txBody>
      </p:sp>
      <p:sp>
        <p:nvSpPr>
          <p:cNvPr id="70" name="Text 55"/>
          <p:cNvSpPr/>
          <p:nvPr/>
        </p:nvSpPr>
        <p:spPr>
          <a:xfrm>
            <a:off x="4719161" y="4235767"/>
            <a:ext cx="384929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</a:t>
            </a:r>
            <a:endParaRPr lang="en-US" sz="675" dirty="0"/>
          </a:p>
        </p:txBody>
      </p:sp>
      <p:sp>
        <p:nvSpPr>
          <p:cNvPr id="71" name="Text 56"/>
          <p:cNvSpPr/>
          <p:nvPr/>
        </p:nvSpPr>
        <p:spPr>
          <a:xfrm>
            <a:off x="834390" y="4508181"/>
            <a:ext cx="461497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750" dirty="0"/>
          </a:p>
        </p:txBody>
      </p:sp>
      <p:sp>
        <p:nvSpPr>
          <p:cNvPr id="72" name="Text 57"/>
          <p:cNvSpPr/>
          <p:nvPr/>
        </p:nvSpPr>
        <p:spPr>
          <a:xfrm>
            <a:off x="834390" y="4641531"/>
            <a:ext cx="4614977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POSITIVE · 96% confidence</a:t>
            </a:r>
            <a:endParaRPr lang="en-US" sz="1200" dirty="0"/>
          </a:p>
        </p:txBody>
      </p:sp>
      <p:sp>
        <p:nvSpPr>
          <p:cNvPr id="73" name="Text 58"/>
          <p:cNvSpPr/>
          <p:nvPr/>
        </p:nvSpPr>
        <p:spPr>
          <a:xfrm>
            <a:off x="834390" y="4854892"/>
            <a:ext cx="461497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events cited · 6 sources · 0 unsupported claims.</a:t>
            </a:r>
            <a:endParaRPr lang="en-US" sz="863" dirty="0"/>
          </a:p>
        </p:txBody>
      </p:sp>
      <p:sp>
        <p:nvSpPr>
          <p:cNvPr id="74" name="Text 59"/>
          <p:cNvSpPr/>
          <p:nvPr/>
        </p:nvSpPr>
        <p:spPr>
          <a:xfrm>
            <a:off x="5505450" y="1104900"/>
            <a:ext cx="461497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TAKEN</a:t>
            </a:r>
            <a:endParaRPr lang="en-US" sz="750" dirty="0"/>
          </a:p>
        </p:txBody>
      </p:sp>
      <p:sp>
        <p:nvSpPr>
          <p:cNvPr id="75" name="Shape 60"/>
          <p:cNvSpPr/>
          <p:nvPr/>
        </p:nvSpPr>
        <p:spPr>
          <a:xfrm>
            <a:off x="5505450" y="1276350"/>
            <a:ext cx="946547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6" name="Shape 61"/>
          <p:cNvSpPr/>
          <p:nvPr/>
        </p:nvSpPr>
        <p:spPr>
          <a:xfrm>
            <a:off x="5505450" y="1514475"/>
            <a:ext cx="946547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7" name="Text 62"/>
          <p:cNvSpPr/>
          <p:nvPr/>
        </p:nvSpPr>
        <p:spPr>
          <a:xfrm>
            <a:off x="5581650" y="1323975"/>
            <a:ext cx="87034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825" dirty="0"/>
          </a:p>
        </p:txBody>
      </p:sp>
      <p:sp>
        <p:nvSpPr>
          <p:cNvPr id="78" name="Shape 63"/>
          <p:cNvSpPr/>
          <p:nvPr/>
        </p:nvSpPr>
        <p:spPr>
          <a:xfrm>
            <a:off x="6451997" y="1276350"/>
            <a:ext cx="2048589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9" name="Shape 64"/>
          <p:cNvSpPr/>
          <p:nvPr/>
        </p:nvSpPr>
        <p:spPr>
          <a:xfrm>
            <a:off x="6451997" y="1514475"/>
            <a:ext cx="204858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65"/>
          <p:cNvSpPr/>
          <p:nvPr/>
        </p:nvSpPr>
        <p:spPr>
          <a:xfrm>
            <a:off x="6528197" y="1323975"/>
            <a:ext cx="19723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25" dirty="0"/>
          </a:p>
        </p:txBody>
      </p:sp>
      <p:sp>
        <p:nvSpPr>
          <p:cNvPr id="81" name="Shape 66"/>
          <p:cNvSpPr/>
          <p:nvPr/>
        </p:nvSpPr>
        <p:spPr>
          <a:xfrm>
            <a:off x="8500586" y="1276350"/>
            <a:ext cx="1485424" cy="2457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2" name="Shape 67"/>
          <p:cNvSpPr/>
          <p:nvPr/>
        </p:nvSpPr>
        <p:spPr>
          <a:xfrm>
            <a:off x="8500586" y="1514475"/>
            <a:ext cx="1485424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3" name="Text 68"/>
          <p:cNvSpPr/>
          <p:nvPr/>
        </p:nvSpPr>
        <p:spPr>
          <a:xfrm>
            <a:off x="8576786" y="1323975"/>
            <a:ext cx="14092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25" dirty="0"/>
          </a:p>
        </p:txBody>
      </p:sp>
      <p:sp>
        <p:nvSpPr>
          <p:cNvPr id="84" name="Shape 69"/>
          <p:cNvSpPr/>
          <p:nvPr/>
        </p:nvSpPr>
        <p:spPr>
          <a:xfrm>
            <a:off x="5505450" y="1836418"/>
            <a:ext cx="94654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5" name="Shape 70"/>
          <p:cNvSpPr/>
          <p:nvPr/>
        </p:nvSpPr>
        <p:spPr>
          <a:xfrm>
            <a:off x="5581650" y="1583055"/>
            <a:ext cx="473035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86" name="Shape 71"/>
          <p:cNvSpPr/>
          <p:nvPr/>
        </p:nvSpPr>
        <p:spPr>
          <a:xfrm>
            <a:off x="5655945" y="1654492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7" name="Text 72"/>
          <p:cNvSpPr/>
          <p:nvPr/>
        </p:nvSpPr>
        <p:spPr>
          <a:xfrm>
            <a:off x="5751195" y="1609725"/>
            <a:ext cx="30539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825" dirty="0"/>
          </a:p>
        </p:txBody>
      </p:sp>
      <p:sp>
        <p:nvSpPr>
          <p:cNvPr id="88" name="Shape 73"/>
          <p:cNvSpPr/>
          <p:nvPr/>
        </p:nvSpPr>
        <p:spPr>
          <a:xfrm>
            <a:off x="6451997" y="1836418"/>
            <a:ext cx="204858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9" name="Text 74"/>
          <p:cNvSpPr/>
          <p:nvPr/>
        </p:nvSpPr>
        <p:spPr>
          <a:xfrm>
            <a:off x="6528197" y="1579243"/>
            <a:ext cx="1972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sessions</a:t>
            </a:r>
            <a:endParaRPr lang="en-US" sz="900" dirty="0"/>
          </a:p>
        </p:txBody>
      </p:sp>
      <p:sp>
        <p:nvSpPr>
          <p:cNvPr id="90" name="Shape 75"/>
          <p:cNvSpPr/>
          <p:nvPr/>
        </p:nvSpPr>
        <p:spPr>
          <a:xfrm>
            <a:off x="8500586" y="1836418"/>
            <a:ext cx="148542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1" name="Text 76"/>
          <p:cNvSpPr/>
          <p:nvPr/>
        </p:nvSpPr>
        <p:spPr>
          <a:xfrm>
            <a:off x="8576786" y="1579243"/>
            <a:ext cx="14092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 · 3</a:t>
            </a:r>
            <a:endParaRPr lang="en-US" sz="900" dirty="0"/>
          </a:p>
        </p:txBody>
      </p:sp>
      <p:sp>
        <p:nvSpPr>
          <p:cNvPr id="92" name="Shape 77"/>
          <p:cNvSpPr/>
          <p:nvPr/>
        </p:nvSpPr>
        <p:spPr>
          <a:xfrm>
            <a:off x="5505450" y="2158364"/>
            <a:ext cx="94654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3" name="Shape 78"/>
          <p:cNvSpPr/>
          <p:nvPr/>
        </p:nvSpPr>
        <p:spPr>
          <a:xfrm>
            <a:off x="5581650" y="1905000"/>
            <a:ext cx="473035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94" name="Shape 79"/>
          <p:cNvSpPr/>
          <p:nvPr/>
        </p:nvSpPr>
        <p:spPr>
          <a:xfrm>
            <a:off x="5655945" y="1976438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5" name="Text 80"/>
          <p:cNvSpPr/>
          <p:nvPr/>
        </p:nvSpPr>
        <p:spPr>
          <a:xfrm>
            <a:off x="5751195" y="1931668"/>
            <a:ext cx="30539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825" dirty="0"/>
          </a:p>
        </p:txBody>
      </p:sp>
      <p:sp>
        <p:nvSpPr>
          <p:cNvPr id="96" name="Shape 81"/>
          <p:cNvSpPr/>
          <p:nvPr/>
        </p:nvSpPr>
        <p:spPr>
          <a:xfrm>
            <a:off x="6451997" y="2158364"/>
            <a:ext cx="204858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7" name="Text 82"/>
          <p:cNvSpPr/>
          <p:nvPr/>
        </p:nvSpPr>
        <p:spPr>
          <a:xfrm>
            <a:off x="6528197" y="1901189"/>
            <a:ext cx="1972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 mails</a:t>
            </a:r>
            <a:endParaRPr lang="en-US" sz="900" dirty="0"/>
          </a:p>
        </p:txBody>
      </p:sp>
      <p:sp>
        <p:nvSpPr>
          <p:cNvPr id="98" name="Shape 83"/>
          <p:cNvSpPr/>
          <p:nvPr/>
        </p:nvSpPr>
        <p:spPr>
          <a:xfrm>
            <a:off x="8500586" y="2158364"/>
            <a:ext cx="148542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9" name="Text 84"/>
          <p:cNvSpPr/>
          <p:nvPr/>
        </p:nvSpPr>
        <p:spPr>
          <a:xfrm>
            <a:off x="8576786" y="1901189"/>
            <a:ext cx="14092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9 mailboxes</a:t>
            </a:r>
            <a:endParaRPr lang="en-US" sz="900" dirty="0"/>
          </a:p>
        </p:txBody>
      </p:sp>
      <p:sp>
        <p:nvSpPr>
          <p:cNvPr id="100" name="Shape 85"/>
          <p:cNvSpPr/>
          <p:nvPr/>
        </p:nvSpPr>
        <p:spPr>
          <a:xfrm>
            <a:off x="5505450" y="2480309"/>
            <a:ext cx="94654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1" name="Shape 86"/>
          <p:cNvSpPr/>
          <p:nvPr/>
        </p:nvSpPr>
        <p:spPr>
          <a:xfrm>
            <a:off x="5581650" y="2226943"/>
            <a:ext cx="473035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102" name="Shape 87"/>
          <p:cNvSpPr/>
          <p:nvPr/>
        </p:nvSpPr>
        <p:spPr>
          <a:xfrm>
            <a:off x="5655945" y="2298381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3" name="Text 88"/>
          <p:cNvSpPr/>
          <p:nvPr/>
        </p:nvSpPr>
        <p:spPr>
          <a:xfrm>
            <a:off x="5751195" y="2253614"/>
            <a:ext cx="30539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825" dirty="0"/>
          </a:p>
        </p:txBody>
      </p:sp>
      <p:sp>
        <p:nvSpPr>
          <p:cNvPr id="104" name="Shape 89"/>
          <p:cNvSpPr/>
          <p:nvPr/>
        </p:nvSpPr>
        <p:spPr>
          <a:xfrm>
            <a:off x="6451997" y="2480309"/>
            <a:ext cx="204858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5" name="Text 90"/>
          <p:cNvSpPr/>
          <p:nvPr/>
        </p:nvSpPr>
        <p:spPr>
          <a:xfrm>
            <a:off x="6528197" y="2223134"/>
            <a:ext cx="1972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MFA push</a:t>
            </a:r>
            <a:endParaRPr lang="en-US" sz="900" dirty="0"/>
          </a:p>
        </p:txBody>
      </p:sp>
      <p:sp>
        <p:nvSpPr>
          <p:cNvPr id="106" name="Shape 91"/>
          <p:cNvSpPr/>
          <p:nvPr/>
        </p:nvSpPr>
        <p:spPr>
          <a:xfrm>
            <a:off x="8500586" y="2480309"/>
            <a:ext cx="148542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7" name="Text 92"/>
          <p:cNvSpPr/>
          <p:nvPr/>
        </p:nvSpPr>
        <p:spPr>
          <a:xfrm>
            <a:off x="8576786" y="2223134"/>
            <a:ext cx="14092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finance · 1 h</a:t>
            </a:r>
            <a:endParaRPr lang="en-US" sz="900" dirty="0"/>
          </a:p>
        </p:txBody>
      </p:sp>
      <p:sp>
        <p:nvSpPr>
          <p:cNvPr id="108" name="Shape 93"/>
          <p:cNvSpPr/>
          <p:nvPr/>
        </p:nvSpPr>
        <p:spPr>
          <a:xfrm>
            <a:off x="5505450" y="2487930"/>
            <a:ext cx="946547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09" name="Shape 94"/>
          <p:cNvSpPr/>
          <p:nvPr/>
        </p:nvSpPr>
        <p:spPr>
          <a:xfrm>
            <a:off x="5505450" y="2802255"/>
            <a:ext cx="94654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0" name="Shape 95"/>
          <p:cNvSpPr/>
          <p:nvPr/>
        </p:nvSpPr>
        <p:spPr>
          <a:xfrm>
            <a:off x="5581650" y="2548889"/>
            <a:ext cx="55221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11" name="Shape 96"/>
          <p:cNvSpPr/>
          <p:nvPr/>
        </p:nvSpPr>
        <p:spPr>
          <a:xfrm>
            <a:off x="5655945" y="2620326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12" name="Text 97"/>
          <p:cNvSpPr/>
          <p:nvPr/>
        </p:nvSpPr>
        <p:spPr>
          <a:xfrm>
            <a:off x="5751195" y="2575559"/>
            <a:ext cx="38457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825" dirty="0"/>
          </a:p>
        </p:txBody>
      </p:sp>
      <p:sp>
        <p:nvSpPr>
          <p:cNvPr id="113" name="Shape 98"/>
          <p:cNvSpPr/>
          <p:nvPr/>
        </p:nvSpPr>
        <p:spPr>
          <a:xfrm>
            <a:off x="6451997" y="2487930"/>
            <a:ext cx="2048589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14" name="Shape 99"/>
          <p:cNvSpPr/>
          <p:nvPr/>
        </p:nvSpPr>
        <p:spPr>
          <a:xfrm>
            <a:off x="6451997" y="2802255"/>
            <a:ext cx="204858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5" name="Text 100"/>
          <p:cNvSpPr/>
          <p:nvPr/>
        </p:nvSpPr>
        <p:spPr>
          <a:xfrm>
            <a:off x="6528197" y="2545080"/>
            <a:ext cx="1972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egress 198.51.0.0/16</a:t>
            </a:r>
            <a:endParaRPr lang="en-US" sz="900" dirty="0"/>
          </a:p>
        </p:txBody>
      </p:sp>
      <p:sp>
        <p:nvSpPr>
          <p:cNvPr id="116" name="Shape 101"/>
          <p:cNvSpPr/>
          <p:nvPr/>
        </p:nvSpPr>
        <p:spPr>
          <a:xfrm>
            <a:off x="8500586" y="2487930"/>
            <a:ext cx="1485424" cy="32194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17" name="Shape 102"/>
          <p:cNvSpPr/>
          <p:nvPr/>
        </p:nvSpPr>
        <p:spPr>
          <a:xfrm>
            <a:off x="8500586" y="2802255"/>
            <a:ext cx="148542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8" name="Text 103"/>
          <p:cNvSpPr/>
          <p:nvPr/>
        </p:nvSpPr>
        <p:spPr>
          <a:xfrm>
            <a:off x="8576786" y="2545080"/>
            <a:ext cx="14092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analytics-3</a:t>
            </a:r>
            <a:endParaRPr lang="en-US" sz="900" dirty="0"/>
          </a:p>
        </p:txBody>
      </p:sp>
      <p:sp>
        <p:nvSpPr>
          <p:cNvPr id="119" name="Shape 104"/>
          <p:cNvSpPr/>
          <p:nvPr/>
        </p:nvSpPr>
        <p:spPr>
          <a:xfrm>
            <a:off x="5505450" y="2809875"/>
            <a:ext cx="946547" cy="31813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20" name="Shape 105"/>
          <p:cNvSpPr/>
          <p:nvPr/>
        </p:nvSpPr>
        <p:spPr>
          <a:xfrm>
            <a:off x="5581650" y="2870834"/>
            <a:ext cx="55221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21" name="Shape 106"/>
          <p:cNvSpPr/>
          <p:nvPr/>
        </p:nvSpPr>
        <p:spPr>
          <a:xfrm>
            <a:off x="5655945" y="294227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2" name="Text 107"/>
          <p:cNvSpPr/>
          <p:nvPr/>
        </p:nvSpPr>
        <p:spPr>
          <a:xfrm>
            <a:off x="5751195" y="2897505"/>
            <a:ext cx="38457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825" dirty="0"/>
          </a:p>
        </p:txBody>
      </p:sp>
      <p:sp>
        <p:nvSpPr>
          <p:cNvPr id="123" name="Shape 108"/>
          <p:cNvSpPr/>
          <p:nvPr/>
        </p:nvSpPr>
        <p:spPr>
          <a:xfrm>
            <a:off x="6451997" y="2809875"/>
            <a:ext cx="2048589" cy="31813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24" name="Text 109"/>
          <p:cNvSpPr/>
          <p:nvPr/>
        </p:nvSpPr>
        <p:spPr>
          <a:xfrm>
            <a:off x="6528197" y="2867025"/>
            <a:ext cx="1972389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· ro fs</a:t>
            </a:r>
            <a:endParaRPr lang="en-US" sz="900" dirty="0"/>
          </a:p>
        </p:txBody>
      </p:sp>
      <p:sp>
        <p:nvSpPr>
          <p:cNvPr id="125" name="Shape 110"/>
          <p:cNvSpPr/>
          <p:nvPr/>
        </p:nvSpPr>
        <p:spPr>
          <a:xfrm>
            <a:off x="8500586" y="2809875"/>
            <a:ext cx="1485424" cy="318135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126" name="Text 111"/>
          <p:cNvSpPr/>
          <p:nvPr/>
        </p:nvSpPr>
        <p:spPr>
          <a:xfrm>
            <a:off x="8576786" y="2867025"/>
            <a:ext cx="1409224" cy="24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claude-fin-bot</a:t>
            </a:r>
            <a:endParaRPr lang="en-US" sz="900" dirty="0"/>
          </a:p>
        </p:txBody>
      </p:sp>
      <p:sp>
        <p:nvSpPr>
          <p:cNvPr id="127" name="Shape 112"/>
          <p:cNvSpPr/>
          <p:nvPr/>
        </p:nvSpPr>
        <p:spPr>
          <a:xfrm>
            <a:off x="5505450" y="3204209"/>
            <a:ext cx="4480560" cy="860108"/>
          </a:xfrm>
          <a:prstGeom prst="roundRect">
            <a:avLst>
              <a:gd name="adj" fmla="val 8859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28" name="Text 113"/>
          <p:cNvSpPr/>
          <p:nvPr/>
        </p:nvSpPr>
        <p:spPr>
          <a:xfrm>
            <a:off x="5608320" y="3307080"/>
            <a:ext cx="440306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ENFORCEMENT · WHAT NO OTHER REPORT INCLUDES</a:t>
            </a:r>
            <a:endParaRPr lang="en-US" sz="750" dirty="0"/>
          </a:p>
        </p:txBody>
      </p:sp>
      <p:sp>
        <p:nvSpPr>
          <p:cNvPr id="129" name="Text 114"/>
          <p:cNvSpPr/>
          <p:nvPr/>
        </p:nvSpPr>
        <p:spPr>
          <a:xfrm>
            <a:off x="5608320" y="3440430"/>
            <a:ext cx="4403065" cy="559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kernel policies activated · 41,902 bytes attempted egress · 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bytes left the host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policy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kc-fin-egress.v3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now permanent for pods 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app=analytics,env=prod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38" dirty="0"/>
          </a:p>
        </p:txBody>
      </p:sp>
      <p:sp>
        <p:nvSpPr>
          <p:cNvPr id="130" name="Text 115"/>
          <p:cNvSpPr/>
          <p:nvPr/>
        </p:nvSpPr>
        <p:spPr>
          <a:xfrm>
            <a:off x="5505450" y="4140517"/>
            <a:ext cx="461497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750" dirty="0"/>
          </a:p>
        </p:txBody>
      </p:sp>
      <p:sp>
        <p:nvSpPr>
          <p:cNvPr id="131" name="Text 116"/>
          <p:cNvSpPr/>
          <p:nvPr/>
        </p:nvSpPr>
        <p:spPr>
          <a:xfrm>
            <a:off x="5505450" y="4273867"/>
            <a:ext cx="4614977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Brand-impersonation mail bypassed gateway. The user approved the 14th MFA push after fatigue. The session token was reusable across SaaS+cloud — recommend conditional access tied to risk score.</a:t>
            </a:r>
            <a:endParaRPr lang="en-US" sz="938" dirty="0"/>
          </a:p>
        </p:txBody>
      </p:sp>
      <p:sp>
        <p:nvSpPr>
          <p:cNvPr id="132" name="Text 117"/>
          <p:cNvSpPr/>
          <p:nvPr/>
        </p:nvSpPr>
        <p:spPr>
          <a:xfrm>
            <a:off x="5505450" y="4850130"/>
            <a:ext cx="461497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LEARNINGS WRITTEN BACK</a:t>
            </a:r>
            <a:endParaRPr lang="en-US" sz="750" dirty="0"/>
          </a:p>
        </p:txBody>
      </p:sp>
      <p:sp>
        <p:nvSpPr>
          <p:cNvPr id="133" name="Shape 118"/>
          <p:cNvSpPr/>
          <p:nvPr/>
        </p:nvSpPr>
        <p:spPr>
          <a:xfrm>
            <a:off x="5505450" y="4983480"/>
            <a:ext cx="430530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134" name="Shape 119"/>
          <p:cNvSpPr/>
          <p:nvPr/>
        </p:nvSpPr>
        <p:spPr>
          <a:xfrm>
            <a:off x="5579745" y="5054917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35" name="Text 120"/>
          <p:cNvSpPr/>
          <p:nvPr/>
        </p:nvSpPr>
        <p:spPr>
          <a:xfrm>
            <a:off x="5674995" y="5010150"/>
            <a:ext cx="26289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825" dirty="0"/>
          </a:p>
        </p:txBody>
      </p:sp>
      <p:sp>
        <p:nvSpPr>
          <p:cNvPr id="136" name="Text 121"/>
          <p:cNvSpPr/>
          <p:nvPr/>
        </p:nvSpPr>
        <p:spPr>
          <a:xfrm>
            <a:off x="5974080" y="5006815"/>
            <a:ext cx="254150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mfa_spam_then_unfamiliar_signin v0.3 → enabled</a:t>
            </a:r>
            <a:endParaRPr lang="en-US" sz="863" dirty="0"/>
          </a:p>
        </p:txBody>
      </p:sp>
      <p:sp>
        <p:nvSpPr>
          <p:cNvPr id="137" name="Shape 122"/>
          <p:cNvSpPr/>
          <p:nvPr/>
        </p:nvSpPr>
        <p:spPr>
          <a:xfrm>
            <a:off x="5505450" y="5221605"/>
            <a:ext cx="55328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38" name="Shape 123"/>
          <p:cNvSpPr/>
          <p:nvPr/>
        </p:nvSpPr>
        <p:spPr>
          <a:xfrm>
            <a:off x="5579745" y="529304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39" name="Text 124"/>
          <p:cNvSpPr/>
          <p:nvPr/>
        </p:nvSpPr>
        <p:spPr>
          <a:xfrm>
            <a:off x="5674995" y="5248275"/>
            <a:ext cx="38564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825" dirty="0"/>
          </a:p>
        </p:txBody>
      </p:sp>
      <p:sp>
        <p:nvSpPr>
          <p:cNvPr id="140" name="Text 125"/>
          <p:cNvSpPr/>
          <p:nvPr/>
        </p:nvSpPr>
        <p:spPr>
          <a:xfrm>
            <a:off x="6096834" y="5244940"/>
            <a:ext cx="1542931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kc-fin-egress.v3 → permanent</a:t>
            </a:r>
            <a:endParaRPr lang="en-US" sz="863" dirty="0"/>
          </a:p>
        </p:txBody>
      </p:sp>
      <p:sp>
        <p:nvSpPr>
          <p:cNvPr id="141" name="Shape 126"/>
          <p:cNvSpPr/>
          <p:nvPr/>
        </p:nvSpPr>
        <p:spPr>
          <a:xfrm>
            <a:off x="5505450" y="5459730"/>
            <a:ext cx="662702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42" name="Shape 127"/>
          <p:cNvSpPr/>
          <p:nvPr/>
        </p:nvSpPr>
        <p:spPr>
          <a:xfrm>
            <a:off x="5579745" y="5531167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43" name="Text 128"/>
          <p:cNvSpPr/>
          <p:nvPr/>
        </p:nvSpPr>
        <p:spPr>
          <a:xfrm>
            <a:off x="5674995" y="5486400"/>
            <a:ext cx="49506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825" dirty="0"/>
          </a:p>
        </p:txBody>
      </p:sp>
      <p:sp>
        <p:nvSpPr>
          <p:cNvPr id="144" name="Text 129"/>
          <p:cNvSpPr/>
          <p:nvPr/>
        </p:nvSpPr>
        <p:spPr>
          <a:xfrm>
            <a:off x="6206252" y="5483065"/>
            <a:ext cx="2252186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Calendly+ OAuth template flagged for review</a:t>
            </a:r>
            <a:endParaRPr lang="en-US" sz="863" dirty="0"/>
          </a:p>
        </p:txBody>
      </p:sp>
      <p:sp>
        <p:nvSpPr>
          <p:cNvPr id="145" name="Text 130"/>
          <p:cNvSpPr/>
          <p:nvPr/>
        </p:nvSpPr>
        <p:spPr>
          <a:xfrm>
            <a:off x="5505450" y="5735955"/>
            <a:ext cx="4614977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AccuKnox AI-SOC · reviewed by alex.m · evidence chain attached · 6 pages.</a:t>
            </a:r>
            <a:endParaRPr lang="en-US" sz="788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5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7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" y="2047875"/>
            <a:ext cx="171450" cy="1714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2409825"/>
            <a:ext cx="171450" cy="171450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" y="2771775"/>
            <a:ext cx="171450" cy="17145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91440" y="30480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" y="3133725"/>
            <a:ext cx="171450" cy="17145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3"/>
            <a:ext cx="149030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evidence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176106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284095" y="144780"/>
            <a:ext cx="174105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h → 4 h audit prep, on screen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4101346" y="74293"/>
            <a:ext cx="3389590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4217" y="167639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375667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7" y="108584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39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4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39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1" y="131443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0" y="167639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0" y="100964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1" y="107631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39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8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590550"/>
            <a:ext cx="1893451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prep · 60 h → 4 h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4475679" y="593406"/>
            <a:ext cx="566023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4549973" y="66484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0" name="Text 25"/>
          <p:cNvSpPr/>
          <p:nvPr/>
        </p:nvSpPr>
        <p:spPr>
          <a:xfrm>
            <a:off x="4645223" y="620076"/>
            <a:ext cx="3983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5098852" y="593406"/>
            <a:ext cx="845939" cy="200025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5173147" y="664843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28"/>
          <p:cNvSpPr/>
          <p:nvPr/>
        </p:nvSpPr>
        <p:spPr>
          <a:xfrm>
            <a:off x="5268397" y="620076"/>
            <a:ext cx="67829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DSS 4.0</a:t>
            </a:r>
            <a:endParaRPr lang="en-US" sz="825" dirty="0"/>
          </a:p>
        </p:txBody>
      </p:sp>
      <p:sp>
        <p:nvSpPr>
          <p:cNvPr id="44" name="Shape 29"/>
          <p:cNvSpPr/>
          <p:nvPr/>
        </p:nvSpPr>
        <p:spPr>
          <a:xfrm>
            <a:off x="6001941" y="593406"/>
            <a:ext cx="55066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6076236" y="66484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6" name="Text 31"/>
          <p:cNvSpPr/>
          <p:nvPr/>
        </p:nvSpPr>
        <p:spPr>
          <a:xfrm>
            <a:off x="6171486" y="620076"/>
            <a:ext cx="38302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</a:t>
            </a:r>
            <a:endParaRPr lang="en-US" sz="825" dirty="0"/>
          </a:p>
        </p:txBody>
      </p:sp>
      <p:sp>
        <p:nvSpPr>
          <p:cNvPr id="47" name="Shape 32"/>
          <p:cNvSpPr/>
          <p:nvPr/>
        </p:nvSpPr>
        <p:spPr>
          <a:xfrm>
            <a:off x="6609755" y="593406"/>
            <a:ext cx="90082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8" name="Shape 33"/>
          <p:cNvSpPr/>
          <p:nvPr/>
        </p:nvSpPr>
        <p:spPr>
          <a:xfrm>
            <a:off x="6684050" y="66484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9" name="Text 34"/>
          <p:cNvSpPr/>
          <p:nvPr/>
        </p:nvSpPr>
        <p:spPr>
          <a:xfrm>
            <a:off x="6779300" y="620076"/>
            <a:ext cx="73318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800-53</a:t>
            </a:r>
            <a:endParaRPr lang="en-US" sz="825" dirty="0"/>
          </a:p>
        </p:txBody>
      </p:sp>
      <p:sp>
        <p:nvSpPr>
          <p:cNvPr id="50" name="Shape 35"/>
          <p:cNvSpPr/>
          <p:nvPr/>
        </p:nvSpPr>
        <p:spPr>
          <a:xfrm>
            <a:off x="7567732" y="593406"/>
            <a:ext cx="761286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1" name="Shape 36"/>
          <p:cNvSpPr/>
          <p:nvPr/>
        </p:nvSpPr>
        <p:spPr>
          <a:xfrm>
            <a:off x="7642027" y="66484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2" name="Text 37"/>
          <p:cNvSpPr/>
          <p:nvPr/>
        </p:nvSpPr>
        <p:spPr>
          <a:xfrm>
            <a:off x="7737277" y="620076"/>
            <a:ext cx="59364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</a:t>
            </a:r>
            <a:endParaRPr lang="en-US" sz="825" dirty="0"/>
          </a:p>
        </p:txBody>
      </p:sp>
      <p:sp>
        <p:nvSpPr>
          <p:cNvPr id="53" name="Shape 38"/>
          <p:cNvSpPr/>
          <p:nvPr/>
        </p:nvSpPr>
        <p:spPr>
          <a:xfrm>
            <a:off x="8386167" y="593406"/>
            <a:ext cx="979408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4" name="Shape 39"/>
          <p:cNvSpPr/>
          <p:nvPr/>
        </p:nvSpPr>
        <p:spPr>
          <a:xfrm>
            <a:off x="8460463" y="66484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5" name="Text 40"/>
          <p:cNvSpPr/>
          <p:nvPr/>
        </p:nvSpPr>
        <p:spPr>
          <a:xfrm>
            <a:off x="8555713" y="620076"/>
            <a:ext cx="81176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FedRAMP Mod</a:t>
            </a:r>
            <a:endParaRPr lang="en-US" sz="825" dirty="0"/>
          </a:p>
        </p:txBody>
      </p:sp>
      <p:sp>
        <p:nvSpPr>
          <p:cNvPr id="56" name="Shape 41"/>
          <p:cNvSpPr/>
          <p:nvPr/>
        </p:nvSpPr>
        <p:spPr>
          <a:xfrm>
            <a:off x="9422725" y="593406"/>
            <a:ext cx="730925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9497020" y="66484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8" name="Text 43"/>
          <p:cNvSpPr/>
          <p:nvPr/>
        </p:nvSpPr>
        <p:spPr>
          <a:xfrm>
            <a:off x="9592270" y="620076"/>
            <a:ext cx="56328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+ 27 more</a:t>
            </a:r>
            <a:endParaRPr lang="en-US" sz="825" dirty="0"/>
          </a:p>
        </p:txBody>
      </p:sp>
      <p:sp>
        <p:nvSpPr>
          <p:cNvPr id="59" name="Shape 44"/>
          <p:cNvSpPr/>
          <p:nvPr/>
        </p:nvSpPr>
        <p:spPr>
          <a:xfrm>
            <a:off x="666750" y="891539"/>
            <a:ext cx="6324600" cy="5642612"/>
          </a:xfrm>
          <a:prstGeom prst="roundRect">
            <a:avLst>
              <a:gd name="adj" fmla="val 135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0" name="Text 45"/>
          <p:cNvSpPr/>
          <p:nvPr/>
        </p:nvSpPr>
        <p:spPr>
          <a:xfrm>
            <a:off x="788670" y="994409"/>
            <a:ext cx="626318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DSS 4.0 · control coverage</a:t>
            </a:r>
            <a:endParaRPr lang="en-US" sz="900" dirty="0"/>
          </a:p>
        </p:txBody>
      </p:sp>
      <p:sp>
        <p:nvSpPr>
          <p:cNvPr id="61" name="Shape 46"/>
          <p:cNvSpPr/>
          <p:nvPr/>
        </p:nvSpPr>
        <p:spPr>
          <a:xfrm>
            <a:off x="788670" y="1230630"/>
            <a:ext cx="712708" cy="39243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2" name="Shape 47"/>
          <p:cNvSpPr/>
          <p:nvPr/>
        </p:nvSpPr>
        <p:spPr>
          <a:xfrm>
            <a:off x="788670" y="1615440"/>
            <a:ext cx="712708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48"/>
          <p:cNvSpPr/>
          <p:nvPr/>
        </p:nvSpPr>
        <p:spPr>
          <a:xfrm>
            <a:off x="864870" y="1278255"/>
            <a:ext cx="63650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25" dirty="0"/>
          </a:p>
        </p:txBody>
      </p:sp>
      <p:sp>
        <p:nvSpPr>
          <p:cNvPr id="64" name="Shape 49"/>
          <p:cNvSpPr/>
          <p:nvPr/>
        </p:nvSpPr>
        <p:spPr>
          <a:xfrm>
            <a:off x="1501378" y="1230630"/>
            <a:ext cx="1234321" cy="39243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Shape 50"/>
          <p:cNvSpPr/>
          <p:nvPr/>
        </p:nvSpPr>
        <p:spPr>
          <a:xfrm>
            <a:off x="1501378" y="1615440"/>
            <a:ext cx="1234321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51"/>
          <p:cNvSpPr/>
          <p:nvPr/>
        </p:nvSpPr>
        <p:spPr>
          <a:xfrm>
            <a:off x="1577578" y="1278255"/>
            <a:ext cx="115812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825" dirty="0"/>
          </a:p>
        </p:txBody>
      </p:sp>
      <p:sp>
        <p:nvSpPr>
          <p:cNvPr id="67" name="Shape 52"/>
          <p:cNvSpPr/>
          <p:nvPr/>
        </p:nvSpPr>
        <p:spPr>
          <a:xfrm>
            <a:off x="2735699" y="1230630"/>
            <a:ext cx="638413" cy="39243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8" name="Shape 53"/>
          <p:cNvSpPr/>
          <p:nvPr/>
        </p:nvSpPr>
        <p:spPr>
          <a:xfrm>
            <a:off x="2735699" y="1615440"/>
            <a:ext cx="638413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9" name="Text 54"/>
          <p:cNvSpPr/>
          <p:nvPr/>
        </p:nvSpPr>
        <p:spPr>
          <a:xfrm>
            <a:off x="2811899" y="1278255"/>
            <a:ext cx="562213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25" dirty="0"/>
          </a:p>
        </p:txBody>
      </p:sp>
      <p:sp>
        <p:nvSpPr>
          <p:cNvPr id="70" name="Shape 55"/>
          <p:cNvSpPr/>
          <p:nvPr/>
        </p:nvSpPr>
        <p:spPr>
          <a:xfrm>
            <a:off x="3374113" y="1230630"/>
            <a:ext cx="1383149" cy="39243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1" name="Shape 56"/>
          <p:cNvSpPr/>
          <p:nvPr/>
        </p:nvSpPr>
        <p:spPr>
          <a:xfrm>
            <a:off x="3374113" y="1615440"/>
            <a:ext cx="138314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57"/>
          <p:cNvSpPr/>
          <p:nvPr/>
        </p:nvSpPr>
        <p:spPr>
          <a:xfrm>
            <a:off x="3450313" y="1278255"/>
            <a:ext cx="1306949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AUTO-EVIDENCE</a:t>
            </a:r>
            <a:endParaRPr lang="en-US" sz="825" dirty="0"/>
          </a:p>
        </p:txBody>
      </p:sp>
      <p:sp>
        <p:nvSpPr>
          <p:cNvPr id="73" name="Shape 58"/>
          <p:cNvSpPr/>
          <p:nvPr/>
        </p:nvSpPr>
        <p:spPr>
          <a:xfrm>
            <a:off x="4757262" y="1230630"/>
            <a:ext cx="1249561" cy="39243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4" name="Shape 59"/>
          <p:cNvSpPr/>
          <p:nvPr/>
        </p:nvSpPr>
        <p:spPr>
          <a:xfrm>
            <a:off x="4757262" y="1615440"/>
            <a:ext cx="1249561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5" name="Text 60"/>
          <p:cNvSpPr/>
          <p:nvPr/>
        </p:nvSpPr>
        <p:spPr>
          <a:xfrm>
            <a:off x="4833462" y="1278255"/>
            <a:ext cx="117336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SATISFIED</a:t>
            </a:r>
            <a:endParaRPr lang="en-US" sz="825" dirty="0"/>
          </a:p>
        </p:txBody>
      </p:sp>
      <p:sp>
        <p:nvSpPr>
          <p:cNvPr id="76" name="Shape 61"/>
          <p:cNvSpPr/>
          <p:nvPr/>
        </p:nvSpPr>
        <p:spPr>
          <a:xfrm>
            <a:off x="6006823" y="1230630"/>
            <a:ext cx="862608" cy="39243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7" name="Shape 62"/>
          <p:cNvSpPr/>
          <p:nvPr/>
        </p:nvSpPr>
        <p:spPr>
          <a:xfrm>
            <a:off x="6006823" y="1615440"/>
            <a:ext cx="862608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Shape 63"/>
          <p:cNvSpPr/>
          <p:nvPr/>
        </p:nvSpPr>
        <p:spPr>
          <a:xfrm>
            <a:off x="788670" y="2057399"/>
            <a:ext cx="7127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9" name="Text 64"/>
          <p:cNvSpPr/>
          <p:nvPr/>
        </p:nvSpPr>
        <p:spPr>
          <a:xfrm>
            <a:off x="864870" y="1680209"/>
            <a:ext cx="6365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1.4.1</a:t>
            </a:r>
            <a:endParaRPr lang="en-US" sz="825" dirty="0"/>
          </a:p>
        </p:txBody>
      </p:sp>
      <p:sp>
        <p:nvSpPr>
          <p:cNvPr id="80" name="Shape 65"/>
          <p:cNvSpPr/>
          <p:nvPr/>
        </p:nvSpPr>
        <p:spPr>
          <a:xfrm>
            <a:off x="1501378" y="2057399"/>
            <a:ext cx="123432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1" name="Text 66"/>
          <p:cNvSpPr/>
          <p:nvPr/>
        </p:nvSpPr>
        <p:spPr>
          <a:xfrm>
            <a:off x="1577578" y="1680209"/>
            <a:ext cx="11581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· egress restrict</a:t>
            </a:r>
            <a:endParaRPr lang="en-US" sz="900" dirty="0"/>
          </a:p>
        </p:txBody>
      </p:sp>
      <p:sp>
        <p:nvSpPr>
          <p:cNvPr id="82" name="Shape 67"/>
          <p:cNvSpPr/>
          <p:nvPr/>
        </p:nvSpPr>
        <p:spPr>
          <a:xfrm>
            <a:off x="2735699" y="2057399"/>
            <a:ext cx="63841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3" name="Shape 68"/>
          <p:cNvSpPr/>
          <p:nvPr/>
        </p:nvSpPr>
        <p:spPr>
          <a:xfrm>
            <a:off x="2811899" y="1744026"/>
            <a:ext cx="370880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84" name="Shape 69"/>
          <p:cNvSpPr/>
          <p:nvPr/>
        </p:nvSpPr>
        <p:spPr>
          <a:xfrm>
            <a:off x="2886195" y="1815464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85" name="Text 70"/>
          <p:cNvSpPr/>
          <p:nvPr/>
        </p:nvSpPr>
        <p:spPr>
          <a:xfrm>
            <a:off x="2981445" y="1778317"/>
            <a:ext cx="203239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25" dirty="0"/>
          </a:p>
        </p:txBody>
      </p:sp>
      <p:sp>
        <p:nvSpPr>
          <p:cNvPr id="86" name="Shape 71"/>
          <p:cNvSpPr/>
          <p:nvPr/>
        </p:nvSpPr>
        <p:spPr>
          <a:xfrm>
            <a:off x="3374113" y="2057399"/>
            <a:ext cx="138314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7" name="Text 72"/>
          <p:cNvSpPr/>
          <p:nvPr/>
        </p:nvSpPr>
        <p:spPr>
          <a:xfrm>
            <a:off x="3450313" y="1680209"/>
            <a:ext cx="13069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kc-fin-egress.v3 (3 pods)</a:t>
            </a:r>
            <a:endParaRPr lang="en-US" sz="900" dirty="0"/>
          </a:p>
        </p:txBody>
      </p:sp>
      <p:sp>
        <p:nvSpPr>
          <p:cNvPr id="88" name="Shape 73"/>
          <p:cNvSpPr/>
          <p:nvPr/>
        </p:nvSpPr>
        <p:spPr>
          <a:xfrm>
            <a:off x="4757262" y="2057399"/>
            <a:ext cx="124956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9" name="Text 74"/>
          <p:cNvSpPr/>
          <p:nvPr/>
        </p:nvSpPr>
        <p:spPr>
          <a:xfrm>
            <a:off x="4833462" y="1680209"/>
            <a:ext cx="11733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1.4.1 · NIST AC-4 · SOC2 CC6.6</a:t>
            </a:r>
            <a:endParaRPr lang="en-US" sz="788" dirty="0"/>
          </a:p>
        </p:txBody>
      </p:sp>
      <p:sp>
        <p:nvSpPr>
          <p:cNvPr id="90" name="Shape 75"/>
          <p:cNvSpPr/>
          <p:nvPr/>
        </p:nvSpPr>
        <p:spPr>
          <a:xfrm>
            <a:off x="6006823" y="2057399"/>
            <a:ext cx="8626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1" name="Shape 76"/>
          <p:cNvSpPr/>
          <p:nvPr/>
        </p:nvSpPr>
        <p:spPr>
          <a:xfrm>
            <a:off x="6083023" y="1744026"/>
            <a:ext cx="710089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2" name="Text 77"/>
          <p:cNvSpPr/>
          <p:nvPr/>
        </p:nvSpPr>
        <p:spPr>
          <a:xfrm>
            <a:off x="6157317" y="1770697"/>
            <a:ext cx="63769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↗</a:t>
            </a:r>
            <a:endParaRPr lang="en-US" sz="825" dirty="0"/>
          </a:p>
        </p:txBody>
      </p:sp>
      <p:sp>
        <p:nvSpPr>
          <p:cNvPr id="93" name="Shape 78"/>
          <p:cNvSpPr/>
          <p:nvPr/>
        </p:nvSpPr>
        <p:spPr>
          <a:xfrm>
            <a:off x="788670" y="2499358"/>
            <a:ext cx="7127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4" name="Text 79"/>
          <p:cNvSpPr/>
          <p:nvPr/>
        </p:nvSpPr>
        <p:spPr>
          <a:xfrm>
            <a:off x="864870" y="2122168"/>
            <a:ext cx="6365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6.4.2</a:t>
            </a:r>
            <a:endParaRPr lang="en-US" sz="825" dirty="0"/>
          </a:p>
        </p:txBody>
      </p:sp>
      <p:sp>
        <p:nvSpPr>
          <p:cNvPr id="95" name="Shape 80"/>
          <p:cNvSpPr/>
          <p:nvPr/>
        </p:nvSpPr>
        <p:spPr>
          <a:xfrm>
            <a:off x="1501378" y="2499358"/>
            <a:ext cx="123432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6" name="Text 81"/>
          <p:cNvSpPr/>
          <p:nvPr/>
        </p:nvSpPr>
        <p:spPr>
          <a:xfrm>
            <a:off x="1577578" y="2122168"/>
            <a:ext cx="11581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on AI components</a:t>
            </a:r>
            <a:endParaRPr lang="en-US" sz="900" dirty="0"/>
          </a:p>
        </p:txBody>
      </p:sp>
      <p:sp>
        <p:nvSpPr>
          <p:cNvPr id="97" name="Shape 82"/>
          <p:cNvSpPr/>
          <p:nvPr/>
        </p:nvSpPr>
        <p:spPr>
          <a:xfrm>
            <a:off x="2735699" y="2499358"/>
            <a:ext cx="63841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8" name="Shape 83"/>
          <p:cNvSpPr/>
          <p:nvPr/>
        </p:nvSpPr>
        <p:spPr>
          <a:xfrm>
            <a:off x="2811899" y="2185988"/>
            <a:ext cx="370880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99" name="Shape 84"/>
          <p:cNvSpPr/>
          <p:nvPr/>
        </p:nvSpPr>
        <p:spPr>
          <a:xfrm>
            <a:off x="2886195" y="225742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00" name="Text 85"/>
          <p:cNvSpPr/>
          <p:nvPr/>
        </p:nvSpPr>
        <p:spPr>
          <a:xfrm>
            <a:off x="2981445" y="2220276"/>
            <a:ext cx="203239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25" dirty="0"/>
          </a:p>
        </p:txBody>
      </p:sp>
      <p:sp>
        <p:nvSpPr>
          <p:cNvPr id="101" name="Shape 86"/>
          <p:cNvSpPr/>
          <p:nvPr/>
        </p:nvSpPr>
        <p:spPr>
          <a:xfrm>
            <a:off x="3374113" y="2499358"/>
            <a:ext cx="138314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2" name="Text 87"/>
          <p:cNvSpPr/>
          <p:nvPr/>
        </p:nvSpPr>
        <p:spPr>
          <a:xfrm>
            <a:off x="3450313" y="2122168"/>
            <a:ext cx="13069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AI-BOM signed + scanned</a:t>
            </a:r>
            <a:endParaRPr lang="en-US" sz="900" dirty="0"/>
          </a:p>
        </p:txBody>
      </p:sp>
      <p:sp>
        <p:nvSpPr>
          <p:cNvPr id="103" name="Shape 88"/>
          <p:cNvSpPr/>
          <p:nvPr/>
        </p:nvSpPr>
        <p:spPr>
          <a:xfrm>
            <a:off x="4757262" y="2499358"/>
            <a:ext cx="124956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4" name="Text 89"/>
          <p:cNvSpPr/>
          <p:nvPr/>
        </p:nvSpPr>
        <p:spPr>
          <a:xfrm>
            <a:off x="4833462" y="2122168"/>
            <a:ext cx="11733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6.4.2 · SOC2 CC8.1</a:t>
            </a:r>
            <a:endParaRPr lang="en-US" sz="788" dirty="0"/>
          </a:p>
        </p:txBody>
      </p:sp>
      <p:sp>
        <p:nvSpPr>
          <p:cNvPr id="105" name="Shape 90"/>
          <p:cNvSpPr/>
          <p:nvPr/>
        </p:nvSpPr>
        <p:spPr>
          <a:xfrm>
            <a:off x="6006823" y="2499358"/>
            <a:ext cx="8626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6" name="Shape 91"/>
          <p:cNvSpPr/>
          <p:nvPr/>
        </p:nvSpPr>
        <p:spPr>
          <a:xfrm>
            <a:off x="6083023" y="2185988"/>
            <a:ext cx="710089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7" name="Text 92"/>
          <p:cNvSpPr/>
          <p:nvPr/>
        </p:nvSpPr>
        <p:spPr>
          <a:xfrm>
            <a:off x="6157317" y="2212656"/>
            <a:ext cx="63769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↗</a:t>
            </a:r>
            <a:endParaRPr lang="en-US" sz="825" dirty="0"/>
          </a:p>
        </p:txBody>
      </p:sp>
      <p:sp>
        <p:nvSpPr>
          <p:cNvPr id="108" name="Shape 93"/>
          <p:cNvSpPr/>
          <p:nvPr/>
        </p:nvSpPr>
        <p:spPr>
          <a:xfrm>
            <a:off x="788670" y="2506980"/>
            <a:ext cx="712708" cy="44196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09" name="Shape 94"/>
          <p:cNvSpPr/>
          <p:nvPr/>
        </p:nvSpPr>
        <p:spPr>
          <a:xfrm>
            <a:off x="788670" y="2941320"/>
            <a:ext cx="7127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0" name="Text 95"/>
          <p:cNvSpPr/>
          <p:nvPr/>
        </p:nvSpPr>
        <p:spPr>
          <a:xfrm>
            <a:off x="864870" y="2564130"/>
            <a:ext cx="6365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7.2.1</a:t>
            </a:r>
            <a:endParaRPr lang="en-US" sz="825" dirty="0"/>
          </a:p>
        </p:txBody>
      </p:sp>
      <p:sp>
        <p:nvSpPr>
          <p:cNvPr id="111" name="Shape 96"/>
          <p:cNvSpPr/>
          <p:nvPr/>
        </p:nvSpPr>
        <p:spPr>
          <a:xfrm>
            <a:off x="1501378" y="2506980"/>
            <a:ext cx="1234321" cy="44196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12" name="Shape 97"/>
          <p:cNvSpPr/>
          <p:nvPr/>
        </p:nvSpPr>
        <p:spPr>
          <a:xfrm>
            <a:off x="1501378" y="2941320"/>
            <a:ext cx="123432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3" name="Text 98"/>
          <p:cNvSpPr/>
          <p:nvPr/>
        </p:nvSpPr>
        <p:spPr>
          <a:xfrm>
            <a:off x="1577578" y="2564130"/>
            <a:ext cx="11581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roles</a:t>
            </a:r>
            <a:endParaRPr lang="en-US" sz="900" dirty="0"/>
          </a:p>
        </p:txBody>
      </p:sp>
      <p:sp>
        <p:nvSpPr>
          <p:cNvPr id="114" name="Shape 99"/>
          <p:cNvSpPr/>
          <p:nvPr/>
        </p:nvSpPr>
        <p:spPr>
          <a:xfrm>
            <a:off x="2735699" y="2506980"/>
            <a:ext cx="638413" cy="44196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15" name="Shape 100"/>
          <p:cNvSpPr/>
          <p:nvPr/>
        </p:nvSpPr>
        <p:spPr>
          <a:xfrm>
            <a:off x="2735699" y="2941320"/>
            <a:ext cx="63841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6" name="Shape 101"/>
          <p:cNvSpPr/>
          <p:nvPr/>
        </p:nvSpPr>
        <p:spPr>
          <a:xfrm>
            <a:off x="2811899" y="2627947"/>
            <a:ext cx="48601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17" name="Shape 102"/>
          <p:cNvSpPr/>
          <p:nvPr/>
        </p:nvSpPr>
        <p:spPr>
          <a:xfrm>
            <a:off x="2886195" y="2699384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18" name="Text 103"/>
          <p:cNvSpPr/>
          <p:nvPr/>
        </p:nvSpPr>
        <p:spPr>
          <a:xfrm>
            <a:off x="2981445" y="2662238"/>
            <a:ext cx="318372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825" dirty="0"/>
          </a:p>
        </p:txBody>
      </p:sp>
      <p:sp>
        <p:nvSpPr>
          <p:cNvPr id="119" name="Shape 104"/>
          <p:cNvSpPr/>
          <p:nvPr/>
        </p:nvSpPr>
        <p:spPr>
          <a:xfrm>
            <a:off x="3374113" y="2506980"/>
            <a:ext cx="1383149" cy="44196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20" name="Shape 105"/>
          <p:cNvSpPr/>
          <p:nvPr/>
        </p:nvSpPr>
        <p:spPr>
          <a:xfrm>
            <a:off x="3374113" y="2941320"/>
            <a:ext cx="138314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1" name="Text 106"/>
          <p:cNvSpPr/>
          <p:nvPr/>
        </p:nvSpPr>
        <p:spPr>
          <a:xfrm>
            <a:off x="3450313" y="2564130"/>
            <a:ext cx="13069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unused privileges flagged</a:t>
            </a:r>
            <a:endParaRPr lang="en-US" sz="900" dirty="0"/>
          </a:p>
        </p:txBody>
      </p:sp>
      <p:sp>
        <p:nvSpPr>
          <p:cNvPr id="122" name="Shape 107"/>
          <p:cNvSpPr/>
          <p:nvPr/>
        </p:nvSpPr>
        <p:spPr>
          <a:xfrm>
            <a:off x="4757262" y="2506980"/>
            <a:ext cx="1249561" cy="44196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23" name="Shape 108"/>
          <p:cNvSpPr/>
          <p:nvPr/>
        </p:nvSpPr>
        <p:spPr>
          <a:xfrm>
            <a:off x="4757262" y="2941320"/>
            <a:ext cx="124956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4" name="Text 109"/>
          <p:cNvSpPr/>
          <p:nvPr/>
        </p:nvSpPr>
        <p:spPr>
          <a:xfrm>
            <a:off x="4833462" y="2564130"/>
            <a:ext cx="11733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7.2.1</a:t>
            </a:r>
            <a:endParaRPr lang="en-US" sz="788" dirty="0"/>
          </a:p>
        </p:txBody>
      </p:sp>
      <p:sp>
        <p:nvSpPr>
          <p:cNvPr id="125" name="Shape 110"/>
          <p:cNvSpPr/>
          <p:nvPr/>
        </p:nvSpPr>
        <p:spPr>
          <a:xfrm>
            <a:off x="6006823" y="2506980"/>
            <a:ext cx="862608" cy="441960"/>
          </a:xfrm>
          <a:prstGeom prst="rect">
            <a:avLst/>
          </a:prstGeom>
          <a:solidFill>
            <a:srgbClr val="FFFDF0"/>
          </a:solidFill>
          <a:ln/>
        </p:spPr>
      </p:sp>
      <p:sp>
        <p:nvSpPr>
          <p:cNvPr id="126" name="Shape 111"/>
          <p:cNvSpPr/>
          <p:nvPr/>
        </p:nvSpPr>
        <p:spPr>
          <a:xfrm>
            <a:off x="6006823" y="2941320"/>
            <a:ext cx="8626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7" name="Shape 112"/>
          <p:cNvSpPr/>
          <p:nvPr/>
        </p:nvSpPr>
        <p:spPr>
          <a:xfrm>
            <a:off x="6083023" y="2627947"/>
            <a:ext cx="710089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8" name="Text 113"/>
          <p:cNvSpPr/>
          <p:nvPr/>
        </p:nvSpPr>
        <p:spPr>
          <a:xfrm>
            <a:off x="6157317" y="2654617"/>
            <a:ext cx="63769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↗</a:t>
            </a:r>
            <a:endParaRPr lang="en-US" sz="825" dirty="0"/>
          </a:p>
        </p:txBody>
      </p:sp>
      <p:sp>
        <p:nvSpPr>
          <p:cNvPr id="129" name="Shape 114"/>
          <p:cNvSpPr/>
          <p:nvPr/>
        </p:nvSpPr>
        <p:spPr>
          <a:xfrm>
            <a:off x="788670" y="3383279"/>
            <a:ext cx="7127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0" name="Text 115"/>
          <p:cNvSpPr/>
          <p:nvPr/>
        </p:nvSpPr>
        <p:spPr>
          <a:xfrm>
            <a:off x="864870" y="3006089"/>
            <a:ext cx="6365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8.3.6</a:t>
            </a:r>
            <a:endParaRPr lang="en-US" sz="825" dirty="0"/>
          </a:p>
        </p:txBody>
      </p:sp>
      <p:sp>
        <p:nvSpPr>
          <p:cNvPr id="131" name="Shape 116"/>
          <p:cNvSpPr/>
          <p:nvPr/>
        </p:nvSpPr>
        <p:spPr>
          <a:xfrm>
            <a:off x="1501378" y="3383279"/>
            <a:ext cx="123432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2" name="Text 117"/>
          <p:cNvSpPr/>
          <p:nvPr/>
        </p:nvSpPr>
        <p:spPr>
          <a:xfrm>
            <a:off x="1577578" y="3006089"/>
            <a:ext cx="11581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· strong</a:t>
            </a:r>
            <a:endParaRPr lang="en-US" sz="900" dirty="0"/>
          </a:p>
        </p:txBody>
      </p:sp>
      <p:sp>
        <p:nvSpPr>
          <p:cNvPr id="133" name="Shape 118"/>
          <p:cNvSpPr/>
          <p:nvPr/>
        </p:nvSpPr>
        <p:spPr>
          <a:xfrm>
            <a:off x="2735699" y="3383279"/>
            <a:ext cx="63841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4" name="Shape 119"/>
          <p:cNvSpPr/>
          <p:nvPr/>
        </p:nvSpPr>
        <p:spPr>
          <a:xfrm>
            <a:off x="2811899" y="3069906"/>
            <a:ext cx="370880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35" name="Shape 120"/>
          <p:cNvSpPr/>
          <p:nvPr/>
        </p:nvSpPr>
        <p:spPr>
          <a:xfrm>
            <a:off x="2886195" y="314134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36" name="Text 121"/>
          <p:cNvSpPr/>
          <p:nvPr/>
        </p:nvSpPr>
        <p:spPr>
          <a:xfrm>
            <a:off x="2981445" y="3104197"/>
            <a:ext cx="203239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25" dirty="0"/>
          </a:p>
        </p:txBody>
      </p:sp>
      <p:sp>
        <p:nvSpPr>
          <p:cNvPr id="137" name="Shape 122"/>
          <p:cNvSpPr/>
          <p:nvPr/>
        </p:nvSpPr>
        <p:spPr>
          <a:xfrm>
            <a:off x="3374113" y="3383279"/>
            <a:ext cx="138314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8" name="Text 123"/>
          <p:cNvSpPr/>
          <p:nvPr/>
        </p:nvSpPr>
        <p:spPr>
          <a:xfrm>
            <a:off x="3450313" y="3006089"/>
            <a:ext cx="13069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 MFA · policy attested</a:t>
            </a:r>
            <a:endParaRPr lang="en-US" sz="900" dirty="0"/>
          </a:p>
        </p:txBody>
      </p:sp>
      <p:sp>
        <p:nvSpPr>
          <p:cNvPr id="139" name="Shape 124"/>
          <p:cNvSpPr/>
          <p:nvPr/>
        </p:nvSpPr>
        <p:spPr>
          <a:xfrm>
            <a:off x="4757262" y="3383279"/>
            <a:ext cx="124956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0" name="Text 125"/>
          <p:cNvSpPr/>
          <p:nvPr/>
        </p:nvSpPr>
        <p:spPr>
          <a:xfrm>
            <a:off x="4833462" y="3006089"/>
            <a:ext cx="11733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8.3.6 · NIST IA-2</a:t>
            </a:r>
            <a:endParaRPr lang="en-US" sz="788" dirty="0"/>
          </a:p>
        </p:txBody>
      </p:sp>
      <p:sp>
        <p:nvSpPr>
          <p:cNvPr id="141" name="Shape 126"/>
          <p:cNvSpPr/>
          <p:nvPr/>
        </p:nvSpPr>
        <p:spPr>
          <a:xfrm>
            <a:off x="6006823" y="3383279"/>
            <a:ext cx="8626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2" name="Shape 127"/>
          <p:cNvSpPr/>
          <p:nvPr/>
        </p:nvSpPr>
        <p:spPr>
          <a:xfrm>
            <a:off x="6083023" y="3069906"/>
            <a:ext cx="710089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3" name="Text 128"/>
          <p:cNvSpPr/>
          <p:nvPr/>
        </p:nvSpPr>
        <p:spPr>
          <a:xfrm>
            <a:off x="6157317" y="3096576"/>
            <a:ext cx="63769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↗</a:t>
            </a:r>
            <a:endParaRPr lang="en-US" sz="825" dirty="0"/>
          </a:p>
        </p:txBody>
      </p:sp>
      <p:sp>
        <p:nvSpPr>
          <p:cNvPr id="144" name="Shape 129"/>
          <p:cNvSpPr/>
          <p:nvPr/>
        </p:nvSpPr>
        <p:spPr>
          <a:xfrm>
            <a:off x="788670" y="3785235"/>
            <a:ext cx="7127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5" name="Text 130"/>
          <p:cNvSpPr/>
          <p:nvPr/>
        </p:nvSpPr>
        <p:spPr>
          <a:xfrm>
            <a:off x="864870" y="3448050"/>
            <a:ext cx="636508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10.2.1</a:t>
            </a:r>
            <a:endParaRPr lang="en-US" sz="825" dirty="0"/>
          </a:p>
        </p:txBody>
      </p:sp>
      <p:sp>
        <p:nvSpPr>
          <p:cNvPr id="146" name="Shape 131"/>
          <p:cNvSpPr/>
          <p:nvPr/>
        </p:nvSpPr>
        <p:spPr>
          <a:xfrm>
            <a:off x="1501378" y="3785235"/>
            <a:ext cx="123432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7" name="Text 132"/>
          <p:cNvSpPr/>
          <p:nvPr/>
        </p:nvSpPr>
        <p:spPr>
          <a:xfrm>
            <a:off x="1577578" y="3448050"/>
            <a:ext cx="115812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integrity</a:t>
            </a:r>
            <a:endParaRPr lang="en-US" sz="900" dirty="0"/>
          </a:p>
        </p:txBody>
      </p:sp>
      <p:sp>
        <p:nvSpPr>
          <p:cNvPr id="148" name="Shape 133"/>
          <p:cNvSpPr/>
          <p:nvPr/>
        </p:nvSpPr>
        <p:spPr>
          <a:xfrm>
            <a:off x="2735699" y="3785235"/>
            <a:ext cx="63841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9" name="Shape 134"/>
          <p:cNvSpPr/>
          <p:nvPr/>
        </p:nvSpPr>
        <p:spPr>
          <a:xfrm>
            <a:off x="2811899" y="3491864"/>
            <a:ext cx="370880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50" name="Shape 135"/>
          <p:cNvSpPr/>
          <p:nvPr/>
        </p:nvSpPr>
        <p:spPr>
          <a:xfrm>
            <a:off x="2886195" y="3563301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51" name="Text 136"/>
          <p:cNvSpPr/>
          <p:nvPr/>
        </p:nvSpPr>
        <p:spPr>
          <a:xfrm>
            <a:off x="2981445" y="3526155"/>
            <a:ext cx="203239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25" dirty="0"/>
          </a:p>
        </p:txBody>
      </p:sp>
      <p:sp>
        <p:nvSpPr>
          <p:cNvPr id="152" name="Shape 137"/>
          <p:cNvSpPr/>
          <p:nvPr/>
        </p:nvSpPr>
        <p:spPr>
          <a:xfrm>
            <a:off x="3374113" y="3785235"/>
            <a:ext cx="138314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3" name="Text 138"/>
          <p:cNvSpPr/>
          <p:nvPr/>
        </p:nvSpPr>
        <p:spPr>
          <a:xfrm>
            <a:off x="3450313" y="3448050"/>
            <a:ext cx="130694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audit log</a:t>
            </a:r>
            <a:endParaRPr lang="en-US" sz="900" dirty="0"/>
          </a:p>
        </p:txBody>
      </p:sp>
      <p:sp>
        <p:nvSpPr>
          <p:cNvPr id="154" name="Shape 139"/>
          <p:cNvSpPr/>
          <p:nvPr/>
        </p:nvSpPr>
        <p:spPr>
          <a:xfrm>
            <a:off x="4757262" y="3785235"/>
            <a:ext cx="124956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5" name="Text 140"/>
          <p:cNvSpPr/>
          <p:nvPr/>
        </p:nvSpPr>
        <p:spPr>
          <a:xfrm>
            <a:off x="4833462" y="3448050"/>
            <a:ext cx="117336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10.2.1 · SOC2 CC7.2</a:t>
            </a:r>
            <a:endParaRPr lang="en-US" sz="788" dirty="0"/>
          </a:p>
        </p:txBody>
      </p:sp>
      <p:sp>
        <p:nvSpPr>
          <p:cNvPr id="156" name="Shape 141"/>
          <p:cNvSpPr/>
          <p:nvPr/>
        </p:nvSpPr>
        <p:spPr>
          <a:xfrm>
            <a:off x="6006823" y="3785235"/>
            <a:ext cx="8626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7" name="Shape 142"/>
          <p:cNvSpPr/>
          <p:nvPr/>
        </p:nvSpPr>
        <p:spPr>
          <a:xfrm>
            <a:off x="6083023" y="3491864"/>
            <a:ext cx="710089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58" name="Text 143"/>
          <p:cNvSpPr/>
          <p:nvPr/>
        </p:nvSpPr>
        <p:spPr>
          <a:xfrm>
            <a:off x="6157317" y="3518534"/>
            <a:ext cx="63769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↗</a:t>
            </a:r>
            <a:endParaRPr lang="en-US" sz="825" dirty="0"/>
          </a:p>
        </p:txBody>
      </p:sp>
      <p:sp>
        <p:nvSpPr>
          <p:cNvPr id="159" name="Shape 144"/>
          <p:cNvSpPr/>
          <p:nvPr/>
        </p:nvSpPr>
        <p:spPr>
          <a:xfrm>
            <a:off x="788670" y="4227195"/>
            <a:ext cx="7127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0" name="Text 145"/>
          <p:cNvSpPr/>
          <p:nvPr/>
        </p:nvSpPr>
        <p:spPr>
          <a:xfrm>
            <a:off x="864870" y="3850005"/>
            <a:ext cx="6365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11.5.1</a:t>
            </a:r>
            <a:endParaRPr lang="en-US" sz="825" dirty="0"/>
          </a:p>
        </p:txBody>
      </p:sp>
      <p:sp>
        <p:nvSpPr>
          <p:cNvPr id="161" name="Shape 146"/>
          <p:cNvSpPr/>
          <p:nvPr/>
        </p:nvSpPr>
        <p:spPr>
          <a:xfrm>
            <a:off x="1501378" y="4227195"/>
            <a:ext cx="123432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2" name="Text 147"/>
          <p:cNvSpPr/>
          <p:nvPr/>
        </p:nvSpPr>
        <p:spPr>
          <a:xfrm>
            <a:off x="1577578" y="3850005"/>
            <a:ext cx="11581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900" dirty="0"/>
          </a:p>
        </p:txBody>
      </p:sp>
      <p:sp>
        <p:nvSpPr>
          <p:cNvPr id="163" name="Shape 148"/>
          <p:cNvSpPr/>
          <p:nvPr/>
        </p:nvSpPr>
        <p:spPr>
          <a:xfrm>
            <a:off x="2735699" y="4227195"/>
            <a:ext cx="63841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4" name="Shape 149"/>
          <p:cNvSpPr/>
          <p:nvPr/>
        </p:nvSpPr>
        <p:spPr>
          <a:xfrm>
            <a:off x="2811899" y="3913822"/>
            <a:ext cx="370880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65" name="Shape 150"/>
          <p:cNvSpPr/>
          <p:nvPr/>
        </p:nvSpPr>
        <p:spPr>
          <a:xfrm>
            <a:off x="2886195" y="3985259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66" name="Text 151"/>
          <p:cNvSpPr/>
          <p:nvPr/>
        </p:nvSpPr>
        <p:spPr>
          <a:xfrm>
            <a:off x="2981445" y="3948112"/>
            <a:ext cx="203239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25" dirty="0"/>
          </a:p>
        </p:txBody>
      </p:sp>
      <p:sp>
        <p:nvSpPr>
          <p:cNvPr id="167" name="Shape 152"/>
          <p:cNvSpPr/>
          <p:nvPr/>
        </p:nvSpPr>
        <p:spPr>
          <a:xfrm>
            <a:off x="3374113" y="4227195"/>
            <a:ext cx="138314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8" name="Text 153"/>
          <p:cNvSpPr/>
          <p:nvPr/>
        </p:nvSpPr>
        <p:spPr>
          <a:xfrm>
            <a:off x="3450313" y="3850005"/>
            <a:ext cx="13069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models · 14 covered</a:t>
            </a:r>
            <a:endParaRPr lang="en-US" sz="900" dirty="0"/>
          </a:p>
        </p:txBody>
      </p:sp>
      <p:sp>
        <p:nvSpPr>
          <p:cNvPr id="169" name="Shape 154"/>
          <p:cNvSpPr/>
          <p:nvPr/>
        </p:nvSpPr>
        <p:spPr>
          <a:xfrm>
            <a:off x="4757262" y="4227195"/>
            <a:ext cx="124956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0" name="Text 155"/>
          <p:cNvSpPr/>
          <p:nvPr/>
        </p:nvSpPr>
        <p:spPr>
          <a:xfrm>
            <a:off x="4833462" y="3850005"/>
            <a:ext cx="11733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11.5.1 · NIST SI-4</a:t>
            </a:r>
            <a:endParaRPr lang="en-US" sz="788" dirty="0"/>
          </a:p>
        </p:txBody>
      </p:sp>
      <p:sp>
        <p:nvSpPr>
          <p:cNvPr id="171" name="Shape 156"/>
          <p:cNvSpPr/>
          <p:nvPr/>
        </p:nvSpPr>
        <p:spPr>
          <a:xfrm>
            <a:off x="6006823" y="4227195"/>
            <a:ext cx="8626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2" name="Shape 157"/>
          <p:cNvSpPr/>
          <p:nvPr/>
        </p:nvSpPr>
        <p:spPr>
          <a:xfrm>
            <a:off x="6083023" y="3913822"/>
            <a:ext cx="710089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3" name="Text 158"/>
          <p:cNvSpPr/>
          <p:nvPr/>
        </p:nvSpPr>
        <p:spPr>
          <a:xfrm>
            <a:off x="6157317" y="3940492"/>
            <a:ext cx="63769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↗</a:t>
            </a:r>
            <a:endParaRPr lang="en-US" sz="825" dirty="0"/>
          </a:p>
        </p:txBody>
      </p:sp>
      <p:sp>
        <p:nvSpPr>
          <p:cNvPr id="174" name="Shape 159"/>
          <p:cNvSpPr/>
          <p:nvPr/>
        </p:nvSpPr>
        <p:spPr>
          <a:xfrm>
            <a:off x="788670" y="4669154"/>
            <a:ext cx="7127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5" name="Text 160"/>
          <p:cNvSpPr/>
          <p:nvPr/>
        </p:nvSpPr>
        <p:spPr>
          <a:xfrm>
            <a:off x="864870" y="4291964"/>
            <a:ext cx="6365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12.10.1</a:t>
            </a:r>
            <a:endParaRPr lang="en-US" sz="825" dirty="0"/>
          </a:p>
        </p:txBody>
      </p:sp>
      <p:sp>
        <p:nvSpPr>
          <p:cNvPr id="176" name="Shape 161"/>
          <p:cNvSpPr/>
          <p:nvPr/>
        </p:nvSpPr>
        <p:spPr>
          <a:xfrm>
            <a:off x="1501378" y="4669154"/>
            <a:ext cx="123432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7" name="Text 162"/>
          <p:cNvSpPr/>
          <p:nvPr/>
        </p:nvSpPr>
        <p:spPr>
          <a:xfrm>
            <a:off x="1577578" y="4291964"/>
            <a:ext cx="11581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 plan</a:t>
            </a:r>
            <a:endParaRPr lang="en-US" sz="900" dirty="0"/>
          </a:p>
        </p:txBody>
      </p:sp>
      <p:sp>
        <p:nvSpPr>
          <p:cNvPr id="178" name="Shape 163"/>
          <p:cNvSpPr/>
          <p:nvPr/>
        </p:nvSpPr>
        <p:spPr>
          <a:xfrm>
            <a:off x="2735699" y="4669154"/>
            <a:ext cx="63841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9" name="Shape 164"/>
          <p:cNvSpPr/>
          <p:nvPr/>
        </p:nvSpPr>
        <p:spPr>
          <a:xfrm>
            <a:off x="2811899" y="4355781"/>
            <a:ext cx="370880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80" name="Shape 165"/>
          <p:cNvSpPr/>
          <p:nvPr/>
        </p:nvSpPr>
        <p:spPr>
          <a:xfrm>
            <a:off x="2886195" y="442721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81" name="Text 166"/>
          <p:cNvSpPr/>
          <p:nvPr/>
        </p:nvSpPr>
        <p:spPr>
          <a:xfrm>
            <a:off x="2981445" y="4390072"/>
            <a:ext cx="203239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25" dirty="0"/>
          </a:p>
        </p:txBody>
      </p:sp>
      <p:sp>
        <p:nvSpPr>
          <p:cNvPr id="182" name="Shape 167"/>
          <p:cNvSpPr/>
          <p:nvPr/>
        </p:nvSpPr>
        <p:spPr>
          <a:xfrm>
            <a:off x="3374113" y="4669154"/>
            <a:ext cx="138314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3" name="Text 168"/>
          <p:cNvSpPr/>
          <p:nvPr/>
        </p:nvSpPr>
        <p:spPr>
          <a:xfrm>
            <a:off x="3450313" y="4291964"/>
            <a:ext cx="13069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 active · 6</a:t>
            </a:r>
            <a:endParaRPr lang="en-US" sz="900" dirty="0"/>
          </a:p>
        </p:txBody>
      </p:sp>
      <p:sp>
        <p:nvSpPr>
          <p:cNvPr id="184" name="Shape 169"/>
          <p:cNvSpPr/>
          <p:nvPr/>
        </p:nvSpPr>
        <p:spPr>
          <a:xfrm>
            <a:off x="4757262" y="4669154"/>
            <a:ext cx="124956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5" name="Text 170"/>
          <p:cNvSpPr/>
          <p:nvPr/>
        </p:nvSpPr>
        <p:spPr>
          <a:xfrm>
            <a:off x="4833462" y="4291964"/>
            <a:ext cx="11733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12.10.1 · SOC2 CC7.4</a:t>
            </a:r>
            <a:endParaRPr lang="en-US" sz="788" dirty="0"/>
          </a:p>
        </p:txBody>
      </p:sp>
      <p:sp>
        <p:nvSpPr>
          <p:cNvPr id="186" name="Shape 171"/>
          <p:cNvSpPr/>
          <p:nvPr/>
        </p:nvSpPr>
        <p:spPr>
          <a:xfrm>
            <a:off x="6006823" y="4669154"/>
            <a:ext cx="8626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7" name="Shape 172"/>
          <p:cNvSpPr/>
          <p:nvPr/>
        </p:nvSpPr>
        <p:spPr>
          <a:xfrm>
            <a:off x="6083023" y="4355781"/>
            <a:ext cx="710089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8" name="Text 173"/>
          <p:cNvSpPr/>
          <p:nvPr/>
        </p:nvSpPr>
        <p:spPr>
          <a:xfrm>
            <a:off x="6157317" y="4382451"/>
            <a:ext cx="63769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↗</a:t>
            </a:r>
            <a:endParaRPr lang="en-US" sz="825" dirty="0"/>
          </a:p>
        </p:txBody>
      </p:sp>
      <p:sp>
        <p:nvSpPr>
          <p:cNvPr id="189" name="Shape 174"/>
          <p:cNvSpPr/>
          <p:nvPr/>
        </p:nvSpPr>
        <p:spPr>
          <a:xfrm>
            <a:off x="788670" y="4676775"/>
            <a:ext cx="712708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90" name="Shape 175"/>
          <p:cNvSpPr/>
          <p:nvPr/>
        </p:nvSpPr>
        <p:spPr>
          <a:xfrm>
            <a:off x="788670" y="5111115"/>
            <a:ext cx="7127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1" name="Text 176"/>
          <p:cNvSpPr/>
          <p:nvPr/>
        </p:nvSpPr>
        <p:spPr>
          <a:xfrm>
            <a:off x="864870" y="4733925"/>
            <a:ext cx="6365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A1.1.4</a:t>
            </a:r>
            <a:endParaRPr lang="en-US" sz="825" dirty="0"/>
          </a:p>
        </p:txBody>
      </p:sp>
      <p:sp>
        <p:nvSpPr>
          <p:cNvPr id="192" name="Shape 177"/>
          <p:cNvSpPr/>
          <p:nvPr/>
        </p:nvSpPr>
        <p:spPr>
          <a:xfrm>
            <a:off x="1501378" y="4676775"/>
            <a:ext cx="1234321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93" name="Shape 178"/>
          <p:cNvSpPr/>
          <p:nvPr/>
        </p:nvSpPr>
        <p:spPr>
          <a:xfrm>
            <a:off x="1501378" y="5111115"/>
            <a:ext cx="123432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4" name="Text 179"/>
          <p:cNvSpPr/>
          <p:nvPr/>
        </p:nvSpPr>
        <p:spPr>
          <a:xfrm>
            <a:off x="1577578" y="4733925"/>
            <a:ext cx="11581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service-provider segmentation</a:t>
            </a:r>
            <a:endParaRPr lang="en-US" sz="900" dirty="0"/>
          </a:p>
        </p:txBody>
      </p:sp>
      <p:sp>
        <p:nvSpPr>
          <p:cNvPr id="195" name="Shape 180"/>
          <p:cNvSpPr/>
          <p:nvPr/>
        </p:nvSpPr>
        <p:spPr>
          <a:xfrm>
            <a:off x="2735699" y="4676775"/>
            <a:ext cx="638413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96" name="Shape 181"/>
          <p:cNvSpPr/>
          <p:nvPr/>
        </p:nvSpPr>
        <p:spPr>
          <a:xfrm>
            <a:off x="2735699" y="5111115"/>
            <a:ext cx="638413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7" name="Shape 182"/>
          <p:cNvSpPr/>
          <p:nvPr/>
        </p:nvSpPr>
        <p:spPr>
          <a:xfrm>
            <a:off x="2811899" y="4797742"/>
            <a:ext cx="393025" cy="200025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98" name="Shape 183"/>
          <p:cNvSpPr/>
          <p:nvPr/>
        </p:nvSpPr>
        <p:spPr>
          <a:xfrm>
            <a:off x="2886195" y="4869180"/>
            <a:ext cx="57150" cy="571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99" name="Text 184"/>
          <p:cNvSpPr/>
          <p:nvPr/>
        </p:nvSpPr>
        <p:spPr>
          <a:xfrm>
            <a:off x="2981445" y="4832031"/>
            <a:ext cx="225385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825" dirty="0"/>
          </a:p>
        </p:txBody>
      </p:sp>
      <p:sp>
        <p:nvSpPr>
          <p:cNvPr id="200" name="Shape 185"/>
          <p:cNvSpPr/>
          <p:nvPr/>
        </p:nvSpPr>
        <p:spPr>
          <a:xfrm>
            <a:off x="3374113" y="4676775"/>
            <a:ext cx="1383149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01" name="Shape 186"/>
          <p:cNvSpPr/>
          <p:nvPr/>
        </p:nvSpPr>
        <p:spPr>
          <a:xfrm>
            <a:off x="3374113" y="5111115"/>
            <a:ext cx="138314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2" name="Text 187"/>
          <p:cNvSpPr/>
          <p:nvPr/>
        </p:nvSpPr>
        <p:spPr>
          <a:xfrm>
            <a:off x="3450313" y="4733925"/>
            <a:ext cx="13069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missing on 2 clusters</a:t>
            </a:r>
            <a:endParaRPr lang="en-US" sz="900" dirty="0"/>
          </a:p>
        </p:txBody>
      </p:sp>
      <p:sp>
        <p:nvSpPr>
          <p:cNvPr id="203" name="Shape 188"/>
          <p:cNvSpPr/>
          <p:nvPr/>
        </p:nvSpPr>
        <p:spPr>
          <a:xfrm>
            <a:off x="4757262" y="4676775"/>
            <a:ext cx="1249561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04" name="Shape 189"/>
          <p:cNvSpPr/>
          <p:nvPr/>
        </p:nvSpPr>
        <p:spPr>
          <a:xfrm>
            <a:off x="4757262" y="5111115"/>
            <a:ext cx="124956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5" name="Text 190"/>
          <p:cNvSpPr/>
          <p:nvPr/>
        </p:nvSpPr>
        <p:spPr>
          <a:xfrm>
            <a:off x="4833462" y="4733925"/>
            <a:ext cx="11733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A1.1.4</a:t>
            </a:r>
            <a:endParaRPr lang="en-US" sz="788" dirty="0"/>
          </a:p>
        </p:txBody>
      </p:sp>
      <p:sp>
        <p:nvSpPr>
          <p:cNvPr id="206" name="Shape 191"/>
          <p:cNvSpPr/>
          <p:nvPr/>
        </p:nvSpPr>
        <p:spPr>
          <a:xfrm>
            <a:off x="6006823" y="4676775"/>
            <a:ext cx="862608" cy="441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07" name="Shape 192"/>
          <p:cNvSpPr/>
          <p:nvPr/>
        </p:nvSpPr>
        <p:spPr>
          <a:xfrm>
            <a:off x="6006823" y="5111115"/>
            <a:ext cx="862608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8" name="Shape 193"/>
          <p:cNvSpPr/>
          <p:nvPr/>
        </p:nvSpPr>
        <p:spPr>
          <a:xfrm>
            <a:off x="6083023" y="4797742"/>
            <a:ext cx="710089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9" name="Text 194"/>
          <p:cNvSpPr/>
          <p:nvPr/>
        </p:nvSpPr>
        <p:spPr>
          <a:xfrm>
            <a:off x="6157317" y="4824413"/>
            <a:ext cx="63769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↗</a:t>
            </a:r>
            <a:endParaRPr lang="en-US" sz="825" dirty="0"/>
          </a:p>
        </p:txBody>
      </p:sp>
      <p:sp>
        <p:nvSpPr>
          <p:cNvPr id="210" name="Text 195"/>
          <p:cNvSpPr/>
          <p:nvPr/>
        </p:nvSpPr>
        <p:spPr>
          <a:xfrm>
            <a:off x="864870" y="5175884"/>
            <a:ext cx="6365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11.4.5</a:t>
            </a:r>
            <a:endParaRPr lang="en-US" sz="825" dirty="0"/>
          </a:p>
        </p:txBody>
      </p:sp>
      <p:sp>
        <p:nvSpPr>
          <p:cNvPr id="211" name="Text 196"/>
          <p:cNvSpPr/>
          <p:nvPr/>
        </p:nvSpPr>
        <p:spPr>
          <a:xfrm>
            <a:off x="1577578" y="5175884"/>
            <a:ext cx="11581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intrusion detection · runtime</a:t>
            </a:r>
            <a:endParaRPr lang="en-US" sz="900" dirty="0"/>
          </a:p>
        </p:txBody>
      </p:sp>
      <p:sp>
        <p:nvSpPr>
          <p:cNvPr id="212" name="Shape 197"/>
          <p:cNvSpPr/>
          <p:nvPr/>
        </p:nvSpPr>
        <p:spPr>
          <a:xfrm>
            <a:off x="2811899" y="5239701"/>
            <a:ext cx="370880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13" name="Shape 198"/>
          <p:cNvSpPr/>
          <p:nvPr/>
        </p:nvSpPr>
        <p:spPr>
          <a:xfrm>
            <a:off x="2886195" y="5311139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14" name="Text 199"/>
          <p:cNvSpPr/>
          <p:nvPr/>
        </p:nvSpPr>
        <p:spPr>
          <a:xfrm>
            <a:off x="2981445" y="5273992"/>
            <a:ext cx="203239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25" dirty="0"/>
          </a:p>
        </p:txBody>
      </p:sp>
      <p:sp>
        <p:nvSpPr>
          <p:cNvPr id="215" name="Text 200"/>
          <p:cNvSpPr/>
          <p:nvPr/>
        </p:nvSpPr>
        <p:spPr>
          <a:xfrm>
            <a:off x="3450313" y="5175884"/>
            <a:ext cx="13069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KubeArmor · 41,902 events kernel-level</a:t>
            </a:r>
            <a:endParaRPr lang="en-US" sz="900" dirty="0"/>
          </a:p>
        </p:txBody>
      </p:sp>
      <p:sp>
        <p:nvSpPr>
          <p:cNvPr id="216" name="Text 201"/>
          <p:cNvSpPr/>
          <p:nvPr/>
        </p:nvSpPr>
        <p:spPr>
          <a:xfrm>
            <a:off x="4833462" y="5175884"/>
            <a:ext cx="117336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11.4.5</a:t>
            </a:r>
            <a:endParaRPr lang="en-US" sz="788" dirty="0"/>
          </a:p>
        </p:txBody>
      </p:sp>
      <p:sp>
        <p:nvSpPr>
          <p:cNvPr id="217" name="Shape 202"/>
          <p:cNvSpPr/>
          <p:nvPr/>
        </p:nvSpPr>
        <p:spPr>
          <a:xfrm>
            <a:off x="6083023" y="5239701"/>
            <a:ext cx="710089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8" name="Text 203"/>
          <p:cNvSpPr/>
          <p:nvPr/>
        </p:nvSpPr>
        <p:spPr>
          <a:xfrm>
            <a:off x="6157317" y="5266372"/>
            <a:ext cx="63769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↗</a:t>
            </a:r>
            <a:endParaRPr lang="en-US" sz="825" dirty="0"/>
          </a:p>
        </p:txBody>
      </p:sp>
      <p:sp>
        <p:nvSpPr>
          <p:cNvPr id="219" name="Shape 204"/>
          <p:cNvSpPr/>
          <p:nvPr/>
        </p:nvSpPr>
        <p:spPr>
          <a:xfrm>
            <a:off x="7105650" y="891539"/>
            <a:ext cx="3048000" cy="1838325"/>
          </a:xfrm>
          <a:prstGeom prst="roundRect">
            <a:avLst>
              <a:gd name="adj" fmla="val 4145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20" name="Text 205"/>
          <p:cNvSpPr/>
          <p:nvPr/>
        </p:nvSpPr>
        <p:spPr>
          <a:xfrm>
            <a:off x="7227570" y="994409"/>
            <a:ext cx="28882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framework</a:t>
            </a:r>
            <a:endParaRPr lang="en-US" sz="900" dirty="0"/>
          </a:p>
        </p:txBody>
      </p:sp>
      <p:sp>
        <p:nvSpPr>
          <p:cNvPr id="221" name="Text 206"/>
          <p:cNvSpPr/>
          <p:nvPr/>
        </p:nvSpPr>
        <p:spPr>
          <a:xfrm>
            <a:off x="7227570" y="1230630"/>
            <a:ext cx="762000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Type II</a:t>
            </a:r>
            <a:endParaRPr lang="en-US" sz="863" dirty="0"/>
          </a:p>
        </p:txBody>
      </p:sp>
      <p:sp>
        <p:nvSpPr>
          <p:cNvPr id="222" name="Text 207"/>
          <p:cNvSpPr/>
          <p:nvPr/>
        </p:nvSpPr>
        <p:spPr>
          <a:xfrm>
            <a:off x="9812536" y="1230630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863" dirty="0"/>
          </a:p>
        </p:txBody>
      </p:sp>
      <p:sp>
        <p:nvSpPr>
          <p:cNvPr id="223" name="Shape 208"/>
          <p:cNvSpPr/>
          <p:nvPr/>
        </p:nvSpPr>
        <p:spPr>
          <a:xfrm>
            <a:off x="7227570" y="1383981"/>
            <a:ext cx="2804160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24" name="Shape 209"/>
          <p:cNvSpPr/>
          <p:nvPr/>
        </p:nvSpPr>
        <p:spPr>
          <a:xfrm>
            <a:off x="7227570" y="1383981"/>
            <a:ext cx="2691884" cy="4762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25" name="Text 210"/>
          <p:cNvSpPr/>
          <p:nvPr/>
        </p:nvSpPr>
        <p:spPr>
          <a:xfrm>
            <a:off x="7227570" y="1469706"/>
            <a:ext cx="69699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DSS 4.0</a:t>
            </a:r>
            <a:endParaRPr lang="en-US" sz="863" dirty="0"/>
          </a:p>
        </p:txBody>
      </p:sp>
      <p:sp>
        <p:nvSpPr>
          <p:cNvPr id="226" name="Text 211"/>
          <p:cNvSpPr/>
          <p:nvPr/>
        </p:nvSpPr>
        <p:spPr>
          <a:xfrm>
            <a:off x="9812536" y="1469706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863" dirty="0"/>
          </a:p>
        </p:txBody>
      </p:sp>
      <p:sp>
        <p:nvSpPr>
          <p:cNvPr id="227" name="Shape 212"/>
          <p:cNvSpPr/>
          <p:nvPr/>
        </p:nvSpPr>
        <p:spPr>
          <a:xfrm>
            <a:off x="7227570" y="1623059"/>
            <a:ext cx="2804160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28" name="Shape 213"/>
          <p:cNvSpPr/>
          <p:nvPr/>
        </p:nvSpPr>
        <p:spPr>
          <a:xfrm>
            <a:off x="7227570" y="1623059"/>
            <a:ext cx="2495669" cy="4762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29" name="Text 214"/>
          <p:cNvSpPr/>
          <p:nvPr/>
        </p:nvSpPr>
        <p:spPr>
          <a:xfrm>
            <a:off x="7227570" y="1708784"/>
            <a:ext cx="816650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Security</a:t>
            </a:r>
            <a:endParaRPr lang="en-US" sz="863" dirty="0"/>
          </a:p>
        </p:txBody>
      </p:sp>
      <p:sp>
        <p:nvSpPr>
          <p:cNvPr id="230" name="Text 215"/>
          <p:cNvSpPr/>
          <p:nvPr/>
        </p:nvSpPr>
        <p:spPr>
          <a:xfrm>
            <a:off x="9812536" y="1708784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863" dirty="0"/>
          </a:p>
        </p:txBody>
      </p:sp>
      <p:sp>
        <p:nvSpPr>
          <p:cNvPr id="231" name="Shape 216"/>
          <p:cNvSpPr/>
          <p:nvPr/>
        </p:nvSpPr>
        <p:spPr>
          <a:xfrm>
            <a:off x="7227570" y="1862138"/>
            <a:ext cx="2804160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32" name="Shape 217"/>
          <p:cNvSpPr/>
          <p:nvPr/>
        </p:nvSpPr>
        <p:spPr>
          <a:xfrm>
            <a:off x="7227570" y="1862138"/>
            <a:ext cx="2551747" cy="4762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33" name="Text 218"/>
          <p:cNvSpPr/>
          <p:nvPr/>
        </p:nvSpPr>
        <p:spPr>
          <a:xfrm>
            <a:off x="7227570" y="1947863"/>
            <a:ext cx="1033820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800-53 Rev. 5</a:t>
            </a:r>
            <a:endParaRPr lang="en-US" sz="863" dirty="0"/>
          </a:p>
        </p:txBody>
      </p:sp>
      <p:sp>
        <p:nvSpPr>
          <p:cNvPr id="234" name="Text 219"/>
          <p:cNvSpPr/>
          <p:nvPr/>
        </p:nvSpPr>
        <p:spPr>
          <a:xfrm>
            <a:off x="9812536" y="1947863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863" dirty="0"/>
          </a:p>
        </p:txBody>
      </p:sp>
      <p:sp>
        <p:nvSpPr>
          <p:cNvPr id="235" name="Shape 220"/>
          <p:cNvSpPr/>
          <p:nvPr/>
        </p:nvSpPr>
        <p:spPr>
          <a:xfrm>
            <a:off x="7227570" y="2101214"/>
            <a:ext cx="2804160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36" name="Shape 221"/>
          <p:cNvSpPr/>
          <p:nvPr/>
        </p:nvSpPr>
        <p:spPr>
          <a:xfrm>
            <a:off x="7227570" y="2101214"/>
            <a:ext cx="2355413" cy="476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37" name="Text 222"/>
          <p:cNvSpPr/>
          <p:nvPr/>
        </p:nvSpPr>
        <p:spPr>
          <a:xfrm>
            <a:off x="7227570" y="2186939"/>
            <a:ext cx="873800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27001:2022</a:t>
            </a:r>
            <a:endParaRPr lang="en-US" sz="863" dirty="0"/>
          </a:p>
        </p:txBody>
      </p:sp>
      <p:sp>
        <p:nvSpPr>
          <p:cNvPr id="238" name="Text 223"/>
          <p:cNvSpPr/>
          <p:nvPr/>
        </p:nvSpPr>
        <p:spPr>
          <a:xfrm>
            <a:off x="9812536" y="2186939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863" dirty="0"/>
          </a:p>
        </p:txBody>
      </p:sp>
      <p:sp>
        <p:nvSpPr>
          <p:cNvPr id="239" name="Shape 224"/>
          <p:cNvSpPr/>
          <p:nvPr/>
        </p:nvSpPr>
        <p:spPr>
          <a:xfrm>
            <a:off x="7227570" y="2340292"/>
            <a:ext cx="2804160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40" name="Shape 225"/>
          <p:cNvSpPr/>
          <p:nvPr/>
        </p:nvSpPr>
        <p:spPr>
          <a:xfrm>
            <a:off x="7227570" y="2340292"/>
            <a:ext cx="2579727" cy="4762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41" name="Text 226"/>
          <p:cNvSpPr/>
          <p:nvPr/>
        </p:nvSpPr>
        <p:spPr>
          <a:xfrm>
            <a:off x="7227570" y="2426017"/>
            <a:ext cx="1072396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FedRAMP Moderate</a:t>
            </a:r>
            <a:endParaRPr lang="en-US" sz="863" dirty="0"/>
          </a:p>
        </p:txBody>
      </p:sp>
      <p:sp>
        <p:nvSpPr>
          <p:cNvPr id="242" name="Text 227"/>
          <p:cNvSpPr/>
          <p:nvPr/>
        </p:nvSpPr>
        <p:spPr>
          <a:xfrm>
            <a:off x="9812536" y="2426017"/>
            <a:ext cx="295394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863" dirty="0"/>
          </a:p>
        </p:txBody>
      </p:sp>
      <p:sp>
        <p:nvSpPr>
          <p:cNvPr id="243" name="Shape 228"/>
          <p:cNvSpPr/>
          <p:nvPr/>
        </p:nvSpPr>
        <p:spPr>
          <a:xfrm>
            <a:off x="7227570" y="2579368"/>
            <a:ext cx="2804160" cy="47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44" name="Shape 229"/>
          <p:cNvSpPr/>
          <p:nvPr/>
        </p:nvSpPr>
        <p:spPr>
          <a:xfrm>
            <a:off x="7227570" y="2579368"/>
            <a:ext cx="2187178" cy="476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45" name="Shape 230"/>
          <p:cNvSpPr/>
          <p:nvPr/>
        </p:nvSpPr>
        <p:spPr>
          <a:xfrm>
            <a:off x="7105650" y="2806064"/>
            <a:ext cx="3048000" cy="1024890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46" name="Text 231"/>
          <p:cNvSpPr/>
          <p:nvPr/>
        </p:nvSpPr>
        <p:spPr>
          <a:xfrm>
            <a:off x="7227570" y="2908934"/>
            <a:ext cx="28882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 view</a:t>
            </a:r>
            <a:endParaRPr lang="en-US" sz="900" dirty="0"/>
          </a:p>
        </p:txBody>
      </p:sp>
      <p:sp>
        <p:nvSpPr>
          <p:cNvPr id="247" name="Text 232"/>
          <p:cNvSpPr/>
          <p:nvPr/>
        </p:nvSpPr>
        <p:spPr>
          <a:xfrm>
            <a:off x="7227570" y="3145155"/>
            <a:ext cx="2888285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sharable link. evidence served on demand, mapped to the controls the auditor selects.</a:t>
            </a:r>
            <a:endParaRPr lang="en-US" sz="863" dirty="0"/>
          </a:p>
        </p:txBody>
      </p:sp>
      <p:sp>
        <p:nvSpPr>
          <p:cNvPr id="248" name="Shape 233"/>
          <p:cNvSpPr/>
          <p:nvPr/>
        </p:nvSpPr>
        <p:spPr>
          <a:xfrm>
            <a:off x="7227570" y="3528059"/>
            <a:ext cx="59436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9" name="Text 234"/>
          <p:cNvSpPr/>
          <p:nvPr/>
        </p:nvSpPr>
        <p:spPr>
          <a:xfrm>
            <a:off x="7301865" y="3554730"/>
            <a:ext cx="5219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link</a:t>
            </a:r>
            <a:endParaRPr lang="en-US" sz="825" dirty="0"/>
          </a:p>
        </p:txBody>
      </p:sp>
      <p:sp>
        <p:nvSpPr>
          <p:cNvPr id="250" name="Shape 235"/>
          <p:cNvSpPr/>
          <p:nvPr/>
        </p:nvSpPr>
        <p:spPr>
          <a:xfrm>
            <a:off x="7860031" y="3528059"/>
            <a:ext cx="632460" cy="200025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1" name="Text 236"/>
          <p:cNvSpPr/>
          <p:nvPr/>
        </p:nvSpPr>
        <p:spPr>
          <a:xfrm>
            <a:off x="7934325" y="3554730"/>
            <a:ext cx="56007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expiry</a:t>
            </a:r>
            <a:endParaRPr lang="en-US" sz="825" dirty="0"/>
          </a:p>
        </p:txBody>
      </p:sp>
      <p:sp>
        <p:nvSpPr>
          <p:cNvPr id="252" name="Shape 237"/>
          <p:cNvSpPr/>
          <p:nvPr/>
        </p:nvSpPr>
        <p:spPr>
          <a:xfrm>
            <a:off x="7105650" y="3907155"/>
            <a:ext cx="2072640" cy="401955"/>
          </a:xfrm>
          <a:prstGeom prst="roundRect">
            <a:avLst>
              <a:gd name="adj" fmla="val 9479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253" name="Text 238"/>
          <p:cNvSpPr/>
          <p:nvPr/>
        </p:nvSpPr>
        <p:spPr>
          <a:xfrm>
            <a:off x="7189470" y="3971925"/>
            <a:ext cx="1981200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kernel block satisfies PCI 1.4.1 + NIST AC-4 + SOC2 CC6.6.</a:t>
            </a:r>
            <a:endParaRPr lang="en-US" sz="8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" cy="666750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0"/>
            <a:ext cx="9525" cy="66675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0016" y="952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79784" y="151447"/>
            <a:ext cx="242411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-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6" y="600075"/>
            <a:ext cx="171450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6" y="962025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6" y="1323975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6" y="1685925"/>
            <a:ext cx="171450" cy="171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6" y="2047875"/>
            <a:ext cx="171450" cy="1714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6" y="2409825"/>
            <a:ext cx="171450" cy="171450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6" y="2771775"/>
            <a:ext cx="171450" cy="171450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6" y="3133725"/>
            <a:ext cx="171450" cy="171450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91441" y="34099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</p:sp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6" y="3495675"/>
            <a:ext cx="171450" cy="171450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33400" y="0"/>
            <a:ext cx="9753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6"/>
          <p:cNvSpPr/>
          <p:nvPr/>
        </p:nvSpPr>
        <p:spPr>
          <a:xfrm>
            <a:off x="533400" y="449580"/>
            <a:ext cx="97536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7"/>
          <p:cNvSpPr/>
          <p:nvPr/>
        </p:nvSpPr>
        <p:spPr>
          <a:xfrm>
            <a:off x="685800" y="131443"/>
            <a:ext cx="194024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· autonomy · access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2626042" y="144780"/>
            <a:ext cx="114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2734033" y="144780"/>
            <a:ext cx="184892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how autonomous, by whom</a:t>
            </a:r>
            <a:endParaRPr lang="en-US" sz="900" dirty="0"/>
          </a:p>
        </p:txBody>
      </p:sp>
      <p:sp>
        <p:nvSpPr>
          <p:cNvPr id="21" name="Shape 10"/>
          <p:cNvSpPr/>
          <p:nvPr/>
        </p:nvSpPr>
        <p:spPr>
          <a:xfrm>
            <a:off x="4659155" y="74293"/>
            <a:ext cx="2831783" cy="300990"/>
          </a:xfrm>
          <a:prstGeom prst="roundRect">
            <a:avLst>
              <a:gd name="adj" fmla="val 18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023" y="167639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933473" y="144780"/>
            <a:ext cx="1969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entities, IPs, hashes, cases…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7643336" y="108584"/>
            <a:ext cx="93702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156" y="167639"/>
            <a:ext cx="114300" cy="1143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879556" y="152400"/>
            <a:ext cx="693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7" name="Shape 14"/>
          <p:cNvSpPr/>
          <p:nvPr/>
        </p:nvSpPr>
        <p:spPr>
          <a:xfrm>
            <a:off x="8656558" y="108584"/>
            <a:ext cx="777002" cy="232410"/>
          </a:xfrm>
          <a:prstGeom prst="roundRect">
            <a:avLst>
              <a:gd name="adj" fmla="val 2459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0378" y="167639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892778" y="152400"/>
            <a:ext cx="533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24h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9509761" y="131443"/>
            <a:ext cx="281940" cy="186690"/>
          </a:xfrm>
          <a:prstGeom prst="roundRect">
            <a:avLst>
              <a:gd name="adj" fmla="val 3061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3580" y="167639"/>
            <a:ext cx="114300" cy="11430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9688830" y="100964"/>
            <a:ext cx="133350" cy="1333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18"/>
          <p:cNvSpPr/>
          <p:nvPr/>
        </p:nvSpPr>
        <p:spPr>
          <a:xfrm>
            <a:off x="9729311" y="107631"/>
            <a:ext cx="12858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34" name="Shape 19"/>
          <p:cNvSpPr/>
          <p:nvPr/>
        </p:nvSpPr>
        <p:spPr>
          <a:xfrm>
            <a:off x="9867900" y="91439"/>
            <a:ext cx="266700" cy="2667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0"/>
          <p:cNvSpPr/>
          <p:nvPr/>
        </p:nvSpPr>
        <p:spPr>
          <a:xfrm>
            <a:off x="9921718" y="144780"/>
            <a:ext cx="2352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33400" y="457200"/>
            <a:ext cx="9753600" cy="621030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22"/>
          <p:cNvSpPr/>
          <p:nvPr/>
        </p:nvSpPr>
        <p:spPr>
          <a:xfrm>
            <a:off x="666750" y="613409"/>
            <a:ext cx="236922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without complexity</a:t>
            </a:r>
            <a:endParaRPr lang="en-US" sz="1350" dirty="0"/>
          </a:p>
        </p:txBody>
      </p:sp>
      <p:sp>
        <p:nvSpPr>
          <p:cNvPr id="38" name="Shape 23"/>
          <p:cNvSpPr/>
          <p:nvPr/>
        </p:nvSpPr>
        <p:spPr>
          <a:xfrm>
            <a:off x="7328415" y="616267"/>
            <a:ext cx="1182529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7402711" y="6877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0" name="Text 25"/>
          <p:cNvSpPr/>
          <p:nvPr/>
        </p:nvSpPr>
        <p:spPr>
          <a:xfrm>
            <a:off x="7497961" y="642938"/>
            <a:ext cx="101488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posture · balanced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8568096" y="590550"/>
            <a:ext cx="1069658" cy="25146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Text 27"/>
          <p:cNvSpPr/>
          <p:nvPr/>
        </p:nvSpPr>
        <p:spPr>
          <a:xfrm>
            <a:off x="8670966" y="636268"/>
            <a:ext cx="94011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posture</a:t>
            </a:r>
            <a:endParaRPr lang="en-US" sz="900" dirty="0"/>
          </a:p>
        </p:txBody>
      </p:sp>
      <p:sp>
        <p:nvSpPr>
          <p:cNvPr id="43" name="Shape 28"/>
          <p:cNvSpPr/>
          <p:nvPr/>
        </p:nvSpPr>
        <p:spPr>
          <a:xfrm>
            <a:off x="9694904" y="590550"/>
            <a:ext cx="458748" cy="25146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4" name="Text 29"/>
          <p:cNvSpPr/>
          <p:nvPr/>
        </p:nvSpPr>
        <p:spPr>
          <a:xfrm>
            <a:off x="9797772" y="636268"/>
            <a:ext cx="32920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900" dirty="0"/>
          </a:p>
        </p:txBody>
      </p:sp>
      <p:sp>
        <p:nvSpPr>
          <p:cNvPr id="45" name="Shape 30"/>
          <p:cNvSpPr/>
          <p:nvPr/>
        </p:nvSpPr>
        <p:spPr>
          <a:xfrm>
            <a:off x="666750" y="937259"/>
            <a:ext cx="5048369" cy="6653214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6" name="Text 31"/>
          <p:cNvSpPr/>
          <p:nvPr/>
        </p:nvSpPr>
        <p:spPr>
          <a:xfrm>
            <a:off x="788670" y="1040130"/>
            <a:ext cx="494866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by action class</a:t>
            </a:r>
            <a:endParaRPr lang="en-US" sz="900" dirty="0"/>
          </a:p>
        </p:txBody>
      </p:sp>
      <p:sp>
        <p:nvSpPr>
          <p:cNvPr id="47" name="Shape 32"/>
          <p:cNvSpPr/>
          <p:nvPr/>
        </p:nvSpPr>
        <p:spPr>
          <a:xfrm>
            <a:off x="788670" y="1276350"/>
            <a:ext cx="4804529" cy="822008"/>
          </a:xfrm>
          <a:prstGeom prst="roundRect">
            <a:avLst>
              <a:gd name="adj" fmla="val 927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48" name="Text 33"/>
          <p:cNvSpPr/>
          <p:nvPr/>
        </p:nvSpPr>
        <p:spPr>
          <a:xfrm>
            <a:off x="891541" y="1379218"/>
            <a:ext cx="243399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auto-close confirmed false positives</a:t>
            </a:r>
            <a:endParaRPr lang="en-US" sz="1050" dirty="0"/>
          </a:p>
        </p:txBody>
      </p:sp>
      <p:sp>
        <p:nvSpPr>
          <p:cNvPr id="49" name="Text 34"/>
          <p:cNvSpPr/>
          <p:nvPr/>
        </p:nvSpPr>
        <p:spPr>
          <a:xfrm>
            <a:off x="891541" y="1565909"/>
            <a:ext cx="243399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reaches human queue</a:t>
            </a:r>
            <a:endParaRPr lang="en-US" sz="825" dirty="0"/>
          </a:p>
        </p:txBody>
      </p:sp>
      <p:sp>
        <p:nvSpPr>
          <p:cNvPr id="50" name="Shape 35"/>
          <p:cNvSpPr/>
          <p:nvPr/>
        </p:nvSpPr>
        <p:spPr>
          <a:xfrm>
            <a:off x="5017294" y="1445893"/>
            <a:ext cx="473035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51" name="Shape 36"/>
          <p:cNvSpPr/>
          <p:nvPr/>
        </p:nvSpPr>
        <p:spPr>
          <a:xfrm>
            <a:off x="5091589" y="1517331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2" name="Text 37"/>
          <p:cNvSpPr/>
          <p:nvPr/>
        </p:nvSpPr>
        <p:spPr>
          <a:xfrm>
            <a:off x="5186839" y="1480184"/>
            <a:ext cx="305395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825" dirty="0"/>
          </a:p>
        </p:txBody>
      </p:sp>
      <p:sp>
        <p:nvSpPr>
          <p:cNvPr id="53" name="Shape 38"/>
          <p:cNvSpPr/>
          <p:nvPr/>
        </p:nvSpPr>
        <p:spPr>
          <a:xfrm>
            <a:off x="891541" y="1788793"/>
            <a:ext cx="588169" cy="2066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54" name="Text 39"/>
          <p:cNvSpPr/>
          <p:nvPr/>
        </p:nvSpPr>
        <p:spPr>
          <a:xfrm>
            <a:off x="994411" y="1815463"/>
            <a:ext cx="45862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863" dirty="0"/>
          </a:p>
        </p:txBody>
      </p:sp>
      <p:sp>
        <p:nvSpPr>
          <p:cNvPr id="55" name="Shape 40"/>
          <p:cNvSpPr/>
          <p:nvPr/>
        </p:nvSpPr>
        <p:spPr>
          <a:xfrm>
            <a:off x="1517810" y="1788793"/>
            <a:ext cx="567452" cy="2066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56" name="Text 41"/>
          <p:cNvSpPr/>
          <p:nvPr/>
        </p:nvSpPr>
        <p:spPr>
          <a:xfrm>
            <a:off x="1620680" y="1815463"/>
            <a:ext cx="43791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863" dirty="0"/>
          </a:p>
        </p:txBody>
      </p:sp>
      <p:sp>
        <p:nvSpPr>
          <p:cNvPr id="57" name="Shape 42"/>
          <p:cNvSpPr/>
          <p:nvPr/>
        </p:nvSpPr>
        <p:spPr>
          <a:xfrm>
            <a:off x="2123361" y="1788793"/>
            <a:ext cx="448032" cy="206693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58" name="Text 43"/>
          <p:cNvSpPr/>
          <p:nvPr/>
        </p:nvSpPr>
        <p:spPr>
          <a:xfrm>
            <a:off x="2226231" y="1815463"/>
            <a:ext cx="31849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63" dirty="0"/>
          </a:p>
        </p:txBody>
      </p:sp>
      <p:sp>
        <p:nvSpPr>
          <p:cNvPr id="59" name="Text 44"/>
          <p:cNvSpPr/>
          <p:nvPr/>
        </p:nvSpPr>
        <p:spPr>
          <a:xfrm>
            <a:off x="4586169" y="1815464"/>
            <a:ext cx="45886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conf ≥</a:t>
            </a:r>
            <a:endParaRPr lang="en-US" sz="863" dirty="0"/>
          </a:p>
        </p:txBody>
      </p:sp>
      <p:sp>
        <p:nvSpPr>
          <p:cNvPr id="60" name="Shape 45"/>
          <p:cNvSpPr/>
          <p:nvPr/>
        </p:nvSpPr>
        <p:spPr>
          <a:xfrm>
            <a:off x="5006936" y="1792128"/>
            <a:ext cx="48339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1" name="Shape 46"/>
          <p:cNvSpPr/>
          <p:nvPr/>
        </p:nvSpPr>
        <p:spPr>
          <a:xfrm>
            <a:off x="5081232" y="186356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2" name="Text 47"/>
          <p:cNvSpPr/>
          <p:nvPr/>
        </p:nvSpPr>
        <p:spPr>
          <a:xfrm>
            <a:off x="5176482" y="1826419"/>
            <a:ext cx="315753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825" dirty="0"/>
          </a:p>
        </p:txBody>
      </p:sp>
      <p:sp>
        <p:nvSpPr>
          <p:cNvPr id="63" name="Shape 48"/>
          <p:cNvSpPr/>
          <p:nvPr/>
        </p:nvSpPr>
        <p:spPr>
          <a:xfrm>
            <a:off x="788670" y="2174556"/>
            <a:ext cx="4804529" cy="822008"/>
          </a:xfrm>
          <a:prstGeom prst="roundRect">
            <a:avLst>
              <a:gd name="adj" fmla="val 927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64" name="Text 49"/>
          <p:cNvSpPr/>
          <p:nvPr/>
        </p:nvSpPr>
        <p:spPr>
          <a:xfrm>
            <a:off x="891541" y="2277426"/>
            <a:ext cx="234565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compromised okta sessions</a:t>
            </a:r>
            <a:endParaRPr lang="en-US" sz="1050" dirty="0"/>
          </a:p>
        </p:txBody>
      </p:sp>
      <p:sp>
        <p:nvSpPr>
          <p:cNvPr id="65" name="Text 50"/>
          <p:cNvSpPr/>
          <p:nvPr/>
        </p:nvSpPr>
        <p:spPr>
          <a:xfrm>
            <a:off x="891541" y="2464117"/>
            <a:ext cx="234565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· re-auth required</a:t>
            </a:r>
            <a:endParaRPr lang="en-US" sz="825" dirty="0"/>
          </a:p>
        </p:txBody>
      </p:sp>
      <p:sp>
        <p:nvSpPr>
          <p:cNvPr id="66" name="Shape 51"/>
          <p:cNvSpPr/>
          <p:nvPr/>
        </p:nvSpPr>
        <p:spPr>
          <a:xfrm>
            <a:off x="5017294" y="2344101"/>
            <a:ext cx="473035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67" name="Shape 52"/>
          <p:cNvSpPr/>
          <p:nvPr/>
        </p:nvSpPr>
        <p:spPr>
          <a:xfrm>
            <a:off x="5091589" y="2415539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8" name="Text 53"/>
          <p:cNvSpPr/>
          <p:nvPr/>
        </p:nvSpPr>
        <p:spPr>
          <a:xfrm>
            <a:off x="5186839" y="2378392"/>
            <a:ext cx="305395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825" dirty="0"/>
          </a:p>
        </p:txBody>
      </p:sp>
      <p:sp>
        <p:nvSpPr>
          <p:cNvPr id="69" name="Shape 54"/>
          <p:cNvSpPr/>
          <p:nvPr/>
        </p:nvSpPr>
        <p:spPr>
          <a:xfrm>
            <a:off x="891541" y="2687001"/>
            <a:ext cx="588169" cy="2066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70" name="Text 55"/>
          <p:cNvSpPr/>
          <p:nvPr/>
        </p:nvSpPr>
        <p:spPr>
          <a:xfrm>
            <a:off x="994411" y="2713671"/>
            <a:ext cx="45862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863" dirty="0"/>
          </a:p>
        </p:txBody>
      </p:sp>
      <p:sp>
        <p:nvSpPr>
          <p:cNvPr id="71" name="Shape 56"/>
          <p:cNvSpPr/>
          <p:nvPr/>
        </p:nvSpPr>
        <p:spPr>
          <a:xfrm>
            <a:off x="1517810" y="2687001"/>
            <a:ext cx="567452" cy="2066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72" name="Text 57"/>
          <p:cNvSpPr/>
          <p:nvPr/>
        </p:nvSpPr>
        <p:spPr>
          <a:xfrm>
            <a:off x="1620680" y="2713671"/>
            <a:ext cx="43791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863" dirty="0"/>
          </a:p>
        </p:txBody>
      </p:sp>
      <p:sp>
        <p:nvSpPr>
          <p:cNvPr id="73" name="Shape 58"/>
          <p:cNvSpPr/>
          <p:nvPr/>
        </p:nvSpPr>
        <p:spPr>
          <a:xfrm>
            <a:off x="2123361" y="2687001"/>
            <a:ext cx="448032" cy="206693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74" name="Text 59"/>
          <p:cNvSpPr/>
          <p:nvPr/>
        </p:nvSpPr>
        <p:spPr>
          <a:xfrm>
            <a:off x="2226231" y="2713671"/>
            <a:ext cx="31849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63" dirty="0"/>
          </a:p>
        </p:txBody>
      </p:sp>
      <p:sp>
        <p:nvSpPr>
          <p:cNvPr id="75" name="Text 60"/>
          <p:cNvSpPr/>
          <p:nvPr/>
        </p:nvSpPr>
        <p:spPr>
          <a:xfrm>
            <a:off x="4577953" y="2713672"/>
            <a:ext cx="45886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conf ≥</a:t>
            </a:r>
            <a:endParaRPr lang="en-US" sz="863" dirty="0"/>
          </a:p>
        </p:txBody>
      </p:sp>
      <p:sp>
        <p:nvSpPr>
          <p:cNvPr id="76" name="Shape 61"/>
          <p:cNvSpPr/>
          <p:nvPr/>
        </p:nvSpPr>
        <p:spPr>
          <a:xfrm>
            <a:off x="4998720" y="2690336"/>
            <a:ext cx="491609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7" name="Shape 62"/>
          <p:cNvSpPr/>
          <p:nvPr/>
        </p:nvSpPr>
        <p:spPr>
          <a:xfrm>
            <a:off x="5073016" y="276177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8" name="Text 63"/>
          <p:cNvSpPr/>
          <p:nvPr/>
        </p:nvSpPr>
        <p:spPr>
          <a:xfrm>
            <a:off x="5168266" y="2724624"/>
            <a:ext cx="323969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825" dirty="0"/>
          </a:p>
        </p:txBody>
      </p:sp>
      <p:sp>
        <p:nvSpPr>
          <p:cNvPr id="79" name="Shape 64"/>
          <p:cNvSpPr/>
          <p:nvPr/>
        </p:nvSpPr>
        <p:spPr>
          <a:xfrm>
            <a:off x="788670" y="3072764"/>
            <a:ext cx="4804529" cy="822008"/>
          </a:xfrm>
          <a:prstGeom prst="roundRect">
            <a:avLst>
              <a:gd name="adj" fmla="val 927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80" name="Text 65"/>
          <p:cNvSpPr/>
          <p:nvPr/>
        </p:nvSpPr>
        <p:spPr>
          <a:xfrm>
            <a:off x="891541" y="3175634"/>
            <a:ext cx="162722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 phishing mail</a:t>
            </a:r>
            <a:endParaRPr lang="en-US" sz="1050" dirty="0"/>
          </a:p>
        </p:txBody>
      </p:sp>
      <p:sp>
        <p:nvSpPr>
          <p:cNvPr id="81" name="Text 66"/>
          <p:cNvSpPr/>
          <p:nvPr/>
        </p:nvSpPr>
        <p:spPr>
          <a:xfrm>
            <a:off x="891541" y="3362325"/>
            <a:ext cx="162722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· journal preserved</a:t>
            </a:r>
            <a:endParaRPr lang="en-US" sz="825" dirty="0"/>
          </a:p>
        </p:txBody>
      </p:sp>
      <p:sp>
        <p:nvSpPr>
          <p:cNvPr id="82" name="Shape 67"/>
          <p:cNvSpPr/>
          <p:nvPr/>
        </p:nvSpPr>
        <p:spPr>
          <a:xfrm>
            <a:off x="5017294" y="3242309"/>
            <a:ext cx="473035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83" name="Shape 68"/>
          <p:cNvSpPr/>
          <p:nvPr/>
        </p:nvSpPr>
        <p:spPr>
          <a:xfrm>
            <a:off x="5091589" y="3313747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4" name="Text 69"/>
          <p:cNvSpPr/>
          <p:nvPr/>
        </p:nvSpPr>
        <p:spPr>
          <a:xfrm>
            <a:off x="5186839" y="3276600"/>
            <a:ext cx="305395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825" dirty="0"/>
          </a:p>
        </p:txBody>
      </p:sp>
      <p:sp>
        <p:nvSpPr>
          <p:cNvPr id="85" name="Shape 70"/>
          <p:cNvSpPr/>
          <p:nvPr/>
        </p:nvSpPr>
        <p:spPr>
          <a:xfrm>
            <a:off x="891541" y="3585209"/>
            <a:ext cx="588169" cy="2066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86" name="Text 71"/>
          <p:cNvSpPr/>
          <p:nvPr/>
        </p:nvSpPr>
        <p:spPr>
          <a:xfrm>
            <a:off x="994411" y="3611879"/>
            <a:ext cx="45862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863" dirty="0"/>
          </a:p>
        </p:txBody>
      </p:sp>
      <p:sp>
        <p:nvSpPr>
          <p:cNvPr id="87" name="Shape 72"/>
          <p:cNvSpPr/>
          <p:nvPr/>
        </p:nvSpPr>
        <p:spPr>
          <a:xfrm>
            <a:off x="1517810" y="3585209"/>
            <a:ext cx="567452" cy="2066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88" name="Text 73"/>
          <p:cNvSpPr/>
          <p:nvPr/>
        </p:nvSpPr>
        <p:spPr>
          <a:xfrm>
            <a:off x="1620680" y="3611879"/>
            <a:ext cx="43791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863" dirty="0"/>
          </a:p>
        </p:txBody>
      </p:sp>
      <p:sp>
        <p:nvSpPr>
          <p:cNvPr id="89" name="Shape 74"/>
          <p:cNvSpPr/>
          <p:nvPr/>
        </p:nvSpPr>
        <p:spPr>
          <a:xfrm>
            <a:off x="2123361" y="3585209"/>
            <a:ext cx="448032" cy="206693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90" name="Text 75"/>
          <p:cNvSpPr/>
          <p:nvPr/>
        </p:nvSpPr>
        <p:spPr>
          <a:xfrm>
            <a:off x="2226231" y="3611879"/>
            <a:ext cx="31849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63" dirty="0"/>
          </a:p>
        </p:txBody>
      </p:sp>
      <p:sp>
        <p:nvSpPr>
          <p:cNvPr id="91" name="Text 76"/>
          <p:cNvSpPr/>
          <p:nvPr/>
        </p:nvSpPr>
        <p:spPr>
          <a:xfrm>
            <a:off x="4586169" y="3611880"/>
            <a:ext cx="45886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conf ≥</a:t>
            </a:r>
            <a:endParaRPr lang="en-US" sz="863" dirty="0"/>
          </a:p>
        </p:txBody>
      </p:sp>
      <p:sp>
        <p:nvSpPr>
          <p:cNvPr id="92" name="Shape 77"/>
          <p:cNvSpPr/>
          <p:nvPr/>
        </p:nvSpPr>
        <p:spPr>
          <a:xfrm>
            <a:off x="5006936" y="3588544"/>
            <a:ext cx="483394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3" name="Shape 78"/>
          <p:cNvSpPr/>
          <p:nvPr/>
        </p:nvSpPr>
        <p:spPr>
          <a:xfrm>
            <a:off x="5081232" y="3659981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94" name="Text 79"/>
          <p:cNvSpPr/>
          <p:nvPr/>
        </p:nvSpPr>
        <p:spPr>
          <a:xfrm>
            <a:off x="5176482" y="3622832"/>
            <a:ext cx="315753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825" dirty="0"/>
          </a:p>
        </p:txBody>
      </p:sp>
      <p:sp>
        <p:nvSpPr>
          <p:cNvPr id="95" name="Shape 80"/>
          <p:cNvSpPr/>
          <p:nvPr/>
        </p:nvSpPr>
        <p:spPr>
          <a:xfrm>
            <a:off x="788670" y="3970972"/>
            <a:ext cx="4804529" cy="822008"/>
          </a:xfrm>
          <a:prstGeom prst="roundRect">
            <a:avLst>
              <a:gd name="adj" fmla="val 927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96" name="Text 81"/>
          <p:cNvSpPr/>
          <p:nvPr/>
        </p:nvSpPr>
        <p:spPr>
          <a:xfrm>
            <a:off x="891541" y="4073842"/>
            <a:ext cx="2283381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egress at the kernel</a:t>
            </a:r>
            <a:endParaRPr lang="en-US" sz="1050" dirty="0"/>
          </a:p>
        </p:txBody>
      </p:sp>
      <p:sp>
        <p:nvSpPr>
          <p:cNvPr id="97" name="Text 82"/>
          <p:cNvSpPr/>
          <p:nvPr/>
        </p:nvSpPr>
        <p:spPr>
          <a:xfrm>
            <a:off x="891541" y="4260531"/>
            <a:ext cx="228338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enforcement · ★ approval recommended</a:t>
            </a:r>
            <a:endParaRPr lang="en-US" sz="825" dirty="0"/>
          </a:p>
        </p:txBody>
      </p:sp>
      <p:sp>
        <p:nvSpPr>
          <p:cNvPr id="98" name="Shape 83"/>
          <p:cNvSpPr/>
          <p:nvPr/>
        </p:nvSpPr>
        <p:spPr>
          <a:xfrm>
            <a:off x="4938117" y="4140517"/>
            <a:ext cx="55221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99" name="Shape 84"/>
          <p:cNvSpPr/>
          <p:nvPr/>
        </p:nvSpPr>
        <p:spPr>
          <a:xfrm>
            <a:off x="5012413" y="421195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00" name="Text 85"/>
          <p:cNvSpPr/>
          <p:nvPr/>
        </p:nvSpPr>
        <p:spPr>
          <a:xfrm>
            <a:off x="5107663" y="4174806"/>
            <a:ext cx="384572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825" dirty="0"/>
          </a:p>
        </p:txBody>
      </p:sp>
      <p:sp>
        <p:nvSpPr>
          <p:cNvPr id="101" name="Shape 86"/>
          <p:cNvSpPr/>
          <p:nvPr/>
        </p:nvSpPr>
        <p:spPr>
          <a:xfrm>
            <a:off x="891541" y="4483417"/>
            <a:ext cx="588169" cy="2066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102" name="Text 87"/>
          <p:cNvSpPr/>
          <p:nvPr/>
        </p:nvSpPr>
        <p:spPr>
          <a:xfrm>
            <a:off x="994411" y="4510087"/>
            <a:ext cx="45862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863" dirty="0"/>
          </a:p>
        </p:txBody>
      </p:sp>
      <p:sp>
        <p:nvSpPr>
          <p:cNvPr id="103" name="Shape 88"/>
          <p:cNvSpPr/>
          <p:nvPr/>
        </p:nvSpPr>
        <p:spPr>
          <a:xfrm>
            <a:off x="1517810" y="4483417"/>
            <a:ext cx="567452" cy="206693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104" name="Text 89"/>
          <p:cNvSpPr/>
          <p:nvPr/>
        </p:nvSpPr>
        <p:spPr>
          <a:xfrm>
            <a:off x="1620680" y="4510087"/>
            <a:ext cx="43791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863" dirty="0"/>
          </a:p>
        </p:txBody>
      </p:sp>
      <p:sp>
        <p:nvSpPr>
          <p:cNvPr id="105" name="Shape 90"/>
          <p:cNvSpPr/>
          <p:nvPr/>
        </p:nvSpPr>
        <p:spPr>
          <a:xfrm>
            <a:off x="2123361" y="4483417"/>
            <a:ext cx="448032" cy="2066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106" name="Text 91"/>
          <p:cNvSpPr/>
          <p:nvPr/>
        </p:nvSpPr>
        <p:spPr>
          <a:xfrm>
            <a:off x="2226231" y="4510087"/>
            <a:ext cx="31849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63" dirty="0"/>
          </a:p>
        </p:txBody>
      </p:sp>
      <p:sp>
        <p:nvSpPr>
          <p:cNvPr id="107" name="Text 92"/>
          <p:cNvSpPr/>
          <p:nvPr/>
        </p:nvSpPr>
        <p:spPr>
          <a:xfrm>
            <a:off x="4577953" y="4510088"/>
            <a:ext cx="45886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conf ≥</a:t>
            </a:r>
            <a:endParaRPr lang="en-US" sz="863" dirty="0"/>
          </a:p>
        </p:txBody>
      </p:sp>
      <p:sp>
        <p:nvSpPr>
          <p:cNvPr id="108" name="Shape 93"/>
          <p:cNvSpPr/>
          <p:nvPr/>
        </p:nvSpPr>
        <p:spPr>
          <a:xfrm>
            <a:off x="4998720" y="4486749"/>
            <a:ext cx="491609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9" name="Shape 94"/>
          <p:cNvSpPr/>
          <p:nvPr/>
        </p:nvSpPr>
        <p:spPr>
          <a:xfrm>
            <a:off x="5073016" y="4558187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10" name="Text 95"/>
          <p:cNvSpPr/>
          <p:nvPr/>
        </p:nvSpPr>
        <p:spPr>
          <a:xfrm>
            <a:off x="5168266" y="4521040"/>
            <a:ext cx="323969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825" dirty="0"/>
          </a:p>
        </p:txBody>
      </p:sp>
      <p:sp>
        <p:nvSpPr>
          <p:cNvPr id="111" name="Shape 96"/>
          <p:cNvSpPr/>
          <p:nvPr/>
        </p:nvSpPr>
        <p:spPr>
          <a:xfrm>
            <a:off x="788670" y="4869180"/>
            <a:ext cx="4804529" cy="822008"/>
          </a:xfrm>
          <a:prstGeom prst="roundRect">
            <a:avLst>
              <a:gd name="adj" fmla="val 927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12" name="Text 97"/>
          <p:cNvSpPr/>
          <p:nvPr/>
        </p:nvSpPr>
        <p:spPr>
          <a:xfrm>
            <a:off x="891541" y="4972050"/>
            <a:ext cx="206168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AI agent · drop to ro fs</a:t>
            </a:r>
            <a:endParaRPr lang="en-US" sz="1050" dirty="0"/>
          </a:p>
        </p:txBody>
      </p:sp>
      <p:sp>
        <p:nvSpPr>
          <p:cNvPr id="113" name="Text 98"/>
          <p:cNvSpPr/>
          <p:nvPr/>
        </p:nvSpPr>
        <p:spPr>
          <a:xfrm>
            <a:off x="891541" y="5158739"/>
            <a:ext cx="206168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ModelArmor · KnoxClaw</a:t>
            </a:r>
            <a:endParaRPr lang="en-US" sz="825" dirty="0"/>
          </a:p>
        </p:txBody>
      </p:sp>
      <p:sp>
        <p:nvSpPr>
          <p:cNvPr id="114" name="Shape 99"/>
          <p:cNvSpPr/>
          <p:nvPr/>
        </p:nvSpPr>
        <p:spPr>
          <a:xfrm>
            <a:off x="4938117" y="5038725"/>
            <a:ext cx="552212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15" name="Shape 100"/>
          <p:cNvSpPr/>
          <p:nvPr/>
        </p:nvSpPr>
        <p:spPr>
          <a:xfrm>
            <a:off x="5012413" y="511016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16" name="Text 101"/>
          <p:cNvSpPr/>
          <p:nvPr/>
        </p:nvSpPr>
        <p:spPr>
          <a:xfrm>
            <a:off x="5107663" y="5073014"/>
            <a:ext cx="384572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825" dirty="0"/>
          </a:p>
        </p:txBody>
      </p:sp>
      <p:sp>
        <p:nvSpPr>
          <p:cNvPr id="117" name="Shape 102"/>
          <p:cNvSpPr/>
          <p:nvPr/>
        </p:nvSpPr>
        <p:spPr>
          <a:xfrm>
            <a:off x="891541" y="5381625"/>
            <a:ext cx="588169" cy="2066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118" name="Text 103"/>
          <p:cNvSpPr/>
          <p:nvPr/>
        </p:nvSpPr>
        <p:spPr>
          <a:xfrm>
            <a:off x="994411" y="5408295"/>
            <a:ext cx="45862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863" dirty="0"/>
          </a:p>
        </p:txBody>
      </p:sp>
      <p:sp>
        <p:nvSpPr>
          <p:cNvPr id="119" name="Shape 104"/>
          <p:cNvSpPr/>
          <p:nvPr/>
        </p:nvSpPr>
        <p:spPr>
          <a:xfrm>
            <a:off x="1517810" y="5381625"/>
            <a:ext cx="567452" cy="206693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120" name="Text 105"/>
          <p:cNvSpPr/>
          <p:nvPr/>
        </p:nvSpPr>
        <p:spPr>
          <a:xfrm>
            <a:off x="1620680" y="5408295"/>
            <a:ext cx="43791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863" dirty="0"/>
          </a:p>
        </p:txBody>
      </p:sp>
      <p:sp>
        <p:nvSpPr>
          <p:cNvPr id="121" name="Shape 106"/>
          <p:cNvSpPr/>
          <p:nvPr/>
        </p:nvSpPr>
        <p:spPr>
          <a:xfrm>
            <a:off x="2123361" y="5381625"/>
            <a:ext cx="448032" cy="2066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122" name="Text 107"/>
          <p:cNvSpPr/>
          <p:nvPr/>
        </p:nvSpPr>
        <p:spPr>
          <a:xfrm>
            <a:off x="2226231" y="5408295"/>
            <a:ext cx="31849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63" dirty="0"/>
          </a:p>
        </p:txBody>
      </p:sp>
      <p:sp>
        <p:nvSpPr>
          <p:cNvPr id="123" name="Text 108"/>
          <p:cNvSpPr/>
          <p:nvPr/>
        </p:nvSpPr>
        <p:spPr>
          <a:xfrm>
            <a:off x="4591050" y="5408293"/>
            <a:ext cx="45886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conf ≥</a:t>
            </a:r>
            <a:endParaRPr lang="en-US" sz="863" dirty="0"/>
          </a:p>
        </p:txBody>
      </p:sp>
      <p:sp>
        <p:nvSpPr>
          <p:cNvPr id="124" name="Shape 109"/>
          <p:cNvSpPr/>
          <p:nvPr/>
        </p:nvSpPr>
        <p:spPr>
          <a:xfrm>
            <a:off x="5011817" y="5384957"/>
            <a:ext cx="478512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5" name="Shape 110"/>
          <p:cNvSpPr/>
          <p:nvPr/>
        </p:nvSpPr>
        <p:spPr>
          <a:xfrm>
            <a:off x="5086113" y="545639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26" name="Text 111"/>
          <p:cNvSpPr/>
          <p:nvPr/>
        </p:nvSpPr>
        <p:spPr>
          <a:xfrm>
            <a:off x="5181363" y="5419248"/>
            <a:ext cx="310872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825" dirty="0"/>
          </a:p>
        </p:txBody>
      </p:sp>
      <p:sp>
        <p:nvSpPr>
          <p:cNvPr id="127" name="Shape 112"/>
          <p:cNvSpPr/>
          <p:nvPr/>
        </p:nvSpPr>
        <p:spPr>
          <a:xfrm>
            <a:off x="788670" y="5767388"/>
            <a:ext cx="4804529" cy="822009"/>
          </a:xfrm>
          <a:prstGeom prst="roundRect">
            <a:avLst>
              <a:gd name="adj" fmla="val 927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28" name="Text 113"/>
          <p:cNvSpPr/>
          <p:nvPr/>
        </p:nvSpPr>
        <p:spPr>
          <a:xfrm>
            <a:off x="891541" y="5870256"/>
            <a:ext cx="191643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user account</a:t>
            </a:r>
            <a:endParaRPr lang="en-US" sz="1050" dirty="0"/>
          </a:p>
        </p:txBody>
      </p:sp>
      <p:sp>
        <p:nvSpPr>
          <p:cNvPr id="129" name="Text 114"/>
          <p:cNvSpPr/>
          <p:nvPr/>
        </p:nvSpPr>
        <p:spPr>
          <a:xfrm>
            <a:off x="891541" y="6056947"/>
            <a:ext cx="191643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HR-coordination policy · always manual</a:t>
            </a:r>
            <a:endParaRPr lang="en-US" sz="825" dirty="0"/>
          </a:p>
        </p:txBody>
      </p:sp>
      <p:sp>
        <p:nvSpPr>
          <p:cNvPr id="130" name="Shape 115"/>
          <p:cNvSpPr/>
          <p:nvPr/>
        </p:nvSpPr>
        <p:spPr>
          <a:xfrm>
            <a:off x="5017294" y="5936931"/>
            <a:ext cx="473035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131" name="Shape 116"/>
          <p:cNvSpPr/>
          <p:nvPr/>
        </p:nvSpPr>
        <p:spPr>
          <a:xfrm>
            <a:off x="5091589" y="6008368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2" name="Text 117"/>
          <p:cNvSpPr/>
          <p:nvPr/>
        </p:nvSpPr>
        <p:spPr>
          <a:xfrm>
            <a:off x="5186839" y="5971222"/>
            <a:ext cx="305395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825" dirty="0"/>
          </a:p>
        </p:txBody>
      </p:sp>
      <p:sp>
        <p:nvSpPr>
          <p:cNvPr id="133" name="Shape 118"/>
          <p:cNvSpPr/>
          <p:nvPr/>
        </p:nvSpPr>
        <p:spPr>
          <a:xfrm>
            <a:off x="891541" y="6279831"/>
            <a:ext cx="588169" cy="206694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134" name="Text 119"/>
          <p:cNvSpPr/>
          <p:nvPr/>
        </p:nvSpPr>
        <p:spPr>
          <a:xfrm>
            <a:off x="994411" y="6306501"/>
            <a:ext cx="458629" cy="191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863" dirty="0"/>
          </a:p>
        </p:txBody>
      </p:sp>
      <p:sp>
        <p:nvSpPr>
          <p:cNvPr id="135" name="Shape 120"/>
          <p:cNvSpPr/>
          <p:nvPr/>
        </p:nvSpPr>
        <p:spPr>
          <a:xfrm>
            <a:off x="1517810" y="6279831"/>
            <a:ext cx="567452" cy="2066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136" name="Text 121"/>
          <p:cNvSpPr/>
          <p:nvPr/>
        </p:nvSpPr>
        <p:spPr>
          <a:xfrm>
            <a:off x="1620680" y="6306501"/>
            <a:ext cx="437912" cy="191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863" dirty="0"/>
          </a:p>
        </p:txBody>
      </p:sp>
      <p:sp>
        <p:nvSpPr>
          <p:cNvPr id="137" name="Shape 122"/>
          <p:cNvSpPr/>
          <p:nvPr/>
        </p:nvSpPr>
        <p:spPr>
          <a:xfrm>
            <a:off x="2123361" y="6279831"/>
            <a:ext cx="448032" cy="2066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138" name="Text 123"/>
          <p:cNvSpPr/>
          <p:nvPr/>
        </p:nvSpPr>
        <p:spPr>
          <a:xfrm>
            <a:off x="2226231" y="6306501"/>
            <a:ext cx="318492" cy="191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63" dirty="0"/>
          </a:p>
        </p:txBody>
      </p:sp>
      <p:sp>
        <p:nvSpPr>
          <p:cNvPr id="139" name="Text 124"/>
          <p:cNvSpPr/>
          <p:nvPr/>
        </p:nvSpPr>
        <p:spPr>
          <a:xfrm>
            <a:off x="4728567" y="6306503"/>
            <a:ext cx="45886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conf ≥</a:t>
            </a:r>
            <a:endParaRPr lang="en-US" sz="863" dirty="0"/>
          </a:p>
        </p:txBody>
      </p:sp>
      <p:sp>
        <p:nvSpPr>
          <p:cNvPr id="140" name="Shape 125"/>
          <p:cNvSpPr/>
          <p:nvPr/>
        </p:nvSpPr>
        <p:spPr>
          <a:xfrm>
            <a:off x="5149335" y="6283165"/>
            <a:ext cx="340995" cy="200027"/>
          </a:xfrm>
          <a:prstGeom prst="roundRect">
            <a:avLst>
              <a:gd name="adj" fmla="val 23809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1" name="Shape 126"/>
          <p:cNvSpPr/>
          <p:nvPr/>
        </p:nvSpPr>
        <p:spPr>
          <a:xfrm>
            <a:off x="5223630" y="6354605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42" name="Text 127"/>
          <p:cNvSpPr/>
          <p:nvPr/>
        </p:nvSpPr>
        <p:spPr>
          <a:xfrm>
            <a:off x="5318880" y="6317456"/>
            <a:ext cx="173355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143" name="Shape 128"/>
          <p:cNvSpPr/>
          <p:nvPr/>
        </p:nvSpPr>
        <p:spPr>
          <a:xfrm>
            <a:off x="788670" y="6665595"/>
            <a:ext cx="4804529" cy="822008"/>
          </a:xfrm>
          <a:prstGeom prst="roundRect">
            <a:avLst>
              <a:gd name="adj" fmla="val 927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dash"/>
          </a:ln>
        </p:spPr>
      </p:sp>
      <p:sp>
        <p:nvSpPr>
          <p:cNvPr id="144" name="Text 129"/>
          <p:cNvSpPr/>
          <p:nvPr/>
        </p:nvSpPr>
        <p:spPr>
          <a:xfrm>
            <a:off x="891541" y="6768466"/>
            <a:ext cx="1699379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snapshot of host</a:t>
            </a:r>
            <a:endParaRPr lang="en-US" sz="1050" dirty="0"/>
          </a:p>
        </p:txBody>
      </p:sp>
      <p:sp>
        <p:nvSpPr>
          <p:cNvPr id="145" name="Text 130"/>
          <p:cNvSpPr/>
          <p:nvPr/>
        </p:nvSpPr>
        <p:spPr>
          <a:xfrm>
            <a:off x="891541" y="6955157"/>
            <a:ext cx="169937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non-disruptive</a:t>
            </a:r>
            <a:endParaRPr lang="en-US" sz="825" dirty="0"/>
          </a:p>
        </p:txBody>
      </p:sp>
      <p:sp>
        <p:nvSpPr>
          <p:cNvPr id="146" name="Shape 131"/>
          <p:cNvSpPr/>
          <p:nvPr/>
        </p:nvSpPr>
        <p:spPr>
          <a:xfrm>
            <a:off x="5017294" y="6835141"/>
            <a:ext cx="473035" cy="200025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147" name="Shape 132"/>
          <p:cNvSpPr/>
          <p:nvPr/>
        </p:nvSpPr>
        <p:spPr>
          <a:xfrm>
            <a:off x="5091589" y="6906578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8" name="Text 133"/>
          <p:cNvSpPr/>
          <p:nvPr/>
        </p:nvSpPr>
        <p:spPr>
          <a:xfrm>
            <a:off x="5186839" y="6869432"/>
            <a:ext cx="305395" cy="16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825" dirty="0"/>
          </a:p>
        </p:txBody>
      </p:sp>
      <p:sp>
        <p:nvSpPr>
          <p:cNvPr id="149" name="Shape 134"/>
          <p:cNvSpPr/>
          <p:nvPr/>
        </p:nvSpPr>
        <p:spPr>
          <a:xfrm>
            <a:off x="891541" y="7178041"/>
            <a:ext cx="588169" cy="2066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150" name="Text 135"/>
          <p:cNvSpPr/>
          <p:nvPr/>
        </p:nvSpPr>
        <p:spPr>
          <a:xfrm>
            <a:off x="994411" y="7204711"/>
            <a:ext cx="458629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863" dirty="0"/>
          </a:p>
        </p:txBody>
      </p:sp>
      <p:sp>
        <p:nvSpPr>
          <p:cNvPr id="151" name="Shape 136"/>
          <p:cNvSpPr/>
          <p:nvPr/>
        </p:nvSpPr>
        <p:spPr>
          <a:xfrm>
            <a:off x="1517810" y="7178041"/>
            <a:ext cx="567452" cy="2066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152" name="Text 137"/>
          <p:cNvSpPr/>
          <p:nvPr/>
        </p:nvSpPr>
        <p:spPr>
          <a:xfrm>
            <a:off x="1620680" y="7204711"/>
            <a:ext cx="43791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863" dirty="0"/>
          </a:p>
        </p:txBody>
      </p:sp>
      <p:sp>
        <p:nvSpPr>
          <p:cNvPr id="153" name="Shape 138"/>
          <p:cNvSpPr/>
          <p:nvPr/>
        </p:nvSpPr>
        <p:spPr>
          <a:xfrm>
            <a:off x="2123361" y="7178041"/>
            <a:ext cx="448032" cy="206693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154" name="Text 139"/>
          <p:cNvSpPr/>
          <p:nvPr/>
        </p:nvSpPr>
        <p:spPr>
          <a:xfrm>
            <a:off x="2226231" y="7204711"/>
            <a:ext cx="318492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63" dirty="0"/>
          </a:p>
        </p:txBody>
      </p:sp>
      <p:sp>
        <p:nvSpPr>
          <p:cNvPr id="155" name="Text 140"/>
          <p:cNvSpPr/>
          <p:nvPr/>
        </p:nvSpPr>
        <p:spPr>
          <a:xfrm>
            <a:off x="4583311" y="7204711"/>
            <a:ext cx="458867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conf ≥</a:t>
            </a:r>
            <a:endParaRPr lang="en-US" sz="863" dirty="0"/>
          </a:p>
        </p:txBody>
      </p:sp>
      <p:sp>
        <p:nvSpPr>
          <p:cNvPr id="156" name="Shape 141"/>
          <p:cNvSpPr/>
          <p:nvPr/>
        </p:nvSpPr>
        <p:spPr>
          <a:xfrm>
            <a:off x="5004078" y="7181376"/>
            <a:ext cx="48625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57" name="Shape 142"/>
          <p:cNvSpPr/>
          <p:nvPr/>
        </p:nvSpPr>
        <p:spPr>
          <a:xfrm>
            <a:off x="5078374" y="7252813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58" name="Text 143"/>
          <p:cNvSpPr/>
          <p:nvPr/>
        </p:nvSpPr>
        <p:spPr>
          <a:xfrm>
            <a:off x="5173624" y="7215664"/>
            <a:ext cx="318611" cy="16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</a:t>
            </a:r>
            <a:endParaRPr lang="en-US" sz="825" dirty="0"/>
          </a:p>
        </p:txBody>
      </p:sp>
      <p:sp>
        <p:nvSpPr>
          <p:cNvPr id="159" name="Shape 144"/>
          <p:cNvSpPr/>
          <p:nvPr/>
        </p:nvSpPr>
        <p:spPr>
          <a:xfrm>
            <a:off x="5829419" y="937259"/>
            <a:ext cx="4324231" cy="324231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60" name="Text 145"/>
          <p:cNvSpPr/>
          <p:nvPr/>
        </p:nvSpPr>
        <p:spPr>
          <a:xfrm>
            <a:off x="5951339" y="1040130"/>
            <a:ext cx="420280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· matrix</a:t>
            </a:r>
            <a:endParaRPr lang="en-US" sz="900" dirty="0"/>
          </a:p>
        </p:txBody>
      </p:sp>
      <p:sp>
        <p:nvSpPr>
          <p:cNvPr id="161" name="Shape 146"/>
          <p:cNvSpPr/>
          <p:nvPr/>
        </p:nvSpPr>
        <p:spPr>
          <a:xfrm>
            <a:off x="5951339" y="1276350"/>
            <a:ext cx="603409" cy="39243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2" name="Shape 147"/>
          <p:cNvSpPr/>
          <p:nvPr/>
        </p:nvSpPr>
        <p:spPr>
          <a:xfrm>
            <a:off x="5951339" y="1661160"/>
            <a:ext cx="60340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3" name="Text 148"/>
          <p:cNvSpPr/>
          <p:nvPr/>
        </p:nvSpPr>
        <p:spPr>
          <a:xfrm>
            <a:off x="6027539" y="1323975"/>
            <a:ext cx="527209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825" dirty="0"/>
          </a:p>
        </p:txBody>
      </p:sp>
      <p:sp>
        <p:nvSpPr>
          <p:cNvPr id="164" name="Shape 149"/>
          <p:cNvSpPr/>
          <p:nvPr/>
        </p:nvSpPr>
        <p:spPr>
          <a:xfrm>
            <a:off x="6554749" y="1276350"/>
            <a:ext cx="455057" cy="39243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5" name="Shape 150"/>
          <p:cNvSpPr/>
          <p:nvPr/>
        </p:nvSpPr>
        <p:spPr>
          <a:xfrm>
            <a:off x="6554749" y="1661160"/>
            <a:ext cx="455057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6" name="Text 151"/>
          <p:cNvSpPr/>
          <p:nvPr/>
        </p:nvSpPr>
        <p:spPr>
          <a:xfrm>
            <a:off x="6630949" y="1323975"/>
            <a:ext cx="37885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825" dirty="0"/>
          </a:p>
        </p:txBody>
      </p:sp>
      <p:sp>
        <p:nvSpPr>
          <p:cNvPr id="167" name="Shape 152"/>
          <p:cNvSpPr/>
          <p:nvPr/>
        </p:nvSpPr>
        <p:spPr>
          <a:xfrm>
            <a:off x="7009805" y="1276350"/>
            <a:ext cx="873085" cy="39243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8" name="Shape 153"/>
          <p:cNvSpPr/>
          <p:nvPr/>
        </p:nvSpPr>
        <p:spPr>
          <a:xfrm>
            <a:off x="7009805" y="1661160"/>
            <a:ext cx="87308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9" name="Text 154"/>
          <p:cNvSpPr/>
          <p:nvPr/>
        </p:nvSpPr>
        <p:spPr>
          <a:xfrm>
            <a:off x="7086005" y="1323975"/>
            <a:ext cx="796885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825" dirty="0"/>
          </a:p>
        </p:txBody>
      </p:sp>
      <p:sp>
        <p:nvSpPr>
          <p:cNvPr id="170" name="Shape 155"/>
          <p:cNvSpPr/>
          <p:nvPr/>
        </p:nvSpPr>
        <p:spPr>
          <a:xfrm>
            <a:off x="7882891" y="1276350"/>
            <a:ext cx="786051" cy="39243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1" name="Shape 156"/>
          <p:cNvSpPr/>
          <p:nvPr/>
        </p:nvSpPr>
        <p:spPr>
          <a:xfrm>
            <a:off x="7882891" y="1661160"/>
            <a:ext cx="786051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2" name="Text 157"/>
          <p:cNvSpPr/>
          <p:nvPr/>
        </p:nvSpPr>
        <p:spPr>
          <a:xfrm>
            <a:off x="7959091" y="1323975"/>
            <a:ext cx="70985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825" dirty="0"/>
          </a:p>
        </p:txBody>
      </p:sp>
      <p:sp>
        <p:nvSpPr>
          <p:cNvPr id="173" name="Shape 158"/>
          <p:cNvSpPr/>
          <p:nvPr/>
        </p:nvSpPr>
        <p:spPr>
          <a:xfrm>
            <a:off x="8668941" y="1276350"/>
            <a:ext cx="786051" cy="39243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4" name="Shape 159"/>
          <p:cNvSpPr/>
          <p:nvPr/>
        </p:nvSpPr>
        <p:spPr>
          <a:xfrm>
            <a:off x="8668941" y="1661160"/>
            <a:ext cx="786051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5" name="Text 160"/>
          <p:cNvSpPr/>
          <p:nvPr/>
        </p:nvSpPr>
        <p:spPr>
          <a:xfrm>
            <a:off x="8745141" y="1323975"/>
            <a:ext cx="70985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825" dirty="0"/>
          </a:p>
        </p:txBody>
      </p:sp>
      <p:sp>
        <p:nvSpPr>
          <p:cNvPr id="176" name="Shape 161"/>
          <p:cNvSpPr/>
          <p:nvPr/>
        </p:nvSpPr>
        <p:spPr>
          <a:xfrm>
            <a:off x="9454993" y="1276350"/>
            <a:ext cx="576739" cy="39243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7" name="Shape 162"/>
          <p:cNvSpPr/>
          <p:nvPr/>
        </p:nvSpPr>
        <p:spPr>
          <a:xfrm>
            <a:off x="9454993" y="1661160"/>
            <a:ext cx="57673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8" name="Text 163"/>
          <p:cNvSpPr/>
          <p:nvPr/>
        </p:nvSpPr>
        <p:spPr>
          <a:xfrm>
            <a:off x="9531193" y="1323975"/>
            <a:ext cx="500539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EDIT</a:t>
            </a:r>
            <a:endParaRPr lang="en-US" sz="825" dirty="0"/>
          </a:p>
        </p:txBody>
      </p:sp>
      <p:sp>
        <p:nvSpPr>
          <p:cNvPr id="179" name="Shape 164"/>
          <p:cNvSpPr/>
          <p:nvPr/>
        </p:nvSpPr>
        <p:spPr>
          <a:xfrm>
            <a:off x="5951339" y="1983105"/>
            <a:ext cx="60340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0" name="Text 165"/>
          <p:cNvSpPr/>
          <p:nvPr/>
        </p:nvSpPr>
        <p:spPr>
          <a:xfrm>
            <a:off x="6027539" y="1725930"/>
            <a:ext cx="5272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L1</a:t>
            </a:r>
            <a:endParaRPr lang="en-US" sz="900" dirty="0"/>
          </a:p>
        </p:txBody>
      </p:sp>
      <p:sp>
        <p:nvSpPr>
          <p:cNvPr id="181" name="Shape 166"/>
          <p:cNvSpPr/>
          <p:nvPr/>
        </p:nvSpPr>
        <p:spPr>
          <a:xfrm>
            <a:off x="6554749" y="1983105"/>
            <a:ext cx="45505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2" name="Shape 167"/>
          <p:cNvSpPr/>
          <p:nvPr/>
        </p:nvSpPr>
        <p:spPr>
          <a:xfrm>
            <a:off x="6630949" y="1729739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83" name="Shape 168"/>
          <p:cNvSpPr/>
          <p:nvPr/>
        </p:nvSpPr>
        <p:spPr>
          <a:xfrm>
            <a:off x="6705244" y="1801176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84" name="Text 169"/>
          <p:cNvSpPr/>
          <p:nvPr/>
        </p:nvSpPr>
        <p:spPr>
          <a:xfrm>
            <a:off x="6800494" y="1756409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185" name="Shape 170"/>
          <p:cNvSpPr/>
          <p:nvPr/>
        </p:nvSpPr>
        <p:spPr>
          <a:xfrm>
            <a:off x="7009805" y="1983105"/>
            <a:ext cx="87308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6" name="Shape 171"/>
          <p:cNvSpPr/>
          <p:nvPr/>
        </p:nvSpPr>
        <p:spPr>
          <a:xfrm>
            <a:off x="7086005" y="1729739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187" name="Shape 172"/>
          <p:cNvSpPr/>
          <p:nvPr/>
        </p:nvSpPr>
        <p:spPr>
          <a:xfrm>
            <a:off x="7160300" y="1801176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88" name="Text 173"/>
          <p:cNvSpPr/>
          <p:nvPr/>
        </p:nvSpPr>
        <p:spPr>
          <a:xfrm>
            <a:off x="7255550" y="1756409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189" name="Shape 174"/>
          <p:cNvSpPr/>
          <p:nvPr/>
        </p:nvSpPr>
        <p:spPr>
          <a:xfrm>
            <a:off x="7882891" y="1983105"/>
            <a:ext cx="78605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0" name="Shape 175"/>
          <p:cNvSpPr/>
          <p:nvPr/>
        </p:nvSpPr>
        <p:spPr>
          <a:xfrm>
            <a:off x="7959091" y="1729739"/>
            <a:ext cx="30468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1" name="Shape 176"/>
          <p:cNvSpPr/>
          <p:nvPr/>
        </p:nvSpPr>
        <p:spPr>
          <a:xfrm>
            <a:off x="8033386" y="1801176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2" name="Text 177"/>
          <p:cNvSpPr/>
          <p:nvPr/>
        </p:nvSpPr>
        <p:spPr>
          <a:xfrm>
            <a:off x="8128636" y="1756409"/>
            <a:ext cx="1370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25" dirty="0"/>
          </a:p>
        </p:txBody>
      </p:sp>
      <p:sp>
        <p:nvSpPr>
          <p:cNvPr id="193" name="Shape 178"/>
          <p:cNvSpPr/>
          <p:nvPr/>
        </p:nvSpPr>
        <p:spPr>
          <a:xfrm>
            <a:off x="8668941" y="1983105"/>
            <a:ext cx="78605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4" name="Shape 179"/>
          <p:cNvSpPr/>
          <p:nvPr/>
        </p:nvSpPr>
        <p:spPr>
          <a:xfrm>
            <a:off x="8745141" y="1729739"/>
            <a:ext cx="30468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5" name="Shape 180"/>
          <p:cNvSpPr/>
          <p:nvPr/>
        </p:nvSpPr>
        <p:spPr>
          <a:xfrm>
            <a:off x="8819436" y="1801176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6" name="Text 181"/>
          <p:cNvSpPr/>
          <p:nvPr/>
        </p:nvSpPr>
        <p:spPr>
          <a:xfrm>
            <a:off x="8914686" y="1756409"/>
            <a:ext cx="1370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25" dirty="0"/>
          </a:p>
        </p:txBody>
      </p:sp>
      <p:sp>
        <p:nvSpPr>
          <p:cNvPr id="197" name="Shape 182"/>
          <p:cNvSpPr/>
          <p:nvPr/>
        </p:nvSpPr>
        <p:spPr>
          <a:xfrm>
            <a:off x="9454993" y="1983105"/>
            <a:ext cx="57673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8" name="Shape 183"/>
          <p:cNvSpPr/>
          <p:nvPr/>
        </p:nvSpPr>
        <p:spPr>
          <a:xfrm>
            <a:off x="9531193" y="1729739"/>
            <a:ext cx="30468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9" name="Shape 184"/>
          <p:cNvSpPr/>
          <p:nvPr/>
        </p:nvSpPr>
        <p:spPr>
          <a:xfrm>
            <a:off x="9605486" y="1801176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00" name="Text 185"/>
          <p:cNvSpPr/>
          <p:nvPr/>
        </p:nvSpPr>
        <p:spPr>
          <a:xfrm>
            <a:off x="9700736" y="1756409"/>
            <a:ext cx="1370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25" dirty="0"/>
          </a:p>
        </p:txBody>
      </p:sp>
      <p:sp>
        <p:nvSpPr>
          <p:cNvPr id="201" name="Shape 186"/>
          <p:cNvSpPr/>
          <p:nvPr/>
        </p:nvSpPr>
        <p:spPr>
          <a:xfrm>
            <a:off x="5951339" y="2305050"/>
            <a:ext cx="60340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2" name="Text 187"/>
          <p:cNvSpPr/>
          <p:nvPr/>
        </p:nvSpPr>
        <p:spPr>
          <a:xfrm>
            <a:off x="6027539" y="2047875"/>
            <a:ext cx="5272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L2</a:t>
            </a:r>
            <a:endParaRPr lang="en-US" sz="900" dirty="0"/>
          </a:p>
        </p:txBody>
      </p:sp>
      <p:sp>
        <p:nvSpPr>
          <p:cNvPr id="203" name="Shape 188"/>
          <p:cNvSpPr/>
          <p:nvPr/>
        </p:nvSpPr>
        <p:spPr>
          <a:xfrm>
            <a:off x="6554749" y="2305050"/>
            <a:ext cx="45505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4" name="Shape 189"/>
          <p:cNvSpPr/>
          <p:nvPr/>
        </p:nvSpPr>
        <p:spPr>
          <a:xfrm>
            <a:off x="6630949" y="2051684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05" name="Shape 190"/>
          <p:cNvSpPr/>
          <p:nvPr/>
        </p:nvSpPr>
        <p:spPr>
          <a:xfrm>
            <a:off x="6705244" y="212312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06" name="Text 191"/>
          <p:cNvSpPr/>
          <p:nvPr/>
        </p:nvSpPr>
        <p:spPr>
          <a:xfrm>
            <a:off x="6800494" y="2078355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207" name="Shape 192"/>
          <p:cNvSpPr/>
          <p:nvPr/>
        </p:nvSpPr>
        <p:spPr>
          <a:xfrm>
            <a:off x="7009805" y="2305050"/>
            <a:ext cx="87308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8" name="Shape 193"/>
          <p:cNvSpPr/>
          <p:nvPr/>
        </p:nvSpPr>
        <p:spPr>
          <a:xfrm>
            <a:off x="7086005" y="2051684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09" name="Shape 194"/>
          <p:cNvSpPr/>
          <p:nvPr/>
        </p:nvSpPr>
        <p:spPr>
          <a:xfrm>
            <a:off x="7160300" y="212312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10" name="Text 195"/>
          <p:cNvSpPr/>
          <p:nvPr/>
        </p:nvSpPr>
        <p:spPr>
          <a:xfrm>
            <a:off x="7255550" y="2078355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211" name="Shape 196"/>
          <p:cNvSpPr/>
          <p:nvPr/>
        </p:nvSpPr>
        <p:spPr>
          <a:xfrm>
            <a:off x="7882891" y="2305050"/>
            <a:ext cx="78605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2" name="Shape 197"/>
          <p:cNvSpPr/>
          <p:nvPr/>
        </p:nvSpPr>
        <p:spPr>
          <a:xfrm>
            <a:off x="7959091" y="2051684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13" name="Shape 198"/>
          <p:cNvSpPr/>
          <p:nvPr/>
        </p:nvSpPr>
        <p:spPr>
          <a:xfrm>
            <a:off x="8033386" y="2123122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14" name="Text 199"/>
          <p:cNvSpPr/>
          <p:nvPr/>
        </p:nvSpPr>
        <p:spPr>
          <a:xfrm>
            <a:off x="8128636" y="2078355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215" name="Shape 200"/>
          <p:cNvSpPr/>
          <p:nvPr/>
        </p:nvSpPr>
        <p:spPr>
          <a:xfrm>
            <a:off x="8668941" y="2305050"/>
            <a:ext cx="78605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6" name="Shape 201"/>
          <p:cNvSpPr/>
          <p:nvPr/>
        </p:nvSpPr>
        <p:spPr>
          <a:xfrm>
            <a:off x="8745141" y="2051684"/>
            <a:ext cx="58376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217" name="Shape 202"/>
          <p:cNvSpPr/>
          <p:nvPr/>
        </p:nvSpPr>
        <p:spPr>
          <a:xfrm>
            <a:off x="8819436" y="2123122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218" name="Text 203"/>
          <p:cNvSpPr/>
          <p:nvPr/>
        </p:nvSpPr>
        <p:spPr>
          <a:xfrm>
            <a:off x="8914686" y="2078355"/>
            <a:ext cx="41612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825" dirty="0"/>
          </a:p>
        </p:txBody>
      </p:sp>
      <p:sp>
        <p:nvSpPr>
          <p:cNvPr id="219" name="Shape 204"/>
          <p:cNvSpPr/>
          <p:nvPr/>
        </p:nvSpPr>
        <p:spPr>
          <a:xfrm>
            <a:off x="9454993" y="2305050"/>
            <a:ext cx="57673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0" name="Shape 205"/>
          <p:cNvSpPr/>
          <p:nvPr/>
        </p:nvSpPr>
        <p:spPr>
          <a:xfrm>
            <a:off x="9531193" y="2051684"/>
            <a:ext cx="30468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1" name="Shape 206"/>
          <p:cNvSpPr/>
          <p:nvPr/>
        </p:nvSpPr>
        <p:spPr>
          <a:xfrm>
            <a:off x="9605486" y="2123122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22" name="Text 207"/>
          <p:cNvSpPr/>
          <p:nvPr/>
        </p:nvSpPr>
        <p:spPr>
          <a:xfrm>
            <a:off x="9700736" y="2078355"/>
            <a:ext cx="1370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25" dirty="0"/>
          </a:p>
        </p:txBody>
      </p:sp>
      <p:sp>
        <p:nvSpPr>
          <p:cNvPr id="223" name="Shape 208"/>
          <p:cNvSpPr/>
          <p:nvPr/>
        </p:nvSpPr>
        <p:spPr>
          <a:xfrm>
            <a:off x="5951339" y="2747008"/>
            <a:ext cx="60340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4" name="Text 209"/>
          <p:cNvSpPr/>
          <p:nvPr/>
        </p:nvSpPr>
        <p:spPr>
          <a:xfrm>
            <a:off x="6027539" y="2369818"/>
            <a:ext cx="5272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L3 · hunter</a:t>
            </a:r>
            <a:endParaRPr lang="en-US" sz="900" dirty="0"/>
          </a:p>
        </p:txBody>
      </p:sp>
      <p:sp>
        <p:nvSpPr>
          <p:cNvPr id="225" name="Shape 210"/>
          <p:cNvSpPr/>
          <p:nvPr/>
        </p:nvSpPr>
        <p:spPr>
          <a:xfrm>
            <a:off x="6554749" y="2747008"/>
            <a:ext cx="45505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6" name="Shape 211"/>
          <p:cNvSpPr/>
          <p:nvPr/>
        </p:nvSpPr>
        <p:spPr>
          <a:xfrm>
            <a:off x="6630949" y="2433638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27" name="Shape 212"/>
          <p:cNvSpPr/>
          <p:nvPr/>
        </p:nvSpPr>
        <p:spPr>
          <a:xfrm>
            <a:off x="6705244" y="250507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28" name="Text 213"/>
          <p:cNvSpPr/>
          <p:nvPr/>
        </p:nvSpPr>
        <p:spPr>
          <a:xfrm>
            <a:off x="6800494" y="2460306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229" name="Shape 214"/>
          <p:cNvSpPr/>
          <p:nvPr/>
        </p:nvSpPr>
        <p:spPr>
          <a:xfrm>
            <a:off x="7009805" y="2747008"/>
            <a:ext cx="87308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0" name="Shape 215"/>
          <p:cNvSpPr/>
          <p:nvPr/>
        </p:nvSpPr>
        <p:spPr>
          <a:xfrm>
            <a:off x="7086005" y="2433638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31" name="Shape 216"/>
          <p:cNvSpPr/>
          <p:nvPr/>
        </p:nvSpPr>
        <p:spPr>
          <a:xfrm>
            <a:off x="7160300" y="250507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32" name="Text 217"/>
          <p:cNvSpPr/>
          <p:nvPr/>
        </p:nvSpPr>
        <p:spPr>
          <a:xfrm>
            <a:off x="7255550" y="2460306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233" name="Shape 218"/>
          <p:cNvSpPr/>
          <p:nvPr/>
        </p:nvSpPr>
        <p:spPr>
          <a:xfrm>
            <a:off x="7882891" y="2747008"/>
            <a:ext cx="78605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4" name="Shape 219"/>
          <p:cNvSpPr/>
          <p:nvPr/>
        </p:nvSpPr>
        <p:spPr>
          <a:xfrm>
            <a:off x="7959091" y="2433638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35" name="Shape 220"/>
          <p:cNvSpPr/>
          <p:nvPr/>
        </p:nvSpPr>
        <p:spPr>
          <a:xfrm>
            <a:off x="8033386" y="250507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36" name="Text 221"/>
          <p:cNvSpPr/>
          <p:nvPr/>
        </p:nvSpPr>
        <p:spPr>
          <a:xfrm>
            <a:off x="8128636" y="2460306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237" name="Shape 222"/>
          <p:cNvSpPr/>
          <p:nvPr/>
        </p:nvSpPr>
        <p:spPr>
          <a:xfrm>
            <a:off x="8668941" y="2747008"/>
            <a:ext cx="78605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8" name="Shape 223"/>
          <p:cNvSpPr/>
          <p:nvPr/>
        </p:nvSpPr>
        <p:spPr>
          <a:xfrm>
            <a:off x="8745141" y="2433638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39" name="Shape 224"/>
          <p:cNvSpPr/>
          <p:nvPr/>
        </p:nvSpPr>
        <p:spPr>
          <a:xfrm>
            <a:off x="8819436" y="250507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40" name="Text 225"/>
          <p:cNvSpPr/>
          <p:nvPr/>
        </p:nvSpPr>
        <p:spPr>
          <a:xfrm>
            <a:off x="8914686" y="2460306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241" name="Shape 226"/>
          <p:cNvSpPr/>
          <p:nvPr/>
        </p:nvSpPr>
        <p:spPr>
          <a:xfrm>
            <a:off x="9454993" y="2747008"/>
            <a:ext cx="57673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2" name="Shape 227"/>
          <p:cNvSpPr/>
          <p:nvPr/>
        </p:nvSpPr>
        <p:spPr>
          <a:xfrm>
            <a:off x="9531193" y="2433638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43" name="Shape 228"/>
          <p:cNvSpPr/>
          <p:nvPr/>
        </p:nvSpPr>
        <p:spPr>
          <a:xfrm>
            <a:off x="9605486" y="250507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44" name="Text 229"/>
          <p:cNvSpPr/>
          <p:nvPr/>
        </p:nvSpPr>
        <p:spPr>
          <a:xfrm>
            <a:off x="9700736" y="2460306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245" name="Shape 230"/>
          <p:cNvSpPr/>
          <p:nvPr/>
        </p:nvSpPr>
        <p:spPr>
          <a:xfrm>
            <a:off x="5951339" y="3188970"/>
            <a:ext cx="60340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6" name="Text 231"/>
          <p:cNvSpPr/>
          <p:nvPr/>
        </p:nvSpPr>
        <p:spPr>
          <a:xfrm>
            <a:off x="6027539" y="2811780"/>
            <a:ext cx="5272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manager</a:t>
            </a:r>
            <a:endParaRPr lang="en-US" sz="900" dirty="0"/>
          </a:p>
        </p:txBody>
      </p:sp>
      <p:sp>
        <p:nvSpPr>
          <p:cNvPr id="247" name="Shape 232"/>
          <p:cNvSpPr/>
          <p:nvPr/>
        </p:nvSpPr>
        <p:spPr>
          <a:xfrm>
            <a:off x="6554749" y="3188970"/>
            <a:ext cx="45505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8" name="Shape 233"/>
          <p:cNvSpPr/>
          <p:nvPr/>
        </p:nvSpPr>
        <p:spPr>
          <a:xfrm>
            <a:off x="6630949" y="2875597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49" name="Shape 234"/>
          <p:cNvSpPr/>
          <p:nvPr/>
        </p:nvSpPr>
        <p:spPr>
          <a:xfrm>
            <a:off x="6705244" y="2947034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50" name="Text 235"/>
          <p:cNvSpPr/>
          <p:nvPr/>
        </p:nvSpPr>
        <p:spPr>
          <a:xfrm>
            <a:off x="6800494" y="2902267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251" name="Shape 236"/>
          <p:cNvSpPr/>
          <p:nvPr/>
        </p:nvSpPr>
        <p:spPr>
          <a:xfrm>
            <a:off x="7009805" y="3188970"/>
            <a:ext cx="87308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2" name="Shape 237"/>
          <p:cNvSpPr/>
          <p:nvPr/>
        </p:nvSpPr>
        <p:spPr>
          <a:xfrm>
            <a:off x="7086005" y="2875597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53" name="Shape 238"/>
          <p:cNvSpPr/>
          <p:nvPr/>
        </p:nvSpPr>
        <p:spPr>
          <a:xfrm>
            <a:off x="7160300" y="2947034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54" name="Text 239"/>
          <p:cNvSpPr/>
          <p:nvPr/>
        </p:nvSpPr>
        <p:spPr>
          <a:xfrm>
            <a:off x="7255550" y="2902267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255" name="Shape 240"/>
          <p:cNvSpPr/>
          <p:nvPr/>
        </p:nvSpPr>
        <p:spPr>
          <a:xfrm>
            <a:off x="7882891" y="3188970"/>
            <a:ext cx="78605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6" name="Shape 241"/>
          <p:cNvSpPr/>
          <p:nvPr/>
        </p:nvSpPr>
        <p:spPr>
          <a:xfrm>
            <a:off x="7959091" y="2875597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57" name="Shape 242"/>
          <p:cNvSpPr/>
          <p:nvPr/>
        </p:nvSpPr>
        <p:spPr>
          <a:xfrm>
            <a:off x="8033386" y="2947034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58" name="Text 243"/>
          <p:cNvSpPr/>
          <p:nvPr/>
        </p:nvSpPr>
        <p:spPr>
          <a:xfrm>
            <a:off x="8128636" y="2902267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259" name="Shape 244"/>
          <p:cNvSpPr/>
          <p:nvPr/>
        </p:nvSpPr>
        <p:spPr>
          <a:xfrm>
            <a:off x="8668941" y="3188970"/>
            <a:ext cx="78605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0" name="Shape 245"/>
          <p:cNvSpPr/>
          <p:nvPr/>
        </p:nvSpPr>
        <p:spPr>
          <a:xfrm>
            <a:off x="8745141" y="2875597"/>
            <a:ext cx="583763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261" name="Shape 246"/>
          <p:cNvSpPr/>
          <p:nvPr/>
        </p:nvSpPr>
        <p:spPr>
          <a:xfrm>
            <a:off x="8819436" y="2947034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262" name="Text 247"/>
          <p:cNvSpPr/>
          <p:nvPr/>
        </p:nvSpPr>
        <p:spPr>
          <a:xfrm>
            <a:off x="8914686" y="2902267"/>
            <a:ext cx="41612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825" dirty="0"/>
          </a:p>
        </p:txBody>
      </p:sp>
      <p:sp>
        <p:nvSpPr>
          <p:cNvPr id="263" name="Shape 248"/>
          <p:cNvSpPr/>
          <p:nvPr/>
        </p:nvSpPr>
        <p:spPr>
          <a:xfrm>
            <a:off x="9454993" y="3188970"/>
            <a:ext cx="57673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4" name="Shape 249"/>
          <p:cNvSpPr/>
          <p:nvPr/>
        </p:nvSpPr>
        <p:spPr>
          <a:xfrm>
            <a:off x="9531193" y="2875597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65" name="Shape 250"/>
          <p:cNvSpPr/>
          <p:nvPr/>
        </p:nvSpPr>
        <p:spPr>
          <a:xfrm>
            <a:off x="9605486" y="2947034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66" name="Text 251"/>
          <p:cNvSpPr/>
          <p:nvPr/>
        </p:nvSpPr>
        <p:spPr>
          <a:xfrm>
            <a:off x="9700736" y="2902267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267" name="Shape 252"/>
          <p:cNvSpPr/>
          <p:nvPr/>
        </p:nvSpPr>
        <p:spPr>
          <a:xfrm>
            <a:off x="5951339" y="3630929"/>
            <a:ext cx="60340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8" name="Text 253"/>
          <p:cNvSpPr/>
          <p:nvPr/>
        </p:nvSpPr>
        <p:spPr>
          <a:xfrm>
            <a:off x="6027539" y="3253739"/>
            <a:ext cx="5272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· auditor</a:t>
            </a:r>
            <a:endParaRPr lang="en-US" sz="900" dirty="0"/>
          </a:p>
        </p:txBody>
      </p:sp>
      <p:sp>
        <p:nvSpPr>
          <p:cNvPr id="269" name="Shape 254"/>
          <p:cNvSpPr/>
          <p:nvPr/>
        </p:nvSpPr>
        <p:spPr>
          <a:xfrm>
            <a:off x="6554749" y="3630929"/>
            <a:ext cx="45505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0" name="Shape 255"/>
          <p:cNvSpPr/>
          <p:nvPr/>
        </p:nvSpPr>
        <p:spPr>
          <a:xfrm>
            <a:off x="6630949" y="3317556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71" name="Shape 256"/>
          <p:cNvSpPr/>
          <p:nvPr/>
        </p:nvSpPr>
        <p:spPr>
          <a:xfrm>
            <a:off x="6705244" y="3388993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72" name="Text 257"/>
          <p:cNvSpPr/>
          <p:nvPr/>
        </p:nvSpPr>
        <p:spPr>
          <a:xfrm>
            <a:off x="6800494" y="3344226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273" name="Shape 258"/>
          <p:cNvSpPr/>
          <p:nvPr/>
        </p:nvSpPr>
        <p:spPr>
          <a:xfrm>
            <a:off x="7009805" y="3630929"/>
            <a:ext cx="873085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4" name="Shape 259"/>
          <p:cNvSpPr/>
          <p:nvPr/>
        </p:nvSpPr>
        <p:spPr>
          <a:xfrm>
            <a:off x="7086005" y="3317556"/>
            <a:ext cx="47541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5" name="Shape 260"/>
          <p:cNvSpPr/>
          <p:nvPr/>
        </p:nvSpPr>
        <p:spPr>
          <a:xfrm>
            <a:off x="7160300" y="3388993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76" name="Text 261"/>
          <p:cNvSpPr/>
          <p:nvPr/>
        </p:nvSpPr>
        <p:spPr>
          <a:xfrm>
            <a:off x="7255550" y="3344226"/>
            <a:ext cx="30777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825" dirty="0"/>
          </a:p>
        </p:txBody>
      </p:sp>
      <p:sp>
        <p:nvSpPr>
          <p:cNvPr id="277" name="Shape 262"/>
          <p:cNvSpPr/>
          <p:nvPr/>
        </p:nvSpPr>
        <p:spPr>
          <a:xfrm>
            <a:off x="7882891" y="3630929"/>
            <a:ext cx="78605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8" name="Shape 263"/>
          <p:cNvSpPr/>
          <p:nvPr/>
        </p:nvSpPr>
        <p:spPr>
          <a:xfrm>
            <a:off x="7959091" y="3317556"/>
            <a:ext cx="30468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9" name="Shape 264"/>
          <p:cNvSpPr/>
          <p:nvPr/>
        </p:nvSpPr>
        <p:spPr>
          <a:xfrm>
            <a:off x="8033386" y="3388993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80" name="Text 265"/>
          <p:cNvSpPr/>
          <p:nvPr/>
        </p:nvSpPr>
        <p:spPr>
          <a:xfrm>
            <a:off x="8128636" y="3344226"/>
            <a:ext cx="1370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25" dirty="0"/>
          </a:p>
        </p:txBody>
      </p:sp>
      <p:sp>
        <p:nvSpPr>
          <p:cNvPr id="281" name="Shape 266"/>
          <p:cNvSpPr/>
          <p:nvPr/>
        </p:nvSpPr>
        <p:spPr>
          <a:xfrm>
            <a:off x="8668941" y="3630929"/>
            <a:ext cx="786051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2" name="Shape 267"/>
          <p:cNvSpPr/>
          <p:nvPr/>
        </p:nvSpPr>
        <p:spPr>
          <a:xfrm>
            <a:off x="8745141" y="3317556"/>
            <a:ext cx="30468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3" name="Shape 268"/>
          <p:cNvSpPr/>
          <p:nvPr/>
        </p:nvSpPr>
        <p:spPr>
          <a:xfrm>
            <a:off x="8819436" y="3388993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84" name="Text 269"/>
          <p:cNvSpPr/>
          <p:nvPr/>
        </p:nvSpPr>
        <p:spPr>
          <a:xfrm>
            <a:off x="8914686" y="3344226"/>
            <a:ext cx="1370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25" dirty="0"/>
          </a:p>
        </p:txBody>
      </p:sp>
      <p:sp>
        <p:nvSpPr>
          <p:cNvPr id="285" name="Shape 270"/>
          <p:cNvSpPr/>
          <p:nvPr/>
        </p:nvSpPr>
        <p:spPr>
          <a:xfrm>
            <a:off x="9454993" y="3630929"/>
            <a:ext cx="576739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6" name="Shape 271"/>
          <p:cNvSpPr/>
          <p:nvPr/>
        </p:nvSpPr>
        <p:spPr>
          <a:xfrm>
            <a:off x="9531193" y="3317556"/>
            <a:ext cx="30468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7" name="Shape 272"/>
          <p:cNvSpPr/>
          <p:nvPr/>
        </p:nvSpPr>
        <p:spPr>
          <a:xfrm>
            <a:off x="9605486" y="3388993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88" name="Text 273"/>
          <p:cNvSpPr/>
          <p:nvPr/>
        </p:nvSpPr>
        <p:spPr>
          <a:xfrm>
            <a:off x="9700736" y="3344226"/>
            <a:ext cx="1370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25" dirty="0"/>
          </a:p>
        </p:txBody>
      </p:sp>
      <p:sp>
        <p:nvSpPr>
          <p:cNvPr id="289" name="Text 274"/>
          <p:cNvSpPr/>
          <p:nvPr/>
        </p:nvSpPr>
        <p:spPr>
          <a:xfrm>
            <a:off x="6027539" y="3695700"/>
            <a:ext cx="52720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MSSP · cust-N</a:t>
            </a:r>
            <a:endParaRPr lang="en-US" sz="900" dirty="0"/>
          </a:p>
        </p:txBody>
      </p:sp>
      <p:sp>
        <p:nvSpPr>
          <p:cNvPr id="290" name="Shape 275"/>
          <p:cNvSpPr/>
          <p:nvPr/>
        </p:nvSpPr>
        <p:spPr>
          <a:xfrm>
            <a:off x="6630949" y="3759517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91" name="Shape 276"/>
          <p:cNvSpPr/>
          <p:nvPr/>
        </p:nvSpPr>
        <p:spPr>
          <a:xfrm>
            <a:off x="6705244" y="383095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92" name="Text 277"/>
          <p:cNvSpPr/>
          <p:nvPr/>
        </p:nvSpPr>
        <p:spPr>
          <a:xfrm>
            <a:off x="6800494" y="3786188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293" name="Shape 278"/>
          <p:cNvSpPr/>
          <p:nvPr/>
        </p:nvSpPr>
        <p:spPr>
          <a:xfrm>
            <a:off x="7086005" y="3759517"/>
            <a:ext cx="301823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294" name="Shape 279"/>
          <p:cNvSpPr/>
          <p:nvPr/>
        </p:nvSpPr>
        <p:spPr>
          <a:xfrm>
            <a:off x="7160300" y="3830955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95" name="Text 280"/>
          <p:cNvSpPr/>
          <p:nvPr/>
        </p:nvSpPr>
        <p:spPr>
          <a:xfrm>
            <a:off x="7255550" y="3786188"/>
            <a:ext cx="13418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 dirty="0"/>
          </a:p>
        </p:txBody>
      </p:sp>
      <p:sp>
        <p:nvSpPr>
          <p:cNvPr id="296" name="Shape 281"/>
          <p:cNvSpPr/>
          <p:nvPr/>
        </p:nvSpPr>
        <p:spPr>
          <a:xfrm>
            <a:off x="7959091" y="3759517"/>
            <a:ext cx="633651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297" name="Shape 282"/>
          <p:cNvSpPr/>
          <p:nvPr/>
        </p:nvSpPr>
        <p:spPr>
          <a:xfrm>
            <a:off x="8033386" y="3830955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298" name="Text 283"/>
          <p:cNvSpPr/>
          <p:nvPr/>
        </p:nvSpPr>
        <p:spPr>
          <a:xfrm>
            <a:off x="8128636" y="3786188"/>
            <a:ext cx="46601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</a:t>
            </a:r>
            <a:endParaRPr lang="en-US" sz="825" dirty="0"/>
          </a:p>
        </p:txBody>
      </p:sp>
      <p:sp>
        <p:nvSpPr>
          <p:cNvPr id="299" name="Shape 284"/>
          <p:cNvSpPr/>
          <p:nvPr/>
        </p:nvSpPr>
        <p:spPr>
          <a:xfrm>
            <a:off x="8745141" y="3759517"/>
            <a:ext cx="633651" cy="200025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300" name="Shape 285"/>
          <p:cNvSpPr/>
          <p:nvPr/>
        </p:nvSpPr>
        <p:spPr>
          <a:xfrm>
            <a:off x="8819436" y="3830955"/>
            <a:ext cx="57150" cy="5715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301" name="Text 286"/>
          <p:cNvSpPr/>
          <p:nvPr/>
        </p:nvSpPr>
        <p:spPr>
          <a:xfrm>
            <a:off x="8914686" y="3786188"/>
            <a:ext cx="46601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</a:t>
            </a:r>
            <a:endParaRPr lang="en-US" sz="825" dirty="0"/>
          </a:p>
        </p:txBody>
      </p:sp>
      <p:sp>
        <p:nvSpPr>
          <p:cNvPr id="302" name="Shape 287"/>
          <p:cNvSpPr/>
          <p:nvPr/>
        </p:nvSpPr>
        <p:spPr>
          <a:xfrm>
            <a:off x="9531193" y="3759517"/>
            <a:ext cx="304681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3" name="Shape 288"/>
          <p:cNvSpPr/>
          <p:nvPr/>
        </p:nvSpPr>
        <p:spPr>
          <a:xfrm>
            <a:off x="9605486" y="3830955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04" name="Text 289"/>
          <p:cNvSpPr/>
          <p:nvPr/>
        </p:nvSpPr>
        <p:spPr>
          <a:xfrm>
            <a:off x="9700736" y="3786188"/>
            <a:ext cx="1370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25" dirty="0"/>
          </a:p>
        </p:txBody>
      </p:sp>
      <p:sp>
        <p:nvSpPr>
          <p:cNvPr id="305" name="Shape 290"/>
          <p:cNvSpPr/>
          <p:nvPr/>
        </p:nvSpPr>
        <p:spPr>
          <a:xfrm>
            <a:off x="5829419" y="4255768"/>
            <a:ext cx="4324231" cy="1514475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06" name="Text 291"/>
          <p:cNvSpPr/>
          <p:nvPr/>
        </p:nvSpPr>
        <p:spPr>
          <a:xfrm>
            <a:off x="5951339" y="4358639"/>
            <a:ext cx="420280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residency · model strategy</a:t>
            </a:r>
            <a:endParaRPr lang="en-US" sz="900" dirty="0"/>
          </a:p>
        </p:txBody>
      </p:sp>
      <p:sp>
        <p:nvSpPr>
          <p:cNvPr id="307" name="Text 292"/>
          <p:cNvSpPr/>
          <p:nvPr/>
        </p:nvSpPr>
        <p:spPr>
          <a:xfrm>
            <a:off x="5951339" y="4594859"/>
            <a:ext cx="39409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</a:t>
            </a:r>
            <a:endParaRPr lang="en-US" sz="900" dirty="0"/>
          </a:p>
        </p:txBody>
      </p:sp>
      <p:sp>
        <p:nvSpPr>
          <p:cNvPr id="308" name="Text 293"/>
          <p:cNvSpPr/>
          <p:nvPr/>
        </p:nvSpPr>
        <p:spPr>
          <a:xfrm>
            <a:off x="9129713" y="4594859"/>
            <a:ext cx="97821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 · prod</a:t>
            </a:r>
            <a:endParaRPr lang="en-US" sz="900" dirty="0"/>
          </a:p>
        </p:txBody>
      </p:sp>
      <p:sp>
        <p:nvSpPr>
          <p:cNvPr id="309" name="Text 294"/>
          <p:cNvSpPr/>
          <p:nvPr/>
        </p:nvSpPr>
        <p:spPr>
          <a:xfrm>
            <a:off x="5951339" y="4792980"/>
            <a:ext cx="3939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endParaRPr lang="en-US" sz="900" dirty="0"/>
          </a:p>
        </p:txBody>
      </p:sp>
      <p:sp>
        <p:nvSpPr>
          <p:cNvPr id="310" name="Text 295"/>
          <p:cNvSpPr/>
          <p:nvPr/>
        </p:nvSpPr>
        <p:spPr>
          <a:xfrm>
            <a:off x="8634057" y="4792980"/>
            <a:ext cx="147387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eu-central-1 · in-region only</a:t>
            </a:r>
            <a:endParaRPr lang="en-US" sz="900" dirty="0"/>
          </a:p>
        </p:txBody>
      </p:sp>
      <p:sp>
        <p:nvSpPr>
          <p:cNvPr id="311" name="Text 296"/>
          <p:cNvSpPr/>
          <p:nvPr/>
        </p:nvSpPr>
        <p:spPr>
          <a:xfrm>
            <a:off x="5951339" y="5011101"/>
            <a:ext cx="66079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sovereignty</a:t>
            </a:r>
            <a:endParaRPr lang="en-US" sz="900" dirty="0"/>
          </a:p>
        </p:txBody>
      </p:sp>
      <p:sp>
        <p:nvSpPr>
          <p:cNvPr id="312" name="Shape 297"/>
          <p:cNvSpPr/>
          <p:nvPr/>
        </p:nvSpPr>
        <p:spPr>
          <a:xfrm>
            <a:off x="8081962" y="4991100"/>
            <a:ext cx="1949767" cy="200025"/>
          </a:xfrm>
          <a:prstGeom prst="roundRect">
            <a:avLst>
              <a:gd name="adj" fmla="val 23810"/>
            </a:avLst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13" name="Shape 298"/>
          <p:cNvSpPr/>
          <p:nvPr/>
        </p:nvSpPr>
        <p:spPr>
          <a:xfrm>
            <a:off x="8156258" y="5062538"/>
            <a:ext cx="57150" cy="5715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14" name="Text 299"/>
          <p:cNvSpPr/>
          <p:nvPr/>
        </p:nvSpPr>
        <p:spPr>
          <a:xfrm>
            <a:off x="8251508" y="5017768"/>
            <a:ext cx="178212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 bucket · S3 customer-owned</a:t>
            </a:r>
            <a:endParaRPr lang="en-US" sz="825" dirty="0"/>
          </a:p>
        </p:txBody>
      </p:sp>
      <p:sp>
        <p:nvSpPr>
          <p:cNvPr id="315" name="Text 300"/>
          <p:cNvSpPr/>
          <p:nvPr/>
        </p:nvSpPr>
        <p:spPr>
          <a:xfrm>
            <a:off x="5951339" y="5249226"/>
            <a:ext cx="44469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900" dirty="0"/>
          </a:p>
        </p:txBody>
      </p:sp>
      <p:sp>
        <p:nvSpPr>
          <p:cNvPr id="316" name="Shape 301"/>
          <p:cNvSpPr/>
          <p:nvPr/>
        </p:nvSpPr>
        <p:spPr>
          <a:xfrm>
            <a:off x="8125897" y="5229225"/>
            <a:ext cx="1905834" cy="200025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7620">
            <a:solidFill>
              <a:srgbClr val="BAE6FD"/>
            </a:solidFill>
            <a:prstDash val="solid"/>
          </a:ln>
        </p:spPr>
      </p:sp>
      <p:sp>
        <p:nvSpPr>
          <p:cNvPr id="317" name="Shape 302"/>
          <p:cNvSpPr/>
          <p:nvPr/>
        </p:nvSpPr>
        <p:spPr>
          <a:xfrm>
            <a:off x="8200192" y="5300663"/>
            <a:ext cx="57150" cy="571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18" name="Text 303"/>
          <p:cNvSpPr/>
          <p:nvPr/>
        </p:nvSpPr>
        <p:spPr>
          <a:xfrm>
            <a:off x="8295442" y="5255893"/>
            <a:ext cx="173819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+ on-prem vLLM (BYOM)</a:t>
            </a:r>
            <a:endParaRPr lang="en-US" sz="825" dirty="0"/>
          </a:p>
        </p:txBody>
      </p:sp>
      <p:sp>
        <p:nvSpPr>
          <p:cNvPr id="319" name="Text 304"/>
          <p:cNvSpPr/>
          <p:nvPr/>
        </p:nvSpPr>
        <p:spPr>
          <a:xfrm>
            <a:off x="5951339" y="5487351"/>
            <a:ext cx="74973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 mode</a:t>
            </a:r>
            <a:endParaRPr lang="en-US" sz="900" dirty="0"/>
          </a:p>
        </p:txBody>
      </p:sp>
      <p:sp>
        <p:nvSpPr>
          <p:cNvPr id="320" name="Shape 305"/>
          <p:cNvSpPr/>
          <p:nvPr/>
        </p:nvSpPr>
        <p:spPr>
          <a:xfrm>
            <a:off x="9638944" y="5467350"/>
            <a:ext cx="392787" cy="200025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1" name="Shape 306"/>
          <p:cNvSpPr/>
          <p:nvPr/>
        </p:nvSpPr>
        <p:spPr>
          <a:xfrm>
            <a:off x="9713237" y="5538788"/>
            <a:ext cx="57150" cy="5715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322" name="Text 307"/>
          <p:cNvSpPr/>
          <p:nvPr/>
        </p:nvSpPr>
        <p:spPr>
          <a:xfrm>
            <a:off x="9808487" y="5494018"/>
            <a:ext cx="225147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825" dirty="0"/>
          </a:p>
        </p:txBody>
      </p:sp>
      <p:sp>
        <p:nvSpPr>
          <p:cNvPr id="323" name="Shape 308"/>
          <p:cNvSpPr/>
          <p:nvPr/>
        </p:nvSpPr>
        <p:spPr>
          <a:xfrm>
            <a:off x="5829419" y="5846443"/>
            <a:ext cx="4324231" cy="1529717"/>
          </a:xfrm>
          <a:prstGeom prst="roundRect">
            <a:avLst>
              <a:gd name="adj" fmla="val 498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24" name="Text 309"/>
          <p:cNvSpPr/>
          <p:nvPr/>
        </p:nvSpPr>
        <p:spPr>
          <a:xfrm>
            <a:off x="5951339" y="5949314"/>
            <a:ext cx="420280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of setting changes</a:t>
            </a:r>
            <a:endParaRPr lang="en-US" sz="900" dirty="0"/>
          </a:p>
        </p:txBody>
      </p:sp>
      <p:sp>
        <p:nvSpPr>
          <p:cNvPr id="325" name="Shape 310"/>
          <p:cNvSpPr/>
          <p:nvPr/>
        </p:nvSpPr>
        <p:spPr>
          <a:xfrm>
            <a:off x="5951339" y="6185534"/>
            <a:ext cx="757714" cy="24574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6" name="Shape 311"/>
          <p:cNvSpPr/>
          <p:nvPr/>
        </p:nvSpPr>
        <p:spPr>
          <a:xfrm>
            <a:off x="5951339" y="6423661"/>
            <a:ext cx="757714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7" name="Text 312"/>
          <p:cNvSpPr/>
          <p:nvPr/>
        </p:nvSpPr>
        <p:spPr>
          <a:xfrm>
            <a:off x="6027539" y="6233159"/>
            <a:ext cx="681514" cy="180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25" dirty="0"/>
          </a:p>
        </p:txBody>
      </p:sp>
      <p:sp>
        <p:nvSpPr>
          <p:cNvPr id="328" name="Shape 313"/>
          <p:cNvSpPr/>
          <p:nvPr/>
        </p:nvSpPr>
        <p:spPr>
          <a:xfrm>
            <a:off x="6709053" y="6185534"/>
            <a:ext cx="542687" cy="24574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9" name="Shape 314"/>
          <p:cNvSpPr/>
          <p:nvPr/>
        </p:nvSpPr>
        <p:spPr>
          <a:xfrm>
            <a:off x="6709053" y="6423661"/>
            <a:ext cx="542687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0" name="Text 315"/>
          <p:cNvSpPr/>
          <p:nvPr/>
        </p:nvSpPr>
        <p:spPr>
          <a:xfrm>
            <a:off x="6785253" y="6233159"/>
            <a:ext cx="466487" cy="180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</a:t>
            </a:r>
            <a:endParaRPr lang="en-US" sz="825" dirty="0"/>
          </a:p>
        </p:txBody>
      </p:sp>
      <p:sp>
        <p:nvSpPr>
          <p:cNvPr id="331" name="Shape 316"/>
          <p:cNvSpPr/>
          <p:nvPr/>
        </p:nvSpPr>
        <p:spPr>
          <a:xfrm>
            <a:off x="7251741" y="6185534"/>
            <a:ext cx="2779990" cy="24574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2" name="Shape 317"/>
          <p:cNvSpPr/>
          <p:nvPr/>
        </p:nvSpPr>
        <p:spPr>
          <a:xfrm>
            <a:off x="7251741" y="6423661"/>
            <a:ext cx="277999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3" name="Text 318"/>
          <p:cNvSpPr/>
          <p:nvPr/>
        </p:nvSpPr>
        <p:spPr>
          <a:xfrm>
            <a:off x="7327941" y="6233159"/>
            <a:ext cx="2710990" cy="180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4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825" dirty="0"/>
          </a:p>
        </p:txBody>
      </p:sp>
      <p:sp>
        <p:nvSpPr>
          <p:cNvPr id="334" name="Shape 319"/>
          <p:cNvSpPr/>
          <p:nvPr/>
        </p:nvSpPr>
        <p:spPr>
          <a:xfrm>
            <a:off x="5951339" y="6705602"/>
            <a:ext cx="7577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5" name="Text 320"/>
          <p:cNvSpPr/>
          <p:nvPr/>
        </p:nvSpPr>
        <p:spPr>
          <a:xfrm>
            <a:off x="6027539" y="6488432"/>
            <a:ext cx="68151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13:01</a:t>
            </a:r>
            <a:endParaRPr lang="en-US" sz="825" dirty="0"/>
          </a:p>
        </p:txBody>
      </p:sp>
      <p:sp>
        <p:nvSpPr>
          <p:cNvPr id="336" name="Shape 321"/>
          <p:cNvSpPr/>
          <p:nvPr/>
        </p:nvSpPr>
        <p:spPr>
          <a:xfrm>
            <a:off x="6709053" y="6705602"/>
            <a:ext cx="54268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7" name="Text 322"/>
          <p:cNvSpPr/>
          <p:nvPr/>
        </p:nvSpPr>
        <p:spPr>
          <a:xfrm>
            <a:off x="6785253" y="6488432"/>
            <a:ext cx="46648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alex.m</a:t>
            </a:r>
            <a:endParaRPr lang="en-US" sz="900" dirty="0"/>
          </a:p>
        </p:txBody>
      </p:sp>
      <p:sp>
        <p:nvSpPr>
          <p:cNvPr id="338" name="Shape 323"/>
          <p:cNvSpPr/>
          <p:nvPr/>
        </p:nvSpPr>
        <p:spPr>
          <a:xfrm>
            <a:off x="7251741" y="6705602"/>
            <a:ext cx="27799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9" name="Text 324"/>
          <p:cNvSpPr/>
          <p:nvPr/>
        </p:nvSpPr>
        <p:spPr>
          <a:xfrm>
            <a:off x="7327941" y="6488432"/>
            <a:ext cx="271099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"block egress" raised threshold from 0.85 → 0.90</a:t>
            </a:r>
            <a:endParaRPr lang="en-US" sz="900" dirty="0"/>
          </a:p>
        </p:txBody>
      </p:sp>
      <p:sp>
        <p:nvSpPr>
          <p:cNvPr id="340" name="Shape 325"/>
          <p:cNvSpPr/>
          <p:nvPr/>
        </p:nvSpPr>
        <p:spPr>
          <a:xfrm>
            <a:off x="5951339" y="6987540"/>
            <a:ext cx="757714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1" name="Text 326"/>
          <p:cNvSpPr/>
          <p:nvPr/>
        </p:nvSpPr>
        <p:spPr>
          <a:xfrm>
            <a:off x="6027539" y="6770370"/>
            <a:ext cx="68151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yesterday</a:t>
            </a:r>
            <a:endParaRPr lang="en-US" sz="825" dirty="0"/>
          </a:p>
        </p:txBody>
      </p:sp>
      <p:sp>
        <p:nvSpPr>
          <p:cNvPr id="342" name="Shape 327"/>
          <p:cNvSpPr/>
          <p:nvPr/>
        </p:nvSpPr>
        <p:spPr>
          <a:xfrm>
            <a:off x="6709053" y="6987540"/>
            <a:ext cx="542687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3" name="Text 328"/>
          <p:cNvSpPr/>
          <p:nvPr/>
        </p:nvSpPr>
        <p:spPr>
          <a:xfrm>
            <a:off x="6785253" y="6770370"/>
            <a:ext cx="46648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priya.r</a:t>
            </a:r>
            <a:endParaRPr lang="en-US" sz="900" dirty="0"/>
          </a:p>
        </p:txBody>
      </p:sp>
      <p:sp>
        <p:nvSpPr>
          <p:cNvPr id="344" name="Shape 329"/>
          <p:cNvSpPr/>
          <p:nvPr/>
        </p:nvSpPr>
        <p:spPr>
          <a:xfrm>
            <a:off x="7251741" y="6987540"/>
            <a:ext cx="277999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5" name="Text 330"/>
          <p:cNvSpPr/>
          <p:nvPr/>
        </p:nvSpPr>
        <p:spPr>
          <a:xfrm>
            <a:off x="7327941" y="6770370"/>
            <a:ext cx="271099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MSSP role · cust-14</a:t>
            </a:r>
            <a:endParaRPr lang="en-US" sz="900" dirty="0"/>
          </a:p>
        </p:txBody>
      </p:sp>
      <p:sp>
        <p:nvSpPr>
          <p:cNvPr id="346" name="Text 331"/>
          <p:cNvSpPr/>
          <p:nvPr/>
        </p:nvSpPr>
        <p:spPr>
          <a:xfrm>
            <a:off x="6027539" y="7052311"/>
            <a:ext cx="681514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d ago</a:t>
            </a:r>
            <a:endParaRPr lang="en-US" sz="825" dirty="0"/>
          </a:p>
        </p:txBody>
      </p:sp>
      <p:sp>
        <p:nvSpPr>
          <p:cNvPr id="347" name="Text 332"/>
          <p:cNvSpPr/>
          <p:nvPr/>
        </p:nvSpPr>
        <p:spPr>
          <a:xfrm>
            <a:off x="6785253" y="7052311"/>
            <a:ext cx="466487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900" dirty="0"/>
          </a:p>
        </p:txBody>
      </p:sp>
      <p:sp>
        <p:nvSpPr>
          <p:cNvPr id="348" name="Text 333"/>
          <p:cNvSpPr/>
          <p:nvPr/>
        </p:nvSpPr>
        <p:spPr>
          <a:xfrm>
            <a:off x="7327941" y="7052311"/>
            <a:ext cx="2710990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SOC2 evidence export rotated keys</a:t>
            </a:r>
            <a:endParaRPr lang="en-US" sz="900" dirty="0"/>
          </a:p>
        </p:txBody>
      </p:sp>
      <p:sp>
        <p:nvSpPr>
          <p:cNvPr id="349" name="Shape 334"/>
          <p:cNvSpPr/>
          <p:nvPr/>
        </p:nvSpPr>
        <p:spPr>
          <a:xfrm>
            <a:off x="8061961" y="5840730"/>
            <a:ext cx="2072640" cy="674372"/>
          </a:xfrm>
          <a:prstGeom prst="roundRect">
            <a:avLst>
              <a:gd name="adj" fmla="val 5650"/>
            </a:avLst>
          </a:prstGeom>
          <a:solidFill>
            <a:srgbClr val="ECFDF5"/>
          </a:solidFill>
          <a:ln w="7620">
            <a:solidFill>
              <a:srgbClr val="6EE7B7"/>
            </a:solidFill>
            <a:prstDash val="solid"/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</p:sp>
      <p:sp>
        <p:nvSpPr>
          <p:cNvPr id="350" name="Text 335"/>
          <p:cNvSpPr/>
          <p:nvPr/>
        </p:nvSpPr>
        <p:spPr>
          <a:xfrm>
            <a:off x="8145781" y="5905500"/>
            <a:ext cx="1981200" cy="582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= clear thresholds, not a black box. conservative defaults; dial up as trust grows.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2026-06-06T10:49:47Z</dcterms:created>
  <dcterms:modified xsi:type="dcterms:W3CDTF">2026-06-06T10:49:47Z</dcterms:modified>
</cp:coreProperties>
</file>