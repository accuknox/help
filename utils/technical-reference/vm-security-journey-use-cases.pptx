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7" r:id="rId1"/>
    <p:sldMasterId id="2147483688" r:id="rId2"/>
    <p:sldMasterId id="2147483689" r:id="rId3"/>
  </p:sldMasterIdLst>
  <p:notesMasterIdLst>
    <p:notesMasterId r:id="rId5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Lst>
  <p:sldSz cx="9144000" cy="5143500" type="screen16x9"/>
  <p:notesSz cx="6858000" cy="9144000"/>
  <p:embeddedFontLst>
    <p:embeddedFont>
      <p:font typeface="Montserrat" panose="02000505000000020004" pitchFamily="2" charset="0"/>
      <p:regular r:id="rId53"/>
      <p:bold r:id="rId54"/>
      <p:italic r:id="rId55"/>
      <p:boldItalic r:id="rId56"/>
    </p:embeddedFont>
    <p:embeddedFont>
      <p:font typeface="Montserrat ExtraBold" panose="00000900000000000000" pitchFamily="2" charset="0"/>
      <p:bold r:id="rId57"/>
      <p:boldItalic r:id="rId58"/>
    </p:embeddedFont>
    <p:embeddedFont>
      <p:font typeface="Montserrat Medium" panose="00000600000000000000" pitchFamily="2" charset="0"/>
      <p:regular r:id="rId59"/>
      <p:bold r:id="rId60"/>
      <p:italic r:id="rId61"/>
      <p:boldItalic r:id="rId62"/>
    </p:embeddedFont>
    <p:embeddedFont>
      <p:font typeface="Space Grotesk" pitchFamily="2" charset="0"/>
      <p:regular r:id="rId63"/>
      <p:bold r:id="rId64"/>
    </p:embeddedFont>
    <p:embeddedFont>
      <p:font typeface="Space Grotesk Medium" pitchFamily="2" charset="0"/>
      <p:regular r:id="rId65"/>
      <p:bold r:id="rId66"/>
    </p:embeddedFont>
    <p:embeddedFont>
      <p:font typeface="Space Grotesk SemiBold" pitchFamily="2" charset="0"/>
      <p:regular r:id="rId67"/>
      <p:bold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A03FFC0-A3A7-4466-AC7F-7B0471147EAA}">
  <a:tblStyle styleId="{AA03FFC0-A3A7-4466-AC7F-7B0471147EA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11.fntdata"/><Relationship Id="rId68" Type="http://schemas.openxmlformats.org/officeDocument/2006/relationships/font" Target="fonts/font16.fntdata"/><Relationship Id="rId7" Type="http://schemas.openxmlformats.org/officeDocument/2006/relationships/slide" Target="slides/slide4.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font" Target="fonts/font14.fntdata"/><Relationship Id="rId5" Type="http://schemas.openxmlformats.org/officeDocument/2006/relationships/slide" Target="slides/slide2.xml"/><Relationship Id="rId61" Type="http://schemas.openxmlformats.org/officeDocument/2006/relationships/font" Target="fonts/font9.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7.fntdata"/><Relationship Id="rId67" Type="http://schemas.openxmlformats.org/officeDocument/2006/relationships/font" Target="fonts/font15.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2.fntdata"/><Relationship Id="rId62" Type="http://schemas.openxmlformats.org/officeDocument/2006/relationships/font" Target="fonts/font10.fntdata"/><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font" Target="fonts/font5.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font" Target="fonts/font13.fntdata"/><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e7c3792645_0_5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e7c3792645_0_5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df7d673029_4_8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df7d673029_4_8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df0adfe2ae_7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g3df0adfe2ae_7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e7bd881729_12_5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g3e7bd881729_12_5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df0adfe2ae_7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g3df0adfe2ae_7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2c251078d28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2c251078d28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e7bd881729_12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g3e7bd881729_12_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e7bd881729_12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g3e7bd881729_12_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e7bd881729_12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5" name="Google Shape;285;g3e7bd881729_12_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3e7bd881729_12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5" name="Google Shape;295;g3e7bd881729_12_1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e7bd881729_12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2" name="Google Shape;302;g3e7bd881729_12_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e7bd881729_12_4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9" name="Google Shape;309;g3e7bd881729_12_4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2ea8772bf3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2ea8772bf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df0adfe2ae_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7" name="Google Shape;347;g3df0adfe2ae_5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2ea2232b11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2ea2232b11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e7c3792645_0_2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3e7c3792645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e7c3792645_0_2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3e7c3792645_0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e7c3792645_0_2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3e7c3792645_0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e7bcfca2c3_1_0:notes"/>
          <p:cNvSpPr txBox="1">
            <a:spLocks noGrp="1"/>
          </p:cNvSpPr>
          <p:nvPr>
            <p:ph type="body" idx="1"/>
          </p:nvPr>
        </p:nvSpPr>
        <p:spPr>
          <a:xfrm>
            <a:off x="914400" y="4343400"/>
            <a:ext cx="5029200" cy="4114800"/>
          </a:xfrm>
          <a:prstGeom prst="rect">
            <a:avLst/>
          </a:prstGeom>
          <a:noFill/>
          <a:ln>
            <a:noFill/>
          </a:ln>
        </p:spPr>
        <p:txBody>
          <a:bodyPr spcFirstLastPara="1" wrap="square" lIns="93125" tIns="46550" rIns="93125" bIns="46550" anchor="t" anchorCtr="0">
            <a:noAutofit/>
          </a:bodyPr>
          <a:lstStyle/>
          <a:p>
            <a:pPr marL="0" lvl="0" indent="0" algn="l" rtl="0">
              <a:lnSpc>
                <a:spcPct val="115000"/>
              </a:lnSpc>
              <a:spcBef>
                <a:spcPts val="0"/>
              </a:spcBef>
              <a:spcAft>
                <a:spcPts val="0"/>
              </a:spcAft>
              <a:buSzPts val="1100"/>
              <a:buNone/>
            </a:pPr>
            <a:endParaRPr sz="800">
              <a:latin typeface="Arial"/>
              <a:ea typeface="Arial"/>
              <a:cs typeface="Arial"/>
              <a:sym typeface="Arial"/>
            </a:endParaRPr>
          </a:p>
        </p:txBody>
      </p:sp>
      <p:sp>
        <p:nvSpPr>
          <p:cNvPr id="403" name="Google Shape;403;g3e7bcfca2c3_1_0:notes"/>
          <p:cNvSpPr>
            <a:spLocks noGrp="1" noRot="1" noChangeAspect="1"/>
          </p:cNvSpPr>
          <p:nvPr>
            <p:ph type="sldImg" idx="2"/>
          </p:nvPr>
        </p:nvSpPr>
        <p:spPr>
          <a:xfrm>
            <a:off x="381000" y="685800"/>
            <a:ext cx="6096000" cy="34287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e7bd881729_1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9" name="Google Shape;409;g3e7bd881729_1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3e7bd881729_1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7" name="Google Shape;417;g3e7bd881729_1_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e7bcfca2c3_1_259:notes"/>
          <p:cNvSpPr txBox="1">
            <a:spLocks noGrp="1"/>
          </p:cNvSpPr>
          <p:nvPr>
            <p:ph type="body" idx="1"/>
          </p:nvPr>
        </p:nvSpPr>
        <p:spPr>
          <a:xfrm>
            <a:off x="914400" y="4343400"/>
            <a:ext cx="5029200" cy="4114800"/>
          </a:xfrm>
          <a:prstGeom prst="rect">
            <a:avLst/>
          </a:prstGeom>
          <a:noFill/>
          <a:ln>
            <a:noFill/>
          </a:ln>
        </p:spPr>
        <p:txBody>
          <a:bodyPr spcFirstLastPara="1" wrap="square" lIns="93125" tIns="46550" rIns="93125" bIns="46550" anchor="t" anchorCtr="0">
            <a:noAutofit/>
          </a:bodyPr>
          <a:lstStyle/>
          <a:p>
            <a:pPr marL="0" lvl="0" indent="0" algn="l" rtl="0">
              <a:lnSpc>
                <a:spcPct val="115000"/>
              </a:lnSpc>
              <a:spcBef>
                <a:spcPts val="0"/>
              </a:spcBef>
              <a:spcAft>
                <a:spcPts val="0"/>
              </a:spcAft>
              <a:buSzPts val="1100"/>
              <a:buNone/>
            </a:pPr>
            <a:endParaRPr sz="800">
              <a:latin typeface="Arial"/>
              <a:ea typeface="Arial"/>
              <a:cs typeface="Arial"/>
              <a:sym typeface="Arial"/>
            </a:endParaRPr>
          </a:p>
        </p:txBody>
      </p:sp>
      <p:sp>
        <p:nvSpPr>
          <p:cNvPr id="425" name="Google Shape;425;g3e7bcfca2c3_1_259:notes"/>
          <p:cNvSpPr>
            <a:spLocks noGrp="1" noRot="1" noChangeAspect="1"/>
          </p:cNvSpPr>
          <p:nvPr>
            <p:ph type="sldImg" idx="2"/>
          </p:nvPr>
        </p:nvSpPr>
        <p:spPr>
          <a:xfrm>
            <a:off x="381000" y="685800"/>
            <a:ext cx="6096000" cy="34287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e7bd881729_1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2" name="Google Shape;432;g3e7bd881729_1_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3e7bd881729_1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9" name="Google Shape;439;g3e7bd881729_1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e7bd881729_1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8" name="Google Shape;448;g3e7bd881729_1_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3e7bd881729_1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9" name="Google Shape;459;g3e7bd881729_1_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e7bd881729_1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9" name="Google Shape;469;g3e7bd881729_1_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3e7bd881729_2_1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3e7bd881729_2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3e7bcfca2c3_1_854:notes"/>
          <p:cNvSpPr txBox="1">
            <a:spLocks noGrp="1"/>
          </p:cNvSpPr>
          <p:nvPr>
            <p:ph type="body" idx="1"/>
          </p:nvPr>
        </p:nvSpPr>
        <p:spPr>
          <a:xfrm>
            <a:off x="1828800" y="11583837"/>
            <a:ext cx="10058400" cy="10974300"/>
          </a:xfrm>
          <a:prstGeom prst="rect">
            <a:avLst/>
          </a:prstGeom>
          <a:noFill/>
          <a:ln>
            <a:noFill/>
          </a:ln>
        </p:spPr>
        <p:txBody>
          <a:bodyPr spcFirstLastPara="1" wrap="square" lIns="206950" tIns="103425" rIns="206950" bIns="103425" anchor="t" anchorCtr="0">
            <a:noAutofit/>
          </a:bodyPr>
          <a:lstStyle/>
          <a:p>
            <a:pPr marL="0" lvl="0" indent="0" algn="l" rtl="0">
              <a:lnSpc>
                <a:spcPct val="115000"/>
              </a:lnSpc>
              <a:spcBef>
                <a:spcPts val="0"/>
              </a:spcBef>
              <a:spcAft>
                <a:spcPts val="0"/>
              </a:spcAft>
              <a:buClr>
                <a:schemeClr val="dk1"/>
              </a:buClr>
              <a:buSzPts val="1100"/>
              <a:buFont typeface="Arial"/>
              <a:buNone/>
            </a:pPr>
            <a:endParaRPr sz="1700">
              <a:latin typeface="Arial"/>
              <a:ea typeface="Arial"/>
              <a:cs typeface="Arial"/>
              <a:sym typeface="Arial"/>
            </a:endParaRPr>
          </a:p>
        </p:txBody>
      </p:sp>
      <p:sp>
        <p:nvSpPr>
          <p:cNvPr id="491" name="Google Shape;491;g3e7bcfca2c3_1_854:notes"/>
          <p:cNvSpPr>
            <a:spLocks noGrp="1" noRot="1" noChangeAspect="1"/>
          </p:cNvSpPr>
          <p:nvPr>
            <p:ph type="sldImg" idx="2"/>
          </p:nvPr>
        </p:nvSpPr>
        <p:spPr>
          <a:xfrm>
            <a:off x="-1270000" y="1828800"/>
            <a:ext cx="16256100" cy="91455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3e7bd881729_1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7" name="Google Shape;497;g3e7bd881729_1_1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3e7bd881729_1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7" name="Google Shape;507;g3e7bd881729_1_1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3e7bd881729_1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8" name="Google Shape;518;g3e7bd881729_1_1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3df0adfe2ae_7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7" name="Google Shape;527;g3df0adfe2ae_7_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3df0adfe2ae_7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6" name="Google Shape;536;g3df0adfe2ae_7_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6b832e12a5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6b832e12a5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26b832e12a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26b832e12a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6b832e12a5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6b832e12a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3e7bd881729_1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4" name="Google Shape;564;g3e7bd881729_1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3e7bd881729_1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0" name="Google Shape;570;g3e7bd881729_10_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https://caldera.readthedocs.io/en/2.8.0/Learning-the-terminology.html</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3e7bd881729_1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9" name="Google Shape;579;g3e7bd881729_10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3e7bd881729_1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5" name="Google Shape;585;g3e7bd881729_10_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3e7bd881729_10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1" name="Google Shape;591;g3e7bd881729_10_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3e7bd881729_1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0" name="Google Shape;600;g3e7bd881729_10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3e7bd881729_1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6" name="Google Shape;606;g3e7bd881729_10_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2ea76b9444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2ea76b9444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2ea76b9444d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2ea76b9444d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2ea2232b118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4" name="Google Shape;624;g2ea2232b118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3e7bd881729_12_5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3e7bd881729_12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p:cSld name="CUSTOM">
    <p:bg>
      <p:bgPr>
        <a:solidFill>
          <a:srgbClr val="11206D"/>
        </a:solidFill>
        <a:effectLst/>
      </p:bgPr>
    </p:bg>
    <p:spTree>
      <p:nvGrpSpPr>
        <p:cNvPr id="1" name="Shape 50"/>
        <p:cNvGrpSpPr/>
        <p:nvPr/>
      </p:nvGrpSpPr>
      <p:grpSpPr>
        <a:xfrm>
          <a:off x="0" y="0"/>
          <a:ext cx="0" cy="0"/>
          <a:chOff x="0" y="0"/>
          <a:chExt cx="0" cy="0"/>
        </a:xfrm>
      </p:grpSpPr>
      <p:pic>
        <p:nvPicPr>
          <p:cNvPr id="51" name="Google Shape;51;p13"/>
          <p:cNvPicPr preferRelativeResize="0"/>
          <p:nvPr/>
        </p:nvPicPr>
        <p:blipFill rotWithShape="1">
          <a:blip r:embed="rId2">
            <a:alphaModFix/>
          </a:blip>
          <a:srcRect/>
          <a:stretch/>
        </p:blipFill>
        <p:spPr>
          <a:xfrm>
            <a:off x="5346618" y="2321312"/>
            <a:ext cx="3797381" cy="2435571"/>
          </a:xfrm>
          <a:prstGeom prst="rect">
            <a:avLst/>
          </a:prstGeom>
          <a:noFill/>
          <a:ln>
            <a:noFill/>
          </a:ln>
          <a:effectLst>
            <a:outerShdw blurRad="714375" dist="152400" dir="5400000" algn="bl" rotWithShape="0">
              <a:srgbClr val="000000">
                <a:alpha val="49800"/>
              </a:srgbClr>
            </a:outerShdw>
          </a:effectLst>
        </p:spPr>
      </p:pic>
      <p:pic>
        <p:nvPicPr>
          <p:cNvPr id="52" name="Google Shape;52;p13"/>
          <p:cNvPicPr preferRelativeResize="0"/>
          <p:nvPr/>
        </p:nvPicPr>
        <p:blipFill rotWithShape="1">
          <a:blip r:embed="rId3">
            <a:alphaModFix/>
          </a:blip>
          <a:srcRect/>
          <a:stretch/>
        </p:blipFill>
        <p:spPr>
          <a:xfrm>
            <a:off x="5271975" y="1221088"/>
            <a:ext cx="3872020" cy="2435572"/>
          </a:xfrm>
          <a:prstGeom prst="rect">
            <a:avLst/>
          </a:prstGeom>
          <a:noFill/>
          <a:ln>
            <a:noFill/>
          </a:ln>
          <a:effectLst>
            <a:outerShdw blurRad="714375" dist="152400" dir="5400000" algn="bl" rotWithShape="0">
              <a:srgbClr val="000000">
                <a:alpha val="49800"/>
              </a:srgbClr>
            </a:outerShdw>
          </a:effectLst>
        </p:spPr>
      </p:pic>
      <p:pic>
        <p:nvPicPr>
          <p:cNvPr id="53" name="Google Shape;53;p13"/>
          <p:cNvPicPr preferRelativeResize="0"/>
          <p:nvPr/>
        </p:nvPicPr>
        <p:blipFill rotWithShape="1">
          <a:blip r:embed="rId4">
            <a:alphaModFix/>
          </a:blip>
          <a:srcRect/>
          <a:stretch/>
        </p:blipFill>
        <p:spPr>
          <a:xfrm>
            <a:off x="5346617" y="365100"/>
            <a:ext cx="3797381" cy="2138819"/>
          </a:xfrm>
          <a:prstGeom prst="rect">
            <a:avLst/>
          </a:prstGeom>
          <a:noFill/>
          <a:ln>
            <a:noFill/>
          </a:ln>
          <a:effectLst>
            <a:outerShdw blurRad="714375" dist="152400" dir="5400000" algn="bl" rotWithShape="0">
              <a:srgbClr val="000000">
                <a:alpha val="49800"/>
              </a:srgbClr>
            </a:outerShdw>
          </a:effectLst>
        </p:spPr>
      </p:pic>
      <p:pic>
        <p:nvPicPr>
          <p:cNvPr id="54" name="Google Shape;54;p13" title="footer.png"/>
          <p:cNvPicPr preferRelativeResize="0"/>
          <p:nvPr/>
        </p:nvPicPr>
        <p:blipFill>
          <a:blip r:embed="rId5">
            <a:alphaModFix/>
          </a:blip>
          <a:stretch>
            <a:fillRect/>
          </a:stretch>
        </p:blipFill>
        <p:spPr>
          <a:xfrm>
            <a:off x="281750" y="3592000"/>
            <a:ext cx="5216674" cy="1225675"/>
          </a:xfrm>
          <a:prstGeom prst="rect">
            <a:avLst/>
          </a:prstGeom>
          <a:noFill/>
          <a:ln>
            <a:noFill/>
          </a:ln>
        </p:spPr>
      </p:pic>
      <p:pic>
        <p:nvPicPr>
          <p:cNvPr id="55" name="Google Shape;55;p13" title="logo-dark-back.png"/>
          <p:cNvPicPr preferRelativeResize="0"/>
          <p:nvPr/>
        </p:nvPicPr>
        <p:blipFill>
          <a:blip r:embed="rId6">
            <a:alphaModFix/>
          </a:blip>
          <a:stretch>
            <a:fillRect/>
          </a:stretch>
        </p:blipFill>
        <p:spPr>
          <a:xfrm>
            <a:off x="174144" y="172625"/>
            <a:ext cx="1308205" cy="323975"/>
          </a:xfrm>
          <a:prstGeom prst="rect">
            <a:avLst/>
          </a:prstGeom>
          <a:noFill/>
          <a:ln>
            <a:noFill/>
          </a:ln>
        </p:spPr>
      </p:pic>
      <p:sp>
        <p:nvSpPr>
          <p:cNvPr id="56" name="Google Shape;56;p13"/>
          <p:cNvSpPr txBox="1">
            <a:spLocks noGrp="1"/>
          </p:cNvSpPr>
          <p:nvPr>
            <p:ph type="title"/>
          </p:nvPr>
        </p:nvSpPr>
        <p:spPr>
          <a:xfrm>
            <a:off x="692538" y="1770900"/>
            <a:ext cx="4499100" cy="1104600"/>
          </a:xfrm>
          <a:prstGeom prst="rect">
            <a:avLst/>
          </a:prstGeom>
        </p:spPr>
        <p:txBody>
          <a:bodyPr spcFirstLastPara="1" wrap="square" lIns="91425" tIns="91425" rIns="91425" bIns="91425" anchor="t" anchorCtr="0">
            <a:normAutofit/>
          </a:bodyPr>
          <a:lstStyle>
            <a:lvl1pPr lvl="0" algn="ctr">
              <a:spcBef>
                <a:spcPts val="0"/>
              </a:spcBef>
              <a:spcAft>
                <a:spcPts val="0"/>
              </a:spcAft>
              <a:buClr>
                <a:schemeClr val="lt1"/>
              </a:buClr>
              <a:buSzPts val="2400"/>
              <a:buFont typeface="Space Grotesk"/>
              <a:buNone/>
              <a:defRPr sz="2400" b="1">
                <a:solidFill>
                  <a:schemeClr val="lt1"/>
                </a:solidFill>
                <a:latin typeface="Space Grotesk"/>
                <a:ea typeface="Space Grotesk"/>
                <a:cs typeface="Space Grotesk"/>
                <a:sym typeface="Space Grotesk"/>
              </a:defRPr>
            </a:lvl1pPr>
            <a:lvl2pPr lvl="1"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2pPr>
            <a:lvl3pPr lvl="2"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3pPr>
            <a:lvl4pPr lvl="3"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4pPr>
            <a:lvl5pPr lvl="4"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5pPr>
            <a:lvl6pPr lvl="5"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6pPr>
            <a:lvl7pPr lvl="6"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7pPr>
            <a:lvl8pPr lvl="7"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8pPr>
            <a:lvl9pPr lvl="8"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9pPr>
          </a:lstStyle>
          <a:p>
            <a:endParaRPr/>
          </a:p>
        </p:txBody>
      </p:sp>
      <p:sp>
        <p:nvSpPr>
          <p:cNvPr id="57" name="Google Shape;57;p13"/>
          <p:cNvSpPr txBox="1">
            <a:spLocks noGrp="1"/>
          </p:cNvSpPr>
          <p:nvPr>
            <p:ph type="title" idx="2"/>
          </p:nvPr>
        </p:nvSpPr>
        <p:spPr>
          <a:xfrm>
            <a:off x="1878138" y="2707150"/>
            <a:ext cx="2127900" cy="4584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600"/>
              <a:buFont typeface="Space Grotesk"/>
              <a:buNone/>
              <a:defRPr sz="1600" b="1">
                <a:solidFill>
                  <a:schemeClr val="lt1"/>
                </a:solidFill>
                <a:latin typeface="Space Grotesk"/>
                <a:ea typeface="Space Grotesk"/>
                <a:cs typeface="Space Grotesk"/>
                <a:sym typeface="Space Grotesk"/>
              </a:defRPr>
            </a:lvl1pPr>
            <a:lvl2pPr lvl="1"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2pPr>
            <a:lvl3pPr lvl="2"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3pPr>
            <a:lvl4pPr lvl="3"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4pPr>
            <a:lvl5pPr lvl="4"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5pPr>
            <a:lvl6pPr lvl="5"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6pPr>
            <a:lvl7pPr lvl="6"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7pPr>
            <a:lvl8pPr lvl="7"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8pPr>
            <a:lvl9pPr lvl="8"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9pPr>
          </a:lstStyle>
          <a:p>
            <a:endParaRPr/>
          </a:p>
        </p:txBody>
      </p:sp>
      <p:sp>
        <p:nvSpPr>
          <p:cNvPr id="58" name="Google Shape;58;p1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chemeClr val="lt1"/>
                </a:solidFill>
                <a:latin typeface="Space Grotesk"/>
                <a:ea typeface="Space Grotesk"/>
                <a:cs typeface="Space Grotesk"/>
                <a:sym typeface="Space Grotesk"/>
              </a:defRPr>
            </a:lvl1pPr>
            <a:lvl2pPr lvl="1">
              <a:buNone/>
              <a:defRPr sz="1300">
                <a:solidFill>
                  <a:schemeClr val="lt1"/>
                </a:solidFill>
                <a:latin typeface="Space Grotesk"/>
                <a:ea typeface="Space Grotesk"/>
                <a:cs typeface="Space Grotesk"/>
                <a:sym typeface="Space Grotesk"/>
              </a:defRPr>
            </a:lvl2pPr>
            <a:lvl3pPr lvl="2">
              <a:buNone/>
              <a:defRPr sz="1300">
                <a:solidFill>
                  <a:schemeClr val="lt1"/>
                </a:solidFill>
                <a:latin typeface="Space Grotesk"/>
                <a:ea typeface="Space Grotesk"/>
                <a:cs typeface="Space Grotesk"/>
                <a:sym typeface="Space Grotesk"/>
              </a:defRPr>
            </a:lvl3pPr>
            <a:lvl4pPr lvl="3">
              <a:buNone/>
              <a:defRPr sz="1300">
                <a:solidFill>
                  <a:schemeClr val="lt1"/>
                </a:solidFill>
                <a:latin typeface="Space Grotesk"/>
                <a:ea typeface="Space Grotesk"/>
                <a:cs typeface="Space Grotesk"/>
                <a:sym typeface="Space Grotesk"/>
              </a:defRPr>
            </a:lvl4pPr>
            <a:lvl5pPr lvl="4">
              <a:buNone/>
              <a:defRPr sz="1300">
                <a:solidFill>
                  <a:schemeClr val="lt1"/>
                </a:solidFill>
                <a:latin typeface="Space Grotesk"/>
                <a:ea typeface="Space Grotesk"/>
                <a:cs typeface="Space Grotesk"/>
                <a:sym typeface="Space Grotesk"/>
              </a:defRPr>
            </a:lvl5pPr>
            <a:lvl6pPr lvl="5">
              <a:buNone/>
              <a:defRPr sz="1300">
                <a:solidFill>
                  <a:schemeClr val="lt1"/>
                </a:solidFill>
                <a:latin typeface="Space Grotesk"/>
                <a:ea typeface="Space Grotesk"/>
                <a:cs typeface="Space Grotesk"/>
                <a:sym typeface="Space Grotesk"/>
              </a:defRPr>
            </a:lvl6pPr>
            <a:lvl7pPr lvl="6">
              <a:buNone/>
              <a:defRPr sz="1300">
                <a:solidFill>
                  <a:schemeClr val="lt1"/>
                </a:solidFill>
                <a:latin typeface="Space Grotesk"/>
                <a:ea typeface="Space Grotesk"/>
                <a:cs typeface="Space Grotesk"/>
                <a:sym typeface="Space Grotesk"/>
              </a:defRPr>
            </a:lvl7pPr>
            <a:lvl8pPr lvl="7">
              <a:buNone/>
              <a:defRPr sz="1300">
                <a:solidFill>
                  <a:schemeClr val="lt1"/>
                </a:solidFill>
                <a:latin typeface="Space Grotesk"/>
                <a:ea typeface="Space Grotesk"/>
                <a:cs typeface="Space Grotesk"/>
                <a:sym typeface="Space Grotesk"/>
              </a:defRPr>
            </a:lvl8pPr>
            <a:lvl9pPr lvl="8">
              <a:buNone/>
              <a:defRPr sz="1300">
                <a:solidFill>
                  <a:schemeClr val="lt1"/>
                </a:solidFill>
                <a:latin typeface="Space Grotesk"/>
                <a:ea typeface="Space Grotesk"/>
                <a:cs typeface="Space Grotesk"/>
                <a:sym typeface="Space Grotesk"/>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Light Background - Title Only">
  <p:cSld name="Light Background - Title Only">
    <p:spTree>
      <p:nvGrpSpPr>
        <p:cNvPr id="1" name="Shape 59"/>
        <p:cNvGrpSpPr/>
        <p:nvPr/>
      </p:nvGrpSpPr>
      <p:grpSpPr>
        <a:xfrm>
          <a:off x="0" y="0"/>
          <a:ext cx="0" cy="0"/>
          <a:chOff x="0" y="0"/>
          <a:chExt cx="0" cy="0"/>
        </a:xfrm>
      </p:grpSpPr>
      <p:sp>
        <p:nvSpPr>
          <p:cNvPr id="60" name="Google Shape;60;p14"/>
          <p:cNvSpPr/>
          <p:nvPr/>
        </p:nvSpPr>
        <p:spPr>
          <a:xfrm>
            <a:off x="-24300" y="-9750"/>
            <a:ext cx="9168300" cy="708000"/>
          </a:xfrm>
          <a:prstGeom prst="rect">
            <a:avLst/>
          </a:prstGeom>
          <a:solidFill>
            <a:srgbClr val="11206D"/>
          </a:solidFill>
          <a:ln>
            <a:noFill/>
          </a:ln>
        </p:spPr>
        <p:txBody>
          <a:bodyPr spcFirstLastPara="1" wrap="square" lIns="457200"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Montserrat"/>
              <a:ea typeface="Montserrat"/>
              <a:cs typeface="Montserrat"/>
              <a:sym typeface="Montserrat"/>
            </a:endParaRPr>
          </a:p>
        </p:txBody>
      </p:sp>
      <p:sp>
        <p:nvSpPr>
          <p:cNvPr id="61" name="Google Shape;61;p14"/>
          <p:cNvSpPr txBox="1">
            <a:spLocks noGrp="1"/>
          </p:cNvSpPr>
          <p:nvPr>
            <p:ph type="title"/>
          </p:nvPr>
        </p:nvSpPr>
        <p:spPr>
          <a:xfrm>
            <a:off x="-24300" y="-9750"/>
            <a:ext cx="7397100" cy="708000"/>
          </a:xfrm>
          <a:prstGeom prst="rect">
            <a:avLst/>
          </a:prstGeom>
          <a:noFill/>
          <a:ln>
            <a:noFill/>
          </a:ln>
        </p:spPr>
        <p:txBody>
          <a:bodyPr spcFirstLastPara="1" wrap="square" lIns="365750" tIns="91425" rIns="91425" bIns="91425" anchor="ctr" anchorCtr="0">
            <a:normAutofit/>
          </a:bodyPr>
          <a:lstStyle>
            <a:lvl1pPr marR="0" lvl="0" algn="l">
              <a:lnSpc>
                <a:spcPct val="100000"/>
              </a:lnSpc>
              <a:spcBef>
                <a:spcPts val="0"/>
              </a:spcBef>
              <a:spcAft>
                <a:spcPts val="0"/>
              </a:spcAft>
              <a:buClr>
                <a:schemeClr val="lt1"/>
              </a:buClr>
              <a:buSzPts val="2400"/>
              <a:buFont typeface="Space Grotesk SemiBold"/>
              <a:buNone/>
              <a:defRPr sz="2400" b="0" i="0" u="none" strike="noStrike" cap="none">
                <a:solidFill>
                  <a:schemeClr val="lt1"/>
                </a:solidFill>
                <a:latin typeface="Space Grotesk SemiBold"/>
                <a:ea typeface="Space Grotesk SemiBold"/>
                <a:cs typeface="Space Grotesk SemiBold"/>
                <a:sym typeface="Space Grotesk SemiBold"/>
              </a:defRPr>
            </a:lvl1pPr>
            <a:lvl2pPr marR="0" lvl="1" algn="l">
              <a:lnSpc>
                <a:spcPct val="100000"/>
              </a:lnSpc>
              <a:spcBef>
                <a:spcPts val="0"/>
              </a:spcBef>
              <a:spcAft>
                <a:spcPts val="0"/>
              </a:spcAft>
              <a:buClr>
                <a:srgbClr val="000000"/>
              </a:buClr>
              <a:buSzPts val="30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30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30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30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30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30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30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30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62" name="Google Shape;62;p14" title="logo-dark-back.png"/>
          <p:cNvPicPr preferRelativeResize="0"/>
          <p:nvPr/>
        </p:nvPicPr>
        <p:blipFill rotWithShape="1">
          <a:blip r:embed="rId2">
            <a:alphaModFix/>
          </a:blip>
          <a:srcRect/>
          <a:stretch/>
        </p:blipFill>
        <p:spPr>
          <a:xfrm>
            <a:off x="7504102" y="173626"/>
            <a:ext cx="1444050" cy="341250"/>
          </a:xfrm>
          <a:prstGeom prst="rect">
            <a:avLst/>
          </a:prstGeom>
          <a:noFill/>
          <a:ln>
            <a:noFill/>
          </a:ln>
        </p:spPr>
      </p:pic>
      <p:sp>
        <p:nvSpPr>
          <p:cNvPr id="63" name="Google Shape;63;p14"/>
          <p:cNvSpPr txBox="1">
            <a:spLocks noGrp="1"/>
          </p:cNvSpPr>
          <p:nvPr>
            <p:ph type="sldNum" idx="12"/>
          </p:nvPr>
        </p:nvSpPr>
        <p:spPr>
          <a:xfrm>
            <a:off x="8728887" y="4883719"/>
            <a:ext cx="248700" cy="1119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Light Background - Title Only 1">
  <p:cSld name="CUSTOM_1">
    <p:spTree>
      <p:nvGrpSpPr>
        <p:cNvPr id="1" name="Shape 64"/>
        <p:cNvGrpSpPr/>
        <p:nvPr/>
      </p:nvGrpSpPr>
      <p:grpSpPr>
        <a:xfrm>
          <a:off x="0" y="0"/>
          <a:ext cx="0" cy="0"/>
          <a:chOff x="0" y="0"/>
          <a:chExt cx="0" cy="0"/>
        </a:xfrm>
      </p:grpSpPr>
      <p:sp>
        <p:nvSpPr>
          <p:cNvPr id="65" name="Google Shape;65;p15"/>
          <p:cNvSpPr/>
          <p:nvPr/>
        </p:nvSpPr>
        <p:spPr>
          <a:xfrm>
            <a:off x="-24300" y="-9750"/>
            <a:ext cx="9168300" cy="708000"/>
          </a:xfrm>
          <a:prstGeom prst="rect">
            <a:avLst/>
          </a:prstGeom>
          <a:solidFill>
            <a:srgbClr val="11206D"/>
          </a:solidFill>
          <a:ln>
            <a:noFill/>
          </a:ln>
        </p:spPr>
        <p:txBody>
          <a:bodyPr spcFirstLastPara="1" wrap="square" lIns="457200"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Montserrat"/>
              <a:ea typeface="Montserrat"/>
              <a:cs typeface="Montserrat"/>
              <a:sym typeface="Montserrat"/>
            </a:endParaRPr>
          </a:p>
        </p:txBody>
      </p:sp>
      <p:sp>
        <p:nvSpPr>
          <p:cNvPr id="66" name="Google Shape;66;p15"/>
          <p:cNvSpPr txBox="1">
            <a:spLocks noGrp="1"/>
          </p:cNvSpPr>
          <p:nvPr>
            <p:ph type="title"/>
          </p:nvPr>
        </p:nvSpPr>
        <p:spPr>
          <a:xfrm>
            <a:off x="-24300" y="-9750"/>
            <a:ext cx="7397100" cy="708000"/>
          </a:xfrm>
          <a:prstGeom prst="rect">
            <a:avLst/>
          </a:prstGeom>
          <a:noFill/>
          <a:ln>
            <a:noFill/>
          </a:ln>
        </p:spPr>
        <p:txBody>
          <a:bodyPr spcFirstLastPara="1" wrap="square" lIns="365750" tIns="91425" rIns="91425" bIns="91425" anchor="ctr" anchorCtr="0">
            <a:normAutofit/>
          </a:bodyPr>
          <a:lstStyle>
            <a:lvl1pPr lvl="0" algn="l">
              <a:lnSpc>
                <a:spcPct val="100000"/>
              </a:lnSpc>
              <a:spcBef>
                <a:spcPts val="0"/>
              </a:spcBef>
              <a:spcAft>
                <a:spcPts val="0"/>
              </a:spcAft>
              <a:buClr>
                <a:schemeClr val="lt1"/>
              </a:buClr>
              <a:buSzPts val="2400"/>
              <a:buFont typeface="Space Grotesk SemiBold"/>
              <a:buNone/>
              <a:defRPr sz="2400" b="0">
                <a:solidFill>
                  <a:schemeClr val="lt1"/>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pic>
        <p:nvPicPr>
          <p:cNvPr id="67" name="Google Shape;67;p15" title="logo-dark-back.png"/>
          <p:cNvPicPr preferRelativeResize="0"/>
          <p:nvPr/>
        </p:nvPicPr>
        <p:blipFill>
          <a:blip r:embed="rId2">
            <a:alphaModFix/>
          </a:blip>
          <a:stretch>
            <a:fillRect/>
          </a:stretch>
        </p:blipFill>
        <p:spPr>
          <a:xfrm>
            <a:off x="7504102" y="173626"/>
            <a:ext cx="1444050" cy="341250"/>
          </a:xfrm>
          <a:prstGeom prst="rect">
            <a:avLst/>
          </a:prstGeom>
          <a:noFill/>
          <a:ln>
            <a:noFill/>
          </a:ln>
        </p:spPr>
      </p:pic>
      <p:sp>
        <p:nvSpPr>
          <p:cNvPr id="68" name="Google Shape;68;p15"/>
          <p:cNvSpPr txBox="1">
            <a:spLocks noGrp="1"/>
          </p:cNvSpPr>
          <p:nvPr>
            <p:ph type="sldNum" idx="12"/>
          </p:nvPr>
        </p:nvSpPr>
        <p:spPr>
          <a:xfrm>
            <a:off x="8728887" y="4883719"/>
            <a:ext cx="248700" cy="111900"/>
          </a:xfrm>
          <a:prstGeom prst="rect">
            <a:avLst/>
          </a:prstGeom>
          <a:noFill/>
          <a:ln>
            <a:noFill/>
          </a:ln>
        </p:spPr>
        <p:txBody>
          <a:bodyPr spcFirstLastPara="1" wrap="square" lIns="0" tIns="0" rIns="0" bIns="0" anchor="b" anchorCtr="0">
            <a:noAutofit/>
          </a:bodyPr>
          <a:lstStyle>
            <a:lvl1pPr marL="0" marR="0" lvl="0"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1pPr>
            <a:lvl2pPr marL="0" marR="0" lvl="1"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2pPr>
            <a:lvl3pPr marL="0" marR="0" lvl="2"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3pPr>
            <a:lvl4pPr marL="0" marR="0" lvl="3"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4pPr>
            <a:lvl5pPr marL="0" marR="0" lvl="4"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5pPr>
            <a:lvl6pPr marL="0" marR="0" lvl="5"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6pPr>
            <a:lvl7pPr marL="0" marR="0" lvl="6"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7pPr>
            <a:lvl8pPr marL="0" marR="0" lvl="7"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8pPr>
            <a:lvl9pPr marL="0" marR="0" lvl="8"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Dark Background 1">
  <p:cSld name="Small Title Only BLACK_1">
    <p:bg>
      <p:bgPr>
        <a:solidFill>
          <a:schemeClr val="lt2"/>
        </a:solidFill>
        <a:effectLst/>
      </p:bgPr>
    </p:bg>
    <p:spTree>
      <p:nvGrpSpPr>
        <p:cNvPr id="1" name="Shape 69"/>
        <p:cNvGrpSpPr/>
        <p:nvPr/>
      </p:nvGrpSpPr>
      <p:grpSpPr>
        <a:xfrm>
          <a:off x="0" y="0"/>
          <a:ext cx="0" cy="0"/>
          <a:chOff x="0" y="0"/>
          <a:chExt cx="0" cy="0"/>
        </a:xfrm>
      </p:grpSpPr>
      <p:pic>
        <p:nvPicPr>
          <p:cNvPr id="70" name="Google Shape;70;p16" descr="abstract background"/>
          <p:cNvPicPr preferRelativeResize="0"/>
          <p:nvPr/>
        </p:nvPicPr>
        <p:blipFill rotWithShape="1">
          <a:blip r:embed="rId2">
            <a:alphaModFix/>
          </a:blip>
          <a:srcRect/>
          <a:stretch/>
        </p:blipFill>
        <p:spPr>
          <a:xfrm>
            <a:off x="200" y="-1"/>
            <a:ext cx="9143597" cy="5143501"/>
          </a:xfrm>
          <a:prstGeom prst="rect">
            <a:avLst/>
          </a:prstGeom>
          <a:noFill/>
          <a:ln>
            <a:noFill/>
          </a:ln>
        </p:spPr>
      </p:pic>
      <p:sp>
        <p:nvSpPr>
          <p:cNvPr id="71" name="Google Shape;71;p16"/>
          <p:cNvSpPr txBox="1">
            <a:spLocks noGrp="1"/>
          </p:cNvSpPr>
          <p:nvPr>
            <p:ph type="title"/>
          </p:nvPr>
        </p:nvSpPr>
        <p:spPr>
          <a:xfrm>
            <a:off x="873450" y="1761775"/>
            <a:ext cx="7397100" cy="1204800"/>
          </a:xfrm>
          <a:prstGeom prst="rect">
            <a:avLst/>
          </a:prstGeom>
          <a:noFill/>
          <a:ln>
            <a:noFill/>
          </a:ln>
        </p:spPr>
        <p:txBody>
          <a:bodyPr spcFirstLastPara="1" wrap="square" lIns="365750" tIns="91425" rIns="91425" bIns="91425" anchor="ctr" anchorCtr="0">
            <a:normAutofit/>
          </a:bodyPr>
          <a:lstStyle>
            <a:lvl1pPr lvl="0" algn="ctr">
              <a:lnSpc>
                <a:spcPct val="100000"/>
              </a:lnSpc>
              <a:spcBef>
                <a:spcPts val="0"/>
              </a:spcBef>
              <a:spcAft>
                <a:spcPts val="0"/>
              </a:spcAft>
              <a:buClr>
                <a:schemeClr val="lt1"/>
              </a:buClr>
              <a:buSzPts val="3200"/>
              <a:buFont typeface="Space Grotesk SemiBold"/>
              <a:buNone/>
              <a:defRPr sz="3200" b="0">
                <a:solidFill>
                  <a:schemeClr val="lt1"/>
                </a:solidFill>
                <a:latin typeface="Space Grotesk SemiBold"/>
                <a:ea typeface="Space Grotesk SemiBold"/>
                <a:cs typeface="Space Grotesk SemiBold"/>
                <a:sym typeface="Space Grotesk SemiBold"/>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pic>
        <p:nvPicPr>
          <p:cNvPr id="72" name="Google Shape;72;p16" title="logo-dark-back.png"/>
          <p:cNvPicPr preferRelativeResize="0"/>
          <p:nvPr/>
        </p:nvPicPr>
        <p:blipFill>
          <a:blip r:embed="rId3">
            <a:alphaModFix/>
          </a:blip>
          <a:stretch>
            <a:fillRect/>
          </a:stretch>
        </p:blipFill>
        <p:spPr>
          <a:xfrm>
            <a:off x="7504102" y="173626"/>
            <a:ext cx="1444050" cy="341250"/>
          </a:xfrm>
          <a:prstGeom prst="rect">
            <a:avLst/>
          </a:prstGeom>
          <a:noFill/>
          <a:ln>
            <a:noFill/>
          </a:ln>
        </p:spPr>
      </p:pic>
      <p:sp>
        <p:nvSpPr>
          <p:cNvPr id="73" name="Google Shape;73;p16"/>
          <p:cNvSpPr txBox="1">
            <a:spLocks noGrp="1"/>
          </p:cNvSpPr>
          <p:nvPr>
            <p:ph type="sldNum" idx="12"/>
          </p:nvPr>
        </p:nvSpPr>
        <p:spPr>
          <a:xfrm>
            <a:off x="8728887" y="4883719"/>
            <a:ext cx="248700" cy="111900"/>
          </a:xfrm>
          <a:prstGeom prst="rect">
            <a:avLst/>
          </a:prstGeom>
          <a:noFill/>
          <a:ln>
            <a:noFill/>
          </a:ln>
        </p:spPr>
        <p:txBody>
          <a:bodyPr spcFirstLastPara="1" wrap="square" lIns="0" tIns="0" rIns="0" bIns="0" anchor="b" anchorCtr="0">
            <a:noAutofit/>
          </a:bodyPr>
          <a:lstStyle>
            <a:lvl1pPr marL="0" marR="0" lvl="0"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1pPr>
            <a:lvl2pPr marL="0" marR="0" lvl="1"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2pPr>
            <a:lvl3pPr marL="0" marR="0" lvl="2"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3pPr>
            <a:lvl4pPr marL="0" marR="0" lvl="3"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4pPr>
            <a:lvl5pPr marL="0" marR="0" lvl="4"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5pPr>
            <a:lvl6pPr marL="0" marR="0" lvl="5"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6pPr>
            <a:lvl7pPr marL="0" marR="0" lvl="6"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7pPr>
            <a:lvl8pPr marL="0" marR="0" lvl="7"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8pPr>
            <a:lvl9pPr marL="0" marR="0" lvl="8"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Divider 3">
  <p:cSld name="Divider 3">
    <p:bg>
      <p:bgPr>
        <a:solidFill>
          <a:schemeClr val="lt1"/>
        </a:solidFill>
        <a:effectLst/>
      </p:bgPr>
    </p:bg>
    <p:spTree>
      <p:nvGrpSpPr>
        <p:cNvPr id="1" name="Shape 74"/>
        <p:cNvGrpSpPr/>
        <p:nvPr/>
      </p:nvGrpSpPr>
      <p:grpSpPr>
        <a:xfrm>
          <a:off x="0" y="0"/>
          <a:ext cx="0" cy="0"/>
          <a:chOff x="0" y="0"/>
          <a:chExt cx="0" cy="0"/>
        </a:xfrm>
      </p:grpSpPr>
      <p:pic>
        <p:nvPicPr>
          <p:cNvPr id="75" name="Google Shape;75;p17" title="399207776_560ef63d-dcb7-48f5-840c-271f85548a75.jpg"/>
          <p:cNvPicPr preferRelativeResize="0"/>
          <p:nvPr/>
        </p:nvPicPr>
        <p:blipFill rotWithShape="1">
          <a:blip r:embed="rId2">
            <a:alphaModFix/>
          </a:blip>
          <a:srcRect l="129" r="576"/>
          <a:stretch/>
        </p:blipFill>
        <p:spPr>
          <a:xfrm>
            <a:off x="0" y="-16225"/>
            <a:ext cx="9143997" cy="5188851"/>
          </a:xfrm>
          <a:prstGeom prst="rect">
            <a:avLst/>
          </a:prstGeom>
          <a:noFill/>
          <a:ln>
            <a:noFill/>
          </a:ln>
        </p:spPr>
      </p:pic>
      <p:sp>
        <p:nvSpPr>
          <p:cNvPr id="76" name="Google Shape;76;p17"/>
          <p:cNvSpPr txBox="1">
            <a:spLocks noGrp="1"/>
          </p:cNvSpPr>
          <p:nvPr>
            <p:ph type="ctrTitle"/>
          </p:nvPr>
        </p:nvSpPr>
        <p:spPr>
          <a:xfrm>
            <a:off x="628650" y="1944745"/>
            <a:ext cx="5191200" cy="1035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2700"/>
              <a:buFont typeface="Montserrat ExtraBold"/>
              <a:buNone/>
              <a:defRPr sz="27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7" name="Google Shape;77;p17"/>
          <p:cNvSpPr txBox="1">
            <a:spLocks noGrp="1"/>
          </p:cNvSpPr>
          <p:nvPr>
            <p:ph type="ftr" idx="11"/>
          </p:nvPr>
        </p:nvSpPr>
        <p:spPr>
          <a:xfrm>
            <a:off x="628650" y="4941094"/>
            <a:ext cx="2057400" cy="1119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100"/>
              <a:buNone/>
              <a:defRPr sz="1100">
                <a:solidFill>
                  <a:schemeClr val="lt2"/>
                </a:solidFill>
              </a:defRPr>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78" name="Google Shape;78;p17"/>
          <p:cNvSpPr txBox="1">
            <a:spLocks noGrp="1"/>
          </p:cNvSpPr>
          <p:nvPr>
            <p:ph type="sldNum" idx="12"/>
          </p:nvPr>
        </p:nvSpPr>
        <p:spPr>
          <a:xfrm>
            <a:off x="225028" y="4948237"/>
            <a:ext cx="178800" cy="111900"/>
          </a:xfrm>
          <a:prstGeom prst="rect">
            <a:avLst/>
          </a:prstGeom>
          <a:noFill/>
          <a:ln>
            <a:noFill/>
          </a:ln>
        </p:spPr>
        <p:txBody>
          <a:bodyPr spcFirstLastPara="1" wrap="square" lIns="0" tIns="0" rIns="0" bIns="0" anchor="b" anchorCtr="0">
            <a:noAutofit/>
          </a:bodyPr>
          <a:lstStyle>
            <a:lvl1pPr marL="0" marR="0" lvl="0"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1pPr>
            <a:lvl2pPr marL="0" marR="0" lvl="1"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2pPr>
            <a:lvl3pPr marL="0" marR="0" lvl="2"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3pPr>
            <a:lvl4pPr marL="0" marR="0" lvl="3"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4pPr>
            <a:lvl5pPr marL="0" marR="0" lvl="4"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5pPr>
            <a:lvl6pPr marL="0" marR="0" lvl="5"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6pPr>
            <a:lvl7pPr marL="0" marR="0" lvl="6"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7pPr>
            <a:lvl8pPr marL="0" marR="0" lvl="7"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8pPr>
            <a:lvl9pPr marL="0" marR="0" lvl="8"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1">
  <p:cSld name="Title and body">
    <p:spTree>
      <p:nvGrpSpPr>
        <p:cNvPr id="1" name="Shape 79"/>
        <p:cNvGrpSpPr/>
        <p:nvPr/>
      </p:nvGrpSpPr>
      <p:grpSpPr>
        <a:xfrm>
          <a:off x="0" y="0"/>
          <a:ext cx="0" cy="0"/>
          <a:chOff x="0" y="0"/>
          <a:chExt cx="0" cy="0"/>
        </a:xfrm>
      </p:grpSpPr>
      <p:sp>
        <p:nvSpPr>
          <p:cNvPr id="80" name="Google Shape;80;p18"/>
          <p:cNvSpPr txBox="1">
            <a:spLocks noGrp="1"/>
          </p:cNvSpPr>
          <p:nvPr>
            <p:ph type="title"/>
          </p:nvPr>
        </p:nvSpPr>
        <p:spPr>
          <a:xfrm>
            <a:off x="311700" y="445025"/>
            <a:ext cx="6946500" cy="572700"/>
          </a:xfrm>
          <a:prstGeom prst="rect">
            <a:avLst/>
          </a:prstGeom>
          <a:noFill/>
          <a:ln>
            <a:noFill/>
          </a:ln>
        </p:spPr>
        <p:txBody>
          <a:bodyPr spcFirstLastPara="1" wrap="square" lIns="68550" tIns="68550" rIns="68550" bIns="68550" anchor="t" anchorCtr="0">
            <a:normAutofit/>
          </a:bodyPr>
          <a:lstStyle>
            <a:lvl1pPr lvl="0" algn="l">
              <a:lnSpc>
                <a:spcPct val="90000"/>
              </a:lnSpc>
              <a:spcBef>
                <a:spcPts val="0"/>
              </a:spcBef>
              <a:spcAft>
                <a:spcPts val="0"/>
              </a:spcAft>
              <a:buClr>
                <a:srgbClr val="000000"/>
              </a:buClr>
              <a:buSzPts val="1400"/>
              <a:buNone/>
              <a:defRPr/>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a:endParaRPr/>
          </a:p>
        </p:txBody>
      </p:sp>
      <p:sp>
        <p:nvSpPr>
          <p:cNvPr id="81" name="Google Shape;81;p18"/>
          <p:cNvSpPr txBox="1">
            <a:spLocks noGrp="1"/>
          </p:cNvSpPr>
          <p:nvPr>
            <p:ph type="body" idx="1"/>
          </p:nvPr>
        </p:nvSpPr>
        <p:spPr>
          <a:xfrm>
            <a:off x="311700" y="1152475"/>
            <a:ext cx="8520600" cy="3416400"/>
          </a:xfrm>
          <a:prstGeom prst="rect">
            <a:avLst/>
          </a:prstGeom>
          <a:noFill/>
          <a:ln>
            <a:noFill/>
          </a:ln>
        </p:spPr>
        <p:txBody>
          <a:bodyPr spcFirstLastPara="1" wrap="square" lIns="68550" tIns="68550" rIns="68550" bIns="68550" anchor="t" anchorCtr="0">
            <a:normAutofit/>
          </a:bodyPr>
          <a:lstStyle>
            <a:lvl1pPr marL="457200" lvl="0" indent="-342900" algn="l">
              <a:lnSpc>
                <a:spcPct val="90000"/>
              </a:lnSpc>
              <a:spcBef>
                <a:spcPts val="0"/>
              </a:spcBef>
              <a:spcAft>
                <a:spcPts val="0"/>
              </a:spcAft>
              <a:buSzPts val="1800"/>
              <a:buChar char="●"/>
              <a:defRPr/>
            </a:lvl1pPr>
            <a:lvl2pPr marL="914400" lvl="1" indent="-342900" algn="l">
              <a:lnSpc>
                <a:spcPct val="90000"/>
              </a:lnSpc>
              <a:spcBef>
                <a:spcPts val="0"/>
              </a:spcBef>
              <a:spcAft>
                <a:spcPts val="0"/>
              </a:spcAft>
              <a:buSzPts val="1800"/>
              <a:buChar char="○"/>
              <a:defRPr/>
            </a:lvl2pPr>
            <a:lvl3pPr marL="1371600" lvl="2" indent="-342900" algn="l">
              <a:lnSpc>
                <a:spcPct val="90000"/>
              </a:lnSpc>
              <a:spcBef>
                <a:spcPts val="0"/>
              </a:spcBef>
              <a:spcAft>
                <a:spcPts val="0"/>
              </a:spcAft>
              <a:buSzPts val="1800"/>
              <a:buChar char="■"/>
              <a:defRPr/>
            </a:lvl3pPr>
            <a:lvl4pPr marL="1828800" lvl="3" indent="-342900" algn="l">
              <a:lnSpc>
                <a:spcPct val="90000"/>
              </a:lnSpc>
              <a:spcBef>
                <a:spcPts val="0"/>
              </a:spcBef>
              <a:spcAft>
                <a:spcPts val="0"/>
              </a:spcAft>
              <a:buSzPts val="1800"/>
              <a:buChar char="●"/>
              <a:defRPr/>
            </a:lvl4pPr>
            <a:lvl5pPr marL="2286000" lvl="4" indent="-342900" algn="l">
              <a:lnSpc>
                <a:spcPct val="90000"/>
              </a:lnSpc>
              <a:spcBef>
                <a:spcPts val="0"/>
              </a:spcBef>
              <a:spcAft>
                <a:spcPts val="0"/>
              </a:spcAft>
              <a:buSzPts val="1800"/>
              <a:buChar char="○"/>
              <a:defRPr/>
            </a:lvl5pPr>
            <a:lvl6pPr marL="2743200" lvl="5" indent="-317500" algn="l">
              <a:lnSpc>
                <a:spcPct val="90000"/>
              </a:lnSpc>
              <a:spcBef>
                <a:spcPts val="0"/>
              </a:spcBef>
              <a:spcAft>
                <a:spcPts val="0"/>
              </a:spcAft>
              <a:buSzPts val="1400"/>
              <a:buChar char="•"/>
              <a:defRPr/>
            </a:lvl6pPr>
            <a:lvl7pPr marL="3200400" lvl="6" indent="-317500" algn="l">
              <a:lnSpc>
                <a:spcPct val="90000"/>
              </a:lnSpc>
              <a:spcBef>
                <a:spcPts val="0"/>
              </a:spcBef>
              <a:spcAft>
                <a:spcPts val="0"/>
              </a:spcAft>
              <a:buSzPts val="1400"/>
              <a:buChar char="•"/>
              <a:defRPr/>
            </a:lvl7pPr>
            <a:lvl8pPr marL="3657600" lvl="7" indent="-317500" algn="l">
              <a:lnSpc>
                <a:spcPct val="90000"/>
              </a:lnSpc>
              <a:spcBef>
                <a:spcPts val="0"/>
              </a:spcBef>
              <a:spcAft>
                <a:spcPts val="0"/>
              </a:spcAft>
              <a:buSzPts val="1400"/>
              <a:buChar char="•"/>
              <a:defRPr/>
            </a:lvl8pPr>
            <a:lvl9pPr marL="4114800" lvl="8" indent="-317500" algn="l">
              <a:lnSpc>
                <a:spcPct val="90000"/>
              </a:lnSpc>
              <a:spcBef>
                <a:spcPts val="0"/>
              </a:spcBef>
              <a:spcAft>
                <a:spcPts val="0"/>
              </a:spcAft>
              <a:buSzPts val="1400"/>
              <a:buChar char="•"/>
              <a:defRPr/>
            </a:lvl9pPr>
          </a:lstStyle>
          <a:p>
            <a:endParaRPr/>
          </a:p>
        </p:txBody>
      </p:sp>
      <p:sp>
        <p:nvSpPr>
          <p:cNvPr id="82" name="Google Shape;82;p18"/>
          <p:cNvSpPr txBox="1">
            <a:spLocks noGrp="1"/>
          </p:cNvSpPr>
          <p:nvPr>
            <p:ph type="sldNum" idx="12"/>
          </p:nvPr>
        </p:nvSpPr>
        <p:spPr>
          <a:xfrm>
            <a:off x="8779148" y="4739062"/>
            <a:ext cx="242100" cy="241800"/>
          </a:xfrm>
          <a:prstGeom prst="rect">
            <a:avLst/>
          </a:prstGeom>
          <a:noFill/>
          <a:ln>
            <a:noFill/>
          </a:ln>
        </p:spPr>
        <p:txBody>
          <a:bodyPr spcFirstLastPara="1" wrap="square" lIns="68550" tIns="68550" rIns="68550" bIns="68550" anchor="ctr" anchorCtr="0">
            <a:normAutofit lnSpcReduction="10000"/>
          </a:bodyPr>
          <a:lstStyle>
            <a:lvl1pPr marL="0" marR="0" lvl="0"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losing">
  <p:cSld name="CUSTOM_2">
    <p:bg>
      <p:bgPr>
        <a:solidFill>
          <a:srgbClr val="11206D"/>
        </a:solidFill>
        <a:effectLst/>
      </p:bgPr>
    </p:bg>
    <p:spTree>
      <p:nvGrpSpPr>
        <p:cNvPr id="1" name="Shape 83"/>
        <p:cNvGrpSpPr/>
        <p:nvPr/>
      </p:nvGrpSpPr>
      <p:grpSpPr>
        <a:xfrm>
          <a:off x="0" y="0"/>
          <a:ext cx="0" cy="0"/>
          <a:chOff x="0" y="0"/>
          <a:chExt cx="0" cy="0"/>
        </a:xfrm>
      </p:grpSpPr>
      <p:pic>
        <p:nvPicPr>
          <p:cNvPr id="84" name="Google Shape;84;p19" title="logo-dark-back.png"/>
          <p:cNvPicPr preferRelativeResize="0"/>
          <p:nvPr/>
        </p:nvPicPr>
        <p:blipFill>
          <a:blip r:embed="rId2">
            <a:alphaModFix/>
          </a:blip>
          <a:stretch>
            <a:fillRect/>
          </a:stretch>
        </p:blipFill>
        <p:spPr>
          <a:xfrm>
            <a:off x="2881551" y="653075"/>
            <a:ext cx="3380849" cy="837250"/>
          </a:xfrm>
          <a:prstGeom prst="rect">
            <a:avLst/>
          </a:prstGeom>
          <a:noFill/>
          <a:ln>
            <a:noFill/>
          </a:ln>
        </p:spPr>
      </p:pic>
      <p:sp>
        <p:nvSpPr>
          <p:cNvPr id="85" name="Google Shape;85;p19"/>
          <p:cNvSpPr txBox="1">
            <a:spLocks noGrp="1"/>
          </p:cNvSpPr>
          <p:nvPr>
            <p:ph type="title"/>
          </p:nvPr>
        </p:nvSpPr>
        <p:spPr>
          <a:xfrm>
            <a:off x="1644425" y="1845000"/>
            <a:ext cx="5855100" cy="541500"/>
          </a:xfrm>
          <a:prstGeom prst="rect">
            <a:avLst/>
          </a:prstGeom>
        </p:spPr>
        <p:txBody>
          <a:bodyPr spcFirstLastPara="1" wrap="square" lIns="91425" tIns="91425" rIns="91425" bIns="91425" anchor="t" anchorCtr="0">
            <a:normAutofit/>
          </a:bodyPr>
          <a:lstStyle>
            <a:lvl1pPr lvl="0"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1pPr>
            <a:lvl2pPr lvl="1"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2pPr>
            <a:lvl3pPr lvl="2"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3pPr>
            <a:lvl4pPr lvl="3"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4pPr>
            <a:lvl5pPr lvl="4"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5pPr>
            <a:lvl6pPr lvl="5"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6pPr>
            <a:lvl7pPr lvl="6"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7pPr>
            <a:lvl8pPr lvl="7"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8pPr>
            <a:lvl9pPr lvl="8"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9pPr>
          </a:lstStyle>
          <a:p>
            <a:endParaRPr/>
          </a:p>
        </p:txBody>
      </p:sp>
      <p:sp>
        <p:nvSpPr>
          <p:cNvPr id="86" name="Google Shape;86;p19"/>
          <p:cNvSpPr txBox="1">
            <a:spLocks noGrp="1"/>
          </p:cNvSpPr>
          <p:nvPr>
            <p:ph type="title" idx="2"/>
          </p:nvPr>
        </p:nvSpPr>
        <p:spPr>
          <a:xfrm>
            <a:off x="2667275" y="2386488"/>
            <a:ext cx="3809400" cy="4584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2800"/>
              <a:buFont typeface="Space Grotesk"/>
              <a:buNone/>
              <a:defRPr>
                <a:solidFill>
                  <a:schemeClr val="lt1"/>
                </a:solidFill>
                <a:latin typeface="Space Grotesk"/>
                <a:ea typeface="Space Grotesk"/>
                <a:cs typeface="Space Grotesk"/>
                <a:sym typeface="Space Grotesk"/>
              </a:defRPr>
            </a:lvl1pPr>
            <a:lvl2pPr lvl="1"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2pPr>
            <a:lvl3pPr lvl="2"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3pPr>
            <a:lvl4pPr lvl="3"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4pPr>
            <a:lvl5pPr lvl="4"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5pPr>
            <a:lvl6pPr lvl="5"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6pPr>
            <a:lvl7pPr lvl="6"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7pPr>
            <a:lvl8pPr lvl="7"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8pPr>
            <a:lvl9pPr lvl="8"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9pPr>
          </a:lstStyle>
          <a:p>
            <a:endParaRPr/>
          </a:p>
        </p:txBody>
      </p:sp>
      <p:pic>
        <p:nvPicPr>
          <p:cNvPr id="87" name="Google Shape;87;p19"/>
          <p:cNvPicPr preferRelativeResize="0"/>
          <p:nvPr/>
        </p:nvPicPr>
        <p:blipFill>
          <a:blip r:embed="rId3">
            <a:alphaModFix/>
          </a:blip>
          <a:stretch>
            <a:fillRect/>
          </a:stretch>
        </p:blipFill>
        <p:spPr>
          <a:xfrm>
            <a:off x="2452674" y="3803025"/>
            <a:ext cx="4238602" cy="666400"/>
          </a:xfrm>
          <a:prstGeom prst="rect">
            <a:avLst/>
          </a:prstGeom>
          <a:noFill/>
          <a:ln>
            <a:noFill/>
          </a:ln>
        </p:spPr>
      </p:pic>
      <p:grpSp>
        <p:nvGrpSpPr>
          <p:cNvPr id="88" name="Google Shape;88;p19"/>
          <p:cNvGrpSpPr/>
          <p:nvPr/>
        </p:nvGrpSpPr>
        <p:grpSpPr>
          <a:xfrm>
            <a:off x="2534075" y="3276900"/>
            <a:ext cx="4075800" cy="369300"/>
            <a:chOff x="2534150" y="3276900"/>
            <a:chExt cx="4075800" cy="369300"/>
          </a:xfrm>
        </p:grpSpPr>
        <p:sp>
          <p:nvSpPr>
            <p:cNvPr id="89" name="Google Shape;89;p19"/>
            <p:cNvSpPr txBox="1"/>
            <p:nvPr/>
          </p:nvSpPr>
          <p:spPr>
            <a:xfrm>
              <a:off x="4004450" y="3276900"/>
              <a:ext cx="11352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FFFFFF"/>
                  </a:solidFill>
                  <a:latin typeface="Space Grotesk Medium"/>
                  <a:ea typeface="Space Grotesk Medium"/>
                  <a:cs typeface="Space Grotesk Medium"/>
                  <a:sym typeface="Space Grotesk Medium"/>
                </a:rPr>
                <a:t>Certified by</a:t>
              </a:r>
              <a:endParaRPr sz="1200">
                <a:solidFill>
                  <a:srgbClr val="FFFFFF"/>
                </a:solidFill>
                <a:latin typeface="Space Grotesk Medium"/>
                <a:ea typeface="Space Grotesk Medium"/>
                <a:cs typeface="Space Grotesk Medium"/>
                <a:sym typeface="Space Grotesk Medium"/>
              </a:endParaRPr>
            </a:p>
          </p:txBody>
        </p:sp>
        <p:cxnSp>
          <p:nvCxnSpPr>
            <p:cNvPr id="90" name="Google Shape;90;p19"/>
            <p:cNvCxnSpPr>
              <a:stCxn id="89" idx="1"/>
            </p:cNvCxnSpPr>
            <p:nvPr/>
          </p:nvCxnSpPr>
          <p:spPr>
            <a:xfrm rot="10800000">
              <a:off x="2534150" y="3461550"/>
              <a:ext cx="1470300" cy="0"/>
            </a:xfrm>
            <a:prstGeom prst="straightConnector1">
              <a:avLst/>
            </a:prstGeom>
            <a:noFill/>
            <a:ln w="9525" cap="flat" cmpd="sng">
              <a:solidFill>
                <a:srgbClr val="FFFFFF"/>
              </a:solidFill>
              <a:prstDash val="solid"/>
              <a:round/>
              <a:headEnd type="none" w="med" len="med"/>
              <a:tailEnd type="none" w="med" len="med"/>
            </a:ln>
          </p:spPr>
        </p:cxnSp>
        <p:cxnSp>
          <p:nvCxnSpPr>
            <p:cNvPr id="91" name="Google Shape;91;p19"/>
            <p:cNvCxnSpPr>
              <a:endCxn id="89" idx="3"/>
            </p:cNvCxnSpPr>
            <p:nvPr/>
          </p:nvCxnSpPr>
          <p:spPr>
            <a:xfrm rot="10800000">
              <a:off x="5139650" y="3461550"/>
              <a:ext cx="1470300" cy="0"/>
            </a:xfrm>
            <a:prstGeom prst="straightConnector1">
              <a:avLst/>
            </a:prstGeom>
            <a:noFill/>
            <a:ln w="9525" cap="flat" cmpd="sng">
              <a:solidFill>
                <a:srgbClr val="FFFFFF"/>
              </a:solidFill>
              <a:prstDash val="solid"/>
              <a:round/>
              <a:headEnd type="none" w="med" len="med"/>
              <a:tailEnd type="none" w="med" len="med"/>
            </a:ln>
          </p:spPr>
        </p:cxnSp>
      </p:grpSp>
      <p:sp>
        <p:nvSpPr>
          <p:cNvPr id="92" name="Google Shape;92;p19"/>
          <p:cNvSpPr txBox="1"/>
          <p:nvPr/>
        </p:nvSpPr>
        <p:spPr>
          <a:xfrm>
            <a:off x="2452675" y="4679450"/>
            <a:ext cx="4402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a:solidFill>
                  <a:schemeClr val="lt1"/>
                </a:solidFill>
                <a:latin typeface="Space Grotesk"/>
                <a:ea typeface="Space Grotesk"/>
                <a:cs typeface="Space Grotesk"/>
                <a:sym typeface="Space Grotesk"/>
              </a:rPr>
              <a:t>www.accuknox.com</a:t>
            </a:r>
            <a:endParaRPr sz="800">
              <a:solidFill>
                <a:schemeClr val="lt1"/>
              </a:solidFill>
              <a:latin typeface="Space Grotesk"/>
              <a:ea typeface="Space Grotesk"/>
              <a:cs typeface="Space Grotesk"/>
              <a:sym typeface="Space Grotesk"/>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Dark Background">
  <p:cSld name="Small Title Only BLACK_2">
    <p:bg>
      <p:bgPr>
        <a:solidFill>
          <a:schemeClr val="lt2"/>
        </a:solidFill>
        <a:effectLst/>
      </p:bgPr>
    </p:bg>
    <p:spTree>
      <p:nvGrpSpPr>
        <p:cNvPr id="1" name="Shape 93"/>
        <p:cNvGrpSpPr/>
        <p:nvPr/>
      </p:nvGrpSpPr>
      <p:grpSpPr>
        <a:xfrm>
          <a:off x="0" y="0"/>
          <a:ext cx="0" cy="0"/>
          <a:chOff x="0" y="0"/>
          <a:chExt cx="0" cy="0"/>
        </a:xfrm>
      </p:grpSpPr>
      <p:pic>
        <p:nvPicPr>
          <p:cNvPr id="94" name="Google Shape;94;p20" descr="abstract background"/>
          <p:cNvPicPr preferRelativeResize="0"/>
          <p:nvPr/>
        </p:nvPicPr>
        <p:blipFill rotWithShape="1">
          <a:blip r:embed="rId2">
            <a:alphaModFix/>
          </a:blip>
          <a:srcRect/>
          <a:stretch/>
        </p:blipFill>
        <p:spPr>
          <a:xfrm>
            <a:off x="200" y="-1"/>
            <a:ext cx="9143597" cy="5143501"/>
          </a:xfrm>
          <a:prstGeom prst="rect">
            <a:avLst/>
          </a:prstGeom>
          <a:noFill/>
          <a:ln>
            <a:noFill/>
          </a:ln>
        </p:spPr>
      </p:pic>
      <p:sp>
        <p:nvSpPr>
          <p:cNvPr id="95" name="Google Shape;95;p20"/>
          <p:cNvSpPr txBox="1">
            <a:spLocks noGrp="1"/>
          </p:cNvSpPr>
          <p:nvPr>
            <p:ph type="sldNum" idx="12"/>
          </p:nvPr>
        </p:nvSpPr>
        <p:spPr>
          <a:xfrm>
            <a:off x="8728887" y="4883719"/>
            <a:ext cx="248700" cy="111900"/>
          </a:xfrm>
          <a:prstGeom prst="rect">
            <a:avLst/>
          </a:prstGeom>
          <a:noFill/>
          <a:ln>
            <a:noFill/>
          </a:ln>
        </p:spPr>
        <p:txBody>
          <a:bodyPr spcFirstLastPara="1" wrap="square" lIns="0" tIns="0" rIns="0" bIns="0" anchor="b" anchorCtr="0">
            <a:noAutofit/>
          </a:bodyPr>
          <a:lstStyle>
            <a:lvl1pPr marL="0" marR="0" lvl="0"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1pPr>
            <a:lvl2pPr marL="0" marR="0" lvl="1"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2pPr>
            <a:lvl3pPr marL="0" marR="0" lvl="2"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3pPr>
            <a:lvl4pPr marL="0" marR="0" lvl="3"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4pPr>
            <a:lvl5pPr marL="0" marR="0" lvl="4"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5pPr>
            <a:lvl6pPr marL="0" marR="0" lvl="5"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6pPr>
            <a:lvl7pPr marL="0" marR="0" lvl="6"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7pPr>
            <a:lvl8pPr marL="0" marR="0" lvl="7"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8pPr>
            <a:lvl9pPr marL="0" marR="0" lvl="8"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9pPr>
          </a:lstStyle>
          <a:p>
            <a:pPr marL="0" lvl="0" indent="0" algn="r" rtl="0">
              <a:spcBef>
                <a:spcPts val="0"/>
              </a:spcBef>
              <a:spcAft>
                <a:spcPts val="0"/>
              </a:spcAft>
              <a:buNone/>
            </a:pPr>
            <a:fld id="{00000000-1234-1234-1234-123412341234}" type="slidenum">
              <a:rPr lang="en"/>
              <a:t>‹#›</a:t>
            </a:fld>
            <a:endParaRPr/>
          </a:p>
        </p:txBody>
      </p:sp>
      <p:sp>
        <p:nvSpPr>
          <p:cNvPr id="96" name="Google Shape;96;p20"/>
          <p:cNvSpPr txBox="1">
            <a:spLocks noGrp="1"/>
          </p:cNvSpPr>
          <p:nvPr>
            <p:ph type="title"/>
          </p:nvPr>
        </p:nvSpPr>
        <p:spPr>
          <a:xfrm>
            <a:off x="-24300" y="-9750"/>
            <a:ext cx="7397100" cy="708000"/>
          </a:xfrm>
          <a:prstGeom prst="rect">
            <a:avLst/>
          </a:prstGeom>
          <a:noFill/>
          <a:ln>
            <a:noFill/>
          </a:ln>
        </p:spPr>
        <p:txBody>
          <a:bodyPr spcFirstLastPara="1" wrap="square" lIns="365750" tIns="91425" rIns="91425" bIns="91425" anchor="ctr" anchorCtr="0">
            <a:normAutofit/>
          </a:bodyPr>
          <a:lstStyle>
            <a:lvl1pPr lvl="0" algn="l">
              <a:lnSpc>
                <a:spcPct val="100000"/>
              </a:lnSpc>
              <a:spcBef>
                <a:spcPts val="0"/>
              </a:spcBef>
              <a:spcAft>
                <a:spcPts val="0"/>
              </a:spcAft>
              <a:buClr>
                <a:schemeClr val="lt1"/>
              </a:buClr>
              <a:buSzPts val="2400"/>
              <a:buFont typeface="Space Grotesk SemiBold"/>
              <a:buNone/>
              <a:defRPr sz="2400" b="0">
                <a:solidFill>
                  <a:schemeClr val="lt1"/>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pic>
        <p:nvPicPr>
          <p:cNvPr id="97" name="Google Shape;97;p20" title="logo-dark-back.png"/>
          <p:cNvPicPr preferRelativeResize="0"/>
          <p:nvPr/>
        </p:nvPicPr>
        <p:blipFill>
          <a:blip r:embed="rId3">
            <a:alphaModFix/>
          </a:blip>
          <a:stretch>
            <a:fillRect/>
          </a:stretch>
        </p:blipFill>
        <p:spPr>
          <a:xfrm>
            <a:off x="7504102" y="173626"/>
            <a:ext cx="1444050" cy="34125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2"/>
        <p:cNvGrpSpPr/>
        <p:nvPr/>
      </p:nvGrpSpPr>
      <p:grpSpPr>
        <a:xfrm>
          <a:off x="0" y="0"/>
          <a:ext cx="0" cy="0"/>
          <a:chOff x="0" y="0"/>
          <a:chExt cx="0" cy="0"/>
        </a:xfrm>
      </p:grpSpPr>
      <p:sp>
        <p:nvSpPr>
          <p:cNvPr id="103" name="Google Shape;103;p2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4" name="Google Shape;104;p2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05" name="Google Shape;105;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6"/>
        <p:cNvGrpSpPr/>
        <p:nvPr/>
      </p:nvGrpSpPr>
      <p:grpSpPr>
        <a:xfrm>
          <a:off x="0" y="0"/>
          <a:ext cx="0" cy="0"/>
          <a:chOff x="0" y="0"/>
          <a:chExt cx="0" cy="0"/>
        </a:xfrm>
      </p:grpSpPr>
      <p:sp>
        <p:nvSpPr>
          <p:cNvPr id="107" name="Google Shape;107;p2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08" name="Google Shape;108;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1" name="Google Shape;111;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12" name="Google Shape;11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3"/>
        <p:cNvGrpSpPr/>
        <p:nvPr/>
      </p:nvGrpSpPr>
      <p:grpSpPr>
        <a:xfrm>
          <a:off x="0" y="0"/>
          <a:ext cx="0" cy="0"/>
          <a:chOff x="0" y="0"/>
          <a:chExt cx="0" cy="0"/>
        </a:xfrm>
      </p:grpSpPr>
      <p:sp>
        <p:nvSpPr>
          <p:cNvPr id="114" name="Google Shape;114;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5" name="Google Shape;115;p2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16" name="Google Shape;116;p2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17" name="Google Shape;117;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8"/>
        <p:cNvGrpSpPr/>
        <p:nvPr/>
      </p:nvGrpSpPr>
      <p:grpSpPr>
        <a:xfrm>
          <a:off x="0" y="0"/>
          <a:ext cx="0" cy="0"/>
          <a:chOff x="0" y="0"/>
          <a:chExt cx="0" cy="0"/>
        </a:xfrm>
      </p:grpSpPr>
      <p:sp>
        <p:nvSpPr>
          <p:cNvPr id="119" name="Google Shape;119;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20" name="Google Shape;120;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21"/>
        <p:cNvGrpSpPr/>
        <p:nvPr/>
      </p:nvGrpSpPr>
      <p:grpSpPr>
        <a:xfrm>
          <a:off x="0" y="0"/>
          <a:ext cx="0" cy="0"/>
          <a:chOff x="0" y="0"/>
          <a:chExt cx="0" cy="0"/>
        </a:xfrm>
      </p:grpSpPr>
      <p:sp>
        <p:nvSpPr>
          <p:cNvPr id="122" name="Google Shape;122;p2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23" name="Google Shape;123;p2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24" name="Google Shape;124;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5"/>
        <p:cNvGrpSpPr/>
        <p:nvPr/>
      </p:nvGrpSpPr>
      <p:grpSpPr>
        <a:xfrm>
          <a:off x="0" y="0"/>
          <a:ext cx="0" cy="0"/>
          <a:chOff x="0" y="0"/>
          <a:chExt cx="0" cy="0"/>
        </a:xfrm>
      </p:grpSpPr>
      <p:sp>
        <p:nvSpPr>
          <p:cNvPr id="126" name="Google Shape;126;p2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27" name="Google Shape;127;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8"/>
        <p:cNvGrpSpPr/>
        <p:nvPr/>
      </p:nvGrpSpPr>
      <p:grpSpPr>
        <a:xfrm>
          <a:off x="0" y="0"/>
          <a:ext cx="0" cy="0"/>
          <a:chOff x="0" y="0"/>
          <a:chExt cx="0" cy="0"/>
        </a:xfrm>
      </p:grpSpPr>
      <p:sp>
        <p:nvSpPr>
          <p:cNvPr id="129" name="Google Shape;129;p2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31" name="Google Shape;131;p2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32" name="Google Shape;132;p2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33" name="Google Shape;133;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4"/>
        <p:cNvGrpSpPr/>
        <p:nvPr/>
      </p:nvGrpSpPr>
      <p:grpSpPr>
        <a:xfrm>
          <a:off x="0" y="0"/>
          <a:ext cx="0" cy="0"/>
          <a:chOff x="0" y="0"/>
          <a:chExt cx="0" cy="0"/>
        </a:xfrm>
      </p:grpSpPr>
      <p:sp>
        <p:nvSpPr>
          <p:cNvPr id="135" name="Google Shape;135;p3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136" name="Google Shape;136;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37"/>
        <p:cNvGrpSpPr/>
        <p:nvPr/>
      </p:nvGrpSpPr>
      <p:grpSpPr>
        <a:xfrm>
          <a:off x="0" y="0"/>
          <a:ext cx="0" cy="0"/>
          <a:chOff x="0" y="0"/>
          <a:chExt cx="0" cy="0"/>
        </a:xfrm>
      </p:grpSpPr>
      <p:sp>
        <p:nvSpPr>
          <p:cNvPr id="138" name="Google Shape;138;p3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39" name="Google Shape;139;p3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140" name="Google Shape;140;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1"/>
        <p:cNvGrpSpPr/>
        <p:nvPr/>
      </p:nvGrpSpPr>
      <p:grpSpPr>
        <a:xfrm>
          <a:off x="0" y="0"/>
          <a:ext cx="0" cy="0"/>
          <a:chOff x="0" y="0"/>
          <a:chExt cx="0" cy="0"/>
        </a:xfrm>
      </p:grpSpPr>
      <p:sp>
        <p:nvSpPr>
          <p:cNvPr id="142" name="Google Shape;142;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ver">
  <p:cSld name="CUSTOM">
    <p:bg>
      <p:bgPr>
        <a:solidFill>
          <a:srgbClr val="11206D"/>
        </a:solidFill>
        <a:effectLst/>
      </p:bgPr>
    </p:bg>
    <p:spTree>
      <p:nvGrpSpPr>
        <p:cNvPr id="1" name="Shape 143"/>
        <p:cNvGrpSpPr/>
        <p:nvPr/>
      </p:nvGrpSpPr>
      <p:grpSpPr>
        <a:xfrm>
          <a:off x="0" y="0"/>
          <a:ext cx="0" cy="0"/>
          <a:chOff x="0" y="0"/>
          <a:chExt cx="0" cy="0"/>
        </a:xfrm>
      </p:grpSpPr>
      <p:pic>
        <p:nvPicPr>
          <p:cNvPr id="144" name="Google Shape;144;p33"/>
          <p:cNvPicPr preferRelativeResize="0"/>
          <p:nvPr/>
        </p:nvPicPr>
        <p:blipFill rotWithShape="1">
          <a:blip r:embed="rId2">
            <a:alphaModFix/>
          </a:blip>
          <a:srcRect/>
          <a:stretch/>
        </p:blipFill>
        <p:spPr>
          <a:xfrm>
            <a:off x="5346618" y="2321312"/>
            <a:ext cx="3797381" cy="2435571"/>
          </a:xfrm>
          <a:prstGeom prst="rect">
            <a:avLst/>
          </a:prstGeom>
          <a:noFill/>
          <a:ln>
            <a:noFill/>
          </a:ln>
          <a:effectLst>
            <a:outerShdw blurRad="714375" dist="152400" dir="5400000" algn="bl" rotWithShape="0">
              <a:srgbClr val="000000">
                <a:alpha val="49800"/>
              </a:srgbClr>
            </a:outerShdw>
          </a:effectLst>
        </p:spPr>
      </p:pic>
      <p:pic>
        <p:nvPicPr>
          <p:cNvPr id="145" name="Google Shape;145;p33"/>
          <p:cNvPicPr preferRelativeResize="0"/>
          <p:nvPr/>
        </p:nvPicPr>
        <p:blipFill rotWithShape="1">
          <a:blip r:embed="rId3">
            <a:alphaModFix/>
          </a:blip>
          <a:srcRect/>
          <a:stretch/>
        </p:blipFill>
        <p:spPr>
          <a:xfrm>
            <a:off x="5271975" y="1221088"/>
            <a:ext cx="3872020" cy="2435572"/>
          </a:xfrm>
          <a:prstGeom prst="rect">
            <a:avLst/>
          </a:prstGeom>
          <a:noFill/>
          <a:ln>
            <a:noFill/>
          </a:ln>
          <a:effectLst>
            <a:outerShdw blurRad="714375" dist="152400" dir="5400000" algn="bl" rotWithShape="0">
              <a:srgbClr val="000000">
                <a:alpha val="49800"/>
              </a:srgbClr>
            </a:outerShdw>
          </a:effectLst>
        </p:spPr>
      </p:pic>
      <p:pic>
        <p:nvPicPr>
          <p:cNvPr id="146" name="Google Shape;146;p33"/>
          <p:cNvPicPr preferRelativeResize="0"/>
          <p:nvPr/>
        </p:nvPicPr>
        <p:blipFill rotWithShape="1">
          <a:blip r:embed="rId4">
            <a:alphaModFix/>
          </a:blip>
          <a:srcRect/>
          <a:stretch/>
        </p:blipFill>
        <p:spPr>
          <a:xfrm>
            <a:off x="5346617" y="365100"/>
            <a:ext cx="3797381" cy="2138819"/>
          </a:xfrm>
          <a:prstGeom prst="rect">
            <a:avLst/>
          </a:prstGeom>
          <a:noFill/>
          <a:ln>
            <a:noFill/>
          </a:ln>
          <a:effectLst>
            <a:outerShdw blurRad="714375" dist="152400" dir="5400000" algn="bl" rotWithShape="0">
              <a:srgbClr val="000000">
                <a:alpha val="49800"/>
              </a:srgbClr>
            </a:outerShdw>
          </a:effectLst>
        </p:spPr>
      </p:pic>
      <p:pic>
        <p:nvPicPr>
          <p:cNvPr id="147" name="Google Shape;147;p33" title="footer.png"/>
          <p:cNvPicPr preferRelativeResize="0"/>
          <p:nvPr/>
        </p:nvPicPr>
        <p:blipFill>
          <a:blip r:embed="rId5">
            <a:alphaModFix/>
          </a:blip>
          <a:stretch>
            <a:fillRect/>
          </a:stretch>
        </p:blipFill>
        <p:spPr>
          <a:xfrm>
            <a:off x="281750" y="3592000"/>
            <a:ext cx="5216674" cy="1225675"/>
          </a:xfrm>
          <a:prstGeom prst="rect">
            <a:avLst/>
          </a:prstGeom>
          <a:noFill/>
          <a:ln>
            <a:noFill/>
          </a:ln>
        </p:spPr>
      </p:pic>
      <p:pic>
        <p:nvPicPr>
          <p:cNvPr id="148" name="Google Shape;148;p33" title="logo-dark-back.png"/>
          <p:cNvPicPr preferRelativeResize="0"/>
          <p:nvPr/>
        </p:nvPicPr>
        <p:blipFill>
          <a:blip r:embed="rId6">
            <a:alphaModFix/>
          </a:blip>
          <a:stretch>
            <a:fillRect/>
          </a:stretch>
        </p:blipFill>
        <p:spPr>
          <a:xfrm>
            <a:off x="2147413" y="874900"/>
            <a:ext cx="1589351" cy="393600"/>
          </a:xfrm>
          <a:prstGeom prst="rect">
            <a:avLst/>
          </a:prstGeom>
          <a:noFill/>
          <a:ln>
            <a:noFill/>
          </a:ln>
        </p:spPr>
      </p:pic>
      <p:sp>
        <p:nvSpPr>
          <p:cNvPr id="149" name="Google Shape;149;p33"/>
          <p:cNvSpPr txBox="1">
            <a:spLocks noGrp="1"/>
          </p:cNvSpPr>
          <p:nvPr>
            <p:ph type="title"/>
          </p:nvPr>
        </p:nvSpPr>
        <p:spPr>
          <a:xfrm>
            <a:off x="692550" y="2409100"/>
            <a:ext cx="4499100" cy="550500"/>
          </a:xfrm>
          <a:prstGeom prst="rect">
            <a:avLst/>
          </a:prstGeom>
        </p:spPr>
        <p:txBody>
          <a:bodyPr spcFirstLastPara="1" wrap="square" lIns="91425" tIns="91425" rIns="91425" bIns="91425" anchor="t" anchorCtr="0">
            <a:normAutofit/>
          </a:bodyPr>
          <a:lstStyle>
            <a:lvl1pPr lvl="0" algn="ctr">
              <a:spcBef>
                <a:spcPts val="0"/>
              </a:spcBef>
              <a:spcAft>
                <a:spcPts val="0"/>
              </a:spcAft>
              <a:buClr>
                <a:schemeClr val="lt1"/>
              </a:buClr>
              <a:buSzPts val="2400"/>
              <a:buFont typeface="Space Grotesk"/>
              <a:buNone/>
              <a:defRPr sz="2400" b="1">
                <a:solidFill>
                  <a:schemeClr val="lt1"/>
                </a:solidFill>
                <a:latin typeface="Space Grotesk"/>
                <a:ea typeface="Space Grotesk"/>
                <a:cs typeface="Space Grotesk"/>
                <a:sym typeface="Space Grotesk"/>
              </a:defRPr>
            </a:lvl1pPr>
            <a:lvl2pPr lvl="1"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2pPr>
            <a:lvl3pPr lvl="2"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3pPr>
            <a:lvl4pPr lvl="3"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4pPr>
            <a:lvl5pPr lvl="4"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5pPr>
            <a:lvl6pPr lvl="5"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6pPr>
            <a:lvl7pPr lvl="6"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7pPr>
            <a:lvl8pPr lvl="7"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8pPr>
            <a:lvl9pPr lvl="8"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9pPr>
          </a:lstStyle>
          <a:p>
            <a:endParaRPr/>
          </a:p>
        </p:txBody>
      </p:sp>
      <p:sp>
        <p:nvSpPr>
          <p:cNvPr id="150" name="Google Shape;150;p33"/>
          <p:cNvSpPr txBox="1">
            <a:spLocks noGrp="1"/>
          </p:cNvSpPr>
          <p:nvPr>
            <p:ph type="title" idx="2"/>
          </p:nvPr>
        </p:nvSpPr>
        <p:spPr>
          <a:xfrm>
            <a:off x="1043400" y="2959600"/>
            <a:ext cx="3797400" cy="4584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600"/>
              <a:buFont typeface="Space Grotesk"/>
              <a:buNone/>
              <a:defRPr sz="1600" b="1">
                <a:solidFill>
                  <a:schemeClr val="lt1"/>
                </a:solidFill>
                <a:latin typeface="Space Grotesk"/>
                <a:ea typeface="Space Grotesk"/>
                <a:cs typeface="Space Grotesk"/>
                <a:sym typeface="Space Grotesk"/>
              </a:defRPr>
            </a:lvl1pPr>
            <a:lvl2pPr lvl="1"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2pPr>
            <a:lvl3pPr lvl="2"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3pPr>
            <a:lvl4pPr lvl="3"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4pPr>
            <a:lvl5pPr lvl="4"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5pPr>
            <a:lvl6pPr lvl="5"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6pPr>
            <a:lvl7pPr lvl="6"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7pPr>
            <a:lvl8pPr lvl="7"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8pPr>
            <a:lvl9pPr lvl="8"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9pPr>
          </a:lstStyle>
          <a:p>
            <a:endParaRPr/>
          </a:p>
        </p:txBody>
      </p:sp>
      <p:sp>
        <p:nvSpPr>
          <p:cNvPr id="151" name="Google Shape;151;p3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solidFill>
                  <a:schemeClr val="lt1"/>
                </a:solidFill>
                <a:latin typeface="Space Grotesk"/>
                <a:ea typeface="Space Grotesk"/>
                <a:cs typeface="Space Grotesk"/>
                <a:sym typeface="Space Grotesk"/>
              </a:defRPr>
            </a:lvl1pPr>
            <a:lvl2pPr lvl="1">
              <a:buNone/>
              <a:defRPr sz="1300">
                <a:solidFill>
                  <a:schemeClr val="lt1"/>
                </a:solidFill>
                <a:latin typeface="Space Grotesk"/>
                <a:ea typeface="Space Grotesk"/>
                <a:cs typeface="Space Grotesk"/>
                <a:sym typeface="Space Grotesk"/>
              </a:defRPr>
            </a:lvl2pPr>
            <a:lvl3pPr lvl="2">
              <a:buNone/>
              <a:defRPr sz="1300">
                <a:solidFill>
                  <a:schemeClr val="lt1"/>
                </a:solidFill>
                <a:latin typeface="Space Grotesk"/>
                <a:ea typeface="Space Grotesk"/>
                <a:cs typeface="Space Grotesk"/>
                <a:sym typeface="Space Grotesk"/>
              </a:defRPr>
            </a:lvl3pPr>
            <a:lvl4pPr lvl="3">
              <a:buNone/>
              <a:defRPr sz="1300">
                <a:solidFill>
                  <a:schemeClr val="lt1"/>
                </a:solidFill>
                <a:latin typeface="Space Grotesk"/>
                <a:ea typeface="Space Grotesk"/>
                <a:cs typeface="Space Grotesk"/>
                <a:sym typeface="Space Grotesk"/>
              </a:defRPr>
            </a:lvl4pPr>
            <a:lvl5pPr lvl="4">
              <a:buNone/>
              <a:defRPr sz="1300">
                <a:solidFill>
                  <a:schemeClr val="lt1"/>
                </a:solidFill>
                <a:latin typeface="Space Grotesk"/>
                <a:ea typeface="Space Grotesk"/>
                <a:cs typeface="Space Grotesk"/>
                <a:sym typeface="Space Grotesk"/>
              </a:defRPr>
            </a:lvl5pPr>
            <a:lvl6pPr lvl="5">
              <a:buNone/>
              <a:defRPr sz="1300">
                <a:solidFill>
                  <a:schemeClr val="lt1"/>
                </a:solidFill>
                <a:latin typeface="Space Grotesk"/>
                <a:ea typeface="Space Grotesk"/>
                <a:cs typeface="Space Grotesk"/>
                <a:sym typeface="Space Grotesk"/>
              </a:defRPr>
            </a:lvl6pPr>
            <a:lvl7pPr lvl="6">
              <a:buNone/>
              <a:defRPr sz="1300">
                <a:solidFill>
                  <a:schemeClr val="lt1"/>
                </a:solidFill>
                <a:latin typeface="Space Grotesk"/>
                <a:ea typeface="Space Grotesk"/>
                <a:cs typeface="Space Grotesk"/>
                <a:sym typeface="Space Grotesk"/>
              </a:defRPr>
            </a:lvl7pPr>
            <a:lvl8pPr lvl="7">
              <a:buNone/>
              <a:defRPr sz="1300">
                <a:solidFill>
                  <a:schemeClr val="lt1"/>
                </a:solidFill>
                <a:latin typeface="Space Grotesk"/>
                <a:ea typeface="Space Grotesk"/>
                <a:cs typeface="Space Grotesk"/>
                <a:sym typeface="Space Grotesk"/>
              </a:defRPr>
            </a:lvl8pPr>
            <a:lvl9pPr lvl="8">
              <a:buNone/>
              <a:defRPr sz="1300">
                <a:solidFill>
                  <a:schemeClr val="lt1"/>
                </a:solidFill>
                <a:latin typeface="Space Grotesk"/>
                <a:ea typeface="Space Grotesk"/>
                <a:cs typeface="Space Grotesk"/>
                <a:sym typeface="Space Grotesk"/>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Light Background - Title Only">
  <p:cSld name="Light Background - Title Only">
    <p:spTree>
      <p:nvGrpSpPr>
        <p:cNvPr id="1" name="Shape 152"/>
        <p:cNvGrpSpPr/>
        <p:nvPr/>
      </p:nvGrpSpPr>
      <p:grpSpPr>
        <a:xfrm>
          <a:off x="0" y="0"/>
          <a:ext cx="0" cy="0"/>
          <a:chOff x="0" y="0"/>
          <a:chExt cx="0" cy="0"/>
        </a:xfrm>
      </p:grpSpPr>
      <p:sp>
        <p:nvSpPr>
          <p:cNvPr id="153" name="Google Shape;153;p34"/>
          <p:cNvSpPr/>
          <p:nvPr/>
        </p:nvSpPr>
        <p:spPr>
          <a:xfrm>
            <a:off x="-24300" y="-9750"/>
            <a:ext cx="9168300" cy="708000"/>
          </a:xfrm>
          <a:prstGeom prst="rect">
            <a:avLst/>
          </a:prstGeom>
          <a:solidFill>
            <a:srgbClr val="11206D"/>
          </a:solidFill>
          <a:ln>
            <a:noFill/>
          </a:ln>
        </p:spPr>
        <p:txBody>
          <a:bodyPr spcFirstLastPara="1" wrap="square" lIns="457200"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Montserrat"/>
              <a:ea typeface="Montserrat"/>
              <a:cs typeface="Montserrat"/>
              <a:sym typeface="Montserrat"/>
            </a:endParaRPr>
          </a:p>
        </p:txBody>
      </p:sp>
      <p:sp>
        <p:nvSpPr>
          <p:cNvPr id="154" name="Google Shape;154;p34"/>
          <p:cNvSpPr txBox="1">
            <a:spLocks noGrp="1"/>
          </p:cNvSpPr>
          <p:nvPr>
            <p:ph type="title"/>
          </p:nvPr>
        </p:nvSpPr>
        <p:spPr>
          <a:xfrm>
            <a:off x="-24300" y="-9750"/>
            <a:ext cx="7397100" cy="708000"/>
          </a:xfrm>
          <a:prstGeom prst="rect">
            <a:avLst/>
          </a:prstGeom>
          <a:noFill/>
          <a:ln>
            <a:noFill/>
          </a:ln>
        </p:spPr>
        <p:txBody>
          <a:bodyPr spcFirstLastPara="1" wrap="square" lIns="365750" tIns="91425" rIns="91425" bIns="91425" anchor="ctr" anchorCtr="0">
            <a:normAutofit/>
          </a:bodyPr>
          <a:lstStyle>
            <a:lvl1pPr marR="0" lvl="0" algn="l">
              <a:lnSpc>
                <a:spcPct val="100000"/>
              </a:lnSpc>
              <a:spcBef>
                <a:spcPts val="0"/>
              </a:spcBef>
              <a:spcAft>
                <a:spcPts val="0"/>
              </a:spcAft>
              <a:buClr>
                <a:schemeClr val="lt1"/>
              </a:buClr>
              <a:buSzPts val="2400"/>
              <a:buFont typeface="Space Grotesk SemiBold"/>
              <a:buNone/>
              <a:defRPr sz="2400" b="0" i="0" u="none" strike="noStrike" cap="none">
                <a:solidFill>
                  <a:schemeClr val="lt1"/>
                </a:solidFill>
                <a:latin typeface="Space Grotesk SemiBold"/>
                <a:ea typeface="Space Grotesk SemiBold"/>
                <a:cs typeface="Space Grotesk SemiBold"/>
                <a:sym typeface="Space Grotesk SemiBold"/>
              </a:defRPr>
            </a:lvl1pPr>
            <a:lvl2pPr marR="0" lvl="1" algn="l">
              <a:lnSpc>
                <a:spcPct val="100000"/>
              </a:lnSpc>
              <a:spcBef>
                <a:spcPts val="0"/>
              </a:spcBef>
              <a:spcAft>
                <a:spcPts val="0"/>
              </a:spcAft>
              <a:buClr>
                <a:srgbClr val="000000"/>
              </a:buClr>
              <a:buSzPts val="30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30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30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30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30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30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30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30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155" name="Google Shape;155;p34" title="logo-dark-back.png"/>
          <p:cNvPicPr preferRelativeResize="0"/>
          <p:nvPr/>
        </p:nvPicPr>
        <p:blipFill rotWithShape="1">
          <a:blip r:embed="rId2">
            <a:alphaModFix/>
          </a:blip>
          <a:srcRect/>
          <a:stretch/>
        </p:blipFill>
        <p:spPr>
          <a:xfrm>
            <a:off x="7504102" y="173626"/>
            <a:ext cx="1444050" cy="341250"/>
          </a:xfrm>
          <a:prstGeom prst="rect">
            <a:avLst/>
          </a:prstGeom>
          <a:noFill/>
          <a:ln>
            <a:noFill/>
          </a:ln>
        </p:spPr>
      </p:pic>
      <p:sp>
        <p:nvSpPr>
          <p:cNvPr id="156" name="Google Shape;156;p34"/>
          <p:cNvSpPr txBox="1">
            <a:spLocks noGrp="1"/>
          </p:cNvSpPr>
          <p:nvPr>
            <p:ph type="sldNum" idx="12"/>
          </p:nvPr>
        </p:nvSpPr>
        <p:spPr>
          <a:xfrm>
            <a:off x="8728887" y="4883719"/>
            <a:ext cx="248700" cy="1119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Light Background - Title Only 1">
  <p:cSld name="CUSTOM_1">
    <p:spTree>
      <p:nvGrpSpPr>
        <p:cNvPr id="1" name="Shape 157"/>
        <p:cNvGrpSpPr/>
        <p:nvPr/>
      </p:nvGrpSpPr>
      <p:grpSpPr>
        <a:xfrm>
          <a:off x="0" y="0"/>
          <a:ext cx="0" cy="0"/>
          <a:chOff x="0" y="0"/>
          <a:chExt cx="0" cy="0"/>
        </a:xfrm>
      </p:grpSpPr>
      <p:sp>
        <p:nvSpPr>
          <p:cNvPr id="158" name="Google Shape;158;p35"/>
          <p:cNvSpPr/>
          <p:nvPr/>
        </p:nvSpPr>
        <p:spPr>
          <a:xfrm>
            <a:off x="-24300" y="-9750"/>
            <a:ext cx="9168300" cy="708000"/>
          </a:xfrm>
          <a:prstGeom prst="rect">
            <a:avLst/>
          </a:prstGeom>
          <a:solidFill>
            <a:srgbClr val="11206D"/>
          </a:solidFill>
          <a:ln>
            <a:noFill/>
          </a:ln>
        </p:spPr>
        <p:txBody>
          <a:bodyPr spcFirstLastPara="1" wrap="square" lIns="457200"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Montserrat"/>
              <a:ea typeface="Montserrat"/>
              <a:cs typeface="Montserrat"/>
              <a:sym typeface="Montserrat"/>
            </a:endParaRPr>
          </a:p>
        </p:txBody>
      </p:sp>
      <p:sp>
        <p:nvSpPr>
          <p:cNvPr id="159" name="Google Shape;159;p35"/>
          <p:cNvSpPr txBox="1">
            <a:spLocks noGrp="1"/>
          </p:cNvSpPr>
          <p:nvPr>
            <p:ph type="title"/>
          </p:nvPr>
        </p:nvSpPr>
        <p:spPr>
          <a:xfrm>
            <a:off x="-24300" y="-9750"/>
            <a:ext cx="7397100" cy="708000"/>
          </a:xfrm>
          <a:prstGeom prst="rect">
            <a:avLst/>
          </a:prstGeom>
          <a:noFill/>
          <a:ln>
            <a:noFill/>
          </a:ln>
        </p:spPr>
        <p:txBody>
          <a:bodyPr spcFirstLastPara="1" wrap="square" lIns="365750" tIns="91425" rIns="91425" bIns="91425" anchor="ctr" anchorCtr="0">
            <a:normAutofit/>
          </a:bodyPr>
          <a:lstStyle>
            <a:lvl1pPr lvl="0" algn="l">
              <a:lnSpc>
                <a:spcPct val="100000"/>
              </a:lnSpc>
              <a:spcBef>
                <a:spcPts val="0"/>
              </a:spcBef>
              <a:spcAft>
                <a:spcPts val="0"/>
              </a:spcAft>
              <a:buClr>
                <a:schemeClr val="lt1"/>
              </a:buClr>
              <a:buSzPts val="2400"/>
              <a:buFont typeface="Space Grotesk SemiBold"/>
              <a:buNone/>
              <a:defRPr sz="2400" b="0">
                <a:solidFill>
                  <a:schemeClr val="lt1"/>
                </a:solidFill>
                <a:latin typeface="Space Grotesk SemiBold"/>
                <a:ea typeface="Space Grotesk SemiBold"/>
                <a:cs typeface="Space Grotesk SemiBold"/>
                <a:sym typeface="Space Grotesk SemiBo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pic>
        <p:nvPicPr>
          <p:cNvPr id="160" name="Google Shape;160;p35" title="logo-dark-back.png"/>
          <p:cNvPicPr preferRelativeResize="0"/>
          <p:nvPr/>
        </p:nvPicPr>
        <p:blipFill>
          <a:blip r:embed="rId2">
            <a:alphaModFix/>
          </a:blip>
          <a:stretch>
            <a:fillRect/>
          </a:stretch>
        </p:blipFill>
        <p:spPr>
          <a:xfrm>
            <a:off x="7504102" y="173626"/>
            <a:ext cx="1444050" cy="341250"/>
          </a:xfrm>
          <a:prstGeom prst="rect">
            <a:avLst/>
          </a:prstGeom>
          <a:noFill/>
          <a:ln>
            <a:noFill/>
          </a:ln>
        </p:spPr>
      </p:pic>
      <p:sp>
        <p:nvSpPr>
          <p:cNvPr id="161" name="Google Shape;161;p35"/>
          <p:cNvSpPr txBox="1">
            <a:spLocks noGrp="1"/>
          </p:cNvSpPr>
          <p:nvPr>
            <p:ph type="sldNum" idx="12"/>
          </p:nvPr>
        </p:nvSpPr>
        <p:spPr>
          <a:xfrm>
            <a:off x="8728887" y="4883719"/>
            <a:ext cx="248700" cy="111900"/>
          </a:xfrm>
          <a:prstGeom prst="rect">
            <a:avLst/>
          </a:prstGeom>
          <a:noFill/>
          <a:ln>
            <a:noFill/>
          </a:ln>
        </p:spPr>
        <p:txBody>
          <a:bodyPr spcFirstLastPara="1" wrap="square" lIns="0" tIns="0" rIns="0" bIns="0" anchor="b" anchorCtr="0">
            <a:noAutofit/>
          </a:bodyPr>
          <a:lstStyle>
            <a:lvl1pPr marL="0" marR="0" lvl="0"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1pPr>
            <a:lvl2pPr marL="0" marR="0" lvl="1"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2pPr>
            <a:lvl3pPr marL="0" marR="0" lvl="2"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3pPr>
            <a:lvl4pPr marL="0" marR="0" lvl="3"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4pPr>
            <a:lvl5pPr marL="0" marR="0" lvl="4"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5pPr>
            <a:lvl6pPr marL="0" marR="0" lvl="5"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6pPr>
            <a:lvl7pPr marL="0" marR="0" lvl="6"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7pPr>
            <a:lvl8pPr marL="0" marR="0" lvl="7"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8pPr>
            <a:lvl9pPr marL="0" marR="0" lvl="8"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Dark Background 1">
  <p:cSld name="Small Title Only BLACK_1">
    <p:bg>
      <p:bgPr>
        <a:solidFill>
          <a:schemeClr val="lt2"/>
        </a:solidFill>
        <a:effectLst/>
      </p:bgPr>
    </p:bg>
    <p:spTree>
      <p:nvGrpSpPr>
        <p:cNvPr id="1" name="Shape 162"/>
        <p:cNvGrpSpPr/>
        <p:nvPr/>
      </p:nvGrpSpPr>
      <p:grpSpPr>
        <a:xfrm>
          <a:off x="0" y="0"/>
          <a:ext cx="0" cy="0"/>
          <a:chOff x="0" y="0"/>
          <a:chExt cx="0" cy="0"/>
        </a:xfrm>
      </p:grpSpPr>
      <p:pic>
        <p:nvPicPr>
          <p:cNvPr id="163" name="Google Shape;163;p36" descr="abstract background"/>
          <p:cNvPicPr preferRelativeResize="0"/>
          <p:nvPr/>
        </p:nvPicPr>
        <p:blipFill rotWithShape="1">
          <a:blip r:embed="rId2">
            <a:alphaModFix/>
          </a:blip>
          <a:srcRect/>
          <a:stretch/>
        </p:blipFill>
        <p:spPr>
          <a:xfrm>
            <a:off x="200" y="-1"/>
            <a:ext cx="9143597" cy="5143501"/>
          </a:xfrm>
          <a:prstGeom prst="rect">
            <a:avLst/>
          </a:prstGeom>
          <a:noFill/>
          <a:ln>
            <a:noFill/>
          </a:ln>
        </p:spPr>
      </p:pic>
      <p:sp>
        <p:nvSpPr>
          <p:cNvPr id="164" name="Google Shape;164;p36"/>
          <p:cNvSpPr txBox="1">
            <a:spLocks noGrp="1"/>
          </p:cNvSpPr>
          <p:nvPr>
            <p:ph type="title"/>
          </p:nvPr>
        </p:nvSpPr>
        <p:spPr>
          <a:xfrm>
            <a:off x="873450" y="1761775"/>
            <a:ext cx="7397100" cy="1204800"/>
          </a:xfrm>
          <a:prstGeom prst="rect">
            <a:avLst/>
          </a:prstGeom>
          <a:noFill/>
          <a:ln>
            <a:noFill/>
          </a:ln>
        </p:spPr>
        <p:txBody>
          <a:bodyPr spcFirstLastPara="1" wrap="square" lIns="365750" tIns="91425" rIns="91425" bIns="91425" anchor="ctr" anchorCtr="0">
            <a:normAutofit/>
          </a:bodyPr>
          <a:lstStyle>
            <a:lvl1pPr lvl="0" algn="ctr">
              <a:lnSpc>
                <a:spcPct val="100000"/>
              </a:lnSpc>
              <a:spcBef>
                <a:spcPts val="0"/>
              </a:spcBef>
              <a:spcAft>
                <a:spcPts val="0"/>
              </a:spcAft>
              <a:buClr>
                <a:schemeClr val="lt1"/>
              </a:buClr>
              <a:buSzPts val="3200"/>
              <a:buFont typeface="Space Grotesk SemiBold"/>
              <a:buNone/>
              <a:defRPr sz="3200" b="0">
                <a:solidFill>
                  <a:schemeClr val="lt1"/>
                </a:solidFill>
                <a:latin typeface="Space Grotesk SemiBold"/>
                <a:ea typeface="Space Grotesk SemiBold"/>
                <a:cs typeface="Space Grotesk SemiBold"/>
                <a:sym typeface="Space Grotesk SemiBold"/>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pic>
        <p:nvPicPr>
          <p:cNvPr id="165" name="Google Shape;165;p36" title="logo-dark-back.png"/>
          <p:cNvPicPr preferRelativeResize="0"/>
          <p:nvPr/>
        </p:nvPicPr>
        <p:blipFill>
          <a:blip r:embed="rId3">
            <a:alphaModFix/>
          </a:blip>
          <a:stretch>
            <a:fillRect/>
          </a:stretch>
        </p:blipFill>
        <p:spPr>
          <a:xfrm>
            <a:off x="7504102" y="173626"/>
            <a:ext cx="1444050" cy="341250"/>
          </a:xfrm>
          <a:prstGeom prst="rect">
            <a:avLst/>
          </a:prstGeom>
          <a:noFill/>
          <a:ln>
            <a:noFill/>
          </a:ln>
        </p:spPr>
      </p:pic>
      <p:sp>
        <p:nvSpPr>
          <p:cNvPr id="166" name="Google Shape;166;p36"/>
          <p:cNvSpPr txBox="1">
            <a:spLocks noGrp="1"/>
          </p:cNvSpPr>
          <p:nvPr>
            <p:ph type="sldNum" idx="12"/>
          </p:nvPr>
        </p:nvSpPr>
        <p:spPr>
          <a:xfrm>
            <a:off x="8728887" y="4883719"/>
            <a:ext cx="248700" cy="111900"/>
          </a:xfrm>
          <a:prstGeom prst="rect">
            <a:avLst/>
          </a:prstGeom>
          <a:noFill/>
          <a:ln>
            <a:noFill/>
          </a:ln>
        </p:spPr>
        <p:txBody>
          <a:bodyPr spcFirstLastPara="1" wrap="square" lIns="0" tIns="0" rIns="0" bIns="0" anchor="b" anchorCtr="0">
            <a:noAutofit/>
          </a:bodyPr>
          <a:lstStyle>
            <a:lvl1pPr marL="0" marR="0" lvl="0"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1pPr>
            <a:lvl2pPr marL="0" marR="0" lvl="1"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2pPr>
            <a:lvl3pPr marL="0" marR="0" lvl="2"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3pPr>
            <a:lvl4pPr marL="0" marR="0" lvl="3"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4pPr>
            <a:lvl5pPr marL="0" marR="0" lvl="4"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5pPr>
            <a:lvl6pPr marL="0" marR="0" lvl="5"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6pPr>
            <a:lvl7pPr marL="0" marR="0" lvl="6"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7pPr>
            <a:lvl8pPr marL="0" marR="0" lvl="7"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8pPr>
            <a:lvl9pPr marL="0" marR="0" lvl="8" indent="0">
              <a:lnSpc>
                <a:spcPct val="100000"/>
              </a:lnSpc>
              <a:spcBef>
                <a:spcPts val="0"/>
              </a:spcBef>
              <a:spcAft>
                <a:spcPts val="0"/>
              </a:spcAft>
              <a:buClr>
                <a:srgbClr val="000000"/>
              </a:buClr>
              <a:buSzPts val="700"/>
              <a:buFont typeface="Arial"/>
              <a:buNone/>
              <a:defRPr sz="700" b="0" i="0" u="none" strike="noStrike" cap="none">
                <a:solidFill>
                  <a:srgbClr val="888888"/>
                </a:solidFill>
                <a:latin typeface="Montserrat Medium"/>
                <a:ea typeface="Montserrat Medium"/>
                <a:cs typeface="Montserrat Medium"/>
                <a:sym typeface="Montserrat Medium"/>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Divider 3">
  <p:cSld name="Divider 3">
    <p:bg>
      <p:bgPr>
        <a:solidFill>
          <a:schemeClr val="lt1"/>
        </a:solidFill>
        <a:effectLst/>
      </p:bgPr>
    </p:bg>
    <p:spTree>
      <p:nvGrpSpPr>
        <p:cNvPr id="1" name="Shape 167"/>
        <p:cNvGrpSpPr/>
        <p:nvPr/>
      </p:nvGrpSpPr>
      <p:grpSpPr>
        <a:xfrm>
          <a:off x="0" y="0"/>
          <a:ext cx="0" cy="0"/>
          <a:chOff x="0" y="0"/>
          <a:chExt cx="0" cy="0"/>
        </a:xfrm>
      </p:grpSpPr>
      <p:pic>
        <p:nvPicPr>
          <p:cNvPr id="168" name="Google Shape;168;p37" descr="Abstract AccuKnox Back"/>
          <p:cNvPicPr preferRelativeResize="0"/>
          <p:nvPr/>
        </p:nvPicPr>
        <p:blipFill rotWithShape="1">
          <a:blip r:embed="rId2">
            <a:alphaModFix/>
          </a:blip>
          <a:srcRect/>
          <a:stretch/>
        </p:blipFill>
        <p:spPr>
          <a:xfrm>
            <a:off x="0" y="-1"/>
            <a:ext cx="9143599" cy="5143500"/>
          </a:xfrm>
          <a:prstGeom prst="rect">
            <a:avLst/>
          </a:prstGeom>
          <a:noFill/>
          <a:ln>
            <a:noFill/>
          </a:ln>
        </p:spPr>
      </p:pic>
      <p:sp>
        <p:nvSpPr>
          <p:cNvPr id="169" name="Google Shape;169;p37"/>
          <p:cNvSpPr txBox="1">
            <a:spLocks noGrp="1"/>
          </p:cNvSpPr>
          <p:nvPr>
            <p:ph type="ctrTitle"/>
          </p:nvPr>
        </p:nvSpPr>
        <p:spPr>
          <a:xfrm>
            <a:off x="628650" y="1944745"/>
            <a:ext cx="5191200" cy="10356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2700"/>
              <a:buFont typeface="Montserrat ExtraBold"/>
              <a:buNone/>
              <a:defRPr sz="27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0" name="Google Shape;170;p37"/>
          <p:cNvSpPr txBox="1">
            <a:spLocks noGrp="1"/>
          </p:cNvSpPr>
          <p:nvPr>
            <p:ph type="ftr" idx="11"/>
          </p:nvPr>
        </p:nvSpPr>
        <p:spPr>
          <a:xfrm>
            <a:off x="628650" y="4941094"/>
            <a:ext cx="2057400" cy="1119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100"/>
              <a:buNone/>
              <a:defRPr sz="1100">
                <a:solidFill>
                  <a:schemeClr val="lt2"/>
                </a:solidFill>
              </a:defRPr>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171" name="Google Shape;171;p37"/>
          <p:cNvSpPr txBox="1">
            <a:spLocks noGrp="1"/>
          </p:cNvSpPr>
          <p:nvPr>
            <p:ph type="sldNum" idx="12"/>
          </p:nvPr>
        </p:nvSpPr>
        <p:spPr>
          <a:xfrm>
            <a:off x="225028" y="4948237"/>
            <a:ext cx="178800" cy="111900"/>
          </a:xfrm>
          <a:prstGeom prst="rect">
            <a:avLst/>
          </a:prstGeom>
          <a:noFill/>
          <a:ln>
            <a:noFill/>
          </a:ln>
        </p:spPr>
        <p:txBody>
          <a:bodyPr spcFirstLastPara="1" wrap="square" lIns="0" tIns="0" rIns="0" bIns="0" anchor="b" anchorCtr="0">
            <a:noAutofit/>
          </a:bodyPr>
          <a:lstStyle>
            <a:lvl1pPr marL="0" marR="0" lvl="0"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1pPr>
            <a:lvl2pPr marL="0" marR="0" lvl="1"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2pPr>
            <a:lvl3pPr marL="0" marR="0" lvl="2"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3pPr>
            <a:lvl4pPr marL="0" marR="0" lvl="3"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4pPr>
            <a:lvl5pPr marL="0" marR="0" lvl="4"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5pPr>
            <a:lvl6pPr marL="0" marR="0" lvl="5"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6pPr>
            <a:lvl7pPr marL="0" marR="0" lvl="6"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7pPr>
            <a:lvl8pPr marL="0" marR="0" lvl="7"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8pPr>
            <a:lvl9pPr marL="0" marR="0" lvl="8" indent="0" algn="ctr">
              <a:lnSpc>
                <a:spcPct val="100000"/>
              </a:lnSpc>
              <a:spcBef>
                <a:spcPts val="0"/>
              </a:spcBef>
              <a:spcAft>
                <a:spcPts val="0"/>
              </a:spcAft>
              <a:buClr>
                <a:srgbClr val="000000"/>
              </a:buClr>
              <a:buSzPts val="700"/>
              <a:buFont typeface="Arial"/>
              <a:buNone/>
              <a:defRPr sz="700" b="1" i="0" u="none" strike="noStrike" cap="none">
                <a:solidFill>
                  <a:schemeClr val="lt2"/>
                </a:solidFill>
                <a:latin typeface="Montserrat ExtraBold"/>
                <a:ea typeface="Montserrat ExtraBold"/>
                <a:cs typeface="Montserrat ExtraBold"/>
                <a:sym typeface="Montserrat ExtraBold"/>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body 1">
  <p:cSld name="Title and body">
    <p:spTree>
      <p:nvGrpSpPr>
        <p:cNvPr id="1" name="Shape 172"/>
        <p:cNvGrpSpPr/>
        <p:nvPr/>
      </p:nvGrpSpPr>
      <p:grpSpPr>
        <a:xfrm>
          <a:off x="0" y="0"/>
          <a:ext cx="0" cy="0"/>
          <a:chOff x="0" y="0"/>
          <a:chExt cx="0" cy="0"/>
        </a:xfrm>
      </p:grpSpPr>
      <p:sp>
        <p:nvSpPr>
          <p:cNvPr id="173" name="Google Shape;173;p38"/>
          <p:cNvSpPr txBox="1">
            <a:spLocks noGrp="1"/>
          </p:cNvSpPr>
          <p:nvPr>
            <p:ph type="title"/>
          </p:nvPr>
        </p:nvSpPr>
        <p:spPr>
          <a:xfrm>
            <a:off x="311700" y="445025"/>
            <a:ext cx="6946500" cy="572700"/>
          </a:xfrm>
          <a:prstGeom prst="rect">
            <a:avLst/>
          </a:prstGeom>
          <a:noFill/>
          <a:ln>
            <a:noFill/>
          </a:ln>
        </p:spPr>
        <p:txBody>
          <a:bodyPr spcFirstLastPara="1" wrap="square" lIns="68550" tIns="68550" rIns="68550" bIns="68550" anchor="t" anchorCtr="0">
            <a:normAutofit/>
          </a:bodyPr>
          <a:lstStyle>
            <a:lvl1pPr lvl="0" algn="l">
              <a:lnSpc>
                <a:spcPct val="90000"/>
              </a:lnSpc>
              <a:spcBef>
                <a:spcPts val="0"/>
              </a:spcBef>
              <a:spcAft>
                <a:spcPts val="0"/>
              </a:spcAft>
              <a:buClr>
                <a:srgbClr val="000000"/>
              </a:buClr>
              <a:buSzPts val="1400"/>
              <a:buNone/>
              <a:defRPr/>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a:endParaRPr/>
          </a:p>
        </p:txBody>
      </p:sp>
      <p:sp>
        <p:nvSpPr>
          <p:cNvPr id="174" name="Google Shape;174;p38"/>
          <p:cNvSpPr txBox="1">
            <a:spLocks noGrp="1"/>
          </p:cNvSpPr>
          <p:nvPr>
            <p:ph type="body" idx="1"/>
          </p:nvPr>
        </p:nvSpPr>
        <p:spPr>
          <a:xfrm>
            <a:off x="311700" y="1152475"/>
            <a:ext cx="8520600" cy="3416400"/>
          </a:xfrm>
          <a:prstGeom prst="rect">
            <a:avLst/>
          </a:prstGeom>
          <a:noFill/>
          <a:ln>
            <a:noFill/>
          </a:ln>
        </p:spPr>
        <p:txBody>
          <a:bodyPr spcFirstLastPara="1" wrap="square" lIns="68550" tIns="68550" rIns="68550" bIns="68550" anchor="t" anchorCtr="0">
            <a:normAutofit/>
          </a:bodyPr>
          <a:lstStyle>
            <a:lvl1pPr marL="457200" lvl="0" indent="-342900" algn="l">
              <a:lnSpc>
                <a:spcPct val="90000"/>
              </a:lnSpc>
              <a:spcBef>
                <a:spcPts val="0"/>
              </a:spcBef>
              <a:spcAft>
                <a:spcPts val="0"/>
              </a:spcAft>
              <a:buSzPts val="1800"/>
              <a:buChar char="●"/>
              <a:defRPr/>
            </a:lvl1pPr>
            <a:lvl2pPr marL="914400" lvl="1" indent="-342900" algn="l">
              <a:lnSpc>
                <a:spcPct val="90000"/>
              </a:lnSpc>
              <a:spcBef>
                <a:spcPts val="0"/>
              </a:spcBef>
              <a:spcAft>
                <a:spcPts val="0"/>
              </a:spcAft>
              <a:buSzPts val="1800"/>
              <a:buChar char="○"/>
              <a:defRPr/>
            </a:lvl2pPr>
            <a:lvl3pPr marL="1371600" lvl="2" indent="-342900" algn="l">
              <a:lnSpc>
                <a:spcPct val="90000"/>
              </a:lnSpc>
              <a:spcBef>
                <a:spcPts val="0"/>
              </a:spcBef>
              <a:spcAft>
                <a:spcPts val="0"/>
              </a:spcAft>
              <a:buSzPts val="1800"/>
              <a:buChar char="■"/>
              <a:defRPr/>
            </a:lvl3pPr>
            <a:lvl4pPr marL="1828800" lvl="3" indent="-342900" algn="l">
              <a:lnSpc>
                <a:spcPct val="90000"/>
              </a:lnSpc>
              <a:spcBef>
                <a:spcPts val="0"/>
              </a:spcBef>
              <a:spcAft>
                <a:spcPts val="0"/>
              </a:spcAft>
              <a:buSzPts val="1800"/>
              <a:buChar char="●"/>
              <a:defRPr/>
            </a:lvl4pPr>
            <a:lvl5pPr marL="2286000" lvl="4" indent="-342900" algn="l">
              <a:lnSpc>
                <a:spcPct val="90000"/>
              </a:lnSpc>
              <a:spcBef>
                <a:spcPts val="0"/>
              </a:spcBef>
              <a:spcAft>
                <a:spcPts val="0"/>
              </a:spcAft>
              <a:buSzPts val="1800"/>
              <a:buChar char="○"/>
              <a:defRPr/>
            </a:lvl5pPr>
            <a:lvl6pPr marL="2743200" lvl="5" indent="-317500" algn="l">
              <a:lnSpc>
                <a:spcPct val="90000"/>
              </a:lnSpc>
              <a:spcBef>
                <a:spcPts val="0"/>
              </a:spcBef>
              <a:spcAft>
                <a:spcPts val="0"/>
              </a:spcAft>
              <a:buSzPts val="1400"/>
              <a:buChar char="•"/>
              <a:defRPr/>
            </a:lvl6pPr>
            <a:lvl7pPr marL="3200400" lvl="6" indent="-317500" algn="l">
              <a:lnSpc>
                <a:spcPct val="90000"/>
              </a:lnSpc>
              <a:spcBef>
                <a:spcPts val="0"/>
              </a:spcBef>
              <a:spcAft>
                <a:spcPts val="0"/>
              </a:spcAft>
              <a:buSzPts val="1400"/>
              <a:buChar char="•"/>
              <a:defRPr/>
            </a:lvl7pPr>
            <a:lvl8pPr marL="3657600" lvl="7" indent="-317500" algn="l">
              <a:lnSpc>
                <a:spcPct val="90000"/>
              </a:lnSpc>
              <a:spcBef>
                <a:spcPts val="0"/>
              </a:spcBef>
              <a:spcAft>
                <a:spcPts val="0"/>
              </a:spcAft>
              <a:buSzPts val="1400"/>
              <a:buChar char="•"/>
              <a:defRPr/>
            </a:lvl8pPr>
            <a:lvl9pPr marL="4114800" lvl="8" indent="-317500" algn="l">
              <a:lnSpc>
                <a:spcPct val="90000"/>
              </a:lnSpc>
              <a:spcBef>
                <a:spcPts val="0"/>
              </a:spcBef>
              <a:spcAft>
                <a:spcPts val="0"/>
              </a:spcAft>
              <a:buSzPts val="1400"/>
              <a:buChar char="•"/>
              <a:defRPr/>
            </a:lvl9pPr>
          </a:lstStyle>
          <a:p>
            <a:endParaRPr/>
          </a:p>
        </p:txBody>
      </p:sp>
      <p:sp>
        <p:nvSpPr>
          <p:cNvPr id="175" name="Google Shape;175;p38"/>
          <p:cNvSpPr txBox="1">
            <a:spLocks noGrp="1"/>
          </p:cNvSpPr>
          <p:nvPr>
            <p:ph type="sldNum" idx="12"/>
          </p:nvPr>
        </p:nvSpPr>
        <p:spPr>
          <a:xfrm>
            <a:off x="8779148" y="4739062"/>
            <a:ext cx="242100" cy="241800"/>
          </a:xfrm>
          <a:prstGeom prst="rect">
            <a:avLst/>
          </a:prstGeom>
          <a:noFill/>
          <a:ln>
            <a:noFill/>
          </a:ln>
        </p:spPr>
        <p:txBody>
          <a:bodyPr spcFirstLastPara="1" wrap="square" lIns="68550" tIns="68550" rIns="68550" bIns="68550" anchor="ctr" anchorCtr="0">
            <a:normAutofit lnSpcReduction="10000"/>
          </a:bodyPr>
          <a:lstStyle>
            <a:lvl1pPr marL="0" marR="0" lvl="0"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700"/>
              <a:buFont typeface="Arial"/>
              <a:buNone/>
              <a:defRPr sz="7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losing">
  <p:cSld name="CUSTOM_2">
    <p:bg>
      <p:bgPr>
        <a:solidFill>
          <a:srgbClr val="11206D"/>
        </a:solidFill>
        <a:effectLst/>
      </p:bgPr>
    </p:bg>
    <p:spTree>
      <p:nvGrpSpPr>
        <p:cNvPr id="1" name="Shape 176"/>
        <p:cNvGrpSpPr/>
        <p:nvPr/>
      </p:nvGrpSpPr>
      <p:grpSpPr>
        <a:xfrm>
          <a:off x="0" y="0"/>
          <a:ext cx="0" cy="0"/>
          <a:chOff x="0" y="0"/>
          <a:chExt cx="0" cy="0"/>
        </a:xfrm>
      </p:grpSpPr>
      <p:pic>
        <p:nvPicPr>
          <p:cNvPr id="177" name="Google Shape;177;p39" title="logo-dark-back.png"/>
          <p:cNvPicPr preferRelativeResize="0"/>
          <p:nvPr/>
        </p:nvPicPr>
        <p:blipFill>
          <a:blip r:embed="rId2">
            <a:alphaModFix/>
          </a:blip>
          <a:stretch>
            <a:fillRect/>
          </a:stretch>
        </p:blipFill>
        <p:spPr>
          <a:xfrm>
            <a:off x="2881551" y="653075"/>
            <a:ext cx="3380849" cy="837250"/>
          </a:xfrm>
          <a:prstGeom prst="rect">
            <a:avLst/>
          </a:prstGeom>
          <a:noFill/>
          <a:ln>
            <a:noFill/>
          </a:ln>
        </p:spPr>
      </p:pic>
      <p:sp>
        <p:nvSpPr>
          <p:cNvPr id="178" name="Google Shape;178;p39"/>
          <p:cNvSpPr txBox="1">
            <a:spLocks noGrp="1"/>
          </p:cNvSpPr>
          <p:nvPr>
            <p:ph type="title"/>
          </p:nvPr>
        </p:nvSpPr>
        <p:spPr>
          <a:xfrm>
            <a:off x="1644425" y="1845000"/>
            <a:ext cx="5855100" cy="541500"/>
          </a:xfrm>
          <a:prstGeom prst="rect">
            <a:avLst/>
          </a:prstGeom>
        </p:spPr>
        <p:txBody>
          <a:bodyPr spcFirstLastPara="1" wrap="square" lIns="91425" tIns="91425" rIns="91425" bIns="91425" anchor="t" anchorCtr="0">
            <a:normAutofit/>
          </a:bodyPr>
          <a:lstStyle>
            <a:lvl1pPr lvl="0"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1pPr>
            <a:lvl2pPr lvl="1"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2pPr>
            <a:lvl3pPr lvl="2"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3pPr>
            <a:lvl4pPr lvl="3"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4pPr>
            <a:lvl5pPr lvl="4"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5pPr>
            <a:lvl6pPr lvl="5"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6pPr>
            <a:lvl7pPr lvl="6"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7pPr>
            <a:lvl8pPr lvl="7"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8pPr>
            <a:lvl9pPr lvl="8" algn="ctr">
              <a:spcBef>
                <a:spcPts val="0"/>
              </a:spcBef>
              <a:spcAft>
                <a:spcPts val="0"/>
              </a:spcAft>
              <a:buClr>
                <a:schemeClr val="lt1"/>
              </a:buClr>
              <a:buSzPts val="2800"/>
              <a:buFont typeface="Space Grotesk"/>
              <a:buNone/>
              <a:defRPr sz="2800" b="1">
                <a:solidFill>
                  <a:schemeClr val="lt1"/>
                </a:solidFill>
                <a:latin typeface="Space Grotesk"/>
                <a:ea typeface="Space Grotesk"/>
                <a:cs typeface="Space Grotesk"/>
                <a:sym typeface="Space Grotesk"/>
              </a:defRPr>
            </a:lvl9pPr>
          </a:lstStyle>
          <a:p>
            <a:endParaRPr/>
          </a:p>
        </p:txBody>
      </p:sp>
      <p:sp>
        <p:nvSpPr>
          <p:cNvPr id="179" name="Google Shape;179;p39"/>
          <p:cNvSpPr txBox="1">
            <a:spLocks noGrp="1"/>
          </p:cNvSpPr>
          <p:nvPr>
            <p:ph type="title" idx="2"/>
          </p:nvPr>
        </p:nvSpPr>
        <p:spPr>
          <a:xfrm>
            <a:off x="2667275" y="2386488"/>
            <a:ext cx="3809400" cy="4584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2800"/>
              <a:buFont typeface="Space Grotesk"/>
              <a:buNone/>
              <a:defRPr>
                <a:solidFill>
                  <a:schemeClr val="lt1"/>
                </a:solidFill>
                <a:latin typeface="Space Grotesk"/>
                <a:ea typeface="Space Grotesk"/>
                <a:cs typeface="Space Grotesk"/>
                <a:sym typeface="Space Grotesk"/>
              </a:defRPr>
            </a:lvl1pPr>
            <a:lvl2pPr lvl="1"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2pPr>
            <a:lvl3pPr lvl="2"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3pPr>
            <a:lvl4pPr lvl="3"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4pPr>
            <a:lvl5pPr lvl="4"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5pPr>
            <a:lvl6pPr lvl="5"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6pPr>
            <a:lvl7pPr lvl="6"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7pPr>
            <a:lvl8pPr lvl="7"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8pPr>
            <a:lvl9pPr lvl="8" algn="ctr">
              <a:spcBef>
                <a:spcPts val="0"/>
              </a:spcBef>
              <a:spcAft>
                <a:spcPts val="0"/>
              </a:spcAft>
              <a:buClr>
                <a:schemeClr val="lt1"/>
              </a:buClr>
              <a:buSzPts val="2000"/>
              <a:buFont typeface="Space Grotesk"/>
              <a:buNone/>
              <a:defRPr sz="2000" b="1">
                <a:solidFill>
                  <a:schemeClr val="lt1"/>
                </a:solidFill>
                <a:latin typeface="Space Grotesk"/>
                <a:ea typeface="Space Grotesk"/>
                <a:cs typeface="Space Grotesk"/>
                <a:sym typeface="Space Grotesk"/>
              </a:defRPr>
            </a:lvl9pPr>
          </a:lstStyle>
          <a:p>
            <a:endParaRPr/>
          </a:p>
        </p:txBody>
      </p:sp>
      <p:pic>
        <p:nvPicPr>
          <p:cNvPr id="180" name="Google Shape;180;p39"/>
          <p:cNvPicPr preferRelativeResize="0"/>
          <p:nvPr/>
        </p:nvPicPr>
        <p:blipFill>
          <a:blip r:embed="rId3">
            <a:alphaModFix/>
          </a:blip>
          <a:stretch>
            <a:fillRect/>
          </a:stretch>
        </p:blipFill>
        <p:spPr>
          <a:xfrm>
            <a:off x="2452674" y="3803025"/>
            <a:ext cx="4238602" cy="666400"/>
          </a:xfrm>
          <a:prstGeom prst="rect">
            <a:avLst/>
          </a:prstGeom>
          <a:noFill/>
          <a:ln>
            <a:noFill/>
          </a:ln>
        </p:spPr>
      </p:pic>
      <p:grpSp>
        <p:nvGrpSpPr>
          <p:cNvPr id="181" name="Google Shape;181;p39"/>
          <p:cNvGrpSpPr/>
          <p:nvPr/>
        </p:nvGrpSpPr>
        <p:grpSpPr>
          <a:xfrm>
            <a:off x="2534075" y="3276900"/>
            <a:ext cx="4075800" cy="369300"/>
            <a:chOff x="2534150" y="3276900"/>
            <a:chExt cx="4075800" cy="369300"/>
          </a:xfrm>
        </p:grpSpPr>
        <p:sp>
          <p:nvSpPr>
            <p:cNvPr id="182" name="Google Shape;182;p39"/>
            <p:cNvSpPr txBox="1"/>
            <p:nvPr/>
          </p:nvSpPr>
          <p:spPr>
            <a:xfrm>
              <a:off x="4004450" y="3276900"/>
              <a:ext cx="11352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FFFFFF"/>
                  </a:solidFill>
                  <a:latin typeface="Space Grotesk Medium"/>
                  <a:ea typeface="Space Grotesk Medium"/>
                  <a:cs typeface="Space Grotesk Medium"/>
                  <a:sym typeface="Space Grotesk Medium"/>
                </a:rPr>
                <a:t>Certified by</a:t>
              </a:r>
              <a:endParaRPr sz="1200">
                <a:solidFill>
                  <a:srgbClr val="FFFFFF"/>
                </a:solidFill>
                <a:latin typeface="Space Grotesk Medium"/>
                <a:ea typeface="Space Grotesk Medium"/>
                <a:cs typeface="Space Grotesk Medium"/>
                <a:sym typeface="Space Grotesk Medium"/>
              </a:endParaRPr>
            </a:p>
          </p:txBody>
        </p:sp>
        <p:cxnSp>
          <p:nvCxnSpPr>
            <p:cNvPr id="183" name="Google Shape;183;p39"/>
            <p:cNvCxnSpPr>
              <a:stCxn id="182" idx="1"/>
            </p:cNvCxnSpPr>
            <p:nvPr/>
          </p:nvCxnSpPr>
          <p:spPr>
            <a:xfrm rot="10800000">
              <a:off x="2534150" y="3461550"/>
              <a:ext cx="1470300" cy="0"/>
            </a:xfrm>
            <a:prstGeom prst="straightConnector1">
              <a:avLst/>
            </a:prstGeom>
            <a:noFill/>
            <a:ln w="9525" cap="flat" cmpd="sng">
              <a:solidFill>
                <a:srgbClr val="FFFFFF"/>
              </a:solidFill>
              <a:prstDash val="solid"/>
              <a:round/>
              <a:headEnd type="none" w="med" len="med"/>
              <a:tailEnd type="none" w="med" len="med"/>
            </a:ln>
          </p:spPr>
        </p:cxnSp>
        <p:cxnSp>
          <p:nvCxnSpPr>
            <p:cNvPr id="184" name="Google Shape;184;p39"/>
            <p:cNvCxnSpPr>
              <a:endCxn id="182" idx="3"/>
            </p:cNvCxnSpPr>
            <p:nvPr/>
          </p:nvCxnSpPr>
          <p:spPr>
            <a:xfrm rot="10800000">
              <a:off x="5139650" y="3461550"/>
              <a:ext cx="1470300" cy="0"/>
            </a:xfrm>
            <a:prstGeom prst="straightConnector1">
              <a:avLst/>
            </a:prstGeom>
            <a:noFill/>
            <a:ln w="9525" cap="flat" cmpd="sng">
              <a:solidFill>
                <a:srgbClr val="FFFFFF"/>
              </a:solidFill>
              <a:prstDash val="solid"/>
              <a:round/>
              <a:headEnd type="none" w="med" len="med"/>
              <a:tailEnd type="none" w="med" len="med"/>
            </a:ln>
          </p:spPr>
        </p:cxnSp>
      </p:grpSp>
      <p:sp>
        <p:nvSpPr>
          <p:cNvPr id="185" name="Google Shape;185;p39"/>
          <p:cNvSpPr txBox="1"/>
          <p:nvPr/>
        </p:nvSpPr>
        <p:spPr>
          <a:xfrm>
            <a:off x="2452675" y="4679450"/>
            <a:ext cx="44022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a:solidFill>
                  <a:schemeClr val="lt1"/>
                </a:solidFill>
                <a:latin typeface="Space Grotesk"/>
                <a:ea typeface="Space Grotesk"/>
                <a:cs typeface="Space Grotesk"/>
                <a:sym typeface="Space Grotesk"/>
              </a:rPr>
              <a:t>www.accuknox.com</a:t>
            </a:r>
            <a:endParaRPr sz="800">
              <a:solidFill>
                <a:schemeClr val="lt1"/>
              </a:solidFill>
              <a:latin typeface="Space Grotesk"/>
              <a:ea typeface="Space Grotesk"/>
              <a:cs typeface="Space Grotesk"/>
              <a:sym typeface="Space Grotesk"/>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87"/>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Dark Top Bar Text">
  <p:cSld name="CUSTOM">
    <p:spTree>
      <p:nvGrpSpPr>
        <p:cNvPr id="1" name="Shape 188"/>
        <p:cNvGrpSpPr/>
        <p:nvPr/>
      </p:nvGrpSpPr>
      <p:grpSpPr>
        <a:xfrm>
          <a:off x="0" y="0"/>
          <a:ext cx="0" cy="0"/>
          <a:chOff x="0" y="0"/>
          <a:chExt cx="0" cy="0"/>
        </a:xfrm>
      </p:grpSpPr>
      <p:sp>
        <p:nvSpPr>
          <p:cNvPr id="189" name="Google Shape;189;p42"/>
          <p:cNvSpPr/>
          <p:nvPr/>
        </p:nvSpPr>
        <p:spPr>
          <a:xfrm>
            <a:off x="-24300" y="-9750"/>
            <a:ext cx="9168300" cy="708000"/>
          </a:xfrm>
          <a:prstGeom prst="rect">
            <a:avLst/>
          </a:prstGeom>
          <a:solidFill>
            <a:srgbClr val="11206D"/>
          </a:solidFill>
          <a:ln>
            <a:noFill/>
          </a:ln>
        </p:spPr>
        <p:txBody>
          <a:bodyPr spcFirstLastPara="1" wrap="square" lIns="457200"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rgbClr val="FFFFFF"/>
              </a:solidFill>
              <a:latin typeface="Montserrat"/>
              <a:ea typeface="Montserrat"/>
              <a:cs typeface="Montserrat"/>
              <a:sym typeface="Montserrat"/>
            </a:endParaRPr>
          </a:p>
        </p:txBody>
      </p:sp>
      <p:pic>
        <p:nvPicPr>
          <p:cNvPr id="190" name="Google Shape;190;p42" title="logo-dark-back.png"/>
          <p:cNvPicPr preferRelativeResize="0"/>
          <p:nvPr/>
        </p:nvPicPr>
        <p:blipFill>
          <a:blip r:embed="rId2">
            <a:alphaModFix/>
          </a:blip>
          <a:stretch>
            <a:fillRect/>
          </a:stretch>
        </p:blipFill>
        <p:spPr>
          <a:xfrm>
            <a:off x="7504102" y="173626"/>
            <a:ext cx="1444050" cy="341250"/>
          </a:xfrm>
          <a:prstGeom prst="rect">
            <a:avLst/>
          </a:prstGeom>
          <a:noFill/>
          <a:ln>
            <a:noFill/>
          </a:ln>
        </p:spPr>
      </p:pic>
      <p:sp>
        <p:nvSpPr>
          <p:cNvPr id="191" name="Google Shape;191;p42"/>
          <p:cNvSpPr txBox="1">
            <a:spLocks noGrp="1"/>
          </p:cNvSpPr>
          <p:nvPr>
            <p:ph type="title"/>
          </p:nvPr>
        </p:nvSpPr>
        <p:spPr>
          <a:xfrm>
            <a:off x="-24300" y="-9750"/>
            <a:ext cx="7686000" cy="708000"/>
          </a:xfrm>
          <a:prstGeom prst="rect">
            <a:avLst/>
          </a:prstGeom>
          <a:noFill/>
          <a:ln>
            <a:noFill/>
          </a:ln>
        </p:spPr>
        <p:txBody>
          <a:bodyPr spcFirstLastPara="1" wrap="square" lIns="274300" tIns="91425" rIns="91425" bIns="91425" anchor="ctr" anchorCtr="0">
            <a:noAutofit/>
          </a:bodyPr>
          <a:lstStyle>
            <a:lvl1pPr lvl="0">
              <a:spcBef>
                <a:spcPts val="0"/>
              </a:spcBef>
              <a:spcAft>
                <a:spcPts val="0"/>
              </a:spcAft>
              <a:buClr>
                <a:schemeClr val="lt1"/>
              </a:buClr>
              <a:buSzPts val="2400"/>
              <a:buFont typeface="Space Grotesk"/>
              <a:buNone/>
              <a:defRPr sz="2400" b="1">
                <a:solidFill>
                  <a:schemeClr val="lt1"/>
                </a:solidFill>
                <a:latin typeface="Space Grotesk"/>
                <a:ea typeface="Space Grotesk"/>
                <a:cs typeface="Space Grotesk"/>
                <a:sym typeface="Space Grotes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theme" Target="../theme/theme2.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39.xml"/><Relationship Id="rId1"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8"/>
        <p:cNvGrpSpPr/>
        <p:nvPr/>
      </p:nvGrpSpPr>
      <p:grpSpPr>
        <a:xfrm>
          <a:off x="0" y="0"/>
          <a:ext cx="0" cy="0"/>
          <a:chOff x="0" y="0"/>
          <a:chExt cx="0" cy="0"/>
        </a:xfrm>
      </p:grpSpPr>
      <p:sp>
        <p:nvSpPr>
          <p:cNvPr id="99" name="Google Shape;99;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00" name="Google Shape;100;p2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101" name="Google Shape;101;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186"/>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5" r:id="rId1"/>
    <p:sldLayoutId id="2147483686"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4.xml"/><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hyperlink" Target="https://caldera.readthedocs.io/en/2.8.0/Learning-the-terminology.html" TargetMode="External"/><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hyperlink" Target="https://github.com/nyrahul/k8s-sandcat"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hyperlink" Target="https://app.storylane.io/share/2ybs00khhlmk" TargetMode="External"/><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hyperlink" Target="http://cspm.demo.accuknox.com" TargetMode="External"/><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14.xml"/><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0.xml"/><Relationship Id="rId1" Type="http://schemas.openxmlformats.org/officeDocument/2006/relationships/slideLayout" Target="../slideLayouts/slideLayout14.xml"/><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14.xml"/><Relationship Id="rId4" Type="http://schemas.openxmlformats.org/officeDocument/2006/relationships/image" Target="../media/image55.png"/></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2.xml"/><Relationship Id="rId1" Type="http://schemas.openxmlformats.org/officeDocument/2006/relationships/slideLayout" Target="../slideLayouts/slideLayout14.xml"/><Relationship Id="rId4" Type="http://schemas.openxmlformats.org/officeDocument/2006/relationships/image" Target="../media/image57.png"/></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3.xml"/><Relationship Id="rId1" Type="http://schemas.openxmlformats.org/officeDocument/2006/relationships/slideLayout" Target="../slideLayouts/slideLayout14.xml"/><Relationship Id="rId4" Type="http://schemas.openxmlformats.org/officeDocument/2006/relationships/image" Target="../media/image59.png"/></Relationships>
</file>

<file path=ppt/slides/_rels/slide3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5.xml"/><Relationship Id="rId1" Type="http://schemas.openxmlformats.org/officeDocument/2006/relationships/slideLayout" Target="../slideLayouts/slideLayout14.xml"/><Relationship Id="rId4" Type="http://schemas.openxmlformats.org/officeDocument/2006/relationships/hyperlink" Target="https://www.accuknox.com/blog/cryptojacking-threat-prevention"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help.accuknox.com/use-cases/hardening/" TargetMode="External"/><Relationship Id="rId2" Type="http://schemas.openxmlformats.org/officeDocument/2006/relationships/notesSlide" Target="../notesSlides/notesSlide36.xml"/><Relationship Id="rId1" Type="http://schemas.openxmlformats.org/officeDocument/2006/relationships/slideLayout" Target="../slideLayouts/slideLayout14.xml"/><Relationship Id="rId4" Type="http://schemas.openxmlformats.org/officeDocument/2006/relationships/image" Target="../media/image62.png"/></Relationships>
</file>

<file path=ppt/slides/_rels/slide37.xml.rels><?xml version="1.0" encoding="UTF-8" standalone="yes"?>
<Relationships xmlns="http://schemas.openxmlformats.org/package/2006/relationships"><Relationship Id="rId3" Type="http://schemas.openxmlformats.org/officeDocument/2006/relationships/hyperlink" Target="https://help.accuknox.com/use-cases/hashicorp/" TargetMode="External"/><Relationship Id="rId2" Type="http://schemas.openxmlformats.org/officeDocument/2006/relationships/notesSlide" Target="../notesSlides/notesSlide37.xml"/><Relationship Id="rId1" Type="http://schemas.openxmlformats.org/officeDocument/2006/relationships/slideLayout" Target="../slideLayouts/slideLayout14.xml"/><Relationship Id="rId4" Type="http://schemas.openxmlformats.org/officeDocument/2006/relationships/image" Target="../media/image63.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hyperlink" Target="https://caldera.readthedocs.io/en/2.8.0/Learning-the-terminology.html" TargetMode="External"/><Relationship Id="rId2" Type="http://schemas.openxmlformats.org/officeDocument/2006/relationships/notesSlide" Target="../notesSlides/notesSlide39.xml"/><Relationship Id="rId1" Type="http://schemas.openxmlformats.org/officeDocument/2006/relationships/slideLayout" Target="../slideLayouts/slideLayout1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hyperlink" Target="https://github.com/nyrahul/k8s-sandcat"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hyperlink" Target="https://app.storylane.io/share/2ybs00khhlmk" TargetMode="External"/><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43"/>
          <p:cNvSpPr txBox="1"/>
          <p:nvPr/>
        </p:nvSpPr>
        <p:spPr>
          <a:xfrm>
            <a:off x="251775" y="1373975"/>
            <a:ext cx="5603400" cy="1538853"/>
          </a:xfrm>
          <a:prstGeom prst="rect">
            <a:avLst/>
          </a:prstGeom>
          <a:noFill/>
          <a:ln>
            <a:noFill/>
          </a:ln>
        </p:spPr>
        <p:txBody>
          <a:bodyPr spcFirstLastPara="1" wrap="square" lIns="91425" tIns="91425" rIns="91425" bIns="91425" anchor="t" anchorCtr="0">
            <a:spAutoFit/>
          </a:bodyPr>
          <a:lstStyle/>
          <a:p>
            <a:pPr lvl="0" algn="ctr"/>
            <a:r>
              <a:rPr lang="en" sz="4400" b="1" dirty="0">
                <a:solidFill>
                  <a:schemeClr val="lt1"/>
                </a:solidFill>
                <a:latin typeface="Space Grotesk"/>
                <a:ea typeface="Space Grotesk"/>
                <a:cs typeface="Space Grotesk"/>
                <a:sym typeface="Space Grotesk"/>
              </a:rPr>
              <a:t>VM Security Use Cases (RHEL)</a:t>
            </a:r>
            <a:endParaRPr sz="4400" b="1" dirty="0">
              <a:solidFill>
                <a:schemeClr val="lt1"/>
              </a:solidFill>
              <a:latin typeface="Space Grotesk"/>
              <a:ea typeface="Space Grotesk"/>
              <a:cs typeface="Space Grotesk"/>
              <a:sym typeface="Space Grotesk"/>
            </a:endParaRPr>
          </a:p>
        </p:txBody>
      </p:sp>
      <p:sp>
        <p:nvSpPr>
          <p:cNvPr id="198" name="Google Shape;198;p43"/>
          <p:cNvSpPr txBox="1"/>
          <p:nvPr/>
        </p:nvSpPr>
        <p:spPr>
          <a:xfrm>
            <a:off x="1553488" y="3057325"/>
            <a:ext cx="30000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chemeClr val="lt1"/>
                </a:solidFill>
                <a:latin typeface="Space Grotesk"/>
                <a:ea typeface="Space Grotesk"/>
                <a:cs typeface="Space Grotesk"/>
                <a:sym typeface="Space Grotesk"/>
              </a:rPr>
              <a:t>May 2026</a:t>
            </a:r>
            <a:endParaRPr sz="1600" b="1">
              <a:solidFill>
                <a:schemeClr val="lt1"/>
              </a:solidFill>
              <a:latin typeface="Space Grotesk"/>
              <a:ea typeface="Space Grotesk"/>
              <a:cs typeface="Space Grotesk"/>
              <a:sym typeface="Space Grotes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44"/>
          <p:cNvSpPr txBox="1">
            <a:spLocks noGrp="1"/>
          </p:cNvSpPr>
          <p:nvPr>
            <p:ph type="title"/>
          </p:nvPr>
        </p:nvSpPr>
        <p:spPr>
          <a:xfrm>
            <a:off x="-24300" y="-9750"/>
            <a:ext cx="7686000" cy="708000"/>
          </a:xfrm>
          <a:prstGeom prst="rect">
            <a:avLst/>
          </a:prstGeom>
        </p:spPr>
        <p:txBody>
          <a:bodyPr spcFirstLastPara="1" wrap="square" lIns="274300" tIns="91425" rIns="91425" bIns="91425" anchor="ctr" anchorCtr="0">
            <a:noAutofit/>
          </a:bodyPr>
          <a:lstStyle/>
          <a:p>
            <a:pPr marL="0" lvl="0" indent="0" algn="l" rtl="0">
              <a:spcBef>
                <a:spcPts val="0"/>
              </a:spcBef>
              <a:spcAft>
                <a:spcPts val="0"/>
              </a:spcAft>
              <a:buNone/>
            </a:pPr>
            <a:r>
              <a:rPr lang="en"/>
              <a:t>Outline</a:t>
            </a:r>
            <a:endParaRPr/>
          </a:p>
        </p:txBody>
      </p:sp>
      <p:grpSp>
        <p:nvGrpSpPr>
          <p:cNvPr id="204" name="Google Shape;204;p44"/>
          <p:cNvGrpSpPr/>
          <p:nvPr/>
        </p:nvGrpSpPr>
        <p:grpSpPr>
          <a:xfrm>
            <a:off x="281880" y="1604621"/>
            <a:ext cx="8490440" cy="509693"/>
            <a:chOff x="811756" y="1752600"/>
            <a:chExt cx="7166743" cy="588900"/>
          </a:xfrm>
        </p:grpSpPr>
        <p:sp>
          <p:nvSpPr>
            <p:cNvPr id="205" name="Google Shape;205;p44"/>
            <p:cNvSpPr/>
            <p:nvPr/>
          </p:nvSpPr>
          <p:spPr>
            <a:xfrm>
              <a:off x="811756" y="1752600"/>
              <a:ext cx="591900" cy="588900"/>
            </a:xfrm>
            <a:prstGeom prst="rect">
              <a:avLst/>
            </a:prstGeom>
            <a:solidFill>
              <a:srgbClr val="4A86E8">
                <a:alpha val="2516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11206D"/>
                  </a:solidFill>
                  <a:latin typeface="Space Grotesk"/>
                  <a:ea typeface="Space Grotesk"/>
                  <a:cs typeface="Space Grotesk"/>
                  <a:sym typeface="Space Grotesk"/>
                </a:rPr>
                <a:t>2</a:t>
              </a:r>
              <a:endParaRPr sz="1800" b="1" i="0" u="none" strike="noStrike" cap="none">
                <a:solidFill>
                  <a:srgbClr val="11206D"/>
                </a:solidFill>
                <a:latin typeface="Space Grotesk"/>
                <a:ea typeface="Space Grotesk"/>
                <a:cs typeface="Space Grotesk"/>
                <a:sym typeface="Space Grotesk"/>
              </a:endParaRPr>
            </a:p>
          </p:txBody>
        </p:sp>
        <p:sp>
          <p:nvSpPr>
            <p:cNvPr id="206" name="Google Shape;206;p44"/>
            <p:cNvSpPr/>
            <p:nvPr/>
          </p:nvSpPr>
          <p:spPr>
            <a:xfrm>
              <a:off x="1523999" y="1752600"/>
              <a:ext cx="6454500" cy="588900"/>
            </a:xfrm>
            <a:prstGeom prst="rect">
              <a:avLst/>
            </a:prstGeom>
            <a:solidFill>
              <a:srgbClr val="4A86E8">
                <a:alpha val="25160"/>
              </a:srgbClr>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0000"/>
                </a:buClr>
                <a:buSzPts val="400"/>
                <a:buFont typeface="Arial"/>
                <a:buNone/>
              </a:pPr>
              <a:r>
                <a:rPr lang="en" sz="1800" b="1">
                  <a:solidFill>
                    <a:srgbClr val="11206D"/>
                  </a:solidFill>
                  <a:latin typeface="Space Grotesk"/>
                  <a:ea typeface="Space Grotesk"/>
                  <a:cs typeface="Space Grotesk"/>
                  <a:sym typeface="Space Grotesk"/>
                </a:rPr>
                <a:t>Attack Scenarios</a:t>
              </a:r>
              <a:endParaRPr sz="1800" b="1">
                <a:solidFill>
                  <a:srgbClr val="11206D"/>
                </a:solidFill>
                <a:latin typeface="Space Grotesk"/>
                <a:ea typeface="Space Grotesk"/>
                <a:cs typeface="Space Grotesk"/>
                <a:sym typeface="Space Grotesk"/>
              </a:endParaRPr>
            </a:p>
          </p:txBody>
        </p:sp>
      </p:grpSp>
      <p:grpSp>
        <p:nvGrpSpPr>
          <p:cNvPr id="207" name="Google Shape;207;p44"/>
          <p:cNvGrpSpPr/>
          <p:nvPr/>
        </p:nvGrpSpPr>
        <p:grpSpPr>
          <a:xfrm>
            <a:off x="281880" y="2247437"/>
            <a:ext cx="8490457" cy="509696"/>
            <a:chOff x="811756" y="3057392"/>
            <a:chExt cx="7166757" cy="588904"/>
          </a:xfrm>
        </p:grpSpPr>
        <p:sp>
          <p:nvSpPr>
            <p:cNvPr id="208" name="Google Shape;208;p44"/>
            <p:cNvSpPr/>
            <p:nvPr/>
          </p:nvSpPr>
          <p:spPr>
            <a:xfrm>
              <a:off x="811756" y="3057396"/>
              <a:ext cx="591900" cy="588900"/>
            </a:xfrm>
            <a:prstGeom prst="rect">
              <a:avLst/>
            </a:prstGeom>
            <a:solidFill>
              <a:srgbClr val="4A86E8">
                <a:alpha val="2516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1">
                  <a:solidFill>
                    <a:srgbClr val="11206D"/>
                  </a:solidFill>
                  <a:latin typeface="Space Grotesk"/>
                  <a:ea typeface="Space Grotesk"/>
                  <a:cs typeface="Space Grotesk"/>
                  <a:sym typeface="Space Grotesk"/>
                </a:rPr>
                <a:t>3</a:t>
              </a:r>
              <a:endParaRPr sz="1800" b="1" i="0" u="none" strike="noStrike" cap="none">
                <a:solidFill>
                  <a:srgbClr val="11206D"/>
                </a:solidFill>
                <a:latin typeface="Space Grotesk"/>
                <a:ea typeface="Space Grotesk"/>
                <a:cs typeface="Space Grotesk"/>
                <a:sym typeface="Space Grotesk"/>
              </a:endParaRPr>
            </a:p>
          </p:txBody>
        </p:sp>
        <p:sp>
          <p:nvSpPr>
            <p:cNvPr id="209" name="Google Shape;209;p44"/>
            <p:cNvSpPr/>
            <p:nvPr/>
          </p:nvSpPr>
          <p:spPr>
            <a:xfrm>
              <a:off x="1524013" y="3057392"/>
              <a:ext cx="6454500" cy="588900"/>
            </a:xfrm>
            <a:prstGeom prst="rect">
              <a:avLst/>
            </a:prstGeom>
            <a:solidFill>
              <a:srgbClr val="4A86E8">
                <a:alpha val="25160"/>
              </a:srgbClr>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0000"/>
                </a:buClr>
                <a:buSzPts val="1100"/>
                <a:buFont typeface="Arial"/>
                <a:buNone/>
              </a:pPr>
              <a:r>
                <a:rPr lang="en" sz="1800" b="1">
                  <a:solidFill>
                    <a:srgbClr val="11206D"/>
                  </a:solidFill>
                  <a:latin typeface="Space Grotesk"/>
                  <a:ea typeface="Space Grotesk"/>
                  <a:cs typeface="Space Grotesk"/>
                  <a:sym typeface="Space Grotesk"/>
                </a:rPr>
                <a:t>VM Security overview</a:t>
              </a:r>
              <a:endParaRPr sz="1800" b="1">
                <a:solidFill>
                  <a:srgbClr val="11206D"/>
                </a:solidFill>
                <a:latin typeface="Space Grotesk"/>
                <a:ea typeface="Space Grotesk"/>
                <a:cs typeface="Space Grotesk"/>
                <a:sym typeface="Space Grotesk"/>
              </a:endParaRPr>
            </a:p>
          </p:txBody>
        </p:sp>
      </p:grpSp>
      <p:grpSp>
        <p:nvGrpSpPr>
          <p:cNvPr id="210" name="Google Shape;210;p44"/>
          <p:cNvGrpSpPr/>
          <p:nvPr/>
        </p:nvGrpSpPr>
        <p:grpSpPr>
          <a:xfrm>
            <a:off x="281880" y="2874145"/>
            <a:ext cx="8490440" cy="509693"/>
            <a:chOff x="811756" y="3709794"/>
            <a:chExt cx="7166743" cy="588900"/>
          </a:xfrm>
        </p:grpSpPr>
        <p:sp>
          <p:nvSpPr>
            <p:cNvPr id="211" name="Google Shape;211;p44"/>
            <p:cNvSpPr/>
            <p:nvPr/>
          </p:nvSpPr>
          <p:spPr>
            <a:xfrm>
              <a:off x="811756" y="3709794"/>
              <a:ext cx="591900" cy="588900"/>
            </a:xfrm>
            <a:prstGeom prst="rect">
              <a:avLst/>
            </a:prstGeom>
            <a:solidFill>
              <a:srgbClr val="4A86E8">
                <a:alpha val="2516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1">
                  <a:solidFill>
                    <a:srgbClr val="11206D"/>
                  </a:solidFill>
                  <a:latin typeface="Space Grotesk"/>
                  <a:ea typeface="Space Grotesk"/>
                  <a:cs typeface="Space Grotesk"/>
                  <a:sym typeface="Space Grotesk"/>
                </a:rPr>
                <a:t>4</a:t>
              </a:r>
              <a:endParaRPr sz="1800" b="1" i="0" u="none" strike="noStrike" cap="none">
                <a:solidFill>
                  <a:srgbClr val="11206D"/>
                </a:solidFill>
                <a:latin typeface="Space Grotesk"/>
                <a:ea typeface="Space Grotesk"/>
                <a:cs typeface="Space Grotesk"/>
                <a:sym typeface="Space Grotesk"/>
              </a:endParaRPr>
            </a:p>
          </p:txBody>
        </p:sp>
        <p:sp>
          <p:nvSpPr>
            <p:cNvPr id="212" name="Google Shape;212;p44"/>
            <p:cNvSpPr/>
            <p:nvPr/>
          </p:nvSpPr>
          <p:spPr>
            <a:xfrm>
              <a:off x="1523999" y="3709794"/>
              <a:ext cx="6454500" cy="588900"/>
            </a:xfrm>
            <a:prstGeom prst="rect">
              <a:avLst/>
            </a:prstGeom>
            <a:solidFill>
              <a:srgbClr val="4A86E8">
                <a:alpha val="25160"/>
              </a:srgbClr>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0000"/>
                </a:buClr>
                <a:buSzPts val="1100"/>
                <a:buFont typeface="Arial"/>
                <a:buNone/>
              </a:pPr>
              <a:r>
                <a:rPr lang="en" sz="1800" b="1">
                  <a:solidFill>
                    <a:srgbClr val="11206D"/>
                  </a:solidFill>
                  <a:latin typeface="Space Grotesk"/>
                  <a:ea typeface="Space Grotesk"/>
                  <a:cs typeface="Space Grotesk"/>
                  <a:sym typeface="Space Grotesk"/>
                </a:rPr>
                <a:t>Deployment Models Continuous Compliance</a:t>
              </a:r>
              <a:endParaRPr sz="1800" b="1">
                <a:solidFill>
                  <a:srgbClr val="11206D"/>
                </a:solidFill>
                <a:latin typeface="Space Grotesk"/>
                <a:ea typeface="Space Grotesk"/>
                <a:cs typeface="Space Grotesk"/>
                <a:sym typeface="Space Grotesk"/>
              </a:endParaRPr>
            </a:p>
          </p:txBody>
        </p:sp>
      </p:grpSp>
      <p:grpSp>
        <p:nvGrpSpPr>
          <p:cNvPr id="213" name="Google Shape;213;p44"/>
          <p:cNvGrpSpPr/>
          <p:nvPr/>
        </p:nvGrpSpPr>
        <p:grpSpPr>
          <a:xfrm>
            <a:off x="292342" y="977954"/>
            <a:ext cx="8478706" cy="509696"/>
            <a:chOff x="811761" y="1752600"/>
            <a:chExt cx="7156838" cy="588904"/>
          </a:xfrm>
        </p:grpSpPr>
        <p:sp>
          <p:nvSpPr>
            <p:cNvPr id="214" name="Google Shape;214;p44"/>
            <p:cNvSpPr/>
            <p:nvPr/>
          </p:nvSpPr>
          <p:spPr>
            <a:xfrm>
              <a:off x="811761" y="1752604"/>
              <a:ext cx="578700" cy="588900"/>
            </a:xfrm>
            <a:prstGeom prst="rect">
              <a:avLst/>
            </a:prstGeom>
            <a:solidFill>
              <a:srgbClr val="4A86E8">
                <a:alpha val="2516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11206D"/>
                  </a:solidFill>
                  <a:latin typeface="Space Grotesk"/>
                  <a:ea typeface="Space Grotesk"/>
                  <a:cs typeface="Space Grotesk"/>
                  <a:sym typeface="Space Grotesk"/>
                </a:rPr>
                <a:t>1</a:t>
              </a:r>
              <a:endParaRPr sz="1800" b="1" i="0" u="none" strike="noStrike" cap="none">
                <a:solidFill>
                  <a:srgbClr val="11206D"/>
                </a:solidFill>
                <a:latin typeface="Space Grotesk"/>
                <a:ea typeface="Space Grotesk"/>
                <a:cs typeface="Space Grotesk"/>
                <a:sym typeface="Space Grotesk"/>
              </a:endParaRPr>
            </a:p>
          </p:txBody>
        </p:sp>
        <p:sp>
          <p:nvSpPr>
            <p:cNvPr id="215" name="Google Shape;215;p44"/>
            <p:cNvSpPr/>
            <p:nvPr/>
          </p:nvSpPr>
          <p:spPr>
            <a:xfrm>
              <a:off x="1523999" y="1752600"/>
              <a:ext cx="6444600" cy="588900"/>
            </a:xfrm>
            <a:prstGeom prst="rect">
              <a:avLst/>
            </a:prstGeom>
            <a:solidFill>
              <a:srgbClr val="4A86E8">
                <a:alpha val="25160"/>
              </a:srgbClr>
            </a:solid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00000"/>
                </a:buClr>
                <a:buSzPts val="400"/>
                <a:buFont typeface="Arial"/>
                <a:buNone/>
              </a:pPr>
              <a:r>
                <a:rPr lang="en" sz="1800" b="1">
                  <a:solidFill>
                    <a:srgbClr val="11206D"/>
                  </a:solidFill>
                  <a:latin typeface="Space Grotesk"/>
                  <a:ea typeface="Space Grotesk"/>
                  <a:cs typeface="Space Grotesk"/>
                  <a:sym typeface="Space Grotesk"/>
                </a:rPr>
                <a:t>VM EDR Lifecycle</a:t>
              </a:r>
              <a:endParaRPr sz="1800" b="1">
                <a:solidFill>
                  <a:srgbClr val="11206D"/>
                </a:solidFill>
                <a:latin typeface="Space Grotesk"/>
                <a:ea typeface="Space Grotesk"/>
                <a:cs typeface="Space Grotesk"/>
                <a:sym typeface="Space Grotesk"/>
              </a:endParaRPr>
            </a:p>
          </p:txBody>
        </p:sp>
      </p:grpSp>
      <p:grpSp>
        <p:nvGrpSpPr>
          <p:cNvPr id="216" name="Google Shape;216;p44"/>
          <p:cNvGrpSpPr/>
          <p:nvPr/>
        </p:nvGrpSpPr>
        <p:grpSpPr>
          <a:xfrm>
            <a:off x="286477" y="3500843"/>
            <a:ext cx="8490440" cy="509693"/>
            <a:chOff x="811756" y="3709794"/>
            <a:chExt cx="7166743" cy="588900"/>
          </a:xfrm>
        </p:grpSpPr>
        <p:sp>
          <p:nvSpPr>
            <p:cNvPr id="217" name="Google Shape;217;p44"/>
            <p:cNvSpPr/>
            <p:nvPr/>
          </p:nvSpPr>
          <p:spPr>
            <a:xfrm>
              <a:off x="811756" y="3709794"/>
              <a:ext cx="591900" cy="588900"/>
            </a:xfrm>
            <a:prstGeom prst="rect">
              <a:avLst/>
            </a:prstGeom>
            <a:solidFill>
              <a:srgbClr val="4A86E8">
                <a:alpha val="2516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1">
                  <a:solidFill>
                    <a:srgbClr val="11206D"/>
                  </a:solidFill>
                  <a:latin typeface="Space Grotesk"/>
                  <a:ea typeface="Space Grotesk"/>
                  <a:cs typeface="Space Grotesk"/>
                  <a:sym typeface="Space Grotesk"/>
                </a:rPr>
                <a:t>5</a:t>
              </a:r>
              <a:endParaRPr sz="1800" b="1" i="0" u="none" strike="noStrike" cap="none">
                <a:solidFill>
                  <a:srgbClr val="11206D"/>
                </a:solidFill>
                <a:latin typeface="Space Grotesk"/>
                <a:ea typeface="Space Grotesk"/>
                <a:cs typeface="Space Grotesk"/>
                <a:sym typeface="Space Grotesk"/>
              </a:endParaRPr>
            </a:p>
          </p:txBody>
        </p:sp>
        <p:sp>
          <p:nvSpPr>
            <p:cNvPr id="218" name="Google Shape;218;p44"/>
            <p:cNvSpPr/>
            <p:nvPr/>
          </p:nvSpPr>
          <p:spPr>
            <a:xfrm>
              <a:off x="1523999" y="3709794"/>
              <a:ext cx="6454500" cy="588900"/>
            </a:xfrm>
            <a:prstGeom prst="rect">
              <a:avLst/>
            </a:prstGeom>
            <a:solidFill>
              <a:srgbClr val="4A86E8">
                <a:alpha val="25160"/>
              </a:srgbClr>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0000"/>
                </a:buClr>
                <a:buSzPts val="1100"/>
                <a:buFont typeface="Arial"/>
                <a:buNone/>
              </a:pPr>
              <a:r>
                <a:rPr lang="en" sz="1800" b="1">
                  <a:solidFill>
                    <a:srgbClr val="11206D"/>
                  </a:solidFill>
                  <a:latin typeface="Space Grotesk"/>
                  <a:ea typeface="Space Grotesk"/>
                  <a:cs typeface="Space Grotesk"/>
                  <a:sym typeface="Space Grotesk"/>
                </a:rPr>
                <a:t>Appendix</a:t>
              </a:r>
              <a:endParaRPr sz="1800" b="1">
                <a:solidFill>
                  <a:srgbClr val="11206D"/>
                </a:solidFill>
                <a:latin typeface="Space Grotesk"/>
                <a:ea typeface="Space Grotesk"/>
                <a:cs typeface="Space Grotesk"/>
                <a:sym typeface="Space Grotesk"/>
              </a:endParaRPr>
            </a:p>
          </p:txBody>
        </p:sp>
      </p:grpSp>
      <p:grpSp>
        <p:nvGrpSpPr>
          <p:cNvPr id="219" name="Google Shape;219;p44"/>
          <p:cNvGrpSpPr/>
          <p:nvPr/>
        </p:nvGrpSpPr>
        <p:grpSpPr>
          <a:xfrm>
            <a:off x="286477" y="4127541"/>
            <a:ext cx="8490440" cy="509693"/>
            <a:chOff x="811756" y="3709794"/>
            <a:chExt cx="7166743" cy="588900"/>
          </a:xfrm>
        </p:grpSpPr>
        <p:sp>
          <p:nvSpPr>
            <p:cNvPr id="220" name="Google Shape;220;p44"/>
            <p:cNvSpPr/>
            <p:nvPr/>
          </p:nvSpPr>
          <p:spPr>
            <a:xfrm>
              <a:off x="811756" y="3709794"/>
              <a:ext cx="591900" cy="588900"/>
            </a:xfrm>
            <a:prstGeom prst="rect">
              <a:avLst/>
            </a:prstGeom>
            <a:solidFill>
              <a:srgbClr val="4A86E8">
                <a:alpha val="2516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1">
                  <a:solidFill>
                    <a:srgbClr val="11206D"/>
                  </a:solidFill>
                  <a:latin typeface="Space Grotesk"/>
                  <a:ea typeface="Space Grotesk"/>
                  <a:cs typeface="Space Grotesk"/>
                  <a:sym typeface="Space Grotesk"/>
                </a:rPr>
                <a:t>6</a:t>
              </a:r>
              <a:endParaRPr sz="1800" b="1" i="0" u="none" strike="noStrike" cap="none">
                <a:solidFill>
                  <a:srgbClr val="11206D"/>
                </a:solidFill>
                <a:latin typeface="Space Grotesk"/>
                <a:ea typeface="Space Grotesk"/>
                <a:cs typeface="Space Grotesk"/>
                <a:sym typeface="Space Grotesk"/>
              </a:endParaRPr>
            </a:p>
          </p:txBody>
        </p:sp>
        <p:sp>
          <p:nvSpPr>
            <p:cNvPr id="221" name="Google Shape;221;p44"/>
            <p:cNvSpPr/>
            <p:nvPr/>
          </p:nvSpPr>
          <p:spPr>
            <a:xfrm>
              <a:off x="1523999" y="3709794"/>
              <a:ext cx="6454500" cy="588900"/>
            </a:xfrm>
            <a:prstGeom prst="rect">
              <a:avLst/>
            </a:prstGeom>
            <a:solidFill>
              <a:srgbClr val="4A86E8">
                <a:alpha val="25160"/>
              </a:srgbClr>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0000"/>
                </a:buClr>
                <a:buSzPts val="1100"/>
                <a:buFont typeface="Arial"/>
                <a:buNone/>
              </a:pPr>
              <a:r>
                <a:rPr lang="en" sz="1800" b="1">
                  <a:solidFill>
                    <a:srgbClr val="11206D"/>
                  </a:solidFill>
                  <a:latin typeface="Space Grotesk"/>
                  <a:ea typeface="Space Grotesk"/>
                  <a:cs typeface="Space Grotesk"/>
                  <a:sym typeface="Space Grotesk"/>
                </a:rPr>
                <a:t>Q&amp;A</a:t>
              </a:r>
              <a:endParaRPr sz="1800" b="1">
                <a:solidFill>
                  <a:srgbClr val="11206D"/>
                </a:solidFill>
                <a:latin typeface="Space Grotesk"/>
                <a:ea typeface="Space Grotesk"/>
                <a:cs typeface="Space Grotesk"/>
                <a:sym typeface="Space Grotesk"/>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5"/>
          <p:cNvSpPr txBox="1">
            <a:spLocks noGrp="1"/>
          </p:cNvSpPr>
          <p:nvPr>
            <p:ph type="title"/>
          </p:nvPr>
        </p:nvSpPr>
        <p:spPr>
          <a:xfrm>
            <a:off x="-42100" y="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VM EDR Lifecycle</a:t>
            </a:r>
            <a:endParaRPr sz="2200"/>
          </a:p>
        </p:txBody>
      </p:sp>
      <p:sp>
        <p:nvSpPr>
          <p:cNvPr id="227" name="Google Shape;227;p45"/>
          <p:cNvSpPr/>
          <p:nvPr/>
        </p:nvSpPr>
        <p:spPr>
          <a:xfrm>
            <a:off x="5783925" y="698100"/>
            <a:ext cx="3360000" cy="498900"/>
          </a:xfrm>
          <a:prstGeom prst="rightArrow">
            <a:avLst>
              <a:gd name="adj1" fmla="val 100000"/>
              <a:gd name="adj2" fmla="val 0"/>
            </a:avLst>
          </a:prstGeom>
          <a:solidFill>
            <a:srgbClr val="4F64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latin typeface="Space Grotesk"/>
                <a:ea typeface="Space Grotesk"/>
                <a:cs typeface="Space Grotesk"/>
                <a:sym typeface="Space Grotesk"/>
              </a:rPr>
              <a:t>Module III</a:t>
            </a:r>
            <a:endParaRPr b="1">
              <a:solidFill>
                <a:srgbClr val="FFFFFF"/>
              </a:solidFill>
              <a:latin typeface="Space Grotesk"/>
              <a:ea typeface="Space Grotesk"/>
              <a:cs typeface="Space Grotesk"/>
              <a:sym typeface="Space Grotesk"/>
            </a:endParaRPr>
          </a:p>
        </p:txBody>
      </p:sp>
      <p:graphicFrame>
        <p:nvGraphicFramePr>
          <p:cNvPr id="228" name="Google Shape;228;p45"/>
          <p:cNvGraphicFramePr/>
          <p:nvPr/>
        </p:nvGraphicFramePr>
        <p:xfrm>
          <a:off x="-12" y="1197150"/>
          <a:ext cx="3000000" cy="3000000"/>
        </p:xfrm>
        <a:graphic>
          <a:graphicData uri="http://schemas.openxmlformats.org/drawingml/2006/table">
            <a:tbl>
              <a:tblPr>
                <a:noFill/>
                <a:tableStyleId>{AA03FFC0-A3A7-4466-AC7F-7B0471147EAA}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3946350">
                <a:tc>
                  <a:txBody>
                    <a:bodyPr/>
                    <a:lstStyle/>
                    <a:p>
                      <a:pPr marL="0" lvl="0" indent="0" algn="l" rtl="0">
                        <a:lnSpc>
                          <a:spcPct val="115000"/>
                        </a:lnSpc>
                        <a:spcBef>
                          <a:spcPts val="971"/>
                        </a:spcBef>
                        <a:spcAft>
                          <a:spcPts val="0"/>
                        </a:spcAft>
                        <a:buNone/>
                      </a:pPr>
                      <a:r>
                        <a:rPr lang="en" sz="1268" b="1">
                          <a:solidFill>
                            <a:schemeClr val="dk1"/>
                          </a:solidFill>
                          <a:latin typeface="Space Grotesk"/>
                          <a:ea typeface="Space Grotesk"/>
                          <a:cs typeface="Space Grotesk"/>
                          <a:sym typeface="Space Grotesk"/>
                        </a:rPr>
                        <a:t>VM Vulnerability Scanning</a:t>
                      </a:r>
                      <a:endParaRPr sz="1268" b="1">
                        <a:solidFill>
                          <a:schemeClr val="dk1"/>
                        </a:solidFill>
                        <a:latin typeface="Space Grotesk"/>
                        <a:ea typeface="Space Grotesk"/>
                        <a:cs typeface="Space Grotesk"/>
                        <a:sym typeface="Space Grotesk"/>
                      </a:endParaRPr>
                    </a:p>
                    <a:p>
                      <a:pPr marL="443998" lvl="0" indent="-289832" algn="l" rtl="0">
                        <a:lnSpc>
                          <a:spcPct val="115000"/>
                        </a:lnSpc>
                        <a:spcBef>
                          <a:spcPts val="971"/>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Missing patches</a:t>
                      </a:r>
                      <a:endParaRPr sz="1068">
                        <a:solidFill>
                          <a:schemeClr val="dk1"/>
                        </a:solidFill>
                        <a:latin typeface="Space Grotesk"/>
                        <a:ea typeface="Space Grotesk"/>
                        <a:cs typeface="Space Grotesk"/>
                        <a:sym typeface="Space Grotesk"/>
                      </a:endParaRPr>
                    </a:p>
                    <a:p>
                      <a:pPr marL="443998" lvl="0" indent="-289832" algn="l" rtl="0">
                        <a:lnSpc>
                          <a:spcPct val="115000"/>
                        </a:lnSpc>
                        <a:spcBef>
                          <a:spcPts val="0"/>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Known CVEs</a:t>
                      </a:r>
                      <a:endParaRPr sz="1068">
                        <a:solidFill>
                          <a:schemeClr val="dk1"/>
                        </a:solidFill>
                        <a:latin typeface="Space Grotesk"/>
                        <a:ea typeface="Space Grotesk"/>
                        <a:cs typeface="Space Grotesk"/>
                        <a:sym typeface="Space Grotesk"/>
                      </a:endParaRPr>
                    </a:p>
                    <a:p>
                      <a:pPr marL="443998" lvl="0" indent="-289832" algn="l" rtl="0">
                        <a:lnSpc>
                          <a:spcPct val="115000"/>
                        </a:lnSpc>
                        <a:spcBef>
                          <a:spcPts val="0"/>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Misconfigurations</a:t>
                      </a:r>
                      <a:endParaRPr sz="1068">
                        <a:solidFill>
                          <a:schemeClr val="dk1"/>
                        </a:solidFill>
                        <a:latin typeface="Space Grotesk"/>
                        <a:ea typeface="Space Grotesk"/>
                        <a:cs typeface="Space Grotesk"/>
                        <a:sym typeface="Space Grotesk"/>
                      </a:endParaRPr>
                    </a:p>
                    <a:p>
                      <a:pPr marL="443998" lvl="0" indent="-289832" algn="l" rtl="0">
                        <a:lnSpc>
                          <a:spcPct val="115000"/>
                        </a:lnSpc>
                        <a:spcBef>
                          <a:spcPts val="0"/>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Weak services and exposed ports</a:t>
                      </a:r>
                      <a:endParaRPr sz="1068">
                        <a:solidFill>
                          <a:schemeClr val="dk1"/>
                        </a:solidFill>
                        <a:latin typeface="Space Grotesk"/>
                        <a:ea typeface="Space Grotesk"/>
                        <a:cs typeface="Space Grotesk"/>
                        <a:sym typeface="Space Grotesk"/>
                      </a:endParaRPr>
                    </a:p>
                    <a:p>
                      <a:pPr marL="443998" lvl="0" indent="-289832" algn="l" rtl="0">
                        <a:lnSpc>
                          <a:spcPct val="115000"/>
                        </a:lnSpc>
                        <a:spcBef>
                          <a:spcPts val="0"/>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Outdated OS/packages</a:t>
                      </a:r>
                      <a:endParaRPr sz="1068">
                        <a:solidFill>
                          <a:schemeClr val="dk1"/>
                        </a:solidFill>
                        <a:latin typeface="Space Grotesk"/>
                        <a:ea typeface="Space Grotesk"/>
                        <a:cs typeface="Space Grotesk"/>
                        <a:sym typeface="Space Grotesk"/>
                      </a:endParaRPr>
                    </a:p>
                    <a:p>
                      <a:pPr marL="443998" lvl="0" indent="-289832" algn="l" rtl="0">
                        <a:lnSpc>
                          <a:spcPct val="115000"/>
                        </a:lnSpc>
                        <a:spcBef>
                          <a:spcPts val="0"/>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Compliance gaps</a:t>
                      </a:r>
                      <a:endParaRPr sz="1068">
                        <a:solidFill>
                          <a:schemeClr val="dk1"/>
                        </a:solidFill>
                        <a:latin typeface="Space Grotesk"/>
                        <a:ea typeface="Space Grotesk"/>
                        <a:cs typeface="Space Grotesk"/>
                        <a:sym typeface="Space Grotesk"/>
                      </a:endParaRPr>
                    </a:p>
                    <a:p>
                      <a:pPr marL="0" lvl="0" indent="0" algn="l" rtl="0">
                        <a:lnSpc>
                          <a:spcPct val="115000"/>
                        </a:lnSpc>
                        <a:spcBef>
                          <a:spcPts val="971"/>
                        </a:spcBef>
                        <a:spcAft>
                          <a:spcPts val="0"/>
                        </a:spcAft>
                        <a:buNone/>
                      </a:pPr>
                      <a:r>
                        <a:rPr lang="en" sz="1268" b="1">
                          <a:solidFill>
                            <a:schemeClr val="dk1"/>
                          </a:solidFill>
                          <a:latin typeface="Space Grotesk"/>
                          <a:ea typeface="Space Grotesk"/>
                          <a:cs typeface="Space Grotesk"/>
                          <a:sym typeface="Space Grotesk"/>
                        </a:rPr>
                        <a:t>VM Compliance</a:t>
                      </a:r>
                      <a:endParaRPr sz="1268" b="1">
                        <a:solidFill>
                          <a:schemeClr val="dk1"/>
                        </a:solidFill>
                        <a:latin typeface="Space Grotesk"/>
                        <a:ea typeface="Space Grotesk"/>
                        <a:cs typeface="Space Grotesk"/>
                        <a:sym typeface="Space Grotesk"/>
                      </a:endParaRPr>
                    </a:p>
                    <a:p>
                      <a:pPr marL="443998" lvl="0" indent="-289832" algn="l" rtl="0">
                        <a:lnSpc>
                          <a:spcPct val="115000"/>
                        </a:lnSpc>
                        <a:spcBef>
                          <a:spcPts val="971"/>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STIGs</a:t>
                      </a:r>
                      <a:endParaRPr sz="1068">
                        <a:solidFill>
                          <a:schemeClr val="dk1"/>
                        </a:solidFill>
                        <a:latin typeface="Space Grotesk"/>
                        <a:ea typeface="Space Grotesk"/>
                        <a:cs typeface="Space Grotesk"/>
                        <a:sym typeface="Space Grotesk"/>
                      </a:endParaRPr>
                    </a:p>
                    <a:p>
                      <a:pPr marL="443998" lvl="0" indent="-289832" algn="l" rtl="0">
                        <a:lnSpc>
                          <a:spcPct val="115000"/>
                        </a:lnSpc>
                        <a:spcBef>
                          <a:spcPts val="0"/>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CIS</a:t>
                      </a:r>
                      <a:endParaRPr sz="1068">
                        <a:solidFill>
                          <a:schemeClr val="dk1"/>
                        </a:solidFill>
                        <a:latin typeface="Space Grotesk"/>
                        <a:ea typeface="Space Grotesk"/>
                        <a:cs typeface="Space Grotesk"/>
                        <a:sym typeface="Space Grotesk"/>
                      </a:endParaRPr>
                    </a:p>
                    <a:p>
                      <a:pPr marL="443998" lvl="0" indent="-289832" algn="l" rtl="0">
                        <a:lnSpc>
                          <a:spcPct val="115000"/>
                        </a:lnSpc>
                        <a:spcBef>
                          <a:spcPts val="0"/>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SOC2</a:t>
                      </a:r>
                      <a:endParaRPr sz="1068">
                        <a:solidFill>
                          <a:schemeClr val="dk1"/>
                        </a:solidFill>
                        <a:latin typeface="Space Grotesk"/>
                        <a:ea typeface="Space Grotesk"/>
                        <a:cs typeface="Space Grotesk"/>
                        <a:sym typeface="Space Grotesk"/>
                      </a:endParaRPr>
                    </a:p>
                    <a:p>
                      <a:pPr marL="0" lvl="0" indent="0" algn="l" rtl="0">
                        <a:spcBef>
                          <a:spcPts val="971"/>
                        </a:spcBef>
                        <a:spcAft>
                          <a:spcPts val="0"/>
                        </a:spcAft>
                        <a:buNone/>
                      </a:pPr>
                      <a:endParaRPr>
                        <a:solidFill>
                          <a:srgbClr val="0000FF"/>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5000"/>
                        </a:lnSpc>
                        <a:spcBef>
                          <a:spcPts val="971"/>
                        </a:spcBef>
                        <a:spcAft>
                          <a:spcPts val="0"/>
                        </a:spcAft>
                        <a:buNone/>
                      </a:pPr>
                      <a:r>
                        <a:rPr lang="en" sz="1268" b="1">
                          <a:solidFill>
                            <a:schemeClr val="dk1"/>
                          </a:solidFill>
                          <a:latin typeface="Space Grotesk"/>
                          <a:ea typeface="Space Grotesk"/>
                          <a:cs typeface="Space Grotesk"/>
                          <a:sym typeface="Space Grotesk"/>
                        </a:rPr>
                        <a:t>VM Malware Scanning</a:t>
                      </a:r>
                      <a:endParaRPr sz="1268" b="1">
                        <a:solidFill>
                          <a:schemeClr val="dk1"/>
                        </a:solidFill>
                        <a:latin typeface="Space Grotesk"/>
                        <a:ea typeface="Space Grotesk"/>
                        <a:cs typeface="Space Grotesk"/>
                        <a:sym typeface="Space Grotesk"/>
                      </a:endParaRPr>
                    </a:p>
                    <a:p>
                      <a:pPr marL="443998" lvl="0" indent="-289832" algn="l" rtl="0">
                        <a:lnSpc>
                          <a:spcPct val="115000"/>
                        </a:lnSpc>
                        <a:spcBef>
                          <a:spcPts val="971"/>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Ransomware,</a:t>
                      </a:r>
                      <a:endParaRPr sz="1068">
                        <a:solidFill>
                          <a:schemeClr val="dk1"/>
                        </a:solidFill>
                        <a:latin typeface="Space Grotesk"/>
                        <a:ea typeface="Space Grotesk"/>
                        <a:cs typeface="Space Grotesk"/>
                        <a:sym typeface="Space Grotesk"/>
                      </a:endParaRPr>
                    </a:p>
                    <a:p>
                      <a:pPr marL="443998" lvl="0" indent="-289832" algn="l" rtl="0">
                        <a:lnSpc>
                          <a:spcPct val="115000"/>
                        </a:lnSpc>
                        <a:spcBef>
                          <a:spcPts val="0"/>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trojans,</a:t>
                      </a:r>
                      <a:endParaRPr sz="1068">
                        <a:solidFill>
                          <a:schemeClr val="dk1"/>
                        </a:solidFill>
                        <a:latin typeface="Space Grotesk"/>
                        <a:ea typeface="Space Grotesk"/>
                        <a:cs typeface="Space Grotesk"/>
                        <a:sym typeface="Space Grotesk"/>
                      </a:endParaRPr>
                    </a:p>
                    <a:p>
                      <a:pPr marL="443998" lvl="0" indent="-289832" algn="l" rtl="0">
                        <a:lnSpc>
                          <a:spcPct val="115000"/>
                        </a:lnSpc>
                        <a:spcBef>
                          <a:spcPts val="0"/>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spyware,</a:t>
                      </a:r>
                      <a:endParaRPr sz="1068">
                        <a:solidFill>
                          <a:schemeClr val="dk1"/>
                        </a:solidFill>
                        <a:latin typeface="Space Grotesk"/>
                        <a:ea typeface="Space Grotesk"/>
                        <a:cs typeface="Space Grotesk"/>
                        <a:sym typeface="Space Grotesk"/>
                      </a:endParaRPr>
                    </a:p>
                    <a:p>
                      <a:pPr marL="443998" lvl="0" indent="-289832" algn="l" rtl="0">
                        <a:lnSpc>
                          <a:spcPct val="115000"/>
                        </a:lnSpc>
                        <a:spcBef>
                          <a:spcPts val="0"/>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cryptominers,</a:t>
                      </a:r>
                      <a:endParaRPr sz="1068">
                        <a:solidFill>
                          <a:schemeClr val="dk1"/>
                        </a:solidFill>
                        <a:latin typeface="Space Grotesk"/>
                        <a:ea typeface="Space Grotesk"/>
                        <a:cs typeface="Space Grotesk"/>
                        <a:sym typeface="Space Grotesk"/>
                      </a:endParaRPr>
                    </a:p>
                    <a:p>
                      <a:pPr marL="443998" lvl="0" indent="-289832" algn="l" rtl="0">
                        <a:lnSpc>
                          <a:spcPct val="115000"/>
                        </a:lnSpc>
                        <a:spcBef>
                          <a:spcPts val="0"/>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persistence mechanisms,</a:t>
                      </a:r>
                      <a:endParaRPr sz="1068">
                        <a:solidFill>
                          <a:schemeClr val="dk1"/>
                        </a:solidFill>
                        <a:latin typeface="Space Grotesk"/>
                        <a:ea typeface="Space Grotesk"/>
                        <a:cs typeface="Space Grotesk"/>
                        <a:sym typeface="Space Grotesk"/>
                      </a:endParaRPr>
                    </a:p>
                    <a:p>
                      <a:pPr marL="443998" lvl="0" indent="-289832" algn="l" rtl="0">
                        <a:lnSpc>
                          <a:spcPct val="115000"/>
                        </a:lnSpc>
                        <a:spcBef>
                          <a:spcPts val="0"/>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malicious binaries and scripts.</a:t>
                      </a:r>
                      <a:endParaRPr>
                        <a:solidFill>
                          <a:schemeClr val="dk1"/>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5000"/>
                        </a:lnSpc>
                        <a:spcBef>
                          <a:spcPts val="971"/>
                        </a:spcBef>
                        <a:spcAft>
                          <a:spcPts val="0"/>
                        </a:spcAft>
                        <a:buNone/>
                      </a:pPr>
                      <a:r>
                        <a:rPr lang="en" sz="1268" b="1">
                          <a:solidFill>
                            <a:schemeClr val="dk1"/>
                          </a:solidFill>
                          <a:latin typeface="Space Grotesk"/>
                          <a:ea typeface="Space Grotesk"/>
                          <a:cs typeface="Space Grotesk"/>
                          <a:sym typeface="Space Grotesk"/>
                        </a:rPr>
                        <a:t>VM Runtime Hardening</a:t>
                      </a:r>
                      <a:endParaRPr sz="1268" b="1">
                        <a:solidFill>
                          <a:schemeClr val="dk1"/>
                        </a:solidFill>
                        <a:latin typeface="Space Grotesk"/>
                        <a:ea typeface="Space Grotesk"/>
                        <a:cs typeface="Space Grotesk"/>
                        <a:sym typeface="Space Grotesk"/>
                      </a:endParaRPr>
                    </a:p>
                    <a:p>
                      <a:pPr marL="443998" lvl="0" indent="-289832" algn="l" rtl="0">
                        <a:lnSpc>
                          <a:spcPct val="115000"/>
                        </a:lnSpc>
                        <a:spcBef>
                          <a:spcPts val="971"/>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Enforces best practices</a:t>
                      </a:r>
                      <a:endParaRPr sz="1068">
                        <a:solidFill>
                          <a:schemeClr val="dk1"/>
                        </a:solidFill>
                        <a:latin typeface="Space Grotesk"/>
                        <a:ea typeface="Space Grotesk"/>
                        <a:cs typeface="Space Grotesk"/>
                        <a:sym typeface="Space Grotesk"/>
                      </a:endParaRPr>
                    </a:p>
                    <a:p>
                      <a:pPr marL="0" lvl="0" indent="0" algn="l" rtl="0">
                        <a:lnSpc>
                          <a:spcPct val="115000"/>
                        </a:lnSpc>
                        <a:spcBef>
                          <a:spcPts val="971"/>
                        </a:spcBef>
                        <a:spcAft>
                          <a:spcPts val="0"/>
                        </a:spcAft>
                        <a:buNone/>
                      </a:pPr>
                      <a:r>
                        <a:rPr lang="en" sz="1268" b="1">
                          <a:solidFill>
                            <a:schemeClr val="dk1"/>
                          </a:solidFill>
                          <a:latin typeface="Space Grotesk"/>
                          <a:ea typeface="Space Grotesk"/>
                          <a:cs typeface="Space Grotesk"/>
                          <a:sym typeface="Space Grotesk"/>
                        </a:rPr>
                        <a:t>VM Runtime Behaviour Detection</a:t>
                      </a:r>
                      <a:endParaRPr sz="1268" b="1">
                        <a:solidFill>
                          <a:schemeClr val="dk1"/>
                        </a:solidFill>
                        <a:latin typeface="Space Grotesk"/>
                        <a:ea typeface="Space Grotesk"/>
                        <a:cs typeface="Space Grotesk"/>
                        <a:sym typeface="Space Grotesk"/>
                      </a:endParaRPr>
                    </a:p>
                    <a:p>
                      <a:pPr marL="443998" lvl="0" indent="-289832" algn="l" rtl="0">
                        <a:lnSpc>
                          <a:spcPct val="115000"/>
                        </a:lnSpc>
                        <a:spcBef>
                          <a:spcPts val="971"/>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monitors behavior,</a:t>
                      </a:r>
                      <a:endParaRPr sz="1068">
                        <a:solidFill>
                          <a:schemeClr val="dk1"/>
                        </a:solidFill>
                        <a:latin typeface="Space Grotesk"/>
                        <a:ea typeface="Space Grotesk"/>
                        <a:cs typeface="Space Grotesk"/>
                        <a:sym typeface="Space Grotesk"/>
                      </a:endParaRPr>
                    </a:p>
                    <a:p>
                      <a:pPr marL="443998" lvl="0" indent="-289832" algn="l" rtl="0">
                        <a:lnSpc>
                          <a:spcPct val="115000"/>
                        </a:lnSpc>
                        <a:spcBef>
                          <a:spcPts val="0"/>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detects attacks,</a:t>
                      </a:r>
                      <a:endParaRPr sz="1068">
                        <a:solidFill>
                          <a:schemeClr val="dk1"/>
                        </a:solidFill>
                        <a:latin typeface="Space Grotesk"/>
                        <a:ea typeface="Space Grotesk"/>
                        <a:cs typeface="Space Grotesk"/>
                        <a:sym typeface="Space Grotesk"/>
                      </a:endParaRPr>
                    </a:p>
                    <a:p>
                      <a:pPr marL="443998" lvl="0" indent="-289832" algn="l" rtl="0">
                        <a:lnSpc>
                          <a:spcPct val="115000"/>
                        </a:lnSpc>
                        <a:spcBef>
                          <a:spcPts val="0"/>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blocks malicious actions,</a:t>
                      </a:r>
                      <a:endParaRPr sz="1068">
                        <a:solidFill>
                          <a:schemeClr val="dk1"/>
                        </a:solidFill>
                        <a:latin typeface="Space Grotesk"/>
                        <a:ea typeface="Space Grotesk"/>
                        <a:cs typeface="Space Grotesk"/>
                        <a:sym typeface="Space Grotesk"/>
                      </a:endParaRPr>
                    </a:p>
                    <a:p>
                      <a:pPr marL="443998" lvl="0" indent="-289832" algn="l" rtl="0">
                        <a:lnSpc>
                          <a:spcPct val="115000"/>
                        </a:lnSpc>
                        <a:spcBef>
                          <a:spcPts val="0"/>
                        </a:spcBef>
                        <a:spcAft>
                          <a:spcPts val="0"/>
                        </a:spcAft>
                        <a:buClr>
                          <a:schemeClr val="dk1"/>
                        </a:buClr>
                        <a:buSzPts val="1068"/>
                        <a:buFont typeface="Space Grotesk"/>
                        <a:buChar char="●"/>
                      </a:pPr>
                      <a:r>
                        <a:rPr lang="en" sz="1068">
                          <a:solidFill>
                            <a:schemeClr val="dk1"/>
                          </a:solidFill>
                          <a:latin typeface="Space Grotesk"/>
                          <a:ea typeface="Space Grotesk"/>
                          <a:cs typeface="Space Grotesk"/>
                          <a:sym typeface="Space Grotesk"/>
                        </a:rPr>
                        <a:t>enforces zero-trust policies.</a:t>
                      </a:r>
                      <a:endParaRPr sz="1068">
                        <a:solidFill>
                          <a:schemeClr val="dk1"/>
                        </a:solidFill>
                        <a:latin typeface="Space Grotesk"/>
                        <a:ea typeface="Space Grotesk"/>
                        <a:cs typeface="Space Grotesk"/>
                        <a:sym typeface="Space Grotesk"/>
                      </a:endParaRPr>
                    </a:p>
                    <a:p>
                      <a:pPr marL="0" lvl="0" indent="0" algn="l" rtl="0">
                        <a:spcBef>
                          <a:spcPts val="971"/>
                        </a:spcBef>
                        <a:spcAft>
                          <a:spcPts val="0"/>
                        </a:spcAft>
                        <a:buNone/>
                      </a:pPr>
                      <a:endParaRPr>
                        <a:solidFill>
                          <a:schemeClr val="dk1"/>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EEEEE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29" name="Google Shape;229;p45"/>
          <p:cNvSpPr/>
          <p:nvPr/>
        </p:nvSpPr>
        <p:spPr>
          <a:xfrm>
            <a:off x="2873550" y="698250"/>
            <a:ext cx="3165000" cy="498900"/>
          </a:xfrm>
          <a:prstGeom prst="chevron">
            <a:avLst>
              <a:gd name="adj" fmla="val 50000"/>
            </a:avLst>
          </a:prstGeom>
          <a:solidFill>
            <a:srgbClr val="0059E5"/>
          </a:solidFill>
          <a:ln>
            <a:noFill/>
          </a:ln>
        </p:spPr>
        <p:txBody>
          <a:bodyPr spcFirstLastPara="1" wrap="square" lIns="73775" tIns="73775" rIns="73775" bIns="73775" anchor="ctr" anchorCtr="0">
            <a:noAutofit/>
          </a:bodyPr>
          <a:lstStyle/>
          <a:p>
            <a:pPr marL="0" lvl="0" indent="0" algn="ctr" rtl="0">
              <a:spcBef>
                <a:spcPts val="0"/>
              </a:spcBef>
              <a:spcAft>
                <a:spcPts val="0"/>
              </a:spcAft>
              <a:buNone/>
            </a:pPr>
            <a:r>
              <a:rPr lang="en" sz="1429" b="1">
                <a:solidFill>
                  <a:srgbClr val="FFFFFF"/>
                </a:solidFill>
                <a:latin typeface="Space Grotesk"/>
                <a:ea typeface="Space Grotesk"/>
                <a:cs typeface="Space Grotesk"/>
                <a:sym typeface="Space Grotesk"/>
              </a:rPr>
              <a:t>Module II</a:t>
            </a:r>
            <a:endParaRPr sz="1429" b="1">
              <a:solidFill>
                <a:srgbClr val="FFFFFF"/>
              </a:solidFill>
              <a:latin typeface="Space Grotesk"/>
              <a:ea typeface="Space Grotesk"/>
              <a:cs typeface="Space Grotesk"/>
              <a:sym typeface="Space Grotesk"/>
            </a:endParaRPr>
          </a:p>
        </p:txBody>
      </p:sp>
      <p:sp>
        <p:nvSpPr>
          <p:cNvPr id="230" name="Google Shape;230;p45"/>
          <p:cNvSpPr/>
          <p:nvPr/>
        </p:nvSpPr>
        <p:spPr>
          <a:xfrm>
            <a:off x="-24300" y="698250"/>
            <a:ext cx="3165000" cy="498900"/>
          </a:xfrm>
          <a:prstGeom prst="rightArrow">
            <a:avLst>
              <a:gd name="adj1" fmla="val 100000"/>
              <a:gd name="adj2" fmla="val 50000"/>
            </a:avLst>
          </a:prstGeom>
          <a:solidFill>
            <a:srgbClr val="11206D"/>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b="1">
                <a:solidFill>
                  <a:srgbClr val="FFFFFF"/>
                </a:solidFill>
                <a:latin typeface="Space Grotesk"/>
                <a:ea typeface="Space Grotesk"/>
                <a:cs typeface="Space Grotesk"/>
                <a:sym typeface="Space Grotesk"/>
              </a:rPr>
              <a:t>Module I</a:t>
            </a:r>
            <a:endParaRPr b="1">
              <a:solidFill>
                <a:srgbClr val="FFFFFF"/>
              </a:solidFill>
              <a:latin typeface="Space Grotesk"/>
              <a:ea typeface="Space Grotesk"/>
              <a:cs typeface="Space Grotesk"/>
              <a:sym typeface="Space Grotesk"/>
            </a:endParaRPr>
          </a:p>
        </p:txBody>
      </p:sp>
      <p:cxnSp>
        <p:nvCxnSpPr>
          <p:cNvPr id="231" name="Google Shape;231;p45"/>
          <p:cNvCxnSpPr/>
          <p:nvPr/>
        </p:nvCxnSpPr>
        <p:spPr>
          <a:xfrm flipH="1">
            <a:off x="2845225" y="1323700"/>
            <a:ext cx="16500" cy="3819900"/>
          </a:xfrm>
          <a:prstGeom prst="straightConnector1">
            <a:avLst/>
          </a:prstGeom>
          <a:noFill/>
          <a:ln w="9525" cap="flat" cmpd="sng">
            <a:solidFill>
              <a:srgbClr val="595959"/>
            </a:solidFill>
            <a:prstDash val="dot"/>
            <a:round/>
            <a:headEnd type="none" w="med" len="med"/>
            <a:tailEnd type="none" w="med" len="med"/>
          </a:ln>
        </p:spPr>
      </p:cxnSp>
      <p:cxnSp>
        <p:nvCxnSpPr>
          <p:cNvPr id="232" name="Google Shape;232;p45"/>
          <p:cNvCxnSpPr/>
          <p:nvPr/>
        </p:nvCxnSpPr>
        <p:spPr>
          <a:xfrm flipH="1">
            <a:off x="5855125" y="1323700"/>
            <a:ext cx="16500" cy="3819900"/>
          </a:xfrm>
          <a:prstGeom prst="straightConnector1">
            <a:avLst/>
          </a:prstGeom>
          <a:noFill/>
          <a:ln w="9525" cap="flat" cmpd="sng">
            <a:solidFill>
              <a:srgbClr val="595959"/>
            </a:solidFill>
            <a:prstDash val="dot"/>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6"/>
          <p:cNvSpPr txBox="1"/>
          <p:nvPr/>
        </p:nvSpPr>
        <p:spPr>
          <a:xfrm>
            <a:off x="267438" y="878349"/>
            <a:ext cx="3575100" cy="1477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chemeClr val="dk1"/>
                </a:solidFill>
                <a:latin typeface="Space Grotesk"/>
                <a:ea typeface="Space Grotesk"/>
                <a:cs typeface="Space Grotesk"/>
                <a:sym typeface="Space Grotesk"/>
              </a:rPr>
              <a:t>Remote Code Execution</a:t>
            </a:r>
            <a:endParaRPr sz="1400" b="1" i="0" u="none" strike="noStrike" cap="none">
              <a:solidFill>
                <a:schemeClr val="dk1"/>
              </a:solidFill>
              <a:latin typeface="Space Grotesk"/>
              <a:ea typeface="Space Grotesk"/>
              <a:cs typeface="Space Grotesk"/>
              <a:sym typeface="Space Grotesk"/>
            </a:endParaRPr>
          </a:p>
          <a:p>
            <a:pPr marL="0" marR="0" lvl="0" indent="0" algn="ctr" rtl="0">
              <a:lnSpc>
                <a:spcPct val="100000"/>
              </a:lnSpc>
              <a:spcBef>
                <a:spcPts val="0"/>
              </a:spcBef>
              <a:spcAft>
                <a:spcPts val="0"/>
              </a:spcAft>
              <a:buNone/>
            </a:pPr>
            <a:endParaRPr>
              <a:solidFill>
                <a:schemeClr val="dk1"/>
              </a:solidFill>
              <a:latin typeface="Space Grotesk"/>
              <a:ea typeface="Space Grotesk"/>
              <a:cs typeface="Space Grotesk"/>
              <a:sym typeface="Space Grotesk"/>
            </a:endParaRPr>
          </a:p>
          <a:p>
            <a:pPr marL="285750" marR="0" lvl="0" indent="-273050" algn="l" rtl="0">
              <a:lnSpc>
                <a:spcPct val="100000"/>
              </a:lnSpc>
              <a:spcBef>
                <a:spcPts val="0"/>
              </a:spcBef>
              <a:spcAft>
                <a:spcPts val="0"/>
              </a:spcAft>
              <a:buClr>
                <a:schemeClr val="dk1"/>
              </a:buClr>
              <a:buSzPts val="1200"/>
              <a:buFont typeface="Space Grotesk"/>
              <a:buChar char="▪"/>
            </a:pPr>
            <a:r>
              <a:rPr lang="en" sz="1200" i="0" u="none" strike="noStrike" cap="none">
                <a:solidFill>
                  <a:schemeClr val="dk1"/>
                </a:solidFill>
                <a:latin typeface="Space Grotesk"/>
                <a:ea typeface="Space Grotesk"/>
                <a:cs typeface="Space Grotesk"/>
                <a:sym typeface="Space Grotesk"/>
              </a:rPr>
              <a:t>Remote code execution vulnerability on a </a:t>
            </a:r>
            <a:r>
              <a:rPr lang="en" sz="1200">
                <a:solidFill>
                  <a:schemeClr val="dk1"/>
                </a:solidFill>
                <a:latin typeface="Space Grotesk"/>
                <a:ea typeface="Space Grotesk"/>
                <a:cs typeface="Space Grotesk"/>
                <a:sym typeface="Space Grotesk"/>
              </a:rPr>
              <a:t>server</a:t>
            </a:r>
            <a:endParaRPr sz="1200">
              <a:solidFill>
                <a:schemeClr val="dk1"/>
              </a:solidFill>
              <a:latin typeface="Space Grotesk"/>
              <a:ea typeface="Space Grotesk"/>
              <a:cs typeface="Space Grotesk"/>
              <a:sym typeface="Space Grotesk"/>
            </a:endParaRPr>
          </a:p>
          <a:p>
            <a:pPr marL="285750" marR="0" lvl="0" indent="-273050" algn="l" rtl="0">
              <a:lnSpc>
                <a:spcPct val="100000"/>
              </a:lnSpc>
              <a:spcBef>
                <a:spcPts val="0"/>
              </a:spcBef>
              <a:spcAft>
                <a:spcPts val="0"/>
              </a:spcAft>
              <a:buClr>
                <a:schemeClr val="dk1"/>
              </a:buClr>
              <a:buSzPts val="1200"/>
              <a:buFont typeface="Noto Sans Symbols"/>
              <a:buChar char="▪"/>
            </a:pPr>
            <a:r>
              <a:rPr lang="en" sz="1200" i="0" u="none" strike="noStrike" cap="none">
                <a:solidFill>
                  <a:schemeClr val="dk1"/>
                </a:solidFill>
                <a:latin typeface="Space Grotesk"/>
                <a:ea typeface="Space Grotesk"/>
                <a:cs typeface="Space Grotesk"/>
                <a:sym typeface="Space Grotesk"/>
              </a:rPr>
              <a:t>Can be exploited to run and execute any set of commands separated by “;”</a:t>
            </a:r>
            <a:endParaRPr sz="1200">
              <a:solidFill>
                <a:schemeClr val="dk1"/>
              </a:solidFill>
              <a:latin typeface="Space Grotesk"/>
              <a:ea typeface="Space Grotesk"/>
              <a:cs typeface="Space Grotesk"/>
              <a:sym typeface="Space Grotesk"/>
            </a:endParaRPr>
          </a:p>
          <a:p>
            <a:pPr marL="285750" marR="0" lvl="0" indent="-196850" algn="l" rtl="0">
              <a:lnSpc>
                <a:spcPct val="100000"/>
              </a:lnSpc>
              <a:spcBef>
                <a:spcPts val="0"/>
              </a:spcBef>
              <a:spcAft>
                <a:spcPts val="0"/>
              </a:spcAft>
              <a:buClr>
                <a:srgbClr val="000000"/>
              </a:buClr>
              <a:buSzPts val="1400"/>
              <a:buFont typeface="Noto Sans Symbols"/>
              <a:buNone/>
            </a:pPr>
            <a:endParaRPr sz="1400" i="0" u="none" strike="noStrike" cap="none">
              <a:solidFill>
                <a:schemeClr val="dk1"/>
              </a:solidFill>
              <a:latin typeface="Space Grotesk"/>
              <a:ea typeface="Space Grotesk"/>
              <a:cs typeface="Space Grotesk"/>
              <a:sym typeface="Space Grotesk"/>
            </a:endParaRPr>
          </a:p>
        </p:txBody>
      </p:sp>
      <p:pic>
        <p:nvPicPr>
          <p:cNvPr id="238" name="Google Shape;238;p46" descr="A screenshot of a computer program&#10;&#10;Description automatically generated"/>
          <p:cNvPicPr preferRelativeResize="0"/>
          <p:nvPr/>
        </p:nvPicPr>
        <p:blipFill rotWithShape="1">
          <a:blip r:embed="rId3">
            <a:alphaModFix/>
          </a:blip>
          <a:srcRect/>
          <a:stretch/>
        </p:blipFill>
        <p:spPr>
          <a:xfrm>
            <a:off x="150625" y="2622050"/>
            <a:ext cx="4142100" cy="1477500"/>
          </a:xfrm>
          <a:prstGeom prst="rect">
            <a:avLst/>
          </a:prstGeom>
          <a:noFill/>
          <a:ln>
            <a:noFill/>
          </a:ln>
        </p:spPr>
      </p:pic>
      <p:sp>
        <p:nvSpPr>
          <p:cNvPr id="239" name="Google Shape;239;p46"/>
          <p:cNvSpPr txBox="1"/>
          <p:nvPr/>
        </p:nvSpPr>
        <p:spPr>
          <a:xfrm>
            <a:off x="4715394" y="878349"/>
            <a:ext cx="4320600" cy="1108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400" b="1" i="0" u="none" strike="noStrike" cap="none">
                <a:solidFill>
                  <a:schemeClr val="dk1"/>
                </a:solidFill>
                <a:latin typeface="Space Grotesk"/>
                <a:ea typeface="Space Grotesk"/>
                <a:cs typeface="Space Grotesk"/>
                <a:sym typeface="Space Grotesk"/>
              </a:rPr>
              <a:t>Known Malware</a:t>
            </a:r>
            <a:endParaRPr sz="1400" b="1" i="0" u="none" strike="noStrike" cap="none">
              <a:solidFill>
                <a:schemeClr val="dk1"/>
              </a:solidFill>
              <a:latin typeface="Space Grotesk"/>
              <a:ea typeface="Space Grotesk"/>
              <a:cs typeface="Space Grotesk"/>
              <a:sym typeface="Space Grotesk"/>
            </a:endParaRPr>
          </a:p>
          <a:p>
            <a:pPr marL="0" marR="0" lvl="0" indent="0" algn="ctr" rtl="0">
              <a:lnSpc>
                <a:spcPct val="100000"/>
              </a:lnSpc>
              <a:spcBef>
                <a:spcPts val="0"/>
              </a:spcBef>
              <a:spcAft>
                <a:spcPts val="0"/>
              </a:spcAft>
              <a:buNone/>
            </a:pPr>
            <a:endParaRPr>
              <a:solidFill>
                <a:schemeClr val="dk1"/>
              </a:solidFill>
              <a:latin typeface="Space Grotesk"/>
              <a:ea typeface="Space Grotesk"/>
              <a:cs typeface="Space Grotesk"/>
              <a:sym typeface="Space Grotesk"/>
            </a:endParaRPr>
          </a:p>
          <a:p>
            <a:pPr marL="285750" marR="0" lvl="0" indent="-273050" algn="l" rtl="0">
              <a:lnSpc>
                <a:spcPct val="100000"/>
              </a:lnSpc>
              <a:spcBef>
                <a:spcPts val="0"/>
              </a:spcBef>
              <a:spcAft>
                <a:spcPts val="0"/>
              </a:spcAft>
              <a:buClr>
                <a:schemeClr val="dk1"/>
              </a:buClr>
              <a:buSzPts val="1200"/>
              <a:buFont typeface="Space Grotesk"/>
              <a:buChar char="▪"/>
            </a:pPr>
            <a:r>
              <a:rPr lang="en" sz="1200" i="0" u="none" strike="noStrike" cap="none">
                <a:solidFill>
                  <a:schemeClr val="dk1"/>
                </a:solidFill>
                <a:latin typeface="Space Grotesk"/>
                <a:ea typeface="Space Grotesk"/>
                <a:cs typeface="Space Grotesk"/>
                <a:sym typeface="Space Grotesk"/>
              </a:rPr>
              <a:t>Install and execute known “Tsunami” malware</a:t>
            </a:r>
            <a:endParaRPr sz="1200">
              <a:solidFill>
                <a:schemeClr val="dk1"/>
              </a:solidFill>
              <a:latin typeface="Space Grotesk"/>
              <a:ea typeface="Space Grotesk"/>
              <a:cs typeface="Space Grotesk"/>
              <a:sym typeface="Space Grotesk"/>
            </a:endParaRPr>
          </a:p>
          <a:p>
            <a:pPr marL="285750" marR="0" lvl="0" indent="-273050" algn="l" rtl="0">
              <a:lnSpc>
                <a:spcPct val="100000"/>
              </a:lnSpc>
              <a:spcBef>
                <a:spcPts val="0"/>
              </a:spcBef>
              <a:spcAft>
                <a:spcPts val="0"/>
              </a:spcAft>
              <a:buClr>
                <a:schemeClr val="dk1"/>
              </a:buClr>
              <a:buSzPts val="1200"/>
              <a:buFont typeface="Space Grotesk"/>
              <a:buChar char="▪"/>
            </a:pPr>
            <a:r>
              <a:rPr lang="en" sz="1200" i="0" u="none" strike="noStrike" cap="none">
                <a:solidFill>
                  <a:schemeClr val="dk1"/>
                </a:solidFill>
                <a:latin typeface="Space Grotesk"/>
                <a:ea typeface="Space Grotesk"/>
                <a:cs typeface="Space Grotesk"/>
                <a:sym typeface="Space Grotesk"/>
              </a:rPr>
              <a:t>Variants of Mirai Botnet</a:t>
            </a:r>
            <a:endParaRPr sz="1200">
              <a:solidFill>
                <a:schemeClr val="dk1"/>
              </a:solidFill>
              <a:latin typeface="Space Grotesk"/>
              <a:ea typeface="Space Grotesk"/>
              <a:cs typeface="Space Grotesk"/>
              <a:sym typeface="Space Grotesk"/>
            </a:endParaRPr>
          </a:p>
          <a:p>
            <a:pPr marL="285750" marR="0" lvl="0" indent="-196850" algn="l" rtl="0">
              <a:lnSpc>
                <a:spcPct val="100000"/>
              </a:lnSpc>
              <a:spcBef>
                <a:spcPts val="0"/>
              </a:spcBef>
              <a:spcAft>
                <a:spcPts val="0"/>
              </a:spcAft>
              <a:buClr>
                <a:srgbClr val="000000"/>
              </a:buClr>
              <a:buSzPts val="1400"/>
              <a:buFont typeface="Noto Sans Symbols"/>
              <a:buNone/>
            </a:pPr>
            <a:endParaRPr sz="1400" i="0" u="none" strike="noStrike" cap="none">
              <a:solidFill>
                <a:schemeClr val="dk1"/>
              </a:solidFill>
              <a:latin typeface="Space Grotesk"/>
              <a:ea typeface="Space Grotesk"/>
              <a:cs typeface="Space Grotesk"/>
              <a:sym typeface="Space Grotesk"/>
            </a:endParaRPr>
          </a:p>
        </p:txBody>
      </p:sp>
      <p:pic>
        <p:nvPicPr>
          <p:cNvPr id="240" name="Google Shape;240;p46" descr="A screenshot of a computer&#10;&#10;Description automatically generated"/>
          <p:cNvPicPr preferRelativeResize="0"/>
          <p:nvPr/>
        </p:nvPicPr>
        <p:blipFill rotWithShape="1">
          <a:blip r:embed="rId4">
            <a:alphaModFix/>
          </a:blip>
          <a:srcRect/>
          <a:stretch/>
        </p:blipFill>
        <p:spPr>
          <a:xfrm>
            <a:off x="4474651" y="2708849"/>
            <a:ext cx="4657451" cy="1379975"/>
          </a:xfrm>
          <a:prstGeom prst="rect">
            <a:avLst/>
          </a:prstGeom>
          <a:noFill/>
          <a:ln>
            <a:noFill/>
          </a:ln>
        </p:spPr>
      </p:pic>
      <p:sp>
        <p:nvSpPr>
          <p:cNvPr id="241" name="Google Shape;241;p46"/>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Attack Scenarios Example</a:t>
            </a:r>
            <a:endParaRPr sz="2200"/>
          </a:p>
        </p:txBody>
      </p:sp>
      <p:cxnSp>
        <p:nvCxnSpPr>
          <p:cNvPr id="242" name="Google Shape;242;p46"/>
          <p:cNvCxnSpPr/>
          <p:nvPr/>
        </p:nvCxnSpPr>
        <p:spPr>
          <a:xfrm flipH="1">
            <a:off x="4474650" y="878350"/>
            <a:ext cx="4800" cy="4041000"/>
          </a:xfrm>
          <a:prstGeom prst="straightConnector1">
            <a:avLst/>
          </a:prstGeom>
          <a:noFill/>
          <a:ln w="9525" cap="flat" cmpd="sng">
            <a:solidFill>
              <a:srgbClr val="595959"/>
            </a:solidFill>
            <a:prstDash val="dot"/>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p47" descr="A screenshot of a computer code&#10;&#10;Description automatically generated"/>
          <p:cNvPicPr preferRelativeResize="0"/>
          <p:nvPr/>
        </p:nvPicPr>
        <p:blipFill rotWithShape="1">
          <a:blip r:embed="rId3">
            <a:alphaModFix/>
          </a:blip>
          <a:srcRect/>
          <a:stretch/>
        </p:blipFill>
        <p:spPr>
          <a:xfrm>
            <a:off x="4918402" y="2998149"/>
            <a:ext cx="4091174" cy="1958709"/>
          </a:xfrm>
          <a:prstGeom prst="rect">
            <a:avLst/>
          </a:prstGeom>
          <a:noFill/>
          <a:ln>
            <a:noFill/>
          </a:ln>
        </p:spPr>
      </p:pic>
      <p:sp>
        <p:nvSpPr>
          <p:cNvPr id="248" name="Google Shape;248;p47"/>
          <p:cNvSpPr txBox="1"/>
          <p:nvPr/>
        </p:nvSpPr>
        <p:spPr>
          <a:xfrm>
            <a:off x="280650" y="898313"/>
            <a:ext cx="6657000" cy="95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chemeClr val="dk1"/>
                </a:solidFill>
                <a:latin typeface="Space Grotesk"/>
                <a:ea typeface="Space Grotesk"/>
                <a:cs typeface="Space Grotesk"/>
                <a:sym typeface="Space Grotesk"/>
              </a:rPr>
              <a:t>Brute Force</a:t>
            </a:r>
            <a:endParaRPr sz="1400" b="1" i="0" u="none" strike="noStrike" cap="none">
              <a:solidFill>
                <a:schemeClr val="dk1"/>
              </a:solidFill>
              <a:latin typeface="Space Grotesk"/>
              <a:ea typeface="Space Grotesk"/>
              <a:cs typeface="Space Grotesk"/>
              <a:sym typeface="Space Grotesk"/>
            </a:endParaRPr>
          </a:p>
          <a:p>
            <a:pPr marL="0" marR="0" lvl="0" indent="0" algn="l" rtl="0">
              <a:lnSpc>
                <a:spcPct val="100000"/>
              </a:lnSpc>
              <a:spcBef>
                <a:spcPts val="0"/>
              </a:spcBef>
              <a:spcAft>
                <a:spcPts val="0"/>
              </a:spcAft>
              <a:buNone/>
            </a:pPr>
            <a:endParaRPr b="1">
              <a:solidFill>
                <a:schemeClr val="dk1"/>
              </a:solidFill>
              <a:latin typeface="Space Grotesk"/>
              <a:ea typeface="Space Grotesk"/>
              <a:cs typeface="Space Grotesk"/>
              <a:sym typeface="Space Grotesk"/>
            </a:endParaRPr>
          </a:p>
          <a:p>
            <a:pPr marL="0" marR="0" lvl="0" indent="0" algn="l" rtl="0">
              <a:lnSpc>
                <a:spcPct val="100000"/>
              </a:lnSpc>
              <a:spcBef>
                <a:spcPts val="0"/>
              </a:spcBef>
              <a:spcAft>
                <a:spcPts val="0"/>
              </a:spcAft>
              <a:buNone/>
            </a:pPr>
            <a:r>
              <a:rPr lang="en" sz="1400" i="0" u="none" strike="noStrike" cap="none">
                <a:solidFill>
                  <a:schemeClr val="dk1"/>
                </a:solidFill>
                <a:latin typeface="Space Grotesk"/>
                <a:ea typeface="Space Grotesk"/>
                <a:cs typeface="Space Grotesk"/>
                <a:sym typeface="Space Grotesk"/>
              </a:rPr>
              <a:t>Brute force attack uses trial-and-error to guess login credentials.</a:t>
            </a:r>
            <a:endParaRPr>
              <a:solidFill>
                <a:schemeClr val="dk1"/>
              </a:solidFill>
              <a:latin typeface="Space Grotesk"/>
              <a:ea typeface="Space Grotesk"/>
              <a:cs typeface="Space Grotesk"/>
              <a:sym typeface="Space Grotesk"/>
            </a:endParaRPr>
          </a:p>
          <a:p>
            <a:pPr marL="285750" marR="0" lvl="0" indent="-196850" algn="l" rtl="0">
              <a:lnSpc>
                <a:spcPct val="100000"/>
              </a:lnSpc>
              <a:spcBef>
                <a:spcPts val="0"/>
              </a:spcBef>
              <a:spcAft>
                <a:spcPts val="0"/>
              </a:spcAft>
              <a:buClr>
                <a:srgbClr val="000000"/>
              </a:buClr>
              <a:buSzPts val="1400"/>
              <a:buFont typeface="Noto Sans Symbols"/>
              <a:buNone/>
            </a:pPr>
            <a:endParaRPr sz="1400" i="0" u="none" strike="noStrike" cap="none">
              <a:solidFill>
                <a:schemeClr val="dk1"/>
              </a:solidFill>
              <a:latin typeface="Space Grotesk"/>
              <a:ea typeface="Space Grotesk"/>
              <a:cs typeface="Space Grotesk"/>
              <a:sym typeface="Space Grotesk"/>
            </a:endParaRPr>
          </a:p>
        </p:txBody>
      </p:sp>
      <p:pic>
        <p:nvPicPr>
          <p:cNvPr id="249" name="Google Shape;249;p47" descr="A computer and a computer&#10;&#10;Description automatically generated with medium confidence"/>
          <p:cNvPicPr preferRelativeResize="0"/>
          <p:nvPr/>
        </p:nvPicPr>
        <p:blipFill rotWithShape="1">
          <a:blip r:embed="rId4">
            <a:alphaModFix/>
          </a:blip>
          <a:srcRect/>
          <a:stretch/>
        </p:blipFill>
        <p:spPr>
          <a:xfrm>
            <a:off x="372400" y="1781475"/>
            <a:ext cx="4427625" cy="2389527"/>
          </a:xfrm>
          <a:prstGeom prst="rect">
            <a:avLst/>
          </a:prstGeom>
          <a:noFill/>
          <a:ln>
            <a:noFill/>
          </a:ln>
        </p:spPr>
      </p:pic>
      <p:sp>
        <p:nvSpPr>
          <p:cNvPr id="250" name="Google Shape;250;p47"/>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Attack Scenarios Example</a:t>
            </a: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8"/>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Module 1: VM/Bare-metal Security Overview</a:t>
            </a:r>
            <a:endParaRPr sz="2200"/>
          </a:p>
        </p:txBody>
      </p:sp>
      <p:sp>
        <p:nvSpPr>
          <p:cNvPr id="256" name="Google Shape;256;p48"/>
          <p:cNvSpPr txBox="1">
            <a:spLocks noGrp="1"/>
          </p:cNvSpPr>
          <p:nvPr>
            <p:ph type="body" idx="4294967295"/>
          </p:nvPr>
        </p:nvSpPr>
        <p:spPr>
          <a:xfrm>
            <a:off x="193050" y="832925"/>
            <a:ext cx="6174600" cy="4006200"/>
          </a:xfrm>
          <a:prstGeom prst="rect">
            <a:avLst/>
          </a:prstGeom>
        </p:spPr>
        <p:txBody>
          <a:bodyPr spcFirstLastPara="1" wrap="square" lIns="91425" tIns="91425" rIns="91425" bIns="91425" anchor="t" anchorCtr="0">
            <a:noAutofit/>
          </a:bodyPr>
          <a:lstStyle/>
          <a:p>
            <a:pPr marL="457200" lvl="0" indent="-330200" algn="l" rtl="0">
              <a:lnSpc>
                <a:spcPct val="150000"/>
              </a:lnSpc>
              <a:spcBef>
                <a:spcPts val="0"/>
              </a:spcBef>
              <a:spcAft>
                <a:spcPts val="0"/>
              </a:spcAft>
              <a:buClr>
                <a:schemeClr val="dk1"/>
              </a:buClr>
              <a:buSzPts val="1600"/>
              <a:buFont typeface="Space Grotesk"/>
              <a:buChar char="●"/>
            </a:pPr>
            <a:r>
              <a:rPr lang="en" sz="1600" b="1">
                <a:solidFill>
                  <a:schemeClr val="dk1"/>
                </a:solidFill>
                <a:latin typeface="Space Grotesk"/>
                <a:ea typeface="Space Grotesk"/>
                <a:cs typeface="Space Grotesk"/>
                <a:sym typeface="Space Grotesk"/>
              </a:rPr>
              <a:t>VM/Bare-Metal Risk Assessment</a:t>
            </a:r>
            <a:endParaRPr sz="1600" b="1">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STIGs based risk assessment</a:t>
            </a:r>
            <a:br>
              <a:rPr lang="en" sz="1200">
                <a:solidFill>
                  <a:schemeClr val="dk1"/>
                </a:solidFill>
                <a:latin typeface="Space Grotesk"/>
                <a:ea typeface="Space Grotesk"/>
                <a:cs typeface="Space Grotesk"/>
                <a:sym typeface="Space Grotesk"/>
              </a:rPr>
            </a:br>
            <a:endParaRPr sz="1200">
              <a:solidFill>
                <a:schemeClr val="dk1"/>
              </a:solidFill>
              <a:latin typeface="Space Grotesk"/>
              <a:ea typeface="Space Grotesk"/>
              <a:cs typeface="Space Grotesk"/>
              <a:sym typeface="Space Grotesk"/>
            </a:endParaRPr>
          </a:p>
          <a:p>
            <a:pPr marL="457200" lvl="0" indent="-330200" algn="l" rtl="0">
              <a:lnSpc>
                <a:spcPct val="150000"/>
              </a:lnSpc>
              <a:spcBef>
                <a:spcPts val="0"/>
              </a:spcBef>
              <a:spcAft>
                <a:spcPts val="0"/>
              </a:spcAft>
              <a:buClr>
                <a:schemeClr val="dk1"/>
              </a:buClr>
              <a:buSzPts val="1600"/>
              <a:buFont typeface="Space Grotesk"/>
              <a:buChar char="●"/>
            </a:pPr>
            <a:r>
              <a:rPr lang="en" sz="1600" b="1">
                <a:solidFill>
                  <a:schemeClr val="dk1"/>
                </a:solidFill>
                <a:latin typeface="Space Grotesk"/>
                <a:ea typeface="Space Grotesk"/>
                <a:cs typeface="Space Grotesk"/>
                <a:sym typeface="Space Grotesk"/>
              </a:rPr>
              <a:t>Security Hardening</a:t>
            </a:r>
            <a:endParaRPr sz="1600" b="1">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Hardening the OS, file system</a:t>
            </a:r>
            <a:endParaRPr sz="1200">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Application hardening for workloads operating on hosts</a:t>
            </a:r>
            <a:endParaRPr sz="1200">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Host based Process whitelisting</a:t>
            </a:r>
            <a:endParaRPr sz="1200">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Cryptomining Protection</a:t>
            </a:r>
            <a:endParaRPr sz="1200">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File Integrity Monitoring/Prevention</a:t>
            </a:r>
            <a:endParaRPr sz="1200">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Securing containers on VM/Bare-Metal</a:t>
            </a:r>
            <a:br>
              <a:rPr lang="en" sz="1200">
                <a:solidFill>
                  <a:schemeClr val="dk1"/>
                </a:solidFill>
                <a:latin typeface="Space Grotesk"/>
                <a:ea typeface="Space Grotesk"/>
                <a:cs typeface="Space Grotesk"/>
                <a:sym typeface="Space Grotesk"/>
              </a:rPr>
            </a:br>
            <a:endParaRPr sz="1200">
              <a:solidFill>
                <a:schemeClr val="dk1"/>
              </a:solidFill>
              <a:latin typeface="Space Grotesk"/>
              <a:ea typeface="Space Grotesk"/>
              <a:cs typeface="Space Grotesk"/>
              <a:sym typeface="Space Grotesk"/>
            </a:endParaRPr>
          </a:p>
          <a:p>
            <a:pPr marL="457200" lvl="0" indent="-330200" algn="l" rtl="0">
              <a:lnSpc>
                <a:spcPct val="150000"/>
              </a:lnSpc>
              <a:spcBef>
                <a:spcPts val="0"/>
              </a:spcBef>
              <a:spcAft>
                <a:spcPts val="0"/>
              </a:spcAft>
              <a:buClr>
                <a:schemeClr val="dk1"/>
              </a:buClr>
              <a:buSzPts val="1600"/>
              <a:buFont typeface="Space Grotesk"/>
              <a:buChar char="●"/>
            </a:pPr>
            <a:r>
              <a:rPr lang="en" sz="1600" b="1">
                <a:solidFill>
                  <a:schemeClr val="dk1"/>
                </a:solidFill>
                <a:latin typeface="Space Grotesk"/>
                <a:ea typeface="Space Grotesk"/>
                <a:cs typeface="Space Grotesk"/>
                <a:sym typeface="Space Grotesk"/>
              </a:rPr>
              <a:t>VM/Bare-Metal Forensics</a:t>
            </a:r>
            <a:endParaRPr sz="1600" b="1">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Application behavior analysis/forensics</a:t>
            </a:r>
            <a:endParaRPr sz="1200">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Anomaly Detection</a:t>
            </a:r>
            <a:endParaRPr sz="1200">
              <a:solidFill>
                <a:schemeClr val="dk1"/>
              </a:solidFill>
              <a:latin typeface="Space Grotesk"/>
              <a:ea typeface="Space Grotesk"/>
              <a:cs typeface="Space Grotesk"/>
              <a:sym typeface="Space Grotesk"/>
            </a:endParaRPr>
          </a:p>
        </p:txBody>
      </p:sp>
      <p:pic>
        <p:nvPicPr>
          <p:cNvPr id="257" name="Google Shape;257;p48"/>
          <p:cNvPicPr preferRelativeResize="0"/>
          <p:nvPr/>
        </p:nvPicPr>
        <p:blipFill>
          <a:blip r:embed="rId3">
            <a:alphaModFix/>
          </a:blip>
          <a:stretch>
            <a:fillRect/>
          </a:stretch>
        </p:blipFill>
        <p:spPr>
          <a:xfrm>
            <a:off x="6838813" y="923500"/>
            <a:ext cx="1736250" cy="1145925"/>
          </a:xfrm>
          <a:prstGeom prst="rect">
            <a:avLst/>
          </a:prstGeom>
          <a:noFill/>
          <a:ln>
            <a:noFill/>
          </a:ln>
        </p:spPr>
      </p:pic>
      <p:pic>
        <p:nvPicPr>
          <p:cNvPr id="258" name="Google Shape;258;p48"/>
          <p:cNvPicPr preferRelativeResize="0"/>
          <p:nvPr/>
        </p:nvPicPr>
        <p:blipFill>
          <a:blip r:embed="rId4">
            <a:alphaModFix/>
          </a:blip>
          <a:stretch>
            <a:fillRect/>
          </a:stretch>
        </p:blipFill>
        <p:spPr>
          <a:xfrm>
            <a:off x="6838825" y="2385900"/>
            <a:ext cx="1736250" cy="1047606"/>
          </a:xfrm>
          <a:prstGeom prst="rect">
            <a:avLst/>
          </a:prstGeom>
          <a:noFill/>
          <a:ln>
            <a:noFill/>
          </a:ln>
        </p:spPr>
      </p:pic>
      <p:pic>
        <p:nvPicPr>
          <p:cNvPr id="259" name="Google Shape;259;p48"/>
          <p:cNvPicPr preferRelativeResize="0"/>
          <p:nvPr/>
        </p:nvPicPr>
        <p:blipFill rotWithShape="1">
          <a:blip r:embed="rId5">
            <a:alphaModFix/>
          </a:blip>
          <a:srcRect l="12998" t="5282" r="13153" b="6246"/>
          <a:stretch/>
        </p:blipFill>
        <p:spPr>
          <a:xfrm>
            <a:off x="7180133" y="3644850"/>
            <a:ext cx="1053625" cy="1262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9"/>
          <p:cNvSpPr txBox="1"/>
          <p:nvPr/>
        </p:nvSpPr>
        <p:spPr>
          <a:xfrm>
            <a:off x="4870150" y="1057475"/>
            <a:ext cx="4138800" cy="3540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1100">
              <a:solidFill>
                <a:srgbClr val="4A86E8"/>
              </a:solidFill>
              <a:latin typeface="Space Grotesk"/>
              <a:ea typeface="Space Grotesk"/>
              <a:cs typeface="Space Grotesk"/>
              <a:sym typeface="Space Grotesk"/>
            </a:endParaRPr>
          </a:p>
        </p:txBody>
      </p:sp>
      <p:pic>
        <p:nvPicPr>
          <p:cNvPr id="265" name="Google Shape;265;p49" title="Group 41127692.jpg"/>
          <p:cNvPicPr preferRelativeResize="0"/>
          <p:nvPr/>
        </p:nvPicPr>
        <p:blipFill>
          <a:blip r:embed="rId3">
            <a:alphaModFix/>
          </a:blip>
          <a:stretch>
            <a:fillRect/>
          </a:stretch>
        </p:blipFill>
        <p:spPr>
          <a:xfrm>
            <a:off x="288025" y="1018625"/>
            <a:ext cx="2359750" cy="1716825"/>
          </a:xfrm>
          <a:prstGeom prst="rect">
            <a:avLst/>
          </a:prstGeom>
          <a:noFill/>
          <a:ln>
            <a:noFill/>
          </a:ln>
        </p:spPr>
      </p:pic>
      <p:pic>
        <p:nvPicPr>
          <p:cNvPr id="266" name="Google Shape;266;p49" title="Group 41127630.png"/>
          <p:cNvPicPr preferRelativeResize="0"/>
          <p:nvPr/>
        </p:nvPicPr>
        <p:blipFill>
          <a:blip r:embed="rId4">
            <a:alphaModFix/>
          </a:blip>
          <a:stretch>
            <a:fillRect/>
          </a:stretch>
        </p:blipFill>
        <p:spPr>
          <a:xfrm>
            <a:off x="2996975" y="937948"/>
            <a:ext cx="6011974" cy="1878189"/>
          </a:xfrm>
          <a:prstGeom prst="rect">
            <a:avLst/>
          </a:prstGeom>
          <a:noFill/>
          <a:ln>
            <a:noFill/>
          </a:ln>
        </p:spPr>
      </p:pic>
      <p:pic>
        <p:nvPicPr>
          <p:cNvPr id="267" name="Google Shape;267;p49" title="Group 41127695.png"/>
          <p:cNvPicPr preferRelativeResize="0"/>
          <p:nvPr/>
        </p:nvPicPr>
        <p:blipFill>
          <a:blip r:embed="rId5">
            <a:alphaModFix/>
          </a:blip>
          <a:stretch>
            <a:fillRect/>
          </a:stretch>
        </p:blipFill>
        <p:spPr>
          <a:xfrm>
            <a:off x="2996976" y="2940713"/>
            <a:ext cx="6011974" cy="1867625"/>
          </a:xfrm>
          <a:prstGeom prst="rect">
            <a:avLst/>
          </a:prstGeom>
          <a:noFill/>
          <a:ln>
            <a:noFill/>
          </a:ln>
        </p:spPr>
      </p:pic>
      <p:pic>
        <p:nvPicPr>
          <p:cNvPr id="268" name="Google Shape;268;p49" title="Group 41127614.png"/>
          <p:cNvPicPr preferRelativeResize="0"/>
          <p:nvPr/>
        </p:nvPicPr>
        <p:blipFill>
          <a:blip r:embed="rId6">
            <a:alphaModFix/>
          </a:blip>
          <a:stretch>
            <a:fillRect/>
          </a:stretch>
        </p:blipFill>
        <p:spPr>
          <a:xfrm>
            <a:off x="324913" y="3119552"/>
            <a:ext cx="2401575" cy="1509972"/>
          </a:xfrm>
          <a:prstGeom prst="rect">
            <a:avLst/>
          </a:prstGeom>
          <a:noFill/>
          <a:ln>
            <a:noFill/>
          </a:ln>
        </p:spPr>
      </p:pic>
      <p:cxnSp>
        <p:nvCxnSpPr>
          <p:cNvPr id="269" name="Google Shape;269;p49"/>
          <p:cNvCxnSpPr>
            <a:stCxn id="265" idx="1"/>
            <a:endCxn id="268" idx="1"/>
          </p:cNvCxnSpPr>
          <p:nvPr/>
        </p:nvCxnSpPr>
        <p:spPr>
          <a:xfrm>
            <a:off x="288025" y="1877038"/>
            <a:ext cx="36900" cy="1997400"/>
          </a:xfrm>
          <a:prstGeom prst="bentConnector3">
            <a:avLst>
              <a:gd name="adj1" fmla="val -645325"/>
            </a:avLst>
          </a:prstGeom>
          <a:noFill/>
          <a:ln w="9525" cap="flat" cmpd="sng">
            <a:solidFill>
              <a:schemeClr val="dk2"/>
            </a:solidFill>
            <a:prstDash val="solid"/>
            <a:round/>
            <a:headEnd type="none" w="med" len="med"/>
            <a:tailEnd type="none" w="med" len="med"/>
          </a:ln>
        </p:spPr>
      </p:cxnSp>
      <p:cxnSp>
        <p:nvCxnSpPr>
          <p:cNvPr id="270" name="Google Shape;270;p49"/>
          <p:cNvCxnSpPr>
            <a:stCxn id="265" idx="3"/>
            <a:endCxn id="266" idx="1"/>
          </p:cNvCxnSpPr>
          <p:nvPr/>
        </p:nvCxnSpPr>
        <p:spPr>
          <a:xfrm>
            <a:off x="2647775" y="1877038"/>
            <a:ext cx="349200" cy="0"/>
          </a:xfrm>
          <a:prstGeom prst="straightConnector1">
            <a:avLst/>
          </a:prstGeom>
          <a:noFill/>
          <a:ln w="9525" cap="flat" cmpd="sng">
            <a:solidFill>
              <a:schemeClr val="dk2"/>
            </a:solidFill>
            <a:prstDash val="solid"/>
            <a:round/>
            <a:headEnd type="none" w="med" len="med"/>
            <a:tailEnd type="none" w="med" len="med"/>
          </a:ln>
        </p:spPr>
      </p:cxnSp>
      <p:cxnSp>
        <p:nvCxnSpPr>
          <p:cNvPr id="271" name="Google Shape;271;p49"/>
          <p:cNvCxnSpPr>
            <a:stCxn id="268" idx="3"/>
            <a:endCxn id="267" idx="1"/>
          </p:cNvCxnSpPr>
          <p:nvPr/>
        </p:nvCxnSpPr>
        <p:spPr>
          <a:xfrm>
            <a:off x="2726488" y="3874538"/>
            <a:ext cx="270600" cy="0"/>
          </a:xfrm>
          <a:prstGeom prst="straightConnector1">
            <a:avLst/>
          </a:prstGeom>
          <a:noFill/>
          <a:ln w="9525" cap="flat" cmpd="sng">
            <a:solidFill>
              <a:schemeClr val="dk2"/>
            </a:solidFill>
            <a:prstDash val="solid"/>
            <a:round/>
            <a:headEnd type="none" w="med" len="med"/>
            <a:tailEnd type="none" w="med" len="med"/>
          </a:ln>
        </p:spPr>
      </p:cxnSp>
      <p:sp>
        <p:nvSpPr>
          <p:cNvPr id="272" name="Google Shape;272;p49"/>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Module 1 : VM Vulnerability Findings Insights</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50"/>
          <p:cNvSpPr txBox="1"/>
          <p:nvPr/>
        </p:nvSpPr>
        <p:spPr>
          <a:xfrm>
            <a:off x="-116225" y="3995500"/>
            <a:ext cx="9260400" cy="110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t" anchorCtr="0">
            <a:spAutoFit/>
          </a:bodyPr>
          <a:lstStyle/>
          <a:p>
            <a:pPr marL="457200" lvl="0" indent="-292100" algn="l" rtl="0">
              <a:spcBef>
                <a:spcPts val="0"/>
              </a:spcBef>
              <a:spcAft>
                <a:spcPts val="0"/>
              </a:spcAft>
              <a:buClr>
                <a:schemeClr val="dk2"/>
              </a:buClr>
              <a:buSzPts val="1000"/>
              <a:buChar char="●"/>
            </a:pPr>
            <a:r>
              <a:rPr lang="en" sz="1000" b="1">
                <a:solidFill>
                  <a:schemeClr val="dk2"/>
                </a:solidFill>
                <a:latin typeface="Space Grotesk"/>
                <a:ea typeface="Space Grotesk"/>
                <a:cs typeface="Space Grotesk"/>
                <a:sym typeface="Space Grotesk"/>
              </a:rPr>
              <a:t>Data Composition:</a:t>
            </a:r>
            <a:r>
              <a:rPr lang="en" sz="1000">
                <a:solidFill>
                  <a:schemeClr val="dk2"/>
                </a:solidFill>
                <a:latin typeface="Space Grotesk"/>
                <a:ea typeface="Space Grotesk"/>
                <a:cs typeface="Space Grotesk"/>
                <a:sym typeface="Space Grotesk"/>
              </a:rPr>
              <a:t> The </a:t>
            </a:r>
            <a:r>
              <a:rPr lang="en" sz="1000" b="1">
                <a:solidFill>
                  <a:schemeClr val="dk2"/>
                </a:solidFill>
                <a:latin typeface="Space Grotesk"/>
                <a:ea typeface="Space Grotesk"/>
                <a:cs typeface="Space Grotesk"/>
                <a:sym typeface="Space Grotesk"/>
              </a:rPr>
              <a:t>Overall</a:t>
            </a:r>
            <a:r>
              <a:rPr lang="en" sz="1000">
                <a:solidFill>
                  <a:schemeClr val="dk2"/>
                </a:solidFill>
                <a:latin typeface="Space Grotesk"/>
                <a:ea typeface="Space Grotesk"/>
                <a:cs typeface="Space Grotesk"/>
                <a:sym typeface="Space Grotesk"/>
              </a:rPr>
              <a:t> findings (18195) -  </a:t>
            </a:r>
            <a:r>
              <a:rPr lang="en" sz="1000" b="1">
                <a:solidFill>
                  <a:schemeClr val="dk2"/>
                </a:solidFill>
                <a:latin typeface="Space Grotesk"/>
                <a:ea typeface="Space Grotesk"/>
                <a:cs typeface="Space Grotesk"/>
                <a:sym typeface="Space Grotesk"/>
              </a:rPr>
              <a:t>On-Prem</a:t>
            </a:r>
            <a:r>
              <a:rPr lang="en" sz="1000">
                <a:solidFill>
                  <a:schemeClr val="dk2"/>
                </a:solidFill>
                <a:latin typeface="Space Grotesk"/>
                <a:ea typeface="Space Grotesk"/>
                <a:cs typeface="Space Grotesk"/>
                <a:sym typeface="Space Grotesk"/>
              </a:rPr>
              <a:t> (18019) </a:t>
            </a:r>
            <a:endParaRPr sz="1000">
              <a:solidFill>
                <a:schemeClr val="dk2"/>
              </a:solidFill>
              <a:latin typeface="Space Grotesk"/>
              <a:ea typeface="Space Grotesk"/>
              <a:cs typeface="Space Grotesk"/>
              <a:sym typeface="Space Grotesk"/>
            </a:endParaRPr>
          </a:p>
          <a:p>
            <a:pPr marL="457200" lvl="0" indent="-292100" algn="l" rtl="0">
              <a:spcBef>
                <a:spcPts val="0"/>
              </a:spcBef>
              <a:spcAft>
                <a:spcPts val="0"/>
              </a:spcAft>
              <a:buClr>
                <a:schemeClr val="dk2"/>
              </a:buClr>
              <a:buSzPts val="1000"/>
              <a:buChar char="●"/>
            </a:pPr>
            <a:r>
              <a:rPr lang="en" sz="1000" b="1">
                <a:solidFill>
                  <a:schemeClr val="dk2"/>
                </a:solidFill>
                <a:latin typeface="Space Grotesk"/>
                <a:ea typeface="Space Grotesk"/>
                <a:cs typeface="Space Grotesk"/>
                <a:sym typeface="Space Grotesk"/>
              </a:rPr>
              <a:t>Primary Risk Source:</a:t>
            </a:r>
            <a:r>
              <a:rPr lang="en" sz="1000">
                <a:solidFill>
                  <a:schemeClr val="dk2"/>
                </a:solidFill>
                <a:latin typeface="Space Grotesk"/>
                <a:ea typeface="Space Grotesk"/>
                <a:cs typeface="Space Grotesk"/>
                <a:sym typeface="Space Grotesk"/>
              </a:rPr>
              <a:t> The </a:t>
            </a:r>
            <a:r>
              <a:rPr lang="en" sz="1000" b="1">
                <a:solidFill>
                  <a:schemeClr val="dk2"/>
                </a:solidFill>
                <a:latin typeface="Space Grotesk"/>
                <a:ea typeface="Space Grotesk"/>
                <a:cs typeface="Space Grotesk"/>
                <a:sym typeface="Space Grotesk"/>
              </a:rPr>
              <a:t>On-Prem</a:t>
            </a:r>
            <a:r>
              <a:rPr lang="en" sz="1000">
                <a:solidFill>
                  <a:schemeClr val="dk2"/>
                </a:solidFill>
                <a:latin typeface="Space Grotesk"/>
                <a:ea typeface="Space Grotesk"/>
                <a:cs typeface="Space Grotesk"/>
                <a:sym typeface="Space Grotesk"/>
              </a:rPr>
              <a:t> label is the primary driver of risk, accounting for </a:t>
            </a:r>
            <a:r>
              <a:rPr lang="en" sz="1000" b="1">
                <a:solidFill>
                  <a:schemeClr val="dk2"/>
                </a:solidFill>
                <a:latin typeface="Space Grotesk"/>
                <a:ea typeface="Space Grotesk"/>
                <a:cs typeface="Space Grotesk"/>
                <a:sym typeface="Space Grotesk"/>
              </a:rPr>
              <a:t>~99%</a:t>
            </a:r>
            <a:r>
              <a:rPr lang="en" sz="1000">
                <a:solidFill>
                  <a:schemeClr val="dk2"/>
                </a:solidFill>
                <a:latin typeface="Space Grotesk"/>
                <a:ea typeface="Space Grotesk"/>
                <a:cs typeface="Space Grotesk"/>
                <a:sym typeface="Space Grotesk"/>
              </a:rPr>
              <a:t> of the total vulnerability volume and </a:t>
            </a:r>
            <a:r>
              <a:rPr lang="en" sz="1000" b="1">
                <a:solidFill>
                  <a:schemeClr val="dk2"/>
                </a:solidFill>
                <a:latin typeface="Space Grotesk"/>
                <a:ea typeface="Space Grotesk"/>
                <a:cs typeface="Space Grotesk"/>
                <a:sym typeface="Space Grotesk"/>
              </a:rPr>
              <a:t>96%</a:t>
            </a:r>
            <a:r>
              <a:rPr lang="en" sz="1000">
                <a:solidFill>
                  <a:schemeClr val="dk2"/>
                </a:solidFill>
                <a:latin typeface="Space Grotesk"/>
                <a:ea typeface="Space Grotesk"/>
                <a:cs typeface="Space Grotesk"/>
                <a:sym typeface="Space Grotesk"/>
              </a:rPr>
              <a:t> of all </a:t>
            </a:r>
            <a:r>
              <a:rPr lang="en" sz="1000" b="1">
                <a:solidFill>
                  <a:schemeClr val="dk2"/>
                </a:solidFill>
                <a:latin typeface="Space Grotesk"/>
                <a:ea typeface="Space Grotesk"/>
                <a:cs typeface="Space Grotesk"/>
                <a:sym typeface="Space Grotesk"/>
              </a:rPr>
              <a:t>Critical</a:t>
            </a:r>
            <a:r>
              <a:rPr lang="en" sz="1000">
                <a:solidFill>
                  <a:schemeClr val="dk2"/>
                </a:solidFill>
                <a:latin typeface="Space Grotesk"/>
                <a:ea typeface="Space Grotesk"/>
                <a:cs typeface="Space Grotesk"/>
                <a:sym typeface="Space Grotesk"/>
              </a:rPr>
              <a:t> issues.</a:t>
            </a:r>
            <a:endParaRPr sz="1000">
              <a:solidFill>
                <a:schemeClr val="dk2"/>
              </a:solidFill>
              <a:latin typeface="Space Grotesk"/>
              <a:ea typeface="Space Grotesk"/>
              <a:cs typeface="Space Grotesk"/>
              <a:sym typeface="Space Grotesk"/>
            </a:endParaRPr>
          </a:p>
          <a:p>
            <a:pPr marL="457200" lvl="0" indent="-292100" algn="l" rtl="0">
              <a:spcBef>
                <a:spcPts val="0"/>
              </a:spcBef>
              <a:spcAft>
                <a:spcPts val="0"/>
              </a:spcAft>
              <a:buClr>
                <a:schemeClr val="dk2"/>
              </a:buClr>
              <a:buSzPts val="1000"/>
              <a:buChar char="●"/>
            </a:pPr>
            <a:r>
              <a:rPr lang="en" sz="1000" b="1">
                <a:solidFill>
                  <a:schemeClr val="dk2"/>
                </a:solidFill>
                <a:latin typeface="Space Grotesk"/>
                <a:ea typeface="Space Grotesk"/>
                <a:cs typeface="Space Grotesk"/>
                <a:sym typeface="Space Grotesk"/>
              </a:rPr>
              <a:t>Critical Breakdown:</a:t>
            </a:r>
            <a:r>
              <a:rPr lang="en" sz="1000">
                <a:solidFill>
                  <a:schemeClr val="dk2"/>
                </a:solidFill>
                <a:latin typeface="Space Grotesk"/>
                <a:ea typeface="Space Grotesk"/>
                <a:cs typeface="Space Grotesk"/>
                <a:sym typeface="Space Grotesk"/>
              </a:rPr>
              <a:t> There are </a:t>
            </a:r>
            <a:r>
              <a:rPr lang="en" sz="1000" b="1">
                <a:solidFill>
                  <a:schemeClr val="dk2"/>
                </a:solidFill>
                <a:latin typeface="Space Grotesk"/>
                <a:ea typeface="Space Grotesk"/>
                <a:cs typeface="Space Grotesk"/>
                <a:sym typeface="Space Grotesk"/>
              </a:rPr>
              <a:t>76 Critical</a:t>
            </a:r>
            <a:r>
              <a:rPr lang="en" sz="1000">
                <a:solidFill>
                  <a:schemeClr val="dk2"/>
                </a:solidFill>
                <a:latin typeface="Space Grotesk"/>
                <a:ea typeface="Space Grotesk"/>
                <a:cs typeface="Space Grotesk"/>
                <a:sym typeface="Space Grotesk"/>
              </a:rPr>
              <a:t> vulnerabilities in total; </a:t>
            </a:r>
            <a:r>
              <a:rPr lang="en" sz="1000" b="1">
                <a:solidFill>
                  <a:schemeClr val="dk2"/>
                </a:solidFill>
                <a:latin typeface="Space Grotesk"/>
                <a:ea typeface="Space Grotesk"/>
                <a:cs typeface="Space Grotesk"/>
                <a:sym typeface="Space Grotesk"/>
              </a:rPr>
              <a:t>73</a:t>
            </a:r>
            <a:r>
              <a:rPr lang="en" sz="1000">
                <a:solidFill>
                  <a:schemeClr val="dk2"/>
                </a:solidFill>
                <a:latin typeface="Space Grotesk"/>
                <a:ea typeface="Space Grotesk"/>
                <a:cs typeface="Space Grotesk"/>
                <a:sym typeface="Space Grotesk"/>
              </a:rPr>
              <a:t> are located in the On-Prem environment, while only </a:t>
            </a:r>
            <a:r>
              <a:rPr lang="en" sz="1000" b="1">
                <a:solidFill>
                  <a:schemeClr val="dk2"/>
                </a:solidFill>
                <a:latin typeface="Space Grotesk"/>
                <a:ea typeface="Space Grotesk"/>
                <a:cs typeface="Space Grotesk"/>
                <a:sym typeface="Space Grotesk"/>
              </a:rPr>
              <a:t>3</a:t>
            </a:r>
            <a:r>
              <a:rPr lang="en" sz="1000">
                <a:solidFill>
                  <a:schemeClr val="dk2"/>
                </a:solidFill>
                <a:latin typeface="Space Grotesk"/>
                <a:ea typeface="Space Grotesk"/>
                <a:cs typeface="Space Grotesk"/>
                <a:sym typeface="Space Grotesk"/>
              </a:rPr>
              <a:t> are associated with the Windows vulnerability set.</a:t>
            </a:r>
            <a:endParaRPr sz="1000">
              <a:solidFill>
                <a:schemeClr val="dk2"/>
              </a:solidFill>
              <a:latin typeface="Space Grotesk"/>
              <a:ea typeface="Space Grotesk"/>
              <a:cs typeface="Space Grotesk"/>
              <a:sym typeface="Space Grotesk"/>
            </a:endParaRPr>
          </a:p>
          <a:p>
            <a:pPr marL="457200" lvl="0" indent="-292100" algn="l" rtl="0">
              <a:spcBef>
                <a:spcPts val="0"/>
              </a:spcBef>
              <a:spcAft>
                <a:spcPts val="0"/>
              </a:spcAft>
              <a:buClr>
                <a:schemeClr val="dk2"/>
              </a:buClr>
              <a:buSzPts val="1000"/>
              <a:buChar char="●"/>
            </a:pPr>
            <a:r>
              <a:rPr lang="en" sz="1000" b="1">
                <a:solidFill>
                  <a:schemeClr val="dk2"/>
                </a:solidFill>
                <a:latin typeface="Space Grotesk"/>
                <a:ea typeface="Space Grotesk"/>
                <a:cs typeface="Space Grotesk"/>
                <a:sym typeface="Space Grotesk"/>
              </a:rPr>
              <a:t>Severity Concentration:</a:t>
            </a:r>
            <a:r>
              <a:rPr lang="en" sz="1000">
                <a:solidFill>
                  <a:schemeClr val="dk2"/>
                </a:solidFill>
                <a:latin typeface="Space Grotesk"/>
                <a:ea typeface="Space Grotesk"/>
                <a:cs typeface="Space Grotesk"/>
                <a:sym typeface="Space Grotesk"/>
              </a:rPr>
              <a:t> </a:t>
            </a:r>
            <a:r>
              <a:rPr lang="en" sz="1000" b="1">
                <a:solidFill>
                  <a:schemeClr val="dk2"/>
                </a:solidFill>
                <a:latin typeface="Space Grotesk"/>
                <a:ea typeface="Space Grotesk"/>
                <a:cs typeface="Space Grotesk"/>
                <a:sym typeface="Space Grotesk"/>
              </a:rPr>
              <a:t>High Severity</a:t>
            </a:r>
            <a:r>
              <a:rPr lang="en" sz="1000">
                <a:solidFill>
                  <a:schemeClr val="dk2"/>
                </a:solidFill>
                <a:latin typeface="Space Grotesk"/>
                <a:ea typeface="Space Grotesk"/>
                <a:cs typeface="Space Grotesk"/>
                <a:sym typeface="Space Grotesk"/>
              </a:rPr>
              <a:t> is the dominant category across both environments (11,669 total)</a:t>
            </a:r>
            <a:endParaRPr sz="1000">
              <a:solidFill>
                <a:schemeClr val="dk2"/>
              </a:solidFill>
              <a:latin typeface="Space Grotesk"/>
              <a:ea typeface="Space Grotesk"/>
              <a:cs typeface="Space Grotesk"/>
              <a:sym typeface="Space Grotesk"/>
            </a:endParaRPr>
          </a:p>
        </p:txBody>
      </p:sp>
      <p:pic>
        <p:nvPicPr>
          <p:cNvPr id="278" name="Google Shape;278;p50"/>
          <p:cNvPicPr preferRelativeResize="0"/>
          <p:nvPr/>
        </p:nvPicPr>
        <p:blipFill>
          <a:blip r:embed="rId3">
            <a:alphaModFix/>
          </a:blip>
          <a:stretch>
            <a:fillRect/>
          </a:stretch>
        </p:blipFill>
        <p:spPr>
          <a:xfrm>
            <a:off x="219200" y="777858"/>
            <a:ext cx="3220444" cy="1964533"/>
          </a:xfrm>
          <a:prstGeom prst="rect">
            <a:avLst/>
          </a:prstGeom>
          <a:noFill/>
          <a:ln w="8775" cap="flat" cmpd="sng">
            <a:solidFill>
              <a:srgbClr val="E5E5E5"/>
            </a:solidFill>
            <a:prstDash val="solid"/>
            <a:round/>
            <a:headEnd type="none" w="sm" len="sm"/>
            <a:tailEnd type="none" w="sm" len="sm"/>
          </a:ln>
        </p:spPr>
      </p:pic>
      <p:pic>
        <p:nvPicPr>
          <p:cNvPr id="279" name="Google Shape;279;p50"/>
          <p:cNvPicPr preferRelativeResize="0"/>
          <p:nvPr/>
        </p:nvPicPr>
        <p:blipFill>
          <a:blip r:embed="rId4">
            <a:alphaModFix/>
          </a:blip>
          <a:stretch>
            <a:fillRect/>
          </a:stretch>
        </p:blipFill>
        <p:spPr>
          <a:xfrm>
            <a:off x="4153150" y="761525"/>
            <a:ext cx="3324703" cy="1997200"/>
          </a:xfrm>
          <a:prstGeom prst="rect">
            <a:avLst/>
          </a:prstGeom>
          <a:noFill/>
          <a:ln w="8775" cap="flat" cmpd="sng">
            <a:solidFill>
              <a:schemeClr val="lt2"/>
            </a:solidFill>
            <a:prstDash val="solid"/>
            <a:round/>
            <a:headEnd type="none" w="sm" len="sm"/>
            <a:tailEnd type="none" w="sm" len="sm"/>
          </a:ln>
        </p:spPr>
      </p:pic>
      <p:pic>
        <p:nvPicPr>
          <p:cNvPr id="280" name="Google Shape;280;p50"/>
          <p:cNvPicPr preferRelativeResize="0"/>
          <p:nvPr/>
        </p:nvPicPr>
        <p:blipFill>
          <a:blip r:embed="rId5">
            <a:alphaModFix/>
          </a:blip>
          <a:stretch>
            <a:fillRect/>
          </a:stretch>
        </p:blipFill>
        <p:spPr>
          <a:xfrm>
            <a:off x="1599575" y="2817450"/>
            <a:ext cx="5120599" cy="1178050"/>
          </a:xfrm>
          <a:prstGeom prst="rect">
            <a:avLst/>
          </a:prstGeom>
          <a:noFill/>
          <a:ln>
            <a:noFill/>
          </a:ln>
        </p:spPr>
      </p:pic>
      <p:cxnSp>
        <p:nvCxnSpPr>
          <p:cNvPr id="281" name="Google Shape;281;p50"/>
          <p:cNvCxnSpPr>
            <a:stCxn id="278" idx="3"/>
            <a:endCxn id="279" idx="1"/>
          </p:cNvCxnSpPr>
          <p:nvPr/>
        </p:nvCxnSpPr>
        <p:spPr>
          <a:xfrm>
            <a:off x="3439644" y="1760124"/>
            <a:ext cx="713400" cy="0"/>
          </a:xfrm>
          <a:prstGeom prst="straightConnector1">
            <a:avLst/>
          </a:prstGeom>
          <a:noFill/>
          <a:ln w="8775" cap="flat" cmpd="sng">
            <a:solidFill>
              <a:schemeClr val="dk2"/>
            </a:solidFill>
            <a:prstDash val="solid"/>
            <a:round/>
            <a:headEnd type="none" w="med" len="med"/>
            <a:tailEnd type="none" w="med" len="med"/>
          </a:ln>
        </p:spPr>
      </p:cxnSp>
      <p:sp>
        <p:nvSpPr>
          <p:cNvPr id="282" name="Google Shape;282;p50"/>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Module 1 : VM Vulnerability Findings by Label</a:t>
            </a:r>
            <a:endParaRPr sz="2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51"/>
          <p:cNvSpPr txBox="1"/>
          <p:nvPr/>
        </p:nvSpPr>
        <p:spPr>
          <a:xfrm>
            <a:off x="4870150" y="1057475"/>
            <a:ext cx="4138800" cy="3540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1100">
              <a:solidFill>
                <a:srgbClr val="4A86E8"/>
              </a:solidFill>
              <a:latin typeface="Space Grotesk"/>
              <a:ea typeface="Space Grotesk"/>
              <a:cs typeface="Space Grotesk"/>
              <a:sym typeface="Space Grotesk"/>
            </a:endParaRPr>
          </a:p>
        </p:txBody>
      </p:sp>
      <p:pic>
        <p:nvPicPr>
          <p:cNvPr id="288" name="Google Shape;288;p51"/>
          <p:cNvPicPr preferRelativeResize="0"/>
          <p:nvPr/>
        </p:nvPicPr>
        <p:blipFill>
          <a:blip r:embed="rId3">
            <a:alphaModFix/>
          </a:blip>
          <a:stretch>
            <a:fillRect/>
          </a:stretch>
        </p:blipFill>
        <p:spPr>
          <a:xfrm>
            <a:off x="5747750" y="3126892"/>
            <a:ext cx="3396249" cy="1196258"/>
          </a:xfrm>
          <a:prstGeom prst="rect">
            <a:avLst/>
          </a:prstGeom>
          <a:noFill/>
          <a:ln>
            <a:noFill/>
          </a:ln>
        </p:spPr>
      </p:pic>
      <p:pic>
        <p:nvPicPr>
          <p:cNvPr id="289" name="Google Shape;289;p51"/>
          <p:cNvPicPr preferRelativeResize="0"/>
          <p:nvPr/>
        </p:nvPicPr>
        <p:blipFill>
          <a:blip r:embed="rId4">
            <a:alphaModFix/>
          </a:blip>
          <a:stretch>
            <a:fillRect/>
          </a:stretch>
        </p:blipFill>
        <p:spPr>
          <a:xfrm>
            <a:off x="126688" y="850877"/>
            <a:ext cx="5438226" cy="4292625"/>
          </a:xfrm>
          <a:prstGeom prst="rect">
            <a:avLst/>
          </a:prstGeom>
          <a:noFill/>
          <a:ln>
            <a:noFill/>
          </a:ln>
        </p:spPr>
      </p:pic>
      <p:cxnSp>
        <p:nvCxnSpPr>
          <p:cNvPr id="290" name="Google Shape;290;p51"/>
          <p:cNvCxnSpPr>
            <a:stCxn id="289" idx="0"/>
            <a:endCxn id="289" idx="0"/>
          </p:cNvCxnSpPr>
          <p:nvPr/>
        </p:nvCxnSpPr>
        <p:spPr>
          <a:xfrm>
            <a:off x="2845800" y="850877"/>
            <a:ext cx="0" cy="0"/>
          </a:xfrm>
          <a:prstGeom prst="straightConnector1">
            <a:avLst/>
          </a:prstGeom>
          <a:noFill/>
          <a:ln w="9525" cap="flat" cmpd="sng">
            <a:solidFill>
              <a:schemeClr val="dk2"/>
            </a:solidFill>
            <a:prstDash val="solid"/>
            <a:round/>
            <a:headEnd type="none" w="med" len="med"/>
            <a:tailEnd type="none" w="med" len="med"/>
          </a:ln>
        </p:spPr>
      </p:cxnSp>
      <p:cxnSp>
        <p:nvCxnSpPr>
          <p:cNvPr id="291" name="Google Shape;291;p51"/>
          <p:cNvCxnSpPr>
            <a:stCxn id="289" idx="3"/>
            <a:endCxn id="288" idx="0"/>
          </p:cNvCxnSpPr>
          <p:nvPr/>
        </p:nvCxnSpPr>
        <p:spPr>
          <a:xfrm>
            <a:off x="5564913" y="2997190"/>
            <a:ext cx="1881000" cy="129600"/>
          </a:xfrm>
          <a:prstGeom prst="bentConnector2">
            <a:avLst/>
          </a:prstGeom>
          <a:noFill/>
          <a:ln w="9525" cap="flat" cmpd="sng">
            <a:solidFill>
              <a:schemeClr val="dk2"/>
            </a:solidFill>
            <a:prstDash val="solid"/>
            <a:round/>
            <a:headEnd type="none" w="med" len="med"/>
            <a:tailEnd type="none" w="med" len="med"/>
          </a:ln>
        </p:spPr>
      </p:cxnSp>
      <p:sp>
        <p:nvSpPr>
          <p:cNvPr id="292" name="Google Shape;292;p51"/>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Module 1 : VM Vulnerability by Severity</a:t>
            </a:r>
            <a:endParaRPr sz="2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52"/>
          <p:cNvSpPr txBox="1"/>
          <p:nvPr/>
        </p:nvSpPr>
        <p:spPr>
          <a:xfrm>
            <a:off x="-12" y="3088250"/>
            <a:ext cx="9144000" cy="1847100"/>
          </a:xfrm>
          <a:prstGeom prst="rect">
            <a:avLst/>
          </a:prstGeom>
          <a:noFill/>
          <a:ln>
            <a:noFill/>
          </a:ln>
        </p:spPr>
        <p:txBody>
          <a:bodyPr spcFirstLastPara="1" wrap="square" lIns="91425" tIns="91425" rIns="91425" bIns="91425" anchor="t" anchorCtr="0">
            <a:spAutoFit/>
          </a:bodyPr>
          <a:lstStyle/>
          <a:p>
            <a:pPr marL="457200" lvl="0" indent="-304800" algn="l" rtl="0">
              <a:lnSpc>
                <a:spcPct val="100000"/>
              </a:lnSpc>
              <a:spcBef>
                <a:spcPts val="1400"/>
              </a:spcBef>
              <a:spcAft>
                <a:spcPts val="0"/>
              </a:spcAft>
              <a:buClr>
                <a:schemeClr val="dk1"/>
              </a:buClr>
              <a:buSzPts val="1200"/>
              <a:buFont typeface="Space Grotesk"/>
              <a:buChar char="●"/>
            </a:pPr>
            <a:r>
              <a:rPr lang="en" sz="1200" b="1">
                <a:solidFill>
                  <a:schemeClr val="dk1"/>
                </a:solidFill>
                <a:latin typeface="Space Grotesk"/>
                <a:ea typeface="Space Grotesk"/>
                <a:cs typeface="Space Grotesk"/>
                <a:sym typeface="Space Grotesk"/>
              </a:rPr>
              <a:t> Critical Remote Code Execution (RCE) Risk - </a:t>
            </a:r>
            <a:r>
              <a:rPr lang="en" sz="1200">
                <a:solidFill>
                  <a:schemeClr val="dk1"/>
                </a:solidFill>
                <a:latin typeface="Space Grotesk"/>
                <a:ea typeface="Space Grotesk"/>
                <a:cs typeface="Space Grotesk"/>
                <a:sym typeface="Space Grotesk"/>
              </a:rPr>
              <a:t>CVE-2023-21716 allows attackers to run </a:t>
            </a:r>
            <a:r>
              <a:rPr lang="en" sz="1200" b="1">
                <a:solidFill>
                  <a:schemeClr val="dk1"/>
                </a:solidFill>
                <a:latin typeface="Space Grotesk"/>
                <a:ea typeface="Space Grotesk"/>
                <a:cs typeface="Space Grotesk"/>
                <a:sym typeface="Space Grotesk"/>
              </a:rPr>
              <a:t>arbitrary code</a:t>
            </a:r>
            <a:r>
              <a:rPr lang="en" sz="1200">
                <a:solidFill>
                  <a:schemeClr val="dk1"/>
                </a:solidFill>
                <a:latin typeface="Space Grotesk"/>
                <a:ea typeface="Space Grotesk"/>
                <a:cs typeface="Space Grotesk"/>
                <a:sym typeface="Space Grotesk"/>
              </a:rPr>
              <a:t> on a victim’s machine using a specially crafted </a:t>
            </a:r>
            <a:r>
              <a:rPr lang="en" sz="1200" b="1">
                <a:solidFill>
                  <a:schemeClr val="dk1"/>
                </a:solidFill>
                <a:latin typeface="Space Grotesk"/>
                <a:ea typeface="Space Grotesk"/>
                <a:cs typeface="Space Grotesk"/>
                <a:sym typeface="Space Grotesk"/>
              </a:rPr>
              <a:t>malicious RTF file</a:t>
            </a:r>
            <a:r>
              <a:rPr lang="en" sz="1200">
                <a:solidFill>
                  <a:schemeClr val="dk1"/>
                </a:solidFill>
                <a:latin typeface="Space Grotesk"/>
                <a:ea typeface="Space Grotesk"/>
                <a:cs typeface="Space Grotesk"/>
                <a:sym typeface="Space Grotesk"/>
              </a:rPr>
              <a:t>. Just opening or </a:t>
            </a:r>
            <a:r>
              <a:rPr lang="en" sz="1200" b="1">
                <a:solidFill>
                  <a:schemeClr val="dk1"/>
                </a:solidFill>
                <a:latin typeface="Space Grotesk"/>
                <a:ea typeface="Space Grotesk"/>
                <a:cs typeface="Space Grotesk"/>
                <a:sym typeface="Space Grotesk"/>
              </a:rPr>
              <a:t>previewing</a:t>
            </a:r>
            <a:r>
              <a:rPr lang="en" sz="1200">
                <a:solidFill>
                  <a:schemeClr val="dk1"/>
                </a:solidFill>
                <a:latin typeface="Space Grotesk"/>
                <a:ea typeface="Space Grotesk"/>
                <a:cs typeface="Space Grotesk"/>
                <a:sym typeface="Space Grotesk"/>
              </a:rPr>
              <a:t> the file in Word or Outlook can trigger the exploit.</a:t>
            </a:r>
            <a:endParaRPr sz="1200">
              <a:solidFill>
                <a:schemeClr val="dk1"/>
              </a:solidFill>
              <a:latin typeface="Space Grotesk"/>
              <a:ea typeface="Space Grotesk"/>
              <a:cs typeface="Space Grotesk"/>
              <a:sym typeface="Space Grotesk"/>
            </a:endParaRPr>
          </a:p>
          <a:p>
            <a:pPr marL="457200" lvl="0" indent="-304800" algn="l" rtl="0">
              <a:lnSpc>
                <a:spcPct val="100000"/>
              </a:lnSpc>
              <a:spcBef>
                <a:spcPts val="0"/>
              </a:spcBef>
              <a:spcAft>
                <a:spcPts val="0"/>
              </a:spcAft>
              <a:buClr>
                <a:schemeClr val="dk1"/>
              </a:buClr>
              <a:buSzPts val="1200"/>
              <a:buFont typeface="Space Grotesk"/>
              <a:buChar char="●"/>
            </a:pPr>
            <a:r>
              <a:rPr lang="en" sz="1200" b="1">
                <a:solidFill>
                  <a:schemeClr val="dk1"/>
                </a:solidFill>
                <a:latin typeface="Space Grotesk"/>
                <a:ea typeface="Space Grotesk"/>
                <a:cs typeface="Space Grotesk"/>
                <a:sym typeface="Space Grotesk"/>
              </a:rPr>
              <a:t>Heap Corruption in Word's RTF Parser - </a:t>
            </a:r>
            <a:r>
              <a:rPr lang="en" sz="1200">
                <a:solidFill>
                  <a:schemeClr val="dk1"/>
                </a:solidFill>
                <a:latin typeface="Space Grotesk"/>
                <a:ea typeface="Space Grotesk"/>
                <a:cs typeface="Space Grotesk"/>
                <a:sym typeface="Space Grotesk"/>
              </a:rPr>
              <a:t>The vulnerability exists due to a </a:t>
            </a:r>
            <a:r>
              <a:rPr lang="en" sz="1200" b="1">
                <a:solidFill>
                  <a:schemeClr val="dk1"/>
                </a:solidFill>
                <a:latin typeface="Space Grotesk"/>
                <a:ea typeface="Space Grotesk"/>
                <a:cs typeface="Space Grotesk"/>
                <a:sym typeface="Space Grotesk"/>
              </a:rPr>
              <a:t>heap corruption bug</a:t>
            </a:r>
            <a:r>
              <a:rPr lang="en" sz="1200">
                <a:solidFill>
                  <a:schemeClr val="dk1"/>
                </a:solidFill>
                <a:latin typeface="Space Grotesk"/>
                <a:ea typeface="Space Grotesk"/>
                <a:cs typeface="Space Grotesk"/>
                <a:sym typeface="Space Grotesk"/>
              </a:rPr>
              <a:t> in Word’s RTF parsing engine. A malformed font table in an RTF document causes memory corruption — enabling full system compromise if exploited.</a:t>
            </a:r>
            <a:endParaRPr sz="1200">
              <a:solidFill>
                <a:schemeClr val="dk1"/>
              </a:solidFill>
              <a:latin typeface="Space Grotesk"/>
              <a:ea typeface="Space Grotesk"/>
              <a:cs typeface="Space Grotesk"/>
              <a:sym typeface="Space Grotesk"/>
            </a:endParaRPr>
          </a:p>
          <a:p>
            <a:pPr marL="457200" lvl="0" indent="-304800" algn="l" rtl="0">
              <a:lnSpc>
                <a:spcPct val="100000"/>
              </a:lnSpc>
              <a:spcBef>
                <a:spcPts val="0"/>
              </a:spcBef>
              <a:spcAft>
                <a:spcPts val="0"/>
              </a:spcAft>
              <a:buClr>
                <a:schemeClr val="dk1"/>
              </a:buClr>
              <a:buSzPts val="1200"/>
              <a:buFont typeface="Space Grotesk"/>
              <a:buChar char="●"/>
            </a:pPr>
            <a:r>
              <a:rPr lang="en" sz="1200" b="1">
                <a:solidFill>
                  <a:schemeClr val="dk1"/>
                </a:solidFill>
                <a:latin typeface="Space Grotesk"/>
                <a:ea typeface="Space Grotesk"/>
                <a:cs typeface="Space Grotesk"/>
                <a:sym typeface="Space Grotesk"/>
              </a:rPr>
              <a:t>Update KB4011574 Fixes the Vulnerability- </a:t>
            </a:r>
            <a:r>
              <a:rPr lang="en" sz="1200">
                <a:solidFill>
                  <a:schemeClr val="dk1"/>
                </a:solidFill>
                <a:latin typeface="Space Grotesk"/>
                <a:ea typeface="Space Grotesk"/>
                <a:cs typeface="Space Grotesk"/>
                <a:sym typeface="Space Grotesk"/>
              </a:rPr>
              <a:t>The security update patches the RTF parsing flaw in Office 2016 (32-bit), preventing exploitation. Without this patch, the system remains vulnerable to malware delivery, privilege escalation, and complete takeover.</a:t>
            </a:r>
            <a:endParaRPr sz="1200">
              <a:solidFill>
                <a:schemeClr val="dk1"/>
              </a:solidFill>
              <a:latin typeface="Space Grotesk"/>
              <a:ea typeface="Space Grotesk"/>
              <a:cs typeface="Space Grotesk"/>
              <a:sym typeface="Space Grotesk"/>
            </a:endParaRPr>
          </a:p>
        </p:txBody>
      </p:sp>
      <p:pic>
        <p:nvPicPr>
          <p:cNvPr id="298" name="Google Shape;298;p52"/>
          <p:cNvPicPr preferRelativeResize="0"/>
          <p:nvPr/>
        </p:nvPicPr>
        <p:blipFill rotWithShape="1">
          <a:blip r:embed="rId3">
            <a:alphaModFix/>
          </a:blip>
          <a:srcRect b="6209"/>
          <a:stretch/>
        </p:blipFill>
        <p:spPr>
          <a:xfrm>
            <a:off x="281525" y="761100"/>
            <a:ext cx="8580925" cy="2073200"/>
          </a:xfrm>
          <a:prstGeom prst="rect">
            <a:avLst/>
          </a:prstGeom>
          <a:noFill/>
          <a:ln>
            <a:noFill/>
          </a:ln>
        </p:spPr>
      </p:pic>
      <p:sp>
        <p:nvSpPr>
          <p:cNvPr id="299" name="Google Shape;299;p52"/>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Module 1: Critical Vulnerability on VM</a:t>
            </a:r>
            <a:endParaRPr sz="2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p53"/>
          <p:cNvPicPr preferRelativeResize="0"/>
          <p:nvPr/>
        </p:nvPicPr>
        <p:blipFill>
          <a:blip r:embed="rId3">
            <a:alphaModFix/>
          </a:blip>
          <a:stretch>
            <a:fillRect/>
          </a:stretch>
        </p:blipFill>
        <p:spPr>
          <a:xfrm>
            <a:off x="28775" y="717982"/>
            <a:ext cx="4650802" cy="4439950"/>
          </a:xfrm>
          <a:prstGeom prst="rect">
            <a:avLst/>
          </a:prstGeom>
          <a:noFill/>
          <a:ln>
            <a:noFill/>
          </a:ln>
        </p:spPr>
      </p:pic>
      <p:sp>
        <p:nvSpPr>
          <p:cNvPr id="305" name="Google Shape;305;p53"/>
          <p:cNvSpPr txBox="1"/>
          <p:nvPr/>
        </p:nvSpPr>
        <p:spPr>
          <a:xfrm>
            <a:off x="4870150" y="887150"/>
            <a:ext cx="4138800" cy="3879000"/>
          </a:xfrm>
          <a:prstGeom prst="rect">
            <a:avLst/>
          </a:prstGeom>
          <a:noFill/>
          <a:ln>
            <a:noFill/>
          </a:ln>
        </p:spPr>
        <p:txBody>
          <a:bodyPr spcFirstLastPara="1" wrap="square" lIns="91425" tIns="91425" rIns="91425" bIns="91425" anchor="t" anchorCtr="0">
            <a:spAutoFit/>
          </a:bodyPr>
          <a:lstStyle/>
          <a:p>
            <a:pPr marL="457200" lvl="0" indent="-304800" algn="l" rtl="0">
              <a:spcBef>
                <a:spcPts val="0"/>
              </a:spcBef>
              <a:spcAft>
                <a:spcPts val="0"/>
              </a:spcAft>
              <a:buClr>
                <a:schemeClr val="dk1"/>
              </a:buClr>
              <a:buSzPts val="1200"/>
              <a:buFont typeface="Space Grotesk"/>
              <a:buChar char="●"/>
            </a:pPr>
            <a:r>
              <a:rPr lang="en" sz="1200" b="1">
                <a:solidFill>
                  <a:schemeClr val="dk1"/>
                </a:solidFill>
                <a:latin typeface="Space Grotesk"/>
                <a:ea typeface="Space Grotesk"/>
                <a:cs typeface="Space Grotesk"/>
                <a:sym typeface="Space Grotesk"/>
              </a:rPr>
              <a:t>Syndicasec and Fugrafa</a:t>
            </a:r>
            <a:r>
              <a:rPr lang="en" sz="1200">
                <a:solidFill>
                  <a:schemeClr val="dk1"/>
                </a:solidFill>
                <a:latin typeface="Space Grotesk"/>
                <a:ea typeface="Space Grotesk"/>
                <a:cs typeface="Space Grotesk"/>
                <a:sym typeface="Space Grotesk"/>
              </a:rPr>
              <a:t> are the most active families, showing multiple variants and repeated detections.</a:t>
            </a:r>
            <a:br>
              <a:rPr lang="en" sz="1200">
                <a:solidFill>
                  <a:schemeClr val="dk1"/>
                </a:solidFill>
                <a:latin typeface="Space Grotesk"/>
                <a:ea typeface="Space Grotesk"/>
                <a:cs typeface="Space Grotesk"/>
                <a:sym typeface="Space Grotesk"/>
              </a:rPr>
            </a:br>
            <a:endParaRPr sz="1200">
              <a:solidFill>
                <a:schemeClr val="dk1"/>
              </a:solidFill>
              <a:latin typeface="Space Grotesk"/>
              <a:ea typeface="Space Grotesk"/>
              <a:cs typeface="Space Grotesk"/>
              <a:sym typeface="Space Grotesk"/>
            </a:endParaRPr>
          </a:p>
          <a:p>
            <a:pPr marL="457200" lvl="0" indent="-304800" algn="l" rtl="0">
              <a:spcBef>
                <a:spcPts val="0"/>
              </a:spcBef>
              <a:spcAft>
                <a:spcPts val="0"/>
              </a:spcAft>
              <a:buClr>
                <a:schemeClr val="dk1"/>
              </a:buClr>
              <a:buSzPts val="1200"/>
              <a:buFont typeface="Space Grotesk"/>
              <a:buChar char="●"/>
            </a:pPr>
            <a:r>
              <a:rPr lang="en" sz="1200" b="1">
                <a:solidFill>
                  <a:schemeClr val="dk1"/>
                </a:solidFill>
                <a:latin typeface="Space Grotesk"/>
                <a:ea typeface="Space Grotesk"/>
                <a:cs typeface="Space Grotesk"/>
                <a:sym typeface="Space Grotesk"/>
              </a:rPr>
              <a:t>Ransomware presence is high</a:t>
            </a:r>
            <a:r>
              <a:rPr lang="en" sz="1200">
                <a:solidFill>
                  <a:schemeClr val="dk1"/>
                </a:solidFill>
                <a:latin typeface="Space Grotesk"/>
                <a:ea typeface="Space Grotesk"/>
                <a:cs typeface="Space Grotesk"/>
                <a:sym typeface="Space Grotesk"/>
              </a:rPr>
              <a:t>, with 18+ variants including WannaCryptor, Maze, Locky, and Petya-based strains.</a:t>
            </a:r>
            <a:br>
              <a:rPr lang="en" sz="1200">
                <a:solidFill>
                  <a:schemeClr val="dk1"/>
                </a:solidFill>
                <a:latin typeface="Space Grotesk"/>
                <a:ea typeface="Space Grotesk"/>
                <a:cs typeface="Space Grotesk"/>
                <a:sym typeface="Space Grotesk"/>
              </a:rPr>
            </a:br>
            <a:endParaRPr sz="1200">
              <a:solidFill>
                <a:schemeClr val="dk1"/>
              </a:solidFill>
              <a:latin typeface="Space Grotesk"/>
              <a:ea typeface="Space Grotesk"/>
              <a:cs typeface="Space Grotesk"/>
              <a:sym typeface="Space Grotesk"/>
            </a:endParaRPr>
          </a:p>
          <a:p>
            <a:pPr marL="457200" lvl="0" indent="-304800" algn="l" rtl="0">
              <a:spcBef>
                <a:spcPts val="0"/>
              </a:spcBef>
              <a:spcAft>
                <a:spcPts val="0"/>
              </a:spcAft>
              <a:buClr>
                <a:schemeClr val="dk1"/>
              </a:buClr>
              <a:buSzPts val="1200"/>
              <a:buFont typeface="Space Grotesk"/>
              <a:buChar char="●"/>
            </a:pPr>
            <a:r>
              <a:rPr lang="en" sz="1200" b="1">
                <a:solidFill>
                  <a:schemeClr val="dk1"/>
                </a:solidFill>
                <a:latin typeface="Space Grotesk"/>
                <a:ea typeface="Space Grotesk"/>
                <a:cs typeface="Space Grotesk"/>
                <a:sym typeface="Space Grotesk"/>
              </a:rPr>
              <a:t>Exploit-driven activity</a:t>
            </a:r>
            <a:r>
              <a:rPr lang="en" sz="1200">
                <a:solidFill>
                  <a:schemeClr val="dk1"/>
                </a:solidFill>
                <a:latin typeface="Space Grotesk"/>
                <a:ea typeface="Space Grotesk"/>
                <a:cs typeface="Space Grotesk"/>
                <a:sym typeface="Space Grotesk"/>
              </a:rPr>
              <a:t> detected (CVE-2017-0147, DCOM), indicating attempts at lateral movement and targeting unpatched systems.</a:t>
            </a:r>
            <a:br>
              <a:rPr lang="en" sz="1200">
                <a:solidFill>
                  <a:schemeClr val="dk1"/>
                </a:solidFill>
                <a:latin typeface="Space Grotesk"/>
                <a:ea typeface="Space Grotesk"/>
                <a:cs typeface="Space Grotesk"/>
                <a:sym typeface="Space Grotesk"/>
              </a:rPr>
            </a:br>
            <a:endParaRPr sz="1200">
              <a:solidFill>
                <a:schemeClr val="dk1"/>
              </a:solidFill>
              <a:latin typeface="Space Grotesk"/>
              <a:ea typeface="Space Grotesk"/>
              <a:cs typeface="Space Grotesk"/>
              <a:sym typeface="Space Grotesk"/>
            </a:endParaRPr>
          </a:p>
          <a:p>
            <a:pPr marL="457200" lvl="0" indent="-304800" algn="l" rtl="0">
              <a:spcBef>
                <a:spcPts val="0"/>
              </a:spcBef>
              <a:spcAft>
                <a:spcPts val="0"/>
              </a:spcAft>
              <a:buClr>
                <a:schemeClr val="dk1"/>
              </a:buClr>
              <a:buSzPts val="1200"/>
              <a:buFont typeface="Space Grotesk"/>
              <a:buChar char="●"/>
            </a:pPr>
            <a:r>
              <a:rPr lang="en" sz="1200" b="1">
                <a:solidFill>
                  <a:schemeClr val="dk1"/>
                </a:solidFill>
                <a:latin typeface="Space Grotesk"/>
                <a:ea typeface="Space Grotesk"/>
                <a:cs typeface="Space Grotesk"/>
                <a:sym typeface="Space Grotesk"/>
              </a:rPr>
              <a:t>Multi-stage and obfuscated malware</a:t>
            </a:r>
            <a:r>
              <a:rPr lang="en" sz="1200">
                <a:solidFill>
                  <a:schemeClr val="dk1"/>
                </a:solidFill>
                <a:latin typeface="Space Grotesk"/>
                <a:ea typeface="Space Grotesk"/>
                <a:cs typeface="Space Grotesk"/>
                <a:sym typeface="Space Grotesk"/>
              </a:rPr>
              <a:t> observed through droppers and packed payloads, suggesting evasion-focused attacks.</a:t>
            </a:r>
            <a:br>
              <a:rPr lang="en" sz="1200">
                <a:solidFill>
                  <a:schemeClr val="dk1"/>
                </a:solidFill>
                <a:latin typeface="Space Grotesk"/>
                <a:ea typeface="Space Grotesk"/>
                <a:cs typeface="Space Grotesk"/>
                <a:sym typeface="Space Grotesk"/>
              </a:rPr>
            </a:br>
            <a:endParaRPr sz="1200">
              <a:solidFill>
                <a:schemeClr val="dk1"/>
              </a:solidFill>
              <a:latin typeface="Space Grotesk"/>
              <a:ea typeface="Space Grotesk"/>
              <a:cs typeface="Space Grotesk"/>
              <a:sym typeface="Space Grotesk"/>
            </a:endParaRPr>
          </a:p>
          <a:p>
            <a:pPr marL="457200" lvl="0" indent="-304800" algn="l" rtl="0">
              <a:spcBef>
                <a:spcPts val="0"/>
              </a:spcBef>
              <a:spcAft>
                <a:spcPts val="0"/>
              </a:spcAft>
              <a:buClr>
                <a:schemeClr val="dk1"/>
              </a:buClr>
              <a:buSzPts val="1200"/>
              <a:buFont typeface="Space Grotesk"/>
              <a:buChar char="●"/>
            </a:pPr>
            <a:r>
              <a:rPr lang="en" sz="1200" b="1">
                <a:solidFill>
                  <a:schemeClr val="dk1"/>
                </a:solidFill>
                <a:latin typeface="Space Grotesk"/>
                <a:ea typeface="Space Grotesk"/>
                <a:cs typeface="Space Grotesk"/>
                <a:sym typeface="Space Grotesk"/>
              </a:rPr>
              <a:t>Mix of modern and legacy threats</a:t>
            </a:r>
            <a:r>
              <a:rPr lang="en" sz="1200">
                <a:solidFill>
                  <a:schemeClr val="dk1"/>
                </a:solidFill>
                <a:latin typeface="Space Grotesk"/>
                <a:ea typeface="Space Grotesk"/>
                <a:cs typeface="Space Grotesk"/>
                <a:sym typeface="Space Grotesk"/>
              </a:rPr>
              <a:t> (Emotet, Zusy, Blaster worms) highlights a broad and diverse attack surface.</a:t>
            </a:r>
            <a:endParaRPr sz="1200">
              <a:solidFill>
                <a:schemeClr val="dk1"/>
              </a:solidFill>
              <a:latin typeface="Space Grotesk"/>
              <a:ea typeface="Space Grotesk"/>
              <a:cs typeface="Space Grotesk"/>
              <a:sym typeface="Space Grotesk"/>
            </a:endParaRPr>
          </a:p>
        </p:txBody>
      </p:sp>
      <p:sp>
        <p:nvSpPr>
          <p:cNvPr id="306" name="Google Shape;306;p53"/>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Module 2: VM Malware Detection</a:t>
            </a: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54"/>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Module 3: Zero Trust for VMs</a:t>
            </a:r>
            <a:endParaRPr sz="2200"/>
          </a:p>
        </p:txBody>
      </p:sp>
      <p:sp>
        <p:nvSpPr>
          <p:cNvPr id="312" name="Google Shape;312;p54"/>
          <p:cNvSpPr txBox="1"/>
          <p:nvPr/>
        </p:nvSpPr>
        <p:spPr>
          <a:xfrm>
            <a:off x="98476" y="795950"/>
            <a:ext cx="6177000" cy="21870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1"/>
              </a:buClr>
              <a:buSzPts val="1200"/>
              <a:buFont typeface="Space Grotesk"/>
              <a:buChar char="●"/>
            </a:pPr>
            <a:r>
              <a:rPr lang="en" sz="1200" b="1">
                <a:solidFill>
                  <a:schemeClr val="dk1"/>
                </a:solidFill>
                <a:latin typeface="Space Grotesk"/>
                <a:ea typeface="Space Grotesk"/>
                <a:cs typeface="Space Grotesk"/>
                <a:sym typeface="Space Grotesk"/>
              </a:rPr>
              <a:t>Auto Generated Least Permissive Policy out-of- the-box: </a:t>
            </a:r>
            <a:endParaRPr sz="1200" b="1">
              <a:solidFill>
                <a:schemeClr val="dk1"/>
              </a:solidFill>
              <a:latin typeface="Space Grotesk"/>
              <a:ea typeface="Space Grotesk"/>
              <a:cs typeface="Space Grotesk"/>
              <a:sym typeface="Space Grotesk"/>
            </a:endParaRPr>
          </a:p>
          <a:p>
            <a:pPr marL="914400" lvl="1" indent="-298450" algn="l" rtl="0">
              <a:lnSpc>
                <a:spcPct val="115000"/>
              </a:lnSpc>
              <a:spcBef>
                <a:spcPts val="0"/>
              </a:spcBef>
              <a:spcAft>
                <a:spcPts val="0"/>
              </a:spcAft>
              <a:buClr>
                <a:schemeClr val="dk1"/>
              </a:buClr>
              <a:buSzPts val="1100"/>
              <a:buFont typeface="Space Grotesk Medium"/>
              <a:buChar char="○"/>
            </a:pPr>
            <a:r>
              <a:rPr lang="en" sz="1100">
                <a:solidFill>
                  <a:schemeClr val="dk1"/>
                </a:solidFill>
                <a:latin typeface="Space Grotesk Medium"/>
                <a:ea typeface="Space Grotesk Medium"/>
                <a:cs typeface="Space Grotesk Medium"/>
                <a:sym typeface="Space Grotesk Medium"/>
              </a:rPr>
              <a:t>Fine-tuned least permissive security policies based on default posture of the </a:t>
            </a:r>
            <a:r>
              <a:rPr lang="en" sz="1100" b="1">
                <a:solidFill>
                  <a:schemeClr val="dk1"/>
                </a:solidFill>
                <a:latin typeface="Space Grotesk"/>
                <a:ea typeface="Space Grotesk"/>
                <a:cs typeface="Space Grotesk"/>
                <a:sym typeface="Space Grotesk"/>
              </a:rPr>
              <a:t>application</a:t>
            </a:r>
            <a:endParaRPr sz="1100" b="1">
              <a:solidFill>
                <a:schemeClr val="dk1"/>
              </a:solidFill>
              <a:latin typeface="Space Grotesk"/>
              <a:ea typeface="Space Grotesk"/>
              <a:cs typeface="Space Grotesk"/>
              <a:sym typeface="Space Grotesk"/>
            </a:endParaRPr>
          </a:p>
          <a:p>
            <a:pPr marL="457200" lvl="0" indent="-304800" algn="l" rtl="0">
              <a:lnSpc>
                <a:spcPct val="115000"/>
              </a:lnSpc>
              <a:spcBef>
                <a:spcPts val="0"/>
              </a:spcBef>
              <a:spcAft>
                <a:spcPts val="0"/>
              </a:spcAft>
              <a:buClr>
                <a:schemeClr val="dk1"/>
              </a:buClr>
              <a:buSzPts val="1200"/>
              <a:buFont typeface="Space Grotesk"/>
              <a:buChar char="●"/>
            </a:pPr>
            <a:r>
              <a:rPr lang="en" sz="1200" b="1">
                <a:solidFill>
                  <a:schemeClr val="dk1"/>
                </a:solidFill>
                <a:latin typeface="Space Grotesk"/>
                <a:ea typeface="Space Grotesk"/>
                <a:cs typeface="Space Grotesk"/>
                <a:sym typeface="Space Grotesk"/>
              </a:rPr>
              <a:t>Ability to enforce least permissive posture in Default-deny or Audit mode on workload </a:t>
            </a:r>
            <a:endParaRPr sz="1200" b="1">
              <a:solidFill>
                <a:schemeClr val="dk1"/>
              </a:solidFill>
              <a:latin typeface="Space Grotesk"/>
              <a:ea typeface="Space Grotesk"/>
              <a:cs typeface="Space Grotesk"/>
              <a:sym typeface="Space Grotesk"/>
            </a:endParaRPr>
          </a:p>
          <a:p>
            <a:pPr marL="914400" lvl="1" indent="-298450" algn="l" rtl="0">
              <a:lnSpc>
                <a:spcPct val="115000"/>
              </a:lnSpc>
              <a:spcBef>
                <a:spcPts val="0"/>
              </a:spcBef>
              <a:spcAft>
                <a:spcPts val="0"/>
              </a:spcAft>
              <a:buClr>
                <a:schemeClr val="dk1"/>
              </a:buClr>
              <a:buSzPts val="1100"/>
              <a:buFont typeface="Space Grotesk Medium"/>
              <a:buChar char="○"/>
            </a:pPr>
            <a:r>
              <a:rPr lang="en" sz="1100">
                <a:solidFill>
                  <a:schemeClr val="dk1"/>
                </a:solidFill>
                <a:latin typeface="Space Grotesk Medium"/>
                <a:ea typeface="Space Grotesk Medium"/>
                <a:cs typeface="Space Grotesk Medium"/>
                <a:sym typeface="Space Grotesk Medium"/>
              </a:rPr>
              <a:t>Enforce Zero Trust in a automated Lifecycle </a:t>
            </a:r>
            <a:endParaRPr sz="1100">
              <a:solidFill>
                <a:schemeClr val="dk1"/>
              </a:solidFill>
              <a:latin typeface="Space Grotesk Medium"/>
              <a:ea typeface="Space Grotesk Medium"/>
              <a:cs typeface="Space Grotesk Medium"/>
              <a:sym typeface="Space Grotesk Medium"/>
            </a:endParaRPr>
          </a:p>
          <a:p>
            <a:pPr marL="914400" lvl="1" indent="-298450" algn="l" rtl="0">
              <a:lnSpc>
                <a:spcPct val="115000"/>
              </a:lnSpc>
              <a:spcBef>
                <a:spcPts val="0"/>
              </a:spcBef>
              <a:spcAft>
                <a:spcPts val="0"/>
              </a:spcAft>
              <a:buClr>
                <a:schemeClr val="dk1"/>
              </a:buClr>
              <a:buSzPts val="1100"/>
              <a:buFont typeface="Space Grotesk Medium"/>
              <a:buChar char="○"/>
            </a:pPr>
            <a:r>
              <a:rPr lang="en" sz="1100">
                <a:solidFill>
                  <a:schemeClr val="dk1"/>
                </a:solidFill>
                <a:latin typeface="Space Grotesk Medium"/>
                <a:ea typeface="Space Grotesk Medium"/>
                <a:cs typeface="Space Grotesk Medium"/>
                <a:sym typeface="Space Grotesk Medium"/>
              </a:rPr>
              <a:t>Ability to detect dynamic change in App Behavior</a:t>
            </a:r>
            <a:endParaRPr sz="1100">
              <a:solidFill>
                <a:schemeClr val="dk1"/>
              </a:solidFill>
              <a:latin typeface="Space Grotesk Medium"/>
              <a:ea typeface="Space Grotesk Medium"/>
              <a:cs typeface="Space Grotesk Medium"/>
              <a:sym typeface="Space Grotesk Medium"/>
            </a:endParaRPr>
          </a:p>
          <a:p>
            <a:pPr marL="457200" lvl="0" indent="-304800" algn="l" rtl="0">
              <a:lnSpc>
                <a:spcPct val="115000"/>
              </a:lnSpc>
              <a:spcBef>
                <a:spcPts val="0"/>
              </a:spcBef>
              <a:spcAft>
                <a:spcPts val="0"/>
              </a:spcAft>
              <a:buClr>
                <a:schemeClr val="dk1"/>
              </a:buClr>
              <a:buSzPts val="1200"/>
              <a:buFont typeface="Space Grotesk"/>
              <a:buChar char="●"/>
            </a:pPr>
            <a:r>
              <a:rPr lang="en" sz="1200" b="1">
                <a:solidFill>
                  <a:schemeClr val="dk1"/>
                </a:solidFill>
                <a:latin typeface="Space Grotesk"/>
                <a:ea typeface="Space Grotesk"/>
                <a:cs typeface="Space Grotesk"/>
                <a:sym typeface="Space Grotesk"/>
              </a:rPr>
              <a:t>Ability to segment traffic via network microsegmentation</a:t>
            </a:r>
            <a:endParaRPr sz="1200" b="1">
              <a:solidFill>
                <a:schemeClr val="dk1"/>
              </a:solidFill>
              <a:latin typeface="Space Grotesk"/>
              <a:ea typeface="Space Grotesk"/>
              <a:cs typeface="Space Grotesk"/>
              <a:sym typeface="Space Grotesk"/>
            </a:endParaRPr>
          </a:p>
          <a:p>
            <a:pPr marL="457200" lvl="0" indent="-304800" algn="l" rtl="0">
              <a:lnSpc>
                <a:spcPct val="115000"/>
              </a:lnSpc>
              <a:spcBef>
                <a:spcPts val="0"/>
              </a:spcBef>
              <a:spcAft>
                <a:spcPts val="0"/>
              </a:spcAft>
              <a:buClr>
                <a:schemeClr val="dk1"/>
              </a:buClr>
              <a:buSzPts val="1200"/>
              <a:buFont typeface="Space Grotesk"/>
              <a:buChar char="●"/>
            </a:pPr>
            <a:r>
              <a:rPr lang="en" sz="1200" b="1">
                <a:solidFill>
                  <a:schemeClr val="dk1"/>
                </a:solidFill>
                <a:latin typeface="Space Grotesk"/>
                <a:ea typeface="Space Grotesk"/>
                <a:cs typeface="Space Grotesk"/>
                <a:sym typeface="Space Grotesk"/>
              </a:rPr>
              <a:t>Ability to enforce Recommended MITRE, NIST based Hardening Policy</a:t>
            </a:r>
            <a:endParaRPr sz="1200" b="1">
              <a:solidFill>
                <a:schemeClr val="dk1"/>
              </a:solidFill>
              <a:latin typeface="Space Grotesk"/>
              <a:ea typeface="Space Grotesk"/>
              <a:cs typeface="Space Grotesk"/>
              <a:sym typeface="Space Grotesk"/>
            </a:endParaRPr>
          </a:p>
        </p:txBody>
      </p:sp>
      <p:pic>
        <p:nvPicPr>
          <p:cNvPr id="313" name="Google Shape;313;p54"/>
          <p:cNvPicPr preferRelativeResize="0"/>
          <p:nvPr/>
        </p:nvPicPr>
        <p:blipFill>
          <a:blip r:embed="rId3">
            <a:alphaModFix/>
          </a:blip>
          <a:stretch>
            <a:fillRect/>
          </a:stretch>
        </p:blipFill>
        <p:spPr>
          <a:xfrm>
            <a:off x="6356413" y="1101275"/>
            <a:ext cx="2658900" cy="3203650"/>
          </a:xfrm>
          <a:prstGeom prst="rect">
            <a:avLst/>
          </a:prstGeom>
          <a:noFill/>
          <a:ln>
            <a:noFill/>
          </a:ln>
          <a:effectLst>
            <a:outerShdw blurRad="57150" dist="19050" dir="5400000" algn="bl" rotWithShape="0">
              <a:schemeClr val="lt2">
                <a:alpha val="50000"/>
              </a:schemeClr>
            </a:outerShdw>
          </a:effectLst>
        </p:spPr>
      </p:pic>
      <p:pic>
        <p:nvPicPr>
          <p:cNvPr id="314" name="Google Shape;314;p54"/>
          <p:cNvPicPr preferRelativeResize="0"/>
          <p:nvPr/>
        </p:nvPicPr>
        <p:blipFill>
          <a:blip r:embed="rId4">
            <a:alphaModFix/>
          </a:blip>
          <a:stretch>
            <a:fillRect/>
          </a:stretch>
        </p:blipFill>
        <p:spPr>
          <a:xfrm>
            <a:off x="763000" y="2982950"/>
            <a:ext cx="4189257" cy="2160550"/>
          </a:xfrm>
          <a:prstGeom prst="rect">
            <a:avLst/>
          </a:prstGeom>
          <a:noFill/>
          <a:ln>
            <a:noFill/>
          </a:ln>
          <a:effectLst>
            <a:outerShdw blurRad="57150" dist="19050" dir="5400000" algn="bl" rotWithShape="0">
              <a:srgbClr val="A5A5A5">
                <a:alpha val="5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55"/>
          <p:cNvSpPr/>
          <p:nvPr/>
        </p:nvSpPr>
        <p:spPr>
          <a:xfrm>
            <a:off x="1538023" y="2144988"/>
            <a:ext cx="867300" cy="867300"/>
          </a:xfrm>
          <a:prstGeom prst="ellipse">
            <a:avLst/>
          </a:prstGeom>
          <a:solidFill>
            <a:srgbClr val="EFEFEF"/>
          </a:solidFill>
          <a:ln w="11675" cap="flat" cmpd="sng">
            <a:solidFill>
              <a:srgbClr val="D9D9D9"/>
            </a:solidFill>
            <a:prstDash val="solid"/>
            <a:round/>
            <a:headEnd type="none" w="sm" len="sm"/>
            <a:tailEnd type="none" w="sm" len="sm"/>
          </a:ln>
        </p:spPr>
        <p:txBody>
          <a:bodyPr spcFirstLastPara="1" wrap="square" lIns="112100" tIns="112100" rIns="112100" bIns="112100" anchor="ctr" anchorCtr="0">
            <a:noAutofit/>
          </a:bodyPr>
          <a:lstStyle/>
          <a:p>
            <a:pPr marL="0" lvl="0" indent="0" algn="ctr" rtl="0">
              <a:spcBef>
                <a:spcPts val="0"/>
              </a:spcBef>
              <a:spcAft>
                <a:spcPts val="0"/>
              </a:spcAft>
              <a:buNone/>
            </a:pPr>
            <a:endParaRPr sz="1717">
              <a:solidFill>
                <a:schemeClr val="lt1"/>
              </a:solidFill>
            </a:endParaRPr>
          </a:p>
        </p:txBody>
      </p:sp>
      <p:sp>
        <p:nvSpPr>
          <p:cNvPr id="320" name="Google Shape;320;p55"/>
          <p:cNvSpPr/>
          <p:nvPr/>
        </p:nvSpPr>
        <p:spPr>
          <a:xfrm>
            <a:off x="3910350" y="1467596"/>
            <a:ext cx="2286300" cy="2183400"/>
          </a:xfrm>
          <a:prstGeom prst="rect">
            <a:avLst/>
          </a:prstGeom>
          <a:solidFill>
            <a:srgbClr val="F3F3F3"/>
          </a:solidFill>
          <a:ln w="11675" cap="flat" cmpd="sng">
            <a:solidFill>
              <a:schemeClr val="dk2"/>
            </a:solidFill>
            <a:prstDash val="dash"/>
            <a:round/>
            <a:headEnd type="none" w="sm" len="sm"/>
            <a:tailEnd type="none" w="sm" len="sm"/>
          </a:ln>
        </p:spPr>
        <p:txBody>
          <a:bodyPr spcFirstLastPara="1" wrap="square" lIns="112100" tIns="112100" rIns="112100" bIns="112100" anchor="ctr" anchorCtr="0">
            <a:noAutofit/>
          </a:bodyPr>
          <a:lstStyle/>
          <a:p>
            <a:pPr marL="0" lvl="0" indent="0" algn="ctr" rtl="0">
              <a:spcBef>
                <a:spcPts val="0"/>
              </a:spcBef>
              <a:spcAft>
                <a:spcPts val="0"/>
              </a:spcAft>
              <a:buNone/>
            </a:pPr>
            <a:endParaRPr sz="1717">
              <a:latin typeface="Montserrat"/>
              <a:ea typeface="Montserrat"/>
              <a:cs typeface="Montserrat"/>
              <a:sym typeface="Montserrat"/>
            </a:endParaRPr>
          </a:p>
        </p:txBody>
      </p:sp>
      <p:sp>
        <p:nvSpPr>
          <p:cNvPr id="321" name="Google Shape;321;p55"/>
          <p:cNvSpPr/>
          <p:nvPr/>
        </p:nvSpPr>
        <p:spPr>
          <a:xfrm>
            <a:off x="3723475" y="1280721"/>
            <a:ext cx="2286300" cy="2183400"/>
          </a:xfrm>
          <a:prstGeom prst="rect">
            <a:avLst/>
          </a:prstGeom>
          <a:solidFill>
            <a:srgbClr val="F3F3F3"/>
          </a:solidFill>
          <a:ln w="11675" cap="flat" cmpd="sng">
            <a:solidFill>
              <a:schemeClr val="dk2"/>
            </a:solidFill>
            <a:prstDash val="lgDash"/>
            <a:round/>
            <a:headEnd type="none" w="sm" len="sm"/>
            <a:tailEnd type="none" w="sm" len="sm"/>
          </a:ln>
        </p:spPr>
        <p:txBody>
          <a:bodyPr spcFirstLastPara="1" wrap="square" lIns="112100" tIns="112100" rIns="112100" bIns="112100" anchor="ctr" anchorCtr="0">
            <a:noAutofit/>
          </a:bodyPr>
          <a:lstStyle/>
          <a:p>
            <a:pPr marL="0" lvl="0" indent="0" algn="ctr" rtl="0">
              <a:spcBef>
                <a:spcPts val="0"/>
              </a:spcBef>
              <a:spcAft>
                <a:spcPts val="0"/>
              </a:spcAft>
              <a:buNone/>
            </a:pPr>
            <a:endParaRPr sz="1717">
              <a:latin typeface="Montserrat"/>
              <a:ea typeface="Montserrat"/>
              <a:cs typeface="Montserrat"/>
              <a:sym typeface="Montserrat"/>
            </a:endParaRPr>
          </a:p>
        </p:txBody>
      </p:sp>
      <p:sp>
        <p:nvSpPr>
          <p:cNvPr id="322" name="Google Shape;322;p55"/>
          <p:cNvSpPr/>
          <p:nvPr/>
        </p:nvSpPr>
        <p:spPr>
          <a:xfrm>
            <a:off x="3536600" y="1093846"/>
            <a:ext cx="2286300" cy="2183400"/>
          </a:xfrm>
          <a:prstGeom prst="rect">
            <a:avLst/>
          </a:prstGeom>
          <a:solidFill>
            <a:srgbClr val="F3F3F3"/>
          </a:solidFill>
          <a:ln w="11675" cap="flat" cmpd="sng">
            <a:solidFill>
              <a:schemeClr val="dk2"/>
            </a:solidFill>
            <a:prstDash val="solid"/>
            <a:round/>
            <a:headEnd type="none" w="sm" len="sm"/>
            <a:tailEnd type="none" w="sm" len="sm"/>
          </a:ln>
        </p:spPr>
        <p:txBody>
          <a:bodyPr spcFirstLastPara="1" wrap="square" lIns="112100" tIns="112100" rIns="112100" bIns="112100" anchor="ctr" anchorCtr="0">
            <a:noAutofit/>
          </a:bodyPr>
          <a:lstStyle/>
          <a:p>
            <a:pPr marL="0" lvl="0" indent="0" algn="ctr" rtl="0">
              <a:spcBef>
                <a:spcPts val="0"/>
              </a:spcBef>
              <a:spcAft>
                <a:spcPts val="0"/>
              </a:spcAft>
              <a:buNone/>
            </a:pPr>
            <a:endParaRPr sz="1717">
              <a:latin typeface="Montserrat"/>
              <a:ea typeface="Montserrat"/>
              <a:cs typeface="Montserrat"/>
              <a:sym typeface="Montserrat"/>
            </a:endParaRPr>
          </a:p>
        </p:txBody>
      </p:sp>
      <p:sp>
        <p:nvSpPr>
          <p:cNvPr id="323" name="Google Shape;323;p55"/>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POC Deployment</a:t>
            </a:r>
            <a:endParaRPr sz="2200"/>
          </a:p>
        </p:txBody>
      </p:sp>
      <p:sp>
        <p:nvSpPr>
          <p:cNvPr id="324" name="Google Shape;324;p55"/>
          <p:cNvSpPr/>
          <p:nvPr/>
        </p:nvSpPr>
        <p:spPr>
          <a:xfrm>
            <a:off x="3676266" y="2409666"/>
            <a:ext cx="2021400" cy="338100"/>
          </a:xfrm>
          <a:prstGeom prst="rect">
            <a:avLst/>
          </a:prstGeom>
          <a:solidFill>
            <a:srgbClr val="9FC5E8"/>
          </a:solidFill>
          <a:ln w="11675" cap="flat" cmpd="sng">
            <a:solidFill>
              <a:schemeClr val="dk2"/>
            </a:solidFill>
            <a:prstDash val="solid"/>
            <a:round/>
            <a:headEnd type="none" w="sm" len="sm"/>
            <a:tailEnd type="none" w="sm" len="sm"/>
          </a:ln>
        </p:spPr>
        <p:txBody>
          <a:bodyPr spcFirstLastPara="1" wrap="square" lIns="112100" tIns="112100" rIns="112100" bIns="112100" anchor="ctr" anchorCtr="0">
            <a:noAutofit/>
          </a:bodyPr>
          <a:lstStyle/>
          <a:p>
            <a:pPr marL="0" lvl="0" indent="0" algn="ctr" rtl="0">
              <a:spcBef>
                <a:spcPts val="0"/>
              </a:spcBef>
              <a:spcAft>
                <a:spcPts val="0"/>
              </a:spcAft>
              <a:buNone/>
            </a:pPr>
            <a:r>
              <a:rPr lang="en" sz="1717" b="1">
                <a:latin typeface="Space Grotesk"/>
                <a:ea typeface="Space Grotesk"/>
                <a:cs typeface="Space Grotesk"/>
                <a:sym typeface="Space Grotesk"/>
              </a:rPr>
              <a:t>Desktop App</a:t>
            </a:r>
            <a:endParaRPr sz="1717" b="1">
              <a:latin typeface="Space Grotesk"/>
              <a:ea typeface="Space Grotesk"/>
              <a:cs typeface="Space Grotesk"/>
              <a:sym typeface="Space Grotesk"/>
            </a:endParaRPr>
          </a:p>
        </p:txBody>
      </p:sp>
      <p:sp>
        <p:nvSpPr>
          <p:cNvPr id="325" name="Google Shape;325;p55"/>
          <p:cNvSpPr/>
          <p:nvPr/>
        </p:nvSpPr>
        <p:spPr>
          <a:xfrm>
            <a:off x="3981777" y="2861158"/>
            <a:ext cx="1410300" cy="217500"/>
          </a:xfrm>
          <a:prstGeom prst="rect">
            <a:avLst/>
          </a:prstGeom>
          <a:solidFill>
            <a:srgbClr val="FFF2CC"/>
          </a:solidFill>
          <a:ln w="11675" cap="flat" cmpd="sng">
            <a:solidFill>
              <a:schemeClr val="dk2"/>
            </a:solidFill>
            <a:prstDash val="solid"/>
            <a:round/>
            <a:headEnd type="none" w="sm" len="sm"/>
            <a:tailEnd type="none" w="sm" len="sm"/>
          </a:ln>
        </p:spPr>
        <p:txBody>
          <a:bodyPr spcFirstLastPara="1" wrap="square" lIns="112100" tIns="112100" rIns="112100" bIns="112100" anchor="ctr" anchorCtr="0">
            <a:noAutofit/>
          </a:bodyPr>
          <a:lstStyle/>
          <a:p>
            <a:pPr marL="0" lvl="0" indent="0" algn="ctr" rtl="0">
              <a:spcBef>
                <a:spcPts val="0"/>
              </a:spcBef>
              <a:spcAft>
                <a:spcPts val="0"/>
              </a:spcAft>
              <a:buNone/>
            </a:pPr>
            <a:r>
              <a:rPr lang="en" sz="981" b="1">
                <a:latin typeface="Space Grotesk"/>
                <a:ea typeface="Space Grotesk"/>
                <a:cs typeface="Space Grotesk"/>
                <a:sym typeface="Space Grotesk"/>
              </a:rPr>
              <a:t>AccuKnox EDR</a:t>
            </a:r>
            <a:endParaRPr sz="981" b="1">
              <a:latin typeface="Space Grotesk"/>
              <a:ea typeface="Space Grotesk"/>
              <a:cs typeface="Space Grotesk"/>
              <a:sym typeface="Space Grotesk"/>
            </a:endParaRPr>
          </a:p>
        </p:txBody>
      </p:sp>
      <p:pic>
        <p:nvPicPr>
          <p:cNvPr id="326" name="Google Shape;326;p55" title="File:User icon 2.svg - Wikipedia"/>
          <p:cNvPicPr preferRelativeResize="0"/>
          <p:nvPr/>
        </p:nvPicPr>
        <p:blipFill>
          <a:blip r:embed="rId3">
            <a:alphaModFix/>
          </a:blip>
          <a:stretch>
            <a:fillRect/>
          </a:stretch>
        </p:blipFill>
        <p:spPr>
          <a:xfrm>
            <a:off x="1664936" y="2252435"/>
            <a:ext cx="613597" cy="613597"/>
          </a:xfrm>
          <a:prstGeom prst="rect">
            <a:avLst/>
          </a:prstGeom>
          <a:noFill/>
          <a:ln>
            <a:noFill/>
          </a:ln>
        </p:spPr>
      </p:pic>
      <p:cxnSp>
        <p:nvCxnSpPr>
          <p:cNvPr id="327" name="Google Shape;327;p55"/>
          <p:cNvCxnSpPr>
            <a:stCxn id="319" idx="6"/>
            <a:endCxn id="324" idx="1"/>
          </p:cNvCxnSpPr>
          <p:nvPr/>
        </p:nvCxnSpPr>
        <p:spPr>
          <a:xfrm>
            <a:off x="2405323" y="2578638"/>
            <a:ext cx="1270800" cy="0"/>
          </a:xfrm>
          <a:prstGeom prst="straightConnector1">
            <a:avLst/>
          </a:prstGeom>
          <a:noFill/>
          <a:ln w="11675" cap="flat" cmpd="sng">
            <a:solidFill>
              <a:schemeClr val="dk2"/>
            </a:solidFill>
            <a:prstDash val="solid"/>
            <a:round/>
            <a:headEnd type="none" w="med" len="med"/>
            <a:tailEnd type="triangle" w="med" len="med"/>
          </a:ln>
        </p:spPr>
      </p:cxnSp>
      <p:sp>
        <p:nvSpPr>
          <p:cNvPr id="328" name="Google Shape;328;p55"/>
          <p:cNvSpPr/>
          <p:nvPr/>
        </p:nvSpPr>
        <p:spPr>
          <a:xfrm>
            <a:off x="6532549" y="2189131"/>
            <a:ext cx="1842000" cy="779100"/>
          </a:xfrm>
          <a:prstGeom prst="rect">
            <a:avLst/>
          </a:prstGeom>
          <a:solidFill>
            <a:srgbClr val="9FC5E8"/>
          </a:solidFill>
          <a:ln w="11675" cap="flat" cmpd="sng">
            <a:solidFill>
              <a:schemeClr val="dk2"/>
            </a:solidFill>
            <a:prstDash val="solid"/>
            <a:round/>
            <a:headEnd type="none" w="sm" len="sm"/>
            <a:tailEnd type="none" w="sm" len="sm"/>
          </a:ln>
        </p:spPr>
        <p:txBody>
          <a:bodyPr spcFirstLastPara="1" wrap="square" lIns="112100" tIns="112100" rIns="112100" bIns="112100" anchor="ctr" anchorCtr="0">
            <a:noAutofit/>
          </a:bodyPr>
          <a:lstStyle/>
          <a:p>
            <a:pPr marL="0" lvl="0" indent="0" algn="ctr" rtl="0">
              <a:spcBef>
                <a:spcPts val="0"/>
              </a:spcBef>
              <a:spcAft>
                <a:spcPts val="0"/>
              </a:spcAft>
              <a:buNone/>
            </a:pPr>
            <a:r>
              <a:rPr lang="en" sz="1717" b="1">
                <a:latin typeface="Space Grotesk"/>
                <a:ea typeface="Space Grotesk"/>
                <a:cs typeface="Space Grotesk"/>
                <a:sym typeface="Space Grotesk"/>
              </a:rPr>
              <a:t>Management Portal</a:t>
            </a:r>
            <a:endParaRPr sz="1717" b="1">
              <a:latin typeface="Space Grotesk"/>
              <a:ea typeface="Space Grotesk"/>
              <a:cs typeface="Space Grotesk"/>
              <a:sym typeface="Space Grotesk"/>
            </a:endParaRPr>
          </a:p>
        </p:txBody>
      </p:sp>
      <p:cxnSp>
        <p:nvCxnSpPr>
          <p:cNvPr id="329" name="Google Shape;329;p55"/>
          <p:cNvCxnSpPr>
            <a:stCxn id="324" idx="3"/>
            <a:endCxn id="328" idx="1"/>
          </p:cNvCxnSpPr>
          <p:nvPr/>
        </p:nvCxnSpPr>
        <p:spPr>
          <a:xfrm>
            <a:off x="5697666" y="2578716"/>
            <a:ext cx="834900" cy="0"/>
          </a:xfrm>
          <a:prstGeom prst="straightConnector1">
            <a:avLst/>
          </a:prstGeom>
          <a:noFill/>
          <a:ln w="23350" cap="flat" cmpd="sng">
            <a:solidFill>
              <a:schemeClr val="dk2"/>
            </a:solidFill>
            <a:prstDash val="solid"/>
            <a:round/>
            <a:headEnd type="none" w="med" len="med"/>
            <a:tailEnd type="triangle" w="med" len="med"/>
          </a:ln>
        </p:spPr>
      </p:cxnSp>
      <p:sp>
        <p:nvSpPr>
          <p:cNvPr id="330" name="Google Shape;330;p55"/>
          <p:cNvSpPr/>
          <p:nvPr/>
        </p:nvSpPr>
        <p:spPr>
          <a:xfrm>
            <a:off x="3900939" y="4173423"/>
            <a:ext cx="1572000" cy="668700"/>
          </a:xfrm>
          <a:prstGeom prst="rect">
            <a:avLst/>
          </a:prstGeom>
          <a:solidFill>
            <a:srgbClr val="FFF2CC"/>
          </a:solidFill>
          <a:ln w="11675" cap="flat" cmpd="sng">
            <a:solidFill>
              <a:schemeClr val="dk2"/>
            </a:solidFill>
            <a:prstDash val="solid"/>
            <a:round/>
            <a:headEnd type="none" w="sm" len="sm"/>
            <a:tailEnd type="none" w="sm" len="sm"/>
          </a:ln>
        </p:spPr>
        <p:txBody>
          <a:bodyPr spcFirstLastPara="1" wrap="square" lIns="112100" tIns="112100" rIns="112100" bIns="112100" anchor="ctr" anchorCtr="0">
            <a:noAutofit/>
          </a:bodyPr>
          <a:lstStyle/>
          <a:p>
            <a:pPr marL="0" lvl="0" indent="0" algn="ctr" rtl="0">
              <a:spcBef>
                <a:spcPts val="0"/>
              </a:spcBef>
              <a:spcAft>
                <a:spcPts val="0"/>
              </a:spcAft>
              <a:buNone/>
            </a:pPr>
            <a:r>
              <a:rPr lang="en" sz="1226" b="1">
                <a:latin typeface="Space Grotesk"/>
                <a:ea typeface="Space Grotesk"/>
                <a:cs typeface="Space Grotesk"/>
                <a:sym typeface="Space Grotesk"/>
              </a:rPr>
              <a:t>AccuKnox Security Portal</a:t>
            </a:r>
            <a:endParaRPr sz="1226" b="1">
              <a:latin typeface="Space Grotesk"/>
              <a:ea typeface="Space Grotesk"/>
              <a:cs typeface="Space Grotesk"/>
              <a:sym typeface="Space Grotesk"/>
            </a:endParaRPr>
          </a:p>
        </p:txBody>
      </p:sp>
      <p:cxnSp>
        <p:nvCxnSpPr>
          <p:cNvPr id="331" name="Google Shape;331;p55"/>
          <p:cNvCxnSpPr>
            <a:stCxn id="325" idx="2"/>
            <a:endCxn id="330" idx="0"/>
          </p:cNvCxnSpPr>
          <p:nvPr/>
        </p:nvCxnSpPr>
        <p:spPr>
          <a:xfrm>
            <a:off x="4686927" y="3078658"/>
            <a:ext cx="0" cy="1094700"/>
          </a:xfrm>
          <a:prstGeom prst="straightConnector1">
            <a:avLst/>
          </a:prstGeom>
          <a:noFill/>
          <a:ln w="11675" cap="flat" cmpd="sng">
            <a:solidFill>
              <a:schemeClr val="dk2"/>
            </a:solidFill>
            <a:prstDash val="dash"/>
            <a:round/>
            <a:headEnd type="none" w="med" len="med"/>
            <a:tailEnd type="triangle" w="med" len="med"/>
          </a:ln>
        </p:spPr>
      </p:cxnSp>
      <p:sp>
        <p:nvSpPr>
          <p:cNvPr id="332" name="Google Shape;332;p55"/>
          <p:cNvSpPr/>
          <p:nvPr/>
        </p:nvSpPr>
        <p:spPr>
          <a:xfrm>
            <a:off x="3543742" y="805900"/>
            <a:ext cx="2286300" cy="240300"/>
          </a:xfrm>
          <a:prstGeom prst="rect">
            <a:avLst/>
          </a:prstGeom>
          <a:solidFill>
            <a:srgbClr val="F3F3F3"/>
          </a:solidFill>
          <a:ln w="11675" cap="flat" cmpd="sng">
            <a:solidFill>
              <a:schemeClr val="dk2"/>
            </a:solidFill>
            <a:prstDash val="solid"/>
            <a:round/>
            <a:headEnd type="none" w="sm" len="sm"/>
            <a:tailEnd type="none" w="sm" len="sm"/>
          </a:ln>
        </p:spPr>
        <p:txBody>
          <a:bodyPr spcFirstLastPara="1" wrap="square" lIns="112100" tIns="112100" rIns="112100" bIns="112100" anchor="ctr" anchorCtr="0">
            <a:noAutofit/>
          </a:bodyPr>
          <a:lstStyle/>
          <a:p>
            <a:pPr marL="0" lvl="0" indent="0" algn="ctr" rtl="0">
              <a:spcBef>
                <a:spcPts val="0"/>
              </a:spcBef>
              <a:spcAft>
                <a:spcPts val="0"/>
              </a:spcAft>
              <a:buNone/>
            </a:pPr>
            <a:r>
              <a:rPr lang="en" sz="1717" b="1">
                <a:latin typeface="Space Grotesk"/>
                <a:ea typeface="Space Grotesk"/>
                <a:cs typeface="Space Grotesk"/>
                <a:sym typeface="Space Grotesk"/>
              </a:rPr>
              <a:t>.. N devices --</a:t>
            </a:r>
            <a:endParaRPr sz="1717" b="1">
              <a:latin typeface="Space Grotesk"/>
              <a:ea typeface="Space Grotesk"/>
              <a:cs typeface="Space Grotesk"/>
              <a:sym typeface="Space Grotesk"/>
            </a:endParaRPr>
          </a:p>
        </p:txBody>
      </p:sp>
      <p:sp>
        <p:nvSpPr>
          <p:cNvPr id="333" name="Google Shape;333;p55"/>
          <p:cNvSpPr/>
          <p:nvPr/>
        </p:nvSpPr>
        <p:spPr>
          <a:xfrm>
            <a:off x="6532549" y="4201012"/>
            <a:ext cx="1842000" cy="613500"/>
          </a:xfrm>
          <a:prstGeom prst="rect">
            <a:avLst/>
          </a:prstGeom>
          <a:solidFill>
            <a:srgbClr val="9FC5E8"/>
          </a:solidFill>
          <a:ln w="11675" cap="flat" cmpd="sng">
            <a:solidFill>
              <a:schemeClr val="dk2"/>
            </a:solidFill>
            <a:prstDash val="solid"/>
            <a:round/>
            <a:headEnd type="none" w="sm" len="sm"/>
            <a:tailEnd type="none" w="sm" len="sm"/>
          </a:ln>
        </p:spPr>
        <p:txBody>
          <a:bodyPr spcFirstLastPara="1" wrap="square" lIns="112100" tIns="112100" rIns="112100" bIns="112100" anchor="ctr" anchorCtr="0">
            <a:noAutofit/>
          </a:bodyPr>
          <a:lstStyle/>
          <a:p>
            <a:pPr marL="0" lvl="0" indent="0" algn="ctr" rtl="0">
              <a:spcBef>
                <a:spcPts val="0"/>
              </a:spcBef>
              <a:spcAft>
                <a:spcPts val="0"/>
              </a:spcAft>
              <a:buNone/>
            </a:pPr>
            <a:r>
              <a:rPr lang="en" sz="1717" b="1">
                <a:latin typeface="Space Grotesk"/>
                <a:ea typeface="Space Grotesk"/>
                <a:cs typeface="Space Grotesk"/>
                <a:sym typeface="Space Grotesk"/>
              </a:rPr>
              <a:t>Management</a:t>
            </a:r>
            <a:endParaRPr sz="1717" b="1">
              <a:latin typeface="Space Grotesk"/>
              <a:ea typeface="Space Grotesk"/>
              <a:cs typeface="Space Grotesk"/>
              <a:sym typeface="Space Grotesk"/>
            </a:endParaRPr>
          </a:p>
        </p:txBody>
      </p:sp>
      <p:cxnSp>
        <p:nvCxnSpPr>
          <p:cNvPr id="334" name="Google Shape;334;p55"/>
          <p:cNvCxnSpPr>
            <a:stCxn id="330" idx="3"/>
            <a:endCxn id="333" idx="1"/>
          </p:cNvCxnSpPr>
          <p:nvPr/>
        </p:nvCxnSpPr>
        <p:spPr>
          <a:xfrm>
            <a:off x="5472939" y="4507773"/>
            <a:ext cx="1059600" cy="0"/>
          </a:xfrm>
          <a:prstGeom prst="straightConnector1">
            <a:avLst/>
          </a:prstGeom>
          <a:noFill/>
          <a:ln w="11675" cap="flat" cmpd="sng">
            <a:solidFill>
              <a:schemeClr val="dk2"/>
            </a:solidFill>
            <a:prstDash val="solid"/>
            <a:round/>
            <a:headEnd type="none" w="med" len="med"/>
            <a:tailEnd type="triangle" w="med" len="med"/>
          </a:ln>
        </p:spPr>
      </p:cxnSp>
      <p:sp>
        <p:nvSpPr>
          <p:cNvPr id="335" name="Google Shape;335;p55"/>
          <p:cNvSpPr/>
          <p:nvPr/>
        </p:nvSpPr>
        <p:spPr>
          <a:xfrm>
            <a:off x="769463" y="1256381"/>
            <a:ext cx="1749300" cy="770400"/>
          </a:xfrm>
          <a:prstGeom prst="rect">
            <a:avLst/>
          </a:prstGeom>
          <a:solidFill>
            <a:srgbClr val="D9EAD3"/>
          </a:solidFill>
          <a:ln w="11675" cap="flat" cmpd="sng">
            <a:solidFill>
              <a:schemeClr val="dk2"/>
            </a:solidFill>
            <a:prstDash val="solid"/>
            <a:round/>
            <a:headEnd type="none" w="sm" len="sm"/>
            <a:tailEnd type="none" w="sm" len="sm"/>
          </a:ln>
        </p:spPr>
        <p:txBody>
          <a:bodyPr spcFirstLastPara="1" wrap="square" lIns="0" tIns="112100" rIns="0" bIns="112100" anchor="ctr" anchorCtr="0">
            <a:noAutofit/>
          </a:bodyPr>
          <a:lstStyle/>
          <a:p>
            <a:pPr marL="224250" lvl="0" indent="-126141" algn="l" rtl="0">
              <a:spcBef>
                <a:spcPts val="0"/>
              </a:spcBef>
              <a:spcAft>
                <a:spcPts val="0"/>
              </a:spcAft>
              <a:buSzPts val="1104"/>
              <a:buFont typeface="Space Grotesk"/>
              <a:buChar char="●"/>
            </a:pPr>
            <a:r>
              <a:rPr lang="en" sz="1104" b="1">
                <a:latin typeface="Space Grotesk"/>
                <a:ea typeface="Space Grotesk"/>
                <a:cs typeface="Space Grotesk"/>
                <a:sym typeface="Space Grotesk"/>
              </a:rPr>
              <a:t>Kubearmor enforcer</a:t>
            </a:r>
            <a:endParaRPr sz="1104" b="1">
              <a:latin typeface="Space Grotesk"/>
              <a:ea typeface="Space Grotesk"/>
              <a:cs typeface="Space Grotesk"/>
              <a:sym typeface="Space Grotesk"/>
            </a:endParaRPr>
          </a:p>
          <a:p>
            <a:pPr marL="224250" lvl="0" indent="-126141" algn="l" rtl="0">
              <a:spcBef>
                <a:spcPts val="0"/>
              </a:spcBef>
              <a:spcAft>
                <a:spcPts val="0"/>
              </a:spcAft>
              <a:buSzPts val="1104"/>
              <a:buFont typeface="Space Grotesk"/>
              <a:buChar char="●"/>
            </a:pPr>
            <a:r>
              <a:rPr lang="en" sz="1104" b="1">
                <a:latin typeface="Space Grotesk"/>
                <a:ea typeface="Space Grotesk"/>
                <a:cs typeface="Space Grotesk"/>
                <a:sym typeface="Space Grotesk"/>
              </a:rPr>
              <a:t>summary-engine</a:t>
            </a:r>
            <a:endParaRPr sz="1104" b="1">
              <a:latin typeface="Space Grotesk"/>
              <a:ea typeface="Space Grotesk"/>
              <a:cs typeface="Space Grotesk"/>
              <a:sym typeface="Space Grotesk"/>
            </a:endParaRPr>
          </a:p>
          <a:p>
            <a:pPr marL="224250" lvl="0" indent="-126141" algn="l" rtl="0">
              <a:spcBef>
                <a:spcPts val="0"/>
              </a:spcBef>
              <a:spcAft>
                <a:spcPts val="0"/>
              </a:spcAft>
              <a:buSzPts val="1104"/>
              <a:buFont typeface="Space Grotesk"/>
              <a:buChar char="●"/>
            </a:pPr>
            <a:r>
              <a:rPr lang="en" sz="1104" b="1">
                <a:latin typeface="Space Grotesk"/>
                <a:ea typeface="Space Grotesk"/>
                <a:cs typeface="Space Grotesk"/>
                <a:sym typeface="Space Grotesk"/>
              </a:rPr>
              <a:t>vm-adapter</a:t>
            </a:r>
            <a:endParaRPr sz="1104" b="1">
              <a:latin typeface="Space Grotesk"/>
              <a:ea typeface="Space Grotesk"/>
              <a:cs typeface="Space Grotesk"/>
              <a:sym typeface="Space Grotesk"/>
            </a:endParaRPr>
          </a:p>
        </p:txBody>
      </p:sp>
      <p:sp>
        <p:nvSpPr>
          <p:cNvPr id="336" name="Google Shape;336;p55"/>
          <p:cNvSpPr/>
          <p:nvPr/>
        </p:nvSpPr>
        <p:spPr>
          <a:xfrm>
            <a:off x="3386358" y="4306314"/>
            <a:ext cx="514500" cy="338100"/>
          </a:xfrm>
          <a:prstGeom prst="rect">
            <a:avLst/>
          </a:prstGeom>
          <a:solidFill>
            <a:srgbClr val="FFF2CC"/>
          </a:solidFill>
          <a:ln w="11675" cap="flat" cmpd="sng">
            <a:solidFill>
              <a:schemeClr val="dk2"/>
            </a:solidFill>
            <a:prstDash val="solid"/>
            <a:round/>
            <a:headEnd type="none" w="sm" len="sm"/>
            <a:tailEnd type="none" w="sm" len="sm"/>
          </a:ln>
        </p:spPr>
        <p:txBody>
          <a:bodyPr spcFirstLastPara="1" wrap="square" lIns="112100" tIns="112100" rIns="112100" bIns="112100" anchor="ctr" anchorCtr="0">
            <a:noAutofit/>
          </a:bodyPr>
          <a:lstStyle/>
          <a:p>
            <a:pPr marL="0" lvl="0" indent="0" algn="ctr" rtl="0">
              <a:spcBef>
                <a:spcPts val="0"/>
              </a:spcBef>
              <a:spcAft>
                <a:spcPts val="0"/>
              </a:spcAft>
              <a:buNone/>
            </a:pPr>
            <a:r>
              <a:rPr lang="en" sz="1226" b="1">
                <a:latin typeface="Space Grotesk"/>
                <a:ea typeface="Space Grotesk"/>
                <a:cs typeface="Space Grotesk"/>
                <a:sym typeface="Space Grotesk"/>
              </a:rPr>
              <a:t>VM CP</a:t>
            </a:r>
            <a:endParaRPr sz="1226" b="1">
              <a:latin typeface="Space Grotesk"/>
              <a:ea typeface="Space Grotesk"/>
              <a:cs typeface="Space Grotesk"/>
              <a:sym typeface="Space Grotesk"/>
            </a:endParaRPr>
          </a:p>
        </p:txBody>
      </p:sp>
      <p:cxnSp>
        <p:nvCxnSpPr>
          <p:cNvPr id="337" name="Google Shape;337;p55"/>
          <p:cNvCxnSpPr>
            <a:stCxn id="325" idx="1"/>
            <a:endCxn id="336" idx="0"/>
          </p:cNvCxnSpPr>
          <p:nvPr/>
        </p:nvCxnSpPr>
        <p:spPr>
          <a:xfrm flipH="1">
            <a:off x="3643677" y="2969908"/>
            <a:ext cx="338100" cy="1336500"/>
          </a:xfrm>
          <a:prstGeom prst="bentConnector2">
            <a:avLst/>
          </a:prstGeom>
          <a:noFill/>
          <a:ln w="46725" cap="flat" cmpd="sng">
            <a:solidFill>
              <a:srgbClr val="980000"/>
            </a:solidFill>
            <a:prstDash val="solid"/>
            <a:round/>
            <a:headEnd type="none" w="med" len="med"/>
            <a:tailEnd type="none" w="med" len="med"/>
          </a:ln>
        </p:spPr>
      </p:cxnSp>
      <p:cxnSp>
        <p:nvCxnSpPr>
          <p:cNvPr id="338" name="Google Shape;338;p55"/>
          <p:cNvCxnSpPr>
            <a:stCxn id="325" idx="1"/>
            <a:endCxn id="335" idx="3"/>
          </p:cNvCxnSpPr>
          <p:nvPr/>
        </p:nvCxnSpPr>
        <p:spPr>
          <a:xfrm rot="10800000">
            <a:off x="2518677" y="1641508"/>
            <a:ext cx="1463100" cy="1328400"/>
          </a:xfrm>
          <a:prstGeom prst="straightConnector1">
            <a:avLst/>
          </a:prstGeom>
          <a:noFill/>
          <a:ln w="11675" cap="flat" cmpd="sng">
            <a:solidFill>
              <a:schemeClr val="dk2"/>
            </a:solidFill>
            <a:prstDash val="solid"/>
            <a:round/>
            <a:headEnd type="none" w="med" len="med"/>
            <a:tailEnd type="none" w="med" len="med"/>
          </a:ln>
        </p:spPr>
      </p:cxnSp>
      <p:sp>
        <p:nvSpPr>
          <p:cNvPr id="339" name="Google Shape;339;p55"/>
          <p:cNvSpPr/>
          <p:nvPr/>
        </p:nvSpPr>
        <p:spPr>
          <a:xfrm>
            <a:off x="946926" y="3753659"/>
            <a:ext cx="1572000" cy="743400"/>
          </a:xfrm>
          <a:prstGeom prst="rect">
            <a:avLst/>
          </a:prstGeom>
          <a:solidFill>
            <a:srgbClr val="D9EAD3"/>
          </a:solidFill>
          <a:ln w="11675" cap="flat" cmpd="sng">
            <a:solidFill>
              <a:schemeClr val="dk2"/>
            </a:solidFill>
            <a:prstDash val="solid"/>
            <a:round/>
            <a:headEnd type="none" w="sm" len="sm"/>
            <a:tailEnd type="none" w="sm" len="sm"/>
          </a:ln>
        </p:spPr>
        <p:txBody>
          <a:bodyPr spcFirstLastPara="1" wrap="square" lIns="0" tIns="112100" rIns="0" bIns="112100" anchor="ctr" anchorCtr="0">
            <a:noAutofit/>
          </a:bodyPr>
          <a:lstStyle/>
          <a:p>
            <a:pPr marL="224250" lvl="0" indent="-126141" algn="l" rtl="0">
              <a:spcBef>
                <a:spcPts val="0"/>
              </a:spcBef>
              <a:spcAft>
                <a:spcPts val="0"/>
              </a:spcAft>
              <a:buSzPts val="1104"/>
              <a:buFont typeface="Space Grotesk"/>
              <a:buChar char="●"/>
            </a:pPr>
            <a:r>
              <a:rPr lang="en" sz="1104" b="1">
                <a:latin typeface="Space Grotesk"/>
                <a:ea typeface="Space Grotesk"/>
                <a:cs typeface="Space Grotesk"/>
                <a:sym typeface="Space Grotesk"/>
              </a:rPr>
              <a:t>RMQ</a:t>
            </a:r>
            <a:endParaRPr sz="1104" b="1">
              <a:latin typeface="Space Grotesk"/>
              <a:ea typeface="Space Grotesk"/>
              <a:cs typeface="Space Grotesk"/>
              <a:sym typeface="Space Grotesk"/>
            </a:endParaRPr>
          </a:p>
          <a:p>
            <a:pPr marL="224250" lvl="0" indent="-126141" algn="l" rtl="0">
              <a:spcBef>
                <a:spcPts val="0"/>
              </a:spcBef>
              <a:spcAft>
                <a:spcPts val="0"/>
              </a:spcAft>
              <a:buSzPts val="1104"/>
              <a:buFont typeface="Space Grotesk"/>
              <a:buChar char="●"/>
            </a:pPr>
            <a:r>
              <a:rPr lang="en" sz="1104" b="1">
                <a:latin typeface="Space Grotesk"/>
                <a:ea typeface="Space Grotesk"/>
                <a:cs typeface="Space Grotesk"/>
                <a:sym typeface="Space Grotesk"/>
              </a:rPr>
              <a:t>Feeder-Service</a:t>
            </a:r>
            <a:endParaRPr sz="1104" b="1">
              <a:latin typeface="Space Grotesk"/>
              <a:ea typeface="Space Grotesk"/>
              <a:cs typeface="Space Grotesk"/>
              <a:sym typeface="Space Grotesk"/>
            </a:endParaRPr>
          </a:p>
          <a:p>
            <a:pPr marL="224250" lvl="0" indent="-126141" algn="l" rtl="0">
              <a:spcBef>
                <a:spcPts val="0"/>
              </a:spcBef>
              <a:spcAft>
                <a:spcPts val="0"/>
              </a:spcAft>
              <a:buSzPts val="1104"/>
              <a:buFont typeface="Space Grotesk"/>
              <a:buChar char="●"/>
            </a:pPr>
            <a:r>
              <a:rPr lang="en" sz="1104" b="1">
                <a:latin typeface="Space Grotesk"/>
                <a:ea typeface="Space Grotesk"/>
                <a:cs typeface="Space Grotesk"/>
                <a:sym typeface="Space Grotesk"/>
              </a:rPr>
              <a:t>SIA / PEA</a:t>
            </a:r>
            <a:endParaRPr sz="1104" b="1">
              <a:latin typeface="Space Grotesk"/>
              <a:ea typeface="Space Grotesk"/>
              <a:cs typeface="Space Grotesk"/>
              <a:sym typeface="Space Grotesk"/>
            </a:endParaRPr>
          </a:p>
        </p:txBody>
      </p:sp>
      <p:cxnSp>
        <p:nvCxnSpPr>
          <p:cNvPr id="340" name="Google Shape;340;p55"/>
          <p:cNvCxnSpPr>
            <a:stCxn id="336" idx="1"/>
            <a:endCxn id="339" idx="3"/>
          </p:cNvCxnSpPr>
          <p:nvPr/>
        </p:nvCxnSpPr>
        <p:spPr>
          <a:xfrm rot="10800000">
            <a:off x="2519058" y="4125264"/>
            <a:ext cx="867300" cy="350100"/>
          </a:xfrm>
          <a:prstGeom prst="straightConnector1">
            <a:avLst/>
          </a:prstGeom>
          <a:noFill/>
          <a:ln w="11675" cap="flat" cmpd="sng">
            <a:solidFill>
              <a:schemeClr val="dk2"/>
            </a:solidFill>
            <a:prstDash val="solid"/>
            <a:round/>
            <a:headEnd type="none" w="med" len="med"/>
            <a:tailEnd type="none" w="med" len="med"/>
          </a:ln>
        </p:spPr>
      </p:cxnSp>
      <p:grpSp>
        <p:nvGrpSpPr>
          <p:cNvPr id="341" name="Google Shape;341;p55"/>
          <p:cNvGrpSpPr/>
          <p:nvPr/>
        </p:nvGrpSpPr>
        <p:grpSpPr>
          <a:xfrm>
            <a:off x="3851192" y="1280750"/>
            <a:ext cx="1657316" cy="1094710"/>
            <a:chOff x="5493326" y="1833325"/>
            <a:chExt cx="3432007" cy="2266950"/>
          </a:xfrm>
        </p:grpSpPr>
        <p:pic>
          <p:nvPicPr>
            <p:cNvPr id="342" name="Google Shape;342;p55"/>
            <p:cNvPicPr preferRelativeResize="0"/>
            <p:nvPr/>
          </p:nvPicPr>
          <p:blipFill>
            <a:blip r:embed="rId4">
              <a:alphaModFix/>
            </a:blip>
            <a:stretch>
              <a:fillRect/>
            </a:stretch>
          </p:blipFill>
          <p:spPr>
            <a:xfrm>
              <a:off x="5493326" y="1833325"/>
              <a:ext cx="3432007" cy="2266950"/>
            </a:xfrm>
            <a:prstGeom prst="rect">
              <a:avLst/>
            </a:prstGeom>
            <a:noFill/>
            <a:ln>
              <a:noFill/>
            </a:ln>
          </p:spPr>
        </p:pic>
        <p:sp>
          <p:nvSpPr>
            <p:cNvPr id="343" name="Google Shape;343;p55"/>
            <p:cNvSpPr/>
            <p:nvPr/>
          </p:nvSpPr>
          <p:spPr>
            <a:xfrm>
              <a:off x="6117950" y="1914825"/>
              <a:ext cx="2234400" cy="1346700"/>
            </a:xfrm>
            <a:prstGeom prst="rect">
              <a:avLst/>
            </a:prstGeom>
            <a:solidFill>
              <a:schemeClr val="lt1"/>
            </a:solidFill>
            <a:ln>
              <a:noFill/>
            </a:ln>
          </p:spPr>
          <p:txBody>
            <a:bodyPr spcFirstLastPara="1" wrap="square" lIns="44150" tIns="44150" rIns="44150" bIns="44150" anchor="ctr" anchorCtr="0">
              <a:noAutofit/>
            </a:bodyPr>
            <a:lstStyle/>
            <a:p>
              <a:pPr marL="0" lvl="0" indent="0" algn="ctr" rtl="0">
                <a:spcBef>
                  <a:spcPts val="0"/>
                </a:spcBef>
                <a:spcAft>
                  <a:spcPts val="0"/>
                </a:spcAft>
                <a:buNone/>
              </a:pPr>
              <a:endParaRPr sz="676">
                <a:solidFill>
                  <a:schemeClr val="lt1"/>
                </a:solidFill>
              </a:endParaRPr>
            </a:p>
          </p:txBody>
        </p:sp>
        <p:pic>
          <p:nvPicPr>
            <p:cNvPr id="344" name="Google Shape;344;p55"/>
            <p:cNvPicPr preferRelativeResize="0"/>
            <p:nvPr/>
          </p:nvPicPr>
          <p:blipFill rotWithShape="1">
            <a:blip r:embed="rId5">
              <a:alphaModFix/>
            </a:blip>
            <a:srcRect l="10455" t="38643" r="9857" b="39734"/>
            <a:stretch/>
          </p:blipFill>
          <p:spPr>
            <a:xfrm>
              <a:off x="6228613" y="2268223"/>
              <a:ext cx="2021778" cy="548600"/>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graphicFrame>
        <p:nvGraphicFramePr>
          <p:cNvPr id="349" name="Google Shape;349;p56"/>
          <p:cNvGraphicFramePr/>
          <p:nvPr/>
        </p:nvGraphicFramePr>
        <p:xfrm>
          <a:off x="-37" y="664075"/>
          <a:ext cx="3000000" cy="3000000"/>
        </p:xfrm>
        <a:graphic>
          <a:graphicData uri="http://schemas.openxmlformats.org/drawingml/2006/table">
            <a:tbl>
              <a:tblPr>
                <a:noFill/>
                <a:tableStyleId>{AA03FFC0-A3A7-4466-AC7F-7B0471147EAA}</a:tableStyleId>
              </a:tblPr>
              <a:tblGrid>
                <a:gridCol w="555275">
                  <a:extLst>
                    <a:ext uri="{9D8B030D-6E8A-4147-A177-3AD203B41FA5}">
                      <a16:colId xmlns:a16="http://schemas.microsoft.com/office/drawing/2014/main" val="20000"/>
                    </a:ext>
                  </a:extLst>
                </a:gridCol>
                <a:gridCol w="4095975">
                  <a:extLst>
                    <a:ext uri="{9D8B030D-6E8A-4147-A177-3AD203B41FA5}">
                      <a16:colId xmlns:a16="http://schemas.microsoft.com/office/drawing/2014/main" val="20001"/>
                    </a:ext>
                  </a:extLst>
                </a:gridCol>
                <a:gridCol w="4492775">
                  <a:extLst>
                    <a:ext uri="{9D8B030D-6E8A-4147-A177-3AD203B41FA5}">
                      <a16:colId xmlns:a16="http://schemas.microsoft.com/office/drawing/2014/main" val="20002"/>
                    </a:ext>
                  </a:extLst>
                </a:gridCol>
              </a:tblGrid>
              <a:tr h="217925">
                <a:tc>
                  <a:txBody>
                    <a:bodyPr/>
                    <a:lstStyle/>
                    <a:p>
                      <a:pPr marL="0" lvl="0" indent="0" algn="ctr" rtl="0">
                        <a:spcBef>
                          <a:spcPts val="0"/>
                        </a:spcBef>
                        <a:spcAft>
                          <a:spcPts val="0"/>
                        </a:spcAft>
                        <a:buNone/>
                      </a:pPr>
                      <a:endParaRPr sz="1100" b="1">
                        <a:solidFill>
                          <a:schemeClr val="lt1"/>
                        </a:solidFill>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100" b="1">
                          <a:solidFill>
                            <a:schemeClr val="lt1"/>
                          </a:solidFill>
                          <a:latin typeface="Space Grotesk"/>
                          <a:ea typeface="Space Grotesk"/>
                          <a:cs typeface="Space Grotesk"/>
                          <a:sym typeface="Space Grotesk"/>
                        </a:rPr>
                        <a:t>Attack Vectors</a:t>
                      </a:r>
                      <a:endParaRPr sz="1100" b="1">
                        <a:solidFill>
                          <a:schemeClr val="lt1"/>
                        </a:solidFill>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100" b="1">
                          <a:solidFill>
                            <a:schemeClr val="lt1"/>
                          </a:solidFill>
                          <a:latin typeface="Space Grotesk"/>
                          <a:ea typeface="Space Grotesk"/>
                          <a:cs typeface="Space Grotesk"/>
                          <a:sym typeface="Space Grotesk"/>
                        </a:rPr>
                        <a:t>How AccuKnox prevents them</a:t>
                      </a:r>
                      <a:endParaRPr sz="1100" b="1">
                        <a:solidFill>
                          <a:schemeClr val="lt1"/>
                        </a:solidFill>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725450">
                <a:tc>
                  <a:txBody>
                    <a:bodyPr/>
                    <a:lstStyle/>
                    <a:p>
                      <a:pPr marL="0" lvl="0" indent="0" algn="l" rtl="0">
                        <a:spcBef>
                          <a:spcPts val="0"/>
                        </a:spcBef>
                        <a:spcAft>
                          <a:spcPts val="0"/>
                        </a:spcAft>
                        <a:buNone/>
                      </a:pPr>
                      <a:endParaRPr sz="800">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rgbClr val="4E64F0">
                        <a:alpha val="7549"/>
                      </a:srgbClr>
                    </a:solidFill>
                  </a:tcPr>
                </a:tc>
                <a:tc>
                  <a:txBody>
                    <a:bodyPr/>
                    <a:lstStyle/>
                    <a:p>
                      <a:pPr marL="0" lvl="0" indent="0" algn="l" rtl="0">
                        <a:spcBef>
                          <a:spcPts val="0"/>
                        </a:spcBef>
                        <a:spcAft>
                          <a:spcPts val="0"/>
                        </a:spcAft>
                        <a:buNone/>
                      </a:pPr>
                      <a:r>
                        <a:rPr lang="en" sz="900" b="1">
                          <a:latin typeface="Space Grotesk"/>
                          <a:ea typeface="Space Grotesk"/>
                          <a:cs typeface="Space Grotesk"/>
                          <a:sym typeface="Space Grotesk"/>
                        </a:rPr>
                        <a:t>Living-off-the-Land (LotL) Attacks: </a:t>
                      </a:r>
                      <a:endParaRPr sz="900" b="1">
                        <a:latin typeface="Space Grotesk"/>
                        <a:ea typeface="Space Grotesk"/>
                        <a:cs typeface="Space Grotesk"/>
                        <a:sym typeface="Space Grotesk"/>
                      </a:endParaRPr>
                    </a:p>
                    <a:p>
                      <a:pPr marL="0" lvl="0" indent="0" algn="l" rtl="0">
                        <a:spcBef>
                          <a:spcPts val="0"/>
                        </a:spcBef>
                        <a:spcAft>
                          <a:spcPts val="0"/>
                        </a:spcAft>
                        <a:buNone/>
                      </a:pPr>
                      <a:r>
                        <a:rPr lang="en" sz="900">
                          <a:latin typeface="Space Grotesk"/>
                          <a:ea typeface="Space Grotesk"/>
                          <a:cs typeface="Space Grotesk"/>
                          <a:sym typeface="Space Grotesk"/>
                        </a:rPr>
                        <a:t>Attackers use legitimate, built-in system tools (e.g., PowerShell, WMI, PsExec) to perform malicious actions. Because these tools are trusted by the system, EDRs may not immediately flag them as malicious.</a:t>
                      </a:r>
                      <a:endParaRPr sz="900">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Space Grotesk"/>
                          <a:ea typeface="Space Grotesk"/>
                          <a:cs typeface="Space Grotesk"/>
                          <a:sym typeface="Space Grotesk"/>
                        </a:rPr>
                        <a:t>Accuknox proprietary algorithms generate system profile for each system to ensure that no irregular action can be performed on the system based on zero trust principles.</a:t>
                      </a:r>
                      <a:endParaRPr sz="900">
                        <a:latin typeface="Space Grotesk"/>
                        <a:ea typeface="Space Grotesk"/>
                        <a:cs typeface="Space Grotesk"/>
                        <a:sym typeface="Space Grotesk"/>
                      </a:endParaRPr>
                    </a:p>
                    <a:p>
                      <a:pPr marL="0" lvl="0" indent="0" algn="l" rtl="0">
                        <a:spcBef>
                          <a:spcPts val="0"/>
                        </a:spcBef>
                        <a:spcAft>
                          <a:spcPts val="0"/>
                        </a:spcAft>
                        <a:buNone/>
                      </a:pPr>
                      <a:r>
                        <a:rPr lang="en" sz="900">
                          <a:latin typeface="Space Grotesk"/>
                          <a:ea typeface="Space Grotesk"/>
                          <a:cs typeface="Space Grotesk"/>
                          <a:sym typeface="Space Grotesk"/>
                        </a:rPr>
                        <a:t>This ensures that malicious activities are prevented before that they can start</a:t>
                      </a:r>
                      <a:endParaRPr sz="900">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1"/>
                  </a:ext>
                </a:extLst>
              </a:tr>
              <a:tr h="725450">
                <a:tc>
                  <a:txBody>
                    <a:bodyPr/>
                    <a:lstStyle/>
                    <a:p>
                      <a:pPr marL="0" lvl="0" indent="0" algn="l" rtl="0">
                        <a:spcBef>
                          <a:spcPts val="0"/>
                        </a:spcBef>
                        <a:spcAft>
                          <a:spcPts val="0"/>
                        </a:spcAft>
                        <a:buNone/>
                      </a:pPr>
                      <a:endParaRPr sz="800">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rgbClr val="4E64F0">
                        <a:alpha val="7549"/>
                      </a:srgbClr>
                    </a:solidFill>
                  </a:tcPr>
                </a:tc>
                <a:tc>
                  <a:txBody>
                    <a:bodyPr/>
                    <a:lstStyle/>
                    <a:p>
                      <a:pPr marL="0" lvl="0" indent="0" algn="l" rtl="0">
                        <a:spcBef>
                          <a:spcPts val="0"/>
                        </a:spcBef>
                        <a:spcAft>
                          <a:spcPts val="0"/>
                        </a:spcAft>
                        <a:buNone/>
                      </a:pPr>
                      <a:r>
                        <a:rPr lang="en" sz="900" b="1">
                          <a:latin typeface="Space Grotesk"/>
                          <a:ea typeface="Space Grotesk"/>
                          <a:cs typeface="Space Grotesk"/>
                          <a:sym typeface="Space Grotesk"/>
                        </a:rPr>
                        <a:t>Fileless Malware: </a:t>
                      </a:r>
                      <a:endParaRPr sz="900" b="1">
                        <a:latin typeface="Space Grotesk"/>
                        <a:ea typeface="Space Grotesk"/>
                        <a:cs typeface="Space Grotesk"/>
                        <a:sym typeface="Space Grotesk"/>
                      </a:endParaRPr>
                    </a:p>
                    <a:p>
                      <a:pPr marL="0" lvl="0" indent="0" algn="l" rtl="0">
                        <a:spcBef>
                          <a:spcPts val="0"/>
                        </a:spcBef>
                        <a:spcAft>
                          <a:spcPts val="0"/>
                        </a:spcAft>
                        <a:buNone/>
                      </a:pPr>
                      <a:r>
                        <a:rPr lang="en" sz="900">
                          <a:latin typeface="Space Grotesk"/>
                          <a:ea typeface="Space Grotesk"/>
                          <a:cs typeface="Space Grotesk"/>
                          <a:sym typeface="Space Grotesk"/>
                        </a:rPr>
                        <a:t>These attacks operate entirely in memory (RAM) and do not write files to the disk, leaving a minimal footprint that traditional antivirus solutions often miss. They frequently leverage scripting languages like PowerShell or JavaScript.</a:t>
                      </a:r>
                      <a:endParaRPr sz="900">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Space Grotesk"/>
                          <a:ea typeface="Space Grotesk"/>
                          <a:cs typeface="Space Grotesk"/>
                          <a:sym typeface="Space Grotesk"/>
                        </a:rPr>
                        <a:t>Accuknox provides security policies and presets for fileless execution to prevent/audit such behavior.</a:t>
                      </a:r>
                      <a:endParaRPr sz="900">
                        <a:latin typeface="Space Grotesk"/>
                        <a:ea typeface="Space Grotesk"/>
                        <a:cs typeface="Space Grotesk"/>
                        <a:sym typeface="Space Grotesk"/>
                      </a:endParaRPr>
                    </a:p>
                    <a:p>
                      <a:pPr marL="0" lvl="0" indent="0" algn="l" rtl="0">
                        <a:spcBef>
                          <a:spcPts val="0"/>
                        </a:spcBef>
                        <a:spcAft>
                          <a:spcPts val="0"/>
                        </a:spcAft>
                        <a:buNone/>
                      </a:pPr>
                      <a:r>
                        <a:rPr lang="en" sz="900">
                          <a:latin typeface="Space Grotesk"/>
                          <a:ea typeface="Space Grotesk"/>
                          <a:cs typeface="Space Grotesk"/>
                          <a:sym typeface="Space Grotesk"/>
                        </a:rPr>
                        <a:t>When using strict security mode is applied on the system or a sub-component of the system only authorized parties can interact with the protected asset</a:t>
                      </a:r>
                      <a:endParaRPr sz="900">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2"/>
                  </a:ext>
                </a:extLst>
              </a:tr>
              <a:tr h="680950">
                <a:tc>
                  <a:txBody>
                    <a:bodyPr/>
                    <a:lstStyle/>
                    <a:p>
                      <a:pPr marL="0" marR="0" lvl="0" indent="0" algn="l" rtl="0">
                        <a:lnSpc>
                          <a:spcPct val="100000"/>
                        </a:lnSpc>
                        <a:spcBef>
                          <a:spcPts val="0"/>
                        </a:spcBef>
                        <a:spcAft>
                          <a:spcPts val="0"/>
                        </a:spcAft>
                        <a:buNone/>
                      </a:pPr>
                      <a:endParaRPr sz="800">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rgbClr val="4E64F0">
                        <a:alpha val="7549"/>
                      </a:srgbClr>
                    </a:solidFill>
                  </a:tcPr>
                </a:tc>
                <a:tc>
                  <a:txBody>
                    <a:bodyPr/>
                    <a:lstStyle/>
                    <a:p>
                      <a:pPr marL="0" marR="0" lvl="0" indent="0" algn="l" rtl="0">
                        <a:lnSpc>
                          <a:spcPct val="100000"/>
                        </a:lnSpc>
                        <a:spcBef>
                          <a:spcPts val="0"/>
                        </a:spcBef>
                        <a:spcAft>
                          <a:spcPts val="0"/>
                        </a:spcAft>
                        <a:buNone/>
                      </a:pPr>
                      <a:r>
                        <a:rPr lang="en" sz="900" b="1">
                          <a:latin typeface="Space Grotesk"/>
                          <a:ea typeface="Space Grotesk"/>
                          <a:cs typeface="Space Grotesk"/>
                          <a:sym typeface="Space Grotesk"/>
                        </a:rPr>
                        <a:t>Ransomware 2.0 (Double Extortion): </a:t>
                      </a:r>
                      <a:endParaRPr sz="900" b="1">
                        <a:latin typeface="Space Grotesk"/>
                        <a:ea typeface="Space Grotesk"/>
                        <a:cs typeface="Space Grotesk"/>
                        <a:sym typeface="Space Grotesk"/>
                      </a:endParaRPr>
                    </a:p>
                    <a:p>
                      <a:pPr marL="0" marR="0" lvl="0" indent="0" algn="l" rtl="0">
                        <a:lnSpc>
                          <a:spcPct val="100000"/>
                        </a:lnSpc>
                        <a:spcBef>
                          <a:spcPts val="0"/>
                        </a:spcBef>
                        <a:spcAft>
                          <a:spcPts val="0"/>
                        </a:spcAft>
                        <a:buNone/>
                      </a:pPr>
                      <a:r>
                        <a:rPr lang="en" sz="900">
                          <a:latin typeface="Space Grotesk"/>
                          <a:ea typeface="Space Grotesk"/>
                          <a:cs typeface="Space Grotesk"/>
                          <a:sym typeface="Space Grotesk"/>
                        </a:rPr>
                        <a:t>Modern ransomware goes beyond just encrypting data; attackers steal sensitive data before encryption to blackmail organizations, ensuring they can demand payment even if the system is restored.</a:t>
                      </a:r>
                      <a:endParaRPr sz="900">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 sz="900">
                          <a:latin typeface="Space Grotesk"/>
                          <a:ea typeface="Space Grotesk"/>
                          <a:cs typeface="Space Grotesk"/>
                          <a:sym typeface="Space Grotesk"/>
                        </a:rPr>
                        <a:t>Accuknox offer both malware scanning and asset protection via various policies such as:</a:t>
                      </a:r>
                      <a:endParaRPr sz="900">
                        <a:latin typeface="Space Grotesk"/>
                        <a:ea typeface="Space Grotesk"/>
                        <a:cs typeface="Space Grotesk"/>
                        <a:sym typeface="Space Grotesk"/>
                      </a:endParaRPr>
                    </a:p>
                    <a:p>
                      <a:pPr marL="0" marR="0" lvl="0" indent="0" algn="l" rtl="0">
                        <a:lnSpc>
                          <a:spcPct val="100000"/>
                        </a:lnSpc>
                        <a:spcBef>
                          <a:spcPts val="0"/>
                        </a:spcBef>
                        <a:spcAft>
                          <a:spcPts val="0"/>
                        </a:spcAft>
                        <a:buNone/>
                      </a:pPr>
                      <a:r>
                        <a:rPr lang="en" sz="900">
                          <a:latin typeface="Space Grotesk"/>
                          <a:ea typeface="Space Grotesk"/>
                          <a:cs typeface="Space Grotesk"/>
                          <a:sym typeface="Space Grotesk"/>
                        </a:rPr>
                        <a:t>File Integrity Protection Policy</a:t>
                      </a:r>
                      <a:endParaRPr sz="900">
                        <a:latin typeface="Space Grotesk"/>
                        <a:ea typeface="Space Grotesk"/>
                        <a:cs typeface="Space Grotesk"/>
                        <a:sym typeface="Space Grotesk"/>
                      </a:endParaRPr>
                    </a:p>
                    <a:p>
                      <a:pPr marL="0" marR="0" lvl="0" indent="0" algn="l" rtl="0">
                        <a:lnSpc>
                          <a:spcPct val="100000"/>
                        </a:lnSpc>
                        <a:spcBef>
                          <a:spcPts val="0"/>
                        </a:spcBef>
                        <a:spcAft>
                          <a:spcPts val="0"/>
                        </a:spcAft>
                        <a:buNone/>
                      </a:pPr>
                      <a:r>
                        <a:rPr lang="en" sz="900">
                          <a:latin typeface="Space Grotesk"/>
                          <a:ea typeface="Space Grotesk"/>
                          <a:cs typeface="Space Grotesk"/>
                          <a:sym typeface="Space Grotesk"/>
                        </a:rPr>
                        <a:t>Protect credentials/tokens Policy</a:t>
                      </a:r>
                      <a:endParaRPr sz="900">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3"/>
                  </a:ext>
                </a:extLst>
              </a:tr>
              <a:tr h="725450">
                <a:tc>
                  <a:txBody>
                    <a:bodyPr/>
                    <a:lstStyle/>
                    <a:p>
                      <a:pPr marL="0" lvl="0" indent="0" algn="l" rtl="0">
                        <a:spcBef>
                          <a:spcPts val="0"/>
                        </a:spcBef>
                        <a:spcAft>
                          <a:spcPts val="0"/>
                        </a:spcAft>
                        <a:buNone/>
                      </a:pPr>
                      <a:endParaRPr sz="800">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rgbClr val="4E64F0">
                        <a:alpha val="7549"/>
                      </a:srgbClr>
                    </a:solidFill>
                  </a:tcPr>
                </a:tc>
                <a:tc>
                  <a:txBody>
                    <a:bodyPr/>
                    <a:lstStyle/>
                    <a:p>
                      <a:pPr marL="0" lvl="0" indent="0" algn="l" rtl="0">
                        <a:spcBef>
                          <a:spcPts val="0"/>
                        </a:spcBef>
                        <a:spcAft>
                          <a:spcPts val="0"/>
                        </a:spcAft>
                        <a:buNone/>
                      </a:pPr>
                      <a:r>
                        <a:rPr lang="en" sz="900" b="1">
                          <a:latin typeface="Space Grotesk"/>
                          <a:ea typeface="Space Grotesk"/>
                          <a:cs typeface="Space Grotesk"/>
                          <a:sym typeface="Space Grotesk"/>
                        </a:rPr>
                        <a:t>EDR Disablement/Evasion: </a:t>
                      </a:r>
                      <a:endParaRPr sz="900" b="1">
                        <a:latin typeface="Space Grotesk"/>
                        <a:ea typeface="Space Grotesk"/>
                        <a:cs typeface="Space Grotesk"/>
                        <a:sym typeface="Space Grotesk"/>
                      </a:endParaRPr>
                    </a:p>
                    <a:p>
                      <a:pPr marL="0" lvl="0" indent="0" algn="l" rtl="0">
                        <a:spcBef>
                          <a:spcPts val="0"/>
                        </a:spcBef>
                        <a:spcAft>
                          <a:spcPts val="0"/>
                        </a:spcAft>
                        <a:buNone/>
                      </a:pPr>
                      <a:r>
                        <a:rPr lang="en" sz="900">
                          <a:latin typeface="Space Grotesk"/>
                          <a:ea typeface="Space Grotesk"/>
                          <a:cs typeface="Space Grotesk"/>
                          <a:sym typeface="Space Grotesk"/>
                        </a:rPr>
                        <a:t>Sophisticated threats actively attempt to detect the presence of EDR agents and disable, blind, or bypass them using evasion techniques like obfuscation or API unhooking.</a:t>
                      </a:r>
                      <a:endParaRPr sz="900">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Space Grotesk"/>
                          <a:ea typeface="Space Grotesk"/>
                          <a:cs typeface="Space Grotesk"/>
                          <a:sym typeface="Space Grotesk"/>
                        </a:rPr>
                        <a:t>Accuknox enforces zero trust policies/principles to ensure that the protected assets can be only accessed by legitimate parties.</a:t>
                      </a:r>
                      <a:endParaRPr sz="900">
                        <a:latin typeface="Space Grotesk"/>
                        <a:ea typeface="Space Grotesk"/>
                        <a:cs typeface="Space Grotesk"/>
                        <a:sym typeface="Space Grotesk"/>
                      </a:endParaRPr>
                    </a:p>
                    <a:p>
                      <a:pPr marL="0" lvl="0" indent="0" algn="l" rtl="0">
                        <a:spcBef>
                          <a:spcPts val="0"/>
                        </a:spcBef>
                        <a:spcAft>
                          <a:spcPts val="0"/>
                        </a:spcAft>
                        <a:buNone/>
                      </a:pPr>
                      <a:r>
                        <a:rPr lang="en" sz="900">
                          <a:latin typeface="Space Grotesk"/>
                          <a:ea typeface="Space Grotesk"/>
                          <a:cs typeface="Space Grotesk"/>
                          <a:sym typeface="Space Grotesk"/>
                        </a:rPr>
                        <a:t>Accuknox rely on inline policy enforcement techniques to ensure that evasion techniques has no impact on the security enforcement of the protected asset</a:t>
                      </a:r>
                      <a:endParaRPr sz="900">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4"/>
                  </a:ext>
                </a:extLst>
              </a:tr>
              <a:tr h="1271650">
                <a:tc>
                  <a:txBody>
                    <a:bodyPr/>
                    <a:lstStyle/>
                    <a:p>
                      <a:pPr marL="0" lvl="0" indent="0" algn="l" rtl="0">
                        <a:spcBef>
                          <a:spcPts val="0"/>
                        </a:spcBef>
                        <a:spcAft>
                          <a:spcPts val="0"/>
                        </a:spcAft>
                        <a:buNone/>
                      </a:pPr>
                      <a:endParaRPr sz="800">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rgbClr val="4E64F0">
                        <a:alpha val="7549"/>
                      </a:srgbClr>
                    </a:solidFill>
                  </a:tcPr>
                </a:tc>
                <a:tc>
                  <a:txBody>
                    <a:bodyPr/>
                    <a:lstStyle/>
                    <a:p>
                      <a:pPr marL="0" lvl="0" indent="0" algn="l" rtl="0">
                        <a:spcBef>
                          <a:spcPts val="0"/>
                        </a:spcBef>
                        <a:spcAft>
                          <a:spcPts val="0"/>
                        </a:spcAft>
                        <a:buNone/>
                      </a:pPr>
                      <a:r>
                        <a:rPr lang="en" sz="900" b="1">
                          <a:latin typeface="Space Grotesk"/>
                          <a:ea typeface="Space Grotesk"/>
                          <a:cs typeface="Space Grotesk"/>
                          <a:sym typeface="Space Grotesk"/>
                        </a:rPr>
                        <a:t>Identity-Based Attacks: </a:t>
                      </a:r>
                      <a:endParaRPr sz="900" b="1">
                        <a:latin typeface="Space Grotesk"/>
                        <a:ea typeface="Space Grotesk"/>
                        <a:cs typeface="Space Grotesk"/>
                        <a:sym typeface="Space Grotesk"/>
                      </a:endParaRPr>
                    </a:p>
                    <a:p>
                      <a:pPr marL="0" lvl="0" indent="0" algn="l" rtl="0">
                        <a:spcBef>
                          <a:spcPts val="0"/>
                        </a:spcBef>
                        <a:spcAft>
                          <a:spcPts val="0"/>
                        </a:spcAft>
                        <a:buNone/>
                      </a:pPr>
                      <a:r>
                        <a:rPr lang="en" sz="900">
                          <a:latin typeface="Space Grotesk"/>
                          <a:ea typeface="Space Grotesk"/>
                          <a:cs typeface="Space Grotesk"/>
                          <a:sym typeface="Space Grotesk"/>
                        </a:rPr>
                        <a:t>Utilizing stolen, compromised, or brute-forced credentials to login as a legitimate user, making the malicious activity appear authorized.</a:t>
                      </a:r>
                      <a:endParaRPr sz="900">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Space Grotesk"/>
                          <a:ea typeface="Space Grotesk"/>
                          <a:cs typeface="Space Grotesk"/>
                          <a:sym typeface="Space Grotesk"/>
                        </a:rPr>
                        <a:t>Accuknox provides two types of policies to protect against these attacks:</a:t>
                      </a:r>
                      <a:endParaRPr sz="900">
                        <a:latin typeface="Space Grotesk"/>
                        <a:ea typeface="Space Grotesk"/>
                        <a:cs typeface="Space Grotesk"/>
                        <a:sym typeface="Space Grotesk"/>
                      </a:endParaRPr>
                    </a:p>
                    <a:p>
                      <a:pPr marL="0" lvl="0" indent="0" algn="l" rtl="0">
                        <a:spcBef>
                          <a:spcPts val="0"/>
                        </a:spcBef>
                        <a:spcAft>
                          <a:spcPts val="0"/>
                        </a:spcAft>
                        <a:buNone/>
                      </a:pPr>
                      <a:r>
                        <a:rPr lang="en" sz="900">
                          <a:latin typeface="Space Grotesk"/>
                          <a:ea typeface="Space Grotesk"/>
                          <a:cs typeface="Space Grotesk"/>
                          <a:sym typeface="Space Grotesk"/>
                        </a:rPr>
                        <a:t>Discovered policies that protected tokens/certificate from illegitimate access and ensure only authorized parties/systems gain access</a:t>
                      </a:r>
                      <a:endParaRPr sz="900">
                        <a:latin typeface="Space Grotesk"/>
                        <a:ea typeface="Space Grotesk"/>
                        <a:cs typeface="Space Grotesk"/>
                        <a:sym typeface="Space Grotesk"/>
                      </a:endParaRPr>
                    </a:p>
                    <a:p>
                      <a:pPr marL="0" lvl="0" indent="0" algn="l" rtl="0">
                        <a:spcBef>
                          <a:spcPts val="0"/>
                        </a:spcBef>
                        <a:spcAft>
                          <a:spcPts val="0"/>
                        </a:spcAft>
                        <a:buNone/>
                      </a:pPr>
                      <a:r>
                        <a:rPr lang="en" sz="900">
                          <a:latin typeface="Space Grotesk"/>
                          <a:ea typeface="Space Grotesk"/>
                          <a:cs typeface="Space Grotesk"/>
                          <a:sym typeface="Space Grotesk"/>
                        </a:rPr>
                        <a:t>Hardening policies that protect known sensitive informations on a system</a:t>
                      </a:r>
                      <a:endParaRPr sz="900">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50" name="Google Shape;350;p56"/>
          <p:cNvSpPr txBox="1">
            <a:spLocks noGrp="1"/>
          </p:cNvSpPr>
          <p:nvPr>
            <p:ph type="title"/>
          </p:nvPr>
        </p:nvSpPr>
        <p:spPr>
          <a:xfrm>
            <a:off x="0" y="-9750"/>
            <a:ext cx="7372800" cy="6738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Module 3: Top EDR Attacks at Runtime</a:t>
            </a:r>
            <a:endParaRPr sz="2200"/>
          </a:p>
        </p:txBody>
      </p:sp>
      <p:pic>
        <p:nvPicPr>
          <p:cNvPr id="351" name="Google Shape;351;p56" title="encryption (2).png"/>
          <p:cNvPicPr preferRelativeResize="0"/>
          <p:nvPr/>
        </p:nvPicPr>
        <p:blipFill>
          <a:blip r:embed="rId3">
            <a:alphaModFix/>
          </a:blip>
          <a:stretch>
            <a:fillRect/>
          </a:stretch>
        </p:blipFill>
        <p:spPr>
          <a:xfrm>
            <a:off x="148498" y="2617052"/>
            <a:ext cx="279300" cy="279300"/>
          </a:xfrm>
          <a:prstGeom prst="rect">
            <a:avLst/>
          </a:prstGeom>
          <a:noFill/>
          <a:ln>
            <a:noFill/>
          </a:ln>
        </p:spPr>
      </p:pic>
      <p:pic>
        <p:nvPicPr>
          <p:cNvPr id="352" name="Google Shape;352;p56" title="phishing.png"/>
          <p:cNvPicPr preferRelativeResize="0"/>
          <p:nvPr/>
        </p:nvPicPr>
        <p:blipFill>
          <a:blip r:embed="rId4">
            <a:alphaModFix/>
          </a:blip>
          <a:stretch>
            <a:fillRect/>
          </a:stretch>
        </p:blipFill>
        <p:spPr>
          <a:xfrm>
            <a:off x="148513" y="4052100"/>
            <a:ext cx="279300" cy="279300"/>
          </a:xfrm>
          <a:prstGeom prst="rect">
            <a:avLst/>
          </a:prstGeom>
          <a:noFill/>
          <a:ln>
            <a:noFill/>
          </a:ln>
        </p:spPr>
      </p:pic>
      <p:pic>
        <p:nvPicPr>
          <p:cNvPr id="353" name="Google Shape;353;p56" title="hacker (1).png"/>
          <p:cNvPicPr preferRelativeResize="0"/>
          <p:nvPr/>
        </p:nvPicPr>
        <p:blipFill>
          <a:blip r:embed="rId5">
            <a:alphaModFix/>
          </a:blip>
          <a:stretch>
            <a:fillRect/>
          </a:stretch>
        </p:blipFill>
        <p:spPr>
          <a:xfrm>
            <a:off x="148498" y="1203699"/>
            <a:ext cx="279300" cy="279300"/>
          </a:xfrm>
          <a:prstGeom prst="rect">
            <a:avLst/>
          </a:prstGeom>
          <a:noFill/>
          <a:ln>
            <a:noFill/>
          </a:ln>
        </p:spPr>
      </p:pic>
      <p:pic>
        <p:nvPicPr>
          <p:cNvPr id="354" name="Google Shape;354;p56" title="spyware.png"/>
          <p:cNvPicPr preferRelativeResize="0"/>
          <p:nvPr/>
        </p:nvPicPr>
        <p:blipFill>
          <a:blip r:embed="rId6">
            <a:alphaModFix/>
          </a:blip>
          <a:stretch>
            <a:fillRect/>
          </a:stretch>
        </p:blipFill>
        <p:spPr>
          <a:xfrm>
            <a:off x="148501" y="1969349"/>
            <a:ext cx="279300" cy="279300"/>
          </a:xfrm>
          <a:prstGeom prst="rect">
            <a:avLst/>
          </a:prstGeom>
          <a:noFill/>
          <a:ln>
            <a:noFill/>
          </a:ln>
        </p:spPr>
      </p:pic>
      <p:pic>
        <p:nvPicPr>
          <p:cNvPr id="355" name="Google Shape;355;p56" title="shield (9).png"/>
          <p:cNvPicPr preferRelativeResize="0"/>
          <p:nvPr/>
        </p:nvPicPr>
        <p:blipFill>
          <a:blip r:embed="rId7">
            <a:alphaModFix/>
          </a:blip>
          <a:stretch>
            <a:fillRect/>
          </a:stretch>
        </p:blipFill>
        <p:spPr>
          <a:xfrm>
            <a:off x="148501" y="3340075"/>
            <a:ext cx="279300" cy="279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57"/>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Clr>
                <a:schemeClr val="dk1"/>
              </a:buClr>
              <a:buSzPts val="1100"/>
              <a:buFont typeface="Arial"/>
              <a:buNone/>
            </a:pPr>
            <a:r>
              <a:rPr lang="en" sz="2200"/>
              <a:t>Linux Endpoint Security</a:t>
            </a:r>
            <a:endParaRPr sz="2200"/>
          </a:p>
        </p:txBody>
      </p:sp>
      <p:sp>
        <p:nvSpPr>
          <p:cNvPr id="361" name="Google Shape;361;p57"/>
          <p:cNvSpPr/>
          <p:nvPr/>
        </p:nvSpPr>
        <p:spPr>
          <a:xfrm>
            <a:off x="243532" y="920950"/>
            <a:ext cx="955800" cy="981900"/>
          </a:xfrm>
          <a:prstGeom prst="rect">
            <a:avLst/>
          </a:prstGeom>
          <a:solidFill>
            <a:srgbClr val="E9EEF6"/>
          </a:solidFill>
          <a:ln w="9600" cap="flat" cmpd="sng">
            <a:solidFill>
              <a:srgbClr val="BFD0E8"/>
            </a:solidFill>
            <a:prstDash val="solid"/>
            <a:round/>
            <a:headEnd type="none" w="sm" len="sm"/>
            <a:tailEnd type="none" w="sm" len="sm"/>
          </a:ln>
        </p:spPr>
        <p:txBody>
          <a:bodyPr spcFirstLastPara="1" wrap="square" lIns="92150" tIns="92150" rIns="92150" bIns="92150" anchor="ctr" anchorCtr="0">
            <a:noAutofit/>
          </a:bodyPr>
          <a:lstStyle/>
          <a:p>
            <a:pPr marL="0" marR="0" lvl="0" indent="0" algn="ctr" rtl="0">
              <a:lnSpc>
                <a:spcPct val="100000"/>
              </a:lnSpc>
              <a:spcBef>
                <a:spcPts val="0"/>
              </a:spcBef>
              <a:spcAft>
                <a:spcPts val="0"/>
              </a:spcAft>
              <a:buClr>
                <a:srgbClr val="000000"/>
              </a:buClr>
              <a:buSzPts val="1411"/>
              <a:buFont typeface="Arial"/>
              <a:buNone/>
            </a:pPr>
            <a:endParaRPr sz="2419" b="0" i="0" u="none" strike="noStrike" cap="none">
              <a:solidFill>
                <a:srgbClr val="FFFFFF"/>
              </a:solidFill>
              <a:highlight>
                <a:srgbClr val="BFD0E8"/>
              </a:highlight>
              <a:latin typeface="Space Grotesk"/>
              <a:ea typeface="Space Grotesk"/>
              <a:cs typeface="Space Grotesk"/>
              <a:sym typeface="Space Grotesk"/>
            </a:endParaRPr>
          </a:p>
        </p:txBody>
      </p:sp>
      <p:sp>
        <p:nvSpPr>
          <p:cNvPr id="362" name="Google Shape;362;p57"/>
          <p:cNvSpPr/>
          <p:nvPr/>
        </p:nvSpPr>
        <p:spPr>
          <a:xfrm>
            <a:off x="1190993" y="920950"/>
            <a:ext cx="4131600" cy="981900"/>
          </a:xfrm>
          <a:prstGeom prst="rect">
            <a:avLst/>
          </a:prstGeom>
          <a:solidFill>
            <a:srgbClr val="FFFFFF"/>
          </a:solidFill>
          <a:ln w="9600" cap="flat" cmpd="sng">
            <a:solidFill>
              <a:srgbClr val="BFD0E8"/>
            </a:solidFill>
            <a:prstDash val="solid"/>
            <a:round/>
            <a:headEnd type="none" w="sm" len="sm"/>
            <a:tailEnd type="none" w="sm" len="sm"/>
          </a:ln>
        </p:spPr>
        <p:txBody>
          <a:bodyPr spcFirstLastPara="1" wrap="square" lIns="92150" tIns="92150" rIns="92150" bIns="92150" anchor="ctr" anchorCtr="0">
            <a:noAutofit/>
          </a:bodyPr>
          <a:lstStyle/>
          <a:p>
            <a:pPr marL="0" lvl="0" indent="0" algn="l" rtl="0">
              <a:spcBef>
                <a:spcPts val="0"/>
              </a:spcBef>
              <a:spcAft>
                <a:spcPts val="0"/>
              </a:spcAft>
              <a:buClr>
                <a:schemeClr val="dk1"/>
              </a:buClr>
              <a:buSzPts val="1109"/>
              <a:buFont typeface="Arial"/>
              <a:buNone/>
            </a:pPr>
            <a:r>
              <a:rPr lang="en" sz="1109">
                <a:solidFill>
                  <a:schemeClr val="dk1"/>
                </a:solidFill>
                <a:latin typeface="Space Grotesk"/>
                <a:ea typeface="Space Grotesk"/>
                <a:cs typeface="Space Grotesk"/>
                <a:sym typeface="Space Grotesk"/>
              </a:rPr>
              <a:t>Least permissive application enforcement</a:t>
            </a:r>
            <a:endParaRPr sz="1109">
              <a:solidFill>
                <a:schemeClr val="dk1"/>
              </a:solidFill>
              <a:latin typeface="Space Grotesk"/>
              <a:ea typeface="Space Grotesk"/>
              <a:cs typeface="Space Grotesk"/>
              <a:sym typeface="Space Grotesk"/>
            </a:endParaRPr>
          </a:p>
          <a:p>
            <a:pPr marL="230440" lvl="0" indent="-185633" algn="l" rtl="0">
              <a:spcBef>
                <a:spcPts val="0"/>
              </a:spcBef>
              <a:spcAft>
                <a:spcPts val="0"/>
              </a:spcAft>
              <a:buClr>
                <a:schemeClr val="dk1"/>
              </a:buClr>
              <a:buSzPts val="1109"/>
              <a:buFont typeface="Space Grotesk"/>
              <a:buChar char="●"/>
            </a:pPr>
            <a:r>
              <a:rPr lang="en" sz="1109">
                <a:solidFill>
                  <a:schemeClr val="dk1"/>
                </a:solidFill>
                <a:latin typeface="Space Grotesk"/>
                <a:ea typeface="Space Grotesk"/>
                <a:cs typeface="Space Grotesk"/>
                <a:sym typeface="Space Grotesk"/>
              </a:rPr>
              <a:t>Only allow whitelisted processes to execute</a:t>
            </a:r>
            <a:endParaRPr sz="1109">
              <a:solidFill>
                <a:schemeClr val="dk1"/>
              </a:solidFill>
              <a:latin typeface="Space Grotesk"/>
              <a:ea typeface="Space Grotesk"/>
              <a:cs typeface="Space Grotesk"/>
              <a:sym typeface="Space Grotesk"/>
            </a:endParaRPr>
          </a:p>
          <a:p>
            <a:pPr marL="230440" lvl="0" indent="-185633" algn="l" rtl="0">
              <a:spcBef>
                <a:spcPts val="0"/>
              </a:spcBef>
              <a:spcAft>
                <a:spcPts val="0"/>
              </a:spcAft>
              <a:buClr>
                <a:schemeClr val="dk1"/>
              </a:buClr>
              <a:buSzPts val="1109"/>
              <a:buFont typeface="Space Grotesk"/>
              <a:buChar char="●"/>
            </a:pPr>
            <a:r>
              <a:rPr lang="en" sz="1109">
                <a:solidFill>
                  <a:schemeClr val="dk1"/>
                </a:solidFill>
                <a:latin typeface="Space Grotesk"/>
                <a:ea typeface="Space Grotesk"/>
                <a:cs typeface="Space Grotesk"/>
                <a:sym typeface="Space Grotesk"/>
              </a:rPr>
              <a:t>Prevent Remote command injection</a:t>
            </a:r>
            <a:endParaRPr sz="1109" b="1">
              <a:solidFill>
                <a:schemeClr val="dk1"/>
              </a:solidFill>
              <a:latin typeface="Space Grotesk"/>
              <a:ea typeface="Space Grotesk"/>
              <a:cs typeface="Space Grotesk"/>
              <a:sym typeface="Space Grotesk"/>
            </a:endParaRPr>
          </a:p>
        </p:txBody>
      </p:sp>
      <p:sp>
        <p:nvSpPr>
          <p:cNvPr id="363" name="Google Shape;363;p57"/>
          <p:cNvSpPr/>
          <p:nvPr/>
        </p:nvSpPr>
        <p:spPr>
          <a:xfrm>
            <a:off x="243525" y="1975433"/>
            <a:ext cx="955800" cy="701400"/>
          </a:xfrm>
          <a:prstGeom prst="rect">
            <a:avLst/>
          </a:prstGeom>
          <a:solidFill>
            <a:srgbClr val="E9EEF6"/>
          </a:solidFill>
          <a:ln w="9525" cap="flat" cmpd="sng">
            <a:solidFill>
              <a:srgbClr val="BFD0E8"/>
            </a:solidFill>
            <a:prstDash val="solid"/>
            <a:round/>
            <a:headEnd type="none" w="sm" len="sm"/>
            <a:tailEnd type="none" w="sm" len="sm"/>
          </a:ln>
        </p:spPr>
        <p:txBody>
          <a:bodyPr spcFirstLastPara="1" wrap="square" lIns="92150" tIns="92150" rIns="92150" bIns="92150" anchor="ctr" anchorCtr="0">
            <a:noAutofit/>
          </a:bodyPr>
          <a:lstStyle/>
          <a:p>
            <a:pPr marL="0" marR="0" lvl="0" indent="0" algn="ctr" rtl="0">
              <a:lnSpc>
                <a:spcPct val="100000"/>
              </a:lnSpc>
              <a:spcBef>
                <a:spcPts val="0"/>
              </a:spcBef>
              <a:spcAft>
                <a:spcPts val="0"/>
              </a:spcAft>
              <a:buClr>
                <a:srgbClr val="000000"/>
              </a:buClr>
              <a:buSzPts val="1411"/>
              <a:buFont typeface="Arial"/>
              <a:buNone/>
            </a:pPr>
            <a:endParaRPr sz="2419" b="0" i="0" u="none" strike="noStrike" cap="none">
              <a:solidFill>
                <a:srgbClr val="FFFFFF"/>
              </a:solidFill>
              <a:highlight>
                <a:srgbClr val="BFD0E8"/>
              </a:highlight>
              <a:latin typeface="Space Grotesk"/>
              <a:ea typeface="Space Grotesk"/>
              <a:cs typeface="Space Grotesk"/>
              <a:sym typeface="Space Grotesk"/>
            </a:endParaRPr>
          </a:p>
        </p:txBody>
      </p:sp>
      <p:sp>
        <p:nvSpPr>
          <p:cNvPr id="364" name="Google Shape;364;p57"/>
          <p:cNvSpPr/>
          <p:nvPr/>
        </p:nvSpPr>
        <p:spPr>
          <a:xfrm>
            <a:off x="1190989" y="1975430"/>
            <a:ext cx="4131600" cy="701400"/>
          </a:xfrm>
          <a:prstGeom prst="rect">
            <a:avLst/>
          </a:prstGeom>
          <a:solidFill>
            <a:srgbClr val="FFFFFF"/>
          </a:solidFill>
          <a:ln w="9600" cap="flat" cmpd="sng">
            <a:solidFill>
              <a:srgbClr val="BFD0E8"/>
            </a:solidFill>
            <a:prstDash val="solid"/>
            <a:round/>
            <a:headEnd type="none" w="sm" len="sm"/>
            <a:tailEnd type="none" w="sm" len="sm"/>
          </a:ln>
        </p:spPr>
        <p:txBody>
          <a:bodyPr spcFirstLastPara="1" wrap="square" lIns="92150" tIns="92150" rIns="92150" bIns="92150" anchor="ctr" anchorCtr="0">
            <a:noAutofit/>
          </a:bodyPr>
          <a:lstStyle/>
          <a:p>
            <a:pPr marL="230440" lvl="0" indent="-185633" algn="l" rtl="0">
              <a:spcBef>
                <a:spcPts val="0"/>
              </a:spcBef>
              <a:spcAft>
                <a:spcPts val="0"/>
              </a:spcAft>
              <a:buClr>
                <a:schemeClr val="dk1"/>
              </a:buClr>
              <a:buSzPts val="1109"/>
              <a:buFont typeface="Space Grotesk"/>
              <a:buChar char="●"/>
            </a:pPr>
            <a:r>
              <a:rPr lang="en" sz="1109">
                <a:solidFill>
                  <a:schemeClr val="dk1"/>
                </a:solidFill>
                <a:latin typeface="Space Grotesk"/>
                <a:ea typeface="Space Grotesk"/>
                <a:cs typeface="Space Grotesk"/>
                <a:sym typeface="Space Grotesk"/>
              </a:rPr>
              <a:t>Malware/Crypto Mining protection</a:t>
            </a:r>
            <a:endParaRPr sz="1109">
              <a:solidFill>
                <a:schemeClr val="dk1"/>
              </a:solidFill>
              <a:latin typeface="Space Grotesk"/>
              <a:ea typeface="Space Grotesk"/>
              <a:cs typeface="Space Grotesk"/>
              <a:sym typeface="Space Grotesk"/>
            </a:endParaRPr>
          </a:p>
          <a:p>
            <a:pPr marL="230440" lvl="0" indent="-185633" algn="l" rtl="0">
              <a:spcBef>
                <a:spcPts val="0"/>
              </a:spcBef>
              <a:spcAft>
                <a:spcPts val="0"/>
              </a:spcAft>
              <a:buClr>
                <a:schemeClr val="dk1"/>
              </a:buClr>
              <a:buSzPts val="1109"/>
              <a:buFont typeface="Space Grotesk"/>
              <a:buChar char="●"/>
            </a:pPr>
            <a:r>
              <a:rPr lang="en" sz="1109">
                <a:solidFill>
                  <a:schemeClr val="dk1"/>
                </a:solidFill>
                <a:latin typeface="Space Grotesk"/>
                <a:ea typeface="Space Grotesk"/>
                <a:cs typeface="Space Grotesk"/>
                <a:sym typeface="Space Grotesk"/>
              </a:rPr>
              <a:t>File Integrity Protection</a:t>
            </a:r>
            <a:endParaRPr sz="1109">
              <a:solidFill>
                <a:schemeClr val="dk1"/>
              </a:solidFill>
              <a:latin typeface="Space Grotesk"/>
              <a:ea typeface="Space Grotesk"/>
              <a:cs typeface="Space Grotesk"/>
              <a:sym typeface="Space Grotesk"/>
            </a:endParaRPr>
          </a:p>
        </p:txBody>
      </p:sp>
      <p:sp>
        <p:nvSpPr>
          <p:cNvPr id="365" name="Google Shape;365;p57"/>
          <p:cNvSpPr/>
          <p:nvPr/>
        </p:nvSpPr>
        <p:spPr>
          <a:xfrm>
            <a:off x="243525" y="2749400"/>
            <a:ext cx="955800" cy="701400"/>
          </a:xfrm>
          <a:prstGeom prst="rect">
            <a:avLst/>
          </a:prstGeom>
          <a:solidFill>
            <a:srgbClr val="E9EEF6"/>
          </a:solidFill>
          <a:ln w="9525" cap="flat" cmpd="sng">
            <a:solidFill>
              <a:srgbClr val="BFD0E8"/>
            </a:solidFill>
            <a:prstDash val="solid"/>
            <a:round/>
            <a:headEnd type="none" w="sm" len="sm"/>
            <a:tailEnd type="none" w="sm" len="sm"/>
          </a:ln>
        </p:spPr>
        <p:txBody>
          <a:bodyPr spcFirstLastPara="1" wrap="square" lIns="92150" tIns="92150" rIns="92150" bIns="92150" anchor="ctr" anchorCtr="0">
            <a:noAutofit/>
          </a:bodyPr>
          <a:lstStyle/>
          <a:p>
            <a:pPr marL="0" marR="0" lvl="0" indent="0" algn="ctr" rtl="0">
              <a:lnSpc>
                <a:spcPct val="100000"/>
              </a:lnSpc>
              <a:spcBef>
                <a:spcPts val="0"/>
              </a:spcBef>
              <a:spcAft>
                <a:spcPts val="0"/>
              </a:spcAft>
              <a:buClr>
                <a:srgbClr val="000000"/>
              </a:buClr>
              <a:buSzPts val="1411"/>
              <a:buFont typeface="Arial"/>
              <a:buNone/>
            </a:pPr>
            <a:endParaRPr sz="2419" b="0" i="0" u="none" strike="noStrike" cap="none">
              <a:solidFill>
                <a:srgbClr val="FFFFFF"/>
              </a:solidFill>
              <a:highlight>
                <a:srgbClr val="BFD0E8"/>
              </a:highlight>
              <a:latin typeface="Space Grotesk"/>
              <a:ea typeface="Space Grotesk"/>
              <a:cs typeface="Space Grotesk"/>
              <a:sym typeface="Space Grotesk"/>
            </a:endParaRPr>
          </a:p>
        </p:txBody>
      </p:sp>
      <p:sp>
        <p:nvSpPr>
          <p:cNvPr id="366" name="Google Shape;366;p57"/>
          <p:cNvSpPr/>
          <p:nvPr/>
        </p:nvSpPr>
        <p:spPr>
          <a:xfrm>
            <a:off x="1190990" y="2749395"/>
            <a:ext cx="4131600" cy="701400"/>
          </a:xfrm>
          <a:prstGeom prst="rect">
            <a:avLst/>
          </a:prstGeom>
          <a:solidFill>
            <a:srgbClr val="FFFFFF"/>
          </a:solidFill>
          <a:ln w="9600" cap="flat" cmpd="sng">
            <a:solidFill>
              <a:srgbClr val="BFD0E8"/>
            </a:solidFill>
            <a:prstDash val="solid"/>
            <a:round/>
            <a:headEnd type="none" w="sm" len="sm"/>
            <a:tailEnd type="none" w="sm" len="sm"/>
          </a:ln>
        </p:spPr>
        <p:txBody>
          <a:bodyPr spcFirstLastPara="1" wrap="square" lIns="92150" tIns="92150" rIns="92150" bIns="92150" anchor="ctr" anchorCtr="0">
            <a:noAutofit/>
          </a:bodyPr>
          <a:lstStyle/>
          <a:p>
            <a:pPr marL="0" lvl="0" indent="0" algn="l" rtl="0">
              <a:spcBef>
                <a:spcPts val="0"/>
              </a:spcBef>
              <a:spcAft>
                <a:spcPts val="0"/>
              </a:spcAft>
              <a:buNone/>
            </a:pPr>
            <a:r>
              <a:rPr lang="en" sz="1109">
                <a:solidFill>
                  <a:schemeClr val="dk1"/>
                </a:solidFill>
                <a:latin typeface="Space Grotesk"/>
                <a:ea typeface="Space Grotesk"/>
                <a:cs typeface="Space Grotesk"/>
                <a:sym typeface="Space Grotesk"/>
              </a:rPr>
              <a:t>Protected Network access to only whitelisted processes</a:t>
            </a:r>
            <a:endParaRPr sz="1109">
              <a:solidFill>
                <a:schemeClr val="dk1"/>
              </a:solidFill>
              <a:latin typeface="Space Grotesk"/>
              <a:ea typeface="Space Grotesk"/>
              <a:cs typeface="Space Grotesk"/>
              <a:sym typeface="Space Grotesk"/>
            </a:endParaRPr>
          </a:p>
        </p:txBody>
      </p:sp>
      <p:sp>
        <p:nvSpPr>
          <p:cNvPr id="367" name="Google Shape;367;p57"/>
          <p:cNvSpPr/>
          <p:nvPr/>
        </p:nvSpPr>
        <p:spPr>
          <a:xfrm>
            <a:off x="243525" y="3523393"/>
            <a:ext cx="955800" cy="701400"/>
          </a:xfrm>
          <a:prstGeom prst="rect">
            <a:avLst/>
          </a:prstGeom>
          <a:solidFill>
            <a:srgbClr val="E9EEF6"/>
          </a:solidFill>
          <a:ln w="9525" cap="flat" cmpd="sng">
            <a:solidFill>
              <a:srgbClr val="BFD0E8"/>
            </a:solidFill>
            <a:prstDash val="solid"/>
            <a:round/>
            <a:headEnd type="none" w="sm" len="sm"/>
            <a:tailEnd type="none" w="sm" len="sm"/>
          </a:ln>
        </p:spPr>
        <p:txBody>
          <a:bodyPr spcFirstLastPara="1" wrap="square" lIns="92150" tIns="92150" rIns="92150" bIns="92150" anchor="ctr" anchorCtr="0">
            <a:noAutofit/>
          </a:bodyPr>
          <a:lstStyle/>
          <a:p>
            <a:pPr marL="0" marR="0" lvl="0" indent="0" algn="ctr" rtl="0">
              <a:lnSpc>
                <a:spcPct val="100000"/>
              </a:lnSpc>
              <a:spcBef>
                <a:spcPts val="0"/>
              </a:spcBef>
              <a:spcAft>
                <a:spcPts val="0"/>
              </a:spcAft>
              <a:buClr>
                <a:srgbClr val="000000"/>
              </a:buClr>
              <a:buSzPts val="1411"/>
              <a:buFont typeface="Arial"/>
              <a:buNone/>
            </a:pPr>
            <a:endParaRPr sz="2419" b="0" i="0" u="none" strike="noStrike" cap="none">
              <a:solidFill>
                <a:srgbClr val="FFFFFF"/>
              </a:solidFill>
              <a:highlight>
                <a:srgbClr val="BFD0E8"/>
              </a:highlight>
              <a:latin typeface="Space Grotesk"/>
              <a:ea typeface="Space Grotesk"/>
              <a:cs typeface="Space Grotesk"/>
              <a:sym typeface="Space Grotesk"/>
            </a:endParaRPr>
          </a:p>
        </p:txBody>
      </p:sp>
      <p:sp>
        <p:nvSpPr>
          <p:cNvPr id="368" name="Google Shape;368;p57"/>
          <p:cNvSpPr/>
          <p:nvPr/>
        </p:nvSpPr>
        <p:spPr>
          <a:xfrm>
            <a:off x="1190990" y="3523385"/>
            <a:ext cx="4131600" cy="701400"/>
          </a:xfrm>
          <a:prstGeom prst="rect">
            <a:avLst/>
          </a:prstGeom>
          <a:solidFill>
            <a:srgbClr val="FFFFFF"/>
          </a:solidFill>
          <a:ln w="9600" cap="flat" cmpd="sng">
            <a:solidFill>
              <a:srgbClr val="BFD0E8"/>
            </a:solidFill>
            <a:prstDash val="solid"/>
            <a:round/>
            <a:headEnd type="none" w="sm" len="sm"/>
            <a:tailEnd type="none" w="sm" len="sm"/>
          </a:ln>
        </p:spPr>
        <p:txBody>
          <a:bodyPr spcFirstLastPara="1" wrap="square" lIns="92150" tIns="92150" rIns="92150" bIns="92150" anchor="ctr" anchorCtr="0">
            <a:noAutofit/>
          </a:bodyPr>
          <a:lstStyle/>
          <a:p>
            <a:pPr marL="0" lvl="0" indent="0" algn="l" rtl="0">
              <a:spcBef>
                <a:spcPts val="0"/>
              </a:spcBef>
              <a:spcAft>
                <a:spcPts val="0"/>
              </a:spcAft>
              <a:buNone/>
            </a:pPr>
            <a:r>
              <a:rPr lang="en" sz="1109">
                <a:solidFill>
                  <a:schemeClr val="dk1"/>
                </a:solidFill>
                <a:latin typeface="Space Grotesk"/>
                <a:ea typeface="Space Grotesk"/>
                <a:cs typeface="Space Grotesk"/>
                <a:sym typeface="Space Grotesk"/>
              </a:rPr>
              <a:t>Protect Sensitive Data assets by allowing access only to known processes</a:t>
            </a:r>
            <a:endParaRPr sz="1109">
              <a:solidFill>
                <a:schemeClr val="dk1"/>
              </a:solidFill>
              <a:latin typeface="Space Grotesk"/>
              <a:ea typeface="Space Grotesk"/>
              <a:cs typeface="Space Grotesk"/>
              <a:sym typeface="Space Grotesk"/>
            </a:endParaRPr>
          </a:p>
        </p:txBody>
      </p:sp>
      <p:sp>
        <p:nvSpPr>
          <p:cNvPr id="369" name="Google Shape;369;p57"/>
          <p:cNvSpPr/>
          <p:nvPr/>
        </p:nvSpPr>
        <p:spPr>
          <a:xfrm>
            <a:off x="243525" y="4297400"/>
            <a:ext cx="955800" cy="701400"/>
          </a:xfrm>
          <a:prstGeom prst="rect">
            <a:avLst/>
          </a:prstGeom>
          <a:solidFill>
            <a:srgbClr val="E9EEF6"/>
          </a:solidFill>
          <a:ln w="9525" cap="flat" cmpd="sng">
            <a:solidFill>
              <a:srgbClr val="BFD0E8"/>
            </a:solidFill>
            <a:prstDash val="solid"/>
            <a:round/>
            <a:headEnd type="none" w="sm" len="sm"/>
            <a:tailEnd type="none" w="sm" len="sm"/>
          </a:ln>
        </p:spPr>
        <p:txBody>
          <a:bodyPr spcFirstLastPara="1" wrap="square" lIns="92150" tIns="92150" rIns="92150" bIns="92150" anchor="ctr" anchorCtr="0">
            <a:noAutofit/>
          </a:bodyPr>
          <a:lstStyle/>
          <a:p>
            <a:pPr marL="0" marR="0" lvl="0" indent="0" algn="ctr" rtl="0">
              <a:lnSpc>
                <a:spcPct val="100000"/>
              </a:lnSpc>
              <a:spcBef>
                <a:spcPts val="0"/>
              </a:spcBef>
              <a:spcAft>
                <a:spcPts val="0"/>
              </a:spcAft>
              <a:buClr>
                <a:srgbClr val="000000"/>
              </a:buClr>
              <a:buSzPts val="1411"/>
              <a:buFont typeface="Arial"/>
              <a:buNone/>
            </a:pPr>
            <a:endParaRPr sz="2419" b="0" i="0" u="none" strike="noStrike" cap="none">
              <a:solidFill>
                <a:srgbClr val="FFFFFF"/>
              </a:solidFill>
              <a:highlight>
                <a:srgbClr val="BFD0E8"/>
              </a:highlight>
              <a:latin typeface="Space Grotesk"/>
              <a:ea typeface="Space Grotesk"/>
              <a:cs typeface="Space Grotesk"/>
              <a:sym typeface="Space Grotesk"/>
            </a:endParaRPr>
          </a:p>
        </p:txBody>
      </p:sp>
      <p:sp>
        <p:nvSpPr>
          <p:cNvPr id="370" name="Google Shape;370;p57"/>
          <p:cNvSpPr/>
          <p:nvPr/>
        </p:nvSpPr>
        <p:spPr>
          <a:xfrm>
            <a:off x="1190990" y="4297390"/>
            <a:ext cx="4131600" cy="701400"/>
          </a:xfrm>
          <a:prstGeom prst="rect">
            <a:avLst/>
          </a:prstGeom>
          <a:solidFill>
            <a:srgbClr val="FFFFFF"/>
          </a:solidFill>
          <a:ln w="9600" cap="flat" cmpd="sng">
            <a:solidFill>
              <a:srgbClr val="BFD0E8"/>
            </a:solidFill>
            <a:prstDash val="solid"/>
            <a:round/>
            <a:headEnd type="none" w="sm" len="sm"/>
            <a:tailEnd type="none" w="sm" len="sm"/>
          </a:ln>
        </p:spPr>
        <p:txBody>
          <a:bodyPr spcFirstLastPara="1" wrap="square" lIns="92150" tIns="92150" rIns="92150" bIns="92150" anchor="ctr" anchorCtr="0">
            <a:noAutofit/>
          </a:bodyPr>
          <a:lstStyle/>
          <a:p>
            <a:pPr marL="0" lvl="0" indent="0" algn="l" rtl="0">
              <a:spcBef>
                <a:spcPts val="0"/>
              </a:spcBef>
              <a:spcAft>
                <a:spcPts val="0"/>
              </a:spcAft>
              <a:buNone/>
            </a:pPr>
            <a:r>
              <a:rPr lang="en" sz="1109">
                <a:solidFill>
                  <a:schemeClr val="dk1"/>
                </a:solidFill>
                <a:latin typeface="Space Grotesk"/>
                <a:ea typeface="Space Grotesk"/>
                <a:cs typeface="Space Grotesk"/>
                <a:sym typeface="Space Grotesk"/>
              </a:rPr>
              <a:t>Threat Model the POS app and create custom protection policies.</a:t>
            </a:r>
            <a:endParaRPr sz="1109">
              <a:solidFill>
                <a:schemeClr val="dk1"/>
              </a:solidFill>
              <a:latin typeface="Space Grotesk"/>
              <a:ea typeface="Space Grotesk"/>
              <a:cs typeface="Space Grotesk"/>
              <a:sym typeface="Space Grotesk"/>
            </a:endParaRPr>
          </a:p>
        </p:txBody>
      </p:sp>
      <p:pic>
        <p:nvPicPr>
          <p:cNvPr id="371" name="Google Shape;371;p57"/>
          <p:cNvPicPr preferRelativeResize="0"/>
          <p:nvPr/>
        </p:nvPicPr>
        <p:blipFill>
          <a:blip r:embed="rId3">
            <a:alphaModFix/>
          </a:blip>
          <a:stretch>
            <a:fillRect/>
          </a:stretch>
        </p:blipFill>
        <p:spPr>
          <a:xfrm>
            <a:off x="553701" y="1244131"/>
            <a:ext cx="335579" cy="335579"/>
          </a:xfrm>
          <a:prstGeom prst="rect">
            <a:avLst/>
          </a:prstGeom>
          <a:noFill/>
          <a:ln>
            <a:noFill/>
          </a:ln>
        </p:spPr>
      </p:pic>
      <p:pic>
        <p:nvPicPr>
          <p:cNvPr id="372" name="Google Shape;372;p57"/>
          <p:cNvPicPr preferRelativeResize="0"/>
          <p:nvPr/>
        </p:nvPicPr>
        <p:blipFill>
          <a:blip r:embed="rId3">
            <a:alphaModFix/>
          </a:blip>
          <a:stretch>
            <a:fillRect/>
          </a:stretch>
        </p:blipFill>
        <p:spPr>
          <a:xfrm>
            <a:off x="553701" y="2158288"/>
            <a:ext cx="335579" cy="335579"/>
          </a:xfrm>
          <a:prstGeom prst="rect">
            <a:avLst/>
          </a:prstGeom>
          <a:noFill/>
          <a:ln>
            <a:noFill/>
          </a:ln>
        </p:spPr>
      </p:pic>
      <p:pic>
        <p:nvPicPr>
          <p:cNvPr id="373" name="Google Shape;373;p57"/>
          <p:cNvPicPr preferRelativeResize="0"/>
          <p:nvPr/>
        </p:nvPicPr>
        <p:blipFill>
          <a:blip r:embed="rId3">
            <a:alphaModFix/>
          </a:blip>
          <a:stretch>
            <a:fillRect/>
          </a:stretch>
        </p:blipFill>
        <p:spPr>
          <a:xfrm>
            <a:off x="553701" y="2932200"/>
            <a:ext cx="335579" cy="335579"/>
          </a:xfrm>
          <a:prstGeom prst="rect">
            <a:avLst/>
          </a:prstGeom>
          <a:noFill/>
          <a:ln>
            <a:noFill/>
          </a:ln>
        </p:spPr>
      </p:pic>
      <p:pic>
        <p:nvPicPr>
          <p:cNvPr id="374" name="Google Shape;374;p57"/>
          <p:cNvPicPr preferRelativeResize="0"/>
          <p:nvPr/>
        </p:nvPicPr>
        <p:blipFill>
          <a:blip r:embed="rId3">
            <a:alphaModFix/>
          </a:blip>
          <a:stretch>
            <a:fillRect/>
          </a:stretch>
        </p:blipFill>
        <p:spPr>
          <a:xfrm>
            <a:off x="553701" y="3706388"/>
            <a:ext cx="335579" cy="335579"/>
          </a:xfrm>
          <a:prstGeom prst="rect">
            <a:avLst/>
          </a:prstGeom>
          <a:noFill/>
          <a:ln>
            <a:noFill/>
          </a:ln>
        </p:spPr>
      </p:pic>
      <p:pic>
        <p:nvPicPr>
          <p:cNvPr id="375" name="Google Shape;375;p57"/>
          <p:cNvPicPr preferRelativeResize="0"/>
          <p:nvPr/>
        </p:nvPicPr>
        <p:blipFill>
          <a:blip r:embed="rId3">
            <a:alphaModFix/>
          </a:blip>
          <a:stretch>
            <a:fillRect/>
          </a:stretch>
        </p:blipFill>
        <p:spPr>
          <a:xfrm>
            <a:off x="553701" y="4480036"/>
            <a:ext cx="335579" cy="335579"/>
          </a:xfrm>
          <a:prstGeom prst="rect">
            <a:avLst/>
          </a:prstGeom>
          <a:noFill/>
          <a:ln>
            <a:noFill/>
          </a:ln>
        </p:spPr>
      </p:pic>
      <p:grpSp>
        <p:nvGrpSpPr>
          <p:cNvPr id="376" name="Google Shape;376;p57"/>
          <p:cNvGrpSpPr/>
          <p:nvPr/>
        </p:nvGrpSpPr>
        <p:grpSpPr>
          <a:xfrm>
            <a:off x="5248228" y="1650932"/>
            <a:ext cx="3672591" cy="2425863"/>
            <a:chOff x="5493326" y="1833325"/>
            <a:chExt cx="3432007" cy="2266950"/>
          </a:xfrm>
        </p:grpSpPr>
        <p:pic>
          <p:nvPicPr>
            <p:cNvPr id="377" name="Google Shape;377;p57"/>
            <p:cNvPicPr preferRelativeResize="0"/>
            <p:nvPr/>
          </p:nvPicPr>
          <p:blipFill>
            <a:blip r:embed="rId4">
              <a:alphaModFix/>
            </a:blip>
            <a:stretch>
              <a:fillRect/>
            </a:stretch>
          </p:blipFill>
          <p:spPr>
            <a:xfrm>
              <a:off x="5493326" y="1833325"/>
              <a:ext cx="3432007" cy="2266950"/>
            </a:xfrm>
            <a:prstGeom prst="rect">
              <a:avLst/>
            </a:prstGeom>
            <a:noFill/>
            <a:ln>
              <a:noFill/>
            </a:ln>
          </p:spPr>
        </p:pic>
        <p:sp>
          <p:nvSpPr>
            <p:cNvPr id="378" name="Google Shape;378;p57"/>
            <p:cNvSpPr/>
            <p:nvPr/>
          </p:nvSpPr>
          <p:spPr>
            <a:xfrm>
              <a:off x="6117950" y="1914825"/>
              <a:ext cx="2234400" cy="1346700"/>
            </a:xfrm>
            <a:prstGeom prst="rect">
              <a:avLst/>
            </a:prstGeom>
            <a:solidFill>
              <a:schemeClr val="lt1"/>
            </a:solidFill>
            <a:ln>
              <a:noFill/>
            </a:ln>
          </p:spPr>
          <p:txBody>
            <a:bodyPr spcFirstLastPara="1" wrap="square" lIns="97825" tIns="97825" rIns="97825" bIns="97825" anchor="ctr" anchorCtr="0">
              <a:noAutofit/>
            </a:bodyPr>
            <a:lstStyle/>
            <a:p>
              <a:pPr marL="0" lvl="0" indent="0" algn="ctr" rtl="0">
                <a:spcBef>
                  <a:spcPts val="0"/>
                </a:spcBef>
                <a:spcAft>
                  <a:spcPts val="0"/>
                </a:spcAft>
                <a:buNone/>
              </a:pPr>
              <a:endParaRPr sz="1498">
                <a:solidFill>
                  <a:schemeClr val="lt1"/>
                </a:solidFill>
              </a:endParaRPr>
            </a:p>
          </p:txBody>
        </p:sp>
        <p:pic>
          <p:nvPicPr>
            <p:cNvPr id="379" name="Google Shape;379;p57"/>
            <p:cNvPicPr preferRelativeResize="0"/>
            <p:nvPr/>
          </p:nvPicPr>
          <p:blipFill rotWithShape="1">
            <a:blip r:embed="rId5">
              <a:alphaModFix/>
            </a:blip>
            <a:srcRect l="10455" t="38643" r="9857" b="39734"/>
            <a:stretch/>
          </p:blipFill>
          <p:spPr>
            <a:xfrm>
              <a:off x="6228613" y="2268223"/>
              <a:ext cx="2021778" cy="548600"/>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8"/>
          <p:cNvSpPr txBox="1">
            <a:spLocks noGrp="1"/>
          </p:cNvSpPr>
          <p:nvPr>
            <p:ph type="title"/>
          </p:nvPr>
        </p:nvSpPr>
        <p:spPr>
          <a:xfrm>
            <a:off x="152950" y="108725"/>
            <a:ext cx="7111200" cy="477000"/>
          </a:xfrm>
          <a:prstGeom prst="rect">
            <a:avLst/>
          </a:prstGeom>
        </p:spPr>
        <p:txBody>
          <a:bodyPr spcFirstLastPara="1" wrap="square" lIns="76150" tIns="76150" rIns="76150" bIns="76150" anchor="ctr" anchorCtr="0">
            <a:noAutofit/>
          </a:bodyPr>
          <a:lstStyle/>
          <a:p>
            <a:pPr marL="0" lvl="0" indent="0" algn="l" rtl="0">
              <a:spcBef>
                <a:spcPts val="0"/>
              </a:spcBef>
              <a:spcAft>
                <a:spcPts val="0"/>
              </a:spcAft>
              <a:buSzPts val="990"/>
              <a:buNone/>
            </a:pPr>
            <a:r>
              <a:rPr lang="en" sz="2200" b="1">
                <a:latin typeface="Space Grotesk"/>
                <a:ea typeface="Space Grotesk"/>
                <a:cs typeface="Space Grotesk"/>
                <a:sym typeface="Space Grotesk"/>
              </a:rPr>
              <a:t>Adversarial Simulation Tool: MITRE Caldera</a:t>
            </a:r>
            <a:endParaRPr sz="2200" b="1">
              <a:latin typeface="Space Grotesk"/>
              <a:ea typeface="Space Grotesk"/>
              <a:cs typeface="Space Grotesk"/>
              <a:sym typeface="Space Grotesk"/>
            </a:endParaRPr>
          </a:p>
        </p:txBody>
      </p:sp>
      <p:sp>
        <p:nvSpPr>
          <p:cNvPr id="385" name="Google Shape;385;p58"/>
          <p:cNvSpPr txBox="1">
            <a:spLocks noGrp="1"/>
          </p:cNvSpPr>
          <p:nvPr>
            <p:ph type="body" idx="4294967295"/>
          </p:nvPr>
        </p:nvSpPr>
        <p:spPr>
          <a:xfrm>
            <a:off x="152950" y="972325"/>
            <a:ext cx="4813200" cy="1289100"/>
          </a:xfrm>
          <a:prstGeom prst="rect">
            <a:avLst/>
          </a:prstGeom>
        </p:spPr>
        <p:txBody>
          <a:bodyPr spcFirstLastPara="1" wrap="square" lIns="76150" tIns="76150" rIns="76150" bIns="76150" anchor="t" anchorCtr="0">
            <a:normAutofit/>
          </a:bodyPr>
          <a:lstStyle/>
          <a:p>
            <a:pPr marL="380864" lvl="0" indent="-279298" algn="l" rtl="0">
              <a:lnSpc>
                <a:spcPct val="115000"/>
              </a:lnSpc>
              <a:spcBef>
                <a:spcPts val="0"/>
              </a:spcBef>
              <a:spcAft>
                <a:spcPts val="0"/>
              </a:spcAft>
              <a:buClr>
                <a:schemeClr val="dk1"/>
              </a:buClr>
              <a:buSzPts val="1399"/>
              <a:buFont typeface="Space Grotesk"/>
              <a:buChar char="●"/>
            </a:pPr>
            <a:r>
              <a:rPr lang="en" sz="1399">
                <a:solidFill>
                  <a:schemeClr val="dk1"/>
                </a:solidFill>
                <a:latin typeface="Space Grotesk"/>
                <a:ea typeface="Space Grotesk"/>
                <a:cs typeface="Space Grotesk"/>
                <a:sym typeface="Space Grotesk"/>
              </a:rPr>
              <a:t>Agent: Agent performing an attack</a:t>
            </a:r>
            <a:endParaRPr sz="1399">
              <a:solidFill>
                <a:schemeClr val="dk1"/>
              </a:solidFill>
              <a:latin typeface="Space Grotesk"/>
              <a:ea typeface="Space Grotesk"/>
              <a:cs typeface="Space Grotesk"/>
              <a:sym typeface="Space Grotesk"/>
            </a:endParaRPr>
          </a:p>
          <a:p>
            <a:pPr marL="380864" lvl="0" indent="-279298" algn="l" rtl="0">
              <a:lnSpc>
                <a:spcPct val="115000"/>
              </a:lnSpc>
              <a:spcBef>
                <a:spcPts val="0"/>
              </a:spcBef>
              <a:spcAft>
                <a:spcPts val="0"/>
              </a:spcAft>
              <a:buClr>
                <a:schemeClr val="dk1"/>
              </a:buClr>
              <a:buSzPts val="1399"/>
              <a:buFont typeface="Space Grotesk"/>
              <a:buChar char="●"/>
            </a:pPr>
            <a:r>
              <a:rPr lang="en" sz="1399">
                <a:solidFill>
                  <a:schemeClr val="dk1"/>
                </a:solidFill>
                <a:latin typeface="Space Grotesk"/>
                <a:ea typeface="Space Grotesk"/>
                <a:cs typeface="Space Grotesk"/>
                <a:sym typeface="Space Grotesk"/>
              </a:rPr>
              <a:t>Ability: Attack use-case</a:t>
            </a:r>
            <a:endParaRPr sz="1399">
              <a:solidFill>
                <a:schemeClr val="dk1"/>
              </a:solidFill>
              <a:latin typeface="Space Grotesk"/>
              <a:ea typeface="Space Grotesk"/>
              <a:cs typeface="Space Grotesk"/>
              <a:sym typeface="Space Grotesk"/>
            </a:endParaRPr>
          </a:p>
          <a:p>
            <a:pPr marL="380864" lvl="0" indent="-279298" algn="l" rtl="0">
              <a:lnSpc>
                <a:spcPct val="115000"/>
              </a:lnSpc>
              <a:spcBef>
                <a:spcPts val="0"/>
              </a:spcBef>
              <a:spcAft>
                <a:spcPts val="0"/>
              </a:spcAft>
              <a:buClr>
                <a:schemeClr val="dk1"/>
              </a:buClr>
              <a:buSzPts val="1399"/>
              <a:buFont typeface="Space Grotesk"/>
              <a:buChar char="●"/>
            </a:pPr>
            <a:r>
              <a:rPr lang="en" sz="1399">
                <a:solidFill>
                  <a:schemeClr val="dk1"/>
                </a:solidFill>
                <a:latin typeface="Space Grotesk"/>
                <a:ea typeface="Space Grotesk"/>
                <a:cs typeface="Space Grotesk"/>
                <a:sym typeface="Space Grotesk"/>
              </a:rPr>
              <a:t>Adversary:  Group of Abilities</a:t>
            </a:r>
            <a:endParaRPr sz="1399">
              <a:solidFill>
                <a:schemeClr val="dk1"/>
              </a:solidFill>
              <a:latin typeface="Space Grotesk"/>
              <a:ea typeface="Space Grotesk"/>
              <a:cs typeface="Space Grotesk"/>
              <a:sym typeface="Space Grotesk"/>
            </a:endParaRPr>
          </a:p>
          <a:p>
            <a:pPr marL="380864" lvl="0" indent="-279298" algn="l" rtl="0">
              <a:lnSpc>
                <a:spcPct val="115000"/>
              </a:lnSpc>
              <a:spcBef>
                <a:spcPts val="0"/>
              </a:spcBef>
              <a:spcAft>
                <a:spcPts val="0"/>
              </a:spcAft>
              <a:buClr>
                <a:schemeClr val="dk1"/>
              </a:buClr>
              <a:buSzPts val="1399"/>
              <a:buFont typeface="Space Grotesk"/>
              <a:buChar char="●"/>
            </a:pPr>
            <a:r>
              <a:rPr lang="en" sz="1399">
                <a:solidFill>
                  <a:schemeClr val="dk1"/>
                </a:solidFill>
                <a:latin typeface="Space Grotesk"/>
                <a:ea typeface="Space Grotesk"/>
                <a:cs typeface="Space Grotesk"/>
                <a:sym typeface="Space Grotesk"/>
              </a:rPr>
              <a:t>Operation: Attack Operation</a:t>
            </a:r>
            <a:endParaRPr sz="1399">
              <a:solidFill>
                <a:schemeClr val="dk1"/>
              </a:solidFill>
              <a:latin typeface="Space Grotesk"/>
              <a:ea typeface="Space Grotesk"/>
              <a:cs typeface="Space Grotesk"/>
              <a:sym typeface="Space Grotesk"/>
            </a:endParaRPr>
          </a:p>
        </p:txBody>
      </p:sp>
      <p:sp>
        <p:nvSpPr>
          <p:cNvPr id="386" name="Google Shape;386;p58"/>
          <p:cNvSpPr txBox="1"/>
          <p:nvPr/>
        </p:nvSpPr>
        <p:spPr>
          <a:xfrm>
            <a:off x="6221700" y="3738175"/>
            <a:ext cx="2804100" cy="612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605"/>
              <a:buNone/>
            </a:pPr>
            <a:r>
              <a:rPr lang="en" sz="1041" b="1">
                <a:solidFill>
                  <a:srgbClr val="0000FF"/>
                </a:solidFill>
                <a:latin typeface="Space Grotesk"/>
                <a:ea typeface="Space Grotesk"/>
                <a:cs typeface="Space Grotesk"/>
                <a:sym typeface="Space Grotesk"/>
              </a:rPr>
              <a:t>Ref:</a:t>
            </a:r>
            <a:endParaRPr sz="1041" b="1">
              <a:solidFill>
                <a:srgbClr val="0000FF"/>
              </a:solidFill>
              <a:latin typeface="Space Grotesk"/>
              <a:ea typeface="Space Grotesk"/>
              <a:cs typeface="Space Grotesk"/>
              <a:sym typeface="Space Grotesk"/>
            </a:endParaRPr>
          </a:p>
          <a:p>
            <a:pPr marL="380864" lvl="0" indent="-249150" algn="l" rtl="0">
              <a:spcBef>
                <a:spcPts val="0"/>
              </a:spcBef>
              <a:spcAft>
                <a:spcPts val="0"/>
              </a:spcAft>
              <a:buSzPts val="925"/>
              <a:buFont typeface="Space Grotesk"/>
              <a:buAutoNum type="arabicPeriod"/>
            </a:pPr>
            <a:r>
              <a:rPr lang="en" sz="925" u="sng">
                <a:solidFill>
                  <a:schemeClr val="hlink"/>
                </a:solidFill>
                <a:latin typeface="Space Grotesk"/>
                <a:ea typeface="Space Grotesk"/>
                <a:cs typeface="Space Grotesk"/>
                <a:sym typeface="Space Grotesk"/>
                <a:hlinkClick r:id="rId3"/>
              </a:rPr>
              <a:t>MITRE Caldera: Learning the terminology</a:t>
            </a:r>
            <a:endParaRPr sz="925">
              <a:solidFill>
                <a:srgbClr val="262626"/>
              </a:solidFill>
              <a:latin typeface="Space Grotesk"/>
              <a:ea typeface="Space Grotesk"/>
              <a:cs typeface="Space Grotesk"/>
              <a:sym typeface="Space Grotesk"/>
            </a:endParaRPr>
          </a:p>
          <a:p>
            <a:pPr marL="380864" lvl="0" indent="-249150" algn="l" rtl="0">
              <a:spcBef>
                <a:spcPts val="0"/>
              </a:spcBef>
              <a:spcAft>
                <a:spcPts val="0"/>
              </a:spcAft>
              <a:buClr>
                <a:srgbClr val="262626"/>
              </a:buClr>
              <a:buSzPts val="925"/>
              <a:buFont typeface="Space Grotesk"/>
              <a:buAutoNum type="arabicPeriod"/>
            </a:pPr>
            <a:r>
              <a:rPr lang="en" sz="925" u="sng">
                <a:solidFill>
                  <a:schemeClr val="hlink"/>
                </a:solidFill>
                <a:latin typeface="Space Grotesk"/>
                <a:ea typeface="Space Grotesk"/>
                <a:cs typeface="Space Grotesk"/>
                <a:sym typeface="Space Grotesk"/>
                <a:hlinkClick r:id="rId4"/>
              </a:rPr>
              <a:t>https://github.com/nyrahul/k8s-sandcat</a:t>
            </a:r>
            <a:endParaRPr sz="925">
              <a:solidFill>
                <a:srgbClr val="262626"/>
              </a:solidFill>
              <a:latin typeface="Space Grotesk"/>
              <a:ea typeface="Space Grotesk"/>
              <a:cs typeface="Space Grotesk"/>
              <a:sym typeface="Space Grotesk"/>
            </a:endParaRPr>
          </a:p>
        </p:txBody>
      </p:sp>
      <p:pic>
        <p:nvPicPr>
          <p:cNvPr id="387" name="Google Shape;387;p58"/>
          <p:cNvPicPr preferRelativeResize="0"/>
          <p:nvPr/>
        </p:nvPicPr>
        <p:blipFill>
          <a:blip r:embed="rId5">
            <a:alphaModFix/>
          </a:blip>
          <a:stretch>
            <a:fillRect/>
          </a:stretch>
        </p:blipFill>
        <p:spPr>
          <a:xfrm>
            <a:off x="4878038" y="718503"/>
            <a:ext cx="4147886" cy="2274499"/>
          </a:xfrm>
          <a:prstGeom prst="rect">
            <a:avLst/>
          </a:prstGeom>
          <a:noFill/>
          <a:ln>
            <a:noFill/>
          </a:ln>
        </p:spPr>
      </p:pic>
      <p:pic>
        <p:nvPicPr>
          <p:cNvPr id="388" name="Google Shape;388;p58"/>
          <p:cNvPicPr preferRelativeResize="0"/>
          <p:nvPr/>
        </p:nvPicPr>
        <p:blipFill>
          <a:blip r:embed="rId6">
            <a:alphaModFix/>
          </a:blip>
          <a:stretch>
            <a:fillRect/>
          </a:stretch>
        </p:blipFill>
        <p:spPr>
          <a:xfrm>
            <a:off x="69775" y="3080425"/>
            <a:ext cx="5941012" cy="18420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pic>
        <p:nvPicPr>
          <p:cNvPr id="393" name="Google Shape;393;p59"/>
          <p:cNvPicPr preferRelativeResize="0"/>
          <p:nvPr/>
        </p:nvPicPr>
        <p:blipFill>
          <a:blip r:embed="rId3">
            <a:alphaModFix/>
          </a:blip>
          <a:stretch>
            <a:fillRect/>
          </a:stretch>
        </p:blipFill>
        <p:spPr>
          <a:xfrm>
            <a:off x="1345875" y="718750"/>
            <a:ext cx="5633833" cy="4360177"/>
          </a:xfrm>
          <a:prstGeom prst="rect">
            <a:avLst/>
          </a:prstGeom>
          <a:noFill/>
          <a:ln>
            <a:noFill/>
          </a:ln>
        </p:spPr>
      </p:pic>
      <p:sp>
        <p:nvSpPr>
          <p:cNvPr id="394" name="Google Shape;394;p59"/>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a:t>Adversarial Simulation across multiple vendors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60"/>
          <p:cNvSpPr txBox="1">
            <a:spLocks noGrp="1"/>
          </p:cNvSpPr>
          <p:nvPr>
            <p:ph type="title"/>
          </p:nvPr>
        </p:nvSpPr>
        <p:spPr>
          <a:xfrm>
            <a:off x="54675" y="67050"/>
            <a:ext cx="6946500" cy="5727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b="1">
                <a:latin typeface="Space Grotesk"/>
                <a:ea typeface="Space Grotesk"/>
                <a:cs typeface="Space Grotesk"/>
                <a:sym typeface="Space Grotesk"/>
              </a:rPr>
              <a:t>Detailed Demo for MITRE Caldera </a:t>
            </a:r>
            <a:endParaRPr sz="2200" b="1">
              <a:latin typeface="Space Grotesk"/>
              <a:ea typeface="Space Grotesk"/>
              <a:cs typeface="Space Grotesk"/>
              <a:sym typeface="Space Grotesk"/>
            </a:endParaRPr>
          </a:p>
        </p:txBody>
      </p:sp>
      <p:sp>
        <p:nvSpPr>
          <p:cNvPr id="400" name="Google Shape;400;p60"/>
          <p:cNvSpPr txBox="1">
            <a:spLocks noGrp="1"/>
          </p:cNvSpPr>
          <p:nvPr>
            <p:ph type="body" idx="4294967295"/>
          </p:nvPr>
        </p:nvSpPr>
        <p:spPr>
          <a:xfrm>
            <a:off x="183175" y="933250"/>
            <a:ext cx="8520600" cy="3416400"/>
          </a:xfrm>
          <a:prstGeom prst="rect">
            <a:avLst/>
          </a:prstGeom>
        </p:spPr>
        <p:txBody>
          <a:bodyPr spcFirstLastPara="1" wrap="square" lIns="91425" tIns="91425" rIns="91425" bIns="91425" anchor="ctr" anchorCtr="0">
            <a:normAutofit/>
          </a:bodyPr>
          <a:lstStyle/>
          <a:p>
            <a:pPr marL="0" lvl="0" indent="0" algn="ctr" rtl="0">
              <a:spcBef>
                <a:spcPts val="0"/>
              </a:spcBef>
              <a:spcAft>
                <a:spcPts val="1200"/>
              </a:spcAft>
              <a:buNone/>
            </a:pPr>
            <a:r>
              <a:rPr lang="en" sz="2600" u="sng">
                <a:solidFill>
                  <a:schemeClr val="hlink"/>
                </a:solidFill>
                <a:latin typeface="Space Grotesk"/>
                <a:ea typeface="Space Grotesk"/>
                <a:cs typeface="Space Grotesk"/>
                <a:sym typeface="Space Grotesk"/>
                <a:hlinkClick r:id="rId3"/>
              </a:rPr>
              <a:t>https://app.storylane.io/share/2ybs00khhlmk</a:t>
            </a:r>
            <a:endParaRPr sz="2600">
              <a:latin typeface="Space Grotesk"/>
              <a:ea typeface="Space Grotesk"/>
              <a:cs typeface="Space Grotesk"/>
              <a:sym typeface="Space Grotesk"/>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61"/>
          <p:cNvSpPr txBox="1"/>
          <p:nvPr/>
        </p:nvSpPr>
        <p:spPr>
          <a:xfrm>
            <a:off x="299219" y="4932750"/>
            <a:ext cx="2543400" cy="153900"/>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FFFFFF"/>
              </a:buClr>
              <a:buSzPts val="700"/>
              <a:buFont typeface="Montserrat"/>
              <a:buNone/>
            </a:pPr>
            <a:endParaRPr sz="1000" b="0" i="0" u="none" strike="noStrike" cap="none">
              <a:solidFill>
                <a:srgbClr val="000000"/>
              </a:solidFill>
              <a:latin typeface="Montserrat Medium"/>
              <a:ea typeface="Montserrat Medium"/>
              <a:cs typeface="Montserrat Medium"/>
              <a:sym typeface="Montserrat Medium"/>
            </a:endParaRPr>
          </a:p>
        </p:txBody>
      </p:sp>
      <p:sp>
        <p:nvSpPr>
          <p:cNvPr id="406" name="Google Shape;406;p61"/>
          <p:cNvSpPr txBox="1">
            <a:spLocks noGrp="1"/>
          </p:cNvSpPr>
          <p:nvPr>
            <p:ph type="title"/>
          </p:nvPr>
        </p:nvSpPr>
        <p:spPr>
          <a:xfrm>
            <a:off x="873450" y="1761775"/>
            <a:ext cx="7397100" cy="1204800"/>
          </a:xfrm>
          <a:prstGeom prst="rect">
            <a:avLst/>
          </a:prstGeom>
        </p:spPr>
        <p:txBody>
          <a:bodyPr spcFirstLastPara="1" wrap="square" lIns="365750" tIns="91425" rIns="91425" bIns="91425" anchor="ctr" anchorCtr="0">
            <a:normAutofit/>
          </a:bodyPr>
          <a:lstStyle/>
          <a:p>
            <a:pPr marL="0" lvl="0" indent="0" algn="ctr" rtl="0">
              <a:spcBef>
                <a:spcPts val="0"/>
              </a:spcBef>
              <a:spcAft>
                <a:spcPts val="0"/>
              </a:spcAft>
              <a:buClr>
                <a:schemeClr val="dk1"/>
              </a:buClr>
              <a:buSzPts val="3000"/>
              <a:buFont typeface="Arial"/>
              <a:buNone/>
            </a:pPr>
            <a:r>
              <a:rPr lang="en" sz="3000" b="1">
                <a:latin typeface="Space Grotesk"/>
                <a:ea typeface="Space Grotesk"/>
                <a:cs typeface="Space Grotesk"/>
                <a:sym typeface="Space Grotesk"/>
              </a:rPr>
              <a:t>Appendix</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62"/>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VM Onboarding</a:t>
            </a:r>
            <a:endParaRPr sz="2200"/>
          </a:p>
        </p:txBody>
      </p:sp>
      <p:sp>
        <p:nvSpPr>
          <p:cNvPr id="412" name="Google Shape;412;p62"/>
          <p:cNvSpPr txBox="1"/>
          <p:nvPr/>
        </p:nvSpPr>
        <p:spPr>
          <a:xfrm>
            <a:off x="1929350" y="4020425"/>
            <a:ext cx="2469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b="1">
              <a:latin typeface="Space Grotesk"/>
              <a:ea typeface="Space Grotesk"/>
              <a:cs typeface="Space Grotesk"/>
              <a:sym typeface="Space Grotesk"/>
            </a:endParaRPr>
          </a:p>
        </p:txBody>
      </p:sp>
      <p:sp>
        <p:nvSpPr>
          <p:cNvPr id="413" name="Google Shape;413;p62"/>
          <p:cNvSpPr txBox="1"/>
          <p:nvPr/>
        </p:nvSpPr>
        <p:spPr>
          <a:xfrm>
            <a:off x="194325" y="902225"/>
            <a:ext cx="8459700" cy="3118200"/>
          </a:xfrm>
          <a:prstGeom prst="rect">
            <a:avLst/>
          </a:prstGeom>
          <a:noFill/>
          <a:ln>
            <a:noFill/>
          </a:ln>
        </p:spPr>
        <p:txBody>
          <a:bodyPr spcFirstLastPara="1" wrap="square" lIns="91425" tIns="91425" rIns="91425" bIns="91425" anchor="t" anchorCtr="0">
            <a:normAutofit/>
          </a:bodyPr>
          <a:lstStyle/>
          <a:p>
            <a:pPr marL="457200" lvl="0" indent="-304800" algn="l" rtl="0">
              <a:lnSpc>
                <a:spcPct val="115000"/>
              </a:lnSpc>
              <a:spcBef>
                <a:spcPts val="0"/>
              </a:spcBef>
              <a:spcAft>
                <a:spcPts val="0"/>
              </a:spcAft>
              <a:buClr>
                <a:schemeClr val="dk1"/>
              </a:buClr>
              <a:buSzPts val="1200"/>
              <a:buChar char="●"/>
            </a:pPr>
            <a:r>
              <a:rPr lang="en" sz="1200">
                <a:solidFill>
                  <a:schemeClr val="dk1"/>
                </a:solidFill>
                <a:latin typeface="Space Grotesk"/>
                <a:ea typeface="Space Grotesk"/>
                <a:cs typeface="Space Grotesk"/>
                <a:sym typeface="Space Grotesk"/>
              </a:rPr>
              <a:t>Navigate to Settings → Manage Cluster and click on Onboard Now</a:t>
            </a:r>
            <a:endParaRPr sz="1200">
              <a:solidFill>
                <a:schemeClr val="dk1"/>
              </a:solidFill>
              <a:latin typeface="Space Grotesk"/>
              <a:ea typeface="Space Grotesk"/>
              <a:cs typeface="Space Grotesk"/>
              <a:sym typeface="Space Grotesk"/>
            </a:endParaRPr>
          </a:p>
          <a:p>
            <a:pPr marL="457200" lvl="0" indent="-304800" algn="l" rtl="0">
              <a:lnSpc>
                <a:spcPct val="115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Select cluster type as VM, enter Name and Save. Verify prerequisites and install the agents via the commands on screen</a:t>
            </a:r>
            <a:endParaRPr sz="1200">
              <a:solidFill>
                <a:schemeClr val="dk1"/>
              </a:solidFill>
              <a:latin typeface="Space Grotesk"/>
              <a:ea typeface="Space Grotesk"/>
              <a:cs typeface="Space Grotesk"/>
              <a:sym typeface="Space Grotesk"/>
            </a:endParaRPr>
          </a:p>
        </p:txBody>
      </p:sp>
      <p:pic>
        <p:nvPicPr>
          <p:cNvPr id="414" name="Google Shape;414;p62"/>
          <p:cNvPicPr preferRelativeResize="0"/>
          <p:nvPr/>
        </p:nvPicPr>
        <p:blipFill>
          <a:blip r:embed="rId3">
            <a:alphaModFix/>
          </a:blip>
          <a:stretch>
            <a:fillRect/>
          </a:stretch>
        </p:blipFill>
        <p:spPr>
          <a:xfrm>
            <a:off x="1322151" y="1826600"/>
            <a:ext cx="6050991" cy="2857825"/>
          </a:xfrm>
          <a:prstGeom prst="rect">
            <a:avLst/>
          </a:prstGeom>
          <a:noFill/>
          <a:ln w="9525" cap="flat" cmpd="sng">
            <a:solidFill>
              <a:srgbClr val="D9D9D9"/>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63"/>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VM Onboarding</a:t>
            </a:r>
            <a:endParaRPr sz="2200"/>
          </a:p>
        </p:txBody>
      </p:sp>
      <p:sp>
        <p:nvSpPr>
          <p:cNvPr id="420" name="Google Shape;420;p63"/>
          <p:cNvSpPr txBox="1"/>
          <p:nvPr/>
        </p:nvSpPr>
        <p:spPr>
          <a:xfrm>
            <a:off x="1929350" y="4020425"/>
            <a:ext cx="2469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b="1">
              <a:latin typeface="Space Grotesk"/>
              <a:ea typeface="Space Grotesk"/>
              <a:cs typeface="Space Grotesk"/>
              <a:sym typeface="Space Grotesk"/>
            </a:endParaRPr>
          </a:p>
        </p:txBody>
      </p:sp>
      <p:pic>
        <p:nvPicPr>
          <p:cNvPr id="421" name="Google Shape;421;p63"/>
          <p:cNvPicPr preferRelativeResize="0"/>
          <p:nvPr/>
        </p:nvPicPr>
        <p:blipFill>
          <a:blip r:embed="rId3">
            <a:alphaModFix/>
          </a:blip>
          <a:stretch>
            <a:fillRect/>
          </a:stretch>
        </p:blipFill>
        <p:spPr>
          <a:xfrm>
            <a:off x="273600" y="1411963"/>
            <a:ext cx="8596799" cy="2705149"/>
          </a:xfrm>
          <a:prstGeom prst="rect">
            <a:avLst/>
          </a:prstGeom>
          <a:noFill/>
          <a:ln w="9525" cap="flat" cmpd="sng">
            <a:solidFill>
              <a:srgbClr val="D9D9D9"/>
            </a:solidFill>
            <a:prstDash val="solid"/>
            <a:round/>
            <a:headEnd type="none" w="sm" len="sm"/>
            <a:tailEnd type="none" w="sm" len="sm"/>
          </a:ln>
        </p:spPr>
      </p:pic>
      <p:sp>
        <p:nvSpPr>
          <p:cNvPr id="422" name="Google Shape;422;p63"/>
          <p:cNvSpPr txBox="1"/>
          <p:nvPr/>
        </p:nvSpPr>
        <p:spPr>
          <a:xfrm>
            <a:off x="178700" y="844600"/>
            <a:ext cx="85968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Space Grotesk"/>
                <a:ea typeface="Space Grotesk"/>
                <a:cs typeface="Space Grotesk"/>
                <a:sym typeface="Space Grotesk"/>
              </a:rPr>
              <a:t>STIG scan can also be enabled to ensure that virtual machine comply with security benchmark practices.</a:t>
            </a:r>
            <a:endParaRPr sz="1200">
              <a:solidFill>
                <a:schemeClr val="dk1"/>
              </a:solidFill>
              <a:latin typeface="Space Grotesk"/>
              <a:ea typeface="Space Grotesk"/>
              <a:cs typeface="Space Grotesk"/>
              <a:sym typeface="Space Grotesk"/>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64"/>
          <p:cNvSpPr txBox="1"/>
          <p:nvPr/>
        </p:nvSpPr>
        <p:spPr>
          <a:xfrm>
            <a:off x="299219" y="4932750"/>
            <a:ext cx="2543400" cy="153900"/>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FFFFFF"/>
              </a:buClr>
              <a:buSzPts val="700"/>
              <a:buFont typeface="Montserrat"/>
              <a:buNone/>
            </a:pPr>
            <a:endParaRPr sz="1000" b="0" i="0" u="none" strike="noStrike" cap="none">
              <a:solidFill>
                <a:srgbClr val="000000"/>
              </a:solidFill>
              <a:latin typeface="Montserrat Medium"/>
              <a:ea typeface="Montserrat Medium"/>
              <a:cs typeface="Montserrat Medium"/>
              <a:sym typeface="Montserrat Medium"/>
            </a:endParaRPr>
          </a:p>
        </p:txBody>
      </p:sp>
      <p:sp>
        <p:nvSpPr>
          <p:cNvPr id="428" name="Google Shape;428;p64"/>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vagrant ssh</a:t>
            </a:r>
            <a:endParaRPr/>
          </a:p>
        </p:txBody>
      </p:sp>
      <p:sp>
        <p:nvSpPr>
          <p:cNvPr id="429" name="Google Shape;429;p64"/>
          <p:cNvSpPr txBox="1">
            <a:spLocks noGrp="1"/>
          </p:cNvSpPr>
          <p:nvPr>
            <p:ph type="title"/>
          </p:nvPr>
        </p:nvSpPr>
        <p:spPr>
          <a:xfrm>
            <a:off x="873450" y="1761775"/>
            <a:ext cx="7397100" cy="1204800"/>
          </a:xfrm>
          <a:prstGeom prst="rect">
            <a:avLst/>
          </a:prstGeom>
        </p:spPr>
        <p:txBody>
          <a:bodyPr spcFirstLastPara="1" wrap="square" lIns="365750" tIns="91425" rIns="91425" bIns="91425" anchor="ctr" anchorCtr="0">
            <a:normAutofit/>
          </a:bodyPr>
          <a:lstStyle/>
          <a:p>
            <a:pPr marL="0" lvl="0" indent="0" algn="ctr" rtl="0">
              <a:spcBef>
                <a:spcPts val="0"/>
              </a:spcBef>
              <a:spcAft>
                <a:spcPts val="0"/>
              </a:spcAft>
              <a:buClr>
                <a:schemeClr val="dk1"/>
              </a:buClr>
              <a:buSzPts val="3000"/>
              <a:buFont typeface="Arial"/>
              <a:buNone/>
            </a:pPr>
            <a:r>
              <a:rPr lang="en" sz="3000" b="1">
                <a:latin typeface="Space Grotesk"/>
                <a:ea typeface="Space Grotesk"/>
                <a:cs typeface="Space Grotesk"/>
                <a:sym typeface="Space Grotesk"/>
              </a:rPr>
              <a:t>VM  Scanning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65"/>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Vulnerability Scanning  and Malware Scanning </a:t>
            </a:r>
            <a:endParaRPr sz="2200"/>
          </a:p>
        </p:txBody>
      </p:sp>
      <p:sp>
        <p:nvSpPr>
          <p:cNvPr id="435" name="Google Shape;435;p65"/>
          <p:cNvSpPr txBox="1"/>
          <p:nvPr/>
        </p:nvSpPr>
        <p:spPr>
          <a:xfrm>
            <a:off x="1929350" y="4020425"/>
            <a:ext cx="2469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b="1">
              <a:latin typeface="Space Grotesk"/>
              <a:ea typeface="Space Grotesk"/>
              <a:cs typeface="Space Grotesk"/>
              <a:sym typeface="Space Grotesk"/>
            </a:endParaRPr>
          </a:p>
        </p:txBody>
      </p:sp>
      <p:sp>
        <p:nvSpPr>
          <p:cNvPr id="436" name="Google Shape;436;p65"/>
          <p:cNvSpPr txBox="1"/>
          <p:nvPr/>
        </p:nvSpPr>
        <p:spPr>
          <a:xfrm>
            <a:off x="289875" y="914873"/>
            <a:ext cx="8758800" cy="3629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None/>
            </a:pPr>
            <a:r>
              <a:rPr lang="en" sz="1900" b="1">
                <a:solidFill>
                  <a:schemeClr val="dk1"/>
                </a:solidFill>
                <a:latin typeface="Space Grotesk"/>
                <a:ea typeface="Space Grotesk"/>
                <a:cs typeface="Space Grotesk"/>
                <a:sym typeface="Space Grotesk"/>
              </a:rPr>
              <a:t>Prerequisites</a:t>
            </a:r>
            <a:endParaRPr sz="1900" b="1">
              <a:solidFill>
                <a:schemeClr val="dk1"/>
              </a:solidFill>
              <a:latin typeface="Space Grotesk"/>
              <a:ea typeface="Space Grotesk"/>
              <a:cs typeface="Space Grotesk"/>
              <a:sym typeface="Space Grotesk"/>
            </a:endParaRPr>
          </a:p>
          <a:p>
            <a:pPr marL="457200" lvl="0" indent="-323850" algn="l" rtl="0">
              <a:lnSpc>
                <a:spcPct val="150000"/>
              </a:lnSpc>
              <a:spcBef>
                <a:spcPts val="1200"/>
              </a:spcBef>
              <a:spcAft>
                <a:spcPts val="0"/>
              </a:spcAft>
              <a:buClr>
                <a:schemeClr val="dk1"/>
              </a:buClr>
              <a:buSzPts val="1500"/>
              <a:buFont typeface="Space Grotesk"/>
              <a:buChar char="●"/>
            </a:pPr>
            <a:r>
              <a:rPr lang="en" sz="1500">
                <a:solidFill>
                  <a:schemeClr val="dk1"/>
                </a:solidFill>
                <a:latin typeface="Space Grotesk"/>
                <a:ea typeface="Space Grotesk"/>
                <a:cs typeface="Space Grotesk"/>
                <a:sym typeface="Space Grotesk"/>
              </a:rPr>
              <a:t>Root or sudo access to the Linux VM</a:t>
            </a:r>
            <a:endParaRPr sz="1500">
              <a:solidFill>
                <a:schemeClr val="dk1"/>
              </a:solidFill>
              <a:latin typeface="Space Grotesk"/>
              <a:ea typeface="Space Grotesk"/>
              <a:cs typeface="Space Grotesk"/>
              <a:sym typeface="Space Grotesk"/>
            </a:endParaRPr>
          </a:p>
          <a:p>
            <a:pPr marL="457200" lvl="0" indent="-323850" algn="l" rtl="0">
              <a:lnSpc>
                <a:spcPct val="150000"/>
              </a:lnSpc>
              <a:spcBef>
                <a:spcPts val="0"/>
              </a:spcBef>
              <a:spcAft>
                <a:spcPts val="0"/>
              </a:spcAft>
              <a:buClr>
                <a:schemeClr val="dk1"/>
              </a:buClr>
              <a:buSzPts val="1500"/>
              <a:buFont typeface="Space Grotesk"/>
              <a:buChar char="●"/>
            </a:pPr>
            <a:r>
              <a:rPr lang="en" sz="1500">
                <a:solidFill>
                  <a:schemeClr val="dk1"/>
                </a:solidFill>
                <a:latin typeface="Space Grotesk"/>
                <a:ea typeface="Space Grotesk"/>
                <a:cs typeface="Space Grotesk"/>
                <a:sym typeface="Space Grotesk"/>
              </a:rPr>
              <a:t>Outbound internet connectivity to</a:t>
            </a:r>
            <a:r>
              <a:rPr lang="en" sz="1500">
                <a:solidFill>
                  <a:schemeClr val="dk1"/>
                </a:solidFill>
                <a:uFill>
                  <a:noFill/>
                </a:uFill>
                <a:latin typeface="Space Grotesk"/>
                <a:ea typeface="Space Grotesk"/>
                <a:cs typeface="Space Grotesk"/>
                <a:sym typeface="Space Grotesk"/>
                <a:hlinkClick r:id="rId3">
                  <a:extLst>
                    <a:ext uri="{A12FA001-AC4F-418D-AE19-62706E023703}">
                      <ahyp:hlinkClr xmlns:ahyp="http://schemas.microsoft.com/office/drawing/2018/hyperlinkcolor" val="tx"/>
                    </a:ext>
                  </a:extLst>
                </a:hlinkClick>
              </a:rPr>
              <a:t> </a:t>
            </a:r>
            <a:r>
              <a:rPr lang="en" sz="1500" u="sng">
                <a:solidFill>
                  <a:schemeClr val="dk1"/>
                </a:solidFill>
                <a:latin typeface="Space Grotesk"/>
                <a:ea typeface="Space Grotesk"/>
                <a:cs typeface="Space Grotesk"/>
                <a:sym typeface="Space Grotesk"/>
                <a:hlinkClick r:id="rId3">
                  <a:extLst>
                    <a:ext uri="{A12FA001-AC4F-418D-AE19-62706E023703}">
                      <ahyp:hlinkClr xmlns:ahyp="http://schemas.microsoft.com/office/drawing/2018/hyperlinkcolor" val="tx"/>
                    </a:ext>
                  </a:extLst>
                </a:hlinkClick>
              </a:rPr>
              <a:t>cspm.accuknox.com</a:t>
            </a:r>
            <a:endParaRPr sz="1500">
              <a:solidFill>
                <a:schemeClr val="dk1"/>
              </a:solidFill>
              <a:latin typeface="Space Grotesk"/>
              <a:ea typeface="Space Grotesk"/>
              <a:cs typeface="Space Grotesk"/>
              <a:sym typeface="Space Grotesk"/>
            </a:endParaRPr>
          </a:p>
          <a:p>
            <a:pPr marL="457200" lvl="0" indent="-323850" algn="l" rtl="0">
              <a:lnSpc>
                <a:spcPct val="150000"/>
              </a:lnSpc>
              <a:spcBef>
                <a:spcPts val="0"/>
              </a:spcBef>
              <a:spcAft>
                <a:spcPts val="0"/>
              </a:spcAft>
              <a:buClr>
                <a:schemeClr val="dk1"/>
              </a:buClr>
              <a:buSzPts val="1500"/>
              <a:buFont typeface="Space Grotesk"/>
              <a:buChar char="●"/>
            </a:pPr>
            <a:r>
              <a:rPr lang="en" sz="1500" b="1">
                <a:solidFill>
                  <a:schemeClr val="dk1"/>
                </a:solidFill>
                <a:latin typeface="Space Grotesk"/>
                <a:ea typeface="Space Grotesk"/>
                <a:cs typeface="Space Grotesk"/>
                <a:sym typeface="Space Grotesk"/>
              </a:rPr>
              <a:t>CURL</a:t>
            </a:r>
            <a:r>
              <a:rPr lang="en" sz="1500">
                <a:solidFill>
                  <a:schemeClr val="dk1"/>
                </a:solidFill>
                <a:latin typeface="Space Grotesk"/>
                <a:ea typeface="Space Grotesk"/>
                <a:cs typeface="Space Grotesk"/>
                <a:sym typeface="Space Grotesk"/>
              </a:rPr>
              <a:t> installed on the VM</a:t>
            </a:r>
            <a:endParaRPr sz="1500">
              <a:solidFill>
                <a:schemeClr val="dk1"/>
              </a:solidFill>
              <a:latin typeface="Space Grotesk"/>
              <a:ea typeface="Space Grotesk"/>
              <a:cs typeface="Space Grotesk"/>
              <a:sym typeface="Space Grotesk"/>
            </a:endParaRPr>
          </a:p>
          <a:p>
            <a:pPr marL="457200" lvl="0" indent="-323850" algn="l" rtl="0">
              <a:lnSpc>
                <a:spcPct val="150000"/>
              </a:lnSpc>
              <a:spcBef>
                <a:spcPts val="0"/>
              </a:spcBef>
              <a:spcAft>
                <a:spcPts val="0"/>
              </a:spcAft>
              <a:buClr>
                <a:schemeClr val="dk1"/>
              </a:buClr>
              <a:buSzPts val="1500"/>
              <a:buFont typeface="Space Grotesk"/>
              <a:buChar char="●"/>
            </a:pPr>
            <a:r>
              <a:rPr lang="en" sz="1500">
                <a:solidFill>
                  <a:schemeClr val="dk1"/>
                </a:solidFill>
                <a:latin typeface="Space Grotesk"/>
                <a:ea typeface="Space Grotesk"/>
                <a:cs typeface="Space Grotesk"/>
                <a:sym typeface="Space Grotesk"/>
              </a:rPr>
              <a:t>A valid AccuKnox Tenant ID and API Token</a:t>
            </a:r>
            <a:endParaRPr sz="1500">
              <a:solidFill>
                <a:schemeClr val="dk1"/>
              </a:solidFill>
              <a:latin typeface="Space Grotesk"/>
              <a:ea typeface="Space Grotesk"/>
              <a:cs typeface="Space Grotesk"/>
              <a:sym typeface="Space Grotesk"/>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66"/>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Configuration Detail </a:t>
            </a:r>
            <a:endParaRPr sz="2200"/>
          </a:p>
        </p:txBody>
      </p:sp>
      <p:sp>
        <p:nvSpPr>
          <p:cNvPr id="442" name="Google Shape;442;p66"/>
          <p:cNvSpPr txBox="1"/>
          <p:nvPr/>
        </p:nvSpPr>
        <p:spPr>
          <a:xfrm>
            <a:off x="1929350" y="4020425"/>
            <a:ext cx="2469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b="1">
              <a:latin typeface="Space Grotesk"/>
              <a:ea typeface="Space Grotesk"/>
              <a:cs typeface="Space Grotesk"/>
              <a:sym typeface="Space Grotesk"/>
            </a:endParaRPr>
          </a:p>
        </p:txBody>
      </p:sp>
      <p:sp>
        <p:nvSpPr>
          <p:cNvPr id="443" name="Google Shape;443;p66"/>
          <p:cNvSpPr txBox="1"/>
          <p:nvPr/>
        </p:nvSpPr>
        <p:spPr>
          <a:xfrm>
            <a:off x="152400" y="905300"/>
            <a:ext cx="8758800" cy="205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200"/>
              </a:spcBef>
              <a:spcAft>
                <a:spcPts val="0"/>
              </a:spcAft>
              <a:buClr>
                <a:schemeClr val="dk1"/>
              </a:buClr>
              <a:buSzPts val="1400"/>
              <a:buFont typeface="Space Grotesk"/>
              <a:buChar char="●"/>
            </a:pPr>
            <a:r>
              <a:rPr lang="en">
                <a:solidFill>
                  <a:schemeClr val="dk1"/>
                </a:solidFill>
                <a:latin typeface="Space Grotesk"/>
                <a:ea typeface="Space Grotesk"/>
                <a:cs typeface="Space Grotesk"/>
                <a:sym typeface="Space Grotesk"/>
              </a:rPr>
              <a:t>Artifact API Token: Generate this under Settings &gt; Tokens in the AccuKnox dashboard.</a:t>
            </a:r>
            <a:endParaRPr>
              <a:solidFill>
                <a:schemeClr val="dk1"/>
              </a:solidFill>
              <a:latin typeface="Space Grotesk"/>
              <a:ea typeface="Space Grotesk"/>
              <a:cs typeface="Space Grotesk"/>
              <a:sym typeface="Space Grotesk"/>
            </a:endParaRPr>
          </a:p>
          <a:p>
            <a:pPr marL="457200" lvl="0" indent="-317500" algn="l" rtl="0">
              <a:lnSpc>
                <a:spcPct val="115000"/>
              </a:lnSpc>
              <a:spcBef>
                <a:spcPts val="0"/>
              </a:spcBef>
              <a:spcAft>
                <a:spcPts val="0"/>
              </a:spcAft>
              <a:buClr>
                <a:schemeClr val="dk1"/>
              </a:buClr>
              <a:buSzPts val="1400"/>
              <a:buFont typeface="Space Grotesk"/>
              <a:buChar char="●"/>
            </a:pPr>
            <a:r>
              <a:rPr lang="en">
                <a:solidFill>
                  <a:schemeClr val="dk1"/>
                </a:solidFill>
                <a:latin typeface="Space Grotesk"/>
                <a:ea typeface="Space Grotesk"/>
                <a:cs typeface="Space Grotesk"/>
                <a:sym typeface="Space Grotesk"/>
              </a:rPr>
              <a:t>Artifact Label: Create a label under Settings &gt; Labels to identify this VM.</a:t>
            </a:r>
            <a:endParaRPr>
              <a:solidFill>
                <a:schemeClr val="dk1"/>
              </a:solidFill>
              <a:latin typeface="Space Grotesk"/>
              <a:ea typeface="Space Grotesk"/>
              <a:cs typeface="Space Grotesk"/>
              <a:sym typeface="Space Grotesk"/>
            </a:endParaRPr>
          </a:p>
          <a:p>
            <a:pPr marL="457200" lvl="0" indent="-317500" algn="l" rtl="0">
              <a:lnSpc>
                <a:spcPct val="115000"/>
              </a:lnSpc>
              <a:spcBef>
                <a:spcPts val="0"/>
              </a:spcBef>
              <a:spcAft>
                <a:spcPts val="0"/>
              </a:spcAft>
              <a:buClr>
                <a:schemeClr val="dk1"/>
              </a:buClr>
              <a:buSzPts val="1400"/>
              <a:buFont typeface="Space Grotesk"/>
              <a:buChar char="●"/>
            </a:pPr>
            <a:r>
              <a:rPr lang="en">
                <a:solidFill>
                  <a:schemeClr val="dk1"/>
                </a:solidFill>
                <a:latin typeface="Space Grotesk"/>
                <a:ea typeface="Space Grotesk"/>
                <a:cs typeface="Space Grotesk"/>
                <a:sym typeface="Space Grotesk"/>
              </a:rPr>
              <a:t>The installation script creates a systemd service (omni.service) and a daily systemd timer (omni.timer).</a:t>
            </a:r>
            <a:endParaRPr>
              <a:solidFill>
                <a:schemeClr val="dk1"/>
              </a:solidFill>
              <a:latin typeface="Space Grotesk"/>
              <a:ea typeface="Space Grotesk"/>
              <a:cs typeface="Space Grotesk"/>
              <a:sym typeface="Space Grotesk"/>
            </a:endParaRPr>
          </a:p>
          <a:p>
            <a:pPr marL="0" lvl="0" indent="0" algn="l" rtl="0">
              <a:spcBef>
                <a:spcPts val="1200"/>
              </a:spcBef>
              <a:spcAft>
                <a:spcPts val="0"/>
              </a:spcAft>
              <a:buNone/>
            </a:pPr>
            <a:endParaRPr sz="1200" b="1">
              <a:solidFill>
                <a:schemeClr val="dk1"/>
              </a:solidFill>
              <a:latin typeface="Space Grotesk"/>
              <a:ea typeface="Space Grotesk"/>
              <a:cs typeface="Space Grotesk"/>
              <a:sym typeface="Space Grotesk"/>
            </a:endParaRPr>
          </a:p>
        </p:txBody>
      </p:sp>
      <p:pic>
        <p:nvPicPr>
          <p:cNvPr id="444" name="Google Shape;444;p66"/>
          <p:cNvPicPr preferRelativeResize="0"/>
          <p:nvPr/>
        </p:nvPicPr>
        <p:blipFill>
          <a:blip r:embed="rId3">
            <a:alphaModFix/>
          </a:blip>
          <a:stretch>
            <a:fillRect/>
          </a:stretch>
        </p:blipFill>
        <p:spPr>
          <a:xfrm>
            <a:off x="435675" y="2198600"/>
            <a:ext cx="3707241" cy="2131750"/>
          </a:xfrm>
          <a:prstGeom prst="rect">
            <a:avLst/>
          </a:prstGeom>
          <a:noFill/>
          <a:ln>
            <a:noFill/>
          </a:ln>
        </p:spPr>
      </p:pic>
      <p:pic>
        <p:nvPicPr>
          <p:cNvPr id="445" name="Google Shape;445;p66"/>
          <p:cNvPicPr preferRelativeResize="0"/>
          <p:nvPr/>
        </p:nvPicPr>
        <p:blipFill>
          <a:blip r:embed="rId4">
            <a:alphaModFix/>
          </a:blip>
          <a:stretch>
            <a:fillRect/>
          </a:stretch>
        </p:blipFill>
        <p:spPr>
          <a:xfrm>
            <a:off x="4306875" y="2198606"/>
            <a:ext cx="4120175" cy="213174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67"/>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Installation </a:t>
            </a:r>
            <a:endParaRPr sz="2200"/>
          </a:p>
        </p:txBody>
      </p:sp>
      <p:sp>
        <p:nvSpPr>
          <p:cNvPr id="451" name="Google Shape;451;p67"/>
          <p:cNvSpPr txBox="1"/>
          <p:nvPr/>
        </p:nvSpPr>
        <p:spPr>
          <a:xfrm>
            <a:off x="1929350" y="4020425"/>
            <a:ext cx="2469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b="1">
              <a:latin typeface="Space Grotesk"/>
              <a:ea typeface="Space Grotesk"/>
              <a:cs typeface="Space Grotesk"/>
              <a:sym typeface="Space Grotesk"/>
            </a:endParaRPr>
          </a:p>
        </p:txBody>
      </p:sp>
      <p:sp>
        <p:nvSpPr>
          <p:cNvPr id="452" name="Google Shape;452;p67"/>
          <p:cNvSpPr txBox="1"/>
          <p:nvPr/>
        </p:nvSpPr>
        <p:spPr>
          <a:xfrm>
            <a:off x="245125" y="732400"/>
            <a:ext cx="8758800" cy="809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None/>
            </a:pPr>
            <a:r>
              <a:rPr lang="en" sz="1500" b="1">
                <a:solidFill>
                  <a:schemeClr val="dk1"/>
                </a:solidFill>
                <a:latin typeface="Space Grotesk"/>
                <a:ea typeface="Space Grotesk"/>
                <a:cs typeface="Space Grotesk"/>
                <a:sym typeface="Space Grotesk"/>
              </a:rPr>
              <a:t>Run the Installation Script</a:t>
            </a:r>
            <a:endParaRPr sz="1500" b="1">
              <a:solidFill>
                <a:schemeClr val="dk1"/>
              </a:solidFill>
              <a:latin typeface="Space Grotesk"/>
              <a:ea typeface="Space Grotesk"/>
              <a:cs typeface="Space Grotesk"/>
              <a:sym typeface="Space Grotesk"/>
            </a:endParaRPr>
          </a:p>
          <a:p>
            <a:pPr marL="0" lvl="0" indent="0" algn="l" rtl="0">
              <a:lnSpc>
                <a:spcPct val="115000"/>
              </a:lnSpc>
              <a:spcBef>
                <a:spcPts val="1200"/>
              </a:spcBef>
              <a:spcAft>
                <a:spcPts val="0"/>
              </a:spcAft>
              <a:buNone/>
            </a:pPr>
            <a:r>
              <a:rPr lang="en" sz="1000">
                <a:solidFill>
                  <a:schemeClr val="dk1"/>
                </a:solidFill>
                <a:latin typeface="Space Grotesk"/>
                <a:ea typeface="Space Grotesk"/>
                <a:cs typeface="Space Grotesk"/>
                <a:sym typeface="Space Grotesk"/>
              </a:rPr>
              <a:t>Run the following command to download and install the agent. Replace </a:t>
            </a:r>
            <a:r>
              <a:rPr lang="en" sz="900">
                <a:solidFill>
                  <a:srgbClr val="188038"/>
                </a:solidFill>
                <a:latin typeface="Space Grotesk"/>
                <a:ea typeface="Space Grotesk"/>
                <a:cs typeface="Space Grotesk"/>
                <a:sym typeface="Space Grotesk"/>
              </a:rPr>
              <a:t>&lt;REDACTED&gt;</a:t>
            </a:r>
            <a:r>
              <a:rPr lang="en" sz="1000">
                <a:solidFill>
                  <a:schemeClr val="dk1"/>
                </a:solidFill>
                <a:latin typeface="Space Grotesk"/>
                <a:ea typeface="Space Grotesk"/>
                <a:cs typeface="Space Grotesk"/>
                <a:sym typeface="Space Grotesk"/>
              </a:rPr>
              <a:t>  with your actual Artifact API Token and </a:t>
            </a:r>
            <a:r>
              <a:rPr lang="en" sz="900">
                <a:solidFill>
                  <a:srgbClr val="188038"/>
                </a:solidFill>
                <a:latin typeface="Space Grotesk"/>
                <a:ea typeface="Space Grotesk"/>
                <a:cs typeface="Space Grotesk"/>
                <a:sym typeface="Space Grotesk"/>
              </a:rPr>
              <a:t>CHANGEME</a:t>
            </a:r>
            <a:r>
              <a:rPr lang="en" sz="1000">
                <a:solidFill>
                  <a:schemeClr val="dk1"/>
                </a:solidFill>
                <a:latin typeface="Space Grotesk"/>
                <a:ea typeface="Space Grotesk"/>
                <a:cs typeface="Space Grotesk"/>
                <a:sym typeface="Space Grotesk"/>
              </a:rPr>
              <a:t> with your desired label for vulnerability as well as malware scanning.</a:t>
            </a:r>
            <a:br>
              <a:rPr lang="en" sz="1000">
                <a:solidFill>
                  <a:schemeClr val="dk1"/>
                </a:solidFill>
                <a:latin typeface="Space Grotesk"/>
                <a:ea typeface="Space Grotesk"/>
                <a:cs typeface="Space Grotesk"/>
                <a:sym typeface="Space Grotesk"/>
              </a:rPr>
            </a:br>
            <a:br>
              <a:rPr lang="en" sz="1000">
                <a:solidFill>
                  <a:schemeClr val="dk1"/>
                </a:solidFill>
                <a:latin typeface="Space Grotesk"/>
                <a:ea typeface="Space Grotesk"/>
                <a:cs typeface="Space Grotesk"/>
                <a:sym typeface="Space Grotesk"/>
              </a:rPr>
            </a:br>
            <a:br>
              <a:rPr lang="en" sz="1100">
                <a:solidFill>
                  <a:schemeClr val="dk1"/>
                </a:solidFill>
                <a:latin typeface="Space Grotesk"/>
                <a:ea typeface="Space Grotesk"/>
                <a:cs typeface="Space Grotesk"/>
                <a:sym typeface="Space Grotesk"/>
              </a:rPr>
            </a:br>
            <a:br>
              <a:rPr lang="en" sz="1100">
                <a:solidFill>
                  <a:schemeClr val="dk1"/>
                </a:solidFill>
                <a:latin typeface="Space Grotesk"/>
                <a:ea typeface="Space Grotesk"/>
                <a:cs typeface="Space Grotesk"/>
                <a:sym typeface="Space Grotesk"/>
              </a:rPr>
            </a:br>
            <a:br>
              <a:rPr lang="en" sz="1100">
                <a:solidFill>
                  <a:schemeClr val="dk1"/>
                </a:solidFill>
                <a:latin typeface="Space Grotesk"/>
                <a:ea typeface="Space Grotesk"/>
                <a:cs typeface="Space Grotesk"/>
                <a:sym typeface="Space Grotesk"/>
              </a:rPr>
            </a:br>
            <a:br>
              <a:rPr lang="en" sz="1100">
                <a:solidFill>
                  <a:schemeClr val="dk1"/>
                </a:solidFill>
                <a:latin typeface="Space Grotesk"/>
                <a:ea typeface="Space Grotesk"/>
                <a:cs typeface="Space Grotesk"/>
                <a:sym typeface="Space Grotesk"/>
              </a:rPr>
            </a:br>
            <a:r>
              <a:rPr lang="en" sz="1000">
                <a:solidFill>
                  <a:schemeClr val="dk1"/>
                </a:solidFill>
                <a:highlight>
                  <a:srgbClr val="9E9E9E"/>
                </a:highlight>
                <a:latin typeface="Space Grotesk"/>
                <a:ea typeface="Space Grotesk"/>
                <a:cs typeface="Space Grotesk"/>
                <a:sym typeface="Space Grotesk"/>
              </a:rPr>
              <a:t>For  malware you need to enable it as by default it is set to false</a:t>
            </a:r>
            <a:r>
              <a:rPr lang="en" sz="1000">
                <a:solidFill>
                  <a:schemeClr val="dk1"/>
                </a:solidFill>
                <a:latin typeface="Space Grotesk"/>
                <a:ea typeface="Space Grotesk"/>
                <a:cs typeface="Space Grotesk"/>
                <a:sym typeface="Space Grotesk"/>
              </a:rPr>
              <a:t> </a:t>
            </a:r>
            <a:endParaRPr sz="1000">
              <a:solidFill>
                <a:schemeClr val="dk1"/>
              </a:solidFill>
              <a:latin typeface="Space Grotesk"/>
              <a:ea typeface="Space Grotesk"/>
              <a:cs typeface="Space Grotesk"/>
              <a:sym typeface="Space Grotesk"/>
            </a:endParaRPr>
          </a:p>
          <a:p>
            <a:pPr marL="0" lvl="0" indent="0" algn="l" rtl="0">
              <a:lnSpc>
                <a:spcPct val="115000"/>
              </a:lnSpc>
              <a:spcBef>
                <a:spcPts val="1200"/>
              </a:spcBef>
              <a:spcAft>
                <a:spcPts val="0"/>
              </a:spcAft>
              <a:buNone/>
            </a:pPr>
            <a:endParaRPr sz="1100">
              <a:solidFill>
                <a:schemeClr val="dk1"/>
              </a:solidFill>
              <a:latin typeface="Space Grotesk"/>
              <a:ea typeface="Space Grotesk"/>
              <a:cs typeface="Space Grotesk"/>
              <a:sym typeface="Space Grotesk"/>
            </a:endParaRPr>
          </a:p>
          <a:p>
            <a:pPr marL="0" lvl="0" indent="0" algn="l" rtl="0">
              <a:lnSpc>
                <a:spcPct val="115000"/>
              </a:lnSpc>
              <a:spcBef>
                <a:spcPts val="1200"/>
              </a:spcBef>
              <a:spcAft>
                <a:spcPts val="0"/>
              </a:spcAft>
              <a:buNone/>
            </a:pPr>
            <a:endParaRPr sz="1100">
              <a:solidFill>
                <a:schemeClr val="dk1"/>
              </a:solidFill>
              <a:latin typeface="Space Grotesk"/>
              <a:ea typeface="Space Grotesk"/>
              <a:cs typeface="Space Grotesk"/>
              <a:sym typeface="Space Grotesk"/>
            </a:endParaRPr>
          </a:p>
          <a:p>
            <a:pPr marL="0" lvl="0" indent="0" algn="l" rtl="0">
              <a:spcBef>
                <a:spcPts val="1200"/>
              </a:spcBef>
              <a:spcAft>
                <a:spcPts val="0"/>
              </a:spcAft>
              <a:buNone/>
            </a:pPr>
            <a:br>
              <a:rPr lang="en" sz="1000">
                <a:solidFill>
                  <a:schemeClr val="dk1"/>
                </a:solidFill>
                <a:highlight>
                  <a:srgbClr val="9E9E9E"/>
                </a:highlight>
                <a:latin typeface="Space Grotesk"/>
                <a:ea typeface="Space Grotesk"/>
                <a:cs typeface="Space Grotesk"/>
                <a:sym typeface="Space Grotesk"/>
              </a:rPr>
            </a:br>
            <a:br>
              <a:rPr lang="en" sz="1000">
                <a:solidFill>
                  <a:schemeClr val="dk1"/>
                </a:solidFill>
                <a:highlight>
                  <a:srgbClr val="9E9E9E"/>
                </a:highlight>
                <a:latin typeface="Space Grotesk"/>
                <a:ea typeface="Space Grotesk"/>
                <a:cs typeface="Space Grotesk"/>
                <a:sym typeface="Space Grotesk"/>
              </a:rPr>
            </a:br>
            <a:br>
              <a:rPr lang="en" sz="1000">
                <a:solidFill>
                  <a:schemeClr val="dk1"/>
                </a:solidFill>
                <a:highlight>
                  <a:srgbClr val="9E9E9E"/>
                </a:highlight>
                <a:latin typeface="Space Grotesk"/>
                <a:ea typeface="Space Grotesk"/>
                <a:cs typeface="Space Grotesk"/>
                <a:sym typeface="Space Grotesk"/>
              </a:rPr>
            </a:br>
            <a:br>
              <a:rPr lang="en" sz="1000">
                <a:solidFill>
                  <a:schemeClr val="dk1"/>
                </a:solidFill>
                <a:highlight>
                  <a:srgbClr val="9E9E9E"/>
                </a:highlight>
                <a:latin typeface="Space Grotesk"/>
                <a:ea typeface="Space Grotesk"/>
                <a:cs typeface="Space Grotesk"/>
                <a:sym typeface="Space Grotesk"/>
              </a:rPr>
            </a:br>
            <a:endParaRPr sz="1000">
              <a:solidFill>
                <a:schemeClr val="dk1"/>
              </a:solidFill>
              <a:latin typeface="Space Grotesk"/>
              <a:ea typeface="Space Grotesk"/>
              <a:cs typeface="Space Grotesk"/>
              <a:sym typeface="Space Grotesk"/>
            </a:endParaRPr>
          </a:p>
        </p:txBody>
      </p:sp>
      <p:pic>
        <p:nvPicPr>
          <p:cNvPr id="453" name="Google Shape;453;p67"/>
          <p:cNvPicPr preferRelativeResize="0"/>
          <p:nvPr/>
        </p:nvPicPr>
        <p:blipFill rotWithShape="1">
          <a:blip r:embed="rId3">
            <a:alphaModFix/>
          </a:blip>
          <a:srcRect/>
          <a:stretch/>
        </p:blipFill>
        <p:spPr>
          <a:xfrm>
            <a:off x="2040400" y="3611450"/>
            <a:ext cx="5168251" cy="1386500"/>
          </a:xfrm>
          <a:prstGeom prst="rect">
            <a:avLst/>
          </a:prstGeom>
          <a:noFill/>
          <a:ln>
            <a:noFill/>
          </a:ln>
        </p:spPr>
      </p:pic>
      <p:sp>
        <p:nvSpPr>
          <p:cNvPr id="454" name="Google Shape;454;p67"/>
          <p:cNvSpPr txBox="1"/>
          <p:nvPr/>
        </p:nvSpPr>
        <p:spPr>
          <a:xfrm>
            <a:off x="341850" y="2191775"/>
            <a:ext cx="5215500" cy="1178700"/>
          </a:xfrm>
          <a:prstGeom prst="rect">
            <a:avLst/>
          </a:prstGeom>
          <a:solidFill>
            <a:srgbClr val="666666"/>
          </a:solidFill>
          <a:ln w="9525" cap="flat" cmpd="sng">
            <a:solidFill>
              <a:srgbClr val="262626"/>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900" b="1">
              <a:solidFill>
                <a:srgbClr val="FFFFFF"/>
              </a:solidFill>
              <a:latin typeface="Space Grotesk"/>
              <a:ea typeface="Space Grotesk"/>
              <a:cs typeface="Space Grotesk"/>
              <a:sym typeface="Space Grotesk"/>
            </a:endParaRPr>
          </a:p>
          <a:p>
            <a:pPr marL="0" lvl="0" indent="0" algn="l" rtl="0">
              <a:spcBef>
                <a:spcPts val="0"/>
              </a:spcBef>
              <a:spcAft>
                <a:spcPts val="0"/>
              </a:spcAft>
              <a:buNone/>
            </a:pPr>
            <a:r>
              <a:rPr lang="en" sz="900" b="1">
                <a:solidFill>
                  <a:srgbClr val="FFFFFF"/>
                </a:solidFill>
                <a:latin typeface="Space Grotesk"/>
                <a:ea typeface="Space Grotesk"/>
                <a:cs typeface="Space Grotesk"/>
                <a:sym typeface="Space Grotesk"/>
              </a:rPr>
              <a:t>OMNI_ARTIFACT_API_TOKEN="&lt;REDACTED&gt;" \bash -s - \</a:t>
            </a:r>
            <a:endParaRPr sz="900" b="1">
              <a:solidFill>
                <a:srgbClr val="FFFFFF"/>
              </a:solidFill>
              <a:latin typeface="Space Grotesk"/>
              <a:ea typeface="Space Grotesk"/>
              <a:cs typeface="Space Grotesk"/>
              <a:sym typeface="Space Grotesk"/>
            </a:endParaRPr>
          </a:p>
          <a:p>
            <a:pPr marL="0" lvl="0" indent="0" algn="l" rtl="0">
              <a:spcBef>
                <a:spcPts val="0"/>
              </a:spcBef>
              <a:spcAft>
                <a:spcPts val="0"/>
              </a:spcAft>
              <a:buNone/>
            </a:pPr>
            <a:r>
              <a:rPr lang="en" sz="900" b="1">
                <a:solidFill>
                  <a:srgbClr val="FFFFFF"/>
                </a:solidFill>
                <a:latin typeface="Space Grotesk"/>
                <a:ea typeface="Space Grotesk"/>
                <a:cs typeface="Space Grotesk"/>
                <a:sym typeface="Space Grotesk"/>
              </a:rPr>
              <a:t> --artifact-endpoint=https://cspm.accuknox.com/api/v1/artifact/ \</a:t>
            </a:r>
            <a:endParaRPr sz="900" b="1">
              <a:solidFill>
                <a:srgbClr val="FFFFFF"/>
              </a:solidFill>
              <a:latin typeface="Space Grotesk"/>
              <a:ea typeface="Space Grotesk"/>
              <a:cs typeface="Space Grotesk"/>
              <a:sym typeface="Space Grotesk"/>
            </a:endParaRPr>
          </a:p>
          <a:p>
            <a:pPr marL="0" lvl="0" indent="0" algn="l" rtl="0">
              <a:spcBef>
                <a:spcPts val="0"/>
              </a:spcBef>
              <a:spcAft>
                <a:spcPts val="0"/>
              </a:spcAft>
              <a:buNone/>
            </a:pPr>
            <a:r>
              <a:rPr lang="en" sz="900" b="1">
                <a:solidFill>
                  <a:srgbClr val="FFFFFF"/>
                </a:solidFill>
                <a:latin typeface="Space Grotesk"/>
                <a:ea typeface="Space Grotesk"/>
                <a:cs typeface="Space Grotesk"/>
                <a:sym typeface="Space Grotesk"/>
              </a:rPr>
              <a:t> --tenant-id=142 \</a:t>
            </a:r>
            <a:endParaRPr sz="900" b="1">
              <a:solidFill>
                <a:srgbClr val="FFFFFF"/>
              </a:solidFill>
              <a:latin typeface="Space Grotesk"/>
              <a:ea typeface="Space Grotesk"/>
              <a:cs typeface="Space Grotesk"/>
              <a:sym typeface="Space Grotesk"/>
            </a:endParaRPr>
          </a:p>
          <a:p>
            <a:pPr marL="0" lvl="0" indent="0" algn="l" rtl="0">
              <a:spcBef>
                <a:spcPts val="0"/>
              </a:spcBef>
              <a:spcAft>
                <a:spcPts val="0"/>
              </a:spcAft>
              <a:buNone/>
            </a:pPr>
            <a:r>
              <a:rPr lang="en" sz="900" b="1">
                <a:solidFill>
                  <a:srgbClr val="FFFFFF"/>
                </a:solidFill>
                <a:latin typeface="Space Grotesk"/>
                <a:ea typeface="Space Grotesk"/>
                <a:cs typeface="Space Grotesk"/>
                <a:sym typeface="Space Grotesk"/>
              </a:rPr>
              <a:t> --artifact-label=CHANGEME</a:t>
            </a:r>
            <a:endParaRPr sz="900" b="1">
              <a:solidFill>
                <a:srgbClr val="FFFFFF"/>
              </a:solidFill>
              <a:latin typeface="Space Grotesk"/>
              <a:ea typeface="Space Grotesk"/>
              <a:cs typeface="Space Grotesk"/>
              <a:sym typeface="Space Grotesk"/>
            </a:endParaRPr>
          </a:p>
          <a:p>
            <a:pPr marL="0" lvl="0" indent="0" algn="l" rtl="0">
              <a:spcBef>
                <a:spcPts val="0"/>
              </a:spcBef>
              <a:spcAft>
                <a:spcPts val="0"/>
              </a:spcAft>
              <a:buNone/>
            </a:pPr>
            <a:r>
              <a:rPr lang="en" sz="900" b="1">
                <a:solidFill>
                  <a:srgbClr val="FFFFFF"/>
                </a:solidFill>
                <a:latin typeface="Space Grotesk"/>
                <a:ea typeface="Space Grotesk"/>
                <a:cs typeface="Space Grotesk"/>
                <a:sym typeface="Space Grotesk"/>
              </a:rPr>
              <a:t> --export OMNI_SKIP_MALWARE_SCAN=false </a:t>
            </a:r>
            <a:endParaRPr sz="1800" b="1">
              <a:solidFill>
                <a:srgbClr val="FFFFFF"/>
              </a:solidFill>
              <a:latin typeface="Space Grotesk"/>
              <a:ea typeface="Space Grotesk"/>
              <a:cs typeface="Space Grotesk"/>
              <a:sym typeface="Space Grotesk"/>
            </a:endParaRPr>
          </a:p>
        </p:txBody>
      </p:sp>
      <p:sp>
        <p:nvSpPr>
          <p:cNvPr id="455" name="Google Shape;455;p67"/>
          <p:cNvSpPr txBox="1"/>
          <p:nvPr/>
        </p:nvSpPr>
        <p:spPr>
          <a:xfrm>
            <a:off x="341850" y="1681150"/>
            <a:ext cx="5215500" cy="323700"/>
          </a:xfrm>
          <a:prstGeom prst="rect">
            <a:avLst/>
          </a:prstGeom>
          <a:solidFill>
            <a:srgbClr val="666666"/>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900" b="1">
                <a:solidFill>
                  <a:srgbClr val="FFFFFF"/>
                </a:solidFill>
                <a:latin typeface="Space Grotesk"/>
                <a:ea typeface="Space Grotesk"/>
                <a:cs typeface="Space Grotesk"/>
                <a:sym typeface="Space Grotesk"/>
              </a:rPr>
              <a:t>curl https://accuknox-omni.s3.us-east-1.amazonaws.com/v0.1.2/agent-install.sh | \</a:t>
            </a:r>
            <a:endParaRPr sz="900" b="1">
              <a:solidFill>
                <a:srgbClr val="FFFFFF"/>
              </a:solidFill>
              <a:latin typeface="Space Grotesk"/>
              <a:ea typeface="Space Grotesk"/>
              <a:cs typeface="Space Grotesk"/>
              <a:sym typeface="Space Grotesk"/>
            </a:endParaRPr>
          </a:p>
          <a:p>
            <a:pPr marL="0" lvl="0" indent="0" algn="l" rtl="0">
              <a:spcBef>
                <a:spcPts val="1200"/>
              </a:spcBef>
              <a:spcAft>
                <a:spcPts val="0"/>
              </a:spcAft>
              <a:buNone/>
            </a:pPr>
            <a:endParaRPr sz="1800" b="1">
              <a:solidFill>
                <a:srgbClr val="FFFFFF"/>
              </a:solidFill>
              <a:latin typeface="Space Grotesk"/>
              <a:ea typeface="Space Grotesk"/>
              <a:cs typeface="Space Grotesk"/>
              <a:sym typeface="Space Grotesk"/>
            </a:endParaRPr>
          </a:p>
        </p:txBody>
      </p:sp>
      <p:sp>
        <p:nvSpPr>
          <p:cNvPr id="456" name="Google Shape;456;p67"/>
          <p:cNvSpPr txBox="1"/>
          <p:nvPr/>
        </p:nvSpPr>
        <p:spPr>
          <a:xfrm>
            <a:off x="5956400" y="2462900"/>
            <a:ext cx="2925600"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solidFill>
                  <a:schemeClr val="dk1"/>
                </a:solidFill>
                <a:latin typeface="Space Grotesk"/>
                <a:ea typeface="Space Grotesk"/>
                <a:cs typeface="Space Grotesk"/>
                <a:sym typeface="Space Grotesk"/>
              </a:rPr>
              <a:t>For  malware you need to enable it as by default it is set to false </a:t>
            </a:r>
            <a:endParaRPr sz="1000" b="1">
              <a:solidFill>
                <a:schemeClr val="dk1"/>
              </a:solidFill>
              <a:latin typeface="Space Grotesk"/>
              <a:ea typeface="Space Grotesk"/>
              <a:cs typeface="Space Grotesk"/>
              <a:sym typeface="Space Grotesk"/>
            </a:endParaRPr>
          </a:p>
          <a:p>
            <a:pPr marL="457200" lvl="0" indent="0" algn="l" rtl="0">
              <a:spcBef>
                <a:spcPts val="0"/>
              </a:spcBef>
              <a:spcAft>
                <a:spcPts val="0"/>
              </a:spcAft>
              <a:buNone/>
            </a:pPr>
            <a:endParaRPr sz="1800" b="1">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68"/>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a:t>Findings (Malware Findings)</a:t>
            </a:r>
            <a:endParaRPr/>
          </a:p>
        </p:txBody>
      </p:sp>
      <p:sp>
        <p:nvSpPr>
          <p:cNvPr id="462" name="Google Shape;462;p68"/>
          <p:cNvSpPr txBox="1"/>
          <p:nvPr/>
        </p:nvSpPr>
        <p:spPr>
          <a:xfrm>
            <a:off x="280800" y="816538"/>
            <a:ext cx="8758800" cy="69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Space Grotesk"/>
                <a:ea typeface="Space Grotesk"/>
                <a:cs typeface="Space Grotesk"/>
                <a:sym typeface="Space Grotesk"/>
              </a:rPr>
              <a:t>This finding identifies a critical banking Trojan on your RHEL asset, found at </a:t>
            </a:r>
            <a:r>
              <a:rPr lang="en" sz="1200">
                <a:solidFill>
                  <a:srgbClr val="188038"/>
                </a:solidFill>
                <a:latin typeface="Space Grotesk"/>
                <a:ea typeface="Space Grotesk"/>
                <a:cs typeface="Space Grotesk"/>
                <a:sym typeface="Space Grotesk"/>
              </a:rPr>
              <a:t>/AAA._xe</a:t>
            </a:r>
            <a:r>
              <a:rPr lang="en" sz="1200">
                <a:solidFill>
                  <a:schemeClr val="dk1"/>
                </a:solidFill>
                <a:latin typeface="Space Grotesk"/>
                <a:ea typeface="Space Grotesk"/>
                <a:cs typeface="Space Grotesk"/>
                <a:sym typeface="Space Grotesk"/>
              </a:rPr>
              <a:t>, designed to steal credentials and grant remote system control. The high entropy (</a:t>
            </a:r>
            <a:r>
              <a:rPr lang="en" sz="1200" b="1">
                <a:solidFill>
                  <a:schemeClr val="dk1"/>
                </a:solidFill>
                <a:latin typeface="Space Grotesk"/>
                <a:ea typeface="Space Grotesk"/>
                <a:cs typeface="Space Grotesk"/>
                <a:sym typeface="Space Grotesk"/>
              </a:rPr>
              <a:t>7.82</a:t>
            </a:r>
            <a:r>
              <a:rPr lang="en" sz="1200">
                <a:solidFill>
                  <a:schemeClr val="dk1"/>
                </a:solidFill>
                <a:latin typeface="Space Grotesk"/>
                <a:ea typeface="Space Grotesk"/>
                <a:cs typeface="Space Grotesk"/>
                <a:sym typeface="Space Grotesk"/>
              </a:rPr>
              <a:t>) and the presence of a Windows executable on a Linux host indicate a highly suspicious, likely encrypted, cross-platform threat. </a:t>
            </a:r>
            <a:endParaRPr sz="1200">
              <a:solidFill>
                <a:schemeClr val="dk1"/>
              </a:solidFill>
              <a:latin typeface="Space Grotesk"/>
              <a:ea typeface="Space Grotesk"/>
              <a:cs typeface="Space Grotesk"/>
              <a:sym typeface="Space Grotesk"/>
            </a:endParaRPr>
          </a:p>
        </p:txBody>
      </p:sp>
      <p:sp>
        <p:nvSpPr>
          <p:cNvPr id="463" name="Google Shape;463;p68"/>
          <p:cNvSpPr txBox="1"/>
          <p:nvPr/>
        </p:nvSpPr>
        <p:spPr>
          <a:xfrm>
            <a:off x="465300" y="2459650"/>
            <a:ext cx="1694400" cy="11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highlight>
                <a:srgbClr val="980000"/>
              </a:highlight>
            </a:endParaRPr>
          </a:p>
        </p:txBody>
      </p:sp>
      <p:pic>
        <p:nvPicPr>
          <p:cNvPr id="464" name="Google Shape;464;p68"/>
          <p:cNvPicPr preferRelativeResize="0"/>
          <p:nvPr/>
        </p:nvPicPr>
        <p:blipFill>
          <a:blip r:embed="rId3">
            <a:alphaModFix/>
          </a:blip>
          <a:stretch>
            <a:fillRect/>
          </a:stretch>
        </p:blipFill>
        <p:spPr>
          <a:xfrm>
            <a:off x="396561" y="1632624"/>
            <a:ext cx="5739565" cy="2755701"/>
          </a:xfrm>
          <a:prstGeom prst="rect">
            <a:avLst/>
          </a:prstGeom>
          <a:noFill/>
          <a:ln w="9525" cap="flat" cmpd="sng">
            <a:solidFill>
              <a:srgbClr val="D9D9D9"/>
            </a:solidFill>
            <a:prstDash val="solid"/>
            <a:round/>
            <a:headEnd type="none" w="sm" len="sm"/>
            <a:tailEnd type="none" w="sm" len="sm"/>
          </a:ln>
        </p:spPr>
      </p:pic>
      <p:sp>
        <p:nvSpPr>
          <p:cNvPr id="465" name="Google Shape;465;p68"/>
          <p:cNvSpPr txBox="1"/>
          <p:nvPr/>
        </p:nvSpPr>
        <p:spPr>
          <a:xfrm>
            <a:off x="3010900" y="1942100"/>
            <a:ext cx="1643700" cy="16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highlight>
                <a:srgbClr val="980000"/>
              </a:highlight>
            </a:endParaRPr>
          </a:p>
        </p:txBody>
      </p:sp>
      <p:sp>
        <p:nvSpPr>
          <p:cNvPr id="466" name="Google Shape;466;p68"/>
          <p:cNvSpPr txBox="1"/>
          <p:nvPr/>
        </p:nvSpPr>
        <p:spPr>
          <a:xfrm>
            <a:off x="2257075" y="1925225"/>
            <a:ext cx="2599800" cy="168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69"/>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Findings (Vulnerability Scan Findings)</a:t>
            </a:r>
            <a:endParaRPr sz="2200"/>
          </a:p>
        </p:txBody>
      </p:sp>
      <p:sp>
        <p:nvSpPr>
          <p:cNvPr id="472" name="Google Shape;472;p69"/>
          <p:cNvSpPr txBox="1"/>
          <p:nvPr/>
        </p:nvSpPr>
        <p:spPr>
          <a:xfrm>
            <a:off x="235450" y="821300"/>
            <a:ext cx="8758800" cy="697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600"/>
              </a:spcAft>
              <a:buNone/>
            </a:pPr>
            <a:r>
              <a:rPr lang="en" sz="1200">
                <a:solidFill>
                  <a:srgbClr val="1F1F1F"/>
                </a:solidFill>
                <a:latin typeface="Space Grotesk"/>
                <a:ea typeface="Space Grotesk"/>
                <a:cs typeface="Space Grotesk"/>
                <a:sym typeface="Space Grotesk"/>
              </a:rPr>
              <a:t>This finding highlights a High severity vulnerability (</a:t>
            </a:r>
            <a:r>
              <a:rPr lang="en" sz="1200" b="1">
                <a:solidFill>
                  <a:srgbClr val="1F1F1F"/>
                </a:solidFill>
                <a:latin typeface="Space Grotesk"/>
                <a:ea typeface="Space Grotesk"/>
                <a:cs typeface="Space Grotesk"/>
                <a:sym typeface="Space Grotesk"/>
              </a:rPr>
              <a:t>CVE-2026-35387</a:t>
            </a:r>
            <a:r>
              <a:rPr lang="en" sz="1200">
                <a:solidFill>
                  <a:srgbClr val="1F1F1F"/>
                </a:solidFill>
                <a:latin typeface="Space Grotesk"/>
                <a:ea typeface="Space Grotesk"/>
                <a:cs typeface="Space Grotesk"/>
                <a:sym typeface="Space Grotesk"/>
              </a:rPr>
              <a:t>) where OpenSSH incorrectly enables all ECDSA algorithms if any single one is listed in the configuration. This flaw can lead to unintended cryptographic algorithm usage and potential information disclosure on your </a:t>
            </a:r>
            <a:r>
              <a:rPr lang="en" sz="1200" b="1">
                <a:solidFill>
                  <a:srgbClr val="444746"/>
                </a:solidFill>
                <a:highlight>
                  <a:srgbClr val="E9EEF6"/>
                </a:highlight>
                <a:latin typeface="Space Grotesk"/>
                <a:ea typeface="Space Grotesk"/>
                <a:cs typeface="Space Grotesk"/>
                <a:sym typeface="Space Grotesk"/>
              </a:rPr>
              <a:t>rhel-security-showcase</a:t>
            </a:r>
            <a:r>
              <a:rPr lang="en" sz="1200" b="1">
                <a:solidFill>
                  <a:srgbClr val="1F1F1F"/>
                </a:solidFill>
                <a:latin typeface="Space Grotesk"/>
                <a:ea typeface="Space Grotesk"/>
                <a:cs typeface="Space Grotesk"/>
                <a:sym typeface="Space Grotesk"/>
              </a:rPr>
              <a:t> </a:t>
            </a:r>
            <a:r>
              <a:rPr lang="en" sz="1200">
                <a:solidFill>
                  <a:srgbClr val="1F1F1F"/>
                </a:solidFill>
                <a:latin typeface="Space Grotesk"/>
                <a:ea typeface="Space Grotesk"/>
                <a:cs typeface="Space Grotesk"/>
                <a:sym typeface="Space Grotesk"/>
              </a:rPr>
              <a:t>asset.</a:t>
            </a:r>
            <a:endParaRPr sz="1200">
              <a:solidFill>
                <a:schemeClr val="dk1"/>
              </a:solidFill>
              <a:latin typeface="Space Grotesk"/>
              <a:ea typeface="Space Grotesk"/>
              <a:cs typeface="Space Grotesk"/>
              <a:sym typeface="Space Grotesk"/>
            </a:endParaRPr>
          </a:p>
        </p:txBody>
      </p:sp>
      <p:sp>
        <p:nvSpPr>
          <p:cNvPr id="473" name="Google Shape;473;p69"/>
          <p:cNvSpPr txBox="1"/>
          <p:nvPr/>
        </p:nvSpPr>
        <p:spPr>
          <a:xfrm>
            <a:off x="1577250" y="1858075"/>
            <a:ext cx="1643700" cy="16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highlight>
                <a:srgbClr val="980000"/>
              </a:highlight>
            </a:endParaRPr>
          </a:p>
        </p:txBody>
      </p:sp>
      <p:sp>
        <p:nvSpPr>
          <p:cNvPr id="474" name="Google Shape;474;p69"/>
          <p:cNvSpPr txBox="1"/>
          <p:nvPr/>
        </p:nvSpPr>
        <p:spPr>
          <a:xfrm>
            <a:off x="1501354" y="1967625"/>
            <a:ext cx="2405700" cy="1329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475" name="Google Shape;475;p69"/>
          <p:cNvSpPr txBox="1"/>
          <p:nvPr/>
        </p:nvSpPr>
        <p:spPr>
          <a:xfrm>
            <a:off x="3494450" y="2178375"/>
            <a:ext cx="935700" cy="12729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pic>
        <p:nvPicPr>
          <p:cNvPr id="476" name="Google Shape;476;p69"/>
          <p:cNvPicPr preferRelativeResize="0"/>
          <p:nvPr/>
        </p:nvPicPr>
        <p:blipFill rotWithShape="1">
          <a:blip r:embed="rId3">
            <a:alphaModFix/>
          </a:blip>
          <a:srcRect l="22445" b="22445"/>
          <a:stretch/>
        </p:blipFill>
        <p:spPr>
          <a:xfrm>
            <a:off x="386426" y="1716350"/>
            <a:ext cx="5423451" cy="2605870"/>
          </a:xfrm>
          <a:prstGeom prst="rect">
            <a:avLst/>
          </a:prstGeom>
          <a:noFill/>
          <a:ln w="9525" cap="flat" cmpd="sng">
            <a:solidFill>
              <a:srgbClr val="D9D9D9"/>
            </a:solidFill>
            <a:prstDash val="solid"/>
            <a:round/>
            <a:headEnd type="none" w="sm" len="sm"/>
            <a:tailEnd type="none" w="sm" len="sm"/>
          </a:ln>
        </p:spPr>
      </p:pic>
      <p:sp>
        <p:nvSpPr>
          <p:cNvPr id="477" name="Google Shape;477;p69"/>
          <p:cNvSpPr txBox="1"/>
          <p:nvPr/>
        </p:nvSpPr>
        <p:spPr>
          <a:xfrm>
            <a:off x="835475" y="1709826"/>
            <a:ext cx="3846300" cy="4617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8" name="Google Shape;478;p69"/>
          <p:cNvSpPr txBox="1"/>
          <p:nvPr/>
        </p:nvSpPr>
        <p:spPr>
          <a:xfrm>
            <a:off x="3548925" y="2362250"/>
            <a:ext cx="843000" cy="108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highlight>
                <a:srgbClr val="980000"/>
              </a:highlight>
            </a:endParaRPr>
          </a:p>
        </p:txBody>
      </p:sp>
      <p:sp>
        <p:nvSpPr>
          <p:cNvPr id="479" name="Google Shape;479;p69"/>
          <p:cNvSpPr txBox="1"/>
          <p:nvPr/>
        </p:nvSpPr>
        <p:spPr>
          <a:xfrm>
            <a:off x="4279775" y="2487825"/>
            <a:ext cx="814200" cy="12729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70"/>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Finding (DISA STIG Findings)</a:t>
            </a:r>
            <a:endParaRPr sz="2200"/>
          </a:p>
        </p:txBody>
      </p:sp>
      <p:pic>
        <p:nvPicPr>
          <p:cNvPr id="485" name="Google Shape;485;p70"/>
          <p:cNvPicPr preferRelativeResize="0"/>
          <p:nvPr/>
        </p:nvPicPr>
        <p:blipFill>
          <a:blip r:embed="rId3">
            <a:alphaModFix/>
          </a:blip>
          <a:stretch>
            <a:fillRect/>
          </a:stretch>
        </p:blipFill>
        <p:spPr>
          <a:xfrm>
            <a:off x="1149075" y="1583450"/>
            <a:ext cx="6845849" cy="3332275"/>
          </a:xfrm>
          <a:prstGeom prst="rect">
            <a:avLst/>
          </a:prstGeom>
          <a:noFill/>
          <a:ln>
            <a:noFill/>
          </a:ln>
          <a:effectLst>
            <a:outerShdw blurRad="57150" dist="19050" dir="5400000" algn="bl" rotWithShape="0">
              <a:srgbClr val="000000">
                <a:alpha val="50000"/>
              </a:srgbClr>
            </a:outerShdw>
          </a:effectLst>
        </p:spPr>
      </p:pic>
      <p:sp>
        <p:nvSpPr>
          <p:cNvPr id="486" name="Google Shape;486;p70"/>
          <p:cNvSpPr txBox="1"/>
          <p:nvPr/>
        </p:nvSpPr>
        <p:spPr>
          <a:xfrm>
            <a:off x="171200" y="786850"/>
            <a:ext cx="8644800" cy="708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600"/>
              </a:spcAft>
              <a:buClr>
                <a:schemeClr val="dk1"/>
              </a:buClr>
              <a:buSzPts val="1100"/>
              <a:buFont typeface="Arial"/>
              <a:buNone/>
            </a:pPr>
            <a:r>
              <a:rPr lang="en" sz="1200">
                <a:solidFill>
                  <a:srgbClr val="1F1F1F"/>
                </a:solidFill>
                <a:latin typeface="Space Grotesk"/>
                <a:ea typeface="Space Grotesk"/>
                <a:cs typeface="Space Grotesk"/>
                <a:sym typeface="Space Grotesk"/>
              </a:rPr>
              <a:t>This finding </a:t>
            </a:r>
            <a:r>
              <a:rPr lang="en" sz="1200">
                <a:solidFill>
                  <a:srgbClr val="188038"/>
                </a:solidFill>
                <a:latin typeface="Space Grotesk"/>
                <a:ea typeface="Space Grotesk"/>
                <a:cs typeface="Space Grotesk"/>
                <a:sym typeface="Space Grotesk"/>
              </a:rPr>
              <a:t>(V-257966) </a:t>
            </a:r>
            <a:r>
              <a:rPr lang="en" sz="1200">
                <a:solidFill>
                  <a:srgbClr val="1F1F1F"/>
                </a:solidFill>
                <a:latin typeface="Space Grotesk"/>
                <a:ea typeface="Space Grotesk"/>
                <a:cs typeface="Space Grotesk"/>
                <a:sym typeface="Space Grotesk"/>
              </a:rPr>
              <a:t>identifies that your RHEL 9 system is configured to respond to ICMP broadcast requests, which can be exploited for network mapping and "Smurf" amplification attacks. To mitigate this, you must set </a:t>
            </a:r>
            <a:r>
              <a:rPr lang="en" sz="1200">
                <a:solidFill>
                  <a:srgbClr val="188038"/>
                </a:solidFill>
                <a:latin typeface="Space Grotesk"/>
                <a:ea typeface="Space Grotesk"/>
                <a:cs typeface="Space Grotesk"/>
                <a:sym typeface="Space Grotesk"/>
              </a:rPr>
              <a:t>net.ipv4.icmp_echo_ignore_broadcasts</a:t>
            </a:r>
            <a:r>
              <a:rPr lang="en" sz="1200">
                <a:solidFill>
                  <a:srgbClr val="1F1F1F"/>
                </a:solidFill>
                <a:latin typeface="Space Grotesk"/>
                <a:ea typeface="Space Grotesk"/>
                <a:cs typeface="Space Grotesk"/>
                <a:sym typeface="Space Grotesk"/>
              </a:rPr>
              <a:t> to </a:t>
            </a:r>
            <a:r>
              <a:rPr lang="en" sz="1200">
                <a:solidFill>
                  <a:srgbClr val="444746"/>
                </a:solidFill>
                <a:highlight>
                  <a:srgbClr val="E9EEF6"/>
                </a:highlight>
                <a:latin typeface="Space Grotesk"/>
                <a:ea typeface="Space Grotesk"/>
                <a:cs typeface="Space Grotesk"/>
                <a:sym typeface="Space Grotesk"/>
              </a:rPr>
              <a:t>1</a:t>
            </a:r>
            <a:r>
              <a:rPr lang="en" sz="1200">
                <a:solidFill>
                  <a:srgbClr val="1F1F1F"/>
                </a:solidFill>
                <a:latin typeface="Space Grotesk"/>
                <a:ea typeface="Space Grotesk"/>
                <a:cs typeface="Space Grotesk"/>
                <a:sym typeface="Space Grotesk"/>
              </a:rPr>
              <a:t> in your sysctl configuration.</a:t>
            </a:r>
            <a:endParaRPr sz="1200">
              <a:solidFill>
                <a:srgbClr val="1F1F1F"/>
              </a:solidFill>
              <a:latin typeface="Space Grotesk"/>
              <a:ea typeface="Space Grotesk"/>
              <a:cs typeface="Space Grotesk"/>
              <a:sym typeface="Space Grotesk"/>
            </a:endParaRPr>
          </a:p>
        </p:txBody>
      </p:sp>
      <p:sp>
        <p:nvSpPr>
          <p:cNvPr id="487" name="Google Shape;487;p70"/>
          <p:cNvSpPr txBox="1"/>
          <p:nvPr/>
        </p:nvSpPr>
        <p:spPr>
          <a:xfrm>
            <a:off x="3547150" y="1909825"/>
            <a:ext cx="4316400" cy="3618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8" name="Google Shape;488;p70"/>
          <p:cNvSpPr txBox="1"/>
          <p:nvPr/>
        </p:nvSpPr>
        <p:spPr>
          <a:xfrm>
            <a:off x="6730325" y="2343850"/>
            <a:ext cx="1307700" cy="20376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71"/>
          <p:cNvSpPr txBox="1"/>
          <p:nvPr/>
        </p:nvSpPr>
        <p:spPr>
          <a:xfrm>
            <a:off x="378628" y="2571744"/>
            <a:ext cx="6606300" cy="916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8F8F8"/>
              </a:buClr>
              <a:buSzPts val="3600"/>
              <a:buFont typeface="Montserrat"/>
              <a:buNone/>
            </a:pPr>
            <a:endParaRPr sz="2700" b="1">
              <a:solidFill>
                <a:srgbClr val="F8F8F8"/>
              </a:solidFill>
              <a:latin typeface="Montserrat"/>
              <a:ea typeface="Montserrat"/>
              <a:cs typeface="Montserrat"/>
              <a:sym typeface="Montserrat"/>
            </a:endParaRPr>
          </a:p>
        </p:txBody>
      </p:sp>
      <p:sp>
        <p:nvSpPr>
          <p:cNvPr id="494" name="Google Shape;494;p71"/>
          <p:cNvSpPr txBox="1">
            <a:spLocks noGrp="1"/>
          </p:cNvSpPr>
          <p:nvPr>
            <p:ph type="ctrTitle"/>
          </p:nvPr>
        </p:nvSpPr>
        <p:spPr>
          <a:xfrm>
            <a:off x="628650" y="1944750"/>
            <a:ext cx="7054800" cy="10356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sz="3000" b="1">
                <a:solidFill>
                  <a:srgbClr val="F8F8F8"/>
                </a:solidFill>
                <a:latin typeface="Space Grotesk"/>
                <a:ea typeface="Space Grotesk"/>
                <a:cs typeface="Space Grotesk"/>
                <a:sym typeface="Space Grotesk"/>
              </a:rPr>
              <a:t>                  VM Security Use cases</a:t>
            </a:r>
            <a:endParaRPr sz="3000" b="1">
              <a:solidFill>
                <a:srgbClr val="F8F8F8"/>
              </a:solidFill>
              <a:latin typeface="Space Grotesk"/>
              <a:ea typeface="Space Grotesk"/>
              <a:cs typeface="Space Grotesk"/>
              <a:sym typeface="Space Grotesk"/>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93"/>
                                        </p:tgtEl>
                                        <p:attrNameLst>
                                          <p:attrName>style.visibility</p:attrName>
                                        </p:attrNameLst>
                                      </p:cBhvr>
                                      <p:to>
                                        <p:strVal val="visible"/>
                                      </p:to>
                                    </p:set>
                                    <p:anim calcmode="lin" valueType="num">
                                      <p:cBhvr additive="base">
                                        <p:cTn id="7" dur="250"/>
                                        <p:tgtEl>
                                          <p:spTgt spid="49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72"/>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VM Hardening - File Integrity Monitoring</a:t>
            </a:r>
            <a:endParaRPr sz="2200"/>
          </a:p>
        </p:txBody>
      </p:sp>
      <p:pic>
        <p:nvPicPr>
          <p:cNvPr id="500" name="Google Shape;500;p72"/>
          <p:cNvPicPr preferRelativeResize="0"/>
          <p:nvPr/>
        </p:nvPicPr>
        <p:blipFill>
          <a:blip r:embed="rId3">
            <a:alphaModFix/>
          </a:blip>
          <a:stretch>
            <a:fillRect/>
          </a:stretch>
        </p:blipFill>
        <p:spPr>
          <a:xfrm>
            <a:off x="256450" y="1710363"/>
            <a:ext cx="5249523" cy="2512176"/>
          </a:xfrm>
          <a:prstGeom prst="rect">
            <a:avLst/>
          </a:prstGeom>
          <a:noFill/>
          <a:ln w="9525" cap="flat" cmpd="sng">
            <a:solidFill>
              <a:srgbClr val="D9D9D9"/>
            </a:solidFill>
            <a:prstDash val="solid"/>
            <a:round/>
            <a:headEnd type="none" w="sm" len="sm"/>
            <a:tailEnd type="none" w="sm" len="sm"/>
          </a:ln>
        </p:spPr>
      </p:pic>
      <p:pic>
        <p:nvPicPr>
          <p:cNvPr id="501" name="Google Shape;501;p72"/>
          <p:cNvPicPr preferRelativeResize="0"/>
          <p:nvPr/>
        </p:nvPicPr>
        <p:blipFill>
          <a:blip r:embed="rId4">
            <a:alphaModFix/>
          </a:blip>
          <a:stretch>
            <a:fillRect/>
          </a:stretch>
        </p:blipFill>
        <p:spPr>
          <a:xfrm>
            <a:off x="4966500" y="1645807"/>
            <a:ext cx="3772225" cy="2919200"/>
          </a:xfrm>
          <a:prstGeom prst="rect">
            <a:avLst/>
          </a:prstGeom>
          <a:noFill/>
          <a:ln w="9525" cap="flat" cmpd="sng">
            <a:solidFill>
              <a:srgbClr val="D9D9D9"/>
            </a:solidFill>
            <a:prstDash val="solid"/>
            <a:round/>
            <a:headEnd type="none" w="sm" len="sm"/>
            <a:tailEnd type="none" w="sm" len="sm"/>
          </a:ln>
        </p:spPr>
      </p:pic>
      <p:sp>
        <p:nvSpPr>
          <p:cNvPr id="502" name="Google Shape;502;p72"/>
          <p:cNvSpPr txBox="1"/>
          <p:nvPr/>
        </p:nvSpPr>
        <p:spPr>
          <a:xfrm>
            <a:off x="5505975" y="2848400"/>
            <a:ext cx="674400" cy="2361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503" name="Google Shape;503;p72"/>
          <p:cNvSpPr txBox="1"/>
          <p:nvPr/>
        </p:nvSpPr>
        <p:spPr>
          <a:xfrm>
            <a:off x="6724125" y="2656375"/>
            <a:ext cx="1930200" cy="20145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1800">
              <a:solidFill>
                <a:schemeClr val="dk2"/>
              </a:solidFill>
            </a:endParaRPr>
          </a:p>
        </p:txBody>
      </p:sp>
      <p:sp>
        <p:nvSpPr>
          <p:cNvPr id="504" name="Google Shape;504;p72"/>
          <p:cNvSpPr txBox="1">
            <a:spLocks noGrp="1"/>
          </p:cNvSpPr>
          <p:nvPr>
            <p:ph type="body" idx="4294967295"/>
          </p:nvPr>
        </p:nvSpPr>
        <p:spPr>
          <a:xfrm>
            <a:off x="311700" y="820875"/>
            <a:ext cx="8520600" cy="8895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Space Grotesk"/>
                <a:ea typeface="Space Grotesk"/>
                <a:cs typeface="Space Grotesk"/>
                <a:sym typeface="Space Grotesk"/>
              </a:rPr>
              <a:t>Navigate to runtime protection &gt; policies &gt; select your vm and apply set of hardening policies like Audit Use of network tools to </a:t>
            </a:r>
            <a:r>
              <a:rPr lang="en" sz="1200">
                <a:solidFill>
                  <a:schemeClr val="dk1"/>
                </a:solidFill>
                <a:highlight>
                  <a:srgbClr val="FFFFFF"/>
                </a:highlight>
                <a:latin typeface="Space Grotesk"/>
                <a:ea typeface="Space Grotesk"/>
                <a:cs typeface="Space Grotesk"/>
                <a:sym typeface="Space Grotesk"/>
              </a:rPr>
              <a:t> to identify active connections, listening ports, and running services</a:t>
            </a:r>
            <a:r>
              <a:rPr lang="en" sz="1200">
                <a:solidFill>
                  <a:schemeClr val="dk1"/>
                </a:solidFill>
                <a:latin typeface="Space Grotesk"/>
                <a:ea typeface="Space Grotesk"/>
                <a:cs typeface="Space Grotesk"/>
                <a:sym typeface="Space Grotesk"/>
              </a:rPr>
              <a:t> </a:t>
            </a:r>
            <a:br>
              <a:rPr lang="en" sz="1200">
                <a:solidFill>
                  <a:schemeClr val="dk1"/>
                </a:solidFill>
                <a:latin typeface="Space Grotesk"/>
                <a:ea typeface="Space Grotesk"/>
                <a:cs typeface="Space Grotesk"/>
                <a:sym typeface="Space Grotesk"/>
              </a:rPr>
            </a:br>
            <a:r>
              <a:rPr lang="en" sz="1200">
                <a:solidFill>
                  <a:schemeClr val="dk1"/>
                </a:solidFill>
                <a:latin typeface="Space Grotesk"/>
                <a:ea typeface="Space Grotesk"/>
                <a:cs typeface="Space Grotesk"/>
                <a:sym typeface="Space Grotesk"/>
              </a:rPr>
              <a:t>Actions can be set to audit, block, monitor .</a:t>
            </a:r>
            <a:endParaRPr sz="1200">
              <a:solidFill>
                <a:schemeClr val="dk1"/>
              </a:solidFill>
              <a:latin typeface="Space Grotesk Medium"/>
              <a:ea typeface="Space Grotesk Medium"/>
              <a:cs typeface="Space Grotesk Medium"/>
              <a:sym typeface="Space Grotesk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73"/>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VM Hardening - File Integrity Monitoring</a:t>
            </a:r>
            <a:endParaRPr sz="2200"/>
          </a:p>
        </p:txBody>
      </p:sp>
      <p:sp>
        <p:nvSpPr>
          <p:cNvPr id="510" name="Google Shape;510;p73"/>
          <p:cNvSpPr txBox="1">
            <a:spLocks noGrp="1"/>
          </p:cNvSpPr>
          <p:nvPr>
            <p:ph type="body" idx="4294967295"/>
          </p:nvPr>
        </p:nvSpPr>
        <p:spPr>
          <a:xfrm>
            <a:off x="247450" y="798050"/>
            <a:ext cx="8719800" cy="8895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Space Grotesk"/>
                <a:ea typeface="Space Grotesk"/>
                <a:cs typeface="Space Grotesk"/>
                <a:sym typeface="Space Grotesk"/>
              </a:rPr>
              <a:t>Navigate to runtime protection &gt; policies &gt; select your vm and apply set of hardening policies like Audit Use of network tools to </a:t>
            </a:r>
            <a:r>
              <a:rPr lang="en" sz="1200">
                <a:solidFill>
                  <a:schemeClr val="dk1"/>
                </a:solidFill>
                <a:highlight>
                  <a:srgbClr val="FFFFFF"/>
                </a:highlight>
                <a:latin typeface="Space Grotesk"/>
                <a:ea typeface="Space Grotesk"/>
                <a:cs typeface="Space Grotesk"/>
                <a:sym typeface="Space Grotesk"/>
              </a:rPr>
              <a:t> to identify active connections, listening ports, and running services</a:t>
            </a:r>
            <a:r>
              <a:rPr lang="en" sz="1200">
                <a:solidFill>
                  <a:schemeClr val="dk1"/>
                </a:solidFill>
                <a:latin typeface="Space Grotesk"/>
                <a:ea typeface="Space Grotesk"/>
                <a:cs typeface="Space Grotesk"/>
                <a:sym typeface="Space Grotesk"/>
              </a:rPr>
              <a:t> </a:t>
            </a:r>
            <a:br>
              <a:rPr lang="en" sz="1200">
                <a:solidFill>
                  <a:schemeClr val="dk1"/>
                </a:solidFill>
                <a:latin typeface="Space Grotesk"/>
                <a:ea typeface="Space Grotesk"/>
                <a:cs typeface="Space Grotesk"/>
                <a:sym typeface="Space Grotesk"/>
              </a:rPr>
            </a:br>
            <a:r>
              <a:rPr lang="en" sz="1200">
                <a:solidFill>
                  <a:schemeClr val="dk1"/>
                </a:solidFill>
                <a:latin typeface="Space Grotesk"/>
                <a:ea typeface="Space Grotesk"/>
                <a:cs typeface="Space Grotesk"/>
                <a:sym typeface="Space Grotesk"/>
              </a:rPr>
              <a:t>Actions can be set to audit, block, monitor .</a:t>
            </a:r>
            <a:endParaRPr sz="1200">
              <a:solidFill>
                <a:schemeClr val="dk1"/>
              </a:solidFill>
              <a:latin typeface="Space Grotesk Medium"/>
              <a:ea typeface="Space Grotesk Medium"/>
              <a:cs typeface="Space Grotesk Medium"/>
              <a:sym typeface="Space Grotesk Medium"/>
            </a:endParaRPr>
          </a:p>
        </p:txBody>
      </p:sp>
      <p:sp>
        <p:nvSpPr>
          <p:cNvPr id="511" name="Google Shape;511;p73"/>
          <p:cNvSpPr txBox="1"/>
          <p:nvPr/>
        </p:nvSpPr>
        <p:spPr>
          <a:xfrm>
            <a:off x="437700" y="4630775"/>
            <a:ext cx="4244100" cy="30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512" name="Google Shape;512;p73"/>
          <p:cNvPicPr preferRelativeResize="0"/>
          <p:nvPr/>
        </p:nvPicPr>
        <p:blipFill>
          <a:blip r:embed="rId3">
            <a:alphaModFix/>
          </a:blip>
          <a:stretch>
            <a:fillRect/>
          </a:stretch>
        </p:blipFill>
        <p:spPr>
          <a:xfrm>
            <a:off x="146600" y="1935974"/>
            <a:ext cx="6585400" cy="3079823"/>
          </a:xfrm>
          <a:prstGeom prst="rect">
            <a:avLst/>
          </a:prstGeom>
          <a:noFill/>
          <a:ln w="8975" cap="flat" cmpd="sng">
            <a:solidFill>
              <a:srgbClr val="D9D9D9"/>
            </a:solidFill>
            <a:prstDash val="solid"/>
            <a:round/>
            <a:headEnd type="none" w="sm" len="sm"/>
            <a:tailEnd type="none" w="sm" len="sm"/>
          </a:ln>
        </p:spPr>
      </p:pic>
      <p:sp>
        <p:nvSpPr>
          <p:cNvPr id="513" name="Google Shape;513;p73"/>
          <p:cNvSpPr txBox="1"/>
          <p:nvPr/>
        </p:nvSpPr>
        <p:spPr>
          <a:xfrm>
            <a:off x="920706" y="3185792"/>
            <a:ext cx="3476400" cy="284100"/>
          </a:xfrm>
          <a:prstGeom prst="rect">
            <a:avLst/>
          </a:prstGeom>
          <a:noFill/>
          <a:ln w="9525" cap="flat" cmpd="sng">
            <a:solidFill>
              <a:srgbClr val="FF0000"/>
            </a:solidFill>
            <a:prstDash val="solid"/>
            <a:round/>
            <a:headEnd type="none" w="sm" len="sm"/>
            <a:tailEnd type="none" w="sm" len="sm"/>
          </a:ln>
        </p:spPr>
        <p:txBody>
          <a:bodyPr spcFirstLastPara="1" wrap="square" lIns="86150" tIns="86150" rIns="86150" bIns="86150" anchor="t" anchorCtr="0">
            <a:noAutofit/>
          </a:bodyPr>
          <a:lstStyle/>
          <a:p>
            <a:pPr marL="0" lvl="0" indent="0" algn="l" rtl="0">
              <a:spcBef>
                <a:spcPts val="0"/>
              </a:spcBef>
              <a:spcAft>
                <a:spcPts val="0"/>
              </a:spcAft>
              <a:buNone/>
            </a:pPr>
            <a:endParaRPr sz="1319"/>
          </a:p>
        </p:txBody>
      </p:sp>
      <p:sp>
        <p:nvSpPr>
          <p:cNvPr id="514" name="Google Shape;514;p73"/>
          <p:cNvSpPr txBox="1"/>
          <p:nvPr/>
        </p:nvSpPr>
        <p:spPr>
          <a:xfrm>
            <a:off x="4578917" y="2156546"/>
            <a:ext cx="2079000" cy="2911500"/>
          </a:xfrm>
          <a:prstGeom prst="rect">
            <a:avLst/>
          </a:prstGeom>
          <a:noFill/>
          <a:ln w="9525" cap="flat" cmpd="sng">
            <a:solidFill>
              <a:srgbClr val="FF0000"/>
            </a:solidFill>
            <a:prstDash val="solid"/>
            <a:round/>
            <a:headEnd type="none" w="sm" len="sm"/>
            <a:tailEnd type="none" w="sm" len="sm"/>
          </a:ln>
        </p:spPr>
        <p:txBody>
          <a:bodyPr spcFirstLastPara="1" wrap="square" lIns="86150" tIns="86150" rIns="86150" bIns="86150" anchor="t" anchorCtr="0">
            <a:noAutofit/>
          </a:bodyPr>
          <a:lstStyle/>
          <a:p>
            <a:pPr marL="0" lvl="0" indent="0" algn="l" rtl="0">
              <a:spcBef>
                <a:spcPts val="0"/>
              </a:spcBef>
              <a:spcAft>
                <a:spcPts val="0"/>
              </a:spcAft>
              <a:buNone/>
            </a:pPr>
            <a:endParaRPr/>
          </a:p>
        </p:txBody>
      </p:sp>
      <p:pic>
        <p:nvPicPr>
          <p:cNvPr id="515" name="Google Shape;515;p73"/>
          <p:cNvPicPr preferRelativeResize="0"/>
          <p:nvPr/>
        </p:nvPicPr>
        <p:blipFill rotWithShape="1">
          <a:blip r:embed="rId4">
            <a:alphaModFix/>
          </a:blip>
          <a:srcRect r="21783" b="30825"/>
          <a:stretch/>
        </p:blipFill>
        <p:spPr>
          <a:xfrm>
            <a:off x="5171575" y="1598275"/>
            <a:ext cx="3758724" cy="615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74"/>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VM Hardening - Prevent Crypto Miners Execution</a:t>
            </a:r>
            <a:endParaRPr sz="2200"/>
          </a:p>
        </p:txBody>
      </p:sp>
      <p:sp>
        <p:nvSpPr>
          <p:cNvPr id="521" name="Google Shape;521;p74"/>
          <p:cNvSpPr txBox="1"/>
          <p:nvPr/>
        </p:nvSpPr>
        <p:spPr>
          <a:xfrm>
            <a:off x="126550" y="756900"/>
            <a:ext cx="85599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1"/>
                </a:solidFill>
                <a:latin typeface="Space Grotesk"/>
                <a:ea typeface="Space Grotesk"/>
                <a:cs typeface="Space Grotesk"/>
                <a:sym typeface="Space Grotesk"/>
              </a:rPr>
              <a:t>Deny execution of known cryptominers and prevent execution of binaries from tmp, prevent tampering of sensitive files to protect against Cryptojacking attacks</a:t>
            </a:r>
            <a:endParaRPr sz="1300">
              <a:solidFill>
                <a:schemeClr val="dk1"/>
              </a:solidFill>
              <a:latin typeface="Space Grotesk"/>
              <a:ea typeface="Space Grotesk"/>
              <a:cs typeface="Space Grotesk"/>
              <a:sym typeface="Space Grotesk"/>
            </a:endParaRPr>
          </a:p>
        </p:txBody>
      </p:sp>
      <p:sp>
        <p:nvSpPr>
          <p:cNvPr id="522" name="Google Shape;522;p74"/>
          <p:cNvSpPr txBox="1"/>
          <p:nvPr/>
        </p:nvSpPr>
        <p:spPr>
          <a:xfrm>
            <a:off x="188425" y="1467350"/>
            <a:ext cx="5156700" cy="1985700"/>
          </a:xfrm>
          <a:prstGeom prst="rect">
            <a:avLst/>
          </a:prstGeom>
          <a:noFill/>
          <a:ln>
            <a:noFill/>
          </a:ln>
        </p:spPr>
        <p:txBody>
          <a:bodyPr spcFirstLastPara="1" wrap="square" lIns="91425" tIns="91425" rIns="91425" bIns="91425" anchor="t" anchorCtr="0">
            <a:spAutoFit/>
          </a:bodyPr>
          <a:lstStyle/>
          <a:p>
            <a:pPr marL="457200" lvl="0" indent="-311150" algn="l" rtl="0">
              <a:spcBef>
                <a:spcPts val="0"/>
              </a:spcBef>
              <a:spcAft>
                <a:spcPts val="0"/>
              </a:spcAft>
              <a:buClr>
                <a:schemeClr val="dk1"/>
              </a:buClr>
              <a:buSzPts val="1300"/>
              <a:buFont typeface="Space Grotesk"/>
              <a:buChar char="●"/>
            </a:pPr>
            <a:r>
              <a:rPr lang="en" sz="1300">
                <a:solidFill>
                  <a:schemeClr val="dk1"/>
                </a:solidFill>
                <a:latin typeface="Space Grotesk"/>
                <a:ea typeface="Space Grotesk"/>
                <a:cs typeface="Space Grotesk"/>
                <a:sym typeface="Space Grotesk"/>
              </a:rPr>
              <a:t>Upload and Activate this policy to protect against cryptojacking</a:t>
            </a:r>
            <a:endParaRPr sz="1300">
              <a:solidFill>
                <a:schemeClr val="dk1"/>
              </a:solidFill>
              <a:latin typeface="Space Grotesk"/>
              <a:ea typeface="Space Grotesk"/>
              <a:cs typeface="Space Grotesk"/>
              <a:sym typeface="Space Grotesk"/>
            </a:endParaRPr>
          </a:p>
          <a:p>
            <a:pPr marL="457200" lvl="0" indent="0" algn="l" rtl="0">
              <a:spcBef>
                <a:spcPts val="0"/>
              </a:spcBef>
              <a:spcAft>
                <a:spcPts val="0"/>
              </a:spcAft>
              <a:buNone/>
            </a:pPr>
            <a:endParaRPr sz="1300">
              <a:solidFill>
                <a:schemeClr val="dk1"/>
              </a:solidFill>
              <a:latin typeface="Space Grotesk"/>
              <a:ea typeface="Space Grotesk"/>
              <a:cs typeface="Space Grotesk"/>
              <a:sym typeface="Space Grotesk"/>
            </a:endParaRPr>
          </a:p>
          <a:p>
            <a:pPr marL="457200" lvl="0" indent="-311150" algn="l" rtl="0">
              <a:spcBef>
                <a:spcPts val="0"/>
              </a:spcBef>
              <a:spcAft>
                <a:spcPts val="0"/>
              </a:spcAft>
              <a:buClr>
                <a:schemeClr val="dk1"/>
              </a:buClr>
              <a:buSzPts val="1300"/>
              <a:buFont typeface="Space Grotesk"/>
              <a:buChar char="●"/>
            </a:pPr>
            <a:r>
              <a:rPr lang="en" sz="1300">
                <a:solidFill>
                  <a:schemeClr val="dk1"/>
                </a:solidFill>
                <a:latin typeface="Space Grotesk"/>
                <a:ea typeface="Space Grotesk"/>
                <a:cs typeface="Space Grotesk"/>
                <a:sym typeface="Space Grotesk"/>
              </a:rPr>
              <a:t>Prevents attackers from downloading or installing new tools to stay hidden. </a:t>
            </a:r>
            <a:endParaRPr sz="1300">
              <a:solidFill>
                <a:schemeClr val="dk1"/>
              </a:solidFill>
              <a:latin typeface="Space Grotesk"/>
              <a:ea typeface="Space Grotesk"/>
              <a:cs typeface="Space Grotesk"/>
              <a:sym typeface="Space Grotesk"/>
            </a:endParaRPr>
          </a:p>
          <a:p>
            <a:pPr marL="457200" lvl="0" indent="0" algn="l" rtl="0">
              <a:spcBef>
                <a:spcPts val="0"/>
              </a:spcBef>
              <a:spcAft>
                <a:spcPts val="0"/>
              </a:spcAft>
              <a:buNone/>
            </a:pPr>
            <a:endParaRPr sz="1300">
              <a:solidFill>
                <a:schemeClr val="dk1"/>
              </a:solidFill>
              <a:latin typeface="Space Grotesk"/>
              <a:ea typeface="Space Grotesk"/>
              <a:cs typeface="Space Grotesk"/>
              <a:sym typeface="Space Grotesk"/>
            </a:endParaRPr>
          </a:p>
          <a:p>
            <a:pPr marL="457200" lvl="0" indent="-311150" algn="l" rtl="0">
              <a:spcBef>
                <a:spcPts val="0"/>
              </a:spcBef>
              <a:spcAft>
                <a:spcPts val="0"/>
              </a:spcAft>
              <a:buClr>
                <a:schemeClr val="dk1"/>
              </a:buClr>
              <a:buSzPts val="1300"/>
              <a:buFont typeface="Space Grotesk"/>
              <a:buChar char="●"/>
            </a:pPr>
            <a:r>
              <a:rPr lang="en" sz="1300">
                <a:solidFill>
                  <a:schemeClr val="dk1"/>
                </a:solidFill>
                <a:latin typeface="Space Grotesk"/>
                <a:ea typeface="Space Grotesk"/>
                <a:cs typeface="Space Grotesk"/>
                <a:sym typeface="Space Grotesk"/>
              </a:rPr>
              <a:t>Blocks network scanning tools. This prevents an attacker from using your VM as a "jump box" to scan the rest of your internal network for more victims. </a:t>
            </a:r>
            <a:endParaRPr sz="1300">
              <a:solidFill>
                <a:schemeClr val="dk1"/>
              </a:solidFill>
              <a:latin typeface="Space Grotesk"/>
              <a:ea typeface="Space Grotesk"/>
              <a:cs typeface="Space Grotesk"/>
              <a:sym typeface="Space Grotesk"/>
            </a:endParaRPr>
          </a:p>
        </p:txBody>
      </p:sp>
      <p:pic>
        <p:nvPicPr>
          <p:cNvPr id="523" name="Google Shape;523;p74"/>
          <p:cNvPicPr preferRelativeResize="0"/>
          <p:nvPr/>
        </p:nvPicPr>
        <p:blipFill>
          <a:blip r:embed="rId3">
            <a:alphaModFix/>
          </a:blip>
          <a:stretch>
            <a:fillRect/>
          </a:stretch>
        </p:blipFill>
        <p:spPr>
          <a:xfrm>
            <a:off x="6301150" y="1166600"/>
            <a:ext cx="2759885" cy="3786099"/>
          </a:xfrm>
          <a:prstGeom prst="rect">
            <a:avLst/>
          </a:prstGeom>
          <a:noFill/>
          <a:ln w="9525" cap="flat" cmpd="sng">
            <a:solidFill>
              <a:srgbClr val="D9D9D9"/>
            </a:solidFill>
            <a:prstDash val="solid"/>
            <a:round/>
            <a:headEnd type="none" w="sm" len="sm"/>
            <a:tailEnd type="none" w="sm" len="sm"/>
          </a:ln>
        </p:spPr>
      </p:pic>
      <p:pic>
        <p:nvPicPr>
          <p:cNvPr id="524" name="Google Shape;524;p74"/>
          <p:cNvPicPr preferRelativeResize="0"/>
          <p:nvPr/>
        </p:nvPicPr>
        <p:blipFill>
          <a:blip r:embed="rId4">
            <a:alphaModFix/>
          </a:blip>
          <a:stretch>
            <a:fillRect/>
          </a:stretch>
        </p:blipFill>
        <p:spPr>
          <a:xfrm>
            <a:off x="355550" y="3782949"/>
            <a:ext cx="5761151" cy="7511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75"/>
          <p:cNvSpPr txBox="1"/>
          <p:nvPr/>
        </p:nvSpPr>
        <p:spPr>
          <a:xfrm>
            <a:off x="245199" y="875049"/>
            <a:ext cx="3753900" cy="1739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400" b="1" i="0" u="none" strike="noStrike" cap="none">
                <a:solidFill>
                  <a:schemeClr val="dk1"/>
                </a:solidFill>
                <a:latin typeface="Space Grotesk"/>
                <a:ea typeface="Space Grotesk"/>
                <a:cs typeface="Space Grotesk"/>
                <a:sym typeface="Space Grotesk"/>
              </a:rPr>
              <a:t>Unknown Malware</a:t>
            </a:r>
            <a:endParaRPr sz="1400" b="1" i="0" u="none" strike="noStrike" cap="none">
              <a:solidFill>
                <a:schemeClr val="dk1"/>
              </a:solidFill>
              <a:latin typeface="Space Grotesk"/>
              <a:ea typeface="Space Grotesk"/>
              <a:cs typeface="Space Grotesk"/>
              <a:sym typeface="Space Grotesk"/>
            </a:endParaRPr>
          </a:p>
          <a:p>
            <a:pPr marL="0" marR="0" lvl="0" indent="0" algn="ctr" rtl="0">
              <a:lnSpc>
                <a:spcPct val="100000"/>
              </a:lnSpc>
              <a:spcBef>
                <a:spcPts val="0"/>
              </a:spcBef>
              <a:spcAft>
                <a:spcPts val="0"/>
              </a:spcAft>
              <a:buNone/>
            </a:pPr>
            <a:endParaRPr b="1">
              <a:solidFill>
                <a:schemeClr val="dk1"/>
              </a:solidFill>
              <a:latin typeface="Space Grotesk"/>
              <a:ea typeface="Space Grotesk"/>
              <a:cs typeface="Space Grotesk"/>
              <a:sym typeface="Space Grotesk"/>
            </a:endParaRPr>
          </a:p>
          <a:p>
            <a:pPr marL="285750" marR="0" lvl="0" indent="-279400" algn="l" rtl="0">
              <a:lnSpc>
                <a:spcPct val="100000"/>
              </a:lnSpc>
              <a:spcBef>
                <a:spcPts val="0"/>
              </a:spcBef>
              <a:spcAft>
                <a:spcPts val="0"/>
              </a:spcAft>
              <a:buClr>
                <a:schemeClr val="dk1"/>
              </a:buClr>
              <a:buSzPts val="1300"/>
              <a:buFont typeface="Space Grotesk"/>
              <a:buChar char="▪"/>
            </a:pPr>
            <a:r>
              <a:rPr lang="en" sz="1300" i="0" u="none" strike="noStrike" cap="none">
                <a:solidFill>
                  <a:schemeClr val="dk1"/>
                </a:solidFill>
                <a:latin typeface="Space Grotesk"/>
                <a:ea typeface="Space Grotesk"/>
                <a:cs typeface="Space Grotesk"/>
                <a:sym typeface="Space Grotesk"/>
              </a:rPr>
              <a:t>Install and execute unknown malware with “legitimate” signature</a:t>
            </a:r>
            <a:endParaRPr sz="1300">
              <a:solidFill>
                <a:schemeClr val="dk1"/>
              </a:solidFill>
              <a:latin typeface="Space Grotesk"/>
              <a:ea typeface="Space Grotesk"/>
              <a:cs typeface="Space Grotesk"/>
              <a:sym typeface="Space Grotesk"/>
            </a:endParaRPr>
          </a:p>
          <a:p>
            <a:pPr marL="285750" marR="0" lvl="0" indent="-279400" algn="l" rtl="0">
              <a:lnSpc>
                <a:spcPct val="100000"/>
              </a:lnSpc>
              <a:spcBef>
                <a:spcPts val="0"/>
              </a:spcBef>
              <a:spcAft>
                <a:spcPts val="0"/>
              </a:spcAft>
              <a:buClr>
                <a:schemeClr val="dk1"/>
              </a:buClr>
              <a:buSzPts val="1300"/>
              <a:buFont typeface="Noto Sans Symbols"/>
              <a:buChar char="▪"/>
            </a:pPr>
            <a:r>
              <a:rPr lang="en" sz="1300" i="0" u="none" strike="noStrike" cap="none">
                <a:solidFill>
                  <a:schemeClr val="dk1"/>
                </a:solidFill>
                <a:latin typeface="Space Grotesk"/>
                <a:ea typeface="Space Grotesk"/>
                <a:cs typeface="Space Grotesk"/>
                <a:sym typeface="Space Grotesk"/>
              </a:rPr>
              <a:t>Unknown malware connects to malicious domain pokdeng.com</a:t>
            </a:r>
            <a:endParaRPr sz="1300" i="0" u="none" strike="noStrike" cap="none">
              <a:solidFill>
                <a:schemeClr val="dk1"/>
              </a:solidFill>
              <a:latin typeface="Space Grotesk"/>
              <a:ea typeface="Space Grotesk"/>
              <a:cs typeface="Space Grotesk"/>
              <a:sym typeface="Space Grotesk"/>
            </a:endParaRPr>
          </a:p>
          <a:p>
            <a:pPr marL="285750" marR="0" lvl="1" indent="-279400" algn="l" rtl="0">
              <a:lnSpc>
                <a:spcPct val="100000"/>
              </a:lnSpc>
              <a:spcBef>
                <a:spcPts val="0"/>
              </a:spcBef>
              <a:spcAft>
                <a:spcPts val="0"/>
              </a:spcAft>
              <a:buClr>
                <a:schemeClr val="dk1"/>
              </a:buClr>
              <a:buSzPts val="1300"/>
              <a:buFont typeface="Space Grotesk"/>
              <a:buChar char="▪"/>
            </a:pPr>
            <a:r>
              <a:rPr lang="en" sz="1300" i="1" u="none" strike="noStrike" cap="none">
                <a:solidFill>
                  <a:schemeClr val="dk1"/>
                </a:solidFill>
                <a:latin typeface="Space Grotesk"/>
                <a:ea typeface="Space Grotesk"/>
                <a:cs typeface="Space Grotesk"/>
                <a:sym typeface="Space Grotesk"/>
              </a:rPr>
              <a:t>Pok Deng is a Thai gambling card game</a:t>
            </a:r>
            <a:endParaRPr sz="1300">
              <a:solidFill>
                <a:schemeClr val="dk1"/>
              </a:solidFill>
              <a:latin typeface="Space Grotesk"/>
              <a:ea typeface="Space Grotesk"/>
              <a:cs typeface="Space Grotesk"/>
              <a:sym typeface="Space Grotesk"/>
            </a:endParaRPr>
          </a:p>
          <a:p>
            <a:pPr marL="285750" marR="0" lvl="0" indent="-196850" algn="l" rtl="0">
              <a:lnSpc>
                <a:spcPct val="100000"/>
              </a:lnSpc>
              <a:spcBef>
                <a:spcPts val="0"/>
              </a:spcBef>
              <a:spcAft>
                <a:spcPts val="0"/>
              </a:spcAft>
              <a:buClr>
                <a:srgbClr val="000000"/>
              </a:buClr>
              <a:buSzPts val="1400"/>
              <a:buFont typeface="Noto Sans Symbols"/>
              <a:buNone/>
            </a:pPr>
            <a:endParaRPr sz="1400" i="0" u="none" strike="noStrike" cap="none">
              <a:solidFill>
                <a:schemeClr val="dk1"/>
              </a:solidFill>
              <a:latin typeface="Space Grotesk"/>
              <a:ea typeface="Space Grotesk"/>
              <a:cs typeface="Space Grotesk"/>
              <a:sym typeface="Space Grotesk"/>
            </a:endParaRPr>
          </a:p>
        </p:txBody>
      </p:sp>
      <p:sp>
        <p:nvSpPr>
          <p:cNvPr id="530" name="Google Shape;530;p75"/>
          <p:cNvSpPr txBox="1"/>
          <p:nvPr/>
        </p:nvSpPr>
        <p:spPr>
          <a:xfrm>
            <a:off x="4715399" y="875050"/>
            <a:ext cx="3753900" cy="153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400" b="1" i="0" u="none" strike="noStrike" cap="none">
                <a:solidFill>
                  <a:schemeClr val="dk1"/>
                </a:solidFill>
                <a:latin typeface="Space Grotesk"/>
                <a:ea typeface="Space Grotesk"/>
                <a:cs typeface="Space Grotesk"/>
                <a:sym typeface="Space Grotesk"/>
              </a:rPr>
              <a:t>Unknown Malware successfully runs</a:t>
            </a:r>
            <a:endParaRPr sz="1400" b="1" i="0" u="none" strike="noStrike" cap="none">
              <a:solidFill>
                <a:schemeClr val="dk1"/>
              </a:solidFill>
              <a:latin typeface="Space Grotesk"/>
              <a:ea typeface="Space Grotesk"/>
              <a:cs typeface="Space Grotesk"/>
              <a:sym typeface="Space Grotesk"/>
            </a:endParaRPr>
          </a:p>
          <a:p>
            <a:pPr marL="0" marR="0" lvl="0" indent="0" algn="ctr" rtl="0">
              <a:lnSpc>
                <a:spcPct val="100000"/>
              </a:lnSpc>
              <a:spcBef>
                <a:spcPts val="0"/>
              </a:spcBef>
              <a:spcAft>
                <a:spcPts val="0"/>
              </a:spcAft>
              <a:buNone/>
            </a:pPr>
            <a:endParaRPr b="1">
              <a:solidFill>
                <a:schemeClr val="dk1"/>
              </a:solidFill>
              <a:latin typeface="Space Grotesk"/>
              <a:ea typeface="Space Grotesk"/>
              <a:cs typeface="Space Grotesk"/>
              <a:sym typeface="Space Grotesk"/>
            </a:endParaRPr>
          </a:p>
          <a:p>
            <a:pPr marL="285750" marR="0" lvl="0" indent="-279400" algn="l" rtl="0">
              <a:lnSpc>
                <a:spcPct val="100000"/>
              </a:lnSpc>
              <a:spcBef>
                <a:spcPts val="0"/>
              </a:spcBef>
              <a:spcAft>
                <a:spcPts val="0"/>
              </a:spcAft>
              <a:buClr>
                <a:schemeClr val="dk1"/>
              </a:buClr>
              <a:buSzPts val="1300"/>
              <a:buFont typeface="Space Grotesk"/>
              <a:buChar char="▪"/>
            </a:pPr>
            <a:r>
              <a:rPr lang="en" sz="1300" i="0" u="none" strike="noStrike" cap="none">
                <a:solidFill>
                  <a:schemeClr val="dk1"/>
                </a:solidFill>
                <a:latin typeface="Space Grotesk"/>
                <a:ea typeface="Space Grotesk"/>
                <a:cs typeface="Space Grotesk"/>
                <a:sym typeface="Space Grotesk"/>
              </a:rPr>
              <a:t>Remote code vulnerability execution via shell injection</a:t>
            </a:r>
            <a:endParaRPr sz="1300">
              <a:solidFill>
                <a:schemeClr val="dk1"/>
              </a:solidFill>
              <a:latin typeface="Space Grotesk"/>
              <a:ea typeface="Space Grotesk"/>
              <a:cs typeface="Space Grotesk"/>
              <a:sym typeface="Space Grotesk"/>
            </a:endParaRPr>
          </a:p>
          <a:p>
            <a:pPr marL="285750" marR="0" lvl="0" indent="-279400" algn="l" rtl="0">
              <a:lnSpc>
                <a:spcPct val="100000"/>
              </a:lnSpc>
              <a:spcBef>
                <a:spcPts val="0"/>
              </a:spcBef>
              <a:spcAft>
                <a:spcPts val="0"/>
              </a:spcAft>
              <a:buClr>
                <a:schemeClr val="dk1"/>
              </a:buClr>
              <a:buSzPts val="1300"/>
              <a:buFont typeface="Noto Sans Symbols"/>
              <a:buChar char="▪"/>
            </a:pPr>
            <a:r>
              <a:rPr lang="en" sz="1300" i="0" u="none" strike="noStrike" cap="none">
                <a:solidFill>
                  <a:schemeClr val="dk1"/>
                </a:solidFill>
                <a:latin typeface="Space Grotesk"/>
                <a:ea typeface="Space Grotesk"/>
                <a:cs typeface="Space Grotesk"/>
                <a:sym typeface="Space Grotesk"/>
              </a:rPr>
              <a:t>Malware communicates with malicious domain pokdeng.com </a:t>
            </a:r>
            <a:endParaRPr sz="1300">
              <a:solidFill>
                <a:schemeClr val="dk1"/>
              </a:solidFill>
              <a:latin typeface="Space Grotesk"/>
              <a:ea typeface="Space Grotesk"/>
              <a:cs typeface="Space Grotesk"/>
              <a:sym typeface="Space Grotesk"/>
            </a:endParaRPr>
          </a:p>
          <a:p>
            <a:pPr marL="285750" marR="0" lvl="0" indent="-196850" algn="l" rtl="0">
              <a:lnSpc>
                <a:spcPct val="100000"/>
              </a:lnSpc>
              <a:spcBef>
                <a:spcPts val="0"/>
              </a:spcBef>
              <a:spcAft>
                <a:spcPts val="0"/>
              </a:spcAft>
              <a:buClr>
                <a:srgbClr val="000000"/>
              </a:buClr>
              <a:buSzPts val="1400"/>
              <a:buFont typeface="Noto Sans Symbols"/>
              <a:buNone/>
            </a:pPr>
            <a:endParaRPr sz="1400" i="0" u="none" strike="noStrike" cap="none">
              <a:solidFill>
                <a:schemeClr val="dk1"/>
              </a:solidFill>
              <a:latin typeface="Space Grotesk"/>
              <a:ea typeface="Space Grotesk"/>
              <a:cs typeface="Space Grotesk"/>
              <a:sym typeface="Space Grotesk"/>
            </a:endParaRPr>
          </a:p>
        </p:txBody>
      </p:sp>
      <p:pic>
        <p:nvPicPr>
          <p:cNvPr id="531" name="Google Shape;531;p75" descr="A black card with a silver design&#10;&#10;Description automatically generated"/>
          <p:cNvPicPr preferRelativeResize="0"/>
          <p:nvPr/>
        </p:nvPicPr>
        <p:blipFill rotWithShape="1">
          <a:blip r:embed="rId3">
            <a:alphaModFix/>
          </a:blip>
          <a:srcRect/>
          <a:stretch/>
        </p:blipFill>
        <p:spPr>
          <a:xfrm>
            <a:off x="734706" y="2949640"/>
            <a:ext cx="2773517" cy="1718799"/>
          </a:xfrm>
          <a:prstGeom prst="rect">
            <a:avLst/>
          </a:prstGeom>
          <a:noFill/>
          <a:ln>
            <a:noFill/>
          </a:ln>
        </p:spPr>
      </p:pic>
      <p:pic>
        <p:nvPicPr>
          <p:cNvPr id="532" name="Google Shape;532;p75" descr="A computer screen with green text&#10;&#10;Description automatically generated"/>
          <p:cNvPicPr preferRelativeResize="0"/>
          <p:nvPr/>
        </p:nvPicPr>
        <p:blipFill rotWithShape="1">
          <a:blip r:embed="rId4">
            <a:alphaModFix/>
          </a:blip>
          <a:srcRect/>
          <a:stretch/>
        </p:blipFill>
        <p:spPr>
          <a:xfrm>
            <a:off x="4810340" y="2614450"/>
            <a:ext cx="3658959" cy="2057350"/>
          </a:xfrm>
          <a:prstGeom prst="rect">
            <a:avLst/>
          </a:prstGeom>
          <a:noFill/>
          <a:ln>
            <a:noFill/>
          </a:ln>
        </p:spPr>
      </p:pic>
      <p:sp>
        <p:nvSpPr>
          <p:cNvPr id="533" name="Google Shape;533;p75"/>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Example</a:t>
            </a:r>
            <a:endParaRPr sz="22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76"/>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Example of Multi Stage Exploit</a:t>
            </a:r>
            <a:endParaRPr sz="2200"/>
          </a:p>
        </p:txBody>
      </p:sp>
      <p:pic>
        <p:nvPicPr>
          <p:cNvPr id="539" name="Google Shape;539;p76"/>
          <p:cNvPicPr preferRelativeResize="0"/>
          <p:nvPr/>
        </p:nvPicPr>
        <p:blipFill rotWithShape="1">
          <a:blip r:embed="rId3">
            <a:alphaModFix/>
          </a:blip>
          <a:srcRect t="4042" b="9212"/>
          <a:stretch/>
        </p:blipFill>
        <p:spPr>
          <a:xfrm>
            <a:off x="389150" y="983825"/>
            <a:ext cx="8264424" cy="40348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77"/>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Cryptojacking/Malware Protection</a:t>
            </a:r>
            <a:endParaRPr sz="2200"/>
          </a:p>
        </p:txBody>
      </p:sp>
      <p:sp>
        <p:nvSpPr>
          <p:cNvPr id="545" name="Google Shape;545;p77"/>
          <p:cNvSpPr txBox="1">
            <a:spLocks noGrp="1"/>
          </p:cNvSpPr>
          <p:nvPr>
            <p:ph type="body" idx="4294967295"/>
          </p:nvPr>
        </p:nvSpPr>
        <p:spPr>
          <a:xfrm>
            <a:off x="203825" y="863800"/>
            <a:ext cx="8520600" cy="3705000"/>
          </a:xfrm>
          <a:prstGeom prst="rect">
            <a:avLst/>
          </a:prstGeom>
        </p:spPr>
        <p:txBody>
          <a:bodyPr spcFirstLastPara="1" wrap="square" lIns="91425" tIns="91425" rIns="91425" bIns="91425" anchor="t" anchorCtr="0">
            <a:normAutofit/>
          </a:bodyPr>
          <a:lstStyle/>
          <a:p>
            <a:pPr marL="457200" lvl="0" indent="-323850" algn="l" rtl="0">
              <a:lnSpc>
                <a:spcPct val="150000"/>
              </a:lnSpc>
              <a:spcBef>
                <a:spcPts val="0"/>
              </a:spcBef>
              <a:spcAft>
                <a:spcPts val="0"/>
              </a:spcAft>
              <a:buClr>
                <a:schemeClr val="dk1"/>
              </a:buClr>
              <a:buSzPts val="1500"/>
              <a:buFont typeface="Space Grotesk"/>
              <a:buChar char="●"/>
            </a:pPr>
            <a:r>
              <a:rPr lang="en" sz="1500">
                <a:solidFill>
                  <a:schemeClr val="dk1"/>
                </a:solidFill>
                <a:latin typeface="Space Grotesk"/>
                <a:ea typeface="Space Grotesk"/>
                <a:cs typeface="Space Grotesk"/>
                <a:sym typeface="Space Grotesk"/>
              </a:rPr>
              <a:t>Not just detection but prevention of cryptomining attacks</a:t>
            </a:r>
            <a:endParaRPr sz="1500">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VM/Bare-metal based miners</a:t>
            </a:r>
            <a:endParaRPr sz="1200">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Container based miners</a:t>
            </a:r>
            <a:endParaRPr sz="1200">
              <a:solidFill>
                <a:schemeClr val="dk1"/>
              </a:solidFill>
              <a:latin typeface="Space Grotesk"/>
              <a:ea typeface="Space Grotesk"/>
              <a:cs typeface="Space Grotesk"/>
              <a:sym typeface="Space Grotesk"/>
            </a:endParaRPr>
          </a:p>
          <a:p>
            <a:pPr marL="457200" lvl="0" indent="-323850" algn="l" rtl="0">
              <a:lnSpc>
                <a:spcPct val="150000"/>
              </a:lnSpc>
              <a:spcBef>
                <a:spcPts val="0"/>
              </a:spcBef>
              <a:spcAft>
                <a:spcPts val="0"/>
              </a:spcAft>
              <a:buClr>
                <a:schemeClr val="dk1"/>
              </a:buClr>
              <a:buSzPts val="1500"/>
              <a:buFont typeface="Space Grotesk"/>
              <a:buChar char="●"/>
            </a:pPr>
            <a:r>
              <a:rPr lang="en" sz="1500">
                <a:solidFill>
                  <a:schemeClr val="dk1"/>
                </a:solidFill>
                <a:latin typeface="Space Grotesk"/>
                <a:ea typeface="Space Grotesk"/>
                <a:cs typeface="Space Grotesk"/>
                <a:sym typeface="Space Grotesk"/>
              </a:rPr>
              <a:t>No dependency on machine learning algorithms</a:t>
            </a:r>
            <a:endParaRPr sz="1500">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Use of ML has high runtime performance impact</a:t>
            </a:r>
            <a:endParaRPr sz="1200">
              <a:solidFill>
                <a:schemeClr val="dk1"/>
              </a:solidFill>
              <a:latin typeface="Space Grotesk"/>
              <a:ea typeface="Space Grotesk"/>
              <a:cs typeface="Space Grotesk"/>
              <a:sym typeface="Space Grotesk"/>
            </a:endParaRPr>
          </a:p>
          <a:p>
            <a:pPr marL="457200" lvl="0" indent="-323850" algn="l" rtl="0">
              <a:lnSpc>
                <a:spcPct val="150000"/>
              </a:lnSpc>
              <a:spcBef>
                <a:spcPts val="0"/>
              </a:spcBef>
              <a:spcAft>
                <a:spcPts val="0"/>
              </a:spcAft>
              <a:buClr>
                <a:schemeClr val="dk1"/>
              </a:buClr>
              <a:buSzPts val="1500"/>
              <a:buFont typeface="Space Grotesk"/>
              <a:buChar char="●"/>
            </a:pPr>
            <a:r>
              <a:rPr lang="en" sz="1500">
                <a:solidFill>
                  <a:schemeClr val="dk1"/>
                </a:solidFill>
                <a:latin typeface="Space Grotesk"/>
                <a:ea typeface="Space Grotesk"/>
                <a:cs typeface="Space Grotesk"/>
                <a:sym typeface="Space Grotesk"/>
              </a:rPr>
              <a:t>Heuristics used</a:t>
            </a:r>
            <a:endParaRPr sz="1500">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No execution allowed from world-writable folders such as /tmp/</a:t>
            </a:r>
            <a:endParaRPr sz="1200">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Binary execution whitelisted from specific paths and runtime writes not allowed to those paths</a:t>
            </a:r>
            <a:endParaRPr sz="1200">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Detection of well-known miners such as xmrig, dero</a:t>
            </a:r>
            <a:endParaRPr sz="1200">
              <a:solidFill>
                <a:schemeClr val="dk1"/>
              </a:solidFill>
              <a:latin typeface="Space Grotesk"/>
              <a:ea typeface="Space Grotesk"/>
              <a:cs typeface="Space Grotesk"/>
              <a:sym typeface="Space Grotesk"/>
            </a:endParaRPr>
          </a:p>
        </p:txBody>
      </p:sp>
      <p:pic>
        <p:nvPicPr>
          <p:cNvPr id="546" name="Google Shape;546;p77"/>
          <p:cNvPicPr preferRelativeResize="0"/>
          <p:nvPr/>
        </p:nvPicPr>
        <p:blipFill>
          <a:blip r:embed="rId3">
            <a:alphaModFix/>
          </a:blip>
          <a:stretch>
            <a:fillRect/>
          </a:stretch>
        </p:blipFill>
        <p:spPr>
          <a:xfrm>
            <a:off x="6641425" y="788975"/>
            <a:ext cx="2264425" cy="2137325"/>
          </a:xfrm>
          <a:prstGeom prst="rect">
            <a:avLst/>
          </a:prstGeom>
          <a:noFill/>
          <a:ln>
            <a:noFill/>
          </a:ln>
        </p:spPr>
      </p:pic>
      <p:sp>
        <p:nvSpPr>
          <p:cNvPr id="547" name="Google Shape;547;p77"/>
          <p:cNvSpPr txBox="1"/>
          <p:nvPr/>
        </p:nvSpPr>
        <p:spPr>
          <a:xfrm>
            <a:off x="203825" y="4621950"/>
            <a:ext cx="6077700" cy="42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595959"/>
                </a:solidFill>
                <a:latin typeface="Space Grotesk"/>
                <a:ea typeface="Space Grotesk"/>
                <a:cs typeface="Space Grotesk"/>
                <a:sym typeface="Space Grotesk"/>
              </a:rPr>
              <a:t>Ref:  </a:t>
            </a:r>
            <a:r>
              <a:rPr lang="en" sz="1000" u="sng">
                <a:solidFill>
                  <a:srgbClr val="595959"/>
                </a:solidFill>
                <a:latin typeface="Space Grotesk"/>
                <a:ea typeface="Space Grotesk"/>
                <a:cs typeface="Space Grotesk"/>
                <a:sym typeface="Space Grotesk"/>
                <a:hlinkClick r:id="rId4">
                  <a:extLst>
                    <a:ext uri="{A12FA001-AC4F-418D-AE19-62706E023703}">
                      <ahyp:hlinkClr xmlns:ahyp="http://schemas.microsoft.com/office/drawing/2018/hyperlinkcolor" val="tx"/>
                    </a:ext>
                  </a:extLst>
                </a:hlinkClick>
              </a:rPr>
              <a:t>https://www.accuknox.com/blog/cryptojacking-threat-prevention</a:t>
            </a:r>
            <a:endParaRPr sz="1000">
              <a:solidFill>
                <a:srgbClr val="595959"/>
              </a:solidFill>
              <a:latin typeface="Space Grotesk"/>
              <a:ea typeface="Space Grotesk"/>
              <a:cs typeface="Space Grotesk"/>
              <a:sym typeface="Space Grotesk"/>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78"/>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Process/Host based Microsegmentation</a:t>
            </a:r>
            <a:endParaRPr sz="2200"/>
          </a:p>
        </p:txBody>
      </p:sp>
      <p:sp>
        <p:nvSpPr>
          <p:cNvPr id="553" name="Google Shape;553;p78"/>
          <p:cNvSpPr txBox="1">
            <a:spLocks noGrp="1"/>
          </p:cNvSpPr>
          <p:nvPr>
            <p:ph type="body" idx="4294967295"/>
          </p:nvPr>
        </p:nvSpPr>
        <p:spPr>
          <a:xfrm>
            <a:off x="201375" y="863550"/>
            <a:ext cx="8520600" cy="3416400"/>
          </a:xfrm>
          <a:prstGeom prst="rect">
            <a:avLst/>
          </a:prstGeom>
        </p:spPr>
        <p:txBody>
          <a:bodyPr spcFirstLastPara="1" wrap="square" lIns="91425" tIns="91425" rIns="91425" bIns="91425" anchor="t" anchorCtr="0">
            <a:normAutofit/>
          </a:bodyPr>
          <a:lstStyle/>
          <a:p>
            <a:pPr marL="457200" lvl="0" indent="-330200" algn="l" rtl="0">
              <a:lnSpc>
                <a:spcPct val="150000"/>
              </a:lnSpc>
              <a:spcBef>
                <a:spcPts val="0"/>
              </a:spcBef>
              <a:spcAft>
                <a:spcPts val="0"/>
              </a:spcAft>
              <a:buClr>
                <a:schemeClr val="dk1"/>
              </a:buClr>
              <a:buSzPts val="1600"/>
              <a:buFont typeface="Space Grotesk"/>
              <a:buChar char="●"/>
            </a:pPr>
            <a:r>
              <a:rPr lang="en" sz="1600">
                <a:solidFill>
                  <a:schemeClr val="dk1"/>
                </a:solidFill>
                <a:latin typeface="Space Grotesk"/>
                <a:ea typeface="Space Grotesk"/>
                <a:cs typeface="Space Grotesk"/>
                <a:sym typeface="Space Grotesk"/>
              </a:rPr>
              <a:t>Process based Network control</a:t>
            </a:r>
            <a:endParaRPr sz="1600">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Allowing specific processes to use specific network primitives</a:t>
            </a:r>
            <a:endParaRPr sz="1200">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Ensure that only whitelisted applications can use network</a:t>
            </a:r>
            <a:endParaRPr sz="1200">
              <a:solidFill>
                <a:schemeClr val="dk1"/>
              </a:solidFill>
              <a:latin typeface="Space Grotesk"/>
              <a:ea typeface="Space Grotesk"/>
              <a:cs typeface="Space Grotesk"/>
              <a:sym typeface="Space Grotesk"/>
            </a:endParaRPr>
          </a:p>
          <a:p>
            <a:pPr marL="457200" lvl="0" indent="-330200" algn="l" rtl="0">
              <a:lnSpc>
                <a:spcPct val="150000"/>
              </a:lnSpc>
              <a:spcBef>
                <a:spcPts val="0"/>
              </a:spcBef>
              <a:spcAft>
                <a:spcPts val="0"/>
              </a:spcAft>
              <a:buClr>
                <a:schemeClr val="dk1"/>
              </a:buClr>
              <a:buSzPts val="1600"/>
              <a:buFont typeface="Space Grotesk"/>
              <a:buChar char="●"/>
            </a:pPr>
            <a:r>
              <a:rPr lang="en" sz="1600">
                <a:solidFill>
                  <a:schemeClr val="dk1"/>
                </a:solidFill>
                <a:latin typeface="Space Grotesk"/>
                <a:ea typeface="Space Grotesk"/>
                <a:cs typeface="Space Grotesk"/>
                <a:sym typeface="Space Grotesk"/>
              </a:rPr>
              <a:t>Process based Sensitive asset control</a:t>
            </a:r>
            <a:endParaRPr sz="1600">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Allow specific processes access to specific file system paths</a:t>
            </a:r>
            <a:endParaRPr sz="1200">
              <a:solidFill>
                <a:schemeClr val="dk1"/>
              </a:solidFill>
              <a:latin typeface="Space Grotesk"/>
              <a:ea typeface="Space Grotesk"/>
              <a:cs typeface="Space Grotesk"/>
              <a:sym typeface="Space Grotesk"/>
            </a:endParaRPr>
          </a:p>
          <a:p>
            <a:pPr marL="914400" lvl="1" indent="-304800" algn="l" rtl="0">
              <a:lnSpc>
                <a:spcPct val="150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Not even root would be allowed access without access policy</a:t>
            </a:r>
            <a:endParaRPr sz="1200">
              <a:solidFill>
                <a:schemeClr val="dk1"/>
              </a:solidFill>
              <a:latin typeface="Space Grotesk"/>
              <a:ea typeface="Space Grotesk"/>
              <a:cs typeface="Space Grotesk"/>
              <a:sym typeface="Space Grotesk"/>
            </a:endParaRPr>
          </a:p>
          <a:p>
            <a:pPr marL="457200" lvl="0" indent="-330200" algn="l" rtl="0">
              <a:lnSpc>
                <a:spcPct val="150000"/>
              </a:lnSpc>
              <a:spcBef>
                <a:spcPts val="0"/>
              </a:spcBef>
              <a:spcAft>
                <a:spcPts val="0"/>
              </a:spcAft>
              <a:buClr>
                <a:schemeClr val="dk1"/>
              </a:buClr>
              <a:buSzPts val="1600"/>
              <a:buFont typeface="Space Grotesk"/>
              <a:buChar char="●"/>
            </a:pPr>
            <a:r>
              <a:rPr lang="en" sz="1600">
                <a:solidFill>
                  <a:schemeClr val="dk1"/>
                </a:solidFill>
                <a:latin typeface="Space Grotesk"/>
                <a:ea typeface="Space Grotesk"/>
                <a:cs typeface="Space Grotesk"/>
                <a:sym typeface="Space Grotesk"/>
              </a:rPr>
              <a:t>For detailed use-cases </a:t>
            </a:r>
            <a:r>
              <a:rPr lang="en" sz="1600" u="sng">
                <a:solidFill>
                  <a:schemeClr val="accent1"/>
                </a:solidFill>
                <a:latin typeface="Space Grotesk"/>
                <a:ea typeface="Space Grotesk"/>
                <a:cs typeface="Space Grotesk"/>
                <a:sym typeface="Space Grotesk"/>
                <a:hlinkClick r:id="rId3">
                  <a:extLst>
                    <a:ext uri="{A12FA001-AC4F-418D-AE19-62706E023703}">
                      <ahyp:hlinkClr xmlns:ahyp="http://schemas.microsoft.com/office/drawing/2018/hyperlinkcolor" val="tx"/>
                    </a:ext>
                  </a:extLst>
                </a:hlinkClick>
              </a:rPr>
              <a:t>refer doc</a:t>
            </a:r>
            <a:endParaRPr sz="1600">
              <a:solidFill>
                <a:schemeClr val="dk1"/>
              </a:solidFill>
              <a:latin typeface="Space Grotesk"/>
              <a:ea typeface="Space Grotesk"/>
              <a:cs typeface="Space Grotesk"/>
              <a:sym typeface="Space Grotesk"/>
            </a:endParaRPr>
          </a:p>
        </p:txBody>
      </p:sp>
      <p:pic>
        <p:nvPicPr>
          <p:cNvPr id="554" name="Google Shape;554;p78"/>
          <p:cNvPicPr preferRelativeResize="0"/>
          <p:nvPr/>
        </p:nvPicPr>
        <p:blipFill>
          <a:blip r:embed="rId4">
            <a:alphaModFix/>
          </a:blip>
          <a:stretch>
            <a:fillRect/>
          </a:stretch>
        </p:blipFill>
        <p:spPr>
          <a:xfrm>
            <a:off x="6441375" y="1177450"/>
            <a:ext cx="2062875" cy="20628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79"/>
          <p:cNvSpPr txBox="1">
            <a:spLocks noGrp="1"/>
          </p:cNvSpPr>
          <p:nvPr>
            <p:ph type="title"/>
          </p:nvPr>
        </p:nvSpPr>
        <p:spPr>
          <a:xfrm>
            <a:off x="-24300" y="-9750"/>
            <a:ext cx="77259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Ransomware Protection for Assets on Endpoints</a:t>
            </a:r>
            <a:endParaRPr sz="2200"/>
          </a:p>
        </p:txBody>
      </p:sp>
      <p:sp>
        <p:nvSpPr>
          <p:cNvPr id="560" name="Google Shape;560;p79"/>
          <p:cNvSpPr txBox="1">
            <a:spLocks noGrp="1"/>
          </p:cNvSpPr>
          <p:nvPr>
            <p:ph type="body" idx="4294967295"/>
          </p:nvPr>
        </p:nvSpPr>
        <p:spPr>
          <a:xfrm>
            <a:off x="162325" y="863550"/>
            <a:ext cx="8520600" cy="3416400"/>
          </a:xfrm>
          <a:prstGeom prst="rect">
            <a:avLst/>
          </a:prstGeom>
        </p:spPr>
        <p:txBody>
          <a:bodyPr spcFirstLastPara="1" wrap="square" lIns="91425" tIns="91425" rIns="91425" bIns="91425" anchor="t" anchorCtr="0">
            <a:normAutofit/>
          </a:bodyPr>
          <a:lstStyle/>
          <a:p>
            <a:pPr marL="457200" lvl="0" indent="-336550" algn="l" rtl="0">
              <a:lnSpc>
                <a:spcPct val="150000"/>
              </a:lnSpc>
              <a:spcBef>
                <a:spcPts val="0"/>
              </a:spcBef>
              <a:spcAft>
                <a:spcPts val="0"/>
              </a:spcAft>
              <a:buClr>
                <a:schemeClr val="dk1"/>
              </a:buClr>
              <a:buSzPts val="1700"/>
              <a:buFont typeface="Space Grotesk"/>
              <a:buChar char="●"/>
            </a:pPr>
            <a:r>
              <a:rPr lang="en" sz="1700">
                <a:solidFill>
                  <a:schemeClr val="dk1"/>
                </a:solidFill>
                <a:latin typeface="Space Grotesk"/>
                <a:ea typeface="Space Grotesk"/>
                <a:cs typeface="Space Grotesk"/>
                <a:sym typeface="Space Grotesk"/>
              </a:rPr>
              <a:t>Protect sensitive assets that are mounted on the system</a:t>
            </a:r>
            <a:endParaRPr sz="1700">
              <a:solidFill>
                <a:schemeClr val="dk1"/>
              </a:solidFill>
              <a:latin typeface="Space Grotesk"/>
              <a:ea typeface="Space Grotesk"/>
              <a:cs typeface="Space Grotesk"/>
              <a:sym typeface="Space Grotesk"/>
            </a:endParaRPr>
          </a:p>
          <a:p>
            <a:pPr marL="914400" lvl="1" indent="-317500" algn="l" rtl="0">
              <a:lnSpc>
                <a:spcPct val="150000"/>
              </a:lnSpc>
              <a:spcBef>
                <a:spcPts val="0"/>
              </a:spcBef>
              <a:spcAft>
                <a:spcPts val="0"/>
              </a:spcAft>
              <a:buClr>
                <a:schemeClr val="dk1"/>
              </a:buClr>
              <a:buSzPts val="1400"/>
              <a:buFont typeface="Space Grotesk"/>
              <a:buChar char="○"/>
            </a:pPr>
            <a:r>
              <a:rPr lang="en">
                <a:solidFill>
                  <a:schemeClr val="dk1"/>
                </a:solidFill>
                <a:latin typeface="Space Grotesk"/>
                <a:ea typeface="Space Grotesk"/>
                <a:cs typeface="Space Grotesk"/>
                <a:sym typeface="Space Grotesk"/>
              </a:rPr>
              <a:t>KubeArmor based inline mitigation for unauthorized access</a:t>
            </a:r>
            <a:endParaRPr>
              <a:solidFill>
                <a:schemeClr val="dk1"/>
              </a:solidFill>
              <a:latin typeface="Space Grotesk"/>
              <a:ea typeface="Space Grotesk"/>
              <a:cs typeface="Space Grotesk"/>
              <a:sym typeface="Space Grotesk"/>
            </a:endParaRPr>
          </a:p>
          <a:p>
            <a:pPr marL="914400" lvl="1" indent="-317500" algn="l" rtl="0">
              <a:lnSpc>
                <a:spcPct val="150000"/>
              </a:lnSpc>
              <a:spcBef>
                <a:spcPts val="0"/>
              </a:spcBef>
              <a:spcAft>
                <a:spcPts val="0"/>
              </a:spcAft>
              <a:buClr>
                <a:schemeClr val="dk1"/>
              </a:buClr>
              <a:buSzPts val="1400"/>
              <a:buFont typeface="Space Grotesk"/>
              <a:buChar char="○"/>
            </a:pPr>
            <a:r>
              <a:rPr lang="en">
                <a:solidFill>
                  <a:schemeClr val="dk1"/>
                </a:solidFill>
                <a:latin typeface="Space Grotesk"/>
                <a:ea typeface="Space Grotesk"/>
                <a:cs typeface="Space Grotesk"/>
                <a:sym typeface="Space Grotesk"/>
              </a:rPr>
              <a:t>Inline mitigation ensures attackers cannot execute code on the targets</a:t>
            </a:r>
            <a:endParaRPr>
              <a:solidFill>
                <a:schemeClr val="dk1"/>
              </a:solidFill>
              <a:latin typeface="Space Grotesk"/>
              <a:ea typeface="Space Grotesk"/>
              <a:cs typeface="Space Grotesk"/>
              <a:sym typeface="Space Grotesk"/>
            </a:endParaRPr>
          </a:p>
          <a:p>
            <a:pPr marL="914400" lvl="1" indent="-317500" algn="l" rtl="0">
              <a:lnSpc>
                <a:spcPct val="150000"/>
              </a:lnSpc>
              <a:spcBef>
                <a:spcPts val="0"/>
              </a:spcBef>
              <a:spcAft>
                <a:spcPts val="0"/>
              </a:spcAft>
              <a:buClr>
                <a:schemeClr val="dk1"/>
              </a:buClr>
              <a:buSzPts val="1400"/>
              <a:buFont typeface="Space Grotesk"/>
              <a:buChar char="○"/>
            </a:pPr>
            <a:r>
              <a:rPr lang="en">
                <a:solidFill>
                  <a:schemeClr val="dk1"/>
                </a:solidFill>
                <a:latin typeface="Space Grotesk"/>
                <a:ea typeface="Space Grotesk"/>
                <a:cs typeface="Space Grotesk"/>
                <a:sym typeface="Space Grotesk"/>
              </a:rPr>
              <a:t>Examples</a:t>
            </a:r>
            <a:endParaRPr>
              <a:solidFill>
                <a:schemeClr val="dk1"/>
              </a:solidFill>
              <a:latin typeface="Space Grotesk"/>
              <a:ea typeface="Space Grotesk"/>
              <a:cs typeface="Space Grotesk"/>
              <a:sym typeface="Space Grotesk"/>
            </a:endParaRPr>
          </a:p>
          <a:p>
            <a:pPr marL="1371600" lvl="2" indent="-317500" algn="l" rtl="0">
              <a:lnSpc>
                <a:spcPct val="150000"/>
              </a:lnSpc>
              <a:spcBef>
                <a:spcPts val="0"/>
              </a:spcBef>
              <a:spcAft>
                <a:spcPts val="0"/>
              </a:spcAft>
              <a:buClr>
                <a:schemeClr val="dk1"/>
              </a:buClr>
              <a:buSzPts val="1400"/>
              <a:buFont typeface="Space Grotesk"/>
              <a:buChar char="■"/>
            </a:pPr>
            <a:r>
              <a:rPr lang="en">
                <a:solidFill>
                  <a:schemeClr val="dk1"/>
                </a:solidFill>
                <a:latin typeface="Space Grotesk"/>
                <a:ea typeface="Space Grotesk"/>
                <a:cs typeface="Space Grotesk"/>
                <a:sym typeface="Space Grotesk"/>
              </a:rPr>
              <a:t>Protect app configuration containing sensitive tokens</a:t>
            </a:r>
            <a:endParaRPr>
              <a:solidFill>
                <a:schemeClr val="dk1"/>
              </a:solidFill>
              <a:latin typeface="Space Grotesk"/>
              <a:ea typeface="Space Grotesk"/>
              <a:cs typeface="Space Grotesk"/>
              <a:sym typeface="Space Grotesk"/>
            </a:endParaRPr>
          </a:p>
          <a:p>
            <a:pPr marL="1371600" lvl="2" indent="-317500" algn="l" rtl="0">
              <a:lnSpc>
                <a:spcPct val="150000"/>
              </a:lnSpc>
              <a:spcBef>
                <a:spcPts val="0"/>
              </a:spcBef>
              <a:spcAft>
                <a:spcPts val="0"/>
              </a:spcAft>
              <a:buClr>
                <a:schemeClr val="dk1"/>
              </a:buClr>
              <a:buSzPts val="1400"/>
              <a:buFont typeface="Space Grotesk"/>
              <a:buChar char="■"/>
            </a:pPr>
            <a:r>
              <a:rPr lang="en">
                <a:solidFill>
                  <a:schemeClr val="dk1"/>
                </a:solidFill>
                <a:latin typeface="Space Grotesk"/>
                <a:ea typeface="Space Grotesk"/>
                <a:cs typeface="Space Grotesk"/>
                <a:sym typeface="Space Grotesk"/>
              </a:rPr>
              <a:t>Zero Trust access for sensitive volume mounts</a:t>
            </a:r>
            <a:endParaRPr>
              <a:solidFill>
                <a:schemeClr val="dk1"/>
              </a:solidFill>
              <a:latin typeface="Space Grotesk"/>
              <a:ea typeface="Space Grotesk"/>
              <a:cs typeface="Space Grotesk"/>
              <a:sym typeface="Space Grotesk"/>
            </a:endParaRPr>
          </a:p>
          <a:p>
            <a:pPr marL="914400" lvl="1" indent="-317500" algn="l" rtl="0">
              <a:lnSpc>
                <a:spcPct val="150000"/>
              </a:lnSpc>
              <a:spcBef>
                <a:spcPts val="0"/>
              </a:spcBef>
              <a:spcAft>
                <a:spcPts val="0"/>
              </a:spcAft>
              <a:buClr>
                <a:schemeClr val="dk1"/>
              </a:buClr>
              <a:buSzPts val="1400"/>
              <a:buFont typeface="Space Grotesk"/>
              <a:buChar char="○"/>
            </a:pPr>
            <a:r>
              <a:rPr lang="en" u="sng">
                <a:solidFill>
                  <a:schemeClr val="accent1"/>
                </a:solidFill>
                <a:latin typeface="Space Grotesk"/>
                <a:ea typeface="Space Grotesk"/>
                <a:cs typeface="Space Grotesk"/>
                <a:sym typeface="Space Grotesk"/>
                <a:hlinkClick r:id="rId3">
                  <a:extLst>
                    <a:ext uri="{A12FA001-AC4F-418D-AE19-62706E023703}">
                      <ahyp:hlinkClr xmlns:ahyp="http://schemas.microsoft.com/office/drawing/2018/hyperlinkcolor" val="tx"/>
                    </a:ext>
                  </a:extLst>
                </a:hlinkClick>
              </a:rPr>
              <a:t>Example use-case</a:t>
            </a:r>
            <a:r>
              <a:rPr lang="en">
                <a:solidFill>
                  <a:schemeClr val="dk1"/>
                </a:solidFill>
                <a:latin typeface="Space Grotesk"/>
                <a:ea typeface="Space Grotesk"/>
                <a:cs typeface="Space Grotesk"/>
                <a:sym typeface="Space Grotesk"/>
              </a:rPr>
              <a:t> (applicable for VM deployment as well)</a:t>
            </a:r>
            <a:endParaRPr>
              <a:solidFill>
                <a:schemeClr val="dk1"/>
              </a:solidFill>
              <a:latin typeface="Space Grotesk"/>
              <a:ea typeface="Space Grotesk"/>
              <a:cs typeface="Space Grotesk"/>
              <a:sym typeface="Space Grotesk"/>
            </a:endParaRPr>
          </a:p>
        </p:txBody>
      </p:sp>
      <p:pic>
        <p:nvPicPr>
          <p:cNvPr id="561" name="Google Shape;561;p79"/>
          <p:cNvPicPr preferRelativeResize="0"/>
          <p:nvPr/>
        </p:nvPicPr>
        <p:blipFill>
          <a:blip r:embed="rId4">
            <a:alphaModFix/>
          </a:blip>
          <a:stretch>
            <a:fillRect/>
          </a:stretch>
        </p:blipFill>
        <p:spPr>
          <a:xfrm>
            <a:off x="7496575" y="2930575"/>
            <a:ext cx="1186350" cy="11863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80"/>
          <p:cNvSpPr txBox="1">
            <a:spLocks noGrp="1"/>
          </p:cNvSpPr>
          <p:nvPr>
            <p:ph type="body" idx="4294967295"/>
          </p:nvPr>
        </p:nvSpPr>
        <p:spPr>
          <a:xfrm>
            <a:off x="167400" y="863550"/>
            <a:ext cx="8520600" cy="3416400"/>
          </a:xfrm>
          <a:prstGeom prst="rect">
            <a:avLst/>
          </a:prstGeom>
          <a:noFill/>
          <a:ln>
            <a:noFill/>
          </a:ln>
        </p:spPr>
        <p:txBody>
          <a:bodyPr spcFirstLastPara="1" wrap="square" lIns="68550" tIns="68550" rIns="68550" bIns="68550" anchor="t" anchorCtr="0">
            <a:normAutofit/>
          </a:bodyPr>
          <a:lstStyle/>
          <a:p>
            <a:pPr marL="457200" lvl="0" indent="-317500" algn="l" rtl="0">
              <a:lnSpc>
                <a:spcPct val="115000"/>
              </a:lnSpc>
              <a:spcBef>
                <a:spcPts val="0"/>
              </a:spcBef>
              <a:spcAft>
                <a:spcPts val="0"/>
              </a:spcAft>
              <a:buClr>
                <a:schemeClr val="dk1"/>
              </a:buClr>
              <a:buSzPts val="1400"/>
              <a:buFont typeface="Space Grotesk"/>
              <a:buChar char="●"/>
            </a:pPr>
            <a:r>
              <a:rPr lang="en" sz="1400">
                <a:solidFill>
                  <a:schemeClr val="dk1"/>
                </a:solidFill>
                <a:latin typeface="Space Grotesk"/>
                <a:ea typeface="Space Grotesk"/>
                <a:cs typeface="Space Grotesk"/>
                <a:sym typeface="Space Grotesk"/>
              </a:rPr>
              <a:t>Evaluate container security solution by emulating consistent attacks</a:t>
            </a:r>
            <a:endParaRPr sz="1400">
              <a:solidFill>
                <a:schemeClr val="dk1"/>
              </a:solidFill>
              <a:latin typeface="Space Grotesk"/>
              <a:ea typeface="Space Grotesk"/>
              <a:cs typeface="Space Grotesk"/>
              <a:sym typeface="Space Grotesk"/>
            </a:endParaRPr>
          </a:p>
          <a:p>
            <a:pPr marL="457200" lvl="0" indent="-317500" algn="l" rtl="0">
              <a:lnSpc>
                <a:spcPct val="115000"/>
              </a:lnSpc>
              <a:spcBef>
                <a:spcPts val="0"/>
              </a:spcBef>
              <a:spcAft>
                <a:spcPts val="0"/>
              </a:spcAft>
              <a:buClr>
                <a:schemeClr val="dk1"/>
              </a:buClr>
              <a:buSzPts val="1400"/>
              <a:buFont typeface="Space Grotesk"/>
              <a:buChar char="●"/>
            </a:pPr>
            <a:r>
              <a:rPr lang="en" sz="1400">
                <a:solidFill>
                  <a:schemeClr val="dk1"/>
                </a:solidFill>
                <a:latin typeface="Space Grotesk"/>
                <a:ea typeface="Space Grotesk"/>
                <a:cs typeface="Space Grotesk"/>
                <a:sym typeface="Space Grotesk"/>
              </a:rPr>
              <a:t>Codify the attack scenarios and auto-deploy the attack vectors and payload</a:t>
            </a:r>
            <a:endParaRPr sz="1400">
              <a:solidFill>
                <a:schemeClr val="dk1"/>
              </a:solidFill>
              <a:latin typeface="Space Grotesk"/>
              <a:ea typeface="Space Grotesk"/>
              <a:cs typeface="Space Grotesk"/>
              <a:sym typeface="Space Grotesk"/>
            </a:endParaRPr>
          </a:p>
          <a:p>
            <a:pPr marL="457200" lvl="0" indent="-317500" algn="l" rtl="0">
              <a:lnSpc>
                <a:spcPct val="115000"/>
              </a:lnSpc>
              <a:spcBef>
                <a:spcPts val="0"/>
              </a:spcBef>
              <a:spcAft>
                <a:spcPts val="0"/>
              </a:spcAft>
              <a:buClr>
                <a:schemeClr val="dk1"/>
              </a:buClr>
              <a:buSzPts val="1400"/>
              <a:buFont typeface="Space Grotesk"/>
              <a:buChar char="●"/>
            </a:pPr>
            <a:r>
              <a:rPr lang="en" sz="1400">
                <a:solidFill>
                  <a:schemeClr val="dk1"/>
                </a:solidFill>
                <a:latin typeface="Space Grotesk"/>
                <a:ea typeface="Space Grotesk"/>
                <a:cs typeface="Space Grotesk"/>
                <a:sym typeface="Space Grotesk"/>
              </a:rPr>
              <a:t>Consistent reporting</a:t>
            </a:r>
            <a:endParaRPr sz="1400">
              <a:solidFill>
                <a:schemeClr val="dk1"/>
              </a:solidFill>
              <a:latin typeface="Space Grotesk"/>
              <a:ea typeface="Space Grotesk"/>
              <a:cs typeface="Space Grotesk"/>
              <a:sym typeface="Space Grotesk"/>
            </a:endParaRPr>
          </a:p>
          <a:p>
            <a:pPr marL="914400" lvl="1" indent="-317500" algn="l" rtl="0">
              <a:lnSpc>
                <a:spcPct val="115000"/>
              </a:lnSpc>
              <a:spcBef>
                <a:spcPts val="0"/>
              </a:spcBef>
              <a:spcAft>
                <a:spcPts val="0"/>
              </a:spcAft>
              <a:buClr>
                <a:schemeClr val="dk1"/>
              </a:buClr>
              <a:buSzPts val="1400"/>
              <a:buFont typeface="Space Grotesk"/>
              <a:buChar char="○"/>
            </a:pPr>
            <a:r>
              <a:rPr lang="en">
                <a:solidFill>
                  <a:schemeClr val="dk1"/>
                </a:solidFill>
                <a:latin typeface="Space Grotesk"/>
                <a:ea typeface="Space Grotesk"/>
                <a:cs typeface="Space Grotesk"/>
                <a:sym typeface="Space Grotesk"/>
              </a:rPr>
              <a:t>Whether attack was successful?</a:t>
            </a:r>
            <a:endParaRPr>
              <a:solidFill>
                <a:schemeClr val="dk1"/>
              </a:solidFill>
              <a:latin typeface="Space Grotesk"/>
              <a:ea typeface="Space Grotesk"/>
              <a:cs typeface="Space Grotesk"/>
              <a:sym typeface="Space Grotesk"/>
            </a:endParaRPr>
          </a:p>
          <a:p>
            <a:pPr marL="914400" lvl="1" indent="-317500" algn="l" rtl="0">
              <a:lnSpc>
                <a:spcPct val="115000"/>
              </a:lnSpc>
              <a:spcBef>
                <a:spcPts val="0"/>
              </a:spcBef>
              <a:spcAft>
                <a:spcPts val="0"/>
              </a:spcAft>
              <a:buClr>
                <a:schemeClr val="dk1"/>
              </a:buClr>
              <a:buSzPts val="1400"/>
              <a:buFont typeface="Space Grotesk"/>
              <a:buChar char="○"/>
            </a:pPr>
            <a:r>
              <a:rPr lang="en">
                <a:solidFill>
                  <a:schemeClr val="dk1"/>
                </a:solidFill>
                <a:latin typeface="Space Grotesk"/>
                <a:ea typeface="Space Grotesk"/>
                <a:cs typeface="Space Grotesk"/>
                <a:sym typeface="Space Grotesk"/>
              </a:rPr>
              <a:t>Ability to view what happened if attack was successful or not</a:t>
            </a:r>
            <a:endParaRPr>
              <a:solidFill>
                <a:schemeClr val="dk1"/>
              </a:solidFill>
              <a:latin typeface="Space Grotesk"/>
              <a:ea typeface="Space Grotesk"/>
              <a:cs typeface="Space Grotesk"/>
              <a:sym typeface="Space Grotesk"/>
            </a:endParaRPr>
          </a:p>
        </p:txBody>
      </p:sp>
      <p:sp>
        <p:nvSpPr>
          <p:cNvPr id="567" name="Google Shape;567;p80"/>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Requirements</a:t>
            </a:r>
            <a:endParaRPr sz="22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81"/>
          <p:cNvSpPr txBox="1">
            <a:spLocks noGrp="1"/>
          </p:cNvSpPr>
          <p:nvPr>
            <p:ph type="body" idx="4294967295"/>
          </p:nvPr>
        </p:nvSpPr>
        <p:spPr>
          <a:xfrm>
            <a:off x="158925" y="863900"/>
            <a:ext cx="8520600" cy="1547400"/>
          </a:xfrm>
          <a:prstGeom prst="rect">
            <a:avLst/>
          </a:prstGeom>
          <a:noFill/>
          <a:ln>
            <a:noFill/>
          </a:ln>
        </p:spPr>
        <p:txBody>
          <a:bodyPr spcFirstLastPara="1" wrap="square" lIns="68550" tIns="68550" rIns="68550" bIns="68550" anchor="t" anchorCtr="0">
            <a:normAutofit/>
          </a:bodyPr>
          <a:lstStyle/>
          <a:p>
            <a:pPr marL="457200" lvl="0" indent="-317500" algn="l" rtl="0">
              <a:lnSpc>
                <a:spcPct val="115000"/>
              </a:lnSpc>
              <a:spcBef>
                <a:spcPts val="0"/>
              </a:spcBef>
              <a:spcAft>
                <a:spcPts val="0"/>
              </a:spcAft>
              <a:buClr>
                <a:schemeClr val="dk1"/>
              </a:buClr>
              <a:buSzPts val="1400"/>
              <a:buFont typeface="Space Grotesk"/>
              <a:buChar char="●"/>
            </a:pPr>
            <a:r>
              <a:rPr lang="en" sz="1400">
                <a:solidFill>
                  <a:schemeClr val="dk1"/>
                </a:solidFill>
                <a:latin typeface="Space Grotesk"/>
                <a:ea typeface="Space Grotesk"/>
                <a:cs typeface="Space Grotesk"/>
                <a:sym typeface="Space Grotesk"/>
              </a:rPr>
              <a:t>Agent: Agent performing an attack</a:t>
            </a:r>
            <a:endParaRPr sz="1400">
              <a:solidFill>
                <a:schemeClr val="dk1"/>
              </a:solidFill>
              <a:latin typeface="Space Grotesk"/>
              <a:ea typeface="Space Grotesk"/>
              <a:cs typeface="Space Grotesk"/>
              <a:sym typeface="Space Grotesk"/>
            </a:endParaRPr>
          </a:p>
          <a:p>
            <a:pPr marL="457200" lvl="0" indent="-317500" algn="l" rtl="0">
              <a:lnSpc>
                <a:spcPct val="115000"/>
              </a:lnSpc>
              <a:spcBef>
                <a:spcPts val="0"/>
              </a:spcBef>
              <a:spcAft>
                <a:spcPts val="0"/>
              </a:spcAft>
              <a:buClr>
                <a:schemeClr val="dk1"/>
              </a:buClr>
              <a:buSzPts val="1400"/>
              <a:buFont typeface="Space Grotesk"/>
              <a:buChar char="●"/>
            </a:pPr>
            <a:r>
              <a:rPr lang="en" sz="1400">
                <a:solidFill>
                  <a:schemeClr val="dk1"/>
                </a:solidFill>
                <a:latin typeface="Space Grotesk"/>
                <a:ea typeface="Space Grotesk"/>
                <a:cs typeface="Space Grotesk"/>
                <a:sym typeface="Space Grotesk"/>
              </a:rPr>
              <a:t>Ability: Attack use-case</a:t>
            </a:r>
            <a:endParaRPr sz="1400">
              <a:solidFill>
                <a:schemeClr val="dk1"/>
              </a:solidFill>
              <a:latin typeface="Space Grotesk"/>
              <a:ea typeface="Space Grotesk"/>
              <a:cs typeface="Space Grotesk"/>
              <a:sym typeface="Space Grotesk"/>
            </a:endParaRPr>
          </a:p>
          <a:p>
            <a:pPr marL="457200" lvl="0" indent="-317500" algn="l" rtl="0">
              <a:lnSpc>
                <a:spcPct val="115000"/>
              </a:lnSpc>
              <a:spcBef>
                <a:spcPts val="0"/>
              </a:spcBef>
              <a:spcAft>
                <a:spcPts val="0"/>
              </a:spcAft>
              <a:buClr>
                <a:schemeClr val="dk1"/>
              </a:buClr>
              <a:buSzPts val="1400"/>
              <a:buFont typeface="Space Grotesk"/>
              <a:buChar char="●"/>
            </a:pPr>
            <a:r>
              <a:rPr lang="en" sz="1400">
                <a:solidFill>
                  <a:schemeClr val="dk1"/>
                </a:solidFill>
                <a:latin typeface="Space Grotesk"/>
                <a:ea typeface="Space Grotesk"/>
                <a:cs typeface="Space Grotesk"/>
                <a:sym typeface="Space Grotesk"/>
              </a:rPr>
              <a:t>Adversary:  Group of Abilities</a:t>
            </a:r>
            <a:endParaRPr sz="1400">
              <a:solidFill>
                <a:schemeClr val="dk1"/>
              </a:solidFill>
              <a:latin typeface="Space Grotesk"/>
              <a:ea typeface="Space Grotesk"/>
              <a:cs typeface="Space Grotesk"/>
              <a:sym typeface="Space Grotesk"/>
            </a:endParaRPr>
          </a:p>
          <a:p>
            <a:pPr marL="457200" lvl="0" indent="-317500" algn="l" rtl="0">
              <a:lnSpc>
                <a:spcPct val="115000"/>
              </a:lnSpc>
              <a:spcBef>
                <a:spcPts val="0"/>
              </a:spcBef>
              <a:spcAft>
                <a:spcPts val="0"/>
              </a:spcAft>
              <a:buClr>
                <a:schemeClr val="dk1"/>
              </a:buClr>
              <a:buSzPts val="1400"/>
              <a:buFont typeface="Space Grotesk"/>
              <a:buChar char="●"/>
            </a:pPr>
            <a:r>
              <a:rPr lang="en" sz="1400">
                <a:solidFill>
                  <a:schemeClr val="dk1"/>
                </a:solidFill>
                <a:latin typeface="Space Grotesk"/>
                <a:ea typeface="Space Grotesk"/>
                <a:cs typeface="Space Grotesk"/>
                <a:sym typeface="Space Grotesk"/>
              </a:rPr>
              <a:t>Operation: Attack Operation</a:t>
            </a:r>
            <a:endParaRPr sz="1400">
              <a:solidFill>
                <a:schemeClr val="dk1"/>
              </a:solidFill>
              <a:latin typeface="Space Grotesk"/>
              <a:ea typeface="Space Grotesk"/>
              <a:cs typeface="Space Grotesk"/>
              <a:sym typeface="Space Grotesk"/>
            </a:endParaRPr>
          </a:p>
        </p:txBody>
      </p:sp>
      <p:sp>
        <p:nvSpPr>
          <p:cNvPr id="573" name="Google Shape;573;p81"/>
          <p:cNvSpPr txBox="1"/>
          <p:nvPr/>
        </p:nvSpPr>
        <p:spPr>
          <a:xfrm>
            <a:off x="6275500" y="4703625"/>
            <a:ext cx="2835900" cy="412500"/>
          </a:xfrm>
          <a:prstGeom prst="rect">
            <a:avLst/>
          </a:prstGeom>
          <a:noFill/>
          <a:ln>
            <a:noFill/>
          </a:ln>
        </p:spPr>
        <p:txBody>
          <a:bodyPr spcFirstLastPara="1" wrap="square" lIns="0" tIns="0" rIns="0" bIns="0" anchor="t" anchorCtr="0">
            <a:normAutofit fontScale="40000" lnSpcReduction="20000"/>
          </a:bodyPr>
          <a:lstStyle/>
          <a:p>
            <a:pPr marL="0" marR="0" lvl="0" indent="0" algn="l" rtl="0">
              <a:lnSpc>
                <a:spcPct val="100000"/>
              </a:lnSpc>
              <a:spcBef>
                <a:spcPts val="0"/>
              </a:spcBef>
              <a:spcAft>
                <a:spcPts val="0"/>
              </a:spcAft>
              <a:buClr>
                <a:srgbClr val="000000"/>
              </a:buClr>
              <a:buSzPct val="100000"/>
              <a:buFont typeface="Arial"/>
              <a:buNone/>
            </a:pPr>
            <a:r>
              <a:rPr lang="en" sz="1400" b="0" i="0" u="none" strike="noStrike" cap="none">
                <a:solidFill>
                  <a:srgbClr val="000000"/>
                </a:solidFill>
                <a:latin typeface="Arial"/>
                <a:ea typeface="Arial"/>
                <a:cs typeface="Arial"/>
                <a:sym typeface="Arial"/>
              </a:rPr>
              <a:t>Ref:</a:t>
            </a:r>
            <a:endParaRPr sz="1400" b="0" i="0" u="none" strike="noStrike" cap="none">
              <a:solidFill>
                <a:srgbClr val="000000"/>
              </a:solidFill>
              <a:latin typeface="Arial"/>
              <a:ea typeface="Arial"/>
              <a:cs typeface="Arial"/>
              <a:sym typeface="Arial"/>
            </a:endParaRPr>
          </a:p>
          <a:p>
            <a:pPr marL="457200" marR="0" lvl="0" indent="-282893" algn="l" rtl="0">
              <a:lnSpc>
                <a:spcPct val="100000"/>
              </a:lnSpc>
              <a:spcBef>
                <a:spcPts val="0"/>
              </a:spcBef>
              <a:spcAft>
                <a:spcPts val="0"/>
              </a:spcAft>
              <a:buClr>
                <a:srgbClr val="000000"/>
              </a:buClr>
              <a:buSzPct val="100000"/>
              <a:buFont typeface="Montserrat"/>
              <a:buAutoNum type="arabicPeriod"/>
            </a:pPr>
            <a:r>
              <a:rPr lang="en" sz="1800" b="0" i="0" u="sng" strike="noStrike" cap="none">
                <a:solidFill>
                  <a:schemeClr val="hlink"/>
                </a:solidFill>
                <a:latin typeface="Montserrat"/>
                <a:ea typeface="Montserrat"/>
                <a:cs typeface="Montserrat"/>
                <a:sym typeface="Montserrat"/>
                <a:hlinkClick r:id="rId3"/>
              </a:rPr>
              <a:t>MITRE Caldera: Learning the terminology</a:t>
            </a:r>
            <a:endParaRPr sz="1800" b="0" i="0" u="none" strike="noStrike" cap="none">
              <a:solidFill>
                <a:srgbClr val="262626"/>
              </a:solidFill>
              <a:latin typeface="Montserrat"/>
              <a:ea typeface="Montserrat"/>
              <a:cs typeface="Montserrat"/>
              <a:sym typeface="Montserrat"/>
            </a:endParaRPr>
          </a:p>
          <a:p>
            <a:pPr marL="457200" marR="0" lvl="0" indent="-282893" algn="l" rtl="0">
              <a:lnSpc>
                <a:spcPct val="100000"/>
              </a:lnSpc>
              <a:spcBef>
                <a:spcPts val="0"/>
              </a:spcBef>
              <a:spcAft>
                <a:spcPts val="0"/>
              </a:spcAft>
              <a:buClr>
                <a:srgbClr val="262626"/>
              </a:buClr>
              <a:buSzPct val="100000"/>
              <a:buFont typeface="Montserrat"/>
              <a:buAutoNum type="arabicPeriod"/>
            </a:pPr>
            <a:r>
              <a:rPr lang="en" sz="1800" b="0" i="0" u="sng" strike="noStrike" cap="none">
                <a:solidFill>
                  <a:schemeClr val="hlink"/>
                </a:solidFill>
                <a:latin typeface="Montserrat"/>
                <a:ea typeface="Montserrat"/>
                <a:cs typeface="Montserrat"/>
                <a:sym typeface="Montserrat"/>
                <a:hlinkClick r:id="rId4"/>
              </a:rPr>
              <a:t>https://github.com/nyrahul/k8s-sandcat</a:t>
            </a:r>
            <a:endParaRPr sz="1800" b="0" i="0" u="none" strike="noStrike" cap="none">
              <a:solidFill>
                <a:srgbClr val="262626"/>
              </a:solidFill>
              <a:latin typeface="Montserrat"/>
              <a:ea typeface="Montserrat"/>
              <a:cs typeface="Montserrat"/>
              <a:sym typeface="Montserrat"/>
            </a:endParaRPr>
          </a:p>
        </p:txBody>
      </p:sp>
      <p:pic>
        <p:nvPicPr>
          <p:cNvPr id="574" name="Google Shape;574;p81"/>
          <p:cNvPicPr preferRelativeResize="0"/>
          <p:nvPr/>
        </p:nvPicPr>
        <p:blipFill rotWithShape="1">
          <a:blip r:embed="rId5">
            <a:alphaModFix/>
          </a:blip>
          <a:srcRect/>
          <a:stretch/>
        </p:blipFill>
        <p:spPr>
          <a:xfrm>
            <a:off x="3356250" y="892300"/>
            <a:ext cx="3465574" cy="1900324"/>
          </a:xfrm>
          <a:prstGeom prst="rect">
            <a:avLst/>
          </a:prstGeom>
          <a:noFill/>
          <a:ln>
            <a:noFill/>
          </a:ln>
        </p:spPr>
      </p:pic>
      <p:pic>
        <p:nvPicPr>
          <p:cNvPr id="575" name="Google Shape;575;p81"/>
          <p:cNvPicPr preferRelativeResize="0"/>
          <p:nvPr/>
        </p:nvPicPr>
        <p:blipFill rotWithShape="1">
          <a:blip r:embed="rId6">
            <a:alphaModFix/>
          </a:blip>
          <a:srcRect/>
          <a:stretch/>
        </p:blipFill>
        <p:spPr>
          <a:xfrm>
            <a:off x="510413" y="2986675"/>
            <a:ext cx="6549074" cy="2030600"/>
          </a:xfrm>
          <a:prstGeom prst="rect">
            <a:avLst/>
          </a:prstGeom>
          <a:noFill/>
          <a:ln>
            <a:noFill/>
          </a:ln>
        </p:spPr>
      </p:pic>
      <p:sp>
        <p:nvSpPr>
          <p:cNvPr id="576" name="Google Shape;576;p81"/>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a:t>Adversarial Simulation Tool: MITRE Caldera</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pic>
        <p:nvPicPr>
          <p:cNvPr id="581" name="Google Shape;581;p82"/>
          <p:cNvPicPr preferRelativeResize="0"/>
          <p:nvPr/>
        </p:nvPicPr>
        <p:blipFill rotWithShape="1">
          <a:blip r:embed="rId3">
            <a:alphaModFix/>
          </a:blip>
          <a:srcRect/>
          <a:stretch/>
        </p:blipFill>
        <p:spPr>
          <a:xfrm>
            <a:off x="1095000" y="979850"/>
            <a:ext cx="5379901" cy="4163648"/>
          </a:xfrm>
          <a:prstGeom prst="rect">
            <a:avLst/>
          </a:prstGeom>
          <a:noFill/>
          <a:ln>
            <a:noFill/>
          </a:ln>
        </p:spPr>
      </p:pic>
      <p:sp>
        <p:nvSpPr>
          <p:cNvPr id="582" name="Google Shape;582;p82"/>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lnSpc>
                <a:spcPct val="90000"/>
              </a:lnSpc>
              <a:spcBef>
                <a:spcPts val="0"/>
              </a:spcBef>
              <a:spcAft>
                <a:spcPts val="0"/>
              </a:spcAft>
              <a:buNone/>
            </a:pPr>
            <a:r>
              <a:rPr lang="en"/>
              <a:t>Adversarial Simulation Across Multiple Vendors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83"/>
          <p:cNvSpPr txBox="1">
            <a:spLocks noGrp="1"/>
          </p:cNvSpPr>
          <p:nvPr>
            <p:ph type="body" idx="4294967295"/>
          </p:nvPr>
        </p:nvSpPr>
        <p:spPr>
          <a:xfrm>
            <a:off x="311700" y="965750"/>
            <a:ext cx="8520600" cy="3416400"/>
          </a:xfrm>
          <a:prstGeom prst="rect">
            <a:avLst/>
          </a:prstGeom>
          <a:noFill/>
          <a:ln>
            <a:noFill/>
          </a:ln>
        </p:spPr>
        <p:txBody>
          <a:bodyPr spcFirstLastPara="1" wrap="square" lIns="68550" tIns="68550" rIns="68550" bIns="68550" anchor="ctr" anchorCtr="0">
            <a:normAutofit/>
          </a:bodyPr>
          <a:lstStyle/>
          <a:p>
            <a:pPr marL="0" lvl="0" indent="0" algn="ctr" rtl="0">
              <a:lnSpc>
                <a:spcPct val="90000"/>
              </a:lnSpc>
              <a:spcBef>
                <a:spcPts val="0"/>
              </a:spcBef>
              <a:spcAft>
                <a:spcPts val="0"/>
              </a:spcAft>
              <a:buSzPts val="1800"/>
              <a:buNone/>
            </a:pPr>
            <a:r>
              <a:rPr lang="en" sz="2600" u="sng">
                <a:solidFill>
                  <a:srgbClr val="0000FF"/>
                </a:solidFill>
                <a:latin typeface="Space Grotesk"/>
                <a:ea typeface="Space Grotesk"/>
                <a:cs typeface="Space Grotesk"/>
                <a:sym typeface="Space Grotesk"/>
                <a:hlinkClick r:id="rId3">
                  <a:extLst>
                    <a:ext uri="{A12FA001-AC4F-418D-AE19-62706E023703}">
                      <ahyp:hlinkClr xmlns:ahyp="http://schemas.microsoft.com/office/drawing/2018/hyperlinkcolor" val="tx"/>
                    </a:ext>
                  </a:extLst>
                </a:hlinkClick>
              </a:rPr>
              <a:t>https://app.storylane.io/share/2ybs00khhlmk</a:t>
            </a:r>
            <a:endParaRPr sz="2600">
              <a:solidFill>
                <a:srgbClr val="0000FF"/>
              </a:solidFill>
              <a:latin typeface="Space Grotesk"/>
              <a:ea typeface="Space Grotesk"/>
              <a:cs typeface="Space Grotesk"/>
              <a:sym typeface="Space Grotesk"/>
            </a:endParaRPr>
          </a:p>
        </p:txBody>
      </p:sp>
      <p:sp>
        <p:nvSpPr>
          <p:cNvPr id="588" name="Google Shape;588;p83"/>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a:t>Detailed Demo for MITRE Caldera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84"/>
          <p:cNvSpPr txBox="1">
            <a:spLocks noGrp="1"/>
          </p:cNvSpPr>
          <p:nvPr>
            <p:ph type="body" idx="4294967295"/>
          </p:nvPr>
        </p:nvSpPr>
        <p:spPr>
          <a:xfrm>
            <a:off x="269250" y="883550"/>
            <a:ext cx="8520600" cy="1123800"/>
          </a:xfrm>
          <a:prstGeom prst="rect">
            <a:avLst/>
          </a:prstGeom>
          <a:noFill/>
          <a:ln>
            <a:noFill/>
          </a:ln>
        </p:spPr>
        <p:txBody>
          <a:bodyPr spcFirstLastPara="1" wrap="square" lIns="68550" tIns="68550" rIns="68550" bIns="68550" anchor="t" anchorCtr="0">
            <a:normAutofit/>
          </a:bodyPr>
          <a:lstStyle/>
          <a:p>
            <a:pPr marL="0" lvl="0" indent="0" algn="l" rtl="0">
              <a:lnSpc>
                <a:spcPct val="90000"/>
              </a:lnSpc>
              <a:spcBef>
                <a:spcPts val="0"/>
              </a:spcBef>
              <a:spcAft>
                <a:spcPts val="0"/>
              </a:spcAft>
              <a:buNone/>
            </a:pPr>
            <a:r>
              <a:rPr lang="en" sz="1500" b="1">
                <a:solidFill>
                  <a:schemeClr val="dk1"/>
                </a:solidFill>
                <a:latin typeface="Space Grotesk"/>
                <a:ea typeface="Space Grotesk"/>
                <a:cs typeface="Space Grotesk"/>
                <a:sym typeface="Space Grotesk"/>
              </a:rPr>
              <a:t>Pawning Vault Secrets Store</a:t>
            </a:r>
            <a:endParaRPr sz="1500" b="1">
              <a:solidFill>
                <a:schemeClr val="dk1"/>
              </a:solidFill>
              <a:latin typeface="Space Grotesk"/>
              <a:ea typeface="Space Grotesk"/>
              <a:cs typeface="Space Grotesk"/>
              <a:sym typeface="Space Grotesk"/>
            </a:endParaRPr>
          </a:p>
        </p:txBody>
      </p:sp>
      <p:pic>
        <p:nvPicPr>
          <p:cNvPr id="594" name="Google Shape;594;p84"/>
          <p:cNvPicPr preferRelativeResize="0"/>
          <p:nvPr/>
        </p:nvPicPr>
        <p:blipFill rotWithShape="1">
          <a:blip r:embed="rId3">
            <a:alphaModFix/>
          </a:blip>
          <a:srcRect/>
          <a:stretch/>
        </p:blipFill>
        <p:spPr>
          <a:xfrm>
            <a:off x="269251" y="1625325"/>
            <a:ext cx="8808049" cy="2915947"/>
          </a:xfrm>
          <a:prstGeom prst="rect">
            <a:avLst/>
          </a:prstGeom>
          <a:noFill/>
          <a:ln>
            <a:noFill/>
          </a:ln>
        </p:spPr>
      </p:pic>
      <p:sp>
        <p:nvSpPr>
          <p:cNvPr id="595" name="Google Shape;595;p84"/>
          <p:cNvSpPr/>
          <p:nvPr/>
        </p:nvSpPr>
        <p:spPr>
          <a:xfrm>
            <a:off x="3696499" y="2282072"/>
            <a:ext cx="3537900" cy="305100"/>
          </a:xfrm>
          <a:prstGeom prst="roundRect">
            <a:avLst>
              <a:gd name="adj" fmla="val 16667"/>
            </a:avLst>
          </a:prstGeom>
          <a:noFill/>
          <a:ln w="20150" cap="flat" cmpd="sng">
            <a:solidFill>
              <a:srgbClr val="FF0000"/>
            </a:solidFill>
            <a:prstDash val="dash"/>
            <a:round/>
            <a:headEnd type="none" w="sm" len="sm"/>
            <a:tailEnd type="none" w="sm" len="sm"/>
          </a:ln>
        </p:spPr>
        <p:txBody>
          <a:bodyPr spcFirstLastPara="1" wrap="square" lIns="96700" tIns="96700" rIns="96700" bIns="96700" anchor="ctr" anchorCtr="0">
            <a:noAutofit/>
          </a:bodyPr>
          <a:lstStyle/>
          <a:p>
            <a:pPr marL="0" marR="0" lvl="0" indent="0" algn="ctr" rtl="0">
              <a:lnSpc>
                <a:spcPct val="100000"/>
              </a:lnSpc>
              <a:spcBef>
                <a:spcPts val="0"/>
              </a:spcBef>
              <a:spcAft>
                <a:spcPts val="0"/>
              </a:spcAft>
              <a:buClr>
                <a:srgbClr val="000000"/>
              </a:buClr>
              <a:buSzPts val="1481"/>
              <a:buFont typeface="Arial"/>
              <a:buNone/>
            </a:pPr>
            <a:endParaRPr sz="1481" b="0" i="0" u="none" strike="noStrike" cap="none">
              <a:solidFill>
                <a:srgbClr val="000000"/>
              </a:solidFill>
              <a:latin typeface="Montserrat"/>
              <a:ea typeface="Montserrat"/>
              <a:cs typeface="Montserrat"/>
              <a:sym typeface="Montserrat"/>
            </a:endParaRPr>
          </a:p>
        </p:txBody>
      </p:sp>
      <p:sp>
        <p:nvSpPr>
          <p:cNvPr id="596" name="Google Shape;596;p84"/>
          <p:cNvSpPr/>
          <p:nvPr/>
        </p:nvSpPr>
        <p:spPr>
          <a:xfrm>
            <a:off x="3696499" y="3215802"/>
            <a:ext cx="4479300" cy="708900"/>
          </a:xfrm>
          <a:prstGeom prst="roundRect">
            <a:avLst>
              <a:gd name="adj" fmla="val 16667"/>
            </a:avLst>
          </a:prstGeom>
          <a:noFill/>
          <a:ln w="20150" cap="flat" cmpd="sng">
            <a:solidFill>
              <a:srgbClr val="FF0000"/>
            </a:solidFill>
            <a:prstDash val="dash"/>
            <a:round/>
            <a:headEnd type="none" w="sm" len="sm"/>
            <a:tailEnd type="none" w="sm" len="sm"/>
          </a:ln>
        </p:spPr>
        <p:txBody>
          <a:bodyPr spcFirstLastPara="1" wrap="square" lIns="96700" tIns="96700" rIns="96700" bIns="96700" anchor="ctr" anchorCtr="0">
            <a:noAutofit/>
          </a:bodyPr>
          <a:lstStyle/>
          <a:p>
            <a:pPr marL="0" marR="0" lvl="0" indent="0" algn="ctr" rtl="0">
              <a:lnSpc>
                <a:spcPct val="100000"/>
              </a:lnSpc>
              <a:spcBef>
                <a:spcPts val="0"/>
              </a:spcBef>
              <a:spcAft>
                <a:spcPts val="0"/>
              </a:spcAft>
              <a:buClr>
                <a:srgbClr val="000000"/>
              </a:buClr>
              <a:buSzPts val="1481"/>
              <a:buFont typeface="Arial"/>
              <a:buNone/>
            </a:pPr>
            <a:endParaRPr sz="1481" b="0" i="0" u="none" strike="noStrike" cap="none">
              <a:solidFill>
                <a:srgbClr val="000000"/>
              </a:solidFill>
              <a:latin typeface="Montserrat"/>
              <a:ea typeface="Montserrat"/>
              <a:cs typeface="Montserrat"/>
              <a:sym typeface="Montserrat"/>
            </a:endParaRPr>
          </a:p>
        </p:txBody>
      </p:sp>
      <p:sp>
        <p:nvSpPr>
          <p:cNvPr id="597" name="Google Shape;597;p84"/>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Attack Simulated for Vault in Caldera</a:t>
            </a:r>
            <a:endParaRPr sz="22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85"/>
          <p:cNvSpPr txBox="1">
            <a:spLocks noGrp="1"/>
          </p:cNvSpPr>
          <p:nvPr>
            <p:ph type="body" idx="4294967295"/>
          </p:nvPr>
        </p:nvSpPr>
        <p:spPr>
          <a:xfrm>
            <a:off x="260775" y="948750"/>
            <a:ext cx="8520600" cy="3416400"/>
          </a:xfrm>
          <a:prstGeom prst="rect">
            <a:avLst/>
          </a:prstGeom>
          <a:noFill/>
          <a:ln>
            <a:noFill/>
          </a:ln>
        </p:spPr>
        <p:txBody>
          <a:bodyPr spcFirstLastPara="1" wrap="square" lIns="68550" tIns="68550" rIns="68550" bIns="68550" anchor="t" anchorCtr="0">
            <a:normAutofit/>
          </a:bodyPr>
          <a:lstStyle/>
          <a:p>
            <a:pPr marL="457200" lvl="0" indent="-323850" algn="l" rtl="0">
              <a:lnSpc>
                <a:spcPct val="115000"/>
              </a:lnSpc>
              <a:spcBef>
                <a:spcPts val="0"/>
              </a:spcBef>
              <a:spcAft>
                <a:spcPts val="0"/>
              </a:spcAft>
              <a:buClr>
                <a:schemeClr val="dk1"/>
              </a:buClr>
              <a:buSzPts val="1500"/>
              <a:buFont typeface="Space Grotesk"/>
              <a:buChar char="●"/>
            </a:pPr>
            <a:r>
              <a:rPr lang="en" sz="1500" b="1">
                <a:solidFill>
                  <a:schemeClr val="dk1"/>
                </a:solidFill>
                <a:latin typeface="Space Grotesk"/>
                <a:ea typeface="Space Grotesk"/>
                <a:cs typeface="Space Grotesk"/>
                <a:sym typeface="Space Grotesk"/>
              </a:rPr>
              <a:t>Cryptominer execution</a:t>
            </a:r>
            <a:endParaRPr sz="1500" b="1">
              <a:solidFill>
                <a:schemeClr val="dk1"/>
              </a:solidFill>
              <a:latin typeface="Space Grotesk"/>
              <a:ea typeface="Space Grotesk"/>
              <a:cs typeface="Space Grotesk"/>
              <a:sym typeface="Space Grotesk"/>
            </a:endParaRPr>
          </a:p>
          <a:p>
            <a:pPr marL="914400" lvl="1" indent="-342900" algn="l" rtl="0">
              <a:lnSpc>
                <a:spcPct val="115000"/>
              </a:lnSpc>
              <a:spcBef>
                <a:spcPts val="0"/>
              </a:spcBef>
              <a:spcAft>
                <a:spcPts val="0"/>
              </a:spcAft>
              <a:buClr>
                <a:schemeClr val="dk1"/>
              </a:buClr>
              <a:buSzPts val="1800"/>
              <a:buChar char="○"/>
            </a:pPr>
            <a:r>
              <a:rPr lang="en">
                <a:solidFill>
                  <a:schemeClr val="dk1"/>
                </a:solidFill>
                <a:latin typeface="Space Grotesk"/>
                <a:ea typeface="Space Grotesk"/>
                <a:cs typeface="Space Grotesk"/>
                <a:sym typeface="Space Grotesk"/>
              </a:rPr>
              <a:t>Attacker downloads and invokes xmrig in Vault</a:t>
            </a:r>
            <a:br>
              <a:rPr lang="en">
                <a:solidFill>
                  <a:schemeClr val="dk1"/>
                </a:solidFill>
                <a:latin typeface="Space Grotesk"/>
                <a:ea typeface="Space Grotesk"/>
                <a:cs typeface="Space Grotesk"/>
                <a:sym typeface="Space Grotesk"/>
              </a:rPr>
            </a:br>
            <a:endParaRPr>
              <a:solidFill>
                <a:schemeClr val="dk1"/>
              </a:solidFill>
              <a:latin typeface="Space Grotesk"/>
              <a:ea typeface="Space Grotesk"/>
              <a:cs typeface="Space Grotesk"/>
              <a:sym typeface="Space Grotesk"/>
            </a:endParaRPr>
          </a:p>
          <a:p>
            <a:pPr marL="457200" lvl="0" indent="-323850" algn="l" rtl="0">
              <a:lnSpc>
                <a:spcPct val="115000"/>
              </a:lnSpc>
              <a:spcBef>
                <a:spcPts val="0"/>
              </a:spcBef>
              <a:spcAft>
                <a:spcPts val="0"/>
              </a:spcAft>
              <a:buClr>
                <a:schemeClr val="dk1"/>
              </a:buClr>
              <a:buSzPts val="1500"/>
              <a:buFont typeface="Space Grotesk"/>
              <a:buChar char="●"/>
            </a:pPr>
            <a:r>
              <a:rPr lang="en" sz="1500" b="1">
                <a:solidFill>
                  <a:schemeClr val="dk1"/>
                </a:solidFill>
                <a:latin typeface="Space Grotesk"/>
                <a:ea typeface="Space Grotesk"/>
                <a:cs typeface="Space Grotesk"/>
                <a:sym typeface="Space Grotesk"/>
              </a:rPr>
              <a:t>Access Sensitive Mount point</a:t>
            </a:r>
            <a:endParaRPr sz="1500" b="1">
              <a:solidFill>
                <a:schemeClr val="dk1"/>
              </a:solidFill>
              <a:latin typeface="Space Grotesk"/>
              <a:ea typeface="Space Grotesk"/>
              <a:cs typeface="Space Grotesk"/>
              <a:sym typeface="Space Grotesk"/>
            </a:endParaRPr>
          </a:p>
          <a:p>
            <a:pPr marL="914400" lvl="1" indent="-342900" algn="l" rtl="0">
              <a:lnSpc>
                <a:spcPct val="115000"/>
              </a:lnSpc>
              <a:spcBef>
                <a:spcPts val="0"/>
              </a:spcBef>
              <a:spcAft>
                <a:spcPts val="0"/>
              </a:spcAft>
              <a:buClr>
                <a:schemeClr val="dk1"/>
              </a:buClr>
              <a:buSzPts val="1800"/>
              <a:buChar char="○"/>
            </a:pPr>
            <a:r>
              <a:rPr lang="en">
                <a:solidFill>
                  <a:schemeClr val="dk1"/>
                </a:solidFill>
                <a:latin typeface="Space Grotesk"/>
                <a:ea typeface="Space Grotesk"/>
                <a:cs typeface="Space Grotesk"/>
                <a:sym typeface="Space Grotesk"/>
              </a:rPr>
              <a:t>Attacker access /vault/ volume point that has all the secrets</a:t>
            </a:r>
            <a:br>
              <a:rPr lang="en">
                <a:solidFill>
                  <a:schemeClr val="dk1"/>
                </a:solidFill>
                <a:latin typeface="Space Grotesk"/>
                <a:ea typeface="Space Grotesk"/>
                <a:cs typeface="Space Grotesk"/>
                <a:sym typeface="Space Grotesk"/>
              </a:rPr>
            </a:br>
            <a:endParaRPr>
              <a:solidFill>
                <a:schemeClr val="dk1"/>
              </a:solidFill>
              <a:latin typeface="Space Grotesk"/>
              <a:ea typeface="Space Grotesk"/>
              <a:cs typeface="Space Grotesk"/>
              <a:sym typeface="Space Grotesk"/>
            </a:endParaRPr>
          </a:p>
          <a:p>
            <a:pPr marL="457200" lvl="0" indent="-323850" algn="l" rtl="0">
              <a:lnSpc>
                <a:spcPct val="115000"/>
              </a:lnSpc>
              <a:spcBef>
                <a:spcPts val="0"/>
              </a:spcBef>
              <a:spcAft>
                <a:spcPts val="0"/>
              </a:spcAft>
              <a:buClr>
                <a:schemeClr val="dk1"/>
              </a:buClr>
              <a:buSzPts val="1500"/>
              <a:buFont typeface="Space Grotesk"/>
              <a:buChar char="●"/>
            </a:pPr>
            <a:r>
              <a:rPr lang="en" sz="1500" b="1">
                <a:solidFill>
                  <a:schemeClr val="dk1"/>
                </a:solidFill>
                <a:latin typeface="Space Grotesk"/>
                <a:ea typeface="Space Grotesk"/>
                <a:cs typeface="Space Grotesk"/>
                <a:sym typeface="Space Grotesk"/>
              </a:rPr>
              <a:t>Download accessory tooling</a:t>
            </a:r>
            <a:endParaRPr sz="1500" b="1">
              <a:solidFill>
                <a:schemeClr val="dk1"/>
              </a:solidFill>
              <a:latin typeface="Space Grotesk"/>
              <a:ea typeface="Space Grotesk"/>
              <a:cs typeface="Space Grotesk"/>
              <a:sym typeface="Space Grotesk"/>
            </a:endParaRPr>
          </a:p>
          <a:p>
            <a:pPr marL="914400" lvl="1" indent="-342900" algn="l" rtl="0">
              <a:lnSpc>
                <a:spcPct val="115000"/>
              </a:lnSpc>
              <a:spcBef>
                <a:spcPts val="0"/>
              </a:spcBef>
              <a:spcAft>
                <a:spcPts val="0"/>
              </a:spcAft>
              <a:buClr>
                <a:schemeClr val="dk1"/>
              </a:buClr>
              <a:buSzPts val="1800"/>
              <a:buChar char="○"/>
            </a:pPr>
            <a:r>
              <a:rPr lang="en">
                <a:solidFill>
                  <a:schemeClr val="dk1"/>
                </a:solidFill>
                <a:latin typeface="Space Grotesk"/>
                <a:ea typeface="Space Grotesk"/>
                <a:cs typeface="Space Grotesk"/>
                <a:sym typeface="Space Grotesk"/>
              </a:rPr>
              <a:t>Attacker leverages apk toolkit</a:t>
            </a:r>
            <a:br>
              <a:rPr lang="en">
                <a:solidFill>
                  <a:schemeClr val="dk1"/>
                </a:solidFill>
                <a:latin typeface="Space Grotesk"/>
                <a:ea typeface="Space Grotesk"/>
                <a:cs typeface="Space Grotesk"/>
                <a:sym typeface="Space Grotesk"/>
              </a:rPr>
            </a:br>
            <a:endParaRPr>
              <a:solidFill>
                <a:schemeClr val="dk1"/>
              </a:solidFill>
              <a:latin typeface="Space Grotesk"/>
              <a:ea typeface="Space Grotesk"/>
              <a:cs typeface="Space Grotesk"/>
              <a:sym typeface="Space Grotesk"/>
            </a:endParaRPr>
          </a:p>
          <a:p>
            <a:pPr marL="457200" lvl="0" indent="-323850" algn="l" rtl="0">
              <a:lnSpc>
                <a:spcPct val="115000"/>
              </a:lnSpc>
              <a:spcBef>
                <a:spcPts val="0"/>
              </a:spcBef>
              <a:spcAft>
                <a:spcPts val="0"/>
              </a:spcAft>
              <a:buClr>
                <a:schemeClr val="dk1"/>
              </a:buClr>
              <a:buSzPts val="1500"/>
              <a:buFont typeface="Space Grotesk"/>
              <a:buChar char="●"/>
            </a:pPr>
            <a:r>
              <a:rPr lang="en" sz="1500" b="1">
                <a:solidFill>
                  <a:schemeClr val="dk1"/>
                </a:solidFill>
                <a:latin typeface="Space Grotesk"/>
                <a:ea typeface="Space Grotesk"/>
                <a:cs typeface="Space Grotesk"/>
                <a:sym typeface="Space Grotesk"/>
              </a:rPr>
              <a:t>Privilege Escalation</a:t>
            </a:r>
            <a:endParaRPr sz="1500" b="1">
              <a:solidFill>
                <a:schemeClr val="dk1"/>
              </a:solidFill>
              <a:latin typeface="Space Grotesk"/>
              <a:ea typeface="Space Grotesk"/>
              <a:cs typeface="Space Grotesk"/>
              <a:sym typeface="Space Grotesk"/>
            </a:endParaRPr>
          </a:p>
          <a:p>
            <a:pPr marL="914400" lvl="1" indent="-342900" algn="l" rtl="0">
              <a:lnSpc>
                <a:spcPct val="115000"/>
              </a:lnSpc>
              <a:spcBef>
                <a:spcPts val="0"/>
              </a:spcBef>
              <a:spcAft>
                <a:spcPts val="0"/>
              </a:spcAft>
              <a:buClr>
                <a:schemeClr val="dk1"/>
              </a:buClr>
              <a:buSzPts val="1800"/>
              <a:buChar char="○"/>
            </a:pPr>
            <a:r>
              <a:rPr lang="en">
                <a:solidFill>
                  <a:schemeClr val="dk1"/>
                </a:solidFill>
                <a:latin typeface="Space Grotesk"/>
                <a:ea typeface="Space Grotesk"/>
                <a:cs typeface="Space Grotesk"/>
                <a:sym typeface="Space Grotesk"/>
              </a:rPr>
              <a:t>Attacker uses su-exec for privilege escalation</a:t>
            </a:r>
            <a:endParaRPr>
              <a:solidFill>
                <a:schemeClr val="dk1"/>
              </a:solidFill>
              <a:latin typeface="Space Grotesk"/>
              <a:ea typeface="Space Grotesk"/>
              <a:cs typeface="Space Grotesk"/>
              <a:sym typeface="Space Grotesk"/>
            </a:endParaRPr>
          </a:p>
        </p:txBody>
      </p:sp>
      <p:sp>
        <p:nvSpPr>
          <p:cNvPr id="603" name="Google Shape;603;p85"/>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Other Attacks Simulated in MITRE Caldera</a:t>
            </a:r>
            <a:endParaRPr sz="22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86"/>
          <p:cNvSpPr txBox="1">
            <a:spLocks noGrp="1"/>
          </p:cNvSpPr>
          <p:nvPr>
            <p:ph type="body" idx="4294967295"/>
          </p:nvPr>
        </p:nvSpPr>
        <p:spPr>
          <a:xfrm>
            <a:off x="209850" y="863550"/>
            <a:ext cx="8520600" cy="3416400"/>
          </a:xfrm>
          <a:prstGeom prst="rect">
            <a:avLst/>
          </a:prstGeom>
          <a:noFill/>
          <a:ln>
            <a:noFill/>
          </a:ln>
        </p:spPr>
        <p:txBody>
          <a:bodyPr spcFirstLastPara="1" wrap="square" lIns="68550" tIns="68550" rIns="68550" bIns="68550" anchor="t" anchorCtr="0">
            <a:normAutofit/>
          </a:bodyPr>
          <a:lstStyle/>
          <a:p>
            <a:pPr marL="457200" lvl="0" indent="-323850" algn="l" rtl="0">
              <a:lnSpc>
                <a:spcPct val="115000"/>
              </a:lnSpc>
              <a:spcBef>
                <a:spcPts val="0"/>
              </a:spcBef>
              <a:spcAft>
                <a:spcPts val="0"/>
              </a:spcAft>
              <a:buClr>
                <a:schemeClr val="dk1"/>
              </a:buClr>
              <a:buSzPts val="1500"/>
              <a:buFont typeface="Space Grotesk"/>
              <a:buChar char="●"/>
            </a:pPr>
            <a:r>
              <a:rPr lang="en" sz="1500" b="1">
                <a:solidFill>
                  <a:schemeClr val="dk1"/>
                </a:solidFill>
                <a:latin typeface="Space Grotesk"/>
                <a:ea typeface="Space Grotesk"/>
                <a:cs typeface="Space Grotesk"/>
                <a:sym typeface="Space Grotesk"/>
              </a:rPr>
              <a:t>Adversarial simulation</a:t>
            </a:r>
            <a:br>
              <a:rPr lang="en" sz="1500" b="1">
                <a:solidFill>
                  <a:schemeClr val="dk1"/>
                </a:solidFill>
                <a:latin typeface="Space Grotesk"/>
                <a:ea typeface="Space Grotesk"/>
                <a:cs typeface="Space Grotesk"/>
                <a:sym typeface="Space Grotesk"/>
              </a:rPr>
            </a:br>
            <a:endParaRPr sz="1500" b="1">
              <a:solidFill>
                <a:schemeClr val="dk1"/>
              </a:solidFill>
              <a:latin typeface="Space Grotesk"/>
              <a:ea typeface="Space Grotesk"/>
              <a:cs typeface="Space Grotesk"/>
              <a:sym typeface="Space Grotesk"/>
            </a:endParaRPr>
          </a:p>
          <a:p>
            <a:pPr marL="914400" lvl="1" indent="-323850" algn="l" rtl="0">
              <a:lnSpc>
                <a:spcPct val="115000"/>
              </a:lnSpc>
              <a:spcBef>
                <a:spcPts val="0"/>
              </a:spcBef>
              <a:spcAft>
                <a:spcPts val="0"/>
              </a:spcAft>
              <a:buClr>
                <a:schemeClr val="dk1"/>
              </a:buClr>
              <a:buSzPts val="1500"/>
              <a:buFont typeface="Space Grotesk"/>
              <a:buChar char="○"/>
            </a:pPr>
            <a:r>
              <a:rPr lang="en" sz="1500">
                <a:solidFill>
                  <a:schemeClr val="dk1"/>
                </a:solidFill>
                <a:latin typeface="Space Grotesk"/>
                <a:ea typeface="Space Grotesk"/>
                <a:cs typeface="Space Grotesk"/>
                <a:sym typeface="Space Grotesk"/>
              </a:rPr>
              <a:t>Check the impact of adversarial simulation before and after the protection policies are in place.</a:t>
            </a:r>
            <a:br>
              <a:rPr lang="en" sz="1500">
                <a:solidFill>
                  <a:schemeClr val="dk1"/>
                </a:solidFill>
                <a:latin typeface="Space Grotesk"/>
                <a:ea typeface="Space Grotesk"/>
                <a:cs typeface="Space Grotesk"/>
                <a:sym typeface="Space Grotesk"/>
              </a:rPr>
            </a:br>
            <a:endParaRPr sz="1500">
              <a:solidFill>
                <a:schemeClr val="dk1"/>
              </a:solidFill>
              <a:latin typeface="Space Grotesk"/>
              <a:ea typeface="Space Grotesk"/>
              <a:cs typeface="Space Grotesk"/>
              <a:sym typeface="Space Grotesk"/>
            </a:endParaRPr>
          </a:p>
          <a:p>
            <a:pPr marL="457200" lvl="0" indent="-323850" algn="l" rtl="0">
              <a:lnSpc>
                <a:spcPct val="115000"/>
              </a:lnSpc>
              <a:spcBef>
                <a:spcPts val="0"/>
              </a:spcBef>
              <a:spcAft>
                <a:spcPts val="0"/>
              </a:spcAft>
              <a:buClr>
                <a:schemeClr val="dk1"/>
              </a:buClr>
              <a:buSzPts val="1500"/>
              <a:buFont typeface="Space Grotesk"/>
              <a:buChar char="●"/>
            </a:pPr>
            <a:r>
              <a:rPr lang="en" sz="1500" b="1">
                <a:solidFill>
                  <a:schemeClr val="dk1"/>
                </a:solidFill>
                <a:latin typeface="Space Grotesk"/>
                <a:ea typeface="Space Grotesk"/>
                <a:cs typeface="Space Grotesk"/>
                <a:sym typeface="Space Grotesk"/>
              </a:rPr>
              <a:t>Out of box agents and MITRE Caldera abilities provided by AccuKnox Red Team</a:t>
            </a:r>
            <a:br>
              <a:rPr lang="en" sz="1500" b="1">
                <a:solidFill>
                  <a:schemeClr val="dk1"/>
                </a:solidFill>
                <a:latin typeface="Space Grotesk"/>
                <a:ea typeface="Space Grotesk"/>
                <a:cs typeface="Space Grotesk"/>
                <a:sym typeface="Space Grotesk"/>
              </a:rPr>
            </a:br>
            <a:endParaRPr sz="1500" b="1">
              <a:solidFill>
                <a:schemeClr val="dk1"/>
              </a:solidFill>
              <a:latin typeface="Space Grotesk"/>
              <a:ea typeface="Space Grotesk"/>
              <a:cs typeface="Space Grotesk"/>
              <a:sym typeface="Space Grotesk"/>
            </a:endParaRPr>
          </a:p>
          <a:p>
            <a:pPr marL="457200" lvl="0" indent="-323850" algn="l" rtl="0">
              <a:lnSpc>
                <a:spcPct val="115000"/>
              </a:lnSpc>
              <a:spcBef>
                <a:spcPts val="0"/>
              </a:spcBef>
              <a:spcAft>
                <a:spcPts val="0"/>
              </a:spcAft>
              <a:buClr>
                <a:schemeClr val="dk1"/>
              </a:buClr>
              <a:buSzPts val="1500"/>
              <a:buFont typeface="Space Grotesk"/>
              <a:buChar char="●"/>
            </a:pPr>
            <a:r>
              <a:rPr lang="en" sz="1500" b="1">
                <a:solidFill>
                  <a:schemeClr val="dk1"/>
                </a:solidFill>
                <a:latin typeface="Space Grotesk"/>
                <a:ea typeface="Space Grotesk"/>
                <a:cs typeface="Space Grotesk"/>
                <a:sym typeface="Space Grotesk"/>
              </a:rPr>
              <a:t>Consistent verification of security engines across multiple vendors</a:t>
            </a:r>
            <a:endParaRPr sz="1500" b="1">
              <a:solidFill>
                <a:schemeClr val="dk1"/>
              </a:solidFill>
              <a:latin typeface="Space Grotesk"/>
              <a:ea typeface="Space Grotesk"/>
              <a:cs typeface="Space Grotesk"/>
              <a:sym typeface="Space Grotesk"/>
            </a:endParaRPr>
          </a:p>
        </p:txBody>
      </p:sp>
      <p:sp>
        <p:nvSpPr>
          <p:cNvPr id="609" name="Google Shape;609;p86"/>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Summary</a:t>
            </a:r>
            <a:endParaRPr sz="22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87"/>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a:t>POC Steps</a:t>
            </a:r>
            <a:endParaRPr/>
          </a:p>
        </p:txBody>
      </p:sp>
      <p:graphicFrame>
        <p:nvGraphicFramePr>
          <p:cNvPr id="615" name="Google Shape;615;p87"/>
          <p:cNvGraphicFramePr/>
          <p:nvPr/>
        </p:nvGraphicFramePr>
        <p:xfrm>
          <a:off x="0" y="698250"/>
          <a:ext cx="3000000" cy="3000000"/>
        </p:xfrm>
        <a:graphic>
          <a:graphicData uri="http://schemas.openxmlformats.org/drawingml/2006/table">
            <a:tbl>
              <a:tblPr>
                <a:noFill/>
                <a:tableStyleId>{AA03FFC0-A3A7-4466-AC7F-7B0471147EAA}</a:tableStyleId>
              </a:tblPr>
              <a:tblGrid>
                <a:gridCol w="1794550">
                  <a:extLst>
                    <a:ext uri="{9D8B030D-6E8A-4147-A177-3AD203B41FA5}">
                      <a16:colId xmlns:a16="http://schemas.microsoft.com/office/drawing/2014/main" val="20000"/>
                    </a:ext>
                  </a:extLst>
                </a:gridCol>
                <a:gridCol w="3663700">
                  <a:extLst>
                    <a:ext uri="{9D8B030D-6E8A-4147-A177-3AD203B41FA5}">
                      <a16:colId xmlns:a16="http://schemas.microsoft.com/office/drawing/2014/main" val="20001"/>
                    </a:ext>
                  </a:extLst>
                </a:gridCol>
                <a:gridCol w="3685750">
                  <a:extLst>
                    <a:ext uri="{9D8B030D-6E8A-4147-A177-3AD203B41FA5}">
                      <a16:colId xmlns:a16="http://schemas.microsoft.com/office/drawing/2014/main" val="20002"/>
                    </a:ext>
                  </a:extLst>
                </a:gridCol>
              </a:tblGrid>
              <a:tr h="382525">
                <a:tc>
                  <a:txBody>
                    <a:bodyPr/>
                    <a:lstStyle/>
                    <a:p>
                      <a:pPr marL="0" lvl="0" indent="0" algn="ctr" rtl="0">
                        <a:spcBef>
                          <a:spcPts val="0"/>
                        </a:spcBef>
                        <a:spcAft>
                          <a:spcPts val="0"/>
                        </a:spcAft>
                        <a:buNone/>
                      </a:pPr>
                      <a:r>
                        <a:rPr lang="en" sz="1200" b="1">
                          <a:solidFill>
                            <a:schemeClr val="lt1"/>
                          </a:solidFill>
                          <a:latin typeface="Space Grotesk"/>
                          <a:ea typeface="Space Grotesk"/>
                          <a:cs typeface="Space Grotesk"/>
                          <a:sym typeface="Space Grotesk"/>
                        </a:rPr>
                        <a:t>Use-case</a:t>
                      </a:r>
                      <a:endParaRPr sz="1200" b="1">
                        <a:solidFill>
                          <a:schemeClr val="lt1"/>
                        </a:solidFill>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b="1">
                          <a:solidFill>
                            <a:schemeClr val="lt1"/>
                          </a:solidFill>
                          <a:latin typeface="Space Grotesk"/>
                          <a:ea typeface="Space Grotesk"/>
                          <a:cs typeface="Space Grotesk"/>
                          <a:sym typeface="Space Grotesk"/>
                        </a:rPr>
                        <a:t>Description</a:t>
                      </a:r>
                      <a:endParaRPr sz="1200" b="1">
                        <a:solidFill>
                          <a:schemeClr val="lt1"/>
                        </a:solidFill>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b="1">
                          <a:solidFill>
                            <a:schemeClr val="lt1"/>
                          </a:solidFill>
                          <a:latin typeface="Space Grotesk"/>
                          <a:ea typeface="Space Grotesk"/>
                          <a:cs typeface="Space Grotesk"/>
                          <a:sym typeface="Space Grotesk"/>
                        </a:rPr>
                        <a:t>Success Criteria</a:t>
                      </a:r>
                      <a:endParaRPr sz="1200" b="1">
                        <a:solidFill>
                          <a:schemeClr val="lt1"/>
                        </a:solidFill>
                        <a:latin typeface="Space Grotesk"/>
                        <a:ea typeface="Space Grotesk"/>
                        <a:cs typeface="Space Grotesk"/>
                        <a:sym typeface="Space Grotesk"/>
                      </a:endParaRPr>
                    </a:p>
                  </a:txBody>
                  <a:tcPr marL="91425" marR="91425" marT="91425" marB="91425">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478150">
                <a:tc>
                  <a:txBody>
                    <a:bodyPr/>
                    <a:lstStyle/>
                    <a:p>
                      <a:pPr marL="0" lvl="0" indent="0" algn="l" rtl="0">
                        <a:spcBef>
                          <a:spcPts val="0"/>
                        </a:spcBef>
                        <a:spcAft>
                          <a:spcPts val="0"/>
                        </a:spcAft>
                        <a:buNone/>
                      </a:pPr>
                      <a:r>
                        <a:rPr lang="en" sz="1100">
                          <a:latin typeface="Space Grotesk"/>
                          <a:ea typeface="Space Grotesk"/>
                          <a:cs typeface="Space Grotesk"/>
                          <a:sym typeface="Space Grotesk"/>
                        </a:rPr>
                        <a:t>Protection: File Integrity Protection</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Space Grotesk"/>
                          <a:ea typeface="Space Grotesk"/>
                          <a:cs typeface="Space Grotesk"/>
                          <a:sym typeface="Space Grotesk"/>
                        </a:rPr>
                        <a:t>Do not allow new bins to be injected in system bin folders</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Space Grotesk"/>
                          <a:ea typeface="Space Grotesk"/>
                          <a:cs typeface="Space Grotesk"/>
                          <a:sym typeface="Space Grotesk"/>
                        </a:rPr>
                        <a:t>Injection of bin in sys folder should be blocked.</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1"/>
                  </a:ext>
                </a:extLst>
              </a:tr>
              <a:tr h="763400">
                <a:tc>
                  <a:txBody>
                    <a:bodyPr/>
                    <a:lstStyle/>
                    <a:p>
                      <a:pPr marL="0" lvl="0" indent="0" algn="l" rtl="0">
                        <a:spcBef>
                          <a:spcPts val="0"/>
                        </a:spcBef>
                        <a:spcAft>
                          <a:spcPts val="0"/>
                        </a:spcAft>
                        <a:buNone/>
                      </a:pPr>
                      <a:r>
                        <a:rPr lang="en" sz="1100">
                          <a:latin typeface="Space Grotesk"/>
                          <a:ea typeface="Space Grotesk"/>
                          <a:cs typeface="Space Grotesk"/>
                          <a:sym typeface="Space Grotesk"/>
                        </a:rPr>
                        <a:t>Protection: Protect credentials/tokens</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Space Grotesk"/>
                          <a:ea typeface="Space Grotesk"/>
                          <a:cs typeface="Space Grotesk"/>
                          <a:sym typeface="Space Grotesk"/>
                        </a:rPr>
                        <a:t>Protect root certs, trusted cert bundles</a:t>
                      </a:r>
                      <a:endParaRPr sz="1100">
                        <a:latin typeface="Space Grotesk"/>
                        <a:ea typeface="Space Grotesk"/>
                        <a:cs typeface="Space Grotesk"/>
                        <a:sym typeface="Space Grotesk"/>
                      </a:endParaRPr>
                    </a:p>
                    <a:p>
                      <a:pPr marL="0" lvl="0" indent="0" algn="l" rtl="0">
                        <a:spcBef>
                          <a:spcPts val="0"/>
                        </a:spcBef>
                        <a:spcAft>
                          <a:spcPts val="0"/>
                        </a:spcAft>
                        <a:buNone/>
                      </a:pPr>
                      <a:r>
                        <a:rPr lang="en" sz="1100">
                          <a:latin typeface="Space Grotesk"/>
                          <a:ea typeface="Space Grotesk"/>
                          <a:cs typeface="Space Grotesk"/>
                          <a:sym typeface="Space Grotesk"/>
                        </a:rPr>
                        <a:t>Protect other in creds (/etc/)</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Space Grotesk"/>
                          <a:ea typeface="Space Grotesk"/>
                          <a:cs typeface="Space Grotesk"/>
                          <a:sym typeface="Space Grotesk"/>
                        </a:rPr>
                        <a:t>Injection of new root cert should be blocked.</a:t>
                      </a:r>
                      <a:endParaRPr sz="1100">
                        <a:latin typeface="Space Grotesk"/>
                        <a:ea typeface="Space Grotesk"/>
                        <a:cs typeface="Space Grotesk"/>
                        <a:sym typeface="Space Grotesk"/>
                      </a:endParaRPr>
                    </a:p>
                    <a:p>
                      <a:pPr marL="0" lvl="0" indent="0" algn="l" rtl="0">
                        <a:spcBef>
                          <a:spcPts val="0"/>
                        </a:spcBef>
                        <a:spcAft>
                          <a:spcPts val="0"/>
                        </a:spcAft>
                        <a:buNone/>
                      </a:pPr>
                      <a:r>
                        <a:rPr lang="en" sz="1100">
                          <a:latin typeface="Space Grotesk"/>
                          <a:ea typeface="Space Grotesk"/>
                          <a:cs typeface="Space Grotesk"/>
                          <a:sym typeface="Space Grotesk"/>
                        </a:rPr>
                        <a:t>Change in /etc/passwd should be blocked.</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2"/>
                  </a:ext>
                </a:extLst>
              </a:tr>
              <a:tr h="478150">
                <a:tc>
                  <a:txBody>
                    <a:bodyPr/>
                    <a:lstStyle/>
                    <a:p>
                      <a:pPr marL="0" lvl="0" indent="0" algn="l" rtl="0">
                        <a:spcBef>
                          <a:spcPts val="0"/>
                        </a:spcBef>
                        <a:spcAft>
                          <a:spcPts val="0"/>
                        </a:spcAft>
                        <a:buNone/>
                      </a:pPr>
                      <a:r>
                        <a:rPr lang="en" sz="1100">
                          <a:latin typeface="Space Grotesk"/>
                          <a:ea typeface="Space Grotesk"/>
                          <a:cs typeface="Space Grotesk"/>
                          <a:sym typeface="Space Grotesk"/>
                        </a:rPr>
                        <a:t>Protection: Network access</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Space Grotesk"/>
                          <a:ea typeface="Space Grotesk"/>
                          <a:cs typeface="Space Grotesk"/>
                          <a:sym typeface="Space Grotesk"/>
                        </a:rPr>
                        <a:t>Only allow allow listed processes to do network communication</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Space Grotesk"/>
                          <a:ea typeface="Space Grotesk"/>
                          <a:cs typeface="Space Grotesk"/>
                          <a:sym typeface="Space Grotesk"/>
                        </a:rPr>
                        <a:t>Unknown processes network connection should be blocked.</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3"/>
                  </a:ext>
                </a:extLst>
              </a:tr>
              <a:tr h="478150">
                <a:tc>
                  <a:txBody>
                    <a:bodyPr/>
                    <a:lstStyle/>
                    <a:p>
                      <a:pPr marL="0" lvl="0" indent="0" algn="l" rtl="0">
                        <a:spcBef>
                          <a:spcPts val="0"/>
                        </a:spcBef>
                        <a:spcAft>
                          <a:spcPts val="0"/>
                        </a:spcAft>
                        <a:buNone/>
                      </a:pPr>
                      <a:r>
                        <a:rPr lang="en" sz="1100">
                          <a:latin typeface="Space Grotesk"/>
                          <a:ea typeface="Space Grotesk"/>
                          <a:cs typeface="Space Grotesk"/>
                          <a:sym typeface="Space Grotesk"/>
                        </a:rPr>
                        <a:t>Monitoring: Process execution</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Space Grotesk"/>
                          <a:ea typeface="Space Grotesk"/>
                          <a:cs typeface="Space Grotesk"/>
                          <a:sym typeface="Space Grotesk"/>
                        </a:rPr>
                        <a:t>Spawning of new processes should be monitored.</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Space Grotesk"/>
                          <a:ea typeface="Space Grotesk"/>
                          <a:cs typeface="Space Grotesk"/>
                          <a:sym typeface="Space Grotesk"/>
                        </a:rPr>
                        <a:t>New process execution should reflect in process behavior</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4"/>
                  </a:ext>
                </a:extLst>
              </a:tr>
              <a:tr h="478150">
                <a:tc>
                  <a:txBody>
                    <a:bodyPr/>
                    <a:lstStyle/>
                    <a:p>
                      <a:pPr marL="0" lvl="0" indent="0" algn="l" rtl="0">
                        <a:spcBef>
                          <a:spcPts val="0"/>
                        </a:spcBef>
                        <a:spcAft>
                          <a:spcPts val="0"/>
                        </a:spcAft>
                        <a:buNone/>
                      </a:pPr>
                      <a:r>
                        <a:rPr lang="en" sz="1100">
                          <a:latin typeface="Space Grotesk"/>
                          <a:ea typeface="Space Grotesk"/>
                          <a:cs typeface="Space Grotesk"/>
                          <a:sym typeface="Space Grotesk"/>
                        </a:rPr>
                        <a:t>Monitoring: Any accesses to key folders</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Space Grotesk"/>
                          <a:ea typeface="Space Grotesk"/>
                          <a:cs typeface="Space Grotesk"/>
                          <a:sym typeface="Space Grotesk"/>
                        </a:rPr>
                        <a:t>Identify and audit accesses to sensitive data/file system paths</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Space Grotesk"/>
                          <a:ea typeface="Space Grotesk"/>
                          <a:cs typeface="Space Grotesk"/>
                          <a:sym typeface="Space Grotesk"/>
                        </a:rPr>
                        <a:t>Audit events when any accesses happen to sensitive file paths</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5"/>
                  </a:ext>
                </a:extLst>
              </a:tr>
              <a:tr h="765075">
                <a:tc>
                  <a:txBody>
                    <a:bodyPr/>
                    <a:lstStyle/>
                    <a:p>
                      <a:pPr marL="0" lvl="0" indent="0" algn="l" rtl="0">
                        <a:spcBef>
                          <a:spcPts val="0"/>
                        </a:spcBef>
                        <a:spcAft>
                          <a:spcPts val="0"/>
                        </a:spcAft>
                        <a:buNone/>
                      </a:pPr>
                      <a:r>
                        <a:rPr lang="en" sz="1100">
                          <a:latin typeface="Space Grotesk"/>
                          <a:ea typeface="Space Grotesk"/>
                          <a:cs typeface="Space Grotesk"/>
                          <a:sym typeface="Space Grotesk"/>
                        </a:rPr>
                        <a:t>Monitoring: Network access</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Space Grotesk"/>
                          <a:ea typeface="Space Grotesk"/>
                          <a:cs typeface="Space Grotesk"/>
                          <a:sym typeface="Space Grotesk"/>
                        </a:rPr>
                        <a:t>Network accesses should be audited. </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Space Grotesk"/>
                          <a:ea typeface="Space Grotesk"/>
                          <a:cs typeface="Space Grotesk"/>
                          <a:sym typeface="Space Grotesk"/>
                        </a:rPr>
                        <a:t>Ingress, Egress connections should be audited and IP Addresses should be reported.</a:t>
                      </a:r>
                      <a:endParaRPr sz="1100">
                        <a:latin typeface="Space Grotesk"/>
                        <a:ea typeface="Space Grotesk"/>
                        <a:cs typeface="Space Grotesk"/>
                        <a:sym typeface="Space Grotesk"/>
                      </a:endParaRPr>
                    </a:p>
                    <a:p>
                      <a:pPr marL="0" lvl="0" indent="0" algn="l" rtl="0">
                        <a:spcBef>
                          <a:spcPts val="0"/>
                        </a:spcBef>
                        <a:spcAft>
                          <a:spcPts val="0"/>
                        </a:spcAft>
                        <a:buNone/>
                      </a:pPr>
                      <a:r>
                        <a:rPr lang="en" sz="1100">
                          <a:latin typeface="Space Grotesk"/>
                          <a:ea typeface="Space Grotesk"/>
                          <a:cs typeface="Space Grotesk"/>
                          <a:sym typeface="Space Grotesk"/>
                        </a:rPr>
                        <a:t>Get me all the IP addresses this NRS connected to</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6"/>
                  </a:ext>
                </a:extLst>
              </a:tr>
              <a:tr h="621625">
                <a:tc>
                  <a:txBody>
                    <a:bodyPr/>
                    <a:lstStyle/>
                    <a:p>
                      <a:pPr marL="0" lvl="0" indent="0" algn="l" rtl="0">
                        <a:spcBef>
                          <a:spcPts val="0"/>
                        </a:spcBef>
                        <a:spcAft>
                          <a:spcPts val="0"/>
                        </a:spcAft>
                        <a:buNone/>
                      </a:pPr>
                      <a:r>
                        <a:rPr lang="en" sz="1100">
                          <a:latin typeface="Space Grotesk"/>
                          <a:ea typeface="Space Grotesk"/>
                          <a:cs typeface="Space Grotesk"/>
                          <a:sym typeface="Space Grotesk"/>
                        </a:rPr>
                        <a:t>Monitoring: Reduce alert deluge</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dk1"/>
                          </a:solidFill>
                          <a:latin typeface="Space Grotesk"/>
                          <a:ea typeface="Space Grotesk"/>
                          <a:cs typeface="Space Grotesk"/>
                          <a:sym typeface="Space Grotesk"/>
                        </a:rPr>
                        <a:t>Only report executions outside of allow list. For e.g., if a process execution for /usr/bin/php is whitelisted then there should not be any alert.</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Space Grotesk"/>
                          <a:ea typeface="Space Grotesk"/>
                          <a:cs typeface="Space Grotesk"/>
                          <a:sym typeface="Space Grotesk"/>
                        </a:rPr>
                        <a:t>Execution of allow listed process, file should not result in alerts/events.</a:t>
                      </a:r>
                      <a:endParaRPr sz="1100">
                        <a:latin typeface="Space Grotesk"/>
                        <a:ea typeface="Space Grotesk"/>
                        <a:cs typeface="Space Grotesk"/>
                        <a:sym typeface="Space Grotesk"/>
                      </a:endParaRPr>
                    </a:p>
                  </a:txBody>
                  <a:tcPr marL="91425" marR="91425" marT="0" marB="0">
                    <a:lnL w="9525" cap="flat" cmpd="sng">
                      <a:solidFill>
                        <a:srgbClr val="D9D9D9"/>
                      </a:solidFill>
                      <a:prstDash val="solid"/>
                      <a:round/>
                      <a:headEnd type="none" w="sm" len="sm"/>
                      <a:tailEnd type="none" w="sm" len="sm"/>
                    </a:lnL>
                    <a:lnR w="9525" cap="flat" cmpd="sng">
                      <a:solidFill>
                        <a:srgbClr val="D9D9D9"/>
                      </a:solidFill>
                      <a:prstDash val="solid"/>
                      <a:round/>
                      <a:headEnd type="none" w="sm" len="sm"/>
                      <a:tailEnd type="none" w="sm" len="sm"/>
                    </a:lnR>
                    <a:lnT w="9525" cap="flat" cmpd="sng">
                      <a:solidFill>
                        <a:srgbClr val="D9D9D9"/>
                      </a:solidFill>
                      <a:prstDash val="solid"/>
                      <a:round/>
                      <a:headEnd type="none" w="sm" len="sm"/>
                      <a:tailEnd type="none" w="sm" len="sm"/>
                    </a:lnT>
                    <a:lnB w="9525" cap="flat" cmpd="sng">
                      <a:solidFill>
                        <a:srgbClr val="D9D9D9"/>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88"/>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b="1">
                <a:latin typeface="Space Grotesk"/>
                <a:ea typeface="Space Grotesk"/>
                <a:cs typeface="Space Grotesk"/>
                <a:sym typeface="Space Grotesk"/>
              </a:rPr>
              <a:t>Handling Scale Concerns</a:t>
            </a:r>
            <a:endParaRPr sz="2200" b="1">
              <a:latin typeface="Space Grotesk"/>
              <a:ea typeface="Space Grotesk"/>
              <a:cs typeface="Space Grotesk"/>
              <a:sym typeface="Space Grotesk"/>
            </a:endParaRPr>
          </a:p>
        </p:txBody>
      </p:sp>
      <p:sp>
        <p:nvSpPr>
          <p:cNvPr id="621" name="Google Shape;621;p88"/>
          <p:cNvSpPr txBox="1">
            <a:spLocks noGrp="1"/>
          </p:cNvSpPr>
          <p:nvPr>
            <p:ph type="body" idx="4294967295"/>
          </p:nvPr>
        </p:nvSpPr>
        <p:spPr>
          <a:xfrm>
            <a:off x="192875" y="829950"/>
            <a:ext cx="8817600" cy="3938100"/>
          </a:xfrm>
          <a:prstGeom prst="rect">
            <a:avLst/>
          </a:prstGeom>
        </p:spPr>
        <p:txBody>
          <a:bodyPr spcFirstLastPara="1" wrap="square" lIns="91425" tIns="91425" rIns="91425" bIns="91425" anchor="t" anchorCtr="0">
            <a:normAutofit/>
          </a:bodyPr>
          <a:lstStyle/>
          <a:p>
            <a:pPr marL="457200" lvl="0" indent="-323850" algn="l" rtl="0">
              <a:lnSpc>
                <a:spcPct val="115000"/>
              </a:lnSpc>
              <a:spcBef>
                <a:spcPts val="0"/>
              </a:spcBef>
              <a:spcAft>
                <a:spcPts val="0"/>
              </a:spcAft>
              <a:buClr>
                <a:schemeClr val="dk1"/>
              </a:buClr>
              <a:buSzPts val="1500"/>
              <a:buFont typeface="Space Grotesk"/>
              <a:buChar char="●"/>
            </a:pPr>
            <a:r>
              <a:rPr lang="en" sz="1500" b="1">
                <a:solidFill>
                  <a:schemeClr val="dk1"/>
                </a:solidFill>
                <a:latin typeface="Space Grotesk"/>
                <a:ea typeface="Space Grotesk"/>
                <a:cs typeface="Space Grotesk"/>
                <a:sym typeface="Space Grotesk"/>
              </a:rPr>
              <a:t>AccuKnox agents resource usage</a:t>
            </a:r>
            <a:endParaRPr sz="1500" b="1">
              <a:solidFill>
                <a:schemeClr val="dk1"/>
              </a:solidFill>
              <a:latin typeface="Space Grotesk"/>
              <a:ea typeface="Space Grotesk"/>
              <a:cs typeface="Space Grotesk"/>
              <a:sym typeface="Space Grotesk"/>
            </a:endParaRPr>
          </a:p>
          <a:p>
            <a:pPr marL="914400" lvl="1" indent="-311150" algn="l" rtl="0">
              <a:lnSpc>
                <a:spcPct val="115000"/>
              </a:lnSpc>
              <a:spcBef>
                <a:spcPts val="0"/>
              </a:spcBef>
              <a:spcAft>
                <a:spcPts val="0"/>
              </a:spcAft>
              <a:buClr>
                <a:schemeClr val="dk1"/>
              </a:buClr>
              <a:buSzPts val="1300"/>
              <a:buFont typeface="Space Grotesk"/>
              <a:buChar char="○"/>
            </a:pPr>
            <a:r>
              <a:rPr lang="en" sz="1300">
                <a:solidFill>
                  <a:schemeClr val="dk1"/>
                </a:solidFill>
                <a:latin typeface="Space Grotesk"/>
                <a:ea typeface="Space Grotesk"/>
                <a:cs typeface="Space Grotesk"/>
                <a:sym typeface="Space Grotesk"/>
              </a:rPr>
              <a:t>300 MB RAM, 1/5th of one CPU core</a:t>
            </a:r>
            <a:br>
              <a:rPr lang="en" sz="1300">
                <a:solidFill>
                  <a:schemeClr val="dk1"/>
                </a:solidFill>
                <a:latin typeface="Space Grotesk"/>
                <a:ea typeface="Space Grotesk"/>
                <a:cs typeface="Space Grotesk"/>
                <a:sym typeface="Space Grotesk"/>
              </a:rPr>
            </a:br>
            <a:endParaRPr sz="1300">
              <a:solidFill>
                <a:schemeClr val="dk1"/>
              </a:solidFill>
              <a:latin typeface="Space Grotesk"/>
              <a:ea typeface="Space Grotesk"/>
              <a:cs typeface="Space Grotesk"/>
              <a:sym typeface="Space Grotesk"/>
            </a:endParaRPr>
          </a:p>
          <a:p>
            <a:pPr marL="457200" lvl="0" indent="-323850" algn="l" rtl="0">
              <a:lnSpc>
                <a:spcPct val="115000"/>
              </a:lnSpc>
              <a:spcBef>
                <a:spcPts val="0"/>
              </a:spcBef>
              <a:spcAft>
                <a:spcPts val="0"/>
              </a:spcAft>
              <a:buClr>
                <a:schemeClr val="dk1"/>
              </a:buClr>
              <a:buSzPts val="1500"/>
              <a:buFont typeface="Space Grotesk"/>
              <a:buChar char="●"/>
            </a:pPr>
            <a:r>
              <a:rPr lang="en" sz="1500" b="1">
                <a:solidFill>
                  <a:schemeClr val="dk1"/>
                </a:solidFill>
                <a:latin typeface="Space Grotesk"/>
                <a:ea typeface="Space Grotesk"/>
                <a:cs typeface="Space Grotesk"/>
                <a:sym typeface="Space Grotesk"/>
              </a:rPr>
              <a:t>Telemetry events</a:t>
            </a:r>
            <a:endParaRPr sz="1500" b="1">
              <a:solidFill>
                <a:schemeClr val="dk1"/>
              </a:solidFill>
              <a:latin typeface="Space Grotesk"/>
              <a:ea typeface="Space Grotesk"/>
              <a:cs typeface="Space Grotesk"/>
              <a:sym typeface="Space Grotesk"/>
            </a:endParaRPr>
          </a:p>
          <a:p>
            <a:pPr marL="914400" lvl="1" indent="-311150" algn="l" rtl="0">
              <a:lnSpc>
                <a:spcPct val="115000"/>
              </a:lnSpc>
              <a:spcBef>
                <a:spcPts val="0"/>
              </a:spcBef>
              <a:spcAft>
                <a:spcPts val="0"/>
              </a:spcAft>
              <a:buClr>
                <a:schemeClr val="dk1"/>
              </a:buClr>
              <a:buSzPts val="1300"/>
              <a:buFont typeface="Space Grotesk"/>
              <a:buChar char="○"/>
            </a:pPr>
            <a:r>
              <a:rPr lang="en" sz="1300">
                <a:solidFill>
                  <a:schemeClr val="dk1"/>
                </a:solidFill>
                <a:latin typeface="Space Grotesk"/>
                <a:ea typeface="Space Grotesk"/>
                <a:cs typeface="Space Grotesk"/>
                <a:sym typeface="Space Grotesk"/>
              </a:rPr>
              <a:t>Process execution reporting</a:t>
            </a:r>
            <a:endParaRPr sz="1300">
              <a:solidFill>
                <a:schemeClr val="dk1"/>
              </a:solidFill>
              <a:latin typeface="Space Grotesk"/>
              <a:ea typeface="Space Grotesk"/>
              <a:cs typeface="Space Grotesk"/>
              <a:sym typeface="Space Grotesk"/>
            </a:endParaRPr>
          </a:p>
          <a:p>
            <a:pPr marL="914400" lvl="1" indent="-311150" algn="l" rtl="0">
              <a:lnSpc>
                <a:spcPct val="115000"/>
              </a:lnSpc>
              <a:spcBef>
                <a:spcPts val="0"/>
              </a:spcBef>
              <a:spcAft>
                <a:spcPts val="0"/>
              </a:spcAft>
              <a:buClr>
                <a:schemeClr val="dk1"/>
              </a:buClr>
              <a:buSzPts val="1300"/>
              <a:buFont typeface="Space Grotesk"/>
              <a:buChar char="○"/>
            </a:pPr>
            <a:r>
              <a:rPr lang="en" sz="1300">
                <a:solidFill>
                  <a:schemeClr val="dk1"/>
                </a:solidFill>
                <a:latin typeface="Space Grotesk"/>
                <a:ea typeface="Space Grotesk"/>
                <a:cs typeface="Space Grotesk"/>
                <a:sym typeface="Space Grotesk"/>
              </a:rPr>
              <a:t>Network connections reporting</a:t>
            </a:r>
            <a:endParaRPr sz="1300">
              <a:solidFill>
                <a:schemeClr val="dk1"/>
              </a:solidFill>
              <a:latin typeface="Space Grotesk"/>
              <a:ea typeface="Space Grotesk"/>
              <a:cs typeface="Space Grotesk"/>
              <a:sym typeface="Space Grotesk"/>
            </a:endParaRPr>
          </a:p>
          <a:p>
            <a:pPr marL="914400" lvl="1" indent="-311150" algn="l" rtl="0">
              <a:lnSpc>
                <a:spcPct val="115000"/>
              </a:lnSpc>
              <a:spcBef>
                <a:spcPts val="0"/>
              </a:spcBef>
              <a:spcAft>
                <a:spcPts val="0"/>
              </a:spcAft>
              <a:buClr>
                <a:schemeClr val="dk1"/>
              </a:buClr>
              <a:buSzPts val="1300"/>
              <a:buFont typeface="Space Grotesk"/>
              <a:buChar char="○"/>
            </a:pPr>
            <a:r>
              <a:rPr lang="en" sz="1300">
                <a:solidFill>
                  <a:schemeClr val="dk1"/>
                </a:solidFill>
                <a:latin typeface="Space Grotesk"/>
                <a:ea typeface="Space Grotesk"/>
                <a:cs typeface="Space Grotesk"/>
                <a:sym typeface="Space Grotesk"/>
              </a:rPr>
              <a:t>File Access reporting for sensitive paths</a:t>
            </a:r>
            <a:endParaRPr sz="1300">
              <a:solidFill>
                <a:schemeClr val="dk1"/>
              </a:solidFill>
              <a:latin typeface="Space Grotesk"/>
              <a:ea typeface="Space Grotesk"/>
              <a:cs typeface="Space Grotesk"/>
              <a:sym typeface="Space Grotesk"/>
            </a:endParaRPr>
          </a:p>
          <a:p>
            <a:pPr marL="914400" lvl="1" indent="-311150" algn="l" rtl="0">
              <a:lnSpc>
                <a:spcPct val="115000"/>
              </a:lnSpc>
              <a:spcBef>
                <a:spcPts val="0"/>
              </a:spcBef>
              <a:spcAft>
                <a:spcPts val="0"/>
              </a:spcAft>
              <a:buClr>
                <a:schemeClr val="dk1"/>
              </a:buClr>
              <a:buSzPts val="1300"/>
              <a:buFont typeface="Space Grotesk"/>
              <a:buChar char="○"/>
            </a:pPr>
            <a:r>
              <a:rPr lang="en" sz="1300">
                <a:solidFill>
                  <a:schemeClr val="dk1"/>
                </a:solidFill>
                <a:latin typeface="Space Grotesk"/>
                <a:ea typeface="Space Grotesk"/>
                <a:cs typeface="Space Grotesk"/>
                <a:sym typeface="Space Grotesk"/>
              </a:rPr>
              <a:t>Blocked actions, Policy violations reporting</a:t>
            </a:r>
            <a:br>
              <a:rPr lang="en" sz="1300">
                <a:solidFill>
                  <a:schemeClr val="dk1"/>
                </a:solidFill>
                <a:latin typeface="Space Grotesk"/>
                <a:ea typeface="Space Grotesk"/>
                <a:cs typeface="Space Grotesk"/>
                <a:sym typeface="Space Grotesk"/>
              </a:rPr>
            </a:br>
            <a:br>
              <a:rPr lang="en" sz="1300">
                <a:solidFill>
                  <a:schemeClr val="dk1"/>
                </a:solidFill>
                <a:latin typeface="Space Grotesk"/>
                <a:ea typeface="Space Grotesk"/>
                <a:cs typeface="Space Grotesk"/>
                <a:sym typeface="Space Grotesk"/>
              </a:rPr>
            </a:br>
            <a:endParaRPr sz="1300">
              <a:solidFill>
                <a:schemeClr val="dk1"/>
              </a:solidFill>
              <a:latin typeface="Space Grotesk"/>
              <a:ea typeface="Space Grotesk"/>
              <a:cs typeface="Space Grotesk"/>
              <a:sym typeface="Space Grotesk"/>
            </a:endParaRPr>
          </a:p>
          <a:p>
            <a:pPr marL="457200" lvl="0" indent="-323850" algn="l" rtl="0">
              <a:lnSpc>
                <a:spcPct val="115000"/>
              </a:lnSpc>
              <a:spcBef>
                <a:spcPts val="0"/>
              </a:spcBef>
              <a:spcAft>
                <a:spcPts val="0"/>
              </a:spcAft>
              <a:buClr>
                <a:schemeClr val="dk1"/>
              </a:buClr>
              <a:buSzPts val="1500"/>
              <a:buFont typeface="Space Grotesk"/>
              <a:buChar char="●"/>
            </a:pPr>
            <a:r>
              <a:rPr lang="en" sz="1500" b="1">
                <a:solidFill>
                  <a:schemeClr val="dk1"/>
                </a:solidFill>
                <a:latin typeface="Space Grotesk"/>
                <a:ea typeface="Space Grotesk"/>
                <a:cs typeface="Space Grotesk"/>
                <a:sym typeface="Space Grotesk"/>
              </a:rPr>
              <a:t>Deployment Automation</a:t>
            </a:r>
            <a:endParaRPr sz="1300" b="1">
              <a:solidFill>
                <a:schemeClr val="dk1"/>
              </a:solidFill>
              <a:latin typeface="Space Grotesk"/>
              <a:ea typeface="Space Grotesk"/>
              <a:cs typeface="Space Grotesk"/>
              <a:sym typeface="Space Grotesk"/>
            </a:endParaRPr>
          </a:p>
          <a:p>
            <a:pPr marL="914400" lvl="1" indent="-311150" algn="l" rtl="0">
              <a:lnSpc>
                <a:spcPct val="115000"/>
              </a:lnSpc>
              <a:spcBef>
                <a:spcPts val="0"/>
              </a:spcBef>
              <a:spcAft>
                <a:spcPts val="0"/>
              </a:spcAft>
              <a:buClr>
                <a:schemeClr val="dk1"/>
              </a:buClr>
              <a:buSzPts val="1300"/>
              <a:buFont typeface="Space Grotesk"/>
              <a:buChar char="○"/>
            </a:pPr>
            <a:r>
              <a:rPr lang="en" sz="1300">
                <a:solidFill>
                  <a:schemeClr val="dk1"/>
                </a:solidFill>
                <a:latin typeface="Space Grotesk"/>
                <a:ea typeface="Space Grotesk"/>
                <a:cs typeface="Space Grotesk"/>
                <a:sym typeface="Space Grotesk"/>
              </a:rPr>
              <a:t>Deploy agents + policies</a:t>
            </a:r>
            <a:endParaRPr sz="1300">
              <a:solidFill>
                <a:schemeClr val="dk1"/>
              </a:solidFill>
              <a:latin typeface="Space Grotesk"/>
              <a:ea typeface="Space Grotesk"/>
              <a:cs typeface="Space Grotesk"/>
              <a:sym typeface="Space Grotesk"/>
            </a:endParaRPr>
          </a:p>
          <a:p>
            <a:pPr marL="914400" lvl="1" indent="-311150" algn="l" rtl="0">
              <a:lnSpc>
                <a:spcPct val="115000"/>
              </a:lnSpc>
              <a:spcBef>
                <a:spcPts val="0"/>
              </a:spcBef>
              <a:spcAft>
                <a:spcPts val="0"/>
              </a:spcAft>
              <a:buClr>
                <a:schemeClr val="dk1"/>
              </a:buClr>
              <a:buSzPts val="1300"/>
              <a:buFont typeface="Space Grotesk"/>
              <a:buChar char="○"/>
            </a:pPr>
            <a:r>
              <a:rPr lang="en" sz="1300">
                <a:solidFill>
                  <a:schemeClr val="dk1"/>
                </a:solidFill>
                <a:latin typeface="Space Grotesk"/>
                <a:ea typeface="Space Grotesk"/>
                <a:cs typeface="Space Grotesk"/>
                <a:sym typeface="Space Grotesk"/>
              </a:rPr>
              <a:t>Managing POC upgrades</a:t>
            </a:r>
            <a:endParaRPr sz="1300">
              <a:solidFill>
                <a:schemeClr val="dk1"/>
              </a:solidFill>
              <a:latin typeface="Space Grotesk"/>
              <a:ea typeface="Space Grotesk"/>
              <a:cs typeface="Space Grotesk"/>
              <a:sym typeface="Space Grotesk"/>
            </a:endParaRPr>
          </a:p>
          <a:p>
            <a:pPr marL="1371600" lvl="2" indent="-311150" algn="l" rtl="0">
              <a:lnSpc>
                <a:spcPct val="115000"/>
              </a:lnSpc>
              <a:spcBef>
                <a:spcPts val="0"/>
              </a:spcBef>
              <a:spcAft>
                <a:spcPts val="0"/>
              </a:spcAft>
              <a:buClr>
                <a:schemeClr val="dk1"/>
              </a:buClr>
              <a:buSzPts val="1300"/>
              <a:buFont typeface="Space Grotesk"/>
              <a:buChar char="■"/>
            </a:pPr>
            <a:r>
              <a:rPr lang="en" sz="1300">
                <a:solidFill>
                  <a:schemeClr val="dk1"/>
                </a:solidFill>
                <a:latin typeface="Space Grotesk"/>
                <a:ea typeface="Space Grotesk"/>
                <a:cs typeface="Space Grotesk"/>
                <a:sym typeface="Space Grotesk"/>
              </a:rPr>
              <a:t>AccuKnox will not allow OS/app upgrades when strict security is enabled</a:t>
            </a:r>
            <a:endParaRPr sz="1300">
              <a:solidFill>
                <a:schemeClr val="dk1"/>
              </a:solidFill>
              <a:latin typeface="Space Grotesk"/>
              <a:ea typeface="Space Grotesk"/>
              <a:cs typeface="Space Grotesk"/>
              <a:sym typeface="Space Grotesk"/>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89"/>
          <p:cNvSpPr txBox="1">
            <a:spLocks noGrp="1"/>
          </p:cNvSpPr>
          <p:nvPr>
            <p:ph type="title"/>
          </p:nvPr>
        </p:nvSpPr>
        <p:spPr>
          <a:xfrm>
            <a:off x="-24300" y="-9750"/>
            <a:ext cx="7397100" cy="708000"/>
          </a:xfrm>
          <a:prstGeom prst="rect">
            <a:avLst/>
          </a:prstGeom>
        </p:spPr>
        <p:txBody>
          <a:bodyPr spcFirstLastPara="1" wrap="square" lIns="365750" tIns="91425" rIns="91425" bIns="91425" anchor="ctr" anchorCtr="0">
            <a:normAutofit/>
          </a:bodyPr>
          <a:lstStyle/>
          <a:p>
            <a:pPr marL="0" lvl="0" indent="0" algn="l" rtl="0">
              <a:spcBef>
                <a:spcPts val="0"/>
              </a:spcBef>
              <a:spcAft>
                <a:spcPts val="0"/>
              </a:spcAft>
              <a:buNone/>
            </a:pPr>
            <a:r>
              <a:rPr lang="en" sz="2200"/>
              <a:t>Next Steps</a:t>
            </a:r>
            <a:endParaRPr sz="2200"/>
          </a:p>
        </p:txBody>
      </p:sp>
      <p:sp>
        <p:nvSpPr>
          <p:cNvPr id="627" name="Google Shape;627;p89"/>
          <p:cNvSpPr txBox="1">
            <a:spLocks noGrp="1"/>
          </p:cNvSpPr>
          <p:nvPr>
            <p:ph type="body" idx="4294967295"/>
          </p:nvPr>
        </p:nvSpPr>
        <p:spPr>
          <a:xfrm>
            <a:off x="175900" y="812625"/>
            <a:ext cx="9462000" cy="4106700"/>
          </a:xfrm>
          <a:prstGeom prst="rect">
            <a:avLst/>
          </a:prstGeom>
        </p:spPr>
        <p:txBody>
          <a:bodyPr spcFirstLastPara="1" wrap="square" lIns="91425" tIns="91425" rIns="91425" bIns="91425" anchor="t" anchorCtr="0">
            <a:normAutofit lnSpcReduction="10000"/>
          </a:bodyPr>
          <a:lstStyle/>
          <a:p>
            <a:pPr marL="457200" lvl="0" indent="-323850" algn="l" rtl="0">
              <a:lnSpc>
                <a:spcPct val="115000"/>
              </a:lnSpc>
              <a:spcBef>
                <a:spcPts val="0"/>
              </a:spcBef>
              <a:spcAft>
                <a:spcPts val="0"/>
              </a:spcAft>
              <a:buClr>
                <a:schemeClr val="dk1"/>
              </a:buClr>
              <a:buSzPts val="1500"/>
              <a:buFont typeface="Space Grotesk"/>
              <a:buChar char="●"/>
            </a:pPr>
            <a:r>
              <a:rPr lang="en" sz="1500" b="1">
                <a:solidFill>
                  <a:schemeClr val="dk1"/>
                </a:solidFill>
                <a:latin typeface="Space Grotesk"/>
                <a:ea typeface="Space Grotesk"/>
                <a:cs typeface="Space Grotesk"/>
                <a:sym typeface="Space Grotesk"/>
              </a:rPr>
              <a:t>POC Steps</a:t>
            </a:r>
            <a:br>
              <a:rPr lang="en" sz="1500" b="1">
                <a:solidFill>
                  <a:schemeClr val="dk1"/>
                </a:solidFill>
                <a:latin typeface="Space Grotesk"/>
                <a:ea typeface="Space Grotesk"/>
                <a:cs typeface="Space Grotesk"/>
                <a:sym typeface="Space Grotesk"/>
              </a:rPr>
            </a:br>
            <a:endParaRPr sz="1500" b="1">
              <a:solidFill>
                <a:schemeClr val="dk1"/>
              </a:solidFill>
              <a:latin typeface="Space Grotesk"/>
              <a:ea typeface="Space Grotesk"/>
              <a:cs typeface="Space Grotesk"/>
              <a:sym typeface="Space Grotesk"/>
            </a:endParaRPr>
          </a:p>
          <a:p>
            <a:pPr marL="457200" lvl="0" indent="-323850" algn="l" rtl="0">
              <a:lnSpc>
                <a:spcPct val="115000"/>
              </a:lnSpc>
              <a:spcBef>
                <a:spcPts val="0"/>
              </a:spcBef>
              <a:spcAft>
                <a:spcPts val="0"/>
              </a:spcAft>
              <a:buClr>
                <a:schemeClr val="dk1"/>
              </a:buClr>
              <a:buSzPts val="1500"/>
              <a:buFont typeface="Space Grotesk"/>
              <a:buChar char="●"/>
            </a:pPr>
            <a:r>
              <a:rPr lang="en" sz="1500" b="1">
                <a:solidFill>
                  <a:schemeClr val="dk1"/>
                </a:solidFill>
                <a:latin typeface="Space Grotesk"/>
                <a:ea typeface="Space Grotesk"/>
                <a:cs typeface="Space Grotesk"/>
                <a:sym typeface="Space Grotesk"/>
              </a:rPr>
              <a:t>Details of Linux POS</a:t>
            </a:r>
            <a:endParaRPr sz="1500" b="1">
              <a:solidFill>
                <a:schemeClr val="dk1"/>
              </a:solidFill>
              <a:latin typeface="Space Grotesk"/>
              <a:ea typeface="Space Grotesk"/>
              <a:cs typeface="Space Grotesk"/>
              <a:sym typeface="Space Grotesk"/>
            </a:endParaRPr>
          </a:p>
          <a:p>
            <a:pPr marL="914400" lvl="1" indent="-311150" algn="l" rtl="0">
              <a:lnSpc>
                <a:spcPct val="115000"/>
              </a:lnSpc>
              <a:spcBef>
                <a:spcPts val="0"/>
              </a:spcBef>
              <a:spcAft>
                <a:spcPts val="0"/>
              </a:spcAft>
              <a:buClr>
                <a:schemeClr val="dk1"/>
              </a:buClr>
              <a:buSzPts val="1300"/>
              <a:buFont typeface="Space Grotesk"/>
              <a:buChar char="○"/>
            </a:pPr>
            <a:r>
              <a:rPr lang="en" sz="1300">
                <a:solidFill>
                  <a:schemeClr val="dk1"/>
                </a:solidFill>
                <a:latin typeface="Space Grotesk"/>
                <a:ea typeface="Space Grotesk"/>
                <a:cs typeface="Space Grotesk"/>
                <a:sym typeface="Space Grotesk"/>
              </a:rPr>
              <a:t>Details of Linux Image/distribution used</a:t>
            </a:r>
            <a:endParaRPr sz="1300">
              <a:solidFill>
                <a:schemeClr val="dk1"/>
              </a:solidFill>
              <a:latin typeface="Space Grotesk"/>
              <a:ea typeface="Space Grotesk"/>
              <a:cs typeface="Space Grotesk"/>
              <a:sym typeface="Space Grotesk"/>
            </a:endParaRPr>
          </a:p>
          <a:p>
            <a:pPr marL="914400" lvl="1" indent="-311150" algn="l" rtl="0">
              <a:lnSpc>
                <a:spcPct val="115000"/>
              </a:lnSpc>
              <a:spcBef>
                <a:spcPts val="0"/>
              </a:spcBef>
              <a:spcAft>
                <a:spcPts val="0"/>
              </a:spcAft>
              <a:buClr>
                <a:schemeClr val="dk1"/>
              </a:buClr>
              <a:buSzPts val="1300"/>
              <a:buFont typeface="Space Grotesk"/>
              <a:buChar char="○"/>
            </a:pPr>
            <a:r>
              <a:rPr lang="en" sz="1300">
                <a:solidFill>
                  <a:schemeClr val="dk1"/>
                </a:solidFill>
                <a:latin typeface="Space Grotesk"/>
                <a:ea typeface="Space Grotesk"/>
                <a:cs typeface="Space Grotesk"/>
                <a:sym typeface="Space Grotesk"/>
              </a:rPr>
              <a:t>High level application details</a:t>
            </a:r>
            <a:endParaRPr sz="1300">
              <a:solidFill>
                <a:schemeClr val="dk1"/>
              </a:solidFill>
              <a:latin typeface="Space Grotesk"/>
              <a:ea typeface="Space Grotesk"/>
              <a:cs typeface="Space Grotesk"/>
              <a:sym typeface="Space Grotesk"/>
            </a:endParaRPr>
          </a:p>
          <a:p>
            <a:pPr marL="914400" lvl="1" indent="-311150" algn="l" rtl="0">
              <a:lnSpc>
                <a:spcPct val="115000"/>
              </a:lnSpc>
              <a:spcBef>
                <a:spcPts val="0"/>
              </a:spcBef>
              <a:spcAft>
                <a:spcPts val="0"/>
              </a:spcAft>
              <a:buClr>
                <a:schemeClr val="dk1"/>
              </a:buClr>
              <a:buSzPts val="1300"/>
              <a:buFont typeface="Space Grotesk"/>
              <a:buChar char="○"/>
            </a:pPr>
            <a:r>
              <a:rPr lang="en" sz="1300">
                <a:solidFill>
                  <a:schemeClr val="dk1"/>
                </a:solidFill>
                <a:latin typeface="Space Grotesk"/>
                <a:ea typeface="Space Grotesk"/>
                <a:cs typeface="Space Grotesk"/>
                <a:sym typeface="Space Grotesk"/>
              </a:rPr>
              <a:t>Check: What kind of Network traffic do we expect to be shipped?</a:t>
            </a:r>
            <a:endParaRPr sz="1300">
              <a:solidFill>
                <a:schemeClr val="dk1"/>
              </a:solidFill>
              <a:latin typeface="Space Grotesk"/>
              <a:ea typeface="Space Grotesk"/>
              <a:cs typeface="Space Grotesk"/>
              <a:sym typeface="Space Grotesk"/>
            </a:endParaRPr>
          </a:p>
          <a:p>
            <a:pPr marL="914400" lvl="1" indent="-311150" algn="l" rtl="0">
              <a:lnSpc>
                <a:spcPct val="115000"/>
              </a:lnSpc>
              <a:spcBef>
                <a:spcPts val="0"/>
              </a:spcBef>
              <a:spcAft>
                <a:spcPts val="0"/>
              </a:spcAft>
              <a:buClr>
                <a:schemeClr val="dk1"/>
              </a:buClr>
              <a:buSzPts val="1300"/>
              <a:buFont typeface="Space Grotesk"/>
              <a:buChar char="○"/>
            </a:pPr>
            <a:r>
              <a:rPr lang="en" sz="1300">
                <a:solidFill>
                  <a:schemeClr val="dk1"/>
                </a:solidFill>
                <a:latin typeface="Space Grotesk"/>
                <a:ea typeface="Space Grotesk"/>
                <a:cs typeface="Space Grotesk"/>
                <a:sym typeface="Space Grotesk"/>
              </a:rPr>
              <a:t>Do we have continuous network connection?</a:t>
            </a:r>
            <a:endParaRPr sz="1300">
              <a:solidFill>
                <a:schemeClr val="dk1"/>
              </a:solidFill>
              <a:latin typeface="Space Grotesk"/>
              <a:ea typeface="Space Grotesk"/>
              <a:cs typeface="Space Grotesk"/>
              <a:sym typeface="Space Grotesk"/>
            </a:endParaRPr>
          </a:p>
          <a:p>
            <a:pPr marL="914400" lvl="1" indent="-311150" algn="l" rtl="0">
              <a:lnSpc>
                <a:spcPct val="115000"/>
              </a:lnSpc>
              <a:spcBef>
                <a:spcPts val="0"/>
              </a:spcBef>
              <a:spcAft>
                <a:spcPts val="0"/>
              </a:spcAft>
              <a:buClr>
                <a:schemeClr val="dk1"/>
              </a:buClr>
              <a:buSzPts val="1300"/>
              <a:buFont typeface="Space Grotesk"/>
              <a:buChar char="○"/>
            </a:pPr>
            <a:r>
              <a:rPr lang="en" sz="1300">
                <a:solidFill>
                  <a:schemeClr val="dk1"/>
                </a:solidFill>
                <a:latin typeface="Space Grotesk"/>
                <a:ea typeface="Space Grotesk"/>
                <a:cs typeface="Space Grotesk"/>
                <a:sym typeface="Space Grotesk"/>
              </a:rPr>
              <a:t>Do we need whitelisted access telemetry?</a:t>
            </a:r>
            <a:br>
              <a:rPr lang="en" sz="1300">
                <a:solidFill>
                  <a:schemeClr val="dk1"/>
                </a:solidFill>
                <a:latin typeface="Space Grotesk"/>
                <a:ea typeface="Space Grotesk"/>
                <a:cs typeface="Space Grotesk"/>
                <a:sym typeface="Space Grotesk"/>
              </a:rPr>
            </a:br>
            <a:endParaRPr sz="1300">
              <a:solidFill>
                <a:schemeClr val="dk1"/>
              </a:solidFill>
              <a:latin typeface="Space Grotesk"/>
              <a:ea typeface="Space Grotesk"/>
              <a:cs typeface="Space Grotesk"/>
              <a:sym typeface="Space Grotesk"/>
            </a:endParaRPr>
          </a:p>
          <a:p>
            <a:pPr marL="457200" lvl="0" indent="-323850" algn="l" rtl="0">
              <a:lnSpc>
                <a:spcPct val="115000"/>
              </a:lnSpc>
              <a:spcBef>
                <a:spcPts val="0"/>
              </a:spcBef>
              <a:spcAft>
                <a:spcPts val="0"/>
              </a:spcAft>
              <a:buClr>
                <a:schemeClr val="dk1"/>
              </a:buClr>
              <a:buSzPts val="1500"/>
              <a:buFont typeface="Space Grotesk"/>
              <a:buChar char="●"/>
            </a:pPr>
            <a:r>
              <a:rPr lang="en" sz="1500" b="1">
                <a:solidFill>
                  <a:schemeClr val="dk1"/>
                </a:solidFill>
                <a:latin typeface="Space Grotesk"/>
                <a:ea typeface="Space Grotesk"/>
                <a:cs typeface="Space Grotesk"/>
                <a:sym typeface="Space Grotesk"/>
              </a:rPr>
              <a:t>How would you like to handle alerts/telemetry?</a:t>
            </a:r>
            <a:br>
              <a:rPr lang="en" sz="1500" b="1">
                <a:solidFill>
                  <a:schemeClr val="dk1"/>
                </a:solidFill>
                <a:latin typeface="Space Grotesk"/>
                <a:ea typeface="Space Grotesk"/>
                <a:cs typeface="Space Grotesk"/>
                <a:sym typeface="Space Grotesk"/>
              </a:rPr>
            </a:br>
            <a:endParaRPr sz="1500" b="1">
              <a:solidFill>
                <a:schemeClr val="dk1"/>
              </a:solidFill>
              <a:latin typeface="Space Grotesk"/>
              <a:ea typeface="Space Grotesk"/>
              <a:cs typeface="Space Grotesk"/>
              <a:sym typeface="Space Grotesk"/>
            </a:endParaRPr>
          </a:p>
          <a:p>
            <a:pPr marL="457200" lvl="0" indent="-323850" algn="l" rtl="0">
              <a:lnSpc>
                <a:spcPct val="115000"/>
              </a:lnSpc>
              <a:spcBef>
                <a:spcPts val="0"/>
              </a:spcBef>
              <a:spcAft>
                <a:spcPts val="0"/>
              </a:spcAft>
              <a:buClr>
                <a:schemeClr val="dk1"/>
              </a:buClr>
              <a:buSzPts val="1500"/>
              <a:buFont typeface="Space Grotesk"/>
              <a:buChar char="●"/>
            </a:pPr>
            <a:r>
              <a:rPr lang="en" sz="1500" b="1">
                <a:solidFill>
                  <a:schemeClr val="dk1"/>
                </a:solidFill>
                <a:latin typeface="Space Grotesk"/>
                <a:ea typeface="Space Grotesk"/>
                <a:cs typeface="Space Grotesk"/>
                <a:sym typeface="Space Grotesk"/>
              </a:rPr>
              <a:t>Deployment Model?</a:t>
            </a:r>
            <a:br>
              <a:rPr lang="en" sz="1500" b="1">
                <a:solidFill>
                  <a:schemeClr val="dk1"/>
                </a:solidFill>
                <a:latin typeface="Space Grotesk"/>
                <a:ea typeface="Space Grotesk"/>
                <a:cs typeface="Space Grotesk"/>
                <a:sym typeface="Space Grotesk"/>
              </a:rPr>
            </a:br>
            <a:endParaRPr sz="1500" b="1">
              <a:solidFill>
                <a:schemeClr val="dk1"/>
              </a:solidFill>
              <a:latin typeface="Space Grotesk"/>
              <a:ea typeface="Space Grotesk"/>
              <a:cs typeface="Space Grotesk"/>
              <a:sym typeface="Space Grotesk"/>
            </a:endParaRPr>
          </a:p>
          <a:p>
            <a:pPr marL="457200" lvl="0" indent="-323850" algn="l" rtl="0">
              <a:lnSpc>
                <a:spcPct val="115000"/>
              </a:lnSpc>
              <a:spcBef>
                <a:spcPts val="0"/>
              </a:spcBef>
              <a:spcAft>
                <a:spcPts val="0"/>
              </a:spcAft>
              <a:buClr>
                <a:schemeClr val="dk1"/>
              </a:buClr>
              <a:buSzPts val="1500"/>
              <a:buFont typeface="Space Grotesk"/>
              <a:buChar char="●"/>
            </a:pPr>
            <a:r>
              <a:rPr lang="en" sz="1500" b="1">
                <a:solidFill>
                  <a:schemeClr val="dk1"/>
                </a:solidFill>
                <a:latin typeface="Space Grotesk"/>
                <a:ea typeface="Space Grotesk"/>
                <a:cs typeface="Space Grotesk"/>
                <a:sym typeface="Space Grotesk"/>
              </a:rPr>
              <a:t>AccuKnox Device Test Report</a:t>
            </a:r>
            <a:endParaRPr sz="1500" b="1">
              <a:solidFill>
                <a:schemeClr val="dk1"/>
              </a:solidFill>
              <a:latin typeface="Space Grotesk"/>
              <a:ea typeface="Space Grotesk"/>
              <a:cs typeface="Space Grotesk"/>
              <a:sym typeface="Space Grotesk"/>
            </a:endParaRPr>
          </a:p>
          <a:p>
            <a:pPr marL="914400" lvl="1" indent="-304800" algn="l" rtl="0">
              <a:lnSpc>
                <a:spcPct val="115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Policy test report</a:t>
            </a:r>
            <a:endParaRPr sz="1200">
              <a:solidFill>
                <a:schemeClr val="dk1"/>
              </a:solidFill>
              <a:latin typeface="Space Grotesk"/>
              <a:ea typeface="Space Grotesk"/>
              <a:cs typeface="Space Grotesk"/>
              <a:sym typeface="Space Grotesk"/>
            </a:endParaRPr>
          </a:p>
          <a:p>
            <a:pPr marL="914400" lvl="1" indent="-304800" algn="l" rtl="0">
              <a:lnSpc>
                <a:spcPct val="115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Resource test report</a:t>
            </a:r>
            <a:endParaRPr sz="1200">
              <a:solidFill>
                <a:schemeClr val="dk1"/>
              </a:solidFill>
              <a:latin typeface="Space Grotesk"/>
              <a:ea typeface="Space Grotesk"/>
              <a:cs typeface="Space Grotesk"/>
              <a:sym typeface="Space Grotesk"/>
            </a:endParaRPr>
          </a:p>
          <a:p>
            <a:pPr marL="914400" lvl="1" indent="-304800" algn="l" rtl="0">
              <a:lnSpc>
                <a:spcPct val="115000"/>
              </a:lnSpc>
              <a:spcBef>
                <a:spcPts val="0"/>
              </a:spcBef>
              <a:spcAft>
                <a:spcPts val="0"/>
              </a:spcAft>
              <a:buClr>
                <a:schemeClr val="dk1"/>
              </a:buClr>
              <a:buSzPts val="1200"/>
              <a:buFont typeface="Space Grotesk"/>
              <a:buChar char="○"/>
            </a:pPr>
            <a:r>
              <a:rPr lang="en" sz="1200">
                <a:solidFill>
                  <a:schemeClr val="dk1"/>
                </a:solidFill>
                <a:latin typeface="Space Grotesk"/>
                <a:ea typeface="Space Grotesk"/>
                <a:cs typeface="Space Grotesk"/>
                <a:sym typeface="Space Grotesk"/>
              </a:rPr>
              <a:t>App behavior test report</a:t>
            </a:r>
            <a:endParaRPr sz="1200">
              <a:solidFill>
                <a:schemeClr val="dk1"/>
              </a:solidFill>
              <a:latin typeface="Space Grotesk"/>
              <a:ea typeface="Space Grotesk"/>
              <a:cs typeface="Space Grotesk"/>
              <a:sym typeface="Space Grotesk"/>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90"/>
          <p:cNvSpPr txBox="1">
            <a:spLocks noGrp="1"/>
          </p:cNvSpPr>
          <p:nvPr>
            <p:ph type="title"/>
          </p:nvPr>
        </p:nvSpPr>
        <p:spPr>
          <a:xfrm>
            <a:off x="1644425" y="1845000"/>
            <a:ext cx="5855100" cy="5415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SEE US IN ACTION</a:t>
            </a:r>
            <a:endParaRPr/>
          </a:p>
        </p:txBody>
      </p:sp>
      <p:sp>
        <p:nvSpPr>
          <p:cNvPr id="633" name="Google Shape;633;p90"/>
          <p:cNvSpPr txBox="1">
            <a:spLocks noGrp="1"/>
          </p:cNvSpPr>
          <p:nvPr>
            <p:ph type="title" idx="2"/>
          </p:nvPr>
        </p:nvSpPr>
        <p:spPr>
          <a:xfrm>
            <a:off x="2667275" y="2386488"/>
            <a:ext cx="3809400" cy="458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000"/>
              <a:t>support@accuknox.com</a:t>
            </a:r>
            <a:endParaRPr sz="20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2693</Words>
  <Application>Microsoft Office PowerPoint</Application>
  <PresentationFormat>On-screen Show (16:9)</PresentationFormat>
  <Paragraphs>332</Paragraphs>
  <Slides>48</Slides>
  <Notes>48</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48</vt:i4>
      </vt:variant>
    </vt:vector>
  </HeadingPairs>
  <TitlesOfParts>
    <vt:vector size="59" baseType="lpstr">
      <vt:lpstr>Space Grotesk SemiBold</vt:lpstr>
      <vt:lpstr>Montserrat Medium</vt:lpstr>
      <vt:lpstr>Montserrat ExtraBold</vt:lpstr>
      <vt:lpstr>Montserrat</vt:lpstr>
      <vt:lpstr>Arial</vt:lpstr>
      <vt:lpstr>Space Grotesk Medium</vt:lpstr>
      <vt:lpstr>Space Grotesk</vt:lpstr>
      <vt:lpstr>Noto Sans Symbols</vt:lpstr>
      <vt:lpstr>Simple Light</vt:lpstr>
      <vt:lpstr>Simple Light</vt:lpstr>
      <vt:lpstr>Office Theme</vt:lpstr>
      <vt:lpstr>PowerPoint Presentation</vt:lpstr>
      <vt:lpstr>Outline</vt:lpstr>
      <vt:lpstr>VM EDR Lifecycle</vt:lpstr>
      <vt:lpstr>Attack Scenarios Example</vt:lpstr>
      <vt:lpstr>Attack Scenarios Example</vt:lpstr>
      <vt:lpstr>Module 1: VM/Bare-metal Security Overview</vt:lpstr>
      <vt:lpstr>Module 1 : VM Vulnerability Findings Insights</vt:lpstr>
      <vt:lpstr>Module 1 : VM Vulnerability Findings by Label</vt:lpstr>
      <vt:lpstr>Module 1 : VM Vulnerability by Severity</vt:lpstr>
      <vt:lpstr>Module 1: Critical Vulnerability on VM</vt:lpstr>
      <vt:lpstr>Module 2: VM Malware Detection</vt:lpstr>
      <vt:lpstr>Module 3: Zero Trust for VMs</vt:lpstr>
      <vt:lpstr>POC Deployment</vt:lpstr>
      <vt:lpstr>Module 3: Top EDR Attacks at Runtime</vt:lpstr>
      <vt:lpstr>Linux Endpoint Security</vt:lpstr>
      <vt:lpstr>Adversarial Simulation Tool: MITRE Caldera</vt:lpstr>
      <vt:lpstr>Adversarial Simulation across multiple vendors</vt:lpstr>
      <vt:lpstr>Detailed Demo for MITRE Caldera </vt:lpstr>
      <vt:lpstr>Appendix</vt:lpstr>
      <vt:lpstr>VM Onboarding</vt:lpstr>
      <vt:lpstr>VM Onboarding</vt:lpstr>
      <vt:lpstr>VM  Scanning</vt:lpstr>
      <vt:lpstr>Vulnerability Scanning  and Malware Scanning </vt:lpstr>
      <vt:lpstr>Configuration Detail </vt:lpstr>
      <vt:lpstr>Installation </vt:lpstr>
      <vt:lpstr>Findings (Malware Findings)</vt:lpstr>
      <vt:lpstr>Findings (Vulnerability Scan Findings)</vt:lpstr>
      <vt:lpstr>Finding (DISA STIG Findings)</vt:lpstr>
      <vt:lpstr>                  VM Security Use cases</vt:lpstr>
      <vt:lpstr>VM Hardening - File Integrity Monitoring</vt:lpstr>
      <vt:lpstr>VM Hardening - File Integrity Monitoring</vt:lpstr>
      <vt:lpstr>VM Hardening - Prevent Crypto Miners Execution</vt:lpstr>
      <vt:lpstr>Example</vt:lpstr>
      <vt:lpstr>Example of Multi Stage Exploit</vt:lpstr>
      <vt:lpstr>Cryptojacking/Malware Protection</vt:lpstr>
      <vt:lpstr>Process/Host based Microsegmentation</vt:lpstr>
      <vt:lpstr>Ransomware Protection for Assets on Endpoints</vt:lpstr>
      <vt:lpstr>Requirements</vt:lpstr>
      <vt:lpstr>Adversarial Simulation Tool: MITRE Caldera</vt:lpstr>
      <vt:lpstr>Adversarial Simulation Across Multiple Vendors</vt:lpstr>
      <vt:lpstr>Detailed Demo for MITRE Caldera </vt:lpstr>
      <vt:lpstr>Attack Simulated for Vault in Caldera</vt:lpstr>
      <vt:lpstr>Other Attacks Simulated in MITRE Caldera</vt:lpstr>
      <vt:lpstr>Summary</vt:lpstr>
      <vt:lpstr>POC Steps</vt:lpstr>
      <vt:lpstr>Handling Scale Concerns</vt:lpstr>
      <vt:lpstr>Next Steps</vt:lpstr>
      <vt:lpstr>SEE US IN ACTION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ATHARVA SHAH  (Student)</cp:lastModifiedBy>
  <cp:revision>1</cp:revision>
  <dcterms:modified xsi:type="dcterms:W3CDTF">2026-05-19T03:33:55Z</dcterms:modified>
</cp:coreProperties>
</file>