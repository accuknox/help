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  <p:sldMasterId id="2147483687" r:id="rId2"/>
    <p:sldMasterId id="2147483688" r:id="rId3"/>
  </p:sldMasterIdLst>
  <p:notesMasterIdLst>
    <p:notesMasterId r:id="rId3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  <p:sldId id="283" r:id="rId27"/>
    <p:sldId id="284" r:id="rId28"/>
    <p:sldId id="285" r:id="rId29"/>
    <p:sldId id="286" r:id="rId30"/>
    <p:sldId id="280" r:id="rId31"/>
    <p:sldId id="281" r:id="rId32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34"/>
      <p:bold r:id="rId35"/>
    </p:embeddedFont>
    <p:embeddedFont>
      <p:font typeface="Average" panose="020B0604020202020204" charset="0"/>
      <p:regular r:id="rId36"/>
    </p:embeddedFont>
    <p:embeddedFont>
      <p:font typeface="Helvetica Neue" panose="020B0604020202020204" charset="0"/>
      <p:regular r:id="rId37"/>
      <p:bold r:id="rId38"/>
      <p:italic r:id="rId39"/>
      <p:boldItalic r:id="rId40"/>
    </p:embeddedFont>
    <p:embeddedFont>
      <p:font typeface="Montserrat" panose="02000505000000020004" pitchFamily="2" charset="0"/>
      <p:regular r:id="rId41"/>
      <p:bold r:id="rId42"/>
      <p:italic r:id="rId43"/>
      <p:boldItalic r:id="rId44"/>
    </p:embeddedFont>
    <p:embeddedFont>
      <p:font typeface="Montserrat ExtraBold" panose="00000900000000000000" pitchFamily="2" charset="0"/>
      <p:bold r:id="rId45"/>
      <p:boldItalic r:id="rId46"/>
    </p:embeddedFont>
    <p:embeddedFont>
      <p:font typeface="Montserrat Medium" panose="00000600000000000000" pitchFamily="2" charset="0"/>
      <p:regular r:id="rId47"/>
      <p:bold r:id="rId48"/>
      <p:italic r:id="rId49"/>
      <p:boldItalic r:id="rId50"/>
    </p:embeddedFont>
    <p:embeddedFont>
      <p:font typeface="Old Standard TT" panose="020B0604020202020204" charset="0"/>
      <p:regular r:id="rId51"/>
      <p:bold r:id="rId52"/>
      <p:italic r:id="rId53"/>
    </p:embeddedFont>
    <p:embeddedFont>
      <p:font typeface="Space Grotesk" pitchFamily="2" charset="0"/>
      <p:regular r:id="rId54"/>
      <p:bold r:id="rId55"/>
    </p:embeddedFont>
    <p:embeddedFont>
      <p:font typeface="Space Grotesk Medium" pitchFamily="2" charset="0"/>
      <p:regular r:id="rId56"/>
      <p:bold r:id="rId57"/>
    </p:embeddedFont>
    <p:embeddedFont>
      <p:font typeface="Space Grotesk SemiBold" pitchFamily="2" charset="0"/>
      <p:regular r:id="rId58"/>
      <p:bold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9E7605-F458-4822-9E52-E984708646C6}">
  <a:tblStyle styleId="{9E9E7605-F458-4822-9E52-E984708646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9EDB695-FD52-4197-89F3-3FF2634C906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6.fntdata"/><Relationship Id="rId21" Type="http://schemas.openxmlformats.org/officeDocument/2006/relationships/slide" Target="slides/slide18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font" Target="fonts/font22.fntdata"/><Relationship Id="rId63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font" Target="fonts/font20.fntdata"/><Relationship Id="rId58" Type="http://schemas.openxmlformats.org/officeDocument/2006/relationships/font" Target="fonts/font25.fntdata"/><Relationship Id="rId5" Type="http://schemas.openxmlformats.org/officeDocument/2006/relationships/slide" Target="slides/slide2.xml"/><Relationship Id="rId61" Type="http://schemas.openxmlformats.org/officeDocument/2006/relationships/viewProps" Target="view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font" Target="fonts/font23.fntdata"/><Relationship Id="rId8" Type="http://schemas.openxmlformats.org/officeDocument/2006/relationships/slide" Target="slides/slide5.xml"/><Relationship Id="rId51" Type="http://schemas.openxmlformats.org/officeDocument/2006/relationships/font" Target="fonts/font18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59" Type="http://schemas.openxmlformats.org/officeDocument/2006/relationships/font" Target="fonts/font26.fntdata"/><Relationship Id="rId20" Type="http://schemas.openxmlformats.org/officeDocument/2006/relationships/slide" Target="slides/slide17.xml"/><Relationship Id="rId41" Type="http://schemas.openxmlformats.org/officeDocument/2006/relationships/font" Target="fonts/font8.fntdata"/><Relationship Id="rId54" Type="http://schemas.openxmlformats.org/officeDocument/2006/relationships/font" Target="fonts/font21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font" Target="fonts/font24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6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a63aee1ab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a63aee1ab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9876ff55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9876ff55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02d6b3d65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d02d6b3d65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774ed846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774ed846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774ed846e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d774ed846e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774ed846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d774ed846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774ed846e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d774ed846e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774ed846e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d774ed846e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055c789c5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055c789c5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0792015f2_5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a0792015f2_5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6fd826ddd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6fd826ddd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6fd8f4cf8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6fd8f4cf8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cf50f6e8e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cf50f6e8e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73955520e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73955520eb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a0792015f2_6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a0792015f2_6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a0792015f2_6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a0792015f2_6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a0792015f2_6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a0792015f2_6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a0792015f2_6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a0792015f2_6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a0792015f2_6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a0792015f2_6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a0792015f2_6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a0792015f2_6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73967ff225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73967ff225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a307cad8ed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a307cad8ed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673994abde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673994abde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">
    <p:bg>
      <p:bgPr>
        <a:solidFill>
          <a:srgbClr val="11206D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46618" y="2321312"/>
            <a:ext cx="3797381" cy="2435571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9" name="Google Shape;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1975" y="1221088"/>
            <a:ext cx="3872020" cy="2435572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6617" y="365100"/>
            <a:ext cx="3797381" cy="2138819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11" name="Google Shape;11;p2" title="foot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750" y="3592000"/>
            <a:ext cx="5216674" cy="12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title="logo-dark-bac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64013" y="730425"/>
            <a:ext cx="2756148" cy="68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692538" y="1770900"/>
            <a:ext cx="4499100" cy="11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title" idx="2"/>
          </p:nvPr>
        </p:nvSpPr>
        <p:spPr>
          <a:xfrm>
            <a:off x="1878138" y="2707150"/>
            <a:ext cx="21279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1">
  <p:cSld name="CUSTOM_3">
    <p:bg>
      <p:bgPr>
        <a:solidFill>
          <a:srgbClr val="11206D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46618" y="2321312"/>
            <a:ext cx="3797381" cy="2435571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18" name="Google Shape;1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1975" y="1221088"/>
            <a:ext cx="3872020" cy="2435572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6617" y="365100"/>
            <a:ext cx="3797381" cy="2138819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20" name="Google Shape;20;p3" title="foot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750" y="3592000"/>
            <a:ext cx="5216674" cy="12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logo-dark-bac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172" y="309725"/>
            <a:ext cx="2015200" cy="49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92538" y="1770900"/>
            <a:ext cx="4499100" cy="11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/>
          </p:nvPr>
        </p:nvSpPr>
        <p:spPr>
          <a:xfrm>
            <a:off x="1878138" y="2707150"/>
            <a:ext cx="21279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USTOM_2">
    <p:bg>
      <p:bgPr>
        <a:solidFill>
          <a:srgbClr val="11206D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 title="logo-dark-b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81551" y="653075"/>
            <a:ext cx="3380849" cy="8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1644425" y="1845000"/>
            <a:ext cx="58551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 idx="2"/>
          </p:nvPr>
        </p:nvSpPr>
        <p:spPr>
          <a:xfrm>
            <a:off x="2667275" y="2386488"/>
            <a:ext cx="38094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None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pic>
        <p:nvPicPr>
          <p:cNvPr id="29" name="Google Shape;2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1174" y="3803025"/>
            <a:ext cx="4238602" cy="66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oogle Shape;30;p4"/>
          <p:cNvGrpSpPr/>
          <p:nvPr/>
        </p:nvGrpSpPr>
        <p:grpSpPr>
          <a:xfrm>
            <a:off x="1972224" y="3276900"/>
            <a:ext cx="5199498" cy="369300"/>
            <a:chOff x="2534150" y="3276900"/>
            <a:chExt cx="4075800" cy="369300"/>
          </a:xfrm>
        </p:grpSpPr>
        <p:sp>
          <p:nvSpPr>
            <p:cNvPr id="31" name="Google Shape;31;p4"/>
            <p:cNvSpPr txBox="1"/>
            <p:nvPr/>
          </p:nvSpPr>
          <p:spPr>
            <a:xfrm>
              <a:off x="4004450" y="3276900"/>
              <a:ext cx="113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Certified by</a:t>
              </a:r>
              <a:endParaRPr sz="1200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cxnSp>
          <p:nvCxnSpPr>
            <p:cNvPr id="32" name="Google Shape;32;p4"/>
            <p:cNvCxnSpPr>
              <a:stCxn id="31" idx="1"/>
            </p:cNvCxnSpPr>
            <p:nvPr/>
          </p:nvCxnSpPr>
          <p:spPr>
            <a:xfrm rot="10800000">
              <a:off x="2534150" y="3461550"/>
              <a:ext cx="147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4"/>
            <p:cNvCxnSpPr>
              <a:endCxn id="31" idx="3"/>
            </p:cNvCxnSpPr>
            <p:nvPr/>
          </p:nvCxnSpPr>
          <p:spPr>
            <a:xfrm rot="10800000">
              <a:off x="5139650" y="3461550"/>
              <a:ext cx="147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" name="Google Shape;34;p4"/>
          <p:cNvSpPr txBox="1"/>
          <p:nvPr/>
        </p:nvSpPr>
        <p:spPr>
          <a:xfrm>
            <a:off x="2452675" y="4679450"/>
            <a:ext cx="440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www.accuknox.com</a:t>
            </a:r>
            <a:endParaRPr sz="8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5" name="Google Shape;35;p4" title="AccuKnox Bad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4230" y="3803025"/>
            <a:ext cx="730269" cy="66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Background - Title Only">
  <p:cSld name="CUSTOM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 SemiBold"/>
              <a:buNone/>
              <a:defRPr sz="2400" b="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 title="logo-dark-b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728887" y="4883719"/>
            <a:ext cx="2487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Background - With Content">
  <p:cSld name="CUSTOM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 SemiBold"/>
              <a:buNone/>
              <a:defRPr sz="2400" b="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6" title="logo-dark-b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728887" y="4883719"/>
            <a:ext cx="2487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276875" y="880925"/>
            <a:ext cx="8337300" cy="38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●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○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■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●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○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■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●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○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■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ark Background">
  <p:cSld name="Small Title Only BLACK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728887" y="4883719"/>
            <a:ext cx="2487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7" title="logo-dark-b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ark Background 2">
  <p:cSld name="Small Title Only BLACK_2">
    <p:bg>
      <p:bgPr>
        <a:solidFill>
          <a:srgbClr val="11206D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728887" y="4883719"/>
            <a:ext cx="2487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" name="Google Shape;52;p8" title="logo-dark-b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518383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9" title="logo-light-b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48" y="173626"/>
            <a:ext cx="1443968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2400"/>
              <a:buFont typeface="Space Grotesk SemiBold"/>
              <a:buNone/>
              <a:defRPr sz="2400" b="0">
                <a:solidFill>
                  <a:srgbClr val="04053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3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667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2pPr>
            <a:lvl3pPr marL="1371600" lvl="2" indent="-2667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3pPr>
            <a:lvl4pPr marL="1828800" lvl="3" indent="-2667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4pPr>
            <a:lvl5pPr marL="2286000" lvl="4" indent="-2667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5pPr>
            <a:lvl6pPr marL="2743200" lvl="5" indent="-2667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6pPr>
            <a:lvl7pPr marL="3200400" lvl="6" indent="-2667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7pPr>
            <a:lvl8pPr marL="3657600" lvl="7" indent="-2667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8pPr>
            <a:lvl9pPr marL="4114800" lvl="8" indent="-2667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">
    <p:bg>
      <p:bgPr>
        <a:solidFill>
          <a:srgbClr val="11206D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46618" y="2321312"/>
            <a:ext cx="3797381" cy="2435571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1" name="Google Shape;7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1975" y="1221088"/>
            <a:ext cx="3872020" cy="2435572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2" name="Google Shape;7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6617" y="365100"/>
            <a:ext cx="3797381" cy="2138819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73" name="Google Shape;73;p13" title="foot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750" y="3592000"/>
            <a:ext cx="5216674" cy="12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 title="logo-dark-bac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64013" y="730425"/>
            <a:ext cx="2756148" cy="6825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>
            <a:off x="692538" y="1770900"/>
            <a:ext cx="4499100" cy="1104600"/>
          </a:xfrm>
          <a:prstGeom prst="rect">
            <a:avLst/>
          </a:prstGeom>
        </p:spPr>
        <p:txBody>
          <a:bodyPr spcFirstLastPara="1" wrap="square" lIns="68550" tIns="68550" rIns="68550" bIns="6855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2"/>
          </p:nvPr>
        </p:nvSpPr>
        <p:spPr>
          <a:xfrm>
            <a:off x="1878138" y="2707150"/>
            <a:ext cx="2127900" cy="458400"/>
          </a:xfrm>
          <a:prstGeom prst="rect">
            <a:avLst/>
          </a:prstGeom>
        </p:spPr>
        <p:txBody>
          <a:bodyPr spcFirstLastPara="1" wrap="square" lIns="68550" tIns="68550" rIns="68550" bIns="685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pace Grotesk"/>
              <a:buNone/>
              <a:defRPr sz="16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68550" tIns="68550" rIns="68550" bIns="68550" anchor="t" anchorCtr="0">
            <a:normAutofit/>
          </a:bodyPr>
          <a:lstStyle>
            <a:lvl1pPr lvl="0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buNone/>
              <a:defRPr sz="13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USTOM_2">
    <p:bg>
      <p:bgPr>
        <a:solidFill>
          <a:srgbClr val="11206D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4" title="logo-dark-b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81551" y="653075"/>
            <a:ext cx="3380849" cy="8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1644425" y="1845000"/>
            <a:ext cx="5855100" cy="541500"/>
          </a:xfrm>
          <a:prstGeom prst="rect">
            <a:avLst/>
          </a:prstGeom>
        </p:spPr>
        <p:txBody>
          <a:bodyPr spcFirstLastPara="1" wrap="square" lIns="68550" tIns="68550" rIns="68550" bIns="6855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pace Grotesk"/>
              <a:buNone/>
              <a:defRPr sz="2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title" idx="2"/>
          </p:nvPr>
        </p:nvSpPr>
        <p:spPr>
          <a:xfrm>
            <a:off x="2667275" y="2386488"/>
            <a:ext cx="3809400" cy="458400"/>
          </a:xfrm>
          <a:prstGeom prst="rect">
            <a:avLst/>
          </a:prstGeom>
        </p:spPr>
        <p:txBody>
          <a:bodyPr spcFirstLastPara="1" wrap="square" lIns="68550" tIns="68550" rIns="68550" bIns="685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Space Grotesk"/>
              <a:buNone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sz="20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674" y="3803025"/>
            <a:ext cx="4238602" cy="66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14"/>
          <p:cNvGrpSpPr/>
          <p:nvPr/>
        </p:nvGrpSpPr>
        <p:grpSpPr>
          <a:xfrm>
            <a:off x="2534075" y="3276900"/>
            <a:ext cx="4075800" cy="369300"/>
            <a:chOff x="2534150" y="3276900"/>
            <a:chExt cx="4075800" cy="369300"/>
          </a:xfrm>
        </p:grpSpPr>
        <p:sp>
          <p:nvSpPr>
            <p:cNvPr id="84" name="Google Shape;84;p14"/>
            <p:cNvSpPr txBox="1"/>
            <p:nvPr/>
          </p:nvSpPr>
          <p:spPr>
            <a:xfrm>
              <a:off x="4004450" y="3276900"/>
              <a:ext cx="113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Certified by</a:t>
              </a:r>
              <a:endParaRPr sz="1200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cxnSp>
          <p:nvCxnSpPr>
            <p:cNvPr id="85" name="Google Shape;85;p14"/>
            <p:cNvCxnSpPr>
              <a:stCxn id="84" idx="1"/>
            </p:cNvCxnSpPr>
            <p:nvPr/>
          </p:nvCxnSpPr>
          <p:spPr>
            <a:xfrm rot="10800000">
              <a:off x="2534150" y="3461550"/>
              <a:ext cx="147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" name="Google Shape;86;p14"/>
            <p:cNvCxnSpPr>
              <a:endCxn id="84" idx="3"/>
            </p:cNvCxnSpPr>
            <p:nvPr/>
          </p:nvCxnSpPr>
          <p:spPr>
            <a:xfrm rot="10800000">
              <a:off x="5139650" y="3461550"/>
              <a:ext cx="147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7" name="Google Shape;87;p14"/>
          <p:cNvSpPr txBox="1"/>
          <p:nvPr/>
        </p:nvSpPr>
        <p:spPr>
          <a:xfrm>
            <a:off x="2452675" y="4679450"/>
            <a:ext cx="440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www.accuknox.com</a:t>
            </a:r>
            <a:endParaRPr sz="8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68550" tIns="68550" rIns="68550" bIns="68550" anchor="t" anchorCtr="0">
            <a:normAutofit/>
          </a:bodyPr>
          <a:lstStyle>
            <a:lvl1pPr lvl="0">
              <a:buNone/>
              <a:defRPr sz="1300">
                <a:solidFill>
                  <a:srgbClr val="262626"/>
                </a:solidFill>
              </a:defRPr>
            </a:lvl1pPr>
            <a:lvl2pPr lvl="1">
              <a:buNone/>
              <a:defRPr sz="1300">
                <a:solidFill>
                  <a:srgbClr val="262626"/>
                </a:solidFill>
              </a:defRPr>
            </a:lvl2pPr>
            <a:lvl3pPr lvl="2">
              <a:buNone/>
              <a:defRPr sz="1300">
                <a:solidFill>
                  <a:srgbClr val="262626"/>
                </a:solidFill>
              </a:defRPr>
            </a:lvl3pPr>
            <a:lvl4pPr lvl="3">
              <a:buNone/>
              <a:defRPr sz="1300">
                <a:solidFill>
                  <a:srgbClr val="262626"/>
                </a:solidFill>
              </a:defRPr>
            </a:lvl4pPr>
            <a:lvl5pPr lvl="4">
              <a:buNone/>
              <a:defRPr sz="1300">
                <a:solidFill>
                  <a:srgbClr val="262626"/>
                </a:solidFill>
              </a:defRPr>
            </a:lvl5pPr>
            <a:lvl6pPr lvl="5">
              <a:buNone/>
              <a:defRPr sz="1300">
                <a:solidFill>
                  <a:srgbClr val="262626"/>
                </a:solidFill>
              </a:defRPr>
            </a:lvl6pPr>
            <a:lvl7pPr lvl="6">
              <a:buNone/>
              <a:defRPr sz="1300">
                <a:solidFill>
                  <a:srgbClr val="262626"/>
                </a:solidFill>
              </a:defRPr>
            </a:lvl7pPr>
            <a:lvl8pPr lvl="7">
              <a:buNone/>
              <a:defRPr sz="1300">
                <a:solidFill>
                  <a:srgbClr val="262626"/>
                </a:solidFill>
              </a:defRPr>
            </a:lvl8pPr>
            <a:lvl9pPr lvl="8">
              <a:buNone/>
              <a:defRPr sz="1300">
                <a:solidFill>
                  <a:srgbClr val="262626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Background - Title Only">
  <p:cSld name="CUSTOM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 SemiBold"/>
              <a:buNone/>
              <a:defRPr sz="2400" b="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92" name="Google Shape;92;p15" title="logo-dark-b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728887" y="4883719"/>
            <a:ext cx="2487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Background - With Content">
  <p:cSld name="CUSTOM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 SemiBold"/>
              <a:buNone/>
              <a:defRPr sz="2400" b="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97" name="Google Shape;97;p16" title="logo-dark-b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728887" y="4883719"/>
            <a:ext cx="2487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276875" y="880925"/>
            <a:ext cx="8337300" cy="3890400"/>
          </a:xfrm>
          <a:prstGeom prst="rect">
            <a:avLst/>
          </a:prstGeom>
        </p:spPr>
        <p:txBody>
          <a:bodyPr spcFirstLastPara="1" wrap="square" lIns="68550" tIns="68550" rIns="68550" bIns="6855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●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○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■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●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○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•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•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•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Char char="•"/>
              <a:defRPr sz="24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ark Background">
  <p:cSld name="Small Title Only BLACK">
    <p:bg>
      <p:bgPr>
        <a:solidFill>
          <a:schemeClr val="lt2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7" title="399207776_560ef63d-dcb7-48f5-840c-271f85548a75.jpg"/>
          <p:cNvPicPr preferRelativeResize="0"/>
          <p:nvPr/>
        </p:nvPicPr>
        <p:blipFill rotWithShape="1">
          <a:blip r:embed="rId2">
            <a:alphaModFix/>
          </a:blip>
          <a:srcRect l="129" r="576"/>
          <a:stretch/>
        </p:blipFill>
        <p:spPr>
          <a:xfrm>
            <a:off x="0" y="-16225"/>
            <a:ext cx="9143997" cy="518885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>
            <a:spLocks noGrp="1"/>
          </p:cNvSpPr>
          <p:nvPr>
            <p:ph type="sldNum" idx="12"/>
          </p:nvPr>
        </p:nvSpPr>
        <p:spPr>
          <a:xfrm>
            <a:off x="8728887" y="4883719"/>
            <a:ext cx="2487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 SemiBold"/>
              <a:buNone/>
              <a:defRPr sz="2400" b="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04" name="Google Shape;104;p17" title="logo-dark-b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ark Background 1">
  <p:cSld name="Small Title Only BLACK_1">
    <p:bg>
      <p:bgPr>
        <a:solidFill>
          <a:schemeClr val="lt2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8" title="399207776_560ef63d-dcb7-48f5-840c-271f85548a75.jpg"/>
          <p:cNvPicPr preferRelativeResize="0"/>
          <p:nvPr/>
        </p:nvPicPr>
        <p:blipFill rotWithShape="1">
          <a:blip r:embed="rId2">
            <a:alphaModFix/>
          </a:blip>
          <a:srcRect l="129" r="576"/>
          <a:stretch/>
        </p:blipFill>
        <p:spPr>
          <a:xfrm>
            <a:off x="0" y="-16225"/>
            <a:ext cx="9143997" cy="51888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873450" y="1761775"/>
            <a:ext cx="7397100" cy="1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Grotesk SemiBold"/>
              <a:buNone/>
              <a:defRPr sz="3200" b="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08" name="Google Shape;108;p18" title="logo-dark-b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>
            <a:spLocks noGrp="1"/>
          </p:cNvSpPr>
          <p:nvPr>
            <p:ph type="sldNum" idx="12"/>
          </p:nvPr>
        </p:nvSpPr>
        <p:spPr>
          <a:xfrm>
            <a:off x="8728887" y="4883719"/>
            <a:ext cx="2487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518383" y="4749892"/>
            <a:ext cx="548700" cy="393600"/>
          </a:xfrm>
          <a:prstGeom prst="rect">
            <a:avLst/>
          </a:prstGeom>
        </p:spPr>
        <p:txBody>
          <a:bodyPr spcFirstLastPara="1" wrap="square" lIns="68550" tIns="68550" rIns="68550" bIns="68550" anchor="ctr" anchorCtr="0">
            <a:normAutofit/>
          </a:bodyPr>
          <a:lstStyle>
            <a:lvl1pPr lvl="0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buNone/>
              <a:defRPr sz="7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" name="Google Shape;112;p19" title="logo-light-b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48" y="173626"/>
            <a:ext cx="1443968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2400"/>
              <a:buFont typeface="Space Grotesk SemiBold"/>
              <a:buNone/>
              <a:defRPr sz="2400" b="0">
                <a:solidFill>
                  <a:srgbClr val="04053E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53E"/>
              </a:buClr>
              <a:buSzPts val="3000"/>
              <a:buNone/>
              <a:defRPr>
                <a:solidFill>
                  <a:srgbClr val="04053E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3" type="tx">
  <p:cSld name="TITLE_AND_BODY">
    <p:bg>
      <p:bgPr>
        <a:solidFill>
          <a:srgbClr val="000D2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 descr="Picture 8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628650" y="1701022"/>
            <a:ext cx="4657800" cy="14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895261" y="4948238"/>
            <a:ext cx="105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hite with Logo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895262" y="4941094"/>
            <a:ext cx="2487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ftr" idx="11"/>
          </p:nvPr>
        </p:nvSpPr>
        <p:spPr>
          <a:xfrm>
            <a:off x="628650" y="4941094"/>
            <a:ext cx="20574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628650" y="299697"/>
            <a:ext cx="66561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sldNum" idx="12"/>
          </p:nvPr>
        </p:nvSpPr>
        <p:spPr>
          <a:xfrm>
            <a:off x="8895263" y="4941094"/>
            <a:ext cx="2487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ftr" idx="11"/>
          </p:nvPr>
        </p:nvSpPr>
        <p:spPr>
          <a:xfrm>
            <a:off x="628650" y="4941094"/>
            <a:ext cx="20574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628650" y="299695"/>
            <a:ext cx="64578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xfrm>
            <a:off x="8895261" y="4948238"/>
            <a:ext cx="105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1">
  <p:cSld name="Divider 1">
    <p:bg>
      <p:bgPr>
        <a:solidFill>
          <a:srgbClr val="F8F8F8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1"/>
            <a:ext cx="914171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628650" y="1701022"/>
            <a:ext cx="4657800" cy="14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 Black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 Black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ftr" idx="11"/>
          </p:nvPr>
        </p:nvSpPr>
        <p:spPr>
          <a:xfrm>
            <a:off x="628650" y="4941094"/>
            <a:ext cx="20574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8895262" y="4941094"/>
            <a:ext cx="2487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/>
          <p:nvPr/>
        </p:nvSpPr>
        <p:spPr>
          <a:xfrm rot="10800000" flipH="1">
            <a:off x="0" y="-118"/>
            <a:ext cx="9144000" cy="68700"/>
          </a:xfrm>
          <a:prstGeom prst="rect">
            <a:avLst/>
          </a:prstGeom>
          <a:gradFill>
            <a:gsLst>
              <a:gs pos="0">
                <a:srgbClr val="0E3594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2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  <a:defRPr/>
            </a:lvl1pPr>
            <a:lvl2pPr marL="914400" lvl="1" indent="-304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200"/>
              <a:buChar char="‒"/>
              <a:defRPr/>
            </a:lvl2pPr>
            <a:lvl3pPr marL="1371600" lvl="2" indent="-304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200"/>
              <a:buChar char="–"/>
              <a:defRPr/>
            </a:lvl3pPr>
            <a:lvl4pPr marL="1828800" lvl="3" indent="-304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2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title"/>
          </p:nvPr>
        </p:nvSpPr>
        <p:spPr>
          <a:xfrm>
            <a:off x="628650" y="299695"/>
            <a:ext cx="66561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6"/>
          <p:cNvSpPr txBox="1">
            <a:spLocks noGrp="1"/>
          </p:cNvSpPr>
          <p:nvPr>
            <p:ph type="sldNum" idx="12"/>
          </p:nvPr>
        </p:nvSpPr>
        <p:spPr>
          <a:xfrm>
            <a:off x="8895261" y="4948238"/>
            <a:ext cx="105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6" descr="D:\web-logo-light-back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11051" y="165892"/>
            <a:ext cx="1661499" cy="392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BLACK">
  <p:cSld name="Blank BLACK">
    <p:bg>
      <p:bgPr>
        <a:solidFill>
          <a:srgbClr val="000000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>
            <a:spLocks noGrp="1"/>
          </p:cNvSpPr>
          <p:nvPr>
            <p:ph type="sldNum" idx="12"/>
          </p:nvPr>
        </p:nvSpPr>
        <p:spPr>
          <a:xfrm>
            <a:off x="8895261" y="4948238"/>
            <a:ext cx="105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White">
  <p:cSld name="Blank White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sldNum" idx="12"/>
          </p:nvPr>
        </p:nvSpPr>
        <p:spPr>
          <a:xfrm>
            <a:off x="8895261" y="4948238"/>
            <a:ext cx="105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>
            <a:spLocks noGrp="1"/>
          </p:cNvSpPr>
          <p:nvPr>
            <p:ph type="sldNum" idx="12"/>
          </p:nvPr>
        </p:nvSpPr>
        <p:spPr>
          <a:xfrm>
            <a:off x="8895261" y="4948238"/>
            <a:ext cx="105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Gray Back">
  <p:cSld name="Title and Content Gray Back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 descr="Picture 5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1"/>
            <a:ext cx="914171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>
            <a:spLocks noGrp="1"/>
          </p:cNvSpPr>
          <p:nvPr>
            <p:ph type="body" idx="1"/>
          </p:nvPr>
        </p:nvSpPr>
        <p:spPr>
          <a:xfrm>
            <a:off x="628650" y="1131688"/>
            <a:ext cx="3943200" cy="3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1pPr>
            <a:lvl2pPr marL="914400" lvl="1" indent="-3111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300"/>
              <a:buFont typeface="Arial"/>
              <a:buChar char="‒"/>
              <a:defRPr sz="1500"/>
            </a:lvl2pPr>
            <a:lvl3pPr marL="1371600" lvl="2" indent="-3111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300"/>
              <a:buFont typeface="Arial"/>
              <a:buChar char="–"/>
              <a:defRPr sz="1500"/>
            </a:lvl3pPr>
            <a:lvl4pPr marL="1828800" lvl="3" indent="-3111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300"/>
              <a:buFont typeface="Arial"/>
              <a:buChar char="•"/>
              <a:defRPr sz="1500"/>
            </a:lvl4pPr>
            <a:lvl5pPr marL="2286000" lvl="4" indent="-3111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300"/>
              <a:buFont typeface="Arial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title"/>
          </p:nvPr>
        </p:nvSpPr>
        <p:spPr>
          <a:xfrm>
            <a:off x="628650" y="299695"/>
            <a:ext cx="66561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sldNum" idx="12"/>
          </p:nvPr>
        </p:nvSpPr>
        <p:spPr>
          <a:xfrm>
            <a:off x="8895261" y="4948238"/>
            <a:ext cx="105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" name="Google Shape;158;p30" descr="D:\web-logo-light-bac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1051" y="165892"/>
            <a:ext cx="1661499" cy="392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5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4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162" name="Google Shape;162;p3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4" name="Google Shape;164;p31"/>
          <p:cNvSpPr txBox="1">
            <a:spLocks noGrp="1"/>
          </p:cNvSpPr>
          <p:nvPr>
            <p:ph type="sldNum" idx="12"/>
          </p:nvPr>
        </p:nvSpPr>
        <p:spPr>
          <a:xfrm>
            <a:off x="8779148" y="4739062"/>
            <a:ext cx="2421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rmAutofit lnSpcReduction="10000"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Gray Back">
  <p:cSld name="1_Title and Content Gray Back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2" descr="Picture 5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1"/>
            <a:ext cx="914171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2"/>
          <p:cNvSpPr txBox="1">
            <a:spLocks noGrp="1"/>
          </p:cNvSpPr>
          <p:nvPr>
            <p:ph type="body" idx="1"/>
          </p:nvPr>
        </p:nvSpPr>
        <p:spPr>
          <a:xfrm>
            <a:off x="628650" y="1131688"/>
            <a:ext cx="3943200" cy="3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1pPr>
            <a:lvl2pPr marL="914400" lvl="1" indent="-3111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300"/>
              <a:buFont typeface="Arial"/>
              <a:buChar char="‒"/>
              <a:defRPr sz="1500"/>
            </a:lvl2pPr>
            <a:lvl3pPr marL="1371600" lvl="2" indent="-3111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300"/>
              <a:buFont typeface="Arial"/>
              <a:buChar char="–"/>
              <a:defRPr sz="1500"/>
            </a:lvl3pPr>
            <a:lvl4pPr marL="1828800" lvl="3" indent="-3111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300"/>
              <a:buFont typeface="Arial"/>
              <a:buChar char="•"/>
              <a:defRPr sz="1500"/>
            </a:lvl4pPr>
            <a:lvl5pPr marL="2286000" lvl="4" indent="-3111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300"/>
              <a:buFont typeface="Arial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32"/>
          <p:cNvSpPr txBox="1">
            <a:spLocks noGrp="1"/>
          </p:cNvSpPr>
          <p:nvPr>
            <p:ph type="title"/>
          </p:nvPr>
        </p:nvSpPr>
        <p:spPr>
          <a:xfrm>
            <a:off x="628650" y="299695"/>
            <a:ext cx="66561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Black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Black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Black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Black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Black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Black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Black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Black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 Black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2"/>
          <p:cNvSpPr txBox="1">
            <a:spLocks noGrp="1"/>
          </p:cNvSpPr>
          <p:nvPr>
            <p:ph type="sldNum" idx="12"/>
          </p:nvPr>
        </p:nvSpPr>
        <p:spPr>
          <a:xfrm>
            <a:off x="8895261" y="4948238"/>
            <a:ext cx="105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0" name="Google Shape;170;p32" descr="D:\web-logo-light-bac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1051" y="165892"/>
            <a:ext cx="1661499" cy="392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TA-ThankYou-ForMoreInfo">
  <p:cSld name="CTA-ThankYou-ForMoreInfo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/>
          <p:nvPr/>
        </p:nvSpPr>
        <p:spPr>
          <a:xfrm>
            <a:off x="0" y="0"/>
            <a:ext cx="9144000" cy="2123700"/>
          </a:xfrm>
          <a:prstGeom prst="rect">
            <a:avLst/>
          </a:prstGeom>
          <a:solidFill>
            <a:srgbClr val="000D2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33"/>
          <p:cNvSpPr/>
          <p:nvPr/>
        </p:nvSpPr>
        <p:spPr>
          <a:xfrm rot="10800000" flipH="1">
            <a:off x="0" y="1902068"/>
            <a:ext cx="9144000" cy="221700"/>
          </a:xfrm>
          <a:prstGeom prst="rect">
            <a:avLst/>
          </a:prstGeom>
          <a:gradFill>
            <a:gsLst>
              <a:gs pos="0">
                <a:srgbClr val="0E3594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4" name="Google Shape;174;p33" descr="Picture 12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0"/>
            <a:ext cx="9144000" cy="212376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3"/>
          <p:cNvSpPr txBox="1">
            <a:spLocks noGrp="1"/>
          </p:cNvSpPr>
          <p:nvPr>
            <p:ph type="title"/>
          </p:nvPr>
        </p:nvSpPr>
        <p:spPr>
          <a:xfrm>
            <a:off x="628650" y="2482533"/>
            <a:ext cx="59898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 Black"/>
              <a:buNone/>
              <a:defRPr sz="27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3"/>
          <p:cNvSpPr txBox="1">
            <a:spLocks noGrp="1"/>
          </p:cNvSpPr>
          <p:nvPr>
            <p:ph type="body" idx="1"/>
          </p:nvPr>
        </p:nvSpPr>
        <p:spPr>
          <a:xfrm>
            <a:off x="628650" y="2964996"/>
            <a:ext cx="49233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None/>
              <a:defRPr sz="1500"/>
            </a:lvl1pPr>
            <a:lvl2pPr marL="914400" lvl="1" indent="-3111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‒"/>
              <a:defRPr sz="1500"/>
            </a:lvl2pPr>
            <a:lvl3pPr marL="1371600" lvl="2" indent="-3111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–"/>
              <a:defRPr sz="1500"/>
            </a:lvl3pPr>
            <a:lvl4pPr marL="1828800" lvl="3" indent="-3111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  <a:defRPr sz="1500"/>
            </a:lvl4pPr>
            <a:lvl5pPr marL="2286000" lvl="4" indent="-3111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300"/>
              <a:buFont typeface="Arial"/>
              <a:buChar char="•"/>
              <a:defRPr sz="1500"/>
            </a:lvl5pPr>
            <a:lvl6pPr marL="2743200" lvl="5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33"/>
          <p:cNvSpPr txBox="1"/>
          <p:nvPr/>
        </p:nvSpPr>
        <p:spPr>
          <a:xfrm>
            <a:off x="628649" y="806378"/>
            <a:ext cx="4503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Zero Trust Run-time Kubernetes Security</a:t>
            </a:r>
            <a:endParaRPr sz="1100"/>
          </a:p>
        </p:txBody>
      </p:sp>
      <p:sp>
        <p:nvSpPr>
          <p:cNvPr id="178" name="Google Shape;178;p33"/>
          <p:cNvSpPr txBox="1">
            <a:spLocks noGrp="1"/>
          </p:cNvSpPr>
          <p:nvPr>
            <p:ph type="sldNum" idx="12"/>
          </p:nvPr>
        </p:nvSpPr>
        <p:spPr>
          <a:xfrm>
            <a:off x="6553200" y="4662488"/>
            <a:ext cx="105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9" name="Google Shape;179;p33" descr="D:\web-logo-dark-bac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050" y="27385"/>
            <a:ext cx="3571875" cy="842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White Very High">
  <p:cSld name="Title Only White Very High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>
            <a:spLocks noGrp="1"/>
          </p:cNvSpPr>
          <p:nvPr>
            <p:ph type="sldNum" idx="12"/>
          </p:nvPr>
        </p:nvSpPr>
        <p:spPr>
          <a:xfrm>
            <a:off x="8895262" y="4941094"/>
            <a:ext cx="2490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4"/>
          <p:cNvSpPr txBox="1">
            <a:spLocks noGrp="1"/>
          </p:cNvSpPr>
          <p:nvPr>
            <p:ph type="title"/>
          </p:nvPr>
        </p:nvSpPr>
        <p:spPr>
          <a:xfrm>
            <a:off x="628650" y="147296"/>
            <a:ext cx="68580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 Black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4"/>
          <p:cNvSpPr txBox="1">
            <a:spLocks noGrp="1"/>
          </p:cNvSpPr>
          <p:nvPr>
            <p:ph type="ftr" idx="11"/>
          </p:nvPr>
        </p:nvSpPr>
        <p:spPr>
          <a:xfrm>
            <a:off x="628650" y="4941094"/>
            <a:ext cx="20574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84" name="Google Shape;184;p34"/>
          <p:cNvSpPr/>
          <p:nvPr/>
        </p:nvSpPr>
        <p:spPr>
          <a:xfrm rot="10800000" flipH="1">
            <a:off x="0" y="-120"/>
            <a:ext cx="9144000" cy="68700"/>
          </a:xfrm>
          <a:prstGeom prst="rect">
            <a:avLst/>
          </a:prstGeom>
          <a:gradFill>
            <a:gsLst>
              <a:gs pos="0">
                <a:srgbClr val="0E3594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36719" y="4913187"/>
            <a:ext cx="789975" cy="1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9" name="Google Shape;189;p3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0" name="Google Shape;190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83876" y="411824"/>
            <a:ext cx="1444352" cy="25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2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4" name="Google Shape;194;p3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5" name="Google Shape;195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83876" y="411824"/>
            <a:ext cx="1444352" cy="25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3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9" name="Google Shape;199;p3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83876" y="411824"/>
            <a:ext cx="1444352" cy="25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Gray Title on Black Top">
  <p:cSld name="Blank Gray Title on Black Top">
    <p:bg>
      <p:bgPr>
        <a:solidFill>
          <a:srgbClr val="F8FAFC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8"/>
          <p:cNvSpPr/>
          <p:nvPr/>
        </p:nvSpPr>
        <p:spPr>
          <a:xfrm>
            <a:off x="0" y="0"/>
            <a:ext cx="9144000" cy="683400"/>
          </a:xfrm>
          <a:prstGeom prst="rect">
            <a:avLst/>
          </a:prstGeom>
          <a:solidFill>
            <a:srgbClr val="05052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3" name="Google Shape;203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88344" y="220967"/>
            <a:ext cx="1211819" cy="28650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8"/>
          <p:cNvSpPr txBox="1">
            <a:spLocks noGrp="1"/>
          </p:cNvSpPr>
          <p:nvPr>
            <p:ph type="title"/>
          </p:nvPr>
        </p:nvSpPr>
        <p:spPr>
          <a:xfrm>
            <a:off x="628650" y="225326"/>
            <a:ext cx="6621900" cy="2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8"/>
          <p:cNvSpPr txBox="1">
            <a:spLocks noGrp="1"/>
          </p:cNvSpPr>
          <p:nvPr>
            <p:ph type="sldNum" idx="12"/>
          </p:nvPr>
        </p:nvSpPr>
        <p:spPr>
          <a:xfrm>
            <a:off x="225028" y="4948237"/>
            <a:ext cx="1788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rgbClr val="7F7F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rgbClr val="7F7F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rgbClr val="7F7F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rgbClr val="7F7F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rgbClr val="7F7F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rgbClr val="7F7F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rgbClr val="7F7F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rgbClr val="7F7F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rgbClr val="7F7F7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38"/>
          <p:cNvSpPr txBox="1">
            <a:spLocks noGrp="1"/>
          </p:cNvSpPr>
          <p:nvPr>
            <p:ph type="ftr" idx="11"/>
          </p:nvPr>
        </p:nvSpPr>
        <p:spPr>
          <a:xfrm>
            <a:off x="628650" y="4948237"/>
            <a:ext cx="20574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Content White on Banner">
  <p:cSld name="1_Title Content White on Banner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>
            <a:spLocks noGrp="1"/>
          </p:cNvSpPr>
          <p:nvPr>
            <p:ph type="body" idx="1"/>
          </p:nvPr>
        </p:nvSpPr>
        <p:spPr>
          <a:xfrm>
            <a:off x="628650" y="1016794"/>
            <a:ext cx="6442500" cy="3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200"/>
              <a:buFont typeface="Montserrat"/>
              <a:buChar char="‒"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200"/>
              <a:buFont typeface="Montserrat"/>
              <a:buChar char="–"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921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000"/>
              <a:buFont typeface="Montserrat"/>
              <a:buChar char="•"/>
              <a:defRPr sz="10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9" name="Google Shape;209;p39"/>
          <p:cNvSpPr txBox="1">
            <a:spLocks noGrp="1"/>
          </p:cNvSpPr>
          <p:nvPr>
            <p:ph type="sldNum" idx="12"/>
          </p:nvPr>
        </p:nvSpPr>
        <p:spPr>
          <a:xfrm>
            <a:off x="8895261" y="4948238"/>
            <a:ext cx="1050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39"/>
          <p:cNvSpPr/>
          <p:nvPr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1" name="Google Shape;211;p39" title="logo-dark-b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9"/>
          <p:cNvSpPr txBox="1">
            <a:spLocks noGrp="1"/>
          </p:cNvSpPr>
          <p:nvPr>
            <p:ph type="title"/>
          </p:nvPr>
        </p:nvSpPr>
        <p:spPr>
          <a:xfrm>
            <a:off x="-24300" y="10700"/>
            <a:ext cx="7305600" cy="6876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3 2">
  <p:cSld name="1_Divider 3_1">
    <p:bg>
      <p:bgPr>
        <a:solidFill>
          <a:schemeClr val="lt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0"/>
          <p:cNvPicPr preferRelativeResize="0"/>
          <p:nvPr/>
        </p:nvPicPr>
        <p:blipFill rotWithShape="1">
          <a:blip r:embed="rId2">
            <a:alphaModFix amt="70000"/>
          </a:blip>
          <a:srcRect l="30671"/>
          <a:stretch/>
        </p:blipFill>
        <p:spPr>
          <a:xfrm>
            <a:off x="0" y="0"/>
            <a:ext cx="9143544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pic>
      <p:sp>
        <p:nvSpPr>
          <p:cNvPr id="215" name="Google Shape;215;p40"/>
          <p:cNvSpPr txBox="1">
            <a:spLocks noGrp="1"/>
          </p:cNvSpPr>
          <p:nvPr>
            <p:ph type="ftr" idx="11"/>
          </p:nvPr>
        </p:nvSpPr>
        <p:spPr>
          <a:xfrm>
            <a:off x="428625" y="4941094"/>
            <a:ext cx="20574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216" name="Google Shape;216;p40"/>
          <p:cNvSpPr txBox="1">
            <a:spLocks noGrp="1"/>
          </p:cNvSpPr>
          <p:nvPr>
            <p:ph type="sldNum" idx="12"/>
          </p:nvPr>
        </p:nvSpPr>
        <p:spPr>
          <a:xfrm>
            <a:off x="8895262" y="4941094"/>
            <a:ext cx="248700" cy="1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4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50" tIns="68550" rIns="68550" bIns="685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50" tIns="68550" rIns="68550" bIns="6855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50" tIns="68550" rIns="68550" bIns="685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7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23" Type="http://schemas.openxmlformats.org/officeDocument/2006/relationships/image" Target="../media/image11.png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R="0"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R="0"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R="0"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R="0"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rm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779148" y="4739062"/>
            <a:ext cx="2421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rmAutofit lnSpcReduction="1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 rot="10800000" flipH="1">
            <a:off x="0" y="-118"/>
            <a:ext cx="9144000" cy="68700"/>
          </a:xfrm>
          <a:prstGeom prst="rect">
            <a:avLst/>
          </a:prstGeom>
          <a:gradFill>
            <a:gsLst>
              <a:gs pos="0">
                <a:srgbClr val="0E3594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R="0"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R="0"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R="0"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R="0"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 Black"/>
              <a:buNone/>
              <a:defRPr sz="21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rm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ldNum" idx="12"/>
          </p:nvPr>
        </p:nvSpPr>
        <p:spPr>
          <a:xfrm>
            <a:off x="8779148" y="4739062"/>
            <a:ext cx="2421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rmAutofit lnSpcReduction="1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0" descr="D:\web-logo-light-back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311051" y="165892"/>
            <a:ext cx="1661499" cy="39211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>
            <a:spLocks noGrp="1"/>
          </p:cNvSpPr>
          <p:nvPr>
            <p:ph type="title"/>
          </p:nvPr>
        </p:nvSpPr>
        <p:spPr>
          <a:xfrm>
            <a:off x="688700" y="1563225"/>
            <a:ext cx="4499100" cy="65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DAST</a:t>
            </a:r>
            <a:endParaRPr sz="3000" i="1">
              <a:solidFill>
                <a:srgbClr val="FFFF00"/>
              </a:solidFill>
            </a:endParaRPr>
          </a:p>
        </p:txBody>
      </p:sp>
      <p:sp>
        <p:nvSpPr>
          <p:cNvPr id="226" name="Google Shape;226;p42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7" name="Google Shape;227;p42"/>
          <p:cNvSpPr txBox="1">
            <a:spLocks noGrp="1"/>
          </p:cNvSpPr>
          <p:nvPr>
            <p:ph type="title"/>
          </p:nvPr>
        </p:nvSpPr>
        <p:spPr>
          <a:xfrm>
            <a:off x="688700" y="2214525"/>
            <a:ext cx="4499100" cy="419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/>
              <a:t>Find live vulnerabilities before attackers do. Continuous, authenticated, automation-driven web app testing.</a:t>
            </a:r>
            <a:endParaRPr sz="1200" b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>
            <a:spLocks noGrp="1"/>
          </p:cNvSpPr>
          <p:nvPr>
            <p:ph type="title"/>
          </p:nvPr>
        </p:nvSpPr>
        <p:spPr>
          <a:xfrm>
            <a:off x="-24300" y="10700"/>
            <a:ext cx="7305600" cy="6876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Outline</a:t>
            </a:r>
            <a:endParaRPr sz="2400"/>
          </a:p>
        </p:txBody>
      </p:sp>
      <p:grpSp>
        <p:nvGrpSpPr>
          <p:cNvPr id="233" name="Google Shape;233;p43"/>
          <p:cNvGrpSpPr/>
          <p:nvPr/>
        </p:nvGrpSpPr>
        <p:grpSpPr>
          <a:xfrm>
            <a:off x="281851" y="1318515"/>
            <a:ext cx="8195171" cy="387673"/>
            <a:chOff x="811756" y="1752600"/>
            <a:chExt cx="7166743" cy="588900"/>
          </a:xfrm>
        </p:grpSpPr>
        <p:sp>
          <p:nvSpPr>
            <p:cNvPr id="234" name="Google Shape;234;p43"/>
            <p:cNvSpPr/>
            <p:nvPr/>
          </p:nvSpPr>
          <p:spPr>
            <a:xfrm>
              <a:off x="811756" y="1752600"/>
              <a:ext cx="5919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2</a:t>
              </a:r>
              <a:endParaRPr sz="1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35" name="Google Shape;235;p43"/>
            <p:cNvSpPr/>
            <p:nvPr/>
          </p:nvSpPr>
          <p:spPr>
            <a:xfrm>
              <a:off x="1523999" y="1752600"/>
              <a:ext cx="64545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Arial"/>
                <a:buNone/>
              </a:pPr>
              <a:r>
                <a:rPr lang="en" sz="1800" b="1">
                  <a:solidFill>
                    <a:schemeClr val="lt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OWASP Top 10:2025 Coverage</a:t>
              </a:r>
              <a:endParaRPr sz="1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36" name="Google Shape;236;p43"/>
          <p:cNvGrpSpPr/>
          <p:nvPr/>
        </p:nvGrpSpPr>
        <p:grpSpPr>
          <a:xfrm>
            <a:off x="281851" y="1807446"/>
            <a:ext cx="8195187" cy="387676"/>
            <a:chOff x="811756" y="3057392"/>
            <a:chExt cx="7166757" cy="588904"/>
          </a:xfrm>
        </p:grpSpPr>
        <p:sp>
          <p:nvSpPr>
            <p:cNvPr id="237" name="Google Shape;237;p43"/>
            <p:cNvSpPr/>
            <p:nvPr/>
          </p:nvSpPr>
          <p:spPr>
            <a:xfrm>
              <a:off x="811756" y="3057396"/>
              <a:ext cx="5919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3</a:t>
              </a:r>
              <a:endParaRPr sz="1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38" name="Google Shape;238;p43"/>
            <p:cNvSpPr/>
            <p:nvPr/>
          </p:nvSpPr>
          <p:spPr>
            <a:xfrm>
              <a:off x="1524013" y="3057392"/>
              <a:ext cx="64545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 b="1">
                  <a:solidFill>
                    <a:schemeClr val="lt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Business Impacts &amp; Industry Insights</a:t>
              </a:r>
              <a:endParaRPr sz="1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39" name="Google Shape;239;p43"/>
          <p:cNvGrpSpPr/>
          <p:nvPr/>
        </p:nvGrpSpPr>
        <p:grpSpPr>
          <a:xfrm>
            <a:off x="281851" y="2284120"/>
            <a:ext cx="8195171" cy="387673"/>
            <a:chOff x="811756" y="3709794"/>
            <a:chExt cx="7166743" cy="588900"/>
          </a:xfrm>
        </p:grpSpPr>
        <p:sp>
          <p:nvSpPr>
            <p:cNvPr id="240" name="Google Shape;240;p43"/>
            <p:cNvSpPr/>
            <p:nvPr/>
          </p:nvSpPr>
          <p:spPr>
            <a:xfrm>
              <a:off x="811756" y="3709794"/>
              <a:ext cx="5919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4</a:t>
              </a:r>
              <a:endParaRPr sz="1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1" name="Google Shape;241;p43"/>
            <p:cNvSpPr/>
            <p:nvPr/>
          </p:nvSpPr>
          <p:spPr>
            <a:xfrm>
              <a:off x="1523999" y="3709794"/>
              <a:ext cx="64545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 b="1">
                  <a:solidFill>
                    <a:schemeClr val="lt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AccuKnox DAST Components &amp; Roadmap</a:t>
              </a:r>
              <a:endParaRPr sz="1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42" name="Google Shape;242;p43"/>
          <p:cNvGrpSpPr/>
          <p:nvPr/>
        </p:nvGrpSpPr>
        <p:grpSpPr>
          <a:xfrm>
            <a:off x="291944" y="841877"/>
            <a:ext cx="8183850" cy="387673"/>
            <a:chOff x="811756" y="1752600"/>
            <a:chExt cx="7156843" cy="588900"/>
          </a:xfrm>
        </p:grpSpPr>
        <p:sp>
          <p:nvSpPr>
            <p:cNvPr id="243" name="Google Shape;243;p43"/>
            <p:cNvSpPr/>
            <p:nvPr/>
          </p:nvSpPr>
          <p:spPr>
            <a:xfrm>
              <a:off x="811756" y="1752600"/>
              <a:ext cx="5919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1</a:t>
              </a:r>
              <a:endParaRPr sz="1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4" name="Google Shape;244;p43"/>
            <p:cNvSpPr/>
            <p:nvPr/>
          </p:nvSpPr>
          <p:spPr>
            <a:xfrm>
              <a:off x="1523999" y="1752600"/>
              <a:ext cx="64446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Arial"/>
                <a:buNone/>
              </a:pPr>
              <a:r>
                <a:rPr lang="en" sz="1800" b="1">
                  <a:solidFill>
                    <a:schemeClr val="lt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Problem Statements</a:t>
              </a:r>
              <a:endParaRPr sz="1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45" name="Google Shape;245;p43"/>
          <p:cNvGrpSpPr/>
          <p:nvPr/>
        </p:nvGrpSpPr>
        <p:grpSpPr>
          <a:xfrm>
            <a:off x="293916" y="2760758"/>
            <a:ext cx="8195171" cy="387673"/>
            <a:chOff x="811756" y="3709794"/>
            <a:chExt cx="7166743" cy="588900"/>
          </a:xfrm>
        </p:grpSpPr>
        <p:sp>
          <p:nvSpPr>
            <p:cNvPr id="246" name="Google Shape;246;p43"/>
            <p:cNvSpPr/>
            <p:nvPr/>
          </p:nvSpPr>
          <p:spPr>
            <a:xfrm>
              <a:off x="811756" y="3709794"/>
              <a:ext cx="5919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5</a:t>
              </a:r>
              <a:endParaRPr sz="1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7" name="Google Shape;247;p43"/>
            <p:cNvSpPr/>
            <p:nvPr/>
          </p:nvSpPr>
          <p:spPr>
            <a:xfrm>
              <a:off x="1523999" y="3709794"/>
              <a:ext cx="64545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Arial"/>
                <a:buNone/>
              </a:pPr>
              <a:r>
                <a:rPr lang="en" sz="1800" b="1">
                  <a:solidFill>
                    <a:schemeClr val="lt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Scan Types &amp; Engine</a:t>
              </a:r>
              <a:endParaRPr sz="18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48" name="Google Shape;248;p43"/>
          <p:cNvGrpSpPr/>
          <p:nvPr/>
        </p:nvGrpSpPr>
        <p:grpSpPr>
          <a:xfrm>
            <a:off x="293916" y="3237395"/>
            <a:ext cx="8195171" cy="387673"/>
            <a:chOff x="811756" y="3709794"/>
            <a:chExt cx="7166743" cy="588900"/>
          </a:xfrm>
        </p:grpSpPr>
        <p:sp>
          <p:nvSpPr>
            <p:cNvPr id="249" name="Google Shape;249;p43"/>
            <p:cNvSpPr/>
            <p:nvPr/>
          </p:nvSpPr>
          <p:spPr>
            <a:xfrm>
              <a:off x="811756" y="3709794"/>
              <a:ext cx="5919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6</a:t>
              </a:r>
              <a:endParaRPr sz="1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0" name="Google Shape;250;p43"/>
            <p:cNvSpPr/>
            <p:nvPr/>
          </p:nvSpPr>
          <p:spPr>
            <a:xfrm>
              <a:off x="1523999" y="3709794"/>
              <a:ext cx="64545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Arial"/>
                <a:buNone/>
              </a:pPr>
              <a:r>
                <a:rPr lang="en" sz="1800" b="1">
                  <a:solidFill>
                    <a:schemeClr val="lt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Architecture &amp; Deployment</a:t>
              </a:r>
              <a:endParaRPr sz="1800" b="1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51" name="Google Shape;251;p43"/>
          <p:cNvGrpSpPr/>
          <p:nvPr/>
        </p:nvGrpSpPr>
        <p:grpSpPr>
          <a:xfrm>
            <a:off x="293916" y="3772169"/>
            <a:ext cx="8195171" cy="387673"/>
            <a:chOff x="811756" y="3709794"/>
            <a:chExt cx="7166743" cy="588900"/>
          </a:xfrm>
        </p:grpSpPr>
        <p:sp>
          <p:nvSpPr>
            <p:cNvPr id="252" name="Google Shape;252;p43"/>
            <p:cNvSpPr/>
            <p:nvPr/>
          </p:nvSpPr>
          <p:spPr>
            <a:xfrm>
              <a:off x="811756" y="3709794"/>
              <a:ext cx="5919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7</a:t>
              </a:r>
              <a:endParaRPr sz="1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3" name="Google Shape;253;p43"/>
            <p:cNvSpPr/>
            <p:nvPr/>
          </p:nvSpPr>
          <p:spPr>
            <a:xfrm>
              <a:off x="1523999" y="3709794"/>
              <a:ext cx="64545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Arial"/>
                <a:buNone/>
              </a:pPr>
              <a:r>
                <a:rPr lang="en" sz="1800" b="1">
                  <a:solidFill>
                    <a:schemeClr val="lt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UI/UX Journey — Configuration to Findings</a:t>
              </a:r>
              <a:endParaRPr sz="1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54" name="Google Shape;254;p43"/>
          <p:cNvGrpSpPr/>
          <p:nvPr/>
        </p:nvGrpSpPr>
        <p:grpSpPr>
          <a:xfrm>
            <a:off x="293916" y="4306936"/>
            <a:ext cx="8195171" cy="387673"/>
            <a:chOff x="811756" y="3709794"/>
            <a:chExt cx="7166743" cy="588900"/>
          </a:xfrm>
        </p:grpSpPr>
        <p:sp>
          <p:nvSpPr>
            <p:cNvPr id="255" name="Google Shape;255;p43"/>
            <p:cNvSpPr/>
            <p:nvPr/>
          </p:nvSpPr>
          <p:spPr>
            <a:xfrm>
              <a:off x="811756" y="3709794"/>
              <a:ext cx="5919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8</a:t>
              </a:r>
              <a:endParaRPr sz="18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6" name="Google Shape;256;p43"/>
            <p:cNvSpPr/>
            <p:nvPr/>
          </p:nvSpPr>
          <p:spPr>
            <a:xfrm>
              <a:off x="1523999" y="3709794"/>
              <a:ext cx="6454500" cy="588900"/>
            </a:xfrm>
            <a:prstGeom prst="rect">
              <a:avLst/>
            </a:prstGeom>
            <a:solidFill>
              <a:srgbClr val="1120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"/>
                <a:buFont typeface="Arial"/>
                <a:buNone/>
              </a:pPr>
              <a:r>
                <a:rPr lang="en" sz="1800" b="1">
                  <a:solidFill>
                    <a:schemeClr val="lt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Rules Engine, Ticketing, Ask AI &amp; Scheduling</a:t>
              </a:r>
              <a:endParaRPr sz="1800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57" name="Google Shape;257;p43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44" title="399207776_560ef63d-dcb7-48f5-840c-271f85548a75.jpg"/>
          <p:cNvPicPr preferRelativeResize="0"/>
          <p:nvPr/>
        </p:nvPicPr>
        <p:blipFill rotWithShape="1">
          <a:blip r:embed="rId3">
            <a:alphaModFix/>
          </a:blip>
          <a:srcRect t="30290" b="30290"/>
          <a:stretch/>
        </p:blipFill>
        <p:spPr>
          <a:xfrm>
            <a:off x="0" y="-44825"/>
            <a:ext cx="9144003" cy="2031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4" title="Group 411272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1650" y="-744575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4" title="Star 1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8700" y="411050"/>
            <a:ext cx="2729375" cy="260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4"/>
          <p:cNvSpPr/>
          <p:nvPr/>
        </p:nvSpPr>
        <p:spPr>
          <a:xfrm>
            <a:off x="1400" y="1984175"/>
            <a:ext cx="9144000" cy="315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4"/>
          <p:cNvSpPr/>
          <p:nvPr/>
        </p:nvSpPr>
        <p:spPr>
          <a:xfrm>
            <a:off x="917987" y="2219784"/>
            <a:ext cx="1796425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Live XSS, SQLi, CSRF in production</a:t>
            </a:r>
            <a:endParaRPr sz="10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7" name="Google Shape;267;p44"/>
          <p:cNvSpPr/>
          <p:nvPr/>
        </p:nvSpPr>
        <p:spPr>
          <a:xfrm>
            <a:off x="2818952" y="2219784"/>
            <a:ext cx="1796425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Missing Security Headers (CSP, HSTS, XFO)</a:t>
            </a:r>
            <a:endParaRPr sz="10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8" name="Google Shape;268;p44"/>
          <p:cNvSpPr/>
          <p:nvPr/>
        </p:nvSpPr>
        <p:spPr>
          <a:xfrm>
            <a:off x="4692006" y="2219784"/>
            <a:ext cx="1796425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Sensitive Data in Responses (PII, PHI)</a:t>
            </a:r>
            <a:endParaRPr sz="10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9" name="Google Shape;269;p44"/>
          <p:cNvSpPr/>
          <p:nvPr/>
        </p:nvSpPr>
        <p:spPr>
          <a:xfrm>
            <a:off x="6565053" y="2219779"/>
            <a:ext cx="1434725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Unauthenticated areas crawled, auth areas missed</a:t>
            </a:r>
            <a:endParaRPr sz="12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0" name="Google Shape;270;p44"/>
          <p:cNvSpPr/>
          <p:nvPr/>
        </p:nvSpPr>
        <p:spPr>
          <a:xfrm>
            <a:off x="284001" y="2819700"/>
            <a:ext cx="1796425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Public + internal apps — same coverage gap</a:t>
            </a:r>
            <a:endParaRPr sz="10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1" name="Google Shape;271;p44"/>
          <p:cNvSpPr/>
          <p:nvPr/>
        </p:nvSpPr>
        <p:spPr>
          <a:xfrm>
            <a:off x="4040993" y="2819700"/>
            <a:ext cx="1796425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Shadow Endpoints</a:t>
            </a:r>
            <a:endParaRPr sz="12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5914059" y="2819704"/>
            <a:ext cx="1434725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Forgotten Dev/Stage URLs</a:t>
            </a:r>
            <a:endParaRPr sz="12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917974" y="3419625"/>
            <a:ext cx="1714194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DORA Compliance</a:t>
            </a:r>
            <a:endParaRPr sz="12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4" name="Google Shape;274;p44"/>
          <p:cNvSpPr/>
          <p:nvPr/>
        </p:nvSpPr>
        <p:spPr>
          <a:xfrm>
            <a:off x="2714757" y="3419623"/>
            <a:ext cx="1796425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GDPR Compliance</a:t>
            </a:r>
            <a:endParaRPr sz="12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5" name="Google Shape;275;p44"/>
          <p:cNvSpPr/>
          <p:nvPr/>
        </p:nvSpPr>
        <p:spPr>
          <a:xfrm>
            <a:off x="4587811" y="3419623"/>
            <a:ext cx="1796425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HIPAA Compliance</a:t>
            </a:r>
            <a:endParaRPr sz="12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6" name="Google Shape;276;p44"/>
          <p:cNvSpPr/>
          <p:nvPr/>
        </p:nvSpPr>
        <p:spPr>
          <a:xfrm>
            <a:off x="6460850" y="3419625"/>
            <a:ext cx="1857379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PCI-DSS Compliance</a:t>
            </a:r>
            <a:endParaRPr sz="12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7" name="Google Shape;277;p44"/>
          <p:cNvSpPr/>
          <p:nvPr/>
        </p:nvSpPr>
        <p:spPr>
          <a:xfrm>
            <a:off x="4741206" y="4019558"/>
            <a:ext cx="1857300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OWASP Compliance</a:t>
            </a:r>
            <a:endParaRPr sz="12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8" name="Google Shape;278;p44"/>
          <p:cNvSpPr/>
          <p:nvPr/>
        </p:nvSpPr>
        <p:spPr>
          <a:xfrm>
            <a:off x="2162487" y="2819700"/>
            <a:ext cx="1796425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Insecure Cookies </a:t>
            </a:r>
            <a:endParaRPr sz="10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 No HttpOnly / SameSite</a:t>
            </a:r>
            <a:endParaRPr sz="10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9" name="Google Shape;279;p44"/>
          <p:cNvSpPr/>
          <p:nvPr/>
        </p:nvSpPr>
        <p:spPr>
          <a:xfrm>
            <a:off x="7425432" y="2819704"/>
            <a:ext cx="1434725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Open Redirects / SSRF</a:t>
            </a:r>
            <a:endParaRPr sz="12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0" name="Google Shape;280;p44"/>
          <p:cNvSpPr txBox="1">
            <a:spLocks noGrp="1"/>
          </p:cNvSpPr>
          <p:nvPr>
            <p:ph type="title"/>
          </p:nvPr>
        </p:nvSpPr>
        <p:spPr>
          <a:xfrm>
            <a:off x="1400" y="-9750"/>
            <a:ext cx="7397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Problem Statements</a:t>
            </a:r>
            <a:endParaRPr/>
          </a:p>
        </p:txBody>
      </p:sp>
      <p:pic>
        <p:nvPicPr>
          <p:cNvPr id="281" name="Google Shape;281;p44" title="logo-dark-bac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4"/>
          <p:cNvSpPr txBox="1"/>
          <p:nvPr/>
        </p:nvSpPr>
        <p:spPr>
          <a:xfrm>
            <a:off x="3390600" y="1527375"/>
            <a:ext cx="229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does DAST solve?</a:t>
            </a:r>
            <a:endParaRPr sz="1200">
              <a:solidFill>
                <a:srgbClr val="0059E5"/>
              </a:solidFill>
            </a:endParaRPr>
          </a:p>
        </p:txBody>
      </p:sp>
      <p:sp>
        <p:nvSpPr>
          <p:cNvPr id="283" name="Google Shape;283;p44"/>
          <p:cNvSpPr txBox="1"/>
          <p:nvPr/>
        </p:nvSpPr>
        <p:spPr>
          <a:xfrm>
            <a:off x="3531550" y="1136000"/>
            <a:ext cx="208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DAST</a:t>
            </a:r>
            <a:endParaRPr sz="24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4" name="Google Shape;284;p44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5" name="Google Shape;285;p44"/>
          <p:cNvSpPr/>
          <p:nvPr/>
        </p:nvSpPr>
        <p:spPr>
          <a:xfrm>
            <a:off x="2548213" y="4019550"/>
            <a:ext cx="2081100" cy="498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rgbClr val="0059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Broken Authentication</a:t>
            </a:r>
            <a:endParaRPr sz="12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/>
          <p:nvPr/>
        </p:nvSpPr>
        <p:spPr>
          <a:xfrm>
            <a:off x="4635463" y="2194975"/>
            <a:ext cx="4089000" cy="708000"/>
          </a:xfrm>
          <a:prstGeom prst="roundRect">
            <a:avLst>
              <a:gd name="adj" fmla="val 11928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45"/>
          <p:cNvSpPr/>
          <p:nvPr/>
        </p:nvSpPr>
        <p:spPr>
          <a:xfrm rot="5400000">
            <a:off x="7850113" y="2027838"/>
            <a:ext cx="705600" cy="1043100"/>
          </a:xfrm>
          <a:prstGeom prst="round2SameRect">
            <a:avLst>
              <a:gd name="adj1" fmla="val 11957"/>
              <a:gd name="adj2" fmla="val 0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5"/>
          <p:cNvSpPr/>
          <p:nvPr/>
        </p:nvSpPr>
        <p:spPr>
          <a:xfrm>
            <a:off x="419538" y="2225300"/>
            <a:ext cx="4089000" cy="708000"/>
          </a:xfrm>
          <a:prstGeom prst="roundRect">
            <a:avLst>
              <a:gd name="adj" fmla="val 11928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45"/>
          <p:cNvSpPr/>
          <p:nvPr/>
        </p:nvSpPr>
        <p:spPr>
          <a:xfrm>
            <a:off x="419538" y="3039522"/>
            <a:ext cx="4089000" cy="708000"/>
          </a:xfrm>
          <a:prstGeom prst="roundRect">
            <a:avLst>
              <a:gd name="adj" fmla="val 11928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45"/>
          <p:cNvSpPr/>
          <p:nvPr/>
        </p:nvSpPr>
        <p:spPr>
          <a:xfrm>
            <a:off x="4633213" y="1396172"/>
            <a:ext cx="4089000" cy="708000"/>
          </a:xfrm>
          <a:prstGeom prst="roundRect">
            <a:avLst>
              <a:gd name="adj" fmla="val 11928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45"/>
          <p:cNvSpPr/>
          <p:nvPr/>
        </p:nvSpPr>
        <p:spPr>
          <a:xfrm rot="5400000">
            <a:off x="3638688" y="2058163"/>
            <a:ext cx="705600" cy="1043100"/>
          </a:xfrm>
          <a:prstGeom prst="round2SameRect">
            <a:avLst>
              <a:gd name="adj1" fmla="val 11957"/>
              <a:gd name="adj2" fmla="val 0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45"/>
          <p:cNvSpPr/>
          <p:nvPr/>
        </p:nvSpPr>
        <p:spPr>
          <a:xfrm rot="5400000">
            <a:off x="3638688" y="2871975"/>
            <a:ext cx="705600" cy="1043100"/>
          </a:xfrm>
          <a:prstGeom prst="round2SameRect">
            <a:avLst>
              <a:gd name="adj1" fmla="val 11957"/>
              <a:gd name="adj2" fmla="val 0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45"/>
          <p:cNvSpPr/>
          <p:nvPr/>
        </p:nvSpPr>
        <p:spPr>
          <a:xfrm rot="5400000">
            <a:off x="7852363" y="1227425"/>
            <a:ext cx="705600" cy="1043100"/>
          </a:xfrm>
          <a:prstGeom prst="round2SameRect">
            <a:avLst>
              <a:gd name="adj1" fmla="val 11957"/>
              <a:gd name="adj2" fmla="val 0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45"/>
          <p:cNvSpPr/>
          <p:nvPr/>
        </p:nvSpPr>
        <p:spPr>
          <a:xfrm>
            <a:off x="419538" y="1395975"/>
            <a:ext cx="4089000" cy="708000"/>
          </a:xfrm>
          <a:prstGeom prst="roundRect">
            <a:avLst>
              <a:gd name="adj" fmla="val 11928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45"/>
          <p:cNvSpPr/>
          <p:nvPr/>
        </p:nvSpPr>
        <p:spPr>
          <a:xfrm rot="5400000">
            <a:off x="3638688" y="1227425"/>
            <a:ext cx="705600" cy="1043100"/>
          </a:xfrm>
          <a:prstGeom prst="round2SameRect">
            <a:avLst>
              <a:gd name="adj1" fmla="val 11957"/>
              <a:gd name="adj2" fmla="val 0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45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OWASP Top 10:2025</a:t>
            </a:r>
            <a:endParaRPr/>
          </a:p>
        </p:txBody>
      </p:sp>
      <p:sp>
        <p:nvSpPr>
          <p:cNvPr id="301" name="Google Shape;301;p45"/>
          <p:cNvSpPr txBox="1">
            <a:spLocks noGrp="1"/>
          </p:cNvSpPr>
          <p:nvPr>
            <p:ph type="sldNum" idx="12"/>
          </p:nvPr>
        </p:nvSpPr>
        <p:spPr>
          <a:xfrm>
            <a:off x="8728887" y="4883719"/>
            <a:ext cx="248700" cy="111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02" name="Google Shape;302;p45"/>
          <p:cNvSpPr txBox="1"/>
          <p:nvPr/>
        </p:nvSpPr>
        <p:spPr>
          <a:xfrm>
            <a:off x="465588" y="1471825"/>
            <a:ext cx="30000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A01:2025</a:t>
            </a:r>
            <a:endParaRPr sz="1200">
              <a:solidFill>
                <a:srgbClr val="66666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Broken Access Control</a:t>
            </a:r>
            <a:endParaRPr sz="12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03" name="Google Shape;303;p45"/>
          <p:cNvSpPr/>
          <p:nvPr/>
        </p:nvSpPr>
        <p:spPr>
          <a:xfrm>
            <a:off x="3679513" y="1596700"/>
            <a:ext cx="667800" cy="275700"/>
          </a:xfrm>
          <a:prstGeom prst="roundRect">
            <a:avLst>
              <a:gd name="adj" fmla="val 11928"/>
            </a:avLst>
          </a:prstGeom>
          <a:solidFill>
            <a:srgbClr val="00D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COVERED</a:t>
            </a:r>
            <a:endParaRPr sz="8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04" name="Google Shape;304;p45"/>
          <p:cNvSpPr txBox="1"/>
          <p:nvPr/>
        </p:nvSpPr>
        <p:spPr>
          <a:xfrm>
            <a:off x="465588" y="23037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A05:2025</a:t>
            </a:r>
            <a:endParaRPr sz="1200">
              <a:solidFill>
                <a:srgbClr val="66666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Security Misconfiguration</a:t>
            </a:r>
            <a:endParaRPr sz="12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05" name="Google Shape;305;p45"/>
          <p:cNvSpPr/>
          <p:nvPr/>
        </p:nvSpPr>
        <p:spPr>
          <a:xfrm>
            <a:off x="3679513" y="2426025"/>
            <a:ext cx="667800" cy="275700"/>
          </a:xfrm>
          <a:prstGeom prst="roundRect">
            <a:avLst>
              <a:gd name="adj" fmla="val 11928"/>
            </a:avLst>
          </a:prstGeom>
          <a:solidFill>
            <a:srgbClr val="00D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COVERED</a:t>
            </a:r>
            <a:endParaRPr sz="8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06" name="Google Shape;306;p45"/>
          <p:cNvSpPr txBox="1"/>
          <p:nvPr/>
        </p:nvSpPr>
        <p:spPr>
          <a:xfrm>
            <a:off x="4681513" y="22708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A07:2025</a:t>
            </a:r>
            <a:endParaRPr sz="1200">
              <a:solidFill>
                <a:srgbClr val="66666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Authentication Failures</a:t>
            </a:r>
            <a:endParaRPr sz="12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07" name="Google Shape;307;p45"/>
          <p:cNvSpPr/>
          <p:nvPr/>
        </p:nvSpPr>
        <p:spPr>
          <a:xfrm>
            <a:off x="7895438" y="2395700"/>
            <a:ext cx="667800" cy="275700"/>
          </a:xfrm>
          <a:prstGeom prst="roundRect">
            <a:avLst>
              <a:gd name="adj" fmla="val 11928"/>
            </a:avLst>
          </a:prstGeom>
          <a:solidFill>
            <a:srgbClr val="00D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COVERED</a:t>
            </a:r>
            <a:endParaRPr sz="8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08" name="Google Shape;308;p45"/>
          <p:cNvSpPr txBox="1"/>
          <p:nvPr/>
        </p:nvSpPr>
        <p:spPr>
          <a:xfrm>
            <a:off x="465588" y="3117997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A03:2025</a:t>
            </a:r>
            <a:endParaRPr sz="1200">
              <a:solidFill>
                <a:srgbClr val="66666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Injection</a:t>
            </a:r>
            <a:endParaRPr sz="12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09" name="Google Shape;309;p45"/>
          <p:cNvSpPr/>
          <p:nvPr/>
        </p:nvSpPr>
        <p:spPr>
          <a:xfrm>
            <a:off x="3679513" y="3240247"/>
            <a:ext cx="667800" cy="275700"/>
          </a:xfrm>
          <a:prstGeom prst="roundRect">
            <a:avLst>
              <a:gd name="adj" fmla="val 11928"/>
            </a:avLst>
          </a:prstGeom>
          <a:solidFill>
            <a:srgbClr val="00D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COVERED</a:t>
            </a:r>
            <a:endParaRPr sz="8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10" name="Google Shape;310;p45"/>
          <p:cNvSpPr txBox="1"/>
          <p:nvPr/>
        </p:nvSpPr>
        <p:spPr>
          <a:xfrm>
            <a:off x="4679263" y="1474647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A10:2025</a:t>
            </a:r>
            <a:endParaRPr sz="1200">
              <a:solidFill>
                <a:srgbClr val="66666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Server-Side Request Forgery</a:t>
            </a:r>
            <a:endParaRPr sz="12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11" name="Google Shape;311;p45"/>
          <p:cNvSpPr/>
          <p:nvPr/>
        </p:nvSpPr>
        <p:spPr>
          <a:xfrm>
            <a:off x="7893188" y="1596897"/>
            <a:ext cx="667800" cy="275700"/>
          </a:xfrm>
          <a:prstGeom prst="roundRect">
            <a:avLst>
              <a:gd name="adj" fmla="val 11928"/>
            </a:avLst>
          </a:prstGeom>
          <a:solidFill>
            <a:srgbClr val="00D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COVERED</a:t>
            </a:r>
            <a:endParaRPr sz="8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6"/>
          <p:cNvSpPr/>
          <p:nvPr/>
        </p:nvSpPr>
        <p:spPr>
          <a:xfrm>
            <a:off x="4626425" y="854300"/>
            <a:ext cx="4089000" cy="4112700"/>
          </a:xfrm>
          <a:prstGeom prst="roundRect">
            <a:avLst>
              <a:gd name="adj" fmla="val 3234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46"/>
          <p:cNvSpPr/>
          <p:nvPr/>
        </p:nvSpPr>
        <p:spPr>
          <a:xfrm>
            <a:off x="419538" y="854300"/>
            <a:ext cx="4089000" cy="708000"/>
          </a:xfrm>
          <a:prstGeom prst="roundRect">
            <a:avLst>
              <a:gd name="adj" fmla="val 11928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46"/>
          <p:cNvSpPr/>
          <p:nvPr/>
        </p:nvSpPr>
        <p:spPr>
          <a:xfrm rot="5400000">
            <a:off x="3638688" y="685750"/>
            <a:ext cx="705600" cy="1043100"/>
          </a:xfrm>
          <a:prstGeom prst="round2SameRect">
            <a:avLst>
              <a:gd name="adj1" fmla="val 11957"/>
              <a:gd name="adj2" fmla="val 0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46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OWASP Top 10:2025</a:t>
            </a:r>
            <a:endParaRPr/>
          </a:p>
        </p:txBody>
      </p:sp>
      <p:sp>
        <p:nvSpPr>
          <p:cNvPr id="320" name="Google Shape;320;p46"/>
          <p:cNvSpPr txBox="1"/>
          <p:nvPr/>
        </p:nvSpPr>
        <p:spPr>
          <a:xfrm>
            <a:off x="465588" y="930150"/>
            <a:ext cx="30000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rPr>
              <a:t>A01:2025</a:t>
            </a:r>
            <a:endParaRPr sz="1200">
              <a:solidFill>
                <a:srgbClr val="66666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Broken Access Control</a:t>
            </a:r>
            <a:endParaRPr sz="12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21" name="Google Shape;321;p46"/>
          <p:cNvSpPr/>
          <p:nvPr/>
        </p:nvSpPr>
        <p:spPr>
          <a:xfrm>
            <a:off x="3679513" y="1055025"/>
            <a:ext cx="667800" cy="275700"/>
          </a:xfrm>
          <a:prstGeom prst="roundRect">
            <a:avLst>
              <a:gd name="adj" fmla="val 11928"/>
            </a:avLst>
          </a:prstGeom>
          <a:solidFill>
            <a:srgbClr val="00D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COVERED</a:t>
            </a:r>
            <a:endParaRPr sz="8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322" name="Google Shape;322;p46"/>
          <p:cNvSpPr txBox="1"/>
          <p:nvPr/>
        </p:nvSpPr>
        <p:spPr>
          <a:xfrm>
            <a:off x="4670275" y="1511850"/>
            <a:ext cx="38259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AutoNum type="arabicPeriod"/>
            </a:pPr>
            <a:r>
              <a:rPr lang="en" sz="1200">
                <a:latin typeface="Space Grotesk"/>
                <a:ea typeface="Space Grotesk"/>
                <a:cs typeface="Space Grotesk"/>
                <a:sym typeface="Space Grotesk"/>
              </a:rPr>
              <a:t>Forced Browsing — DAST attempts auth-only URLs without credentials to detect missing access controls.</a:t>
            </a:r>
            <a:endParaRPr sz="1200"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342900" lvl="0" indent="-190500" algn="l" rtl="0">
              <a:spcBef>
                <a:spcPts val="1000"/>
              </a:spcBef>
              <a:spcAft>
                <a:spcPts val="1000"/>
              </a:spcAft>
              <a:buSzPts val="1200"/>
              <a:buFont typeface="Space Grotesk"/>
              <a:buAutoNum type="arabicPeriod"/>
            </a:pPr>
            <a:r>
              <a:rPr lang="en" sz="1200">
                <a:latin typeface="Space Grotesk"/>
                <a:ea typeface="Space Grotesk"/>
                <a:cs typeface="Space Grotesk"/>
                <a:sym typeface="Space Grotesk"/>
              </a:rPr>
              <a:t>IDOR — Object identifier tampering in URLs and JSON bodies.</a:t>
            </a:r>
            <a:endParaRPr sz="12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3" name="Google Shape;323;p46"/>
          <p:cNvSpPr/>
          <p:nvPr/>
        </p:nvSpPr>
        <p:spPr>
          <a:xfrm>
            <a:off x="419550" y="1648050"/>
            <a:ext cx="4089000" cy="3318900"/>
          </a:xfrm>
          <a:prstGeom prst="roundRect">
            <a:avLst>
              <a:gd name="adj" fmla="val 3234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46"/>
          <p:cNvSpPr txBox="1"/>
          <p:nvPr/>
        </p:nvSpPr>
        <p:spPr>
          <a:xfrm>
            <a:off x="4787900" y="961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AccuKnox Coverage</a:t>
            </a:r>
            <a:endParaRPr b="1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5" name="Google Shape;325;p46"/>
          <p:cNvSpPr txBox="1"/>
          <p:nvPr/>
        </p:nvSpPr>
        <p:spPr>
          <a:xfrm>
            <a:off x="465600" y="1687500"/>
            <a:ext cx="3958500" cy="29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Access control failures let users act outside intended permissions — unauthorized disclosure, modification, or destruction of data.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Bypassing access control checks by modifying the URL (parameter tampering), internal application state, or the HTML page.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Viewing or editing another user's account by changing its unique identifier (insecure direct object references).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Elevation of privilege — acting as a user without being logged in, or gaining admin rights.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CORS misconfiguration allowing API/web access from unauthorized origins.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Force browsing to authenticated pages as an unauthenticated user.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26" name="Google Shape;32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5350" y="3060200"/>
            <a:ext cx="3891052" cy="99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/>
          <p:nvPr/>
        </p:nvSpPr>
        <p:spPr>
          <a:xfrm>
            <a:off x="4626425" y="854300"/>
            <a:ext cx="4089000" cy="4112700"/>
          </a:xfrm>
          <a:prstGeom prst="roundRect">
            <a:avLst>
              <a:gd name="adj" fmla="val 3234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47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OWASP Top 10:2025</a:t>
            </a:r>
            <a:endParaRPr/>
          </a:p>
        </p:txBody>
      </p:sp>
      <p:sp>
        <p:nvSpPr>
          <p:cNvPr id="333" name="Google Shape;333;p47"/>
          <p:cNvSpPr txBox="1"/>
          <p:nvPr/>
        </p:nvSpPr>
        <p:spPr>
          <a:xfrm>
            <a:off x="4787900" y="1511850"/>
            <a:ext cx="36513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Space Grotesk"/>
                <a:ea typeface="Space Grotesk"/>
                <a:cs typeface="Space Grotesk"/>
                <a:sym typeface="Space Grotesk"/>
              </a:rPr>
              <a:t>Missing security headers (CSP, X-Frame-Options, X-Content-Type-Options, HSTS) flagged on every endpoint.</a:t>
            </a:r>
            <a:endParaRPr sz="12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4" name="Google Shape;334;p47"/>
          <p:cNvSpPr/>
          <p:nvPr/>
        </p:nvSpPr>
        <p:spPr>
          <a:xfrm>
            <a:off x="419550" y="1648050"/>
            <a:ext cx="4089000" cy="3318900"/>
          </a:xfrm>
          <a:prstGeom prst="roundRect">
            <a:avLst>
              <a:gd name="adj" fmla="val 3234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47"/>
          <p:cNvSpPr txBox="1"/>
          <p:nvPr/>
        </p:nvSpPr>
        <p:spPr>
          <a:xfrm>
            <a:off x="4787900" y="961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AccuKnox Coverage</a:t>
            </a:r>
            <a:endParaRPr b="1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6" name="Google Shape;336;p47"/>
          <p:cNvSpPr txBox="1"/>
          <p:nvPr/>
        </p:nvSpPr>
        <p:spPr>
          <a:xfrm>
            <a:off x="465600" y="1687500"/>
            <a:ext cx="3958500" cy="3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Security misconfiguration is when a system, application, or cloud service is set up incorrectly from a security perspective.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Missing security hardening across the application stack — default settings, debug modes, sample apps left enabled.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Unnecessary features installed (open ports, debug endpoints, sample pages, default accounts).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Default accounts and passwords still enabled and unchanged.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Error handling reveals stack traces or overly informative messages.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Latest security features disabled or not configured securely after upgrades.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Security headers absent or set to insecure values — no CSP, HSTS, or X-Frame-Options.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37" name="Google Shape;337;p47"/>
          <p:cNvGrpSpPr/>
          <p:nvPr/>
        </p:nvGrpSpPr>
        <p:grpSpPr>
          <a:xfrm>
            <a:off x="417288" y="859063"/>
            <a:ext cx="4093500" cy="708000"/>
            <a:chOff x="419538" y="1683625"/>
            <a:chExt cx="4093500" cy="708000"/>
          </a:xfrm>
        </p:grpSpPr>
        <p:sp>
          <p:nvSpPr>
            <p:cNvPr id="338" name="Google Shape;338;p47"/>
            <p:cNvSpPr/>
            <p:nvPr/>
          </p:nvSpPr>
          <p:spPr>
            <a:xfrm>
              <a:off x="419538" y="1683625"/>
              <a:ext cx="4089000" cy="708000"/>
            </a:xfrm>
            <a:prstGeom prst="roundRect">
              <a:avLst>
                <a:gd name="adj" fmla="val 11928"/>
              </a:avLst>
            </a:prstGeom>
            <a:solidFill>
              <a:schemeClr val="lt1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7"/>
            <p:cNvSpPr/>
            <p:nvPr/>
          </p:nvSpPr>
          <p:spPr>
            <a:xfrm rot="5400000">
              <a:off x="3638688" y="1516488"/>
              <a:ext cx="705600" cy="1043100"/>
            </a:xfrm>
            <a:prstGeom prst="round2SameRect">
              <a:avLst>
                <a:gd name="adj1" fmla="val 11957"/>
                <a:gd name="adj2" fmla="val 0"/>
              </a:avLst>
            </a:prstGeom>
            <a:solidFill>
              <a:srgbClr val="F3F3F3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7"/>
            <p:cNvSpPr txBox="1"/>
            <p:nvPr/>
          </p:nvSpPr>
          <p:spPr>
            <a:xfrm>
              <a:off x="465588" y="1762100"/>
              <a:ext cx="3000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6666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A05:2025</a:t>
              </a:r>
              <a:endParaRPr sz="12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Security Misconfiguration</a:t>
              </a:r>
              <a:endParaRPr sz="1200"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341" name="Google Shape;341;p47"/>
            <p:cNvSpPr/>
            <p:nvPr/>
          </p:nvSpPr>
          <p:spPr>
            <a:xfrm>
              <a:off x="3679513" y="1884350"/>
              <a:ext cx="667800" cy="275700"/>
            </a:xfrm>
            <a:prstGeom prst="roundRect">
              <a:avLst>
                <a:gd name="adj" fmla="val 11928"/>
              </a:avLst>
            </a:prstGeom>
            <a:solidFill>
              <a:srgbClr val="00D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COVERED</a:t>
              </a:r>
              <a:endParaRPr sz="800"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  <p:pic>
        <p:nvPicPr>
          <p:cNvPr id="342" name="Google Shape;34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475" y="2099425"/>
            <a:ext cx="3000003" cy="2687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8"/>
          <p:cNvSpPr/>
          <p:nvPr/>
        </p:nvSpPr>
        <p:spPr>
          <a:xfrm>
            <a:off x="4626425" y="854300"/>
            <a:ext cx="4089000" cy="4112700"/>
          </a:xfrm>
          <a:prstGeom prst="roundRect">
            <a:avLst>
              <a:gd name="adj" fmla="val 3234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48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OWASP Top 10:2025</a:t>
            </a:r>
            <a:endParaRPr/>
          </a:p>
        </p:txBody>
      </p:sp>
      <p:sp>
        <p:nvSpPr>
          <p:cNvPr id="349" name="Google Shape;349;p48"/>
          <p:cNvSpPr txBox="1"/>
          <p:nvPr/>
        </p:nvSpPr>
        <p:spPr>
          <a:xfrm>
            <a:off x="4787900" y="1511850"/>
            <a:ext cx="36513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Space Grotesk"/>
                <a:ea typeface="Space Grotesk"/>
                <a:cs typeface="Space Grotesk"/>
                <a:sym typeface="Space Grotesk"/>
              </a:rPr>
              <a:t>SQL Injection, NoSQL Injection, OS Command Injection — hundreds of payload variants tested per parameter.</a:t>
            </a:r>
            <a:endParaRPr sz="12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0" name="Google Shape;350;p48"/>
          <p:cNvSpPr/>
          <p:nvPr/>
        </p:nvSpPr>
        <p:spPr>
          <a:xfrm>
            <a:off x="419550" y="1648050"/>
            <a:ext cx="4089000" cy="3318900"/>
          </a:xfrm>
          <a:prstGeom prst="roundRect">
            <a:avLst>
              <a:gd name="adj" fmla="val 3234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48"/>
          <p:cNvSpPr txBox="1"/>
          <p:nvPr/>
        </p:nvSpPr>
        <p:spPr>
          <a:xfrm>
            <a:off x="4787900" y="961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AccuKnox Coverage</a:t>
            </a:r>
            <a:endParaRPr b="1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2" name="Google Shape;352;p48"/>
          <p:cNvSpPr txBox="1"/>
          <p:nvPr/>
        </p:nvSpPr>
        <p:spPr>
          <a:xfrm>
            <a:off x="465600" y="1687500"/>
            <a:ext cx="3958500" cy="3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An injection vulnerability is an application flaw that lets untrusted user input reach an interpreter and execute unintended commands.</a:t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User-supplied data not validated, filtered, or sanitized.</a:t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65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Space Grotesk"/>
              <a:buChar char="●"/>
            </a:pP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Dynamic queries or non-parameterized calls used directly in the interpreter.</a:t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Space Grotesk"/>
              <a:buChar char="●"/>
            </a:pP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Unsanitized data used in ORM search parameters to extract sensitive records.</a:t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Space Grotesk"/>
              <a:buChar char="●"/>
            </a:pP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Hostile data concatenated into SQL or shell commands at runtime.</a:t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Space Grotesk"/>
              <a:buChar char="●"/>
            </a:pP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DAST sends real attack payloads against every discovered parameter to confirm exploitability.</a:t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53" name="Google Shape;353;p48"/>
          <p:cNvGrpSpPr/>
          <p:nvPr/>
        </p:nvGrpSpPr>
        <p:grpSpPr>
          <a:xfrm>
            <a:off x="417288" y="859072"/>
            <a:ext cx="4093500" cy="708000"/>
            <a:chOff x="419538" y="2497847"/>
            <a:chExt cx="4093500" cy="708000"/>
          </a:xfrm>
        </p:grpSpPr>
        <p:sp>
          <p:nvSpPr>
            <p:cNvPr id="354" name="Google Shape;354;p48"/>
            <p:cNvSpPr/>
            <p:nvPr/>
          </p:nvSpPr>
          <p:spPr>
            <a:xfrm>
              <a:off x="419538" y="2497847"/>
              <a:ext cx="4089000" cy="708000"/>
            </a:xfrm>
            <a:prstGeom prst="roundRect">
              <a:avLst>
                <a:gd name="adj" fmla="val 11928"/>
              </a:avLst>
            </a:prstGeom>
            <a:solidFill>
              <a:schemeClr val="lt1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8"/>
            <p:cNvSpPr/>
            <p:nvPr/>
          </p:nvSpPr>
          <p:spPr>
            <a:xfrm rot="5400000">
              <a:off x="3638688" y="2330300"/>
              <a:ext cx="705600" cy="1043100"/>
            </a:xfrm>
            <a:prstGeom prst="round2SameRect">
              <a:avLst>
                <a:gd name="adj1" fmla="val 11957"/>
                <a:gd name="adj2" fmla="val 0"/>
              </a:avLst>
            </a:prstGeom>
            <a:solidFill>
              <a:srgbClr val="F3F3F3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8"/>
            <p:cNvSpPr txBox="1"/>
            <p:nvPr/>
          </p:nvSpPr>
          <p:spPr>
            <a:xfrm>
              <a:off x="465588" y="2576322"/>
              <a:ext cx="3000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6666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A03:2025</a:t>
              </a:r>
              <a:endParaRPr sz="12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Injection</a:t>
              </a:r>
              <a:endParaRPr sz="1200"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357" name="Google Shape;357;p48"/>
            <p:cNvSpPr/>
            <p:nvPr/>
          </p:nvSpPr>
          <p:spPr>
            <a:xfrm>
              <a:off x="3679513" y="2698572"/>
              <a:ext cx="667800" cy="275700"/>
            </a:xfrm>
            <a:prstGeom prst="roundRect">
              <a:avLst>
                <a:gd name="adj" fmla="val 11928"/>
              </a:avLst>
            </a:prstGeom>
            <a:solidFill>
              <a:srgbClr val="00D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COVERED</a:t>
              </a:r>
              <a:endParaRPr sz="800"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  <p:pic>
        <p:nvPicPr>
          <p:cNvPr id="358" name="Google Shape;35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7900" y="2361900"/>
            <a:ext cx="3777925" cy="192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9"/>
          <p:cNvSpPr/>
          <p:nvPr/>
        </p:nvSpPr>
        <p:spPr>
          <a:xfrm>
            <a:off x="4626425" y="854300"/>
            <a:ext cx="4089000" cy="4112700"/>
          </a:xfrm>
          <a:prstGeom prst="roundRect">
            <a:avLst>
              <a:gd name="adj" fmla="val 3234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49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OWASP Top 10:2025</a:t>
            </a:r>
            <a:endParaRPr/>
          </a:p>
        </p:txBody>
      </p:sp>
      <p:sp>
        <p:nvSpPr>
          <p:cNvPr id="365" name="Google Shape;365;p49"/>
          <p:cNvSpPr txBox="1"/>
          <p:nvPr/>
        </p:nvSpPr>
        <p:spPr>
          <a:xfrm>
            <a:off x="4787900" y="1511850"/>
            <a:ext cx="36513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Space Grotesk"/>
                <a:ea typeface="Space Grotesk"/>
                <a:cs typeface="Space Grotesk"/>
                <a:sym typeface="Space Grotesk"/>
              </a:rPr>
              <a:t>Server-Side Request Forgery (SSRF) detected via callback-based out-of-band testing.</a:t>
            </a:r>
            <a:endParaRPr sz="12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6" name="Google Shape;366;p49"/>
          <p:cNvSpPr/>
          <p:nvPr/>
        </p:nvSpPr>
        <p:spPr>
          <a:xfrm>
            <a:off x="419550" y="1648050"/>
            <a:ext cx="4089000" cy="3318900"/>
          </a:xfrm>
          <a:prstGeom prst="roundRect">
            <a:avLst>
              <a:gd name="adj" fmla="val 3234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49"/>
          <p:cNvSpPr txBox="1"/>
          <p:nvPr/>
        </p:nvSpPr>
        <p:spPr>
          <a:xfrm>
            <a:off x="4787900" y="961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AccuKnox Coverage</a:t>
            </a:r>
            <a:endParaRPr b="1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8" name="Google Shape;368;p49"/>
          <p:cNvSpPr txBox="1"/>
          <p:nvPr/>
        </p:nvSpPr>
        <p:spPr>
          <a:xfrm>
            <a:off x="465600" y="1687500"/>
            <a:ext cx="3958500" cy="24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SSRF flaws occur when an app fetches a remote resource without validating the user-supplied URL.</a:t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Attackers coerce the application to send crafted requests to internal or unintended destinations.</a:t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65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Space Grotesk"/>
              <a:buChar char="●"/>
            </a:pP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Bypasses network controls (VPCs, firewalls) by abusing trusted server-side traffic.</a:t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Space Grotesk"/>
              <a:buChar char="●"/>
            </a:pP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Common targets: cloud metadata endpoints (169.254.169.254), internal admin panels, databases.</a:t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Space Grotesk"/>
              <a:buChar char="●"/>
            </a:pP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DAST runs out-of-band callbacks to confirm exploitability with zero false positives.</a:t>
            </a:r>
            <a:endParaRPr sz="8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Space Grotesk"/>
              <a:buChar char="●"/>
            </a:pPr>
            <a:endParaRPr sz="8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69" name="Google Shape;369;p49"/>
          <p:cNvGrpSpPr/>
          <p:nvPr/>
        </p:nvGrpSpPr>
        <p:grpSpPr>
          <a:xfrm>
            <a:off x="419538" y="859072"/>
            <a:ext cx="4093500" cy="708000"/>
            <a:chOff x="419538" y="4141397"/>
            <a:chExt cx="4093500" cy="708000"/>
          </a:xfrm>
        </p:grpSpPr>
        <p:sp>
          <p:nvSpPr>
            <p:cNvPr id="370" name="Google Shape;370;p49"/>
            <p:cNvSpPr/>
            <p:nvPr/>
          </p:nvSpPr>
          <p:spPr>
            <a:xfrm>
              <a:off x="419538" y="4141397"/>
              <a:ext cx="4089000" cy="708000"/>
            </a:xfrm>
            <a:prstGeom prst="roundRect">
              <a:avLst>
                <a:gd name="adj" fmla="val 11928"/>
              </a:avLst>
            </a:prstGeom>
            <a:solidFill>
              <a:schemeClr val="lt1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9"/>
            <p:cNvSpPr/>
            <p:nvPr/>
          </p:nvSpPr>
          <p:spPr>
            <a:xfrm rot="5400000">
              <a:off x="3638688" y="3972650"/>
              <a:ext cx="705600" cy="1043100"/>
            </a:xfrm>
            <a:prstGeom prst="round2SameRect">
              <a:avLst>
                <a:gd name="adj1" fmla="val 11957"/>
                <a:gd name="adj2" fmla="val 0"/>
              </a:avLst>
            </a:prstGeom>
            <a:solidFill>
              <a:srgbClr val="F3F3F3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9"/>
            <p:cNvSpPr txBox="1"/>
            <p:nvPr/>
          </p:nvSpPr>
          <p:spPr>
            <a:xfrm>
              <a:off x="465588" y="4219872"/>
              <a:ext cx="3000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6666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A10:2025</a:t>
              </a:r>
              <a:endParaRPr sz="12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Server-Side Request Forgery</a:t>
              </a:r>
              <a:endParaRPr sz="1200"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373" name="Google Shape;373;p49"/>
            <p:cNvSpPr/>
            <p:nvPr/>
          </p:nvSpPr>
          <p:spPr>
            <a:xfrm>
              <a:off x="3679513" y="4342122"/>
              <a:ext cx="667800" cy="275700"/>
            </a:xfrm>
            <a:prstGeom prst="roundRect">
              <a:avLst>
                <a:gd name="adj" fmla="val 11928"/>
              </a:avLst>
            </a:prstGeom>
            <a:solidFill>
              <a:srgbClr val="00D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COVERED</a:t>
              </a:r>
              <a:endParaRPr sz="800"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  <p:pic>
        <p:nvPicPr>
          <p:cNvPr id="374" name="Google Shape;37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7900" y="2250850"/>
            <a:ext cx="3808000" cy="193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0"/>
          <p:cNvSpPr/>
          <p:nvPr/>
        </p:nvSpPr>
        <p:spPr>
          <a:xfrm>
            <a:off x="4626425" y="854300"/>
            <a:ext cx="4089000" cy="4112700"/>
          </a:xfrm>
          <a:prstGeom prst="roundRect">
            <a:avLst>
              <a:gd name="adj" fmla="val 3234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50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OWASP Top 10:2025</a:t>
            </a:r>
            <a:endParaRPr/>
          </a:p>
        </p:txBody>
      </p:sp>
      <p:sp>
        <p:nvSpPr>
          <p:cNvPr id="381" name="Google Shape;381;p50"/>
          <p:cNvSpPr txBox="1"/>
          <p:nvPr/>
        </p:nvSpPr>
        <p:spPr>
          <a:xfrm>
            <a:off x="4787900" y="1511850"/>
            <a:ext cx="36513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247650" algn="l" rt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AutoNum type="arabicPeriod"/>
            </a:pPr>
            <a:r>
              <a:rPr lang="en" sz="1200">
                <a:latin typeface="Space Grotesk"/>
                <a:ea typeface="Space Grotesk"/>
                <a:cs typeface="Space Grotesk"/>
                <a:sym typeface="Space Grotesk"/>
              </a:rPr>
              <a:t>Weak Authentication — DAST tests for missing rate limits on login, session fixation, weak password reset.</a:t>
            </a:r>
            <a:endParaRPr sz="1200"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342900" lvl="0" indent="-247650" algn="l" rt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AutoNum type="arabicPeriod"/>
            </a:pPr>
            <a:r>
              <a:rPr lang="en" sz="1200">
                <a:latin typeface="Space Grotesk"/>
                <a:ea typeface="Space Grotesk"/>
                <a:cs typeface="Space Grotesk"/>
                <a:sym typeface="Space Grotesk"/>
              </a:rPr>
              <a:t>Authenticated scans validate session state through Logged-In / Logged-Out / Fallback indicators.</a:t>
            </a:r>
            <a:endParaRPr sz="12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2" name="Google Shape;382;p50"/>
          <p:cNvSpPr/>
          <p:nvPr/>
        </p:nvSpPr>
        <p:spPr>
          <a:xfrm>
            <a:off x="419550" y="1648050"/>
            <a:ext cx="4089000" cy="3318900"/>
          </a:xfrm>
          <a:prstGeom prst="roundRect">
            <a:avLst>
              <a:gd name="adj" fmla="val 3234"/>
            </a:avLst>
          </a:prstGeom>
          <a:solidFill>
            <a:schemeClr val="lt1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50"/>
          <p:cNvSpPr txBox="1"/>
          <p:nvPr/>
        </p:nvSpPr>
        <p:spPr>
          <a:xfrm>
            <a:off x="4787900" y="961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AccuKnox Coverage</a:t>
            </a:r>
            <a:endParaRPr b="1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4" name="Google Shape;384;p50"/>
          <p:cNvSpPr txBox="1"/>
          <p:nvPr/>
        </p:nvSpPr>
        <p:spPr>
          <a:xfrm>
            <a:off x="465600" y="1687500"/>
            <a:ext cx="3958500" cy="29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Authentication failures let attackers impersonate legitimate users.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58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Permits credential stuffing or brute force without lockout.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58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Permits default, weak, or well-known passwords like 'Password1' or 'admin/admin'.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58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Allows weak or ineffective credential recovery flows.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58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Uses plain text, encrypted, or weakly hashed passwords.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58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Missing or ineffective multi-factor authentication.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58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r>
              <a:rPr lang="en" sz="700">
                <a:solidFill>
                  <a:schemeClr val="dk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Exposes session identifiers in the URL or reuses session IDs after login.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58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28600" lvl="0" indent="-158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●"/>
            </a:pPr>
            <a:endParaRPr sz="700">
              <a:solidFill>
                <a:schemeClr val="dk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385" name="Google Shape;385;p50"/>
          <p:cNvGrpSpPr/>
          <p:nvPr/>
        </p:nvGrpSpPr>
        <p:grpSpPr>
          <a:xfrm>
            <a:off x="421788" y="859075"/>
            <a:ext cx="4089000" cy="708000"/>
            <a:chOff x="4635463" y="1683625"/>
            <a:chExt cx="4089000" cy="708000"/>
          </a:xfrm>
        </p:grpSpPr>
        <p:sp>
          <p:nvSpPr>
            <p:cNvPr id="386" name="Google Shape;386;p50"/>
            <p:cNvSpPr/>
            <p:nvPr/>
          </p:nvSpPr>
          <p:spPr>
            <a:xfrm>
              <a:off x="4635463" y="1683625"/>
              <a:ext cx="4089000" cy="708000"/>
            </a:xfrm>
            <a:prstGeom prst="roundRect">
              <a:avLst>
                <a:gd name="adj" fmla="val 11928"/>
              </a:avLst>
            </a:prstGeom>
            <a:solidFill>
              <a:schemeClr val="lt1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0"/>
            <p:cNvSpPr/>
            <p:nvPr/>
          </p:nvSpPr>
          <p:spPr>
            <a:xfrm rot="5400000">
              <a:off x="7850113" y="1516488"/>
              <a:ext cx="705600" cy="1043100"/>
            </a:xfrm>
            <a:prstGeom prst="round2SameRect">
              <a:avLst>
                <a:gd name="adj1" fmla="val 11957"/>
                <a:gd name="adj2" fmla="val 0"/>
              </a:avLst>
            </a:prstGeom>
            <a:solidFill>
              <a:srgbClr val="F3F3F3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0"/>
            <p:cNvSpPr txBox="1"/>
            <p:nvPr/>
          </p:nvSpPr>
          <p:spPr>
            <a:xfrm>
              <a:off x="4681513" y="1759475"/>
              <a:ext cx="3000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66666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A07:2025</a:t>
              </a:r>
              <a:endParaRPr sz="1200">
                <a:solidFill>
                  <a:srgbClr val="66666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Authentication Failures</a:t>
              </a:r>
              <a:endParaRPr sz="1200"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389" name="Google Shape;389;p50"/>
            <p:cNvSpPr/>
            <p:nvPr/>
          </p:nvSpPr>
          <p:spPr>
            <a:xfrm>
              <a:off x="7895438" y="1884350"/>
              <a:ext cx="667800" cy="275700"/>
            </a:xfrm>
            <a:prstGeom prst="roundRect">
              <a:avLst>
                <a:gd name="adj" fmla="val 11928"/>
              </a:avLst>
            </a:prstGeom>
            <a:solidFill>
              <a:srgbClr val="00D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COVERED</a:t>
              </a:r>
              <a:endParaRPr sz="800"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1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Impacts</a:t>
            </a:r>
            <a:endParaRPr/>
          </a:p>
        </p:txBody>
      </p:sp>
      <p:pic>
        <p:nvPicPr>
          <p:cNvPr id="395" name="Google Shape;395;p51" title="Asset 1@4x-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725" y="740950"/>
            <a:ext cx="42005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1"/>
          <p:cNvSpPr txBox="1"/>
          <p:nvPr/>
        </p:nvSpPr>
        <p:spPr>
          <a:xfrm>
            <a:off x="388900" y="1198625"/>
            <a:ext cx="404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1206D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70%+ web apps carry at least one critical vuln (Imperva, 2024).</a:t>
            </a:r>
            <a:endParaRPr b="1">
              <a:solidFill>
                <a:srgbClr val="11206D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7" name="Google Shape;397;p51"/>
          <p:cNvSpPr txBox="1"/>
          <p:nvPr/>
        </p:nvSpPr>
        <p:spPr>
          <a:xfrm>
            <a:off x="388903" y="806125"/>
            <a:ext cx="3160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FFFF"/>
                </a:solidFill>
                <a:highlight>
                  <a:srgbClr val="CC0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Apps at Risk</a:t>
            </a:r>
            <a:endParaRPr sz="2000" b="1">
              <a:solidFill>
                <a:srgbClr val="FFFFFF"/>
              </a:solidFill>
              <a:highlight>
                <a:srgbClr val="CC0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98" name="Google Shape;398;p51" title="Asset 1@4x-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425" y="740950"/>
            <a:ext cx="42005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1"/>
          <p:cNvSpPr txBox="1"/>
          <p:nvPr/>
        </p:nvSpPr>
        <p:spPr>
          <a:xfrm>
            <a:off x="4547600" y="1198613"/>
            <a:ext cx="387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1206D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$4.88M average breach cost — web apps top initial vector (IBM, 2024).</a:t>
            </a:r>
            <a:endParaRPr b="1">
              <a:solidFill>
                <a:srgbClr val="11206D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0" name="Google Shape;400;p51"/>
          <p:cNvSpPr txBox="1"/>
          <p:nvPr/>
        </p:nvSpPr>
        <p:spPr>
          <a:xfrm>
            <a:off x="4547600" y="806125"/>
            <a:ext cx="404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FFFF"/>
                </a:solidFill>
                <a:highlight>
                  <a:srgbClr val="CC0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Avg Breach Cost</a:t>
            </a:r>
            <a:endParaRPr sz="2000" b="1">
              <a:solidFill>
                <a:srgbClr val="FFFFFF"/>
              </a:solidFill>
              <a:highlight>
                <a:srgbClr val="CC0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01" name="Google Shape;401;p51" title="Asset 1@4x-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725" y="2140025"/>
            <a:ext cx="42005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1"/>
          <p:cNvSpPr txBox="1"/>
          <p:nvPr/>
        </p:nvSpPr>
        <p:spPr>
          <a:xfrm>
            <a:off x="388900" y="2597700"/>
            <a:ext cx="387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1206D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$5.1B DAST market by 2028 — ~14% CAGR (MarketsAndMarkets).</a:t>
            </a:r>
            <a:endParaRPr b="1">
              <a:solidFill>
                <a:srgbClr val="11206D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3" name="Google Shape;403;p51"/>
          <p:cNvSpPr txBox="1"/>
          <p:nvPr/>
        </p:nvSpPr>
        <p:spPr>
          <a:xfrm>
            <a:off x="388903" y="2205200"/>
            <a:ext cx="3160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FFFF"/>
                </a:solidFill>
                <a:highlight>
                  <a:srgbClr val="CC0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DAST Market</a:t>
            </a:r>
            <a:endParaRPr sz="2000" b="1">
              <a:solidFill>
                <a:srgbClr val="FFFFFF"/>
              </a:solidFill>
              <a:highlight>
                <a:srgbClr val="11206D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04" name="Google Shape;404;p51" title="Asset 1@4x-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425" y="2140025"/>
            <a:ext cx="42005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1"/>
          <p:cNvSpPr txBox="1"/>
          <p:nvPr/>
        </p:nvSpPr>
        <p:spPr>
          <a:xfrm>
            <a:off x="4547600" y="2597700"/>
            <a:ext cx="4080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1206D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39% of breaches via web app attacks (Verizon DBIR, 2024).</a:t>
            </a:r>
            <a:endParaRPr b="1">
              <a:solidFill>
                <a:srgbClr val="11206D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6" name="Google Shape;406;p51"/>
          <p:cNvSpPr txBox="1"/>
          <p:nvPr/>
        </p:nvSpPr>
        <p:spPr>
          <a:xfrm>
            <a:off x="4547600" y="2205200"/>
            <a:ext cx="404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FFFF"/>
                </a:solidFill>
                <a:highlight>
                  <a:srgbClr val="CC0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Verizon DBIR</a:t>
            </a:r>
            <a:endParaRPr sz="2000" b="1">
              <a:solidFill>
                <a:srgbClr val="FFFFFF"/>
              </a:solidFill>
              <a:highlight>
                <a:srgbClr val="11206D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07" name="Google Shape;407;p51" title="Asset 1@4x-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1650" y="3630050"/>
            <a:ext cx="42005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1"/>
          <p:cNvSpPr txBox="1"/>
          <p:nvPr/>
        </p:nvSpPr>
        <p:spPr>
          <a:xfrm>
            <a:off x="2551825" y="4087725"/>
            <a:ext cx="387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1206D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Equifax 2017: unpatched Struts exposed 147M, $1.4B in costs.</a:t>
            </a:r>
            <a:endParaRPr b="1">
              <a:solidFill>
                <a:srgbClr val="11206D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9" name="Google Shape;409;p51"/>
          <p:cNvSpPr txBox="1"/>
          <p:nvPr/>
        </p:nvSpPr>
        <p:spPr>
          <a:xfrm>
            <a:off x="2551828" y="3695225"/>
            <a:ext cx="3160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FFFF"/>
                </a:solidFill>
                <a:highlight>
                  <a:srgbClr val="CC0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Equifax Breach</a:t>
            </a:r>
            <a:endParaRPr sz="2000" b="1">
              <a:solidFill>
                <a:srgbClr val="FFFFFF"/>
              </a:solidFill>
              <a:highlight>
                <a:srgbClr val="CC0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0" name="Google Shape;410;p51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2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AccuKnox DAST Components</a:t>
            </a:r>
            <a:endParaRPr/>
          </a:p>
        </p:txBody>
      </p:sp>
      <p:graphicFrame>
        <p:nvGraphicFramePr>
          <p:cNvPr id="416" name="Google Shape;416;p52"/>
          <p:cNvGraphicFramePr/>
          <p:nvPr/>
        </p:nvGraphicFramePr>
        <p:xfrm>
          <a:off x="208075" y="1145825"/>
          <a:ext cx="8727825" cy="2504898"/>
        </p:xfrm>
        <a:graphic>
          <a:graphicData uri="http://schemas.openxmlformats.org/drawingml/2006/table">
            <a:tbl>
              <a:tblPr>
                <a:solidFill>
                  <a:srgbClr val="ECEFF1"/>
                </a:solidFill>
                <a:tableStyleId>{9E9E7605-F458-4822-9E52-E984708646C6}</a:tableStyleId>
              </a:tblPr>
              <a:tblGrid>
                <a:gridCol w="217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1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</a:t>
                      </a:r>
                      <a:endParaRPr sz="1200" b="1">
                        <a:solidFill>
                          <a:schemeClr val="lt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9E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Focus Area</a:t>
                      </a:r>
                      <a:endParaRPr sz="1200" b="1">
                        <a:solidFill>
                          <a:schemeClr val="lt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9E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Key Functions</a:t>
                      </a:r>
                      <a:endParaRPr sz="1200" b="1">
                        <a:solidFill>
                          <a:schemeClr val="lt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API Discovery</a:t>
                      </a:r>
                      <a:endParaRPr sz="12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Visibility &amp; Inventory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Identify shadow, zombie, and exposed APIs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Runtime Monitoring</a:t>
                      </a:r>
                      <a:endParaRPr sz="12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Behavioral Security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Detect anomalies in traffic and API usage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Access Policy Control</a:t>
                      </a:r>
                      <a:endParaRPr sz="12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Identity &amp; Authorization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Enforce RBAC and policy-as-code for API access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Threat Detection</a:t>
                      </a:r>
                      <a:endParaRPr sz="12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Attack Prevention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Block injection, scraping, and broken object-level authorisation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Compliance Reporting</a:t>
                      </a:r>
                      <a:endParaRPr sz="12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Audit Readiness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🏁Align with SOC 2, PCI-DSS, and HIPAA standards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7" name="Google Shape;417;p52"/>
          <p:cNvSpPr txBox="1"/>
          <p:nvPr/>
        </p:nvSpPr>
        <p:spPr>
          <a:xfrm>
            <a:off x="175650" y="4666750"/>
            <a:ext cx="173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🏁 </a:t>
            </a:r>
            <a:r>
              <a:rPr lang="en" sz="1000">
                <a:latin typeface="Space Grotesk"/>
                <a:ea typeface="Space Grotesk"/>
                <a:cs typeface="Space Grotesk"/>
                <a:sym typeface="Space Grotesk"/>
              </a:rPr>
              <a:t>Roadmap</a:t>
            </a:r>
            <a:endParaRPr sz="1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8" name="Google Shape;418;p52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050" y="786975"/>
            <a:ext cx="8459875" cy="410960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3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AccuKnox Differentiator — Noise vs Value Flow</a:t>
            </a:r>
            <a:endParaRPr/>
          </a:p>
        </p:txBody>
      </p:sp>
      <p:sp>
        <p:nvSpPr>
          <p:cNvPr id="425" name="Google Shape;425;p53"/>
          <p:cNvSpPr/>
          <p:nvPr/>
        </p:nvSpPr>
        <p:spPr>
          <a:xfrm>
            <a:off x="7851925" y="988550"/>
            <a:ext cx="938700" cy="789300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53"/>
          <p:cNvSpPr/>
          <p:nvPr/>
        </p:nvSpPr>
        <p:spPr>
          <a:xfrm>
            <a:off x="3139425" y="767525"/>
            <a:ext cx="6004500" cy="4376100"/>
          </a:xfrm>
          <a:prstGeom prst="rect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53"/>
          <p:cNvSpPr/>
          <p:nvPr/>
        </p:nvSpPr>
        <p:spPr>
          <a:xfrm>
            <a:off x="3139425" y="767525"/>
            <a:ext cx="2694600" cy="297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Space Grotesk"/>
                <a:ea typeface="Space Grotesk"/>
                <a:cs typeface="Space Grotesk"/>
                <a:sym typeface="Space Grotesk"/>
              </a:rPr>
              <a:t>CNAPP Platform Insights to triage DAST findings</a:t>
            </a:r>
            <a:endParaRPr sz="1000" b="1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8" name="Google Shape;428;p53"/>
          <p:cNvSpPr txBox="1"/>
          <p:nvPr/>
        </p:nvSpPr>
        <p:spPr>
          <a:xfrm>
            <a:off x="7450521" y="861811"/>
            <a:ext cx="170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highlight>
                  <a:srgbClr val="FF0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Exploitable Web Vulns </a:t>
            </a:r>
            <a:endParaRPr b="1">
              <a:solidFill>
                <a:schemeClr val="lt1"/>
              </a:solidFill>
              <a:highlight>
                <a:srgbClr val="FF0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9" name="Google Shape;429;p53"/>
          <p:cNvSpPr txBox="1"/>
          <p:nvPr/>
        </p:nvSpPr>
        <p:spPr>
          <a:xfrm>
            <a:off x="6421425" y="3313975"/>
            <a:ext cx="2636400" cy="1407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lvl="0" indent="-101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■"/>
            </a:pPr>
            <a:r>
              <a:rPr lang="en" sz="7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DAST with CNAPP</a:t>
            </a:r>
            <a:endParaRPr sz="700" b="1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85750" lvl="1" indent="-101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○"/>
            </a:pPr>
            <a:r>
              <a:rPr lang="en" sz="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Reachability filtering eliminates non-exploitable findings</a:t>
            </a:r>
            <a:endParaRPr sz="7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85750" lvl="1" indent="-101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○"/>
            </a:pPr>
            <a:r>
              <a:rPr lang="en" sz="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Runtime context confirms which inputs see real traffic</a:t>
            </a:r>
            <a:endParaRPr sz="7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171450" lvl="0" indent="-101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■"/>
            </a:pPr>
            <a:r>
              <a:rPr lang="en" sz="7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Asset inventory ties findings to owning service / team</a:t>
            </a:r>
            <a:endParaRPr sz="700" b="1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171450" lvl="0" indent="-101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■"/>
            </a:pPr>
            <a:r>
              <a:rPr lang="en" sz="7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Auto-deduped across Baseline, Standard, Extended scans</a:t>
            </a:r>
            <a:endParaRPr sz="700" b="1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85750" lvl="1" indent="-101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○"/>
            </a:pPr>
            <a:r>
              <a:rPr lang="en" sz="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Same finding never tickets twice across SAST + DAST</a:t>
            </a:r>
            <a:endParaRPr sz="7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85750" lvl="1" indent="-101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○"/>
            </a:pPr>
            <a:r>
              <a:rPr lang="en" sz="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Severity reweighted by business impact</a:t>
            </a:r>
            <a:endParaRPr sz="7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85750" lvl="1" indent="-101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○"/>
            </a:pPr>
            <a:r>
              <a:rPr lang="en" sz="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Compliance frameworks auto-mapped (PCI, HIPAA, OWASP)</a:t>
            </a:r>
            <a:endParaRPr sz="7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285750" lvl="1" indent="-101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Space Grotesk"/>
              <a:buChar char="○"/>
            </a:pPr>
            <a:endParaRPr sz="7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0" name="Google Shape;430;p53"/>
          <p:cNvSpPr txBox="1"/>
          <p:nvPr/>
        </p:nvSpPr>
        <p:spPr>
          <a:xfrm>
            <a:off x="6261900" y="4841675"/>
            <a:ext cx="289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4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AccuKnox DAST is different/better</a:t>
            </a:r>
            <a:endParaRPr/>
          </a:p>
        </p:txBody>
      </p:sp>
      <p:sp>
        <p:nvSpPr>
          <p:cNvPr id="436" name="Google Shape;436;p54"/>
          <p:cNvSpPr txBox="1">
            <a:spLocks noGrp="1"/>
          </p:cNvSpPr>
          <p:nvPr>
            <p:ph type="sldNum" idx="12"/>
          </p:nvPr>
        </p:nvSpPr>
        <p:spPr>
          <a:xfrm>
            <a:off x="8728887" y="4883719"/>
            <a:ext cx="248700" cy="111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aphicFrame>
        <p:nvGraphicFramePr>
          <p:cNvPr id="437" name="Google Shape;437;p54"/>
          <p:cNvGraphicFramePr/>
          <p:nvPr/>
        </p:nvGraphicFramePr>
        <p:xfrm>
          <a:off x="-12" y="698250"/>
          <a:ext cx="9144000" cy="4445275"/>
        </p:xfrm>
        <a:graphic>
          <a:graphicData uri="http://schemas.openxmlformats.org/drawingml/2006/table">
            <a:tbl>
              <a:tblPr>
                <a:solidFill>
                  <a:srgbClr val="ECEFF1"/>
                </a:solidFill>
                <a:tableStyleId>{9E9E7605-F458-4822-9E52-E984708646C6}</a:tableStyleId>
              </a:tblPr>
              <a:tblGrid>
                <a:gridCol w="30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</a:t>
                      </a:r>
                      <a:endParaRPr sz="1200" b="1">
                        <a:solidFill>
                          <a:schemeClr val="lt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9E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lt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9E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Vendor A</a:t>
                      </a:r>
                      <a:endParaRPr sz="1200" b="1">
                        <a:solidFill>
                          <a:schemeClr val="lt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9E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Vendor B</a:t>
                      </a:r>
                      <a:endParaRPr sz="1200" b="1">
                        <a:solidFill>
                          <a:schemeClr val="lt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API Discovery &amp; Cataloging</a:t>
                      </a:r>
                      <a:endParaRPr sz="12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✅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✅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✅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Runtime Monitoring</a:t>
                      </a:r>
                      <a:endParaRPr sz="12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✅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✅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✅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Access Policy Control</a:t>
                      </a:r>
                      <a:endParaRPr sz="12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✅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3A60D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⚠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3A60D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⚠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Shadow, Orphan, Zombie APIs</a:t>
                      </a:r>
                      <a:endParaRPr sz="12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✅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✅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✅</a:t>
                      </a:r>
                      <a:endParaRPr sz="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On-prem, Air-gapped Installation </a:t>
                      </a:r>
                      <a:endParaRPr sz="12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✅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❌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❌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8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Multi Vector Visibility {Process, File, Network, API }</a:t>
                      </a:r>
                      <a:endParaRPr sz="12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✅</a:t>
                      </a:r>
                      <a:endParaRPr sz="1200">
                        <a:solidFill>
                          <a:schemeClr val="dk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❌</a:t>
                      </a:r>
                      <a:endParaRPr sz="1200">
                        <a:solidFill>
                          <a:schemeClr val="dk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❌</a:t>
                      </a:r>
                      <a:endParaRPr sz="1200">
                        <a:solidFill>
                          <a:schemeClr val="dk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 anchor="ctr">
                    <a:lnL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9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38" name="Google Shape;438;p54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39" name="Google Shape;439;p54" title="logo-dark-b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9117" y="774925"/>
            <a:ext cx="1242892" cy="3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5"/>
          <p:cNvSpPr/>
          <p:nvPr/>
        </p:nvSpPr>
        <p:spPr>
          <a:xfrm>
            <a:off x="3508525" y="2046375"/>
            <a:ext cx="1534800" cy="1667100"/>
          </a:xfrm>
          <a:prstGeom prst="roundRect">
            <a:avLst>
              <a:gd name="adj" fmla="val 8938"/>
            </a:avLst>
          </a:prstGeom>
          <a:solidFill>
            <a:srgbClr val="0E35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55"/>
          <p:cNvSpPr/>
          <p:nvPr/>
        </p:nvSpPr>
        <p:spPr>
          <a:xfrm>
            <a:off x="3536375" y="2799450"/>
            <a:ext cx="1479000" cy="885900"/>
          </a:xfrm>
          <a:prstGeom prst="roundRect">
            <a:avLst>
              <a:gd name="adj" fmla="val 1331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46" name="Google Shape;446;p55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DAST Scan Profiles</a:t>
            </a:r>
            <a:endParaRPr/>
          </a:p>
        </p:txBody>
      </p:sp>
      <p:sp>
        <p:nvSpPr>
          <p:cNvPr id="447" name="Google Shape;447;p55"/>
          <p:cNvSpPr txBox="1">
            <a:spLocks noGrp="1"/>
          </p:cNvSpPr>
          <p:nvPr>
            <p:ph type="sldNum" idx="12"/>
          </p:nvPr>
        </p:nvSpPr>
        <p:spPr>
          <a:xfrm>
            <a:off x="8624012" y="4718269"/>
            <a:ext cx="248700" cy="111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448" name="Google Shape;448;p55"/>
          <p:cNvSpPr txBox="1"/>
          <p:nvPr/>
        </p:nvSpPr>
        <p:spPr>
          <a:xfrm>
            <a:off x="2323000" y="700835"/>
            <a:ext cx="432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DAST Scan Profiles</a:t>
            </a:r>
            <a:endParaRPr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49" name="Google Shape;449;p55"/>
          <p:cNvSpPr txBox="1"/>
          <p:nvPr/>
        </p:nvSpPr>
        <p:spPr>
          <a:xfrm>
            <a:off x="2323000" y="956963"/>
            <a:ext cx="432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Pick the right scan for each stage — every commit, nightly, pre-release, or quarterly audit</a:t>
            </a:r>
            <a:endParaRPr sz="1000">
              <a:solidFill>
                <a:srgbClr val="66666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50" name="Google Shape;450;p55"/>
          <p:cNvSpPr/>
          <p:nvPr/>
        </p:nvSpPr>
        <p:spPr>
          <a:xfrm>
            <a:off x="5827061" y="1311400"/>
            <a:ext cx="3064500" cy="1156800"/>
          </a:xfrm>
          <a:prstGeom prst="roundRect">
            <a:avLst>
              <a:gd name="adj" fmla="val 8938"/>
            </a:avLst>
          </a:prstGeom>
          <a:solidFill>
            <a:srgbClr val="BFD0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55"/>
          <p:cNvSpPr/>
          <p:nvPr/>
        </p:nvSpPr>
        <p:spPr>
          <a:xfrm>
            <a:off x="5867786" y="1632550"/>
            <a:ext cx="2982900" cy="804000"/>
          </a:xfrm>
          <a:prstGeom prst="roundRect">
            <a:avLst>
              <a:gd name="adj" fmla="val 1019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Baseline Scan</a:t>
            </a:r>
            <a:endParaRPr sz="10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52" name="Google Shape;452;p55"/>
          <p:cNvSpPr txBox="1"/>
          <p:nvPr/>
        </p:nvSpPr>
        <p:spPr>
          <a:xfrm>
            <a:off x="6214361" y="1619228"/>
            <a:ext cx="2289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Passive only — no payloads, safe for production</a:t>
            </a:r>
            <a:endParaRPr sz="700">
              <a:solidFill>
                <a:srgbClr val="66666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53" name="Google Shape;453;p55"/>
          <p:cNvSpPr/>
          <p:nvPr/>
        </p:nvSpPr>
        <p:spPr>
          <a:xfrm>
            <a:off x="5901061" y="1925050"/>
            <a:ext cx="2916600" cy="217800"/>
          </a:xfrm>
          <a:prstGeom prst="roundRect">
            <a:avLst>
              <a:gd name="adj" fmla="val 21800"/>
            </a:avLst>
          </a:prstGeom>
          <a:solidFill>
            <a:srgbClr val="0E35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55"/>
          <p:cNvSpPr/>
          <p:nvPr/>
        </p:nvSpPr>
        <p:spPr>
          <a:xfrm>
            <a:off x="5901061" y="2181500"/>
            <a:ext cx="2916600" cy="217800"/>
          </a:xfrm>
          <a:prstGeom prst="roundRect">
            <a:avLst>
              <a:gd name="adj" fmla="val 21800"/>
            </a:avLst>
          </a:prstGeom>
          <a:solidFill>
            <a:srgbClr val="0E35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55"/>
          <p:cNvSpPr txBox="1"/>
          <p:nvPr/>
        </p:nvSpPr>
        <p:spPr>
          <a:xfrm>
            <a:off x="5901061" y="188770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Crawl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56" name="Google Shape;456;p55"/>
          <p:cNvSpPr txBox="1"/>
          <p:nvPr/>
        </p:nvSpPr>
        <p:spPr>
          <a:xfrm>
            <a:off x="5901061" y="214415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Active Scan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57" name="Google Shape;457;p55"/>
          <p:cNvSpPr txBox="1"/>
          <p:nvPr/>
        </p:nvSpPr>
        <p:spPr>
          <a:xfrm>
            <a:off x="6921711" y="188770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Spider + AJAX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58" name="Google Shape;458;p55"/>
          <p:cNvSpPr txBox="1"/>
          <p:nvPr/>
        </p:nvSpPr>
        <p:spPr>
          <a:xfrm>
            <a:off x="6921711" y="214415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Disabled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59" name="Google Shape;459;p55"/>
          <p:cNvSpPr txBox="1"/>
          <p:nvPr/>
        </p:nvSpPr>
        <p:spPr>
          <a:xfrm>
            <a:off x="7942361" y="188770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Duration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60" name="Google Shape;460;p55"/>
          <p:cNvSpPr txBox="1"/>
          <p:nvPr/>
        </p:nvSpPr>
        <p:spPr>
          <a:xfrm>
            <a:off x="7942361" y="214415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2 - 5 min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61" name="Google Shape;461;p55"/>
          <p:cNvSpPr txBox="1"/>
          <p:nvPr/>
        </p:nvSpPr>
        <p:spPr>
          <a:xfrm>
            <a:off x="6115586" y="1295687"/>
            <a:ext cx="248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Baseline Scan</a:t>
            </a:r>
            <a:endParaRPr sz="10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62" name="Google Shape;462;p55"/>
          <p:cNvSpPr/>
          <p:nvPr/>
        </p:nvSpPr>
        <p:spPr>
          <a:xfrm>
            <a:off x="5827061" y="2543650"/>
            <a:ext cx="3064500" cy="1156800"/>
          </a:xfrm>
          <a:prstGeom prst="roundRect">
            <a:avLst>
              <a:gd name="adj" fmla="val 8938"/>
            </a:avLst>
          </a:prstGeom>
          <a:solidFill>
            <a:srgbClr val="BFD0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55"/>
          <p:cNvSpPr/>
          <p:nvPr/>
        </p:nvSpPr>
        <p:spPr>
          <a:xfrm>
            <a:off x="5867786" y="2864800"/>
            <a:ext cx="2982900" cy="804000"/>
          </a:xfrm>
          <a:prstGeom prst="roundRect">
            <a:avLst>
              <a:gd name="adj" fmla="val 1019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Standard Scan</a:t>
            </a:r>
            <a:endParaRPr sz="10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64" name="Google Shape;464;p55"/>
          <p:cNvSpPr txBox="1"/>
          <p:nvPr/>
        </p:nvSpPr>
        <p:spPr>
          <a:xfrm>
            <a:off x="6214361" y="2851478"/>
            <a:ext cx="2289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Active scan — SQLi, XSS, CSRF, Path Traversal (Dev CICD)</a:t>
            </a:r>
            <a:endParaRPr sz="700">
              <a:solidFill>
                <a:srgbClr val="66666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65" name="Google Shape;465;p55"/>
          <p:cNvSpPr/>
          <p:nvPr/>
        </p:nvSpPr>
        <p:spPr>
          <a:xfrm>
            <a:off x="5901061" y="3157300"/>
            <a:ext cx="2916600" cy="217800"/>
          </a:xfrm>
          <a:prstGeom prst="roundRect">
            <a:avLst>
              <a:gd name="adj" fmla="val 21800"/>
            </a:avLst>
          </a:prstGeom>
          <a:solidFill>
            <a:srgbClr val="0E35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55"/>
          <p:cNvSpPr/>
          <p:nvPr/>
        </p:nvSpPr>
        <p:spPr>
          <a:xfrm>
            <a:off x="5901061" y="3413750"/>
            <a:ext cx="2916600" cy="217800"/>
          </a:xfrm>
          <a:prstGeom prst="roundRect">
            <a:avLst>
              <a:gd name="adj" fmla="val 21800"/>
            </a:avLst>
          </a:prstGeom>
          <a:solidFill>
            <a:srgbClr val="0E35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55"/>
          <p:cNvSpPr txBox="1"/>
          <p:nvPr/>
        </p:nvSpPr>
        <p:spPr>
          <a:xfrm>
            <a:off x="5901061" y="311995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Crawl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68" name="Google Shape;468;p55"/>
          <p:cNvSpPr txBox="1"/>
          <p:nvPr/>
        </p:nvSpPr>
        <p:spPr>
          <a:xfrm>
            <a:off x="5901061" y="337640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Active Scan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69" name="Google Shape;469;p55"/>
          <p:cNvSpPr txBox="1"/>
          <p:nvPr/>
        </p:nvSpPr>
        <p:spPr>
          <a:xfrm>
            <a:off x="6921711" y="311995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Spider + AJAX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70" name="Google Shape;470;p55"/>
          <p:cNvSpPr txBox="1"/>
          <p:nvPr/>
        </p:nvSpPr>
        <p:spPr>
          <a:xfrm>
            <a:off x="6921711" y="337640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Dev CICD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71" name="Google Shape;471;p55"/>
          <p:cNvSpPr txBox="1"/>
          <p:nvPr/>
        </p:nvSpPr>
        <p:spPr>
          <a:xfrm>
            <a:off x="7942361" y="311995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Duration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72" name="Google Shape;472;p55"/>
          <p:cNvSpPr txBox="1"/>
          <p:nvPr/>
        </p:nvSpPr>
        <p:spPr>
          <a:xfrm>
            <a:off x="7942361" y="337640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15 - 30 min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73" name="Google Shape;473;p55"/>
          <p:cNvSpPr txBox="1"/>
          <p:nvPr/>
        </p:nvSpPr>
        <p:spPr>
          <a:xfrm>
            <a:off x="6115586" y="2527937"/>
            <a:ext cx="248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Standard Scan</a:t>
            </a:r>
            <a:endParaRPr sz="10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74" name="Google Shape;474;p55"/>
          <p:cNvSpPr/>
          <p:nvPr/>
        </p:nvSpPr>
        <p:spPr>
          <a:xfrm>
            <a:off x="5827061" y="3807450"/>
            <a:ext cx="3064500" cy="1156800"/>
          </a:xfrm>
          <a:prstGeom prst="roundRect">
            <a:avLst>
              <a:gd name="adj" fmla="val 8938"/>
            </a:avLst>
          </a:prstGeom>
          <a:solidFill>
            <a:srgbClr val="BFD0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55"/>
          <p:cNvSpPr/>
          <p:nvPr/>
        </p:nvSpPr>
        <p:spPr>
          <a:xfrm>
            <a:off x="5867786" y="4128600"/>
            <a:ext cx="2982900" cy="804000"/>
          </a:xfrm>
          <a:prstGeom prst="roundRect">
            <a:avLst>
              <a:gd name="adj" fmla="val 1019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Extended / Comprehensive</a:t>
            </a:r>
            <a:endParaRPr sz="10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76" name="Google Shape;476;p55"/>
          <p:cNvSpPr txBox="1"/>
          <p:nvPr/>
        </p:nvSpPr>
        <p:spPr>
          <a:xfrm>
            <a:off x="6214361" y="4115278"/>
            <a:ext cx="2289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Maximum coverage — deep crawl, every payload class</a:t>
            </a:r>
            <a:endParaRPr sz="700">
              <a:solidFill>
                <a:srgbClr val="66666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77" name="Google Shape;477;p55"/>
          <p:cNvSpPr/>
          <p:nvPr/>
        </p:nvSpPr>
        <p:spPr>
          <a:xfrm>
            <a:off x="5901061" y="4421100"/>
            <a:ext cx="2916600" cy="217800"/>
          </a:xfrm>
          <a:prstGeom prst="roundRect">
            <a:avLst>
              <a:gd name="adj" fmla="val 21800"/>
            </a:avLst>
          </a:prstGeom>
          <a:solidFill>
            <a:srgbClr val="0E35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55"/>
          <p:cNvSpPr/>
          <p:nvPr/>
        </p:nvSpPr>
        <p:spPr>
          <a:xfrm>
            <a:off x="5901061" y="4677550"/>
            <a:ext cx="2916600" cy="217800"/>
          </a:xfrm>
          <a:prstGeom prst="roundRect">
            <a:avLst>
              <a:gd name="adj" fmla="val 21800"/>
            </a:avLst>
          </a:prstGeom>
          <a:solidFill>
            <a:srgbClr val="0E35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55"/>
          <p:cNvSpPr txBox="1"/>
          <p:nvPr/>
        </p:nvSpPr>
        <p:spPr>
          <a:xfrm>
            <a:off x="5901061" y="438375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Crawl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80" name="Google Shape;480;p55"/>
          <p:cNvSpPr txBox="1"/>
          <p:nvPr/>
        </p:nvSpPr>
        <p:spPr>
          <a:xfrm>
            <a:off x="5901061" y="464020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Active Scan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81" name="Google Shape;481;p55"/>
          <p:cNvSpPr txBox="1"/>
          <p:nvPr/>
        </p:nvSpPr>
        <p:spPr>
          <a:xfrm>
            <a:off x="6921711" y="438375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Deep Spider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82" name="Google Shape;482;p55"/>
          <p:cNvSpPr txBox="1"/>
          <p:nvPr/>
        </p:nvSpPr>
        <p:spPr>
          <a:xfrm>
            <a:off x="6921711" y="464020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Dev Full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83" name="Google Shape;483;p55"/>
          <p:cNvSpPr txBox="1"/>
          <p:nvPr/>
        </p:nvSpPr>
        <p:spPr>
          <a:xfrm>
            <a:off x="7942361" y="438375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Duration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84" name="Google Shape;484;p55"/>
          <p:cNvSpPr txBox="1"/>
          <p:nvPr/>
        </p:nvSpPr>
        <p:spPr>
          <a:xfrm>
            <a:off x="7942361" y="4640200"/>
            <a:ext cx="8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60 - 180 min</a:t>
            </a:r>
            <a:endParaRPr sz="700">
              <a:solidFill>
                <a:srgbClr val="00FFFF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85" name="Google Shape;485;p55"/>
          <p:cNvSpPr txBox="1"/>
          <p:nvPr/>
        </p:nvSpPr>
        <p:spPr>
          <a:xfrm>
            <a:off x="6115586" y="3791737"/>
            <a:ext cx="248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Extended / Comprehensive</a:t>
            </a:r>
            <a:endParaRPr sz="10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86" name="Google Shape;486;p55"/>
          <p:cNvSpPr txBox="1"/>
          <p:nvPr/>
        </p:nvSpPr>
        <p:spPr>
          <a:xfrm>
            <a:off x="3508475" y="2403513"/>
            <a:ext cx="153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DAST Engine</a:t>
            </a:r>
            <a:endParaRPr sz="12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87" name="Google Shape;487;p55"/>
          <p:cNvSpPr txBox="1"/>
          <p:nvPr/>
        </p:nvSpPr>
        <p:spPr>
          <a:xfrm>
            <a:off x="3556675" y="2789400"/>
            <a:ext cx="1438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-107950" algn="l" rtl="0">
              <a:spcBef>
                <a:spcPts val="0"/>
              </a:spcBef>
              <a:spcAft>
                <a:spcPts val="0"/>
              </a:spcAft>
              <a:buSzPts val="800"/>
              <a:buFont typeface="Space Grotesk Medium"/>
              <a:buChar char="●"/>
            </a:pPr>
            <a:r>
              <a:rPr lang="en" sz="800">
                <a:latin typeface="Space Grotesk Medium"/>
                <a:ea typeface="Space Grotesk Medium"/>
                <a:cs typeface="Space Grotesk Medium"/>
                <a:sym typeface="Space Grotesk Medium"/>
              </a:rPr>
              <a:t>Spider + AJAX Crawler</a:t>
            </a:r>
            <a:endParaRPr sz="800"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marL="114300" lvl="0" indent="-107950" algn="l" rtl="0">
              <a:spcBef>
                <a:spcPts val="0"/>
              </a:spcBef>
              <a:spcAft>
                <a:spcPts val="0"/>
              </a:spcAft>
              <a:buSzPts val="800"/>
              <a:buFont typeface="Space Grotesk Medium"/>
              <a:buChar char="●"/>
            </a:pPr>
            <a:r>
              <a:rPr lang="en" sz="800">
                <a:latin typeface="Space Grotesk Medium"/>
                <a:ea typeface="Space Grotesk Medium"/>
                <a:cs typeface="Space Grotesk Medium"/>
                <a:sym typeface="Space Grotesk Medium"/>
              </a:rPr>
              <a:t>Passive Header Audit</a:t>
            </a:r>
            <a:endParaRPr sz="800"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marL="114300" lvl="0" indent="-107950" algn="l" rtl="0">
              <a:spcBef>
                <a:spcPts val="0"/>
              </a:spcBef>
              <a:spcAft>
                <a:spcPts val="0"/>
              </a:spcAft>
              <a:buSzPts val="800"/>
              <a:buFont typeface="Space Grotesk Medium"/>
              <a:buChar char="●"/>
            </a:pPr>
            <a:r>
              <a:rPr lang="en" sz="800">
                <a:latin typeface="Space Grotesk Medium"/>
                <a:ea typeface="Space Grotesk Medium"/>
                <a:cs typeface="Space Grotesk Medium"/>
                <a:sym typeface="Space Grotesk Medium"/>
              </a:rPr>
              <a:t>Active Payload Testing</a:t>
            </a:r>
            <a:endParaRPr sz="800"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88" name="Google Shape;488;p55"/>
          <p:cNvSpPr txBox="1"/>
          <p:nvPr/>
        </p:nvSpPr>
        <p:spPr>
          <a:xfrm>
            <a:off x="3508525" y="3343500"/>
            <a:ext cx="1534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Space Grotesk"/>
                <a:ea typeface="Space Grotesk"/>
                <a:cs typeface="Space Grotesk"/>
                <a:sym typeface="Space Grotesk"/>
              </a:rPr>
              <a:t>ZAP-based  •  Auth-aware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9" name="Google Shape;489;p55"/>
          <p:cNvSpPr/>
          <p:nvPr/>
        </p:nvSpPr>
        <p:spPr>
          <a:xfrm>
            <a:off x="588650" y="1428225"/>
            <a:ext cx="1622700" cy="2903400"/>
          </a:xfrm>
          <a:prstGeom prst="roundRect">
            <a:avLst>
              <a:gd name="adj" fmla="val 6959"/>
            </a:avLst>
          </a:prstGeom>
          <a:solidFill>
            <a:srgbClr val="BFD0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55"/>
          <p:cNvSpPr txBox="1"/>
          <p:nvPr/>
        </p:nvSpPr>
        <p:spPr>
          <a:xfrm>
            <a:off x="680650" y="1498700"/>
            <a:ext cx="1438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Scan Targets</a:t>
            </a:r>
            <a:endParaRPr sz="10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491" name="Google Shape;491;p55"/>
          <p:cNvGrpSpPr/>
          <p:nvPr/>
        </p:nvGrpSpPr>
        <p:grpSpPr>
          <a:xfrm>
            <a:off x="632500" y="1889475"/>
            <a:ext cx="1534800" cy="554100"/>
            <a:chOff x="632500" y="1756900"/>
            <a:chExt cx="1534800" cy="554100"/>
          </a:xfrm>
        </p:grpSpPr>
        <p:sp>
          <p:nvSpPr>
            <p:cNvPr id="492" name="Google Shape;492;p55"/>
            <p:cNvSpPr/>
            <p:nvPr/>
          </p:nvSpPr>
          <p:spPr>
            <a:xfrm>
              <a:off x="660350" y="1756900"/>
              <a:ext cx="1479000" cy="554100"/>
            </a:xfrm>
            <a:prstGeom prst="roundRect">
              <a:avLst>
                <a:gd name="adj" fmla="val 10199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493" name="Google Shape;493;p55"/>
            <p:cNvSpPr txBox="1"/>
            <p:nvPr/>
          </p:nvSpPr>
          <p:spPr>
            <a:xfrm>
              <a:off x="680650" y="1793024"/>
              <a:ext cx="1438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Public Web</a:t>
              </a:r>
              <a:endParaRPr sz="1000"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94" name="Google Shape;494;p55"/>
            <p:cNvSpPr txBox="1"/>
            <p:nvPr/>
          </p:nvSpPr>
          <p:spPr>
            <a:xfrm>
              <a:off x="632500" y="1982375"/>
              <a:ext cx="1534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latin typeface="Space Grotesk"/>
                  <a:ea typeface="Space Grotesk"/>
                  <a:cs typeface="Space Grotesk"/>
                  <a:sym typeface="Space Grotesk"/>
                </a:rPr>
                <a:t>marketing, landing</a:t>
              </a:r>
              <a:endParaRPr sz="700"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495" name="Google Shape;495;p55"/>
          <p:cNvGrpSpPr/>
          <p:nvPr/>
        </p:nvGrpSpPr>
        <p:grpSpPr>
          <a:xfrm>
            <a:off x="632500" y="2495650"/>
            <a:ext cx="1534800" cy="554100"/>
            <a:chOff x="632500" y="1756900"/>
            <a:chExt cx="1534800" cy="554100"/>
          </a:xfrm>
        </p:grpSpPr>
        <p:sp>
          <p:nvSpPr>
            <p:cNvPr id="496" name="Google Shape;496;p55"/>
            <p:cNvSpPr/>
            <p:nvPr/>
          </p:nvSpPr>
          <p:spPr>
            <a:xfrm>
              <a:off x="660350" y="1756900"/>
              <a:ext cx="1479000" cy="554100"/>
            </a:xfrm>
            <a:prstGeom prst="roundRect">
              <a:avLst>
                <a:gd name="adj" fmla="val 10199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497" name="Google Shape;497;p55"/>
            <p:cNvSpPr txBox="1"/>
            <p:nvPr/>
          </p:nvSpPr>
          <p:spPr>
            <a:xfrm>
              <a:off x="680650" y="1793024"/>
              <a:ext cx="1438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Authenticated</a:t>
              </a:r>
              <a:endParaRPr sz="1000"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98" name="Google Shape;498;p55"/>
            <p:cNvSpPr txBox="1"/>
            <p:nvPr/>
          </p:nvSpPr>
          <p:spPr>
            <a:xfrm>
              <a:off x="632500" y="1982375"/>
              <a:ext cx="1534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latin typeface="Space Grotesk"/>
                  <a:ea typeface="Space Grotesk"/>
                  <a:cs typeface="Space Grotesk"/>
                  <a:sym typeface="Space Grotesk"/>
                </a:rPr>
                <a:t>admin panels, SPAs</a:t>
              </a:r>
              <a:endParaRPr sz="700"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499" name="Google Shape;499;p55"/>
          <p:cNvGrpSpPr/>
          <p:nvPr/>
        </p:nvGrpSpPr>
        <p:grpSpPr>
          <a:xfrm>
            <a:off x="632500" y="3101825"/>
            <a:ext cx="1534800" cy="554100"/>
            <a:chOff x="632500" y="1756900"/>
            <a:chExt cx="1534800" cy="554100"/>
          </a:xfrm>
        </p:grpSpPr>
        <p:sp>
          <p:nvSpPr>
            <p:cNvPr id="500" name="Google Shape;500;p55"/>
            <p:cNvSpPr/>
            <p:nvPr/>
          </p:nvSpPr>
          <p:spPr>
            <a:xfrm>
              <a:off x="660350" y="1756900"/>
              <a:ext cx="1479000" cy="554100"/>
            </a:xfrm>
            <a:prstGeom prst="roundRect">
              <a:avLst>
                <a:gd name="adj" fmla="val 10199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501" name="Google Shape;501;p55"/>
            <p:cNvSpPr txBox="1"/>
            <p:nvPr/>
          </p:nvSpPr>
          <p:spPr>
            <a:xfrm>
              <a:off x="680650" y="1793024"/>
              <a:ext cx="1438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Internal</a:t>
              </a:r>
              <a:endParaRPr sz="1000"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02" name="Google Shape;502;p55"/>
            <p:cNvSpPr txBox="1"/>
            <p:nvPr/>
          </p:nvSpPr>
          <p:spPr>
            <a:xfrm>
              <a:off x="632500" y="1982375"/>
              <a:ext cx="1534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latin typeface="Space Grotesk"/>
                  <a:ea typeface="Space Grotesk"/>
                  <a:cs typeface="Space Grotesk"/>
                  <a:sym typeface="Space Grotesk"/>
                </a:rPr>
                <a:t>VPN-only services</a:t>
              </a:r>
              <a:endParaRPr sz="700"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503" name="Google Shape;503;p55"/>
          <p:cNvGrpSpPr/>
          <p:nvPr/>
        </p:nvGrpSpPr>
        <p:grpSpPr>
          <a:xfrm>
            <a:off x="632500" y="3708000"/>
            <a:ext cx="1534800" cy="554100"/>
            <a:chOff x="632500" y="1756900"/>
            <a:chExt cx="1534800" cy="554100"/>
          </a:xfrm>
        </p:grpSpPr>
        <p:sp>
          <p:nvSpPr>
            <p:cNvPr id="504" name="Google Shape;504;p55"/>
            <p:cNvSpPr/>
            <p:nvPr/>
          </p:nvSpPr>
          <p:spPr>
            <a:xfrm>
              <a:off x="660350" y="1756900"/>
              <a:ext cx="1479000" cy="554100"/>
            </a:xfrm>
            <a:prstGeom prst="roundRect">
              <a:avLst>
                <a:gd name="adj" fmla="val 10199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505" name="Google Shape;505;p55"/>
            <p:cNvSpPr txBox="1"/>
            <p:nvPr/>
          </p:nvSpPr>
          <p:spPr>
            <a:xfrm>
              <a:off x="680650" y="1793024"/>
              <a:ext cx="1438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APIs</a:t>
              </a:r>
              <a:endParaRPr sz="1000"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06" name="Google Shape;506;p55"/>
            <p:cNvSpPr txBox="1"/>
            <p:nvPr/>
          </p:nvSpPr>
          <p:spPr>
            <a:xfrm>
              <a:off x="632500" y="1982375"/>
              <a:ext cx="1534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latin typeface="Space Grotesk"/>
                  <a:ea typeface="Space Grotesk"/>
                  <a:cs typeface="Space Grotesk"/>
                  <a:sym typeface="Space Grotesk"/>
                </a:rPr>
                <a:t>REST / GraphQL</a:t>
              </a:r>
              <a:endParaRPr sz="700"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cxnSp>
        <p:nvCxnSpPr>
          <p:cNvPr id="507" name="Google Shape;507;p55"/>
          <p:cNvCxnSpPr>
            <a:stCxn id="489" idx="3"/>
            <a:endCxn id="444" idx="1"/>
          </p:cNvCxnSpPr>
          <p:nvPr/>
        </p:nvCxnSpPr>
        <p:spPr>
          <a:xfrm>
            <a:off x="2211350" y="2879925"/>
            <a:ext cx="1297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8" name="Google Shape;508;p55"/>
          <p:cNvSpPr/>
          <p:nvPr/>
        </p:nvSpPr>
        <p:spPr>
          <a:xfrm>
            <a:off x="3508525" y="4089824"/>
            <a:ext cx="1534800" cy="787200"/>
          </a:xfrm>
          <a:prstGeom prst="roundRect">
            <a:avLst>
              <a:gd name="adj" fmla="val 8938"/>
            </a:avLst>
          </a:prstGeom>
          <a:solidFill>
            <a:srgbClr val="0E35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55"/>
          <p:cNvSpPr/>
          <p:nvPr/>
        </p:nvSpPr>
        <p:spPr>
          <a:xfrm>
            <a:off x="3536375" y="4445650"/>
            <a:ext cx="1479000" cy="400200"/>
          </a:xfrm>
          <a:prstGeom prst="roundRect">
            <a:avLst>
              <a:gd name="adj" fmla="val 1019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510" name="Google Shape;510;p55"/>
          <p:cNvSpPr txBox="1"/>
          <p:nvPr/>
        </p:nvSpPr>
        <p:spPr>
          <a:xfrm>
            <a:off x="3508475" y="4082626"/>
            <a:ext cx="153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Findings</a:t>
            </a:r>
            <a:endParaRPr sz="1200">
              <a:solidFill>
                <a:schemeClr val="lt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511" name="Google Shape;511;p55"/>
          <p:cNvSpPr txBox="1"/>
          <p:nvPr/>
        </p:nvSpPr>
        <p:spPr>
          <a:xfrm>
            <a:off x="3508525" y="4445650"/>
            <a:ext cx="153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Space Grotesk"/>
                <a:ea typeface="Space Grotesk"/>
                <a:cs typeface="Space Grotesk"/>
                <a:sym typeface="Space Grotesk"/>
              </a:rPr>
              <a:t>Severity • CWE • Compliance • Evidence</a:t>
            </a:r>
            <a:endParaRPr sz="7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512" name="Google Shape;512;p55"/>
          <p:cNvCxnSpPr>
            <a:stCxn id="510" idx="0"/>
            <a:endCxn id="444" idx="2"/>
          </p:cNvCxnSpPr>
          <p:nvPr/>
        </p:nvCxnSpPr>
        <p:spPr>
          <a:xfrm rot="10800000">
            <a:off x="4275875" y="3713326"/>
            <a:ext cx="0" cy="36930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3" name="Google Shape;513;p55"/>
          <p:cNvCxnSpPr/>
          <p:nvPr/>
        </p:nvCxnSpPr>
        <p:spPr>
          <a:xfrm rot="10800000" flipH="1">
            <a:off x="5066725" y="2379700"/>
            <a:ext cx="633300" cy="56700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" name="Google Shape;514;p55"/>
          <p:cNvCxnSpPr/>
          <p:nvPr/>
        </p:nvCxnSpPr>
        <p:spPr>
          <a:xfrm>
            <a:off x="5077825" y="2944150"/>
            <a:ext cx="611100" cy="644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15" name="Google Shape;51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9625" y="2142950"/>
            <a:ext cx="292500" cy="29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0" name="Google Shape;520;p56"/>
          <p:cNvGraphicFramePr/>
          <p:nvPr/>
        </p:nvGraphicFramePr>
        <p:xfrm>
          <a:off x="-12" y="698250"/>
          <a:ext cx="9144000" cy="4257065"/>
        </p:xfrm>
        <a:graphic>
          <a:graphicData uri="http://schemas.openxmlformats.org/drawingml/2006/table">
            <a:tbl>
              <a:tblPr>
                <a:noFill/>
                <a:tableStyleId>{39EDB695-FD52-4197-89F3-3FF2634C9061}</a:tableStyleId>
              </a:tblPr>
              <a:tblGrid>
                <a:gridCol w="331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Use-Case</a:t>
                      </a:r>
                      <a:endParaRPr sz="1600" b="1"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9E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AccuKnox Approach</a:t>
                      </a:r>
                      <a:endParaRPr sz="1600" b="1"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API Inventory</a:t>
                      </a:r>
                      <a:endParaRPr sz="10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Space Grotesk"/>
                        <a:buChar char="●"/>
                      </a:pP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Discovery and cataloging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Space Grotesk"/>
                        <a:buChar char="●"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Identify shadow/zombie APIs</a:t>
                      </a:r>
                      <a:endParaRPr sz="1000">
                        <a:solidFill>
                          <a:schemeClr val="dk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Space Grotesk"/>
                        <a:buChar char="●"/>
                      </a:pP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Identify internal/external accesses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38761D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✔ </a:t>
                      </a: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Discovery Engine uses the abstraction provided by underlying platform (such as k8s) to discover the service to service communication and identify the API accesses attempted.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Traffic Capture/Inspection</a:t>
                      </a:r>
                      <a:endParaRPr sz="10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Space Grotesk"/>
                        <a:buChar char="●"/>
                      </a:pP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For empirical analysis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Space Grotesk"/>
                        <a:buChar char="●"/>
                      </a:pP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Compliance requirement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38761D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✔ </a:t>
                      </a: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Traffic metadata is maintained in the Accuknox data pipeline for empirical analysis.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Shadow, Orphan APIs, Zombie APIs</a:t>
                      </a:r>
                      <a:endParaRPr sz="10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APIs not part of the spec. APIs in the spec never seen in use.</a:t>
                      </a:r>
                      <a:endParaRPr sz="1300">
                        <a:solidFill>
                          <a:srgbClr val="38761D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Deployment modes</a:t>
                      </a:r>
                      <a:endParaRPr sz="10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Collectors {K8s and non-K8s, API Connectors} 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Supported API Connectors</a:t>
                      </a:r>
                      <a:endParaRPr sz="10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Nginx, Nginx Ingress Controller, Istio, AWS API Gateway, Azure APIM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OWASP Web &amp; API Attacks Protection</a:t>
                      </a:r>
                      <a:endParaRPr sz="10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Traffic signatures can be used to identify API attacks.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Auto Upgrade to secure connections</a:t>
                      </a:r>
                      <a:endParaRPr sz="10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Manage service identities and upgrade to secure connections for APIs.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Brute force authn attempts</a:t>
                      </a:r>
                      <a:endParaRPr sz="10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Identify brute force authentication attempts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Sensitive Data Exposure Identification</a:t>
                      </a:r>
                      <a:endParaRPr sz="10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Space Grotesk"/>
                        <a:buChar char="●"/>
                      </a:pP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Detect for sensitive data patterns in API responses.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Space Grotesk"/>
                        <a:buChar char="●"/>
                      </a:pP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Customizable sensitive data expression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API Static scanning</a:t>
                      </a:r>
                      <a:endParaRPr sz="10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Scan the swagger or openapi specs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Rate Limiting &amp; Throttling</a:t>
                      </a:r>
                      <a:endParaRPr sz="10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Ensure that the valid users don’t overuse their permissions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API Spec Generation from Traffic</a:t>
                      </a:r>
                      <a:endParaRPr sz="1000"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Automatically get OpenAPI spec from the observed / collected traffic</a:t>
                      </a:r>
                      <a:endParaRPr sz="10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21" name="Google Shape;521;p56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Use-Cases &amp; Approach Mapping</a:t>
            </a:r>
            <a:endParaRPr/>
          </a:p>
        </p:txBody>
      </p:sp>
      <p:sp>
        <p:nvSpPr>
          <p:cNvPr id="522" name="Google Shape;522;p56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9"/>
          <p:cNvSpPr txBox="1">
            <a:spLocks noGrp="1"/>
          </p:cNvSpPr>
          <p:nvPr>
            <p:ph type="title"/>
          </p:nvPr>
        </p:nvSpPr>
        <p:spPr>
          <a:xfrm>
            <a:off x="873450" y="1761775"/>
            <a:ext cx="7397100" cy="12048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UI/UX Journey</a:t>
            </a:r>
            <a:endParaRPr/>
          </a:p>
        </p:txBody>
      </p:sp>
      <p:sp>
        <p:nvSpPr>
          <p:cNvPr id="617" name="Google Shape;617;p59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0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Collector — Web Application DAST Scan</a:t>
            </a:r>
            <a:endParaRPr/>
          </a:p>
        </p:txBody>
      </p:sp>
      <p:sp>
        <p:nvSpPr>
          <p:cNvPr id="624" name="Google Shape;624;p60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25" name="Picture 624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875" y="794750"/>
            <a:ext cx="6752251" cy="4348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1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 Configuration — No-Auth Mode</a:t>
            </a:r>
            <a:endParaRPr/>
          </a:p>
        </p:txBody>
      </p:sp>
      <p:sp>
        <p:nvSpPr>
          <p:cNvPr id="631" name="Google Shape;631;p61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32" name="Picture 631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875" y="794750"/>
            <a:ext cx="6752251" cy="43487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2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Authenticated Scan — Login URL &amp; Credentials</a:t>
            </a:r>
            <a:endParaRPr/>
          </a:p>
        </p:txBody>
      </p:sp>
      <p:sp>
        <p:nvSpPr>
          <p:cNvPr id="638" name="Google Shape;638;p62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39" name="Picture 638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875" y="794750"/>
            <a:ext cx="6752251" cy="43487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3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Indicators — Logged-In / Logged-Out / Fallback</a:t>
            </a:r>
            <a:endParaRPr/>
          </a:p>
        </p:txBody>
      </p:sp>
      <p:sp>
        <p:nvSpPr>
          <p:cNvPr id="645" name="Google Shape;645;p63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46" name="Picture 64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875" y="794750"/>
            <a:ext cx="6752251" cy="43487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4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 Triggered — Status &amp; Progress</a:t>
            </a:r>
            <a:endParaRPr/>
          </a:p>
        </p:txBody>
      </p:sp>
      <p:sp>
        <p:nvSpPr>
          <p:cNvPr id="652" name="Google Shape;652;p64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53" name="Picture 65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5963"/>
            <a:ext cx="8877370" cy="30479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5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 — Severity, Evidence &amp; Remediation</a:t>
            </a:r>
            <a:endParaRPr/>
          </a:p>
        </p:txBody>
      </p:sp>
      <p:sp>
        <p:nvSpPr>
          <p:cNvPr id="659" name="Google Shape;659;p65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60" name="Picture 659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346" y="885877"/>
            <a:ext cx="6460273" cy="410969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1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 Engine — Automate Findings Triage</a:t>
            </a:r>
            <a:endParaRPr/>
          </a:p>
        </p:txBody>
      </p:sp>
      <p:sp>
        <p:nvSpPr>
          <p:cNvPr id="631" name="Google Shape;631;p61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32" name="Picture 631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83" y="794750"/>
            <a:ext cx="7695365" cy="43487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1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 Engine — Create Ticket Action</a:t>
            </a:r>
            <a:endParaRPr/>
          </a:p>
        </p:txBody>
      </p:sp>
      <p:sp>
        <p:nvSpPr>
          <p:cNvPr id="631" name="Google Shape;631;p61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32" name="Picture 631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80" y="921834"/>
            <a:ext cx="8891239" cy="399864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1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Ticketing — Auto-Create Jira / ServiceNow Tickets</a:t>
            </a:r>
            <a:endParaRPr/>
          </a:p>
        </p:txBody>
      </p:sp>
      <p:sp>
        <p:nvSpPr>
          <p:cNvPr id="631" name="Google Shape;631;p61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32" name="Picture 631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300" y="794750"/>
            <a:ext cx="9168299" cy="43487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1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 — Recurring DAST Scans</a:t>
            </a:r>
            <a:endParaRPr/>
          </a:p>
        </p:txBody>
      </p:sp>
      <p:sp>
        <p:nvSpPr>
          <p:cNvPr id="631" name="Google Shape;631;p61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32" name="Picture 631" descr="image12.png"/>
          <p:cNvPicPr>
            <a:picLocks noChangeAspect="1"/>
          </p:cNvPicPr>
          <p:nvPr/>
        </p:nvPicPr>
        <p:blipFill>
          <a:blip r:embed="rId2"/>
          <a:srcRect r="42838"/>
          <a:stretch>
            <a:fillRect/>
          </a:stretch>
        </p:blipFill>
        <p:spPr>
          <a:xfrm>
            <a:off x="859202" y="825581"/>
            <a:ext cx="7425595" cy="388876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0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AI — GenAI Co-Pilot for DAST Triage</a:t>
            </a:r>
            <a:endParaRPr/>
          </a:p>
        </p:txBody>
      </p:sp>
      <p:sp>
        <p:nvSpPr>
          <p:cNvPr id="624" name="Google Shape;624;p60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5" name="Rounded Rectangle 624"/>
          <p:cNvSpPr/>
          <p:nvPr/>
        </p:nvSpPr>
        <p:spPr>
          <a:xfrm>
            <a:off x="292608" y="868680"/>
            <a:ext cx="2852928" cy="1901952"/>
          </a:xfrm>
          <a:prstGeom prst="roundRect">
            <a:avLst/>
          </a:prstGeom>
          <a:solidFill>
            <a:srgbClr val="EEF3FF"/>
          </a:solidFill>
          <a:ln w="9525">
            <a:solidFill>
              <a:srgbClr val="4D4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t"/>
          <a:lstStyle/>
          <a:p>
            <a:pPr algn="l"/>
            <a:r>
              <a:rPr sz="1300" b="1">
                <a:solidFill>
                  <a:srgbClr val="11206D"/>
                </a:solidFill>
                <a:latin typeface="Space Grotesk"/>
              </a:rPr>
              <a:t>Natural-Language Triage</a:t>
            </a:r>
          </a:p>
          <a:p>
            <a:pPr algn="l"/>
            <a:r>
              <a:rPr sz="1000">
                <a:solidFill>
                  <a:srgbClr val="666666"/>
                </a:solidFill>
                <a:latin typeface="Space Grotesk"/>
              </a:rPr>
              <a:t>Ask 'Why is this XSS exploitable?' and AI Copilot replies with attack path, evidence, CWE, and fix.</a:t>
            </a:r>
          </a:p>
        </p:txBody>
      </p:sp>
      <p:sp>
        <p:nvSpPr>
          <p:cNvPr id="626" name="Rounded Rectangle 625"/>
          <p:cNvSpPr/>
          <p:nvPr/>
        </p:nvSpPr>
        <p:spPr>
          <a:xfrm>
            <a:off x="3264408" y="868680"/>
            <a:ext cx="2852928" cy="1901952"/>
          </a:xfrm>
          <a:prstGeom prst="roundRect">
            <a:avLst/>
          </a:prstGeom>
          <a:solidFill>
            <a:srgbClr val="EEF3FF"/>
          </a:solidFill>
          <a:ln w="9525">
            <a:solidFill>
              <a:srgbClr val="4D4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t"/>
          <a:lstStyle/>
          <a:p>
            <a:pPr algn="l"/>
            <a:r>
              <a:rPr sz="1300" b="1">
                <a:solidFill>
                  <a:srgbClr val="11206D"/>
                </a:solidFill>
                <a:latin typeface="Space Grotesk"/>
              </a:rPr>
              <a:t>Bulk Action Suggestions</a:t>
            </a:r>
          </a:p>
          <a:p>
            <a:pPr algn="l"/>
            <a:r>
              <a:rPr sz="1000">
                <a:solidFill>
                  <a:srgbClr val="666666"/>
                </a:solidFill>
                <a:latin typeface="Space Grotesk"/>
              </a:rPr>
              <a:t>Highlight 50 findings, ask 'Which can I deprioritize?' — Copilot ranks by reachability + business impact.</a:t>
            </a:r>
          </a:p>
        </p:txBody>
      </p:sp>
      <p:sp>
        <p:nvSpPr>
          <p:cNvPr id="627" name="Rounded Rectangle 626"/>
          <p:cNvSpPr/>
          <p:nvPr/>
        </p:nvSpPr>
        <p:spPr>
          <a:xfrm>
            <a:off x="6236208" y="868680"/>
            <a:ext cx="2852928" cy="1901952"/>
          </a:xfrm>
          <a:prstGeom prst="roundRect">
            <a:avLst/>
          </a:prstGeom>
          <a:solidFill>
            <a:srgbClr val="EEF3FF"/>
          </a:solidFill>
          <a:ln w="9525">
            <a:solidFill>
              <a:srgbClr val="4D4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t"/>
          <a:lstStyle/>
          <a:p>
            <a:pPr algn="l"/>
            <a:r>
              <a:rPr sz="1300" b="1">
                <a:solidFill>
                  <a:srgbClr val="11206D"/>
                </a:solidFill>
                <a:latin typeface="Space Grotesk"/>
              </a:rPr>
              <a:t>Auto-Generated Remediation</a:t>
            </a:r>
          </a:p>
          <a:p>
            <a:pPr algn="l"/>
            <a:r>
              <a:rPr sz="1000">
                <a:solidFill>
                  <a:srgbClr val="666666"/>
                </a:solidFill>
                <a:latin typeface="Space Grotesk"/>
              </a:rPr>
              <a:t>Get sanitized code snippets, framework-specific WAF rules, and CSP/HSTS header values to paste in.</a:t>
            </a:r>
          </a:p>
        </p:txBody>
      </p:sp>
      <p:sp>
        <p:nvSpPr>
          <p:cNvPr id="628" name="Rounded Rectangle 627"/>
          <p:cNvSpPr/>
          <p:nvPr/>
        </p:nvSpPr>
        <p:spPr>
          <a:xfrm>
            <a:off x="292608" y="2907791"/>
            <a:ext cx="2852928" cy="1901952"/>
          </a:xfrm>
          <a:prstGeom prst="roundRect">
            <a:avLst/>
          </a:prstGeom>
          <a:solidFill>
            <a:srgbClr val="EEF3FF"/>
          </a:solidFill>
          <a:ln w="9525">
            <a:solidFill>
              <a:srgbClr val="4D4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t"/>
          <a:lstStyle/>
          <a:p>
            <a:pPr algn="l"/>
            <a:r>
              <a:rPr sz="1300" b="1">
                <a:solidFill>
                  <a:srgbClr val="11206D"/>
                </a:solidFill>
                <a:latin typeface="Space Grotesk"/>
              </a:rPr>
              <a:t>OWASP / CWE Explainer</a:t>
            </a:r>
          </a:p>
          <a:p>
            <a:pPr algn="l"/>
            <a:r>
              <a:rPr sz="1000">
                <a:solidFill>
                  <a:srgbClr val="666666"/>
                </a:solidFill>
                <a:latin typeface="Space Grotesk"/>
              </a:rPr>
              <a:t>One-click summary of any CWE-79 / CWE-89 / CWE-918 finding in plain language for non-security teams.</a:t>
            </a:r>
          </a:p>
        </p:txBody>
      </p:sp>
      <p:sp>
        <p:nvSpPr>
          <p:cNvPr id="629" name="Rounded Rectangle 628"/>
          <p:cNvSpPr/>
          <p:nvPr/>
        </p:nvSpPr>
        <p:spPr>
          <a:xfrm>
            <a:off x="3264408" y="2907791"/>
            <a:ext cx="2852928" cy="1901952"/>
          </a:xfrm>
          <a:prstGeom prst="roundRect">
            <a:avLst/>
          </a:prstGeom>
          <a:solidFill>
            <a:srgbClr val="EEF3FF"/>
          </a:solidFill>
          <a:ln w="9525">
            <a:solidFill>
              <a:srgbClr val="4D4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t"/>
          <a:lstStyle/>
          <a:p>
            <a:pPr algn="l"/>
            <a:r>
              <a:rPr sz="1300" b="1">
                <a:solidFill>
                  <a:srgbClr val="11206D"/>
                </a:solidFill>
                <a:latin typeface="Space Grotesk"/>
              </a:rPr>
              <a:t>Custom Rule Builder</a:t>
            </a:r>
          </a:p>
          <a:p>
            <a:pPr algn="l"/>
            <a:r>
              <a:rPr sz="1000">
                <a:solidFill>
                  <a:srgbClr val="666666"/>
                </a:solidFill>
                <a:latin typeface="Space Grotesk"/>
              </a:rPr>
              <a:t>Describe a rule in English ('open Jira for any High DAST finding on prod label') — Copilot writes the JSON.</a:t>
            </a:r>
          </a:p>
        </p:txBody>
      </p:sp>
      <p:sp>
        <p:nvSpPr>
          <p:cNvPr id="630" name="Rounded Rectangle 629"/>
          <p:cNvSpPr/>
          <p:nvPr/>
        </p:nvSpPr>
        <p:spPr>
          <a:xfrm>
            <a:off x="6236208" y="2907791"/>
            <a:ext cx="2852928" cy="1901952"/>
          </a:xfrm>
          <a:prstGeom prst="roundRect">
            <a:avLst/>
          </a:prstGeom>
          <a:solidFill>
            <a:srgbClr val="EEF3FF"/>
          </a:solidFill>
          <a:ln w="9525">
            <a:solidFill>
              <a:srgbClr val="4D4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t"/>
          <a:lstStyle/>
          <a:p>
            <a:pPr algn="l"/>
            <a:r>
              <a:rPr sz="1300" b="1">
                <a:solidFill>
                  <a:srgbClr val="11206D"/>
                </a:solidFill>
                <a:latin typeface="Space Grotesk"/>
              </a:rPr>
              <a:t>Audit-Ready Reports</a:t>
            </a:r>
          </a:p>
          <a:p>
            <a:pPr algn="l"/>
            <a:r>
              <a:rPr sz="1000">
                <a:solidFill>
                  <a:srgbClr val="666666"/>
                </a:solidFill>
                <a:latin typeface="Space Grotesk"/>
              </a:rPr>
              <a:t>Generate PCI-DSS / HIPAA / SOC2 summaries from filtered findings, exported to PDF or shared as a link.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6"/>
          <p:cNvSpPr/>
          <p:nvPr/>
        </p:nvSpPr>
        <p:spPr>
          <a:xfrm>
            <a:off x="641109" y="4007608"/>
            <a:ext cx="893100" cy="773400"/>
          </a:xfrm>
          <a:prstGeom prst="hexagon">
            <a:avLst>
              <a:gd name="adj" fmla="val 28852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 b="1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65" name="Google Shape;665;p66"/>
          <p:cNvSpPr/>
          <p:nvPr/>
        </p:nvSpPr>
        <p:spPr>
          <a:xfrm>
            <a:off x="1235099" y="3347008"/>
            <a:ext cx="893100" cy="773400"/>
          </a:xfrm>
          <a:prstGeom prst="hexagon">
            <a:avLst>
              <a:gd name="adj" fmla="val 28852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1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66" name="Google Shape;666;p66"/>
          <p:cNvSpPr/>
          <p:nvPr/>
        </p:nvSpPr>
        <p:spPr>
          <a:xfrm>
            <a:off x="1546384" y="2460674"/>
            <a:ext cx="893100" cy="773400"/>
          </a:xfrm>
          <a:prstGeom prst="hexagon">
            <a:avLst>
              <a:gd name="adj" fmla="val 28852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67" name="Google Shape;667;p66"/>
          <p:cNvSpPr/>
          <p:nvPr/>
        </p:nvSpPr>
        <p:spPr>
          <a:xfrm>
            <a:off x="1235095" y="1574358"/>
            <a:ext cx="893100" cy="773400"/>
          </a:xfrm>
          <a:prstGeom prst="hexagon">
            <a:avLst>
              <a:gd name="adj" fmla="val 28852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68" name="Google Shape;668;p66"/>
          <p:cNvSpPr/>
          <p:nvPr/>
        </p:nvSpPr>
        <p:spPr>
          <a:xfrm>
            <a:off x="641099" y="800957"/>
            <a:ext cx="893100" cy="773400"/>
          </a:xfrm>
          <a:prstGeom prst="hexagon">
            <a:avLst>
              <a:gd name="adj" fmla="val 28852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69" name="Google Shape;669;p66"/>
          <p:cNvSpPr/>
          <p:nvPr/>
        </p:nvSpPr>
        <p:spPr>
          <a:xfrm>
            <a:off x="-1667825" y="1089680"/>
            <a:ext cx="3402600" cy="34026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357188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66"/>
          <p:cNvSpPr/>
          <p:nvPr/>
        </p:nvSpPr>
        <p:spPr>
          <a:xfrm>
            <a:off x="-65050" y="2765050"/>
            <a:ext cx="1534200" cy="6312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DAST Journey</a:t>
            </a:r>
            <a:endParaRPr sz="2100" b="1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71" name="Google Shape;671;p66"/>
          <p:cNvSpPr/>
          <p:nvPr/>
        </p:nvSpPr>
        <p:spPr>
          <a:xfrm>
            <a:off x="7790784" y="4076008"/>
            <a:ext cx="893100" cy="7734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0059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 b="1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72" name="Google Shape;672;p66"/>
          <p:cNvSpPr/>
          <p:nvPr/>
        </p:nvSpPr>
        <p:spPr>
          <a:xfrm>
            <a:off x="7056699" y="3415408"/>
            <a:ext cx="893100" cy="7734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0059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b="1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73" name="Google Shape;673;p66"/>
          <p:cNvSpPr/>
          <p:nvPr/>
        </p:nvSpPr>
        <p:spPr>
          <a:xfrm>
            <a:off x="6712209" y="2529074"/>
            <a:ext cx="893100" cy="7734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0059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1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74" name="Google Shape;674;p66"/>
          <p:cNvSpPr/>
          <p:nvPr/>
        </p:nvSpPr>
        <p:spPr>
          <a:xfrm>
            <a:off x="6984420" y="1642758"/>
            <a:ext cx="893100" cy="7734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0059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1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75" name="Google Shape;675;p66"/>
          <p:cNvSpPr/>
          <p:nvPr/>
        </p:nvSpPr>
        <p:spPr>
          <a:xfrm>
            <a:off x="7605299" y="869357"/>
            <a:ext cx="893100" cy="7734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0059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b="1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76" name="Google Shape;676;p66"/>
          <p:cNvSpPr txBox="1">
            <a:spLocks noGrp="1"/>
          </p:cNvSpPr>
          <p:nvPr>
            <p:ph type="title"/>
          </p:nvPr>
        </p:nvSpPr>
        <p:spPr>
          <a:xfrm>
            <a:off x="-24300" y="-9750"/>
            <a:ext cx="7397100" cy="708000"/>
          </a:xfrm>
          <a:prstGeom prst="rect">
            <a:avLst/>
          </a:prstGeom>
        </p:spPr>
        <p:txBody>
          <a:bodyPr spcFirstLastPara="1" wrap="square" lIns="365750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Steps…</a:t>
            </a:r>
            <a:endParaRPr/>
          </a:p>
        </p:txBody>
      </p:sp>
      <p:sp>
        <p:nvSpPr>
          <p:cNvPr id="677" name="Google Shape;677;p66"/>
          <p:cNvSpPr txBox="1"/>
          <p:nvPr/>
        </p:nvSpPr>
        <p:spPr>
          <a:xfrm>
            <a:off x="1671500" y="794575"/>
            <a:ext cx="283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Space Grotesk"/>
                <a:ea typeface="Space Grotesk"/>
                <a:cs typeface="Space Grotesk"/>
                <a:sym typeface="Space Grotesk"/>
              </a:rPr>
              <a:t>Onboard Targets</a:t>
            </a:r>
            <a:endParaRPr sz="1100" b="1"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pace Grotesk"/>
                <a:ea typeface="Space Grotesk"/>
                <a:cs typeface="Space Grotesk"/>
                <a:sym typeface="Space Grotesk"/>
              </a:rPr>
              <a:t>Add web app URLs and labels via Settings → Collectors. No agent install required.</a:t>
            </a:r>
            <a:endParaRPr sz="9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78" name="Google Shape;678;p66"/>
          <p:cNvSpPr txBox="1"/>
          <p:nvPr/>
        </p:nvSpPr>
        <p:spPr>
          <a:xfrm>
            <a:off x="2198150" y="1627625"/>
            <a:ext cx="2305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Space Grotesk"/>
                <a:ea typeface="Space Grotesk"/>
                <a:cs typeface="Space Grotesk"/>
                <a:sym typeface="Space Grotesk"/>
              </a:rPr>
              <a:t>Configure Auth &amp; Scope</a:t>
            </a:r>
            <a:endParaRPr sz="1100" b="1"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pace Grotesk"/>
                <a:ea typeface="Space Grotesk"/>
                <a:cs typeface="Space Grotesk"/>
                <a:sym typeface="Space Grotesk"/>
              </a:rPr>
              <a:t>Provide login URL, credentials, include/exclude paths, and session indicators.</a:t>
            </a:r>
            <a:endParaRPr sz="9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79" name="Google Shape;679;p66"/>
          <p:cNvSpPr txBox="1"/>
          <p:nvPr/>
        </p:nvSpPr>
        <p:spPr>
          <a:xfrm>
            <a:off x="2516700" y="2522950"/>
            <a:ext cx="20001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Space Grotesk"/>
                <a:ea typeface="Space Grotesk"/>
                <a:cs typeface="Space Grotesk"/>
                <a:sym typeface="Space Grotesk"/>
              </a:rPr>
              <a:t>Pick Scan Type</a:t>
            </a:r>
            <a:endParaRPr sz="1100" b="1"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pace Grotesk"/>
                <a:ea typeface="Space Grotesk"/>
                <a:cs typeface="Space Grotesk"/>
                <a:sym typeface="Space Grotesk"/>
              </a:rPr>
              <a:t>Baseline for CI/CD, Standard nightly, Extended pre-release, Comprehensive for audits.</a:t>
            </a:r>
            <a:endParaRPr sz="9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0" name="Google Shape;680;p66"/>
          <p:cNvSpPr txBox="1"/>
          <p:nvPr/>
        </p:nvSpPr>
        <p:spPr>
          <a:xfrm>
            <a:off x="2198150" y="3522925"/>
            <a:ext cx="2305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Space Grotesk"/>
                <a:ea typeface="Space Grotesk"/>
                <a:cs typeface="Space Grotesk"/>
                <a:sym typeface="Space Grotesk"/>
              </a:rPr>
              <a:t>Triage in Findings</a:t>
            </a:r>
            <a:endParaRPr sz="1100" b="1"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pace Grotesk"/>
                <a:ea typeface="Space Grotesk"/>
                <a:cs typeface="Space Grotesk"/>
                <a:sym typeface="Space Grotesk"/>
              </a:rPr>
              <a:t>Filter by severity, CWE, or OWASP category. Auto-create Jira tickets via Rules Engine.</a:t>
            </a:r>
            <a:endParaRPr sz="9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1" name="Google Shape;681;p66"/>
          <p:cNvSpPr txBox="1"/>
          <p:nvPr/>
        </p:nvSpPr>
        <p:spPr>
          <a:xfrm>
            <a:off x="1671500" y="4301700"/>
            <a:ext cx="283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Space Grotesk"/>
                <a:ea typeface="Space Grotesk"/>
                <a:cs typeface="Space Grotesk"/>
                <a:sym typeface="Space Grotesk"/>
              </a:rPr>
              <a:t>Verify &amp; Re-Scan</a:t>
            </a:r>
            <a:endParaRPr sz="1100" b="1"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pace Grotesk"/>
                <a:ea typeface="Space Grotesk"/>
                <a:cs typeface="Space Grotesk"/>
                <a:sym typeface="Space Grotesk"/>
              </a:rPr>
              <a:t>Schedule recurring scans and confirm fixes close out tickets automatically.</a:t>
            </a:r>
            <a:endParaRPr sz="9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2" name="Google Shape;682;p66"/>
          <p:cNvSpPr/>
          <p:nvPr/>
        </p:nvSpPr>
        <p:spPr>
          <a:xfrm>
            <a:off x="7422925" y="1089680"/>
            <a:ext cx="3402600" cy="34026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357188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3" name="Google Shape;683;p66" title="emblem.png"/>
          <p:cNvPicPr preferRelativeResize="0"/>
          <p:nvPr/>
        </p:nvPicPr>
        <p:blipFill rotWithShape="1">
          <a:blip r:embed="rId3">
            <a:alphaModFix/>
          </a:blip>
          <a:srcRect l="10840" t="10840" r="10833" b="10833"/>
          <a:stretch/>
        </p:blipFill>
        <p:spPr>
          <a:xfrm>
            <a:off x="7663450" y="2173875"/>
            <a:ext cx="611025" cy="611025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6"/>
          <p:cNvSpPr/>
          <p:nvPr/>
        </p:nvSpPr>
        <p:spPr>
          <a:xfrm>
            <a:off x="7663450" y="2765050"/>
            <a:ext cx="1534200" cy="6312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>
                <a:solidFill>
                  <a:srgbClr val="0059E5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AccuKnox Advantage</a:t>
            </a:r>
            <a:endParaRPr sz="2100" b="1">
              <a:solidFill>
                <a:srgbClr val="0059E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5" name="Google Shape;685;p66"/>
          <p:cNvSpPr txBox="1"/>
          <p:nvPr/>
        </p:nvSpPr>
        <p:spPr>
          <a:xfrm>
            <a:off x="4943675" y="854900"/>
            <a:ext cx="24792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Space Grotesk"/>
                <a:ea typeface="Space Grotesk"/>
                <a:cs typeface="Space Grotesk"/>
                <a:sym typeface="Space Grotesk"/>
              </a:rPr>
              <a:t>Authenticated Scans</a:t>
            </a:r>
            <a:endParaRPr sz="11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pace Grotesk"/>
                <a:ea typeface="Space Grotesk"/>
                <a:cs typeface="Space Grotesk"/>
                <a:sym typeface="Space Grotesk"/>
              </a:rPr>
              <a:t>Session-aware crawler reaches admin panels and protected APIs.</a:t>
            </a:r>
            <a:endParaRPr sz="9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6" name="Google Shape;686;p66"/>
          <p:cNvSpPr txBox="1"/>
          <p:nvPr/>
        </p:nvSpPr>
        <p:spPr>
          <a:xfrm>
            <a:off x="4717500" y="1692000"/>
            <a:ext cx="2206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Space Grotesk"/>
                <a:ea typeface="Space Grotesk"/>
                <a:cs typeface="Space Grotesk"/>
                <a:sym typeface="Space Grotesk"/>
              </a:rPr>
              <a:t>OWASP Top 10 Coverage</a:t>
            </a:r>
            <a:endParaRPr sz="11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pace Grotesk"/>
                <a:ea typeface="Space Grotesk"/>
                <a:cs typeface="Space Grotesk"/>
                <a:sym typeface="Space Grotesk"/>
              </a:rPr>
              <a:t>Active payload library mapped to A01 … A10 with evidence.</a:t>
            </a:r>
            <a:endParaRPr sz="9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7" name="Google Shape;687;p66"/>
          <p:cNvSpPr txBox="1"/>
          <p:nvPr/>
        </p:nvSpPr>
        <p:spPr>
          <a:xfrm>
            <a:off x="4653800" y="2605850"/>
            <a:ext cx="2000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Space Grotesk"/>
                <a:ea typeface="Space Grotesk"/>
                <a:cs typeface="Space Grotesk"/>
                <a:sym typeface="Space Grotesk"/>
              </a:rPr>
              <a:t>CI/CD Native</a:t>
            </a:r>
            <a:endParaRPr sz="11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pace Grotesk"/>
                <a:ea typeface="Space Grotesk"/>
                <a:cs typeface="Space Grotesk"/>
                <a:sym typeface="Space Grotesk"/>
              </a:rPr>
              <a:t>GitHub Action, GitLab template, Jenkins plug-in — fail builds on critical findings.</a:t>
            </a:r>
            <a:endParaRPr sz="9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8" name="Google Shape;688;p66"/>
          <p:cNvSpPr txBox="1"/>
          <p:nvPr/>
        </p:nvSpPr>
        <p:spPr>
          <a:xfrm>
            <a:off x="4717500" y="3557600"/>
            <a:ext cx="2266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Space Grotesk"/>
                <a:ea typeface="Space Grotesk"/>
                <a:cs typeface="Space Grotesk"/>
                <a:sym typeface="Space Grotesk"/>
              </a:rPr>
              <a:t>Rules Engine + Ticketing</a:t>
            </a:r>
            <a:endParaRPr sz="11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pace Grotesk"/>
                <a:ea typeface="Space Grotesk"/>
                <a:cs typeface="Space Grotesk"/>
                <a:sym typeface="Space Grotesk"/>
              </a:rPr>
              <a:t>Auto-create Jira/ServiceNow tickets when finding matches rule.</a:t>
            </a:r>
            <a:endParaRPr sz="9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9" name="Google Shape;689;p66"/>
          <p:cNvSpPr txBox="1"/>
          <p:nvPr/>
        </p:nvSpPr>
        <p:spPr>
          <a:xfrm>
            <a:off x="4810500" y="4301725"/>
            <a:ext cx="26661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Space Grotesk"/>
                <a:ea typeface="Space Grotesk"/>
                <a:cs typeface="Space Grotesk"/>
                <a:sym typeface="Space Grotesk"/>
              </a:rPr>
              <a:t>Ask AI + Schedule</a:t>
            </a:r>
            <a:endParaRPr sz="11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Space Grotesk"/>
                <a:ea typeface="Space Grotesk"/>
                <a:cs typeface="Space Grotesk"/>
                <a:sym typeface="Space Grotesk"/>
              </a:rPr>
              <a:t>GenAI triage co-pilot + recurring schedules — zero manual upkeep.</a:t>
            </a:r>
            <a:endParaRPr sz="9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690" name="Google Shape;690;p66"/>
          <p:cNvCxnSpPr/>
          <p:nvPr/>
        </p:nvCxnSpPr>
        <p:spPr>
          <a:xfrm>
            <a:off x="4636250" y="798775"/>
            <a:ext cx="0" cy="41811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1" name="Google Shape;691;p66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92" name="Google Shape;69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99" y="1958850"/>
            <a:ext cx="570225" cy="5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7"/>
          <p:cNvSpPr txBox="1">
            <a:spLocks noGrp="1"/>
          </p:cNvSpPr>
          <p:nvPr>
            <p:ph type="title"/>
          </p:nvPr>
        </p:nvSpPr>
        <p:spPr>
          <a:xfrm>
            <a:off x="1644425" y="1845000"/>
            <a:ext cx="5855100" cy="54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US IN ACTION</a:t>
            </a:r>
            <a:endParaRPr/>
          </a:p>
        </p:txBody>
      </p:sp>
      <p:sp>
        <p:nvSpPr>
          <p:cNvPr id="698" name="Google Shape;698;p67"/>
          <p:cNvSpPr txBox="1">
            <a:spLocks noGrp="1"/>
          </p:cNvSpPr>
          <p:nvPr>
            <p:ph type="title" idx="2"/>
          </p:nvPr>
        </p:nvSpPr>
        <p:spPr>
          <a:xfrm>
            <a:off x="2667275" y="2386488"/>
            <a:ext cx="3809400" cy="4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support@accuknox.com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67"/>
          <p:cNvSpPr txBox="1"/>
          <p:nvPr/>
        </p:nvSpPr>
        <p:spPr>
          <a:xfrm>
            <a:off x="6261900" y="4841675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solidFill>
                  <a:srgbClr val="222222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*Confidential - Limited Distribution Under NDA</a:t>
            </a:r>
            <a:endParaRPr sz="800" i="1">
              <a:solidFill>
                <a:srgbClr val="2626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cuKnox New May 2021">
  <a:themeElements>
    <a:clrScheme name="AccuKnox New May 202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64F0"/>
      </a:accent1>
      <a:accent2>
        <a:srgbClr val="CA152B"/>
      </a:accent2>
      <a:accent3>
        <a:srgbClr val="203864"/>
      </a:accent3>
      <a:accent4>
        <a:srgbClr val="8DC63F"/>
      </a:accent4>
      <a:accent5>
        <a:srgbClr val="2F80ED"/>
      </a:accent5>
      <a:accent6>
        <a:srgbClr val="14293C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ccuKnox New May 2021">
  <a:themeElements>
    <a:clrScheme name="AccuKnox New May 202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64F0"/>
      </a:accent1>
      <a:accent2>
        <a:srgbClr val="CA152B"/>
      </a:accent2>
      <a:accent3>
        <a:srgbClr val="203864"/>
      </a:accent3>
      <a:accent4>
        <a:srgbClr val="8DC63F"/>
      </a:accent4>
      <a:accent5>
        <a:srgbClr val="2F80ED"/>
      </a:accent5>
      <a:accent6>
        <a:srgbClr val="14293C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1966</Words>
  <Application>Microsoft Office PowerPoint</Application>
  <PresentationFormat>On-screen Show (16:9)</PresentationFormat>
  <Paragraphs>353</Paragraphs>
  <Slides>29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43" baseType="lpstr">
      <vt:lpstr>Montserrat</vt:lpstr>
      <vt:lpstr>Montserrat Medium</vt:lpstr>
      <vt:lpstr>Space Grotesk SemiBold</vt:lpstr>
      <vt:lpstr>Arial Black</vt:lpstr>
      <vt:lpstr>Space Grotesk Medium</vt:lpstr>
      <vt:lpstr>Old Standard TT</vt:lpstr>
      <vt:lpstr>Average</vt:lpstr>
      <vt:lpstr>Arial</vt:lpstr>
      <vt:lpstr>Montserrat ExtraBold</vt:lpstr>
      <vt:lpstr>Helvetica Neue</vt:lpstr>
      <vt:lpstr>Space Grotesk</vt:lpstr>
      <vt:lpstr>cover</vt:lpstr>
      <vt:lpstr>AccuKnox New May 2021</vt:lpstr>
      <vt:lpstr>AccuKnox New May 2021</vt:lpstr>
      <vt:lpstr>DAST</vt:lpstr>
      <vt:lpstr>Outline</vt:lpstr>
      <vt:lpstr>Problem Statements</vt:lpstr>
      <vt:lpstr>OWASP Top 10:2025</vt:lpstr>
      <vt:lpstr>OWASP Top 10:2025</vt:lpstr>
      <vt:lpstr>OWASP Top 10:2025</vt:lpstr>
      <vt:lpstr>OWASP Top 10:2025</vt:lpstr>
      <vt:lpstr>OWASP Top 10:2025</vt:lpstr>
      <vt:lpstr>OWASP Top 10:2025</vt:lpstr>
      <vt:lpstr>Business Impacts</vt:lpstr>
      <vt:lpstr>AccuKnox DAST Components</vt:lpstr>
      <vt:lpstr>AccuKnox Differentiator — Noise vs Value Flow</vt:lpstr>
      <vt:lpstr>How AccuKnox DAST is different/better</vt:lpstr>
      <vt:lpstr>DAST Scan Profiles</vt:lpstr>
      <vt:lpstr>Use-Cases &amp; Approach Mapping</vt:lpstr>
      <vt:lpstr>UI/UX Journey</vt:lpstr>
      <vt:lpstr>Add Collector — Web Application DAST Scan</vt:lpstr>
      <vt:lpstr>Scan Configuration — No-Auth Mode</vt:lpstr>
      <vt:lpstr>Authenticated Scan — Login URL &amp; Credentials</vt:lpstr>
      <vt:lpstr>Session Indicators — Logged-In / Logged-Out / Fallback</vt:lpstr>
      <vt:lpstr>Scan Triggered — Status &amp; Progress</vt:lpstr>
      <vt:lpstr>Findings — Severity, Evidence &amp; Remediation</vt:lpstr>
      <vt:lpstr>Rules Engine — Automate Findings Triage</vt:lpstr>
      <vt:lpstr>Rules Engine — Create Ticket Action</vt:lpstr>
      <vt:lpstr>Ticketing — Auto-Create Jira / ServiceNow Tickets</vt:lpstr>
      <vt:lpstr>Scheduling — Recurring DAST Scans</vt:lpstr>
      <vt:lpstr>Ask AI — GenAI Co-Pilot for DAST Triage</vt:lpstr>
      <vt:lpstr>Next Steps…</vt:lpstr>
      <vt:lpstr>SEE US IN ACTION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ATHARVA SHAH  (Student)</cp:lastModifiedBy>
  <cp:revision>2</cp:revision>
  <dcterms:modified xsi:type="dcterms:W3CDTF">2026-06-11T05:59:54Z</dcterms:modified>
</cp:coreProperties>
</file>